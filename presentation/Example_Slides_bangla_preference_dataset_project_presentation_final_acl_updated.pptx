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1"/>
  </p:normalViewPr>
  <p:slideViewPr>
    <p:cSldViewPr snapToGrid="0">
      <p:cViewPr varScale="1">
        <p:scale>
          <a:sx n="114" d="100"/>
          <a:sy n="114" d="100"/>
        </p:scale>
        <p:origin x="6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contribution: this project is primarily a validated Bangla preference-data pipeline, with fine-tuning as a proof of use.</a:t>
            </a:r>
          </a:p>
          <a:p>
            <a:endParaRPr/>
          </a:p>
          <a:p>
            <a:r>
              <a:t>[Sources]</a:t>
            </a:r>
          </a:p>
          <a:p>
            <a:r>
              <a:t>- output/pdf/bangla_preference_dataset_project_report.pdf, Abstract and Project Goal</a:t>
            </a:r>
          </a:p>
          <a:p>
            <a:r>
              <a:t>- preference_finetuning/data/split_manifest.json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Team member names and roll numbers are intentional placeholders requested for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preference data teaches relative quality: for the same prompt, the model learns which answer is preferred over another.</a:t>
            </a:r>
          </a:p>
          <a:p>
            <a:endParaRPr/>
          </a:p>
          <a:p>
            <a:r>
              <a:t>[Sources]</a:t>
            </a:r>
          </a:p>
          <a:p>
            <a:r>
              <a:t>- output/pdf/bangla_preference_dataset_project_report.pdf, Abstract and Project Goal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ACL Anthology: https://aclanthology.org/2024.mrl-1.5/</a:t>
            </a:r>
          </a:p>
          <a:p>
            <a:r>
              <a:t>- DOI: https://doi.org/10.18653/v1/2024.mrl-1.5</a:t>
            </a:r>
          </a:p>
          <a:p>
            <a:r>
              <a:t>- Peter Devine (2024), Are You Sure? Rank Them Again: Repeated Ranking For Better Preference Datasets. Proceedings of MRL 2024, pages 93-105. Association for Computational Linguistics.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Peter Devine (2024), “Are You Sure? Rank Them Again: Repeated Ranking For Better Preference Datasets,” MRL 2024, §3.1–3.2, pp. 96–97.</a:t>
            </a:r>
          </a:p>
          <a:p>
            <a:r>
              <a:t>- /Users/rezuanmustafahasan/Desktop/4-1/2024.mrl-1.5.pdf</a:t>
            </a:r>
          </a:p>
          <a:p>
            <a:endParaRPr/>
          </a:p>
          <a:p>
            <a:r>
              <a:t>The paper created W-ranked subsets of 674 prompts (top 25%), 1,350 (top 50%), and 2,018 (top 75%), and compared them with all 2,714 prompts. For each selected prompt, it computed Borda Count across the five rankings and used the highest-count answer as positive and lowest-count answer as negative for ORPO.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Emphasize that the dataset has multiple answers for each prompt. The comparison is meaningful because each response addresses exactly the same question.</a:t>
            </a:r>
          </a:p>
          <a:p>
            <a:endParaRPr/>
          </a:p>
          <a:p>
            <a:r>
              <a:t>[Sources]</a:t>
            </a:r>
          </a:p>
          <a:p>
            <a:r>
              <a:t>- output/pdf/bangla_preference_dataset_project_report.pdf, Dataset Construction and Response Collection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through this once as the whole story. Later slides explain the most important quality controls: anonymity, human validation, and strict confidence filtering.</a:t>
            </a:r>
          </a:p>
          <a:p>
            <a:endParaRPr/>
          </a:p>
          <a:p>
            <a:r>
              <a:t>[Sources]</a:t>
            </a:r>
          </a:p>
          <a:p>
            <a:r>
              <a:t>- output/pdf/bangla_preference_dataset_project_report.pdf, End-to-end methodology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important control is independent A/B/C shuffling. The judge sees quality, not source model identity or a persistent on-screen position.</a:t>
            </a:r>
          </a:p>
          <a:p>
            <a:endParaRPr/>
          </a:p>
          <a:p>
            <a:r>
              <a:t>[Sources]</a:t>
            </a:r>
          </a:p>
          <a:p>
            <a:r>
              <a:t>- output/pdf/bangla_preference_dataset_project_report.pdf, Repeated Anonymous LLM Ranking</a:t>
            </a:r>
          </a:p>
          <a:p>
            <a:r>
              <a:t>- C. Devine (2024), Are You Sure? Rank Them Again: Repeated Ranking for Better Preference Datasets.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Make the distinction clear: alignment of about 75% supports the ranking as a practical signal, but it does not make it a replacement for human preference.</a:t>
            </a:r>
          </a:p>
          <a:p>
            <a:endParaRPr/>
          </a:p>
          <a:p>
            <a:r>
              <a:t>[Sources]</a:t>
            </a:r>
          </a:p>
          <a:p>
            <a:r>
              <a:t>- output/pdf/bangla_preference_dataset_project_report.pdf, Human Validation of the Preference Labels</a:t>
            </a:r>
          </a:p>
          <a:p>
            <a:r>
              <a:t>- output/pdf/assets/human_alignment.png (user-owned project screenshot)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the calculation as a confidence filter. The project intentionally discarded lower-agreement records rather than maximizing training-set size.</a:t>
            </a:r>
          </a:p>
          <a:p>
            <a:endParaRPr/>
          </a:p>
          <a:p>
            <a:r>
              <a:t>[Sources]</a:t>
            </a:r>
          </a:p>
          <a:p>
            <a:r>
              <a:t>- preference_finetuning/data/split_manifest.json</a:t>
            </a:r>
          </a:p>
          <a:p>
            <a:r>
              <a:t>- output/pdf/bangla_preference_dataset_project_report.pdf, Confidence Filtering and the Final Training Dataset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not just a static dataset folder. The web system lets an administrator audit source data, supervise annotation and export current results.</a:t>
            </a:r>
          </a:p>
          <a:p>
            <a:endParaRPr/>
          </a:p>
          <a:p>
            <a:r>
              <a:t>[Sources]</a:t>
            </a:r>
          </a:p>
          <a:p>
            <a:r>
              <a:t>- output/pdf/bangla_preference_dataset_project_report.pdf, Web System for Dataset and Annotation Management</a:t>
            </a:r>
          </a:p>
          <a:p>
            <a:r>
              <a:t>- output/pdf/assets/dataset_explorer.png (user-owned project screenshot)</a:t>
            </a:r>
          </a:p>
          <a:p>
            <a:r>
              <a:t>- output/pdf/assets/llm_rankings.png (user-owned project screenshot)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not just a static dataset folder. The web system lets an administrator audit source data, supervise annotation and export current results.</a:t>
            </a:r>
          </a:p>
          <a:p>
            <a:endParaRPr/>
          </a:p>
          <a:p>
            <a:r>
              <a:t>[Sources]</a:t>
            </a:r>
          </a:p>
          <a:p>
            <a:r>
              <a:t>- output/pdf/bangla_preference_dataset_project_report.pdf, Web System for Dataset and Annotation Management</a:t>
            </a:r>
          </a:p>
          <a:p>
            <a:r>
              <a:t>- output/pdf/assets/dataset_explorer.png (user-owned project screenshot)</a:t>
            </a:r>
          </a:p>
          <a:p>
            <a:r>
              <a:t>- output/pdf/assets/llm_rankings.png (user-owned project screenshot)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not just a static dataset folder. The web system lets an administrator audit source data, supervise annotation and export current results.</a:t>
            </a:r>
          </a:p>
          <a:p>
            <a:endParaRPr/>
          </a:p>
          <a:p>
            <a:r>
              <a:t>[Sources]</a:t>
            </a:r>
          </a:p>
          <a:p>
            <a:r>
              <a:t>- output/pdf/bangla_preference_dataset_project_report.pdf, Web System for Dataset and Annotation Management</a:t>
            </a:r>
          </a:p>
          <a:p>
            <a:r>
              <a:t>- output/pdf/assets/dataset_explorer.png (user-owned project screenshot)</a:t>
            </a:r>
          </a:p>
          <a:p>
            <a:r>
              <a:t>- output/pdf/assets/llm_rankings.png (user-owned project screenshot)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DPO uses the chosen/rejected pairs directly. QLoRA is why this can be demonstrated on a single L4 GPU without full parameter training.</a:t>
            </a:r>
          </a:p>
          <a:p>
            <a:endParaRPr/>
          </a:p>
          <a:p>
            <a:r>
              <a:t>[Sources]</a:t>
            </a:r>
          </a:p>
          <a:p>
            <a:r>
              <a:t>- output/pdf/bangla_preference_dataset_project_report.pdf, Fine-Tuning TigerLLM-1B</a:t>
            </a:r>
          </a:p>
          <a:p>
            <a:r>
              <a:t>- R. Rafailov et al. (2023), Direct Preference Optimization, NeurIPS.</a:t>
            </a:r>
          </a:p>
          <a:p>
            <a:r>
              <a:t>- T. Dettmers et al. (2023), QLoRA, NeurIPS.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Stress fairness of the comparison. Both models are tested on exactly the same prompts with balanced anonymous positions.</a:t>
            </a:r>
          </a:p>
          <a:p>
            <a:endParaRPr/>
          </a:p>
          <a:p>
            <a:r>
              <a:t>[Sources]</a:t>
            </a:r>
          </a:p>
          <a:p>
            <a:r>
              <a:t>- preference_finetuning/data/split_manifest.json, leakage_checks and evaluation split</a:t>
            </a:r>
          </a:p>
          <a:p>
            <a:r>
              <a:t>- output/pdf/bangla_preference_dataset_project_report.pdf, Matched blinded evaluation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Report the result precisely. Do not call it a dramatic gain: the two automated blind comparisons are directionally consistent, but the margin is modest.</a:t>
            </a:r>
          </a:p>
          <a:p>
            <a:endParaRPr/>
          </a:p>
          <a:p>
            <a:r>
              <a:t>[Sources]</a:t>
            </a:r>
          </a:p>
          <a:p>
            <a:r>
              <a:t>- output/pdf/bangla_preference_dataset_project_report.pdf, Before/After Evaluation, Findings, and Conclusion</a:t>
            </a:r>
          </a:p>
          <a:p>
            <a:r>
              <a:t>- final_model_rank/final_model_responses.json, automated evaluation summaries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are illustrative excerpts from held-out prompts. The first four qualitative examples in this deck were preferred by both automated evaluation methods.</a:t>
            </a:r>
          </a:p>
          <a:p>
            <a:endParaRPr/>
          </a:p>
          <a:p>
            <a:r>
              <a:t>[Sources]</a:t>
            </a:r>
          </a:p>
          <a:p>
            <a:r>
              <a:t>- output/pdf/bangla_preference_dataset_project_report.pdf, Selected Before/After Response Examples</a:t>
            </a:r>
          </a:p>
          <a:p>
            <a:r>
              <a:t>- final_model_rank/final_model_responses.json, held-out item math:504 and sports:298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these examples to show not only correctness but practical teaching quality: the fine-tuned answers contain clearer conceptual distinctions and mechanisms.</a:t>
            </a:r>
          </a:p>
          <a:p>
            <a:endParaRPr/>
          </a:p>
          <a:p>
            <a:r>
              <a:t>[Sources]</a:t>
            </a:r>
          </a:p>
          <a:p>
            <a:r>
              <a:t>- output/pdf/bangla_preference_dataset_project_report.pdf, Selected Examples (continued)</a:t>
            </a:r>
          </a:p>
          <a:p>
            <a:r>
              <a:t>- final_model_rank/final_model_responses.json, held-out item education:259 and economics:856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a manually selected educational example because the difference is visible to an audience. Gemini favored the fine-tuned response 2–1; the strict GPT evaluator chose the base response. Present it as qualitative illustration, not unanimous quantitative evidence.</a:t>
            </a:r>
          </a:p>
          <a:p>
            <a:endParaRPr/>
          </a:p>
          <a:p>
            <a:r>
              <a:t>[Sources]</a:t>
            </a:r>
          </a:p>
          <a:p>
            <a:r>
              <a:t>- output/pdf/bangla_preference_dataset_project_report.pdf, Example 5</a:t>
            </a:r>
          </a:p>
          <a:p>
            <a:r>
              <a:t>- final_model_rank/final_model_responses.json, held-out item education:989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on the contribution hierarchy: the dataset and validation workflow are the main deliverables; the fine-tuned model demonstrates a realistic use of the data.</a:t>
            </a:r>
          </a:p>
          <a:p>
            <a:endParaRPr/>
          </a:p>
          <a:p>
            <a:r>
              <a:t>[Sources]</a:t>
            </a:r>
          </a:p>
          <a:p>
            <a:r>
              <a:t>- output/pdf/bangla_preference_dataset_project_report.pdf, Conclusion</a:t>
            </a:r>
          </a:p>
          <a:p>
            <a:r>
              <a:t>- preference_finetuning/data/split_manifest.json</a:t>
            </a:r>
          </a:p>
          <a:p>
            <a:r>
              <a:t>- final_model_rank/final_model_responses.json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Project training data: 4,469 filtered preference pairs, 1B TigerLLM, one NVIDIA L4 GPU, and 100 held-out prompts.</a:t>
            </a:r>
          </a:p>
          <a:p>
            <a:r>
              <a:t>- Project blind evaluation: GPT-5.6 Luna, 55 fine-tuned wins vs 45 base wins.</a:t>
            </a:r>
          </a:p>
          <a:p>
            <a:endParaRPr/>
          </a:p>
          <a:p>
            <a:r>
              <a:t>This slide gives the project-specific caveats. It does not claim a dramatic improvement; it states the modest result accurately.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Peter Devine (2024), “Are You Sure? Rank Them Again: Repeated Ranking For Better Preference Datasets,” MRL 2024, p. 101 (Limitations).</a:t>
            </a:r>
          </a:p>
          <a:p>
            <a:r>
              <a:t>- /Users/rezuanmustafahasan/Desktop/4-1/2024.mrl-1.5.pdf</a:t>
            </a:r>
          </a:p>
          <a:p>
            <a:endParaRPr/>
          </a:p>
          <a:p>
            <a:r>
              <a:t>The paper reports fewer than 3,000 examples, improvements largely below 10%, and potential bias from relying on GPT-4 as an evaluator. The comparison is qualitative; the exact data scale and win rate on this slide come from this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output/pdf/bangla_preference_dataset_project_report.pdf</a:t>
            </a:r>
          </a:p>
          <a:p>
            <a:r>
              <a:t>- preference_finetuning/data/split_manifest.json</a:t>
            </a:r>
          </a:p>
          <a:p>
            <a:r>
              <a:t>- final_model_rank/final_model_responses.json</a:t>
            </a:r>
          </a:p>
          <a:p>
            <a:endParaRPr/>
          </a:p>
          <a:p>
            <a:r>
              <a:t>End by stressing that the validated preference-data pipeline is the main contribution. The fine-tuning result is a small but positive proof that the data can help.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https://aclanthology.org/2024.mrl-1.5/</a:t>
            </a:r>
          </a:p>
          <a:p>
            <a:r>
              <a:t>- https://arxiv.org/abs/2305.18290</a:t>
            </a:r>
          </a:p>
          <a:p>
            <a:r>
              <a:t>- https://arxiv.org/abs/2106.09685</a:t>
            </a:r>
          </a:p>
          <a:p>
            <a:r>
              <a:t>- https://arxiv.org/abs/2305.14314</a:t>
            </a:r>
          </a:p>
          <a:p>
            <a:r>
              <a:t>- https://huggingface.co/md-nishat-008/TigerLLM-1B-it</a:t>
            </a:r>
          </a:p>
          <a:p>
            <a:r>
              <a:t>- https://github.com/RezuanMustafaHasan/bangla-preference-dataset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RezuanMustafaHasan/bangla-preference-dataset" TargetMode="External"/><Relationship Id="rId3" Type="http://schemas.openxmlformats.org/officeDocument/2006/relationships/hyperlink" Target="https://aclanthology.org/2024.mrl-1.5/" TargetMode="External"/><Relationship Id="rId7" Type="http://schemas.openxmlformats.org/officeDocument/2006/relationships/hyperlink" Target="https://huggingface.co/md-nishat-008/TigerLLM-1B-it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xiv.org/abs/2305.14314" TargetMode="External"/><Relationship Id="rId5" Type="http://schemas.openxmlformats.org/officeDocument/2006/relationships/hyperlink" Target="https://arxiv.org/abs/2106.09685" TargetMode="External"/><Relationship Id="rId4" Type="http://schemas.openxmlformats.org/officeDocument/2006/relationships/hyperlink" Target="https://arxiv.org/abs/2305.1829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E107A00-AB10-4372-9CF7-2776838BD0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7A7A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AC26DD-7726-49A7-A602-04E243CF27DD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ACADEMIC ML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76EE53-4568-4195-842D-6B18016E45EE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7429500" cy="1543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95000"/>
              </a:lnSpc>
              <a:buNone/>
              <a:defRPr sz="55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Bangla Preference</a:t>
            </a:r>
          </a:p>
          <a:p>
            <a:pPr algn="l">
              <a:lnSpc>
                <a:spcPct val="95000"/>
              </a:lnSpc>
              <a:buNone/>
              <a:defRPr sz="55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Dataset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A2DE1A-904A-48B7-9F72-D823646F9447}"/>
              </a:ext>
            </a:extLst>
          </p:cNvPr>
          <p:cNvSpPr>
            <a:spLocks noGrp="1"/>
          </p:cNvSpPr>
          <p:nvPr/>
        </p:nvSpPr>
        <p:spPr>
          <a:xfrm>
            <a:off x="704850" y="3048000"/>
            <a:ext cx="6572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2025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Creating, validating and using ranked Bangla model responses for preference fine-tuning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B1EEACD2-A5C5-43FF-B494-C736D4D3D223}"/>
              </a:ext>
            </a:extLst>
          </p:cNvPr>
          <p:cNvSpPr>
            <a:spLocks noGrp="1"/>
          </p:cNvSpPr>
          <p:nvPr/>
        </p:nvSpPr>
        <p:spPr>
          <a:xfrm>
            <a:off x="685800" y="4229100"/>
            <a:ext cx="9525000" cy="0"/>
          </a:xfrm>
          <a:prstGeom prst="line">
            <a:avLst/>
          </a:prstGeom>
          <a:noFill/>
          <a:ln w="9525">
            <a:solidFill>
              <a:srgbClr val="CCD3D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A7C5D0-4EAC-4599-8784-0D9C9A8B330F}"/>
              </a:ext>
            </a:extLst>
          </p:cNvPr>
          <p:cNvSpPr>
            <a:spLocks noGrp="1"/>
          </p:cNvSpPr>
          <p:nvPr/>
        </p:nvSpPr>
        <p:spPr>
          <a:xfrm>
            <a:off x="704850" y="4457700"/>
            <a:ext cx="904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Dataset creation  •  Human validation  •  DPO fine-tuning  •  Blind evaluation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84812B-D9D0-4B4B-943D-D99FDB7DD997}"/>
              </a:ext>
            </a:extLst>
          </p:cNvPr>
          <p:cNvSpPr>
            <a:spLocks noGrp="1"/>
          </p:cNvSpPr>
          <p:nvPr/>
        </p:nvSpPr>
        <p:spPr>
          <a:xfrm>
            <a:off x="704850" y="52768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5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6,254 prompts  |  18,762 candidate responses  |  100 held-out tests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04D2C1-9252-4301-A94A-FB41FE638BDD}"/>
              </a:ext>
            </a:extLst>
          </p:cNvPr>
          <p:cNvSpPr>
            <a:spLocks noGrp="1"/>
          </p:cNvSpPr>
          <p:nvPr/>
        </p:nvSpPr>
        <p:spPr>
          <a:xfrm>
            <a:off x="704850" y="61341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125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265566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A8B2AA7-27DD-4867-B3C2-08AC4DEF33A1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876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40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Project Team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517098A4-47B5-4A2C-9C1F-4A04CDA81025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820400" cy="0"/>
          </a:xfrm>
          <a:prstGeom prst="line">
            <a:avLst/>
          </a:prstGeom>
          <a:noFill/>
          <a:ln w="28575">
            <a:solidFill>
              <a:srgbClr val="0F7A7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9E45CF-D6CB-4EE7-9948-2D24AF6D4237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3238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1500" b="0" i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Name: Rahul Sheikh</a:t>
            </a:r>
          </a:p>
          <a:p>
            <a:pPr algn="l">
              <a:lnSpc>
                <a:spcPct val="118000"/>
              </a:lnSpc>
              <a:buNone/>
              <a:defRPr sz="1500" b="0" i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Roll: 2107063</a:t>
            </a:r>
          </a:p>
          <a:p>
            <a:pPr algn="l">
              <a:lnSpc>
                <a:spcPct val="118000"/>
              </a:lnSpc>
              <a:buNone/>
              <a:def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endParaRPr sz="1500" b="0" i="0">
              <a:solidFill>
                <a:srgbClr val="1F2937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lnSpc>
                <a:spcPct val="118000"/>
              </a:lnSpc>
              <a:buNone/>
              <a:defRPr sz="1500" b="0" i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Name: Rezwan Ahammad Raad</a:t>
            </a:r>
            <a:endParaRPr sz="1725" b="0" i="0">
              <a:solidFill>
                <a:srgbClr val="17212F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lnSpc>
                <a:spcPct val="118000"/>
              </a:lnSpc>
              <a:buNone/>
              <a:defRPr sz="1500" b="0" i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Roll: 2107072</a:t>
            </a:r>
            <a:endParaRPr sz="1725" b="0" i="0">
              <a:solidFill>
                <a:srgbClr val="17212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4E96DC-FB5B-4F10-B591-59F7DAC2B582}"/>
              </a:ext>
            </a:extLst>
          </p:cNvPr>
          <p:cNvSpPr>
            <a:spLocks noGrp="1"/>
          </p:cNvSpPr>
          <p:nvPr/>
        </p:nvSpPr>
        <p:spPr>
          <a:xfrm>
            <a:off x="4286250" y="2647950"/>
            <a:ext cx="3238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1500" b="0" i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Name: Ziadul Hasan</a:t>
            </a:r>
          </a:p>
          <a:p>
            <a:pPr algn="l">
              <a:lnSpc>
                <a:spcPct val="118000"/>
              </a:lnSpc>
              <a:buNone/>
              <a:defRPr sz="1500" b="0" i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i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Roll: 2107074</a:t>
            </a:r>
            <a:endParaRPr sz="1725" i="0">
              <a:solidFill>
                <a:srgbClr val="17212F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lnSpc>
                <a:spcPct val="118000"/>
              </a:lnSpc>
              <a:buNone/>
              <a:def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endParaRPr sz="1725" i="0">
              <a:solidFill>
                <a:srgbClr val="17212F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lnSpc>
                <a:spcPct val="118000"/>
              </a:lnSpc>
              <a:buNone/>
              <a:defRPr sz="1500" b="0" i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i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Name: Rezuan Mustafa Hasan</a:t>
            </a:r>
            <a:endParaRPr sz="1725" i="0">
              <a:solidFill>
                <a:srgbClr val="17212F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lnSpc>
                <a:spcPct val="118000"/>
              </a:lnSpc>
              <a:buNone/>
              <a:defRPr sz="1500" b="0" i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i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Roll: 2107075</a:t>
            </a:r>
            <a:endParaRPr sz="1725" i="0">
              <a:solidFill>
                <a:srgbClr val="17212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C5F082-0A12-4FFD-AA7D-1E4AFEF14ACB}"/>
              </a:ext>
            </a:extLst>
          </p:cNvPr>
          <p:cNvSpPr>
            <a:spLocks noGrp="1"/>
          </p:cNvSpPr>
          <p:nvPr/>
        </p:nvSpPr>
        <p:spPr>
          <a:xfrm>
            <a:off x="7886700" y="2647950"/>
            <a:ext cx="3619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1500" b="0" i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Name: Hassan Muhammad Naquibul Hoque</a:t>
            </a:r>
          </a:p>
          <a:p>
            <a:pPr algn="l">
              <a:lnSpc>
                <a:spcPct val="118000"/>
              </a:lnSpc>
              <a:buNone/>
              <a:defRPr sz="1500" b="0" i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Roll: 2107077</a:t>
            </a:r>
          </a:p>
          <a:p>
            <a:pPr algn="l">
              <a:lnSpc>
                <a:spcPct val="118000"/>
              </a:lnSpc>
              <a:buNone/>
              <a:def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endParaRPr sz="1725" b="0" i="0">
              <a:solidFill>
                <a:srgbClr val="17212F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lnSpc>
                <a:spcPct val="118000"/>
              </a:lnSpc>
              <a:buNone/>
              <a:defRPr sz="1500" b="0" i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Name: Sumaiya Akter</a:t>
            </a:r>
            <a:endParaRPr sz="1725" b="0" i="0">
              <a:solidFill>
                <a:srgbClr val="17212F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lnSpc>
                <a:spcPct val="118000"/>
              </a:lnSpc>
              <a:buNone/>
              <a:defRPr sz="1500" b="0" i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Roll: 2107080</a:t>
            </a:r>
            <a:endParaRPr sz="1725" b="0" i="0">
              <a:solidFill>
                <a:srgbClr val="17212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A2046B-6834-4A22-8781-B243FD01DA85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Bangla Preference Dataset Project</a:t>
            </a:r>
          </a:p>
        </p:txBody>
      </p:sp>
    </p:spTree>
    <p:extLst>
      <p:ext uri="{BB962C8B-B14F-4D97-AF65-F5344CB8AC3E}">
        <p14:creationId xmlns:p14="http://schemas.microsoft.com/office/powerpoint/2010/main" val="322736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D4DE988-6C59-4939-985A-FF7FD8CB5A27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97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BANGLA PREFERENCE DATASET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B8B2AA-B5B4-4F0C-BDCC-47E2C58BC4CC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31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Can ranked responses improve a smaller model?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DBCBF810-9058-46FA-B5CC-874FF9A3053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0"/>
          </a:xfrm>
          <a:prstGeom prst="line">
            <a:avLst/>
          </a:prstGeom>
          <a:noFill/>
          <a:ln w="9525">
            <a:solidFill>
              <a:srgbClr val="CCD3DA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060112-36B7-421F-80D5-B2D1247CAE1C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5429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2100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One reference answer is not enough. For the same Bangla prompt, answers can differ in correctness, relevance and clarity.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1663DBA8-E2D1-4688-9534-4096F564DF59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4857750" cy="0"/>
          </a:xfrm>
          <a:prstGeom prst="line">
            <a:avLst/>
          </a:prstGeom>
          <a:noFill/>
          <a:ln w="28575">
            <a:solidFill>
              <a:srgbClr val="0F7A7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021CC3-58F7-404D-A5BB-A509289A9623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87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Primary contribution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C82A54-3CA1-44F2-B7C0-9CDAEBC81D19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4953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2000"/>
              </a:lnSpc>
              <a:buNone/>
              <a:def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• Collect comparable answers</a:t>
            </a:r>
          </a:p>
          <a:p>
            <a:pPr algn="l">
              <a:lnSpc>
                <a:spcPct val="122000"/>
              </a:lnSpc>
              <a:buNone/>
              <a:def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• Create anonymous preference rankings</a:t>
            </a:r>
          </a:p>
          <a:p>
            <a:pPr algn="l">
              <a:lnSpc>
                <a:spcPct val="122000"/>
              </a:lnSpc>
              <a:buNone/>
              <a:def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• Validate the rankings with people</a:t>
            </a:r>
          </a:p>
          <a:p>
            <a:pPr algn="l">
              <a:lnSpc>
                <a:spcPct val="122000"/>
              </a:lnSpc>
              <a:buNone/>
              <a:def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• Reuse only reliable pairs for training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9EC3D74-A0A8-4374-8E45-B70A82048B19}"/>
              </a:ext>
            </a:extLst>
          </p:cNvPr>
          <p:cNvSpPr>
            <a:spLocks noGrp="1"/>
          </p:cNvSpPr>
          <p:nvPr/>
        </p:nvSpPr>
        <p:spPr>
          <a:xfrm>
            <a:off x="6762750" y="1619250"/>
            <a:ext cx="4171950" cy="3314700"/>
          </a:xfrm>
          <a:prstGeom prst="roundRect">
            <a:avLst>
              <a:gd name="adj" fmla="val 1724"/>
            </a:avLst>
          </a:prstGeom>
          <a:solidFill>
            <a:srgbClr val="F3F5F7"/>
          </a:solidFill>
          <a:ln w="9525">
            <a:solidFill>
              <a:srgbClr val="CCD3D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721036-FE54-490D-85EE-D541A4F61B64}"/>
              </a:ext>
            </a:extLst>
          </p:cNvPr>
          <p:cNvSpPr>
            <a:spLocks noGrp="1"/>
          </p:cNvSpPr>
          <p:nvPr/>
        </p:nvSpPr>
        <p:spPr>
          <a:xfrm>
            <a:off x="7067550" y="19621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425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Question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2307C9-A44A-4C9F-A64D-2C09262ECE78}"/>
              </a:ext>
            </a:extLst>
          </p:cNvPr>
          <p:cNvSpPr>
            <a:spLocks noGrp="1"/>
          </p:cNvSpPr>
          <p:nvPr/>
        </p:nvSpPr>
        <p:spPr>
          <a:xfrm>
            <a:off x="7067550" y="2457450"/>
            <a:ext cx="33337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2000"/>
              </a:lnSpc>
              <a:buNone/>
              <a:defRPr sz="28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Which answer</a:t>
            </a:r>
          </a:p>
          <a:p>
            <a:pPr algn="l">
              <a:lnSpc>
                <a:spcPct val="102000"/>
              </a:lnSpc>
              <a:buNone/>
              <a:defRPr sz="28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should the model</a:t>
            </a:r>
          </a:p>
          <a:p>
            <a:pPr algn="l">
              <a:lnSpc>
                <a:spcPct val="102000"/>
              </a:lnSpc>
              <a:buNone/>
              <a:defRPr sz="28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learn to prefer?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A4A8B6-503F-4B65-AA26-21DE5F59E723}"/>
              </a:ext>
            </a:extLst>
          </p:cNvPr>
          <p:cNvSpPr>
            <a:spLocks noGrp="1"/>
          </p:cNvSpPr>
          <p:nvPr/>
        </p:nvSpPr>
        <p:spPr>
          <a:xfrm>
            <a:off x="7067550" y="3924300"/>
            <a:ext cx="3200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0000"/>
              </a:lnSpc>
              <a:buNone/>
              <a:defRPr sz="1500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Repeated, blinded comparisons—not one model score—supply the answer.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AC4A63F6-DE5A-4691-BE91-9036FE507FBD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CCD3D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9F4FEC-6A1B-44F5-9FC9-8E6FAFC0B5D3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Bangla Preference Dataset Project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827124-9A8D-4C9D-94E8-D39E5D1D2AF1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16631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D6F775EE-91F3-4F8E-8CEB-F40D1651BE16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97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SOURCE PAPER: DEVINE (2024)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F52727-1E09-46E7-A7DE-DF584EDBF37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31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Source paper: the actual Repeat Ranking workflow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2A0C1880-7BE4-4AFC-BE31-8FB620EDA163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0"/>
          </a:xfrm>
          <a:prstGeom prst="line">
            <a:avLst/>
          </a:prstGeom>
          <a:noFill/>
          <a:ln w="9525">
            <a:solidFill>
              <a:srgbClr val="CCD3DA"/>
            </a:solidFill>
            <a:prstDash val="solid"/>
          </a:ln>
        </p:spPr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0D09634-F183-437A-B14E-156A86A01D6D}"/>
              </a:ext>
            </a:extLst>
          </p:cNvPr>
          <p:cNvSpPr>
            <a:spLocks noGrp="1"/>
          </p:cNvSpPr>
          <p:nvPr/>
        </p:nvSpPr>
        <p:spPr>
          <a:xfrm>
            <a:off x="609600" y="2438400"/>
            <a:ext cx="1257300" cy="857250"/>
          </a:xfrm>
          <a:prstGeom prst="roundRect">
            <a:avLst>
              <a:gd name="adj" fmla="val 5556"/>
            </a:avLst>
          </a:prstGeom>
          <a:solidFill>
            <a:srgbClr val="F3F5F7"/>
          </a:solidFill>
          <a:ln w="9525">
            <a:solidFill>
              <a:srgbClr val="CCD3D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F6187C-C2F3-492C-92C8-4C511882C69F}"/>
              </a:ext>
            </a:extLst>
          </p:cNvPr>
          <p:cNvSpPr>
            <a:spLocks noGrp="1"/>
          </p:cNvSpPr>
          <p:nvPr/>
        </p:nvSpPr>
        <p:spPr>
          <a:xfrm>
            <a:off x="1090496" y="2084349"/>
            <a:ext cx="247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 i="0" dirty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4DD633-ECB3-49F6-9CA2-FE99E342F1C8}"/>
              </a:ext>
            </a:extLst>
          </p:cNvPr>
          <p:cNvSpPr>
            <a:spLocks noGrp="1"/>
          </p:cNvSpPr>
          <p:nvPr/>
        </p:nvSpPr>
        <p:spPr>
          <a:xfrm>
            <a:off x="667331" y="2552700"/>
            <a:ext cx="1028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1350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 dirty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Sample</a:t>
            </a:r>
          </a:p>
          <a:p>
            <a:pPr algn="ctr">
              <a:lnSpc>
                <a:spcPct val="108000"/>
              </a:lnSpc>
              <a:buNone/>
              <a:defRPr sz="1350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 dirty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2,996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5C27781-DD68-42CF-86FD-5A0D92A66EBB}"/>
              </a:ext>
            </a:extLst>
          </p:cNvPr>
          <p:cNvSpPr>
            <a:spLocks noGrp="1"/>
          </p:cNvSpPr>
          <p:nvPr/>
        </p:nvSpPr>
        <p:spPr>
          <a:xfrm>
            <a:off x="2228850" y="2438400"/>
            <a:ext cx="1257300" cy="857250"/>
          </a:xfrm>
          <a:prstGeom prst="roundRect">
            <a:avLst>
              <a:gd name="adj" fmla="val 5556"/>
            </a:avLst>
          </a:prstGeom>
          <a:solidFill>
            <a:srgbClr val="F3F5F7"/>
          </a:solidFill>
          <a:ln w="9525">
            <a:solidFill>
              <a:srgbClr val="CCD3DA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052A6D-A4FC-42D5-9A5A-B91AF4BB73A9}"/>
              </a:ext>
            </a:extLst>
          </p:cNvPr>
          <p:cNvSpPr>
            <a:spLocks noGrp="1"/>
          </p:cNvSpPr>
          <p:nvPr/>
        </p:nvSpPr>
        <p:spPr>
          <a:xfrm>
            <a:off x="2709746" y="2084349"/>
            <a:ext cx="247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 i="0" dirty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3E3E39-6F66-4B0A-B4DE-4DC6BA9B2050}"/>
              </a:ext>
            </a:extLst>
          </p:cNvPr>
          <p:cNvSpPr>
            <a:spLocks noGrp="1"/>
          </p:cNvSpPr>
          <p:nvPr/>
        </p:nvSpPr>
        <p:spPr>
          <a:xfrm>
            <a:off x="2338271" y="2552700"/>
            <a:ext cx="1028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1350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 dirty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Generate</a:t>
            </a:r>
          </a:p>
          <a:p>
            <a:pPr algn="ctr">
              <a:lnSpc>
                <a:spcPct val="108000"/>
              </a:lnSpc>
              <a:buNone/>
              <a:defRPr sz="1350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 dirty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7 answers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D51A3FF-0FDD-4EE6-865A-E99F2512422E}"/>
              </a:ext>
            </a:extLst>
          </p:cNvPr>
          <p:cNvSpPr>
            <a:spLocks noGrp="1"/>
          </p:cNvSpPr>
          <p:nvPr/>
        </p:nvSpPr>
        <p:spPr>
          <a:xfrm>
            <a:off x="3848100" y="2438400"/>
            <a:ext cx="1257300" cy="857250"/>
          </a:xfrm>
          <a:prstGeom prst="roundRect">
            <a:avLst>
              <a:gd name="adj" fmla="val 5556"/>
            </a:avLst>
          </a:prstGeom>
          <a:solidFill>
            <a:srgbClr val="F3F5F7"/>
          </a:solidFill>
          <a:ln w="9525">
            <a:solidFill>
              <a:srgbClr val="CCD3DA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72B5DF-EC32-4716-B4D5-78854E523AED}"/>
              </a:ext>
            </a:extLst>
          </p:cNvPr>
          <p:cNvSpPr>
            <a:spLocks noGrp="1"/>
          </p:cNvSpPr>
          <p:nvPr/>
        </p:nvSpPr>
        <p:spPr>
          <a:xfrm>
            <a:off x="4328996" y="2084349"/>
            <a:ext cx="247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6D27BD-B346-445C-B5D1-27863DC2435B}"/>
              </a:ext>
            </a:extLst>
          </p:cNvPr>
          <p:cNvSpPr>
            <a:spLocks noGrp="1"/>
          </p:cNvSpPr>
          <p:nvPr/>
        </p:nvSpPr>
        <p:spPr>
          <a:xfrm>
            <a:off x="3915239" y="2580345"/>
            <a:ext cx="1028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1350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 dirty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Shuffle</a:t>
            </a:r>
          </a:p>
          <a:p>
            <a:pPr algn="ctr">
              <a:lnSpc>
                <a:spcPct val="108000"/>
              </a:lnSpc>
              <a:buNone/>
              <a:defRPr sz="1350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 dirty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A-G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9174AEF-60F1-4104-A86C-A8637B7800EB}"/>
              </a:ext>
            </a:extLst>
          </p:cNvPr>
          <p:cNvSpPr>
            <a:spLocks noGrp="1"/>
          </p:cNvSpPr>
          <p:nvPr/>
        </p:nvSpPr>
        <p:spPr>
          <a:xfrm>
            <a:off x="5467350" y="2438400"/>
            <a:ext cx="1257300" cy="857250"/>
          </a:xfrm>
          <a:prstGeom prst="roundRect">
            <a:avLst>
              <a:gd name="adj" fmla="val 5556"/>
            </a:avLst>
          </a:prstGeom>
          <a:solidFill>
            <a:srgbClr val="F3F5F7"/>
          </a:solidFill>
          <a:ln w="9525">
            <a:solidFill>
              <a:srgbClr val="CCD3DA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218190-0D34-40F3-AC7E-E66513CFA12B}"/>
              </a:ext>
            </a:extLst>
          </p:cNvPr>
          <p:cNvSpPr>
            <a:spLocks noGrp="1"/>
          </p:cNvSpPr>
          <p:nvPr/>
        </p:nvSpPr>
        <p:spPr>
          <a:xfrm>
            <a:off x="5948246" y="2084349"/>
            <a:ext cx="247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82713B-D338-4CBA-8CB0-DDC0CBC0C222}"/>
              </a:ext>
            </a:extLst>
          </p:cNvPr>
          <p:cNvSpPr>
            <a:spLocks noGrp="1"/>
          </p:cNvSpPr>
          <p:nvPr/>
        </p:nvSpPr>
        <p:spPr>
          <a:xfrm>
            <a:off x="5029664" y="2589173"/>
            <a:ext cx="2064834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1350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 dirty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GPT-4</a:t>
            </a:r>
          </a:p>
          <a:p>
            <a:pPr algn="ctr">
              <a:lnSpc>
                <a:spcPct val="108000"/>
              </a:lnSpc>
              <a:buNone/>
              <a:defRPr sz="1350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 dirty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ranks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6B07F6F-2423-40E4-9A6B-40B345616729}"/>
              </a:ext>
            </a:extLst>
          </p:cNvPr>
          <p:cNvSpPr>
            <a:spLocks noGrp="1"/>
          </p:cNvSpPr>
          <p:nvPr/>
        </p:nvSpPr>
        <p:spPr>
          <a:xfrm>
            <a:off x="7086600" y="2438400"/>
            <a:ext cx="1257300" cy="857250"/>
          </a:xfrm>
          <a:prstGeom prst="roundRect">
            <a:avLst>
              <a:gd name="adj" fmla="val 5556"/>
            </a:avLst>
          </a:prstGeom>
          <a:solidFill>
            <a:srgbClr val="EAF6F4"/>
          </a:solidFill>
          <a:ln w="9525">
            <a:solidFill>
              <a:srgbClr val="0F7A7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CF87E8-C03E-4616-8F7E-1498F15BD3B9}"/>
              </a:ext>
            </a:extLst>
          </p:cNvPr>
          <p:cNvSpPr>
            <a:spLocks noGrp="1"/>
          </p:cNvSpPr>
          <p:nvPr/>
        </p:nvSpPr>
        <p:spPr>
          <a:xfrm>
            <a:off x="7567496" y="2084349"/>
            <a:ext cx="247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 i="0" dirty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70EDA2-D8B8-4264-A91B-4195EA29AC62}"/>
              </a:ext>
            </a:extLst>
          </p:cNvPr>
          <p:cNvSpPr>
            <a:spLocks noGrp="1"/>
          </p:cNvSpPr>
          <p:nvPr/>
        </p:nvSpPr>
        <p:spPr>
          <a:xfrm>
            <a:off x="7038975" y="2577093"/>
            <a:ext cx="1257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1350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 dirty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Repeat</a:t>
            </a:r>
          </a:p>
          <a:p>
            <a:pPr algn="ctr">
              <a:lnSpc>
                <a:spcPct val="108000"/>
              </a:lnSpc>
              <a:buNone/>
              <a:defRPr sz="1350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 dirty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5x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D46818E-7C51-4B8A-AABA-1559D0655A8C}"/>
              </a:ext>
            </a:extLst>
          </p:cNvPr>
          <p:cNvSpPr>
            <a:spLocks noGrp="1"/>
          </p:cNvSpPr>
          <p:nvPr/>
        </p:nvSpPr>
        <p:spPr>
          <a:xfrm>
            <a:off x="8705850" y="2438400"/>
            <a:ext cx="1257300" cy="857250"/>
          </a:xfrm>
          <a:prstGeom prst="roundRect">
            <a:avLst>
              <a:gd name="adj" fmla="val 5556"/>
            </a:avLst>
          </a:prstGeom>
          <a:solidFill>
            <a:srgbClr val="EAF6F4"/>
          </a:solidFill>
          <a:ln w="9525">
            <a:solidFill>
              <a:srgbClr val="0F7A7A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F88049-CB11-47F4-8A6A-1C93113BB06E}"/>
              </a:ext>
            </a:extLst>
          </p:cNvPr>
          <p:cNvSpPr>
            <a:spLocks noGrp="1"/>
          </p:cNvSpPr>
          <p:nvPr/>
        </p:nvSpPr>
        <p:spPr>
          <a:xfrm>
            <a:off x="9186746" y="2084349"/>
            <a:ext cx="247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19F174B-A9B2-40AE-874A-695E2F421623}"/>
              </a:ext>
            </a:extLst>
          </p:cNvPr>
          <p:cNvSpPr>
            <a:spLocks noGrp="1"/>
          </p:cNvSpPr>
          <p:nvPr/>
        </p:nvSpPr>
        <p:spPr>
          <a:xfrm>
            <a:off x="8771944" y="2552700"/>
            <a:ext cx="1028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1350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 dirty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Score</a:t>
            </a:r>
          </a:p>
          <a:p>
            <a:pPr algn="ctr">
              <a:lnSpc>
                <a:spcPct val="108000"/>
              </a:lnSpc>
              <a:buNone/>
              <a:defRPr sz="1350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 dirty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W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C103CC7-454D-4A31-ADA9-55CAE91E1AB7}"/>
              </a:ext>
            </a:extLst>
          </p:cNvPr>
          <p:cNvSpPr>
            <a:spLocks noGrp="1"/>
          </p:cNvSpPr>
          <p:nvPr/>
        </p:nvSpPr>
        <p:spPr>
          <a:xfrm>
            <a:off x="10325100" y="2438400"/>
            <a:ext cx="1257300" cy="857250"/>
          </a:xfrm>
          <a:prstGeom prst="roundRect">
            <a:avLst>
              <a:gd name="adj" fmla="val 5556"/>
            </a:avLst>
          </a:prstGeom>
          <a:solidFill>
            <a:srgbClr val="F3F5F7"/>
          </a:solidFill>
          <a:ln w="9525">
            <a:solidFill>
              <a:srgbClr val="CCD3DA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086AA1C-4AC2-4057-9E4A-DF0425BD8B5C}"/>
              </a:ext>
            </a:extLst>
          </p:cNvPr>
          <p:cNvSpPr>
            <a:spLocks noGrp="1"/>
          </p:cNvSpPr>
          <p:nvPr/>
        </p:nvSpPr>
        <p:spPr>
          <a:xfrm>
            <a:off x="10805996" y="2084349"/>
            <a:ext cx="247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3F248FC-C98F-4145-A9F2-50AA72E708D1}"/>
              </a:ext>
            </a:extLst>
          </p:cNvPr>
          <p:cNvSpPr>
            <a:spLocks noGrp="1"/>
          </p:cNvSpPr>
          <p:nvPr/>
        </p:nvSpPr>
        <p:spPr>
          <a:xfrm>
            <a:off x="10415471" y="2576164"/>
            <a:ext cx="1028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1350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 dirty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Train</a:t>
            </a:r>
          </a:p>
          <a:p>
            <a:pPr algn="ctr">
              <a:lnSpc>
                <a:spcPct val="108000"/>
              </a:lnSpc>
              <a:buNone/>
              <a:defRPr sz="1350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 dirty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ORPO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E5526C2A-8251-478B-96CB-569921193817}"/>
              </a:ext>
            </a:extLst>
          </p:cNvPr>
          <p:cNvSpPr>
            <a:spLocks noGrp="1"/>
          </p:cNvSpPr>
          <p:nvPr/>
        </p:nvSpPr>
        <p:spPr>
          <a:xfrm>
            <a:off x="1914525" y="2790825"/>
            <a:ext cx="228600" cy="152400"/>
          </a:xfrm>
          <a:prstGeom prst="rightArrow">
            <a:avLst/>
          </a:prstGeom>
          <a:solidFill>
            <a:srgbClr val="0F7A7A"/>
          </a:solidFill>
          <a:ln w="0">
            <a:solidFill>
              <a:srgbClr val="0F7A7A"/>
            </a:solidFill>
            <a:prstDash val="solid"/>
          </a:ln>
        </p:spPr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B55E0996-F96D-4095-934E-CFE69668BC42}"/>
              </a:ext>
            </a:extLst>
          </p:cNvPr>
          <p:cNvSpPr>
            <a:spLocks noGrp="1"/>
          </p:cNvSpPr>
          <p:nvPr/>
        </p:nvSpPr>
        <p:spPr>
          <a:xfrm>
            <a:off x="3533775" y="2790825"/>
            <a:ext cx="228600" cy="152400"/>
          </a:xfrm>
          <a:prstGeom prst="rightArrow">
            <a:avLst/>
          </a:prstGeom>
          <a:solidFill>
            <a:srgbClr val="0F7A7A"/>
          </a:solidFill>
          <a:ln w="0">
            <a:solidFill>
              <a:srgbClr val="0F7A7A"/>
            </a:solidFill>
            <a:prstDash val="solid"/>
          </a:ln>
        </p:spPr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7DC03F8E-96BF-4265-A84E-4047FEBDA280}"/>
              </a:ext>
            </a:extLst>
          </p:cNvPr>
          <p:cNvSpPr>
            <a:spLocks noGrp="1"/>
          </p:cNvSpPr>
          <p:nvPr/>
        </p:nvSpPr>
        <p:spPr>
          <a:xfrm>
            <a:off x="5153025" y="2790825"/>
            <a:ext cx="228600" cy="152400"/>
          </a:xfrm>
          <a:prstGeom prst="rightArrow">
            <a:avLst/>
          </a:prstGeom>
          <a:solidFill>
            <a:srgbClr val="0F7A7A"/>
          </a:solidFill>
          <a:ln w="0">
            <a:solidFill>
              <a:srgbClr val="0F7A7A"/>
            </a:solidFill>
            <a:prstDash val="solid"/>
          </a:ln>
        </p:spPr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B6E5EA8D-61BC-4F81-A2DB-2EF65A9E84E5}"/>
              </a:ext>
            </a:extLst>
          </p:cNvPr>
          <p:cNvSpPr>
            <a:spLocks noGrp="1"/>
          </p:cNvSpPr>
          <p:nvPr/>
        </p:nvSpPr>
        <p:spPr>
          <a:xfrm>
            <a:off x="6772275" y="2790825"/>
            <a:ext cx="228600" cy="152400"/>
          </a:xfrm>
          <a:prstGeom prst="rightArrow">
            <a:avLst/>
          </a:prstGeom>
          <a:solidFill>
            <a:srgbClr val="0F7A7A"/>
          </a:solidFill>
          <a:ln w="0">
            <a:solidFill>
              <a:srgbClr val="0F7A7A"/>
            </a:solidFill>
            <a:prstDash val="solid"/>
          </a:ln>
        </p:spPr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5DCE97F2-1EA7-4B9B-8CE6-B04046A57DB5}"/>
              </a:ext>
            </a:extLst>
          </p:cNvPr>
          <p:cNvSpPr>
            <a:spLocks noGrp="1"/>
          </p:cNvSpPr>
          <p:nvPr/>
        </p:nvSpPr>
        <p:spPr>
          <a:xfrm>
            <a:off x="8391525" y="2790825"/>
            <a:ext cx="228600" cy="152400"/>
          </a:xfrm>
          <a:prstGeom prst="rightArrow">
            <a:avLst/>
          </a:prstGeom>
          <a:solidFill>
            <a:srgbClr val="0F7A7A"/>
          </a:solidFill>
          <a:ln w="0">
            <a:solidFill>
              <a:srgbClr val="0F7A7A"/>
            </a:solidFill>
            <a:prstDash val="solid"/>
          </a:ln>
        </p:spPr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D25808F6-215F-4783-B59E-E8F6B4EAF361}"/>
              </a:ext>
            </a:extLst>
          </p:cNvPr>
          <p:cNvSpPr>
            <a:spLocks noGrp="1"/>
          </p:cNvSpPr>
          <p:nvPr/>
        </p:nvSpPr>
        <p:spPr>
          <a:xfrm>
            <a:off x="10010775" y="2790825"/>
            <a:ext cx="228600" cy="152400"/>
          </a:xfrm>
          <a:prstGeom prst="rightArrow">
            <a:avLst/>
          </a:prstGeom>
          <a:solidFill>
            <a:srgbClr val="0F7A7A"/>
          </a:solidFill>
          <a:ln w="0">
            <a:solidFill>
              <a:srgbClr val="0F7A7A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CC56872-AAA4-488A-8CC6-2A23BCC60543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333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Base paper introduction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2E097ED-8B58-44D3-97BF-D44593CF7B52}"/>
              </a:ext>
            </a:extLst>
          </p:cNvPr>
          <p:cNvSpPr>
            <a:spLocks noGrp="1"/>
          </p:cNvSpPr>
          <p:nvPr/>
        </p:nvSpPr>
        <p:spPr>
          <a:xfrm>
            <a:off x="609600" y="4571999"/>
            <a:ext cx="10477500" cy="12287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20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 i="0" dirty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Peter Devine's 2024 paper was published by the </a:t>
            </a:r>
            <a:r>
              <a:rPr sz="2025" b="0" i="0" dirty="0">
                <a:solidFill>
                  <a:srgbClr val="FF0000"/>
                </a:solidFill>
                <a:latin typeface="Helvetica Neue"/>
                <a:ea typeface="Helvetica Neue"/>
                <a:cs typeface="Helvetica Neue"/>
              </a:rPr>
              <a:t>Association for Computational Linguistics (ACL)</a:t>
            </a:r>
            <a:r>
              <a:rPr sz="2025" b="0" i="0" dirty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 in the MRL 2024 proceedings. It introduces Repeat Ranking: evaluate shuffled answers several times and keep the most consistent preference data.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5B6833D-1A3B-4D45-8EC5-49623F2B7017}"/>
              </a:ext>
            </a:extLst>
          </p:cNvPr>
          <p:cNvSpPr>
            <a:spLocks noGrp="1"/>
          </p:cNvSpPr>
          <p:nvPr/>
        </p:nvSpPr>
        <p:spPr>
          <a:xfrm>
            <a:off x="609600" y="5753100"/>
            <a:ext cx="904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50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Scale: 2,996 prompts, 74 languages, seven answer models, five GPT-4 rankings, and 2,714 valid prompts.</a:t>
            </a:r>
          </a:p>
        </p:txBody>
      </p:sp>
      <p:sp>
        <p:nvSpPr>
          <p:cNvPr id="34" name="Straight Connector 33">
            <a:extLst>
              <a:ext uri="{FF2B5EF4-FFF2-40B4-BE49-F238E27FC236}">
                <a16:creationId xmlns:a16="http://schemas.microsoft.com/office/drawing/2014/main" id="{9B353C3B-E29A-458D-85A8-51428AFAF9DE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CCD3DA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9C25195-F840-46D2-A5AB-ABDFACCD6BE1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Devine (2024) | ACL Anthology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2180DE7-FF1C-48F6-BA57-0A1CADFE200F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4827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2504969B-95FE-4BF9-9F18-4A13EF520C03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97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SOURCE PAPER: DEVINE (2024)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CA46DF-C792-46FD-9A42-3CBB8C458D95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31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Source paper: how W creates training subsets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00BCA1A6-3131-4D75-88B4-4CA4DB412627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0"/>
          </a:xfrm>
          <a:prstGeom prst="line">
            <a:avLst/>
          </a:prstGeom>
          <a:noFill/>
          <a:ln w="9525">
            <a:solidFill>
              <a:srgbClr val="CCD3DA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174238-C66F-4BAE-AA3C-1BEDF0475AE9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695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Kendall’s W measures agreement across five full GPT-4 rankings.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2E0CC6-9A74-4CD7-AC1A-5CC36C98E7E6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476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W = 12S / [m²(n³ − n)]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1025A3-C0E5-43C5-A79F-9773A24FE0E5}"/>
              </a:ext>
            </a:extLst>
          </p:cNvPr>
          <p:cNvSpPr>
            <a:spLocks noGrp="1"/>
          </p:cNvSpPr>
          <p:nvPr/>
        </p:nvSpPr>
        <p:spPr>
          <a:xfrm>
            <a:off x="685800" y="2895600"/>
            <a:ext cx="4953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4000"/>
              </a:lnSpc>
              <a:buNone/>
              <a:def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For each of 2,714 valid prompts, W measured how consistently GPT-4 ranked seven answers. The paper trained on the highest 25%, 50%, and 75% by W, plus all prompts for comparison.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E333816-C631-4064-A091-4F281E727000}"/>
              </a:ext>
            </a:extLst>
          </p:cNvPr>
          <p:cNvSpPr>
            <a:spLocks noGrp="1"/>
          </p:cNvSpPr>
          <p:nvPr/>
        </p:nvSpPr>
        <p:spPr>
          <a:xfrm>
            <a:off x="6762750" y="2105024"/>
            <a:ext cx="1409700" cy="1238250"/>
          </a:xfrm>
          <a:prstGeom prst="roundRect">
            <a:avLst>
              <a:gd name="adj" fmla="val 3846"/>
            </a:avLst>
          </a:prstGeom>
          <a:solidFill>
            <a:srgbClr val="F3F5F7"/>
          </a:solidFill>
          <a:ln w="9525">
            <a:solidFill>
              <a:srgbClr val="CCD3DA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5BD538-6887-4DA4-B677-6E5CD804E9E0}"/>
              </a:ext>
            </a:extLst>
          </p:cNvPr>
          <p:cNvSpPr>
            <a:spLocks noGrp="1"/>
          </p:cNvSpPr>
          <p:nvPr/>
        </p:nvSpPr>
        <p:spPr>
          <a:xfrm>
            <a:off x="6838950" y="2352674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2475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2,714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E57974-2BC2-4CE9-90F0-96D332EA58EB}"/>
              </a:ext>
            </a:extLst>
          </p:cNvPr>
          <p:cNvSpPr>
            <a:spLocks noGrp="1"/>
          </p:cNvSpPr>
          <p:nvPr/>
        </p:nvSpPr>
        <p:spPr>
          <a:xfrm>
            <a:off x="6867525" y="2819399"/>
            <a:ext cx="1200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1125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valid</a:t>
            </a:r>
          </a:p>
          <a:p>
            <a:pPr algn="ctr">
              <a:lnSpc>
                <a:spcPct val="105000"/>
              </a:lnSpc>
              <a:buNone/>
              <a:defRPr sz="1125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prompts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FF85EE5D-A85D-4AA3-B3F9-D78D4F3946A2}"/>
              </a:ext>
            </a:extLst>
          </p:cNvPr>
          <p:cNvSpPr>
            <a:spLocks noGrp="1"/>
          </p:cNvSpPr>
          <p:nvPr/>
        </p:nvSpPr>
        <p:spPr>
          <a:xfrm>
            <a:off x="8191500" y="2628899"/>
            <a:ext cx="133350" cy="152400"/>
          </a:xfrm>
          <a:prstGeom prst="rightArrow">
            <a:avLst/>
          </a:prstGeom>
          <a:solidFill>
            <a:srgbClr val="0F7A7A"/>
          </a:solidFill>
          <a:ln w="0">
            <a:solidFill>
              <a:srgbClr val="0F7A7A"/>
            </a:solidFill>
            <a:prstDash val="solid"/>
          </a:ln>
        </p:spPr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1341E6C-F091-4019-9910-A9BF79D63E18}"/>
              </a:ext>
            </a:extLst>
          </p:cNvPr>
          <p:cNvSpPr>
            <a:spLocks noGrp="1"/>
          </p:cNvSpPr>
          <p:nvPr/>
        </p:nvSpPr>
        <p:spPr>
          <a:xfrm>
            <a:off x="8343900" y="2105024"/>
            <a:ext cx="1409700" cy="1238250"/>
          </a:xfrm>
          <a:prstGeom prst="roundRect">
            <a:avLst>
              <a:gd name="adj" fmla="val 3846"/>
            </a:avLst>
          </a:prstGeom>
          <a:solidFill>
            <a:srgbClr val="F3F5F7"/>
          </a:solidFill>
          <a:ln w="9525">
            <a:solidFill>
              <a:srgbClr val="CCD3DA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1CDCBC-32B0-45AB-870B-A0D90FE967FF}"/>
              </a:ext>
            </a:extLst>
          </p:cNvPr>
          <p:cNvSpPr>
            <a:spLocks noGrp="1"/>
          </p:cNvSpPr>
          <p:nvPr/>
        </p:nvSpPr>
        <p:spPr>
          <a:xfrm>
            <a:off x="8420100" y="2352674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2475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5x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B3DA0A-DE5C-4DAE-9EC3-CE6674EC6B63}"/>
              </a:ext>
            </a:extLst>
          </p:cNvPr>
          <p:cNvSpPr>
            <a:spLocks noGrp="1"/>
          </p:cNvSpPr>
          <p:nvPr/>
        </p:nvSpPr>
        <p:spPr>
          <a:xfrm>
            <a:off x="8448675" y="2819399"/>
            <a:ext cx="1200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1125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GPT-4</a:t>
            </a:r>
          </a:p>
          <a:p>
            <a:pPr algn="ctr">
              <a:lnSpc>
                <a:spcPct val="105000"/>
              </a:lnSpc>
              <a:buNone/>
              <a:defRPr sz="1125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rankings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24142BC9-4840-4E73-887B-27460A3A1EBF}"/>
              </a:ext>
            </a:extLst>
          </p:cNvPr>
          <p:cNvSpPr>
            <a:spLocks noGrp="1"/>
          </p:cNvSpPr>
          <p:nvPr/>
        </p:nvSpPr>
        <p:spPr>
          <a:xfrm>
            <a:off x="9772650" y="2628899"/>
            <a:ext cx="133350" cy="152400"/>
          </a:xfrm>
          <a:prstGeom prst="rightArrow">
            <a:avLst/>
          </a:prstGeom>
          <a:solidFill>
            <a:srgbClr val="0F7A7A"/>
          </a:solidFill>
          <a:ln w="0">
            <a:solidFill>
              <a:srgbClr val="0F7A7A"/>
            </a:solidFill>
            <a:prstDash val="solid"/>
          </a:ln>
        </p:spPr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0C2AE1D-57F6-4FD2-A597-F4C103ABFE3B}"/>
              </a:ext>
            </a:extLst>
          </p:cNvPr>
          <p:cNvSpPr>
            <a:spLocks noGrp="1"/>
          </p:cNvSpPr>
          <p:nvPr/>
        </p:nvSpPr>
        <p:spPr>
          <a:xfrm>
            <a:off x="9925050" y="2105024"/>
            <a:ext cx="1409700" cy="1238250"/>
          </a:xfrm>
          <a:prstGeom prst="roundRect">
            <a:avLst>
              <a:gd name="adj" fmla="val 3846"/>
            </a:avLst>
          </a:prstGeom>
          <a:solidFill>
            <a:srgbClr val="EAF6F4"/>
          </a:solidFill>
          <a:ln w="9525">
            <a:solidFill>
              <a:srgbClr val="0F7A7A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99E1AB-2CB3-40BF-AD92-EAF20E3FE05E}"/>
              </a:ext>
            </a:extLst>
          </p:cNvPr>
          <p:cNvSpPr>
            <a:spLocks noGrp="1"/>
          </p:cNvSpPr>
          <p:nvPr/>
        </p:nvSpPr>
        <p:spPr>
          <a:xfrm>
            <a:off x="10001250" y="2352674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247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6B6B10-AA59-451B-BF9F-F7E3152F98A6}"/>
              </a:ext>
            </a:extLst>
          </p:cNvPr>
          <p:cNvSpPr>
            <a:spLocks noGrp="1"/>
          </p:cNvSpPr>
          <p:nvPr/>
        </p:nvSpPr>
        <p:spPr>
          <a:xfrm>
            <a:off x="10029825" y="2819399"/>
            <a:ext cx="1200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1125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per</a:t>
            </a:r>
          </a:p>
          <a:p>
            <a:pPr algn="ctr">
              <a:lnSpc>
                <a:spcPct val="105000"/>
              </a:lnSpc>
              <a:buNone/>
              <a:defRPr sz="1125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prompt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3D53B6-98D0-4F5A-88D2-CF0B0EA9BEAD}"/>
              </a:ext>
            </a:extLst>
          </p:cNvPr>
          <p:cNvSpPr>
            <a:spLocks noGrp="1"/>
          </p:cNvSpPr>
          <p:nvPr/>
        </p:nvSpPr>
        <p:spPr>
          <a:xfrm>
            <a:off x="6572250" y="37147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W-ranked subsets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520FE4-00E7-46AD-922F-1C257C6A4322}"/>
              </a:ext>
            </a:extLst>
          </p:cNvPr>
          <p:cNvSpPr>
            <a:spLocks noGrp="1"/>
          </p:cNvSpPr>
          <p:nvPr/>
        </p:nvSpPr>
        <p:spPr>
          <a:xfrm>
            <a:off x="6572250" y="4191000"/>
            <a:ext cx="142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25%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ADF4CF2-A392-4DC3-894E-6FFE62C2171D}"/>
              </a:ext>
            </a:extLst>
          </p:cNvPr>
          <p:cNvSpPr>
            <a:spLocks noGrp="1"/>
          </p:cNvSpPr>
          <p:nvPr/>
        </p:nvSpPr>
        <p:spPr>
          <a:xfrm>
            <a:off x="6572250" y="46291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674 prompts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C86901-DA9E-47BE-8823-05673C672714}"/>
              </a:ext>
            </a:extLst>
          </p:cNvPr>
          <p:cNvSpPr>
            <a:spLocks noGrp="1"/>
          </p:cNvSpPr>
          <p:nvPr/>
        </p:nvSpPr>
        <p:spPr>
          <a:xfrm>
            <a:off x="8401050" y="4191000"/>
            <a:ext cx="95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50%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D1830D-544A-40B1-AD12-C63D36FB752E}"/>
              </a:ext>
            </a:extLst>
          </p:cNvPr>
          <p:cNvSpPr>
            <a:spLocks noGrp="1"/>
          </p:cNvSpPr>
          <p:nvPr/>
        </p:nvSpPr>
        <p:spPr>
          <a:xfrm>
            <a:off x="8401050" y="46291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1,350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FAD542-3F71-4DF5-B4A5-719803523DBD}"/>
              </a:ext>
            </a:extLst>
          </p:cNvPr>
          <p:cNvSpPr>
            <a:spLocks noGrp="1"/>
          </p:cNvSpPr>
          <p:nvPr/>
        </p:nvSpPr>
        <p:spPr>
          <a:xfrm>
            <a:off x="9925050" y="4191000"/>
            <a:ext cx="95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75%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099010F-16C9-470F-BF19-36662F49E4F7}"/>
              </a:ext>
            </a:extLst>
          </p:cNvPr>
          <p:cNvSpPr>
            <a:spLocks noGrp="1"/>
          </p:cNvSpPr>
          <p:nvPr/>
        </p:nvSpPr>
        <p:spPr>
          <a:xfrm>
            <a:off x="9925050" y="46291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2,018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F1433F0-D8C3-4C08-96B6-57A11F460808}"/>
              </a:ext>
            </a:extLst>
          </p:cNvPr>
          <p:cNvSpPr>
            <a:spLocks noGrp="1"/>
          </p:cNvSpPr>
          <p:nvPr/>
        </p:nvSpPr>
        <p:spPr>
          <a:xfrm>
            <a:off x="685800" y="4514850"/>
            <a:ext cx="4762500" cy="1333500"/>
          </a:xfrm>
          <a:prstGeom prst="roundRect">
            <a:avLst>
              <a:gd name="adj" fmla="val 3571"/>
            </a:avLst>
          </a:prstGeom>
          <a:solidFill>
            <a:srgbClr val="F3F5F7"/>
          </a:solidFill>
          <a:ln w="9525">
            <a:solidFill>
              <a:srgbClr val="CCD3DA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0A0AAF0-7ABA-4AAC-BDFC-18EB99489E01}"/>
              </a:ext>
            </a:extLst>
          </p:cNvPr>
          <p:cNvSpPr>
            <a:spLocks noGrp="1"/>
          </p:cNvSpPr>
          <p:nvPr/>
        </p:nvSpPr>
        <p:spPr>
          <a:xfrm>
            <a:off x="876300" y="4695825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Pair selection (Borda)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8DF41A8-3272-42C2-A43A-0D0DDF1893FE}"/>
              </a:ext>
            </a:extLst>
          </p:cNvPr>
          <p:cNvSpPr>
            <a:spLocks noGrp="1"/>
          </p:cNvSpPr>
          <p:nvPr/>
        </p:nvSpPr>
        <p:spPr>
          <a:xfrm>
            <a:off x="876300" y="5048250"/>
            <a:ext cx="4191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212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17212F"/>
                </a:solidFill>
                <a:latin typeface="Menlo"/>
                <a:ea typeface="Menlo"/>
                <a:cs typeface="Menlo"/>
              </a:rPr>
              <a:t>5 ranks -&gt; Borda Count</a:t>
            </a:r>
          </a:p>
          <a:p>
            <a:pPr algn="l">
              <a:lnSpc>
                <a:spcPct val="100000"/>
              </a:lnSpc>
              <a:buNone/>
              <a:defRPr sz="1350" b="0" i="0">
                <a:solidFill>
                  <a:srgbClr val="17212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17212F"/>
                </a:solidFill>
                <a:latin typeface="Menlo"/>
                <a:ea typeface="Menlo"/>
                <a:cs typeface="Menlo"/>
              </a:rPr>
              <a:t> highest = positive; lowest = negative</a:t>
            </a:r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0EE315CC-4C7F-4BD9-A488-437EE8B9D26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CCD3DA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460B033-B9A0-4152-9613-B09CE993FE4B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100% comparison: all 2,714 prompts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4DBB113-63D3-4B83-865C-F0016E64FB22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83301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B34D47E7-EE14-4D21-8A34-469DAE8E36D8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97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BANGLA PREFERENCE DATASET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92EE27-CAB7-4B00-8D08-FBCDD5AEE66E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31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6,254 prompts; 18,762 candidate responses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F26D8C79-7225-4BD2-BDF8-1DE67BD0C07D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0"/>
          </a:xfrm>
          <a:prstGeom prst="line">
            <a:avLst/>
          </a:prstGeom>
          <a:noFill/>
          <a:ln w="9525">
            <a:solidFill>
              <a:srgbClr val="CCD3DA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C7CBBF-BFD8-4373-8A99-48FD4C01046B}"/>
              </a:ext>
            </a:extLst>
          </p:cNvPr>
          <p:cNvSpPr>
            <a:spLocks noGrp="1"/>
          </p:cNvSpPr>
          <p:nvPr/>
        </p:nvSpPr>
        <p:spPr>
          <a:xfrm>
            <a:off x="838200" y="1714500"/>
            <a:ext cx="2571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390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6,254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6EC19C-3551-4F76-8777-4EA3D61D6101}"/>
              </a:ext>
            </a:extLst>
          </p:cNvPr>
          <p:cNvSpPr>
            <a:spLocks noGrp="1"/>
          </p:cNvSpPr>
          <p:nvPr/>
        </p:nvSpPr>
        <p:spPr>
          <a:xfrm>
            <a:off x="838200" y="2333625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135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source prompts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AF2047-9E45-48A7-B1B8-D94918D2C992}"/>
              </a:ext>
            </a:extLst>
          </p:cNvPr>
          <p:cNvSpPr>
            <a:spLocks noGrp="1"/>
          </p:cNvSpPr>
          <p:nvPr/>
        </p:nvSpPr>
        <p:spPr>
          <a:xfrm>
            <a:off x="4619625" y="1714500"/>
            <a:ext cx="295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39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18,762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7C54C1-9B35-40AA-BE1C-F584E8E2266B}"/>
              </a:ext>
            </a:extLst>
          </p:cNvPr>
          <p:cNvSpPr>
            <a:spLocks noGrp="1"/>
          </p:cNvSpPr>
          <p:nvPr/>
        </p:nvSpPr>
        <p:spPr>
          <a:xfrm>
            <a:off x="4619625" y="2333625"/>
            <a:ext cx="2952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135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responses (three per prompt)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6F3E86-610A-4670-926D-FB2A5C216C77}"/>
              </a:ext>
            </a:extLst>
          </p:cNvPr>
          <p:cNvSpPr>
            <a:spLocks noGrp="1"/>
          </p:cNvSpPr>
          <p:nvPr/>
        </p:nvSpPr>
        <p:spPr>
          <a:xfrm>
            <a:off x="8763000" y="1714500"/>
            <a:ext cx="2000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39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21B80D-1E34-405E-92B7-23CD8E4B58C3}"/>
              </a:ext>
            </a:extLst>
          </p:cNvPr>
          <p:cNvSpPr>
            <a:spLocks noGrp="1"/>
          </p:cNvSpPr>
          <p:nvPr/>
        </p:nvSpPr>
        <p:spPr>
          <a:xfrm>
            <a:off x="8763000" y="2333625"/>
            <a:ext cx="2000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135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practical domains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A5C3F51A-0BBB-4FAE-8453-3185530A7C23}"/>
              </a:ext>
            </a:extLst>
          </p:cNvPr>
          <p:cNvSpPr>
            <a:spLocks noGrp="1"/>
          </p:cNvSpPr>
          <p:nvPr/>
        </p:nvSpPr>
        <p:spPr>
          <a:xfrm>
            <a:off x="1066800" y="3257550"/>
            <a:ext cx="10058400" cy="0"/>
          </a:xfrm>
          <a:prstGeom prst="line">
            <a:avLst/>
          </a:prstGeom>
          <a:noFill/>
          <a:ln w="9525">
            <a:solidFill>
              <a:srgbClr val="CCD3DA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57FB88-281D-4F58-8031-443BF82DAB9D}"/>
              </a:ext>
            </a:extLst>
          </p:cNvPr>
          <p:cNvSpPr>
            <a:spLocks noGrp="1"/>
          </p:cNvSpPr>
          <p:nvPr/>
        </p:nvSpPr>
        <p:spPr>
          <a:xfrm>
            <a:off x="838200" y="36766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Domains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B4686BC-DA76-40F6-ACEC-EC0A4F867A8B}"/>
              </a:ext>
            </a:extLst>
          </p:cNvPr>
          <p:cNvSpPr>
            <a:spLocks noGrp="1"/>
          </p:cNvSpPr>
          <p:nvPr/>
        </p:nvSpPr>
        <p:spPr>
          <a:xfrm>
            <a:off x="838200" y="4162425"/>
            <a:ext cx="1485900" cy="323850"/>
          </a:xfrm>
          <a:prstGeom prst="roundRect">
            <a:avLst>
              <a:gd name="adj" fmla="val 11765"/>
            </a:avLst>
          </a:prstGeom>
          <a:solidFill>
            <a:srgbClr val="F3F5F7"/>
          </a:solidFill>
          <a:ln w="9525">
            <a:solidFill>
              <a:srgbClr val="CCD3D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A28A2E-3B44-4AA8-86AA-A22DBC258EEC}"/>
              </a:ext>
            </a:extLst>
          </p:cNvPr>
          <p:cNvSpPr>
            <a:spLocks noGrp="1"/>
          </p:cNvSpPr>
          <p:nvPr/>
        </p:nvSpPr>
        <p:spPr>
          <a:xfrm>
            <a:off x="914400" y="422910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1125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Economics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79F5876-CB4D-48BA-87AA-356CBEC519E8}"/>
              </a:ext>
            </a:extLst>
          </p:cNvPr>
          <p:cNvSpPr>
            <a:spLocks noGrp="1"/>
          </p:cNvSpPr>
          <p:nvPr/>
        </p:nvSpPr>
        <p:spPr>
          <a:xfrm>
            <a:off x="2495550" y="4162425"/>
            <a:ext cx="1485900" cy="323850"/>
          </a:xfrm>
          <a:prstGeom prst="roundRect">
            <a:avLst>
              <a:gd name="adj" fmla="val 11765"/>
            </a:avLst>
          </a:prstGeom>
          <a:solidFill>
            <a:srgbClr val="F3F5F7"/>
          </a:solidFill>
          <a:ln w="9525">
            <a:solidFill>
              <a:srgbClr val="CCD3DA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B3DAA9-095C-4A9D-8E7E-101B8A25347B}"/>
              </a:ext>
            </a:extLst>
          </p:cNvPr>
          <p:cNvSpPr>
            <a:spLocks noGrp="1"/>
          </p:cNvSpPr>
          <p:nvPr/>
        </p:nvSpPr>
        <p:spPr>
          <a:xfrm>
            <a:off x="2571750" y="422910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1125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Education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C2A143A-1B65-4416-8ED6-9421CE0CD109}"/>
              </a:ext>
            </a:extLst>
          </p:cNvPr>
          <p:cNvSpPr>
            <a:spLocks noGrp="1"/>
          </p:cNvSpPr>
          <p:nvPr/>
        </p:nvSpPr>
        <p:spPr>
          <a:xfrm>
            <a:off x="4152900" y="4162425"/>
            <a:ext cx="1314450" cy="323850"/>
          </a:xfrm>
          <a:prstGeom prst="roundRect">
            <a:avLst>
              <a:gd name="adj" fmla="val 11765"/>
            </a:avLst>
          </a:prstGeom>
          <a:solidFill>
            <a:srgbClr val="F3F5F7"/>
          </a:solidFill>
          <a:ln w="9525">
            <a:solidFill>
              <a:srgbClr val="CCD3D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8EF19EF-EEBC-4926-ACA8-A3330C4C91F4}"/>
              </a:ext>
            </a:extLst>
          </p:cNvPr>
          <p:cNvSpPr>
            <a:spLocks noGrp="1"/>
          </p:cNvSpPr>
          <p:nvPr/>
        </p:nvSpPr>
        <p:spPr>
          <a:xfrm>
            <a:off x="4229100" y="4229100"/>
            <a:ext cx="1162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1125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History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7130668-92A9-4D6A-BC8E-B1AAD025B880}"/>
              </a:ext>
            </a:extLst>
          </p:cNvPr>
          <p:cNvSpPr>
            <a:spLocks noGrp="1"/>
          </p:cNvSpPr>
          <p:nvPr/>
        </p:nvSpPr>
        <p:spPr>
          <a:xfrm>
            <a:off x="5638800" y="4162425"/>
            <a:ext cx="1619250" cy="323850"/>
          </a:xfrm>
          <a:prstGeom prst="roundRect">
            <a:avLst>
              <a:gd name="adj" fmla="val 11765"/>
            </a:avLst>
          </a:prstGeom>
          <a:solidFill>
            <a:srgbClr val="F3F5F7"/>
          </a:solidFill>
          <a:ln w="9525">
            <a:solidFill>
              <a:srgbClr val="CCD3DA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57AF0C-ECF3-49C9-8528-D38FA51D5307}"/>
              </a:ext>
            </a:extLst>
          </p:cNvPr>
          <p:cNvSpPr>
            <a:spLocks noGrp="1"/>
          </p:cNvSpPr>
          <p:nvPr/>
        </p:nvSpPr>
        <p:spPr>
          <a:xfrm>
            <a:off x="5715000" y="4229100"/>
            <a:ext cx="1466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1125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Mathematics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167521A-FC31-4AB3-B529-F82CE18ECCA9}"/>
              </a:ext>
            </a:extLst>
          </p:cNvPr>
          <p:cNvSpPr>
            <a:spLocks noGrp="1"/>
          </p:cNvSpPr>
          <p:nvPr/>
        </p:nvSpPr>
        <p:spPr>
          <a:xfrm>
            <a:off x="7429500" y="4162425"/>
            <a:ext cx="1695450" cy="323850"/>
          </a:xfrm>
          <a:prstGeom prst="roundRect">
            <a:avLst>
              <a:gd name="adj" fmla="val 11765"/>
            </a:avLst>
          </a:prstGeom>
          <a:solidFill>
            <a:srgbClr val="F3F5F7"/>
          </a:solidFill>
          <a:ln w="9525">
            <a:solidFill>
              <a:srgbClr val="CCD3DA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83C2F5-044A-49E5-95CD-1586D52CE079}"/>
              </a:ext>
            </a:extLst>
          </p:cNvPr>
          <p:cNvSpPr>
            <a:spLocks noGrp="1"/>
          </p:cNvSpPr>
          <p:nvPr/>
        </p:nvSpPr>
        <p:spPr>
          <a:xfrm>
            <a:off x="7505700" y="4229100"/>
            <a:ext cx="1543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1125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Moral &amp; ethics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E233844-179A-4D76-8FE4-1DA3CDADB0F6}"/>
              </a:ext>
            </a:extLst>
          </p:cNvPr>
          <p:cNvSpPr>
            <a:spLocks noGrp="1"/>
          </p:cNvSpPr>
          <p:nvPr/>
        </p:nvSpPr>
        <p:spPr>
          <a:xfrm>
            <a:off x="9296400" y="4162425"/>
            <a:ext cx="1257300" cy="323850"/>
          </a:xfrm>
          <a:prstGeom prst="roundRect">
            <a:avLst>
              <a:gd name="adj" fmla="val 11765"/>
            </a:avLst>
          </a:prstGeom>
          <a:solidFill>
            <a:srgbClr val="F3F5F7"/>
          </a:solidFill>
          <a:ln w="9525">
            <a:solidFill>
              <a:srgbClr val="CCD3DA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9C1384-A6AB-446C-89F2-EC08D08F8A13}"/>
              </a:ext>
            </a:extLst>
          </p:cNvPr>
          <p:cNvSpPr>
            <a:spLocks noGrp="1"/>
          </p:cNvSpPr>
          <p:nvPr/>
        </p:nvSpPr>
        <p:spPr>
          <a:xfrm>
            <a:off x="9372600" y="4229100"/>
            <a:ext cx="1104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1125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Sports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8F2489-272C-4A5D-8401-F44A091465B7}"/>
              </a:ext>
            </a:extLst>
          </p:cNvPr>
          <p:cNvSpPr>
            <a:spLocks noGrp="1"/>
          </p:cNvSpPr>
          <p:nvPr/>
        </p:nvSpPr>
        <p:spPr>
          <a:xfrm>
            <a:off x="838200" y="51244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575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Response generators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D895429-FE4E-4BE3-B700-7EC69FB65636}"/>
              </a:ext>
            </a:extLst>
          </p:cNvPr>
          <p:cNvSpPr>
            <a:spLocks noGrp="1"/>
          </p:cNvSpPr>
          <p:nvPr/>
        </p:nvSpPr>
        <p:spPr>
          <a:xfrm>
            <a:off x="838200" y="5467350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Gemma 4  •  Qwen3  •  TigerLLM-9B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C8F9A0-71F9-439B-B86F-3C640BF10DC4}"/>
              </a:ext>
            </a:extLst>
          </p:cNvPr>
          <p:cNvSpPr>
            <a:spLocks noGrp="1"/>
          </p:cNvSpPr>
          <p:nvPr/>
        </p:nvSpPr>
        <p:spPr>
          <a:xfrm>
            <a:off x="838200" y="5962650"/>
            <a:ext cx="838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All candidate responses were attached to the matching prompt before ranking.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E0DC2292-53D7-482B-AF9A-FB0CDD3ED4E9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CCD3DA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89BDA2A-C199-422D-AB87-251C1AE88C18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Bangla Preference Dataset Project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C23F0B8-C490-4ED3-AD65-E7BBE37091EA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85154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D6F775EE-91F3-4F8E-8CEB-F40D1651BE16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97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BANGLA PREFERENCE DATASET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F52727-1E09-46E7-A7DE-DF584EDBF37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31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One pipeline turns prompts into training evidence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2A0C1880-7BE4-4AFC-BE31-8FB620EDA163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0"/>
          </a:xfrm>
          <a:prstGeom prst="line">
            <a:avLst/>
          </a:prstGeom>
          <a:noFill/>
          <a:ln w="9525">
            <a:solidFill>
              <a:srgbClr val="CCD3DA"/>
            </a:solidFill>
            <a:prstDash val="solid"/>
          </a:ln>
        </p:spPr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0D09634-F183-437A-B14E-156A86A01D6D}"/>
              </a:ext>
            </a:extLst>
          </p:cNvPr>
          <p:cNvSpPr>
            <a:spLocks noGrp="1"/>
          </p:cNvSpPr>
          <p:nvPr/>
        </p:nvSpPr>
        <p:spPr>
          <a:xfrm>
            <a:off x="609600" y="2438400"/>
            <a:ext cx="1257300" cy="857250"/>
          </a:xfrm>
          <a:prstGeom prst="roundRect">
            <a:avLst>
              <a:gd name="adj" fmla="val 5556"/>
            </a:avLst>
          </a:prstGeom>
          <a:solidFill>
            <a:srgbClr val="F3F5F7"/>
          </a:solidFill>
          <a:ln w="9525">
            <a:solidFill>
              <a:srgbClr val="CCD3D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F6187C-C2F3-492C-92C8-4C511882C69F}"/>
              </a:ext>
            </a:extLst>
          </p:cNvPr>
          <p:cNvSpPr>
            <a:spLocks noGrp="1"/>
          </p:cNvSpPr>
          <p:nvPr/>
        </p:nvSpPr>
        <p:spPr>
          <a:xfrm>
            <a:off x="1085850" y="2105025"/>
            <a:ext cx="247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b="1" i="0" dirty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4DD633-ECB3-49F6-9CA2-FE99E342F1C8}"/>
              </a:ext>
            </a:extLst>
          </p:cNvPr>
          <p:cNvSpPr>
            <a:spLocks noGrp="1"/>
          </p:cNvSpPr>
          <p:nvPr/>
        </p:nvSpPr>
        <p:spPr>
          <a:xfrm>
            <a:off x="723900" y="2623789"/>
            <a:ext cx="1028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1350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 dirty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Collect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5C27781-DD68-42CF-86FD-5A0D92A66EBB}"/>
              </a:ext>
            </a:extLst>
          </p:cNvPr>
          <p:cNvSpPr>
            <a:spLocks noGrp="1"/>
          </p:cNvSpPr>
          <p:nvPr/>
        </p:nvSpPr>
        <p:spPr>
          <a:xfrm>
            <a:off x="2228850" y="2438400"/>
            <a:ext cx="1257300" cy="857250"/>
          </a:xfrm>
          <a:prstGeom prst="roundRect">
            <a:avLst>
              <a:gd name="adj" fmla="val 5556"/>
            </a:avLst>
          </a:prstGeom>
          <a:solidFill>
            <a:srgbClr val="F3F5F7"/>
          </a:solidFill>
          <a:ln w="9525">
            <a:solidFill>
              <a:srgbClr val="CCD3DA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052A6D-A4FC-42D5-9A5A-B91AF4BB73A9}"/>
              </a:ext>
            </a:extLst>
          </p:cNvPr>
          <p:cNvSpPr>
            <a:spLocks noGrp="1"/>
          </p:cNvSpPr>
          <p:nvPr/>
        </p:nvSpPr>
        <p:spPr>
          <a:xfrm>
            <a:off x="2705100" y="2105025"/>
            <a:ext cx="247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b="1" i="0" dirty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3E3E39-6F66-4B0A-B4DE-4DC6BA9B2050}"/>
              </a:ext>
            </a:extLst>
          </p:cNvPr>
          <p:cNvSpPr>
            <a:spLocks noGrp="1"/>
          </p:cNvSpPr>
          <p:nvPr/>
        </p:nvSpPr>
        <p:spPr>
          <a:xfrm>
            <a:off x="2343150" y="2623789"/>
            <a:ext cx="1028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1350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Generate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D51A3FF-0FDD-4EE6-865A-E99F2512422E}"/>
              </a:ext>
            </a:extLst>
          </p:cNvPr>
          <p:cNvSpPr>
            <a:spLocks noGrp="1"/>
          </p:cNvSpPr>
          <p:nvPr/>
        </p:nvSpPr>
        <p:spPr>
          <a:xfrm>
            <a:off x="3848100" y="2438400"/>
            <a:ext cx="1257300" cy="857250"/>
          </a:xfrm>
          <a:prstGeom prst="roundRect">
            <a:avLst>
              <a:gd name="adj" fmla="val 5556"/>
            </a:avLst>
          </a:prstGeom>
          <a:solidFill>
            <a:srgbClr val="F3F5F7"/>
          </a:solidFill>
          <a:ln w="9525">
            <a:solidFill>
              <a:srgbClr val="CCD3DA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72B5DF-EC32-4716-B4D5-78854E523AED}"/>
              </a:ext>
            </a:extLst>
          </p:cNvPr>
          <p:cNvSpPr>
            <a:spLocks noGrp="1"/>
          </p:cNvSpPr>
          <p:nvPr/>
        </p:nvSpPr>
        <p:spPr>
          <a:xfrm>
            <a:off x="4324350" y="2105025"/>
            <a:ext cx="247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6D27BD-B346-445C-B5D1-27863DC2435B}"/>
              </a:ext>
            </a:extLst>
          </p:cNvPr>
          <p:cNvSpPr>
            <a:spLocks noGrp="1"/>
          </p:cNvSpPr>
          <p:nvPr/>
        </p:nvSpPr>
        <p:spPr>
          <a:xfrm>
            <a:off x="3962400" y="2623789"/>
            <a:ext cx="1028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1350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Rank ×3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9174AEF-60F1-4104-A86C-A8637B7800EB}"/>
              </a:ext>
            </a:extLst>
          </p:cNvPr>
          <p:cNvSpPr>
            <a:spLocks noGrp="1"/>
          </p:cNvSpPr>
          <p:nvPr/>
        </p:nvSpPr>
        <p:spPr>
          <a:xfrm>
            <a:off x="5467350" y="2438400"/>
            <a:ext cx="1257300" cy="857250"/>
          </a:xfrm>
          <a:prstGeom prst="roundRect">
            <a:avLst>
              <a:gd name="adj" fmla="val 5556"/>
            </a:avLst>
          </a:prstGeom>
          <a:solidFill>
            <a:srgbClr val="F3F5F7"/>
          </a:solidFill>
          <a:ln w="9525">
            <a:solidFill>
              <a:srgbClr val="CCD3DA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218190-0D34-40F3-AC7E-E66513CFA12B}"/>
              </a:ext>
            </a:extLst>
          </p:cNvPr>
          <p:cNvSpPr>
            <a:spLocks noGrp="1"/>
          </p:cNvSpPr>
          <p:nvPr/>
        </p:nvSpPr>
        <p:spPr>
          <a:xfrm>
            <a:off x="5943600" y="2105025"/>
            <a:ext cx="247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82713B-D338-4CBA-8CB0-DDC0CBC0C222}"/>
              </a:ext>
            </a:extLst>
          </p:cNvPr>
          <p:cNvSpPr>
            <a:spLocks noGrp="1"/>
          </p:cNvSpPr>
          <p:nvPr/>
        </p:nvSpPr>
        <p:spPr>
          <a:xfrm>
            <a:off x="5581650" y="2623789"/>
            <a:ext cx="1028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1350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Human check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6B07F6F-2423-40E4-9A6B-40B345616729}"/>
              </a:ext>
            </a:extLst>
          </p:cNvPr>
          <p:cNvSpPr>
            <a:spLocks noGrp="1"/>
          </p:cNvSpPr>
          <p:nvPr/>
        </p:nvSpPr>
        <p:spPr>
          <a:xfrm>
            <a:off x="7086600" y="2438400"/>
            <a:ext cx="1257300" cy="857250"/>
          </a:xfrm>
          <a:prstGeom prst="roundRect">
            <a:avLst>
              <a:gd name="adj" fmla="val 5556"/>
            </a:avLst>
          </a:prstGeom>
          <a:solidFill>
            <a:srgbClr val="EAF6F4"/>
          </a:solidFill>
          <a:ln w="9525">
            <a:solidFill>
              <a:srgbClr val="0F7A7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CF87E8-C03E-4616-8F7E-1498F15BD3B9}"/>
              </a:ext>
            </a:extLst>
          </p:cNvPr>
          <p:cNvSpPr>
            <a:spLocks noGrp="1"/>
          </p:cNvSpPr>
          <p:nvPr/>
        </p:nvSpPr>
        <p:spPr>
          <a:xfrm>
            <a:off x="7562850" y="2105025"/>
            <a:ext cx="247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70EDA2-D8B8-4264-A91B-4195EA29AC62}"/>
              </a:ext>
            </a:extLst>
          </p:cNvPr>
          <p:cNvSpPr>
            <a:spLocks noGrp="1"/>
          </p:cNvSpPr>
          <p:nvPr/>
        </p:nvSpPr>
        <p:spPr>
          <a:xfrm>
            <a:off x="7200900" y="2623789"/>
            <a:ext cx="1028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1350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Filter W = 1.0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D46818E-7C51-4B8A-AABA-1559D0655A8C}"/>
              </a:ext>
            </a:extLst>
          </p:cNvPr>
          <p:cNvSpPr>
            <a:spLocks noGrp="1"/>
          </p:cNvSpPr>
          <p:nvPr/>
        </p:nvSpPr>
        <p:spPr>
          <a:xfrm>
            <a:off x="8705850" y="2438400"/>
            <a:ext cx="1257300" cy="857250"/>
          </a:xfrm>
          <a:prstGeom prst="roundRect">
            <a:avLst>
              <a:gd name="adj" fmla="val 5556"/>
            </a:avLst>
          </a:prstGeom>
          <a:solidFill>
            <a:srgbClr val="EAF6F4"/>
          </a:solidFill>
          <a:ln w="9525">
            <a:solidFill>
              <a:srgbClr val="0F7A7A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F88049-CB11-47F4-8A6A-1C93113BB06E}"/>
              </a:ext>
            </a:extLst>
          </p:cNvPr>
          <p:cNvSpPr>
            <a:spLocks noGrp="1"/>
          </p:cNvSpPr>
          <p:nvPr/>
        </p:nvSpPr>
        <p:spPr>
          <a:xfrm>
            <a:off x="9182100" y="2105025"/>
            <a:ext cx="247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19F174B-A9B2-40AE-874A-695E2F421623}"/>
              </a:ext>
            </a:extLst>
          </p:cNvPr>
          <p:cNvSpPr>
            <a:spLocks noGrp="1"/>
          </p:cNvSpPr>
          <p:nvPr/>
        </p:nvSpPr>
        <p:spPr>
          <a:xfrm>
            <a:off x="8820150" y="2623789"/>
            <a:ext cx="1028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1350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DPO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C103CC7-454D-4A31-ADA9-55CAE91E1AB7}"/>
              </a:ext>
            </a:extLst>
          </p:cNvPr>
          <p:cNvSpPr>
            <a:spLocks noGrp="1"/>
          </p:cNvSpPr>
          <p:nvPr/>
        </p:nvSpPr>
        <p:spPr>
          <a:xfrm>
            <a:off x="10325100" y="2438400"/>
            <a:ext cx="1257300" cy="857250"/>
          </a:xfrm>
          <a:prstGeom prst="roundRect">
            <a:avLst>
              <a:gd name="adj" fmla="val 5556"/>
            </a:avLst>
          </a:prstGeom>
          <a:solidFill>
            <a:srgbClr val="F3F5F7"/>
          </a:solidFill>
          <a:ln w="9525">
            <a:solidFill>
              <a:srgbClr val="CCD3DA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086AA1C-4AC2-4057-9E4A-DF0425BD8B5C}"/>
              </a:ext>
            </a:extLst>
          </p:cNvPr>
          <p:cNvSpPr>
            <a:spLocks noGrp="1"/>
          </p:cNvSpPr>
          <p:nvPr/>
        </p:nvSpPr>
        <p:spPr>
          <a:xfrm>
            <a:off x="10801350" y="2105025"/>
            <a:ext cx="247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3F248FC-C98F-4145-A9F2-50AA72E708D1}"/>
              </a:ext>
            </a:extLst>
          </p:cNvPr>
          <p:cNvSpPr>
            <a:spLocks noGrp="1"/>
          </p:cNvSpPr>
          <p:nvPr/>
        </p:nvSpPr>
        <p:spPr>
          <a:xfrm>
            <a:off x="10439400" y="2623789"/>
            <a:ext cx="1028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1350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Test 100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E5526C2A-8251-478B-96CB-569921193817}"/>
              </a:ext>
            </a:extLst>
          </p:cNvPr>
          <p:cNvSpPr>
            <a:spLocks noGrp="1"/>
          </p:cNvSpPr>
          <p:nvPr/>
        </p:nvSpPr>
        <p:spPr>
          <a:xfrm>
            <a:off x="1914525" y="2790825"/>
            <a:ext cx="228600" cy="152400"/>
          </a:xfrm>
          <a:prstGeom prst="rightArrow">
            <a:avLst/>
          </a:prstGeom>
          <a:solidFill>
            <a:srgbClr val="0F7A7A"/>
          </a:solidFill>
          <a:ln w="0">
            <a:solidFill>
              <a:srgbClr val="0F7A7A"/>
            </a:solidFill>
            <a:prstDash val="solid"/>
          </a:ln>
        </p:spPr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B55E0996-F96D-4095-934E-CFE69668BC42}"/>
              </a:ext>
            </a:extLst>
          </p:cNvPr>
          <p:cNvSpPr>
            <a:spLocks noGrp="1"/>
          </p:cNvSpPr>
          <p:nvPr/>
        </p:nvSpPr>
        <p:spPr>
          <a:xfrm>
            <a:off x="3533775" y="2790825"/>
            <a:ext cx="228600" cy="152400"/>
          </a:xfrm>
          <a:prstGeom prst="rightArrow">
            <a:avLst/>
          </a:prstGeom>
          <a:solidFill>
            <a:srgbClr val="0F7A7A"/>
          </a:solidFill>
          <a:ln w="0">
            <a:solidFill>
              <a:srgbClr val="0F7A7A"/>
            </a:solidFill>
            <a:prstDash val="solid"/>
          </a:ln>
        </p:spPr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7DC03F8E-96BF-4265-A84E-4047FEBDA280}"/>
              </a:ext>
            </a:extLst>
          </p:cNvPr>
          <p:cNvSpPr>
            <a:spLocks noGrp="1"/>
          </p:cNvSpPr>
          <p:nvPr/>
        </p:nvSpPr>
        <p:spPr>
          <a:xfrm>
            <a:off x="5153025" y="2790825"/>
            <a:ext cx="228600" cy="152400"/>
          </a:xfrm>
          <a:prstGeom prst="rightArrow">
            <a:avLst/>
          </a:prstGeom>
          <a:solidFill>
            <a:srgbClr val="0F7A7A"/>
          </a:solidFill>
          <a:ln w="0">
            <a:solidFill>
              <a:srgbClr val="0F7A7A"/>
            </a:solidFill>
            <a:prstDash val="solid"/>
          </a:ln>
        </p:spPr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B6E5EA8D-61BC-4F81-A2DB-2EF65A9E84E5}"/>
              </a:ext>
            </a:extLst>
          </p:cNvPr>
          <p:cNvSpPr>
            <a:spLocks noGrp="1"/>
          </p:cNvSpPr>
          <p:nvPr/>
        </p:nvSpPr>
        <p:spPr>
          <a:xfrm>
            <a:off x="6772275" y="2790825"/>
            <a:ext cx="228600" cy="152400"/>
          </a:xfrm>
          <a:prstGeom prst="rightArrow">
            <a:avLst/>
          </a:prstGeom>
          <a:solidFill>
            <a:srgbClr val="0F7A7A"/>
          </a:solidFill>
          <a:ln w="0">
            <a:solidFill>
              <a:srgbClr val="0F7A7A"/>
            </a:solidFill>
            <a:prstDash val="solid"/>
          </a:ln>
        </p:spPr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5DCE97F2-1EA7-4B9B-8CE6-B04046A57DB5}"/>
              </a:ext>
            </a:extLst>
          </p:cNvPr>
          <p:cNvSpPr>
            <a:spLocks noGrp="1"/>
          </p:cNvSpPr>
          <p:nvPr/>
        </p:nvSpPr>
        <p:spPr>
          <a:xfrm>
            <a:off x="8391525" y="2790825"/>
            <a:ext cx="228600" cy="152400"/>
          </a:xfrm>
          <a:prstGeom prst="rightArrow">
            <a:avLst/>
          </a:prstGeom>
          <a:solidFill>
            <a:srgbClr val="0F7A7A"/>
          </a:solidFill>
          <a:ln w="0">
            <a:solidFill>
              <a:srgbClr val="0F7A7A"/>
            </a:solidFill>
            <a:prstDash val="solid"/>
          </a:ln>
        </p:spPr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D25808F6-215F-4783-B59E-E8F6B4EAF361}"/>
              </a:ext>
            </a:extLst>
          </p:cNvPr>
          <p:cNvSpPr>
            <a:spLocks noGrp="1"/>
          </p:cNvSpPr>
          <p:nvPr/>
        </p:nvSpPr>
        <p:spPr>
          <a:xfrm>
            <a:off x="10010775" y="2790825"/>
            <a:ext cx="228600" cy="152400"/>
          </a:xfrm>
          <a:prstGeom prst="rightArrow">
            <a:avLst/>
          </a:prstGeom>
          <a:solidFill>
            <a:srgbClr val="0F7A7A"/>
          </a:solidFill>
          <a:ln w="0">
            <a:solidFill>
              <a:srgbClr val="0F7A7A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CC56872-AAA4-488A-8CC6-2A23BCC60543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333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95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Why this design matters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2E097ED-8B58-44D3-97BF-D44593CF7B52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10477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20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Repeated ranking helps stabilize labels; human review checks that the automated preference signal is usable; held-out prompts test generated answers rather than training loss.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5B6833D-1A3B-4D45-8EC5-49623F2B7017}"/>
              </a:ext>
            </a:extLst>
          </p:cNvPr>
          <p:cNvSpPr>
            <a:spLocks noGrp="1"/>
          </p:cNvSpPr>
          <p:nvPr/>
        </p:nvSpPr>
        <p:spPr>
          <a:xfrm>
            <a:off x="609600" y="5753100"/>
            <a:ext cx="904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50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The final model experiment is the last step—not the only result of the project.</a:t>
            </a:r>
          </a:p>
        </p:txBody>
      </p:sp>
      <p:sp>
        <p:nvSpPr>
          <p:cNvPr id="34" name="Straight Connector 33">
            <a:extLst>
              <a:ext uri="{FF2B5EF4-FFF2-40B4-BE49-F238E27FC236}">
                <a16:creationId xmlns:a16="http://schemas.microsoft.com/office/drawing/2014/main" id="{9B353C3B-E29A-458D-85A8-51428AFAF9DE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CCD3DA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9C25195-F840-46D2-A5AB-ABDFACCD6BE1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Bangla Preference Dataset Project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2180DE7-FF1C-48F6-BA57-0A1CADFE200F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48278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E03B39DB-7670-435C-9510-F686B9F09B86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97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BANGLA PREFERENCE DATASET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63FFAE-7549-47CB-9DA9-F6A224BE87EB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31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Anonymous repetition reduces ranking bias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7EB14DDD-5337-4B57-A6B2-FD77711CF27C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0"/>
          </a:xfrm>
          <a:prstGeom prst="line">
            <a:avLst/>
          </a:prstGeom>
          <a:noFill/>
          <a:ln w="9525">
            <a:solidFill>
              <a:srgbClr val="CCD3DA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1473CD-B1FE-4B47-AF4A-15AB31701ABA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54102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20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For each prompt, the three responses are labeled A/B/C. The labels are shuffled independently for every ranking run.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86E9649-23C9-4195-9E85-F0578C6A79CE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5067300" cy="1809750"/>
          </a:xfrm>
          <a:prstGeom prst="roundRect">
            <a:avLst>
              <a:gd name="adj" fmla="val 3158"/>
            </a:avLst>
          </a:prstGeom>
          <a:solidFill>
            <a:srgbClr val="F3F5F7"/>
          </a:solidFill>
          <a:ln w="9525">
            <a:solidFill>
              <a:srgbClr val="CCD3D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771803-A79E-4847-9595-C53102552E30}"/>
              </a:ext>
            </a:extLst>
          </p:cNvPr>
          <p:cNvSpPr>
            <a:spLocks noGrp="1"/>
          </p:cNvSpPr>
          <p:nvPr/>
        </p:nvSpPr>
        <p:spPr>
          <a:xfrm>
            <a:off x="933450" y="30289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A/B/C mapping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19FBEC-97B0-41B1-8E26-4BB9B31EEAEA}"/>
              </a:ext>
            </a:extLst>
          </p:cNvPr>
          <p:cNvSpPr>
            <a:spLocks noGrp="1"/>
          </p:cNvSpPr>
          <p:nvPr/>
        </p:nvSpPr>
        <p:spPr>
          <a:xfrm>
            <a:off x="933450" y="3409950"/>
            <a:ext cx="3524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0000"/>
              </a:lnSpc>
              <a:buNone/>
              <a:defRPr sz="1800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Run 1:  A  &gt;  B  &gt;  C</a:t>
            </a:r>
          </a:p>
          <a:p>
            <a:pPr algn="l">
              <a:lnSpc>
                <a:spcPct val="110000"/>
              </a:lnSpc>
              <a:buNone/>
              <a:defRPr sz="1800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Run 2:  B  &gt;  C  &gt;  A</a:t>
            </a:r>
          </a:p>
          <a:p>
            <a:pPr algn="l">
              <a:lnSpc>
                <a:spcPct val="110000"/>
              </a:lnSpc>
              <a:buNone/>
              <a:defRPr sz="1800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Run 3:  C  &gt;  A  &gt;  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72CBDB-2E65-4A4A-AAE5-52EBAF314091}"/>
              </a:ext>
            </a:extLst>
          </p:cNvPr>
          <p:cNvSpPr>
            <a:spLocks noGrp="1"/>
          </p:cNvSpPr>
          <p:nvPr/>
        </p:nvSpPr>
        <p:spPr>
          <a:xfrm>
            <a:off x="933450" y="47625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42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Model names never shown to the judge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6A58E1-8895-4AC6-8A07-CB218EDA29CB}"/>
              </a:ext>
            </a:extLst>
          </p:cNvPr>
          <p:cNvSpPr>
            <a:spLocks noGrp="1"/>
          </p:cNvSpPr>
          <p:nvPr/>
        </p:nvSpPr>
        <p:spPr>
          <a:xfrm>
            <a:off x="6762750" y="156210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Ranking outcomes across the full dataset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DDAD0F-BF93-4BC4-96EF-7055D3A946F8}"/>
              </a:ext>
            </a:extLst>
          </p:cNvPr>
          <p:cNvSpPr>
            <a:spLocks noGrp="1"/>
          </p:cNvSpPr>
          <p:nvPr/>
        </p:nvSpPr>
        <p:spPr>
          <a:xfrm>
            <a:off x="6762750" y="22383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425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Unanimous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EC3D0F3-0727-4FB8-900E-7A1AFBDEE089}"/>
              </a:ext>
            </a:extLst>
          </p:cNvPr>
          <p:cNvSpPr>
            <a:spLocks noGrp="1"/>
          </p:cNvSpPr>
          <p:nvPr/>
        </p:nvSpPr>
        <p:spPr>
          <a:xfrm>
            <a:off x="6762750" y="2571750"/>
            <a:ext cx="3048000" cy="209550"/>
          </a:xfrm>
          <a:prstGeom prst="roundRect">
            <a:avLst>
              <a:gd name="adj" fmla="val 18182"/>
            </a:avLst>
          </a:prstGeom>
          <a:solidFill>
            <a:srgbClr val="F3F5F7"/>
          </a:solidFill>
          <a:ln w="0">
            <a:noFill/>
            <a:prstDash val="solid"/>
          </a:ln>
        </p:spPr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4F7D1BD-A683-43CA-A88D-03981BC24895}"/>
              </a:ext>
            </a:extLst>
          </p:cNvPr>
          <p:cNvSpPr>
            <a:spLocks noGrp="1"/>
          </p:cNvSpPr>
          <p:nvPr/>
        </p:nvSpPr>
        <p:spPr>
          <a:xfrm>
            <a:off x="6762750" y="2571750"/>
            <a:ext cx="2340864" cy="209550"/>
          </a:xfrm>
          <a:prstGeom prst="roundRect">
            <a:avLst>
              <a:gd name="adj" fmla="val 18182"/>
            </a:avLst>
          </a:prstGeom>
          <a:solidFill>
            <a:srgbClr val="0F7A7A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637A5F-2663-4214-9101-FD855B5433C3}"/>
              </a:ext>
            </a:extLst>
          </p:cNvPr>
          <p:cNvSpPr>
            <a:spLocks noGrp="1"/>
          </p:cNvSpPr>
          <p:nvPr/>
        </p:nvSpPr>
        <p:spPr>
          <a:xfrm>
            <a:off x="9944100" y="2533650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08000"/>
              </a:lnSpc>
              <a:buNone/>
              <a:defRPr sz="172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76.8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9F917A-5233-434F-9D14-CF460197BF05}"/>
              </a:ext>
            </a:extLst>
          </p:cNvPr>
          <p:cNvSpPr>
            <a:spLocks noGrp="1"/>
          </p:cNvSpPr>
          <p:nvPr/>
        </p:nvSpPr>
        <p:spPr>
          <a:xfrm>
            <a:off x="6762750" y="28575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275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4,802 prompts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B8A423-018C-4548-98ED-8071D8A344AD}"/>
              </a:ext>
            </a:extLst>
          </p:cNvPr>
          <p:cNvSpPr>
            <a:spLocks noGrp="1"/>
          </p:cNvSpPr>
          <p:nvPr/>
        </p:nvSpPr>
        <p:spPr>
          <a:xfrm>
            <a:off x="6762750" y="3448050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425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Majority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60334EA-FF4C-46D4-B05B-3A0CC6F2085A}"/>
              </a:ext>
            </a:extLst>
          </p:cNvPr>
          <p:cNvSpPr>
            <a:spLocks noGrp="1"/>
          </p:cNvSpPr>
          <p:nvPr/>
        </p:nvSpPr>
        <p:spPr>
          <a:xfrm>
            <a:off x="6762750" y="3781425"/>
            <a:ext cx="3048000" cy="209550"/>
          </a:xfrm>
          <a:prstGeom prst="roundRect">
            <a:avLst>
              <a:gd name="adj" fmla="val 18182"/>
            </a:avLst>
          </a:prstGeom>
          <a:solidFill>
            <a:srgbClr val="F3F5F7"/>
          </a:solidFill>
          <a:ln w="0">
            <a:noFill/>
            <a:prstDash val="solid"/>
          </a:ln>
        </p:spPr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88EFDF0-2579-4E30-A242-272D7A1F68A2}"/>
              </a:ext>
            </a:extLst>
          </p:cNvPr>
          <p:cNvSpPr>
            <a:spLocks noGrp="1"/>
          </p:cNvSpPr>
          <p:nvPr/>
        </p:nvSpPr>
        <p:spPr>
          <a:xfrm>
            <a:off x="6762750" y="3781425"/>
            <a:ext cx="697992" cy="209550"/>
          </a:xfrm>
          <a:prstGeom prst="roundRect">
            <a:avLst>
              <a:gd name="adj" fmla="val 18182"/>
            </a:avLst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16110B-0737-4971-ABA4-9BC679CB5A80}"/>
              </a:ext>
            </a:extLst>
          </p:cNvPr>
          <p:cNvSpPr>
            <a:spLocks noGrp="1"/>
          </p:cNvSpPr>
          <p:nvPr/>
        </p:nvSpPr>
        <p:spPr>
          <a:xfrm>
            <a:off x="9944100" y="3743325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08000"/>
              </a:lnSpc>
              <a:buNone/>
              <a:defRPr sz="17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22.9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0645F3-4FBE-4213-AED7-F727E45B06EB}"/>
              </a:ext>
            </a:extLst>
          </p:cNvPr>
          <p:cNvSpPr>
            <a:spLocks noGrp="1"/>
          </p:cNvSpPr>
          <p:nvPr/>
        </p:nvSpPr>
        <p:spPr>
          <a:xfrm>
            <a:off x="6762750" y="40671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275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1,432 prompts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A0085B8-66F8-4F19-BD83-0C2093F69E05}"/>
              </a:ext>
            </a:extLst>
          </p:cNvPr>
          <p:cNvSpPr>
            <a:spLocks noGrp="1"/>
          </p:cNvSpPr>
          <p:nvPr/>
        </p:nvSpPr>
        <p:spPr>
          <a:xfrm>
            <a:off x="6762750" y="465772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425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Disputed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6A5F86E-58EA-4643-8734-64E5BCA4E69F}"/>
              </a:ext>
            </a:extLst>
          </p:cNvPr>
          <p:cNvSpPr>
            <a:spLocks noGrp="1"/>
          </p:cNvSpPr>
          <p:nvPr/>
        </p:nvSpPr>
        <p:spPr>
          <a:xfrm>
            <a:off x="6762750" y="4991100"/>
            <a:ext cx="3048000" cy="209550"/>
          </a:xfrm>
          <a:prstGeom prst="roundRect">
            <a:avLst>
              <a:gd name="adj" fmla="val 18182"/>
            </a:avLst>
          </a:prstGeom>
          <a:solidFill>
            <a:srgbClr val="F3F5F7"/>
          </a:solidFill>
          <a:ln w="0">
            <a:noFill/>
            <a:prstDash val="solid"/>
          </a:ln>
        </p:spPr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E4248D5-F3AE-41EC-A8AE-E1894405892F}"/>
              </a:ext>
            </a:extLst>
          </p:cNvPr>
          <p:cNvSpPr>
            <a:spLocks noGrp="1"/>
          </p:cNvSpPr>
          <p:nvPr/>
        </p:nvSpPr>
        <p:spPr>
          <a:xfrm>
            <a:off x="6762750" y="4991100"/>
            <a:ext cx="9144" cy="209550"/>
          </a:xfrm>
          <a:prstGeom prst="roundRect">
            <a:avLst>
              <a:gd name="adj" fmla="val 50000"/>
            </a:avLst>
          </a:prstGeom>
          <a:solidFill>
            <a:srgbClr val="B84444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D34C89C-8A25-4665-BA98-940212A07C06}"/>
              </a:ext>
            </a:extLst>
          </p:cNvPr>
          <p:cNvSpPr>
            <a:spLocks noGrp="1"/>
          </p:cNvSpPr>
          <p:nvPr/>
        </p:nvSpPr>
        <p:spPr>
          <a:xfrm>
            <a:off x="9944100" y="4953000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08000"/>
              </a:lnSpc>
              <a:buNone/>
              <a:defRPr sz="1725" b="1" i="0">
                <a:solidFill>
                  <a:srgbClr val="B8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B84444"/>
                </a:solidFill>
                <a:latin typeface="Helvetica Neue"/>
                <a:ea typeface="Helvetica Neue"/>
                <a:cs typeface="Helvetica Neue"/>
              </a:rPr>
              <a:t>0.3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8F5A5C-9023-402D-93D4-BEC9F8650F7F}"/>
              </a:ext>
            </a:extLst>
          </p:cNvPr>
          <p:cNvSpPr>
            <a:spLocks noGrp="1"/>
          </p:cNvSpPr>
          <p:nvPr/>
        </p:nvSpPr>
        <p:spPr>
          <a:xfrm>
            <a:off x="6762750" y="52768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275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20 prompts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988748F-A58A-4413-9005-406E9E765FCD}"/>
              </a:ext>
            </a:extLst>
          </p:cNvPr>
          <p:cNvSpPr>
            <a:spLocks noGrp="1"/>
          </p:cNvSpPr>
          <p:nvPr/>
        </p:nvSpPr>
        <p:spPr>
          <a:xfrm>
            <a:off x="6762750" y="57721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5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76.8% of prompts received the same full order in all three runs.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D6A4F373-AFC8-4821-8AB8-0486E24DBEE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CCD3DA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FF9CB3A-D286-4462-A333-79BC8FC26C01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Bangla Preference Dataset Project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7F32001-4C5C-4398-8D9F-18D065898F83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39846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440FDDC-D1D2-4361-92AB-54E3588A3610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97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BANGLA PREFERENCE DATASET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68B038-80E8-4153-A604-50326A3D9D3A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31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Human annotation supported the automated labels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6D71C955-A772-4257-8895-7E98DE5B8160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0"/>
          </a:xfrm>
          <a:prstGeom prst="line">
            <a:avLst/>
          </a:prstGeom>
          <a:noFill/>
          <a:ln w="9525">
            <a:solidFill>
              <a:srgbClr val="CCD3DA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2B7B48-7584-4A1F-8C05-E0ABC29E32F8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3905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51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~75.7%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70728D-8648-4012-847D-A24EAE9018EE}"/>
              </a:ext>
            </a:extLst>
          </p:cNvPr>
          <p:cNvSpPr>
            <a:spLocks noGrp="1"/>
          </p:cNvSpPr>
          <p:nvPr/>
        </p:nvSpPr>
        <p:spPr>
          <a:xfrm>
            <a:off x="714375" y="2514600"/>
            <a:ext cx="3238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average pairwise alignment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with Gemini rankings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C9BF31E8-7759-40E8-A778-16C4524C95DF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4000500" cy="0"/>
          </a:xfrm>
          <a:prstGeom prst="line">
            <a:avLst/>
          </a:prstGeom>
          <a:noFill/>
          <a:ln w="9525">
            <a:solidFill>
              <a:srgbClr val="CCD3DA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7783EE-E03B-401A-A2E6-89C480B2958C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Human study design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E6E430-D3DC-4E6A-A5EF-0486C20D3995}"/>
              </a:ext>
            </a:extLst>
          </p:cNvPr>
          <p:cNvSpPr>
            <a:spLocks noGrp="1"/>
          </p:cNvSpPr>
          <p:nvPr/>
        </p:nvSpPr>
        <p:spPr>
          <a:xfrm>
            <a:off x="685800" y="4114800"/>
            <a:ext cx="42862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9000"/>
              </a:lnSpc>
              <a:buNone/>
              <a:defRPr sz="1650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• Random 100-prompt sample</a:t>
            </a:r>
          </a:p>
          <a:p>
            <a:pPr algn="l">
              <a:lnSpc>
                <a:spcPct val="119000"/>
              </a:lnSpc>
              <a:buNone/>
              <a:defRPr sz="1650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• Answer identities hidden</a:t>
            </a:r>
          </a:p>
          <a:p>
            <a:pPr algn="l">
              <a:lnSpc>
                <a:spcPct val="119000"/>
              </a:lnSpc>
              <a:buNone/>
              <a:defRPr sz="1650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• Annotators rank all three answers</a:t>
            </a:r>
          </a:p>
          <a:p>
            <a:pPr algn="l">
              <a:lnSpc>
                <a:spcPct val="119000"/>
              </a:lnSpc>
              <a:buNone/>
              <a:defRPr sz="1650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• Pairwise agreement gives partial credit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A6A306-AAC2-4D2C-B0A3-5BA8EADF97A2}"/>
              </a:ext>
            </a:extLst>
          </p:cNvPr>
          <p:cNvSpPr>
            <a:spLocks noGrp="1"/>
          </p:cNvSpPr>
          <p:nvPr/>
        </p:nvSpPr>
        <p:spPr>
          <a:xfrm>
            <a:off x="685800" y="582930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5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Interpretation: useful, not perfect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D2AE2A-21AF-4542-AEE8-7F6A1DA4C9E6}"/>
              </a:ext>
            </a:extLst>
          </p:cNvPr>
          <p:cNvSpPr>
            <a:spLocks noGrp="1"/>
          </p:cNvSpPr>
          <p:nvPr/>
        </p:nvSpPr>
        <p:spPr>
          <a:xfrm>
            <a:off x="5695950" y="5886450"/>
            <a:ext cx="561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0000"/>
              </a:lnSpc>
              <a:buNone/>
              <a:defRPr sz="1275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The dashboard records progress, pairwise alignment, exact-order agreement and same-winner agreement.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36382B7-D3FB-44F8-80E5-78604B27ABC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CCD3D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E9E839-E1FC-412A-BB17-41ED9C63EC34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Bangla Preference Dataset Project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6163DE-5374-486A-9F25-9AF042494591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pic>
        <p:nvPicPr>
          <p:cNvPr id="30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411" y="2005972"/>
            <a:ext cx="6658672" cy="280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692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2504969B-95FE-4BF9-9F18-4A13EF520C03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97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BANGLA PREFERENCE DATASET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CA46DF-C792-46FD-9A42-3CBB8C458D95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31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Only the clearest preference signals entered training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00BCA1A6-3131-4D75-88B4-4CA4DB412627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0"/>
          </a:xfrm>
          <a:prstGeom prst="line">
            <a:avLst/>
          </a:prstGeom>
          <a:noFill/>
          <a:ln w="9525">
            <a:solidFill>
              <a:srgbClr val="CCD3DA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174238-C66F-4BAE-AA3C-1BEDF0475AE9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695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87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Kendall’s W measures agreement among the three repeated rankings.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2E0CC6-9A74-4CD7-AC1A-5CC36C98E7E6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476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300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W = 12S / [m²(n³ − n)]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1025A3-C0E5-43C5-A79F-9773A24FE0E5}"/>
              </a:ext>
            </a:extLst>
          </p:cNvPr>
          <p:cNvSpPr>
            <a:spLocks noGrp="1"/>
          </p:cNvSpPr>
          <p:nvPr/>
        </p:nvSpPr>
        <p:spPr>
          <a:xfrm>
            <a:off x="685800" y="2895600"/>
            <a:ext cx="4953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4000"/>
              </a:lnSpc>
              <a:buNone/>
              <a:def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For this project, m = 3 ranking runs and n = 3 candidate answers. Only unanimous rankings with W = 1.0 were used for training.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E333816-C631-4064-A091-4F281E727000}"/>
              </a:ext>
            </a:extLst>
          </p:cNvPr>
          <p:cNvSpPr>
            <a:spLocks noGrp="1"/>
          </p:cNvSpPr>
          <p:nvPr/>
        </p:nvSpPr>
        <p:spPr>
          <a:xfrm>
            <a:off x="6762750" y="2105024"/>
            <a:ext cx="1409700" cy="1238250"/>
          </a:xfrm>
          <a:prstGeom prst="roundRect">
            <a:avLst>
              <a:gd name="adj" fmla="val 3846"/>
            </a:avLst>
          </a:prstGeom>
          <a:solidFill>
            <a:srgbClr val="F3F5F7"/>
          </a:solidFill>
          <a:ln w="9525">
            <a:solidFill>
              <a:srgbClr val="CCD3DA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5BD538-6887-4DA4-B677-6E5CD804E9E0}"/>
              </a:ext>
            </a:extLst>
          </p:cNvPr>
          <p:cNvSpPr>
            <a:spLocks noGrp="1"/>
          </p:cNvSpPr>
          <p:nvPr/>
        </p:nvSpPr>
        <p:spPr>
          <a:xfrm>
            <a:off x="6838950" y="2352674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2475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6,254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E57974-2BC2-4CE9-90F0-96D332EA58EB}"/>
              </a:ext>
            </a:extLst>
          </p:cNvPr>
          <p:cNvSpPr>
            <a:spLocks noGrp="1"/>
          </p:cNvSpPr>
          <p:nvPr/>
        </p:nvSpPr>
        <p:spPr>
          <a:xfrm>
            <a:off x="6867525" y="2819399"/>
            <a:ext cx="1200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1125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raw ranked</a:t>
            </a:r>
          </a:p>
          <a:p>
            <a:pPr algn="ctr">
              <a:lnSpc>
                <a:spcPct val="105000"/>
              </a:lnSpc>
              <a:buNone/>
              <a:defRPr sz="1125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records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FF85EE5D-A85D-4AA3-B3F9-D78D4F3946A2}"/>
              </a:ext>
            </a:extLst>
          </p:cNvPr>
          <p:cNvSpPr>
            <a:spLocks noGrp="1"/>
          </p:cNvSpPr>
          <p:nvPr/>
        </p:nvSpPr>
        <p:spPr>
          <a:xfrm>
            <a:off x="8191500" y="2628899"/>
            <a:ext cx="133350" cy="152400"/>
          </a:xfrm>
          <a:prstGeom prst="rightArrow">
            <a:avLst/>
          </a:prstGeom>
          <a:solidFill>
            <a:srgbClr val="0F7A7A"/>
          </a:solidFill>
          <a:ln w="0">
            <a:solidFill>
              <a:srgbClr val="0F7A7A"/>
            </a:solidFill>
            <a:prstDash val="solid"/>
          </a:ln>
        </p:spPr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1341E6C-F091-4019-9910-A9BF79D63E18}"/>
              </a:ext>
            </a:extLst>
          </p:cNvPr>
          <p:cNvSpPr>
            <a:spLocks noGrp="1"/>
          </p:cNvSpPr>
          <p:nvPr/>
        </p:nvSpPr>
        <p:spPr>
          <a:xfrm>
            <a:off x="8343900" y="2105024"/>
            <a:ext cx="1409700" cy="1238250"/>
          </a:xfrm>
          <a:prstGeom prst="roundRect">
            <a:avLst>
              <a:gd name="adj" fmla="val 3846"/>
            </a:avLst>
          </a:prstGeom>
          <a:solidFill>
            <a:srgbClr val="F3F5F7"/>
          </a:solidFill>
          <a:ln w="9525">
            <a:solidFill>
              <a:srgbClr val="CCD3DA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1CDCBC-32B0-45AB-870B-A0D90FE967FF}"/>
              </a:ext>
            </a:extLst>
          </p:cNvPr>
          <p:cNvSpPr>
            <a:spLocks noGrp="1"/>
          </p:cNvSpPr>
          <p:nvPr/>
        </p:nvSpPr>
        <p:spPr>
          <a:xfrm>
            <a:off x="8420100" y="2352674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2475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5,743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B3DA0A-DE5C-4DAE-9EC3-CE6674EC6B63}"/>
              </a:ext>
            </a:extLst>
          </p:cNvPr>
          <p:cNvSpPr>
            <a:spLocks noGrp="1"/>
          </p:cNvSpPr>
          <p:nvPr/>
        </p:nvSpPr>
        <p:spPr>
          <a:xfrm>
            <a:off x="8448675" y="2819399"/>
            <a:ext cx="1200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1125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normalized</a:t>
            </a:r>
          </a:p>
          <a:p>
            <a:pPr algn="ctr">
              <a:lnSpc>
                <a:spcPct val="105000"/>
              </a:lnSpc>
              <a:buNone/>
              <a:defRPr sz="1125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unique prompts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24142BC9-4840-4E73-887B-27460A3A1EBF}"/>
              </a:ext>
            </a:extLst>
          </p:cNvPr>
          <p:cNvSpPr>
            <a:spLocks noGrp="1"/>
          </p:cNvSpPr>
          <p:nvPr/>
        </p:nvSpPr>
        <p:spPr>
          <a:xfrm>
            <a:off x="9772650" y="2628899"/>
            <a:ext cx="133350" cy="152400"/>
          </a:xfrm>
          <a:prstGeom prst="rightArrow">
            <a:avLst/>
          </a:prstGeom>
          <a:solidFill>
            <a:srgbClr val="0F7A7A"/>
          </a:solidFill>
          <a:ln w="0">
            <a:solidFill>
              <a:srgbClr val="0F7A7A"/>
            </a:solidFill>
            <a:prstDash val="solid"/>
          </a:ln>
        </p:spPr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0C2AE1D-57F6-4FD2-A597-F4C103ABFE3B}"/>
              </a:ext>
            </a:extLst>
          </p:cNvPr>
          <p:cNvSpPr>
            <a:spLocks noGrp="1"/>
          </p:cNvSpPr>
          <p:nvPr/>
        </p:nvSpPr>
        <p:spPr>
          <a:xfrm>
            <a:off x="9925050" y="2105024"/>
            <a:ext cx="1409700" cy="1238250"/>
          </a:xfrm>
          <a:prstGeom prst="roundRect">
            <a:avLst>
              <a:gd name="adj" fmla="val 3846"/>
            </a:avLst>
          </a:prstGeom>
          <a:solidFill>
            <a:srgbClr val="EAF6F4"/>
          </a:solidFill>
          <a:ln w="9525">
            <a:solidFill>
              <a:srgbClr val="0F7A7A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99E1AB-2CB3-40BF-AD92-EAF20E3FE05E}"/>
              </a:ext>
            </a:extLst>
          </p:cNvPr>
          <p:cNvSpPr>
            <a:spLocks noGrp="1"/>
          </p:cNvSpPr>
          <p:nvPr/>
        </p:nvSpPr>
        <p:spPr>
          <a:xfrm>
            <a:off x="10001250" y="2352674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247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4,469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6B6B10-AA59-451B-BF9F-F7E3152F98A6}"/>
              </a:ext>
            </a:extLst>
          </p:cNvPr>
          <p:cNvSpPr>
            <a:spLocks noGrp="1"/>
          </p:cNvSpPr>
          <p:nvPr/>
        </p:nvSpPr>
        <p:spPr>
          <a:xfrm>
            <a:off x="10029825" y="2819399"/>
            <a:ext cx="1200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1125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filtered</a:t>
            </a:r>
          </a:p>
          <a:p>
            <a:pPr algn="ctr">
              <a:lnSpc>
                <a:spcPct val="105000"/>
              </a:lnSpc>
              <a:buNone/>
              <a:defRPr sz="1125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pairs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3D53B6-98D0-4F5A-88D2-CF0B0EA9BEAD}"/>
              </a:ext>
            </a:extLst>
          </p:cNvPr>
          <p:cNvSpPr>
            <a:spLocks noGrp="1"/>
          </p:cNvSpPr>
          <p:nvPr/>
        </p:nvSpPr>
        <p:spPr>
          <a:xfrm>
            <a:off x="6572250" y="37147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Leakage-safe split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520FE4-00E7-46AD-922F-1C257C6A4322}"/>
              </a:ext>
            </a:extLst>
          </p:cNvPr>
          <p:cNvSpPr>
            <a:spLocks noGrp="1"/>
          </p:cNvSpPr>
          <p:nvPr/>
        </p:nvSpPr>
        <p:spPr>
          <a:xfrm>
            <a:off x="6572250" y="4191000"/>
            <a:ext cx="142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3,932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ADF4CF2-A392-4DC3-894E-6FFE62C2171D}"/>
              </a:ext>
            </a:extLst>
          </p:cNvPr>
          <p:cNvSpPr>
            <a:spLocks noGrp="1"/>
          </p:cNvSpPr>
          <p:nvPr/>
        </p:nvSpPr>
        <p:spPr>
          <a:xfrm>
            <a:off x="6572250" y="46291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training pairs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C86901-DA9E-47BE-8823-05673C672714}"/>
              </a:ext>
            </a:extLst>
          </p:cNvPr>
          <p:cNvSpPr>
            <a:spLocks noGrp="1"/>
          </p:cNvSpPr>
          <p:nvPr/>
        </p:nvSpPr>
        <p:spPr>
          <a:xfrm>
            <a:off x="8401050" y="4191000"/>
            <a:ext cx="95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437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D1830D-544A-40B1-AD12-C63D36FB752E}"/>
              </a:ext>
            </a:extLst>
          </p:cNvPr>
          <p:cNvSpPr>
            <a:spLocks noGrp="1"/>
          </p:cNvSpPr>
          <p:nvPr/>
        </p:nvSpPr>
        <p:spPr>
          <a:xfrm>
            <a:off x="8401050" y="46291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validation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FAD542-3F71-4DF5-B4A5-719803523DBD}"/>
              </a:ext>
            </a:extLst>
          </p:cNvPr>
          <p:cNvSpPr>
            <a:spLocks noGrp="1"/>
          </p:cNvSpPr>
          <p:nvPr/>
        </p:nvSpPr>
        <p:spPr>
          <a:xfrm>
            <a:off x="9925050" y="4191000"/>
            <a:ext cx="95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55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100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099010F-16C9-470F-BF19-36662F49E4F7}"/>
              </a:ext>
            </a:extLst>
          </p:cNvPr>
          <p:cNvSpPr>
            <a:spLocks noGrp="1"/>
          </p:cNvSpPr>
          <p:nvPr/>
        </p:nvSpPr>
        <p:spPr>
          <a:xfrm>
            <a:off x="9925050" y="46291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held-out test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F1433F0-D8C3-4C08-96B6-57A11F460808}"/>
              </a:ext>
            </a:extLst>
          </p:cNvPr>
          <p:cNvSpPr>
            <a:spLocks noGrp="1"/>
          </p:cNvSpPr>
          <p:nvPr/>
        </p:nvSpPr>
        <p:spPr>
          <a:xfrm>
            <a:off x="685800" y="4514850"/>
            <a:ext cx="4762500" cy="1333500"/>
          </a:xfrm>
          <a:prstGeom prst="roundRect">
            <a:avLst>
              <a:gd name="adj" fmla="val 3571"/>
            </a:avLst>
          </a:prstGeom>
          <a:solidFill>
            <a:srgbClr val="F3F5F7"/>
          </a:solidFill>
          <a:ln w="9525">
            <a:solidFill>
              <a:srgbClr val="CCD3DA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0A0AAF0-7ABA-4AAC-BDFC-18EB99489E01}"/>
              </a:ext>
            </a:extLst>
          </p:cNvPr>
          <p:cNvSpPr>
            <a:spLocks noGrp="1"/>
          </p:cNvSpPr>
          <p:nvPr/>
        </p:nvSpPr>
        <p:spPr>
          <a:xfrm>
            <a:off x="876300" y="4695825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One final JSONL record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8DF41A8-3272-42C2-A43A-0D0DDF1893FE}"/>
              </a:ext>
            </a:extLst>
          </p:cNvPr>
          <p:cNvSpPr>
            <a:spLocks noGrp="1"/>
          </p:cNvSpPr>
          <p:nvPr/>
        </p:nvSpPr>
        <p:spPr>
          <a:xfrm>
            <a:off x="876300" y="5048250"/>
            <a:ext cx="4191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212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17212F"/>
                </a:solidFill>
                <a:latin typeface="Menlo"/>
                <a:ea typeface="Menlo"/>
                <a:cs typeface="Menlo"/>
              </a:rPr>
              <a:t>{ prompt, chosen, rejected,</a:t>
            </a:r>
          </a:p>
          <a:p>
            <a:pPr algn="l">
              <a:lnSpc>
                <a:spcPct val="100000"/>
              </a:lnSpc>
              <a:buNone/>
              <a:defRPr sz="1350" b="0" i="0">
                <a:solidFill>
                  <a:srgbClr val="17212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17212F"/>
                </a:solidFill>
                <a:latin typeface="Menlo"/>
                <a:ea typeface="Menlo"/>
                <a:cs typeface="Menlo"/>
              </a:rPr>
              <a:t>  winner_model, W = 1.0 }</a:t>
            </a:r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0EE315CC-4C7F-4BD9-A488-437EE8B9D26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CCD3DA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460B033-B9A0-4152-9613-B09CE993FE4B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Bangla Preference Dataset Project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4DBB113-63D3-4B83-865C-F0016E64FB22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83301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FB861C7-454E-444A-A310-46EA358AB534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97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BANGLA PREFERENCE DATASET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1C0BCC-0967-4608-B004-B4BDCB908BCE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31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The web platform makes the dataset auditable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8564829D-9F5B-4518-8D53-5FE238635948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0"/>
          </a:xfrm>
          <a:prstGeom prst="line">
            <a:avLst/>
          </a:prstGeom>
          <a:noFill/>
          <a:ln w="9525">
            <a:solidFill>
              <a:srgbClr val="CCD3D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014D88-753F-41D3-AADC-1F5AF66EC1E5}"/>
              </a:ext>
            </a:extLst>
          </p:cNvPr>
          <p:cNvSpPr>
            <a:spLocks noGrp="1"/>
          </p:cNvSpPr>
          <p:nvPr/>
        </p:nvSpPr>
        <p:spPr>
          <a:xfrm>
            <a:off x="9550400" y="2008504"/>
            <a:ext cx="2286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575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Dataset explorer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50A9DE-D50F-4D0F-94FB-48CD91EEBA79}"/>
              </a:ext>
            </a:extLst>
          </p:cNvPr>
          <p:cNvSpPr>
            <a:spLocks noGrp="1"/>
          </p:cNvSpPr>
          <p:nvPr/>
        </p:nvSpPr>
        <p:spPr>
          <a:xfrm>
            <a:off x="2255520" y="5867400"/>
            <a:ext cx="6020086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6000"/>
              </a:lnSpc>
              <a:buNone/>
              <a:defRPr sz="135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Browse categories, search Bangla prompts, inspect three candidate responses.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B9EA6F6C-3C5E-4084-A68E-B757992C2569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CCD3D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6D717C-4419-4DB5-A84C-7AF9A32EE79D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Bangla Preference Dataset Project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F831C8-DA0F-45DE-8007-756CF0F91853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pic>
        <p:nvPicPr>
          <p:cNvPr id="25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247774"/>
            <a:ext cx="8300224" cy="455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11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ADCE039-F31D-F9B5-1B67-879D3EE72EE6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97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BANGLA PREFERENCE DATASET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CE8567-56C9-C45E-48D3-CB540EF3606C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31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The web platform makes the dataset auditable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B56CE966-7A10-F6F9-1004-CC7D82F8AED3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0"/>
          </a:xfrm>
          <a:prstGeom prst="line">
            <a:avLst/>
          </a:prstGeom>
          <a:noFill/>
          <a:ln w="9525">
            <a:solidFill>
              <a:srgbClr val="CCD3DA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1420A5-9A15-1518-F350-F978A906BF86}"/>
              </a:ext>
            </a:extLst>
          </p:cNvPr>
          <p:cNvSpPr>
            <a:spLocks noGrp="1"/>
          </p:cNvSpPr>
          <p:nvPr/>
        </p:nvSpPr>
        <p:spPr>
          <a:xfrm>
            <a:off x="8572500" y="1457324"/>
            <a:ext cx="3619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575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Ranking &amp; annotation management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E208EA-DD44-59A5-6305-FCDE37C7F9BA}"/>
              </a:ext>
            </a:extLst>
          </p:cNvPr>
          <p:cNvSpPr>
            <a:spLocks noGrp="1"/>
          </p:cNvSpPr>
          <p:nvPr/>
        </p:nvSpPr>
        <p:spPr>
          <a:xfrm>
            <a:off x="2367248" y="5819775"/>
            <a:ext cx="8319802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6000"/>
              </a:lnSpc>
              <a:buNone/>
              <a:defRPr sz="135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Inspect votes, assign annotators, monitor completion and export the latest CSV.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0A21C9-416F-4F2E-B7A1-47AC51AB20E8}"/>
              </a:ext>
            </a:extLst>
          </p:cNvPr>
          <p:cNvSpPr>
            <a:spLocks noGrp="1"/>
          </p:cNvSpPr>
          <p:nvPr/>
        </p:nvSpPr>
        <p:spPr>
          <a:xfrm>
            <a:off x="629888" y="6143625"/>
            <a:ext cx="1047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Git LFS stores response artifacts; Firebase stores accounts, assignments and changing annotations.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0EA0AD-A402-E3DC-4AC1-0000B8BEBAD6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Bangla Preference Dataset Project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312C20-1C93-C1E4-CDBC-DF0014EFDD25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pic>
        <p:nvPicPr>
          <p:cNvPr id="2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396" y="1261195"/>
            <a:ext cx="7936371" cy="4335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761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3446ECB-8605-D0EA-2807-220E2958F6A0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97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BANGLA PREFERENCE DATASET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CE31EB-94D0-315D-5017-4B8DA8666B74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31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The web platform makes the dataset auditable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D399C23E-2948-6552-34C9-8BC571DE998C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0"/>
          </a:xfrm>
          <a:prstGeom prst="line">
            <a:avLst/>
          </a:prstGeom>
          <a:noFill/>
          <a:ln w="9525">
            <a:solidFill>
              <a:srgbClr val="CCD3DA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C5ECEC-5A5B-4334-A304-8F2E8F4D2BCD}"/>
              </a:ext>
            </a:extLst>
          </p:cNvPr>
          <p:cNvSpPr>
            <a:spLocks noGrp="1"/>
          </p:cNvSpPr>
          <p:nvPr/>
        </p:nvSpPr>
        <p:spPr>
          <a:xfrm>
            <a:off x="3362960" y="5719447"/>
            <a:ext cx="6203950" cy="1765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575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Annotators worked from their separate accounts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A937760E-7877-50B0-CF5E-A76BBBB9F4FF}"/>
              </a:ext>
            </a:extLst>
          </p:cNvPr>
          <p:cNvSpPr>
            <a:spLocks noGrp="1"/>
          </p:cNvSpPr>
          <p:nvPr/>
        </p:nvSpPr>
        <p:spPr>
          <a:xfrm>
            <a:off x="609600" y="6124576"/>
            <a:ext cx="10972800" cy="0"/>
          </a:xfrm>
          <a:prstGeom prst="line">
            <a:avLst/>
          </a:prstGeom>
          <a:noFill/>
          <a:ln w="9525">
            <a:solidFill>
              <a:srgbClr val="CCD3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CC79B1-347A-30A4-0795-0ADC61ABBCEC}"/>
              </a:ext>
            </a:extLst>
          </p:cNvPr>
          <p:cNvSpPr>
            <a:spLocks noGrp="1"/>
          </p:cNvSpPr>
          <p:nvPr/>
        </p:nvSpPr>
        <p:spPr>
          <a:xfrm>
            <a:off x="1714500" y="6124576"/>
            <a:ext cx="1047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Git LFS stores response artifacts; Firebase stores accounts, assignments and changing annotations.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28C90FF7-5A57-2CD1-518B-AFD2563D1FB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CCD3D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520FCE-BE58-C1B5-7E9F-F6ADCDC2FDD2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Bangla Preference Dataset Project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B44EF9-B3C6-8415-7E57-DCF6F4D704CE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pic>
        <p:nvPicPr>
          <p:cNvPr id="2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397" y="1214598"/>
            <a:ext cx="8027206" cy="4428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868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6E21BA9-3005-459B-A8C9-837D9F8831B7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97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BANGLA PREFERENCE DATASET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220183-337A-44E1-9DC1-15E826C9CCC1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31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TigerLLM-1B made L4 fine-tuning feasible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A327BA5F-C629-4FE9-A152-F1658F84AE41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0"/>
          </a:xfrm>
          <a:prstGeom prst="line">
            <a:avLst/>
          </a:prstGeom>
          <a:noFill/>
          <a:ln w="9525">
            <a:solidFill>
              <a:srgbClr val="CCD3DA"/>
            </a:solidFill>
            <a:prstDash val="solid"/>
          </a:ln>
        </p:spPr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ABCDDB6-C6F6-4787-8160-B109A36DFF7B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3048000" cy="3181350"/>
          </a:xfrm>
          <a:prstGeom prst="roundRect">
            <a:avLst>
              <a:gd name="adj" fmla="val 1875"/>
            </a:avLst>
          </a:prstGeom>
          <a:solidFill>
            <a:srgbClr val="F3F5F7"/>
          </a:solidFill>
          <a:ln w="9525">
            <a:solidFill>
              <a:srgbClr val="CCD3D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498EF7-183D-4B23-A3DE-F50727C82412}"/>
              </a:ext>
            </a:extLst>
          </p:cNvPr>
          <p:cNvSpPr>
            <a:spLocks noGrp="1"/>
          </p:cNvSpPr>
          <p:nvPr/>
        </p:nvSpPr>
        <p:spPr>
          <a:xfrm>
            <a:off x="819150" y="18859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575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Base model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AE2FB9-C7D5-4533-934E-84C092D9A37C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2628900" cy="2038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1000"/>
              </a:lnSpc>
              <a:buNone/>
              <a:defRPr sz="1500" b="0" i="0">
                <a:solidFill>
                  <a:srgbClr val="1F2937"/>
                </a:solidFill>
                <a:latin typeface="Menlo"/>
                <a:ea typeface="Menlo"/>
                <a:cs typeface="Menlo"/>
              </a:defRPr>
            </a:pPr>
            <a:r>
              <a:rPr sz="1500" b="0" i="0">
                <a:solidFill>
                  <a:srgbClr val="1F2937"/>
                </a:solidFill>
                <a:latin typeface="Menlo"/>
                <a:ea typeface="Menlo"/>
                <a:cs typeface="Menlo"/>
              </a:rPr>
              <a:t>md-nishat-008/</a:t>
            </a:r>
          </a:p>
          <a:p>
            <a:pPr algn="l">
              <a:lnSpc>
                <a:spcPct val="111000"/>
              </a:lnSpc>
              <a:buNone/>
              <a:defRPr sz="1500" b="0" i="0">
                <a:solidFill>
                  <a:srgbClr val="1F2937"/>
                </a:solidFill>
                <a:latin typeface="Menlo"/>
                <a:ea typeface="Menlo"/>
                <a:cs typeface="Menlo"/>
              </a:defRPr>
            </a:pPr>
            <a:r>
              <a:rPr sz="1500" b="0" i="0">
                <a:solidFill>
                  <a:srgbClr val="1F2937"/>
                </a:solidFill>
                <a:latin typeface="Menlo"/>
                <a:ea typeface="Menlo"/>
                <a:cs typeface="Menlo"/>
              </a:rPr>
              <a:t>TigerLLM-1B-it</a:t>
            </a:r>
          </a:p>
          <a:p>
            <a:endParaRPr sz="1650" b="0" i="0">
              <a:solidFill>
                <a:srgbClr val="17212F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11000"/>
              </a:lnSpc>
              <a:buNone/>
              <a:defRPr sz="1500" b="0" i="0">
                <a:solidFill>
                  <a:srgbClr val="1F2937"/>
                </a:solidFill>
                <a:latin typeface="Menlo"/>
                <a:ea typeface="Menlo"/>
                <a:cs typeface="Menlo"/>
              </a:defRPr>
            </a:pPr>
            <a:r>
              <a:rPr sz="1500" b="0" i="0">
                <a:solidFill>
                  <a:srgbClr val="1F2937"/>
                </a:solidFill>
                <a:latin typeface="Menlo"/>
                <a:ea typeface="Menlo"/>
                <a:cs typeface="Menlo"/>
              </a:rPr>
              <a:t>Compact Bangla model for training and inference.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957F68D-B788-4F10-84C4-4518566997F4}"/>
              </a:ext>
            </a:extLst>
          </p:cNvPr>
          <p:cNvSpPr>
            <a:spLocks noGrp="1"/>
          </p:cNvSpPr>
          <p:nvPr/>
        </p:nvSpPr>
        <p:spPr>
          <a:xfrm>
            <a:off x="4114800" y="1619250"/>
            <a:ext cx="3048000" cy="3181350"/>
          </a:xfrm>
          <a:prstGeom prst="roundRect">
            <a:avLst>
              <a:gd name="adj" fmla="val 1875"/>
            </a:avLst>
          </a:prstGeom>
          <a:solidFill>
            <a:srgbClr val="EAF6F4"/>
          </a:solidFill>
          <a:ln w="9525">
            <a:solidFill>
              <a:srgbClr val="0F7A7A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38E8F1-EAB3-4B16-88CC-BFF9316EB979}"/>
              </a:ext>
            </a:extLst>
          </p:cNvPr>
          <p:cNvSpPr>
            <a:spLocks noGrp="1"/>
          </p:cNvSpPr>
          <p:nvPr/>
        </p:nvSpPr>
        <p:spPr>
          <a:xfrm>
            <a:off x="4324350" y="18859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57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Preference objective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AB3EC8-7789-40C7-9115-50567B7C16FB}"/>
              </a:ext>
            </a:extLst>
          </p:cNvPr>
          <p:cNvSpPr>
            <a:spLocks noGrp="1"/>
          </p:cNvSpPr>
          <p:nvPr/>
        </p:nvSpPr>
        <p:spPr>
          <a:xfrm>
            <a:off x="4324350" y="2400300"/>
            <a:ext cx="2628900" cy="2038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1000"/>
              </a:lnSpc>
              <a:buNone/>
              <a:defRPr sz="1800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DPO</a:t>
            </a:r>
          </a:p>
          <a:p>
            <a:endParaRPr sz="1800" b="0" i="0">
              <a:solidFill>
                <a:srgbClr val="17212F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lnSpc>
                <a:spcPct val="111000"/>
              </a:lnSpc>
              <a:buNone/>
              <a:defRPr sz="1800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Increase the probability of the chosen answer relative to the rejected answer for the same prompt.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83BA169-0078-438E-9F53-42D108C32FC7}"/>
              </a:ext>
            </a:extLst>
          </p:cNvPr>
          <p:cNvSpPr>
            <a:spLocks noGrp="1"/>
          </p:cNvSpPr>
          <p:nvPr/>
        </p:nvSpPr>
        <p:spPr>
          <a:xfrm>
            <a:off x="7620000" y="1619250"/>
            <a:ext cx="3048000" cy="3181350"/>
          </a:xfrm>
          <a:prstGeom prst="roundRect">
            <a:avLst>
              <a:gd name="adj" fmla="val 1875"/>
            </a:avLst>
          </a:prstGeom>
          <a:solidFill>
            <a:srgbClr val="F3F5F7"/>
          </a:solidFill>
          <a:ln w="9525">
            <a:solidFill>
              <a:srgbClr val="CCD3DA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60E153-1F0C-4A36-99BF-710EE0BF2EF4}"/>
              </a:ext>
            </a:extLst>
          </p:cNvPr>
          <p:cNvSpPr>
            <a:spLocks noGrp="1"/>
          </p:cNvSpPr>
          <p:nvPr/>
        </p:nvSpPr>
        <p:spPr>
          <a:xfrm>
            <a:off x="7829550" y="18859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575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Efficient adaptation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EF32F0-5670-4814-8110-93851FD3CD14}"/>
              </a:ext>
            </a:extLst>
          </p:cNvPr>
          <p:cNvSpPr>
            <a:spLocks noGrp="1"/>
          </p:cNvSpPr>
          <p:nvPr/>
        </p:nvSpPr>
        <p:spPr>
          <a:xfrm>
            <a:off x="7829550" y="2400300"/>
            <a:ext cx="2628900" cy="2038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1000"/>
              </a:lnSpc>
              <a:buNone/>
              <a:defRPr sz="1800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QLoRA</a:t>
            </a:r>
          </a:p>
          <a:p>
            <a:endParaRPr sz="1800" b="0" i="0">
              <a:solidFill>
                <a:srgbClr val="17212F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lnSpc>
                <a:spcPct val="111000"/>
              </a:lnSpc>
              <a:buNone/>
              <a:defRPr sz="1800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Keep the 4-bit base frozen and learn small rank-16 LoRA adapters instead of updating all weights.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059652BE-2DF3-46E5-ACA4-53DAAF7D355D}"/>
              </a:ext>
            </a:extLst>
          </p:cNvPr>
          <p:cNvSpPr>
            <a:spLocks noGrp="1"/>
          </p:cNvSpPr>
          <p:nvPr/>
        </p:nvSpPr>
        <p:spPr>
          <a:xfrm>
            <a:off x="609600" y="5257800"/>
            <a:ext cx="10972800" cy="0"/>
          </a:xfrm>
          <a:prstGeom prst="line">
            <a:avLst/>
          </a:prstGeom>
          <a:noFill/>
          <a:ln w="9525">
            <a:solidFill>
              <a:srgbClr val="CCD3DA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DCE49A-FF49-48AC-B88A-C764711B434A}"/>
              </a:ext>
            </a:extLst>
          </p:cNvPr>
          <p:cNvSpPr>
            <a:spLocks noGrp="1"/>
          </p:cNvSpPr>
          <p:nvPr/>
        </p:nvSpPr>
        <p:spPr>
          <a:xfrm>
            <a:off x="609600" y="5514975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1500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Google Cloud g2-standard-8 + NVIDIA L4  •  100 optimizer steps  •  1,024-token response cap  •  identical decoding for base and fine-tuned inference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24B18057-5467-433E-9791-9F4D503C1FA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CCD3DA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3DF8D2-0480-4468-8332-C1A01870AE32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Bangla Preference Dataset Project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34D7AA-F073-4DCF-9EE1-2F86F03E1C66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14751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97E75F3-161B-4B02-8428-5CF0E2E38619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97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BANGLA PREFERENCE DATASET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F29AFE-822A-4767-BE14-3CDC46D6263D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31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A matched blind test compares 100 unseen prompts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E6641B53-97B7-45F9-825E-083BB0ECE39C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0"/>
          </a:xfrm>
          <a:prstGeom prst="line">
            <a:avLst/>
          </a:prstGeom>
          <a:noFill/>
          <a:ln w="9525">
            <a:solidFill>
              <a:srgbClr val="CCD3DA"/>
            </a:solidFill>
            <a:prstDash val="solid"/>
          </a:ln>
        </p:spPr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726096B-3ACA-4395-9F2F-7BF6D26F1A39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2457450" cy="2647950"/>
          </a:xfrm>
          <a:prstGeom prst="roundRect">
            <a:avLst>
              <a:gd name="adj" fmla="val 2326"/>
            </a:avLst>
          </a:prstGeom>
          <a:solidFill>
            <a:srgbClr val="F3F5F7"/>
          </a:solidFill>
          <a:ln w="9525">
            <a:solidFill>
              <a:srgbClr val="CCD3D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B92EF2-1B9E-4E78-92CA-1E1A80246B5A}"/>
              </a:ext>
            </a:extLst>
          </p:cNvPr>
          <p:cNvSpPr>
            <a:spLocks noGrp="1"/>
          </p:cNvSpPr>
          <p:nvPr/>
        </p:nvSpPr>
        <p:spPr>
          <a:xfrm>
            <a:off x="781050" y="2286000"/>
            <a:ext cx="21145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3000"/>
              </a:lnSpc>
              <a:buNone/>
              <a:defRPr sz="2025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100 held-out</a:t>
            </a:r>
          </a:p>
          <a:p>
            <a:pPr algn="ctr">
              <a:lnSpc>
                <a:spcPct val="103000"/>
              </a:lnSpc>
              <a:buNone/>
              <a:defRPr sz="2025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prompts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59C183-72CA-44FF-BA11-5A821C59E16A}"/>
              </a:ext>
            </a:extLst>
          </p:cNvPr>
          <p:cNvSpPr>
            <a:spLocks noGrp="1"/>
          </p:cNvSpPr>
          <p:nvPr/>
        </p:nvSpPr>
        <p:spPr>
          <a:xfrm>
            <a:off x="800100" y="3295650"/>
            <a:ext cx="20764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1000"/>
              </a:lnSpc>
              <a:buNone/>
              <a:defRPr sz="14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Never used for training or model selection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1EAD80D8-702E-444E-B64A-0B0ADD4516CB}"/>
              </a:ext>
            </a:extLst>
          </p:cNvPr>
          <p:cNvSpPr>
            <a:spLocks noGrp="1"/>
          </p:cNvSpPr>
          <p:nvPr/>
        </p:nvSpPr>
        <p:spPr>
          <a:xfrm>
            <a:off x="3124200" y="3200400"/>
            <a:ext cx="228600" cy="152400"/>
          </a:xfrm>
          <a:prstGeom prst="rightArrow">
            <a:avLst/>
          </a:prstGeom>
          <a:solidFill>
            <a:srgbClr val="0F7A7A"/>
          </a:solidFill>
          <a:ln w="0">
            <a:solidFill>
              <a:srgbClr val="0F7A7A"/>
            </a:solidFill>
            <a:prstDash val="solid"/>
          </a:ln>
        </p:spPr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58ECA62-A16C-48D8-96F7-B693C726540F}"/>
              </a:ext>
            </a:extLst>
          </p:cNvPr>
          <p:cNvSpPr>
            <a:spLocks noGrp="1"/>
          </p:cNvSpPr>
          <p:nvPr/>
        </p:nvSpPr>
        <p:spPr>
          <a:xfrm>
            <a:off x="3448050" y="1981200"/>
            <a:ext cx="2457450" cy="2647950"/>
          </a:xfrm>
          <a:prstGeom prst="roundRect">
            <a:avLst>
              <a:gd name="adj" fmla="val 2326"/>
            </a:avLst>
          </a:prstGeom>
          <a:solidFill>
            <a:srgbClr val="F3F5F7"/>
          </a:solidFill>
          <a:ln w="9525">
            <a:solidFill>
              <a:srgbClr val="CCD3D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CB3474-56F7-45C4-BBC9-4190150825B0}"/>
              </a:ext>
            </a:extLst>
          </p:cNvPr>
          <p:cNvSpPr>
            <a:spLocks noGrp="1"/>
          </p:cNvSpPr>
          <p:nvPr/>
        </p:nvSpPr>
        <p:spPr>
          <a:xfrm>
            <a:off x="3619500" y="2286000"/>
            <a:ext cx="21145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3000"/>
              </a:lnSpc>
              <a:buNone/>
              <a:defRPr sz="2025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Generate twice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2D6CFA-EC91-4DB2-936C-4DFF18E2751D}"/>
              </a:ext>
            </a:extLst>
          </p:cNvPr>
          <p:cNvSpPr>
            <a:spLocks noGrp="1"/>
          </p:cNvSpPr>
          <p:nvPr/>
        </p:nvSpPr>
        <p:spPr>
          <a:xfrm>
            <a:off x="3638550" y="3295650"/>
            <a:ext cx="20764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1000"/>
              </a:lnSpc>
              <a:buNone/>
              <a:defRPr sz="14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Base and fine-tuned models use the same decoding settings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8E30A648-BB9C-460B-A1F1-5CDC029A8BCA}"/>
              </a:ext>
            </a:extLst>
          </p:cNvPr>
          <p:cNvSpPr>
            <a:spLocks noGrp="1"/>
          </p:cNvSpPr>
          <p:nvPr/>
        </p:nvSpPr>
        <p:spPr>
          <a:xfrm>
            <a:off x="5962650" y="3200400"/>
            <a:ext cx="228600" cy="152400"/>
          </a:xfrm>
          <a:prstGeom prst="rightArrow">
            <a:avLst/>
          </a:prstGeom>
          <a:solidFill>
            <a:srgbClr val="0F7A7A"/>
          </a:solidFill>
          <a:ln w="0">
            <a:solidFill>
              <a:srgbClr val="0F7A7A"/>
            </a:solidFill>
            <a:prstDash val="solid"/>
          </a:ln>
        </p:spPr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12E160B-85E2-4705-92BA-9DA525C52845}"/>
              </a:ext>
            </a:extLst>
          </p:cNvPr>
          <p:cNvSpPr>
            <a:spLocks noGrp="1"/>
          </p:cNvSpPr>
          <p:nvPr/>
        </p:nvSpPr>
        <p:spPr>
          <a:xfrm>
            <a:off x="6286500" y="1981200"/>
            <a:ext cx="2457450" cy="2647950"/>
          </a:xfrm>
          <a:prstGeom prst="roundRect">
            <a:avLst>
              <a:gd name="adj" fmla="val 2326"/>
            </a:avLst>
          </a:prstGeom>
          <a:solidFill>
            <a:srgbClr val="F3F5F7"/>
          </a:solidFill>
          <a:ln w="9525">
            <a:solidFill>
              <a:srgbClr val="CCD3D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D6979E-3616-4F8E-95E9-AD5D8FBF0AA1}"/>
              </a:ext>
            </a:extLst>
          </p:cNvPr>
          <p:cNvSpPr>
            <a:spLocks noGrp="1"/>
          </p:cNvSpPr>
          <p:nvPr/>
        </p:nvSpPr>
        <p:spPr>
          <a:xfrm>
            <a:off x="6457950" y="2286000"/>
            <a:ext cx="21145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3000"/>
              </a:lnSpc>
              <a:buNone/>
              <a:defRPr sz="2025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Anonymize answers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DDA2AD-ECAA-4A3D-8586-7E4198DEB6A8}"/>
              </a:ext>
            </a:extLst>
          </p:cNvPr>
          <p:cNvSpPr>
            <a:spLocks noGrp="1"/>
          </p:cNvSpPr>
          <p:nvPr/>
        </p:nvSpPr>
        <p:spPr>
          <a:xfrm>
            <a:off x="6477000" y="3295650"/>
            <a:ext cx="20764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1000"/>
              </a:lnSpc>
              <a:buNone/>
              <a:defRPr sz="14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A/B positions are balanced; judges cannot see model identity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23E1408A-BE3C-4ECF-B6F9-598428336FB2}"/>
              </a:ext>
            </a:extLst>
          </p:cNvPr>
          <p:cNvSpPr>
            <a:spLocks noGrp="1"/>
          </p:cNvSpPr>
          <p:nvPr/>
        </p:nvSpPr>
        <p:spPr>
          <a:xfrm>
            <a:off x="8801100" y="3200400"/>
            <a:ext cx="228600" cy="152400"/>
          </a:xfrm>
          <a:prstGeom prst="rightArrow">
            <a:avLst/>
          </a:prstGeom>
          <a:solidFill>
            <a:srgbClr val="0F7A7A"/>
          </a:solidFill>
          <a:ln w="0">
            <a:solidFill>
              <a:srgbClr val="0F7A7A"/>
            </a:solidFill>
            <a:prstDash val="solid"/>
          </a:ln>
        </p:spPr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CA9A8F4-50F4-4C71-B1AC-658F829B9205}"/>
              </a:ext>
            </a:extLst>
          </p:cNvPr>
          <p:cNvSpPr>
            <a:spLocks noGrp="1"/>
          </p:cNvSpPr>
          <p:nvPr/>
        </p:nvSpPr>
        <p:spPr>
          <a:xfrm>
            <a:off x="9124950" y="1981200"/>
            <a:ext cx="2457450" cy="2647950"/>
          </a:xfrm>
          <a:prstGeom prst="roundRect">
            <a:avLst>
              <a:gd name="adj" fmla="val 2326"/>
            </a:avLst>
          </a:prstGeom>
          <a:solidFill>
            <a:srgbClr val="EAF6F4"/>
          </a:solidFill>
          <a:ln w="9525">
            <a:solidFill>
              <a:srgbClr val="0F7A7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0BC384-B98C-4364-9592-F0DFE50143DF}"/>
              </a:ext>
            </a:extLst>
          </p:cNvPr>
          <p:cNvSpPr>
            <a:spLocks noGrp="1"/>
          </p:cNvSpPr>
          <p:nvPr/>
        </p:nvSpPr>
        <p:spPr>
          <a:xfrm>
            <a:off x="9296400" y="2286000"/>
            <a:ext cx="21145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3000"/>
              </a:lnSpc>
              <a:buNone/>
              <a:defRPr sz="202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Blind comparison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303726-35F2-4A89-948B-003F84CC1F15}"/>
              </a:ext>
            </a:extLst>
          </p:cNvPr>
          <p:cNvSpPr>
            <a:spLocks noGrp="1"/>
          </p:cNvSpPr>
          <p:nvPr/>
        </p:nvSpPr>
        <p:spPr>
          <a:xfrm>
            <a:off x="9315450" y="3295650"/>
            <a:ext cx="20764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1000"/>
              </a:lnSpc>
              <a:buNone/>
              <a:defRPr sz="14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Judges select the better response or declare a tie when allowed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C788B1-8245-4121-AFEA-0384E47C4BD8}"/>
              </a:ext>
            </a:extLst>
          </p:cNvPr>
          <p:cNvSpPr>
            <a:spLocks noGrp="1"/>
          </p:cNvSpPr>
          <p:nvPr/>
        </p:nvSpPr>
        <p:spPr>
          <a:xfrm>
            <a:off x="247650" y="5391149"/>
            <a:ext cx="1097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1575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This measures response quality on generated text, not just a training loss.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64EC6BA8-CD12-4F9E-BBAC-9416000FB3D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CCD3DA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AA154B-AF39-4C4F-BE70-CB91EA60508A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Bangla Preference Dataset Project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0B10BF7-D12A-4A83-8338-FDF90A938DC7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79083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7D4EB9DC-2BEC-48F1-B71D-A8ACD2CB59D9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97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BANGLA PREFERENCE DATASET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28C14B-3C36-4395-A181-AF2B64A763D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31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Blind judges slightly preferred the fine-tuned model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085856D4-1530-431A-A3C4-2C6BE785DB40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0"/>
          </a:xfrm>
          <a:prstGeom prst="line">
            <a:avLst/>
          </a:prstGeom>
          <a:noFill/>
          <a:ln w="9525">
            <a:solidFill>
              <a:srgbClr val="CCD3DA"/>
            </a:solidFill>
            <a:prstDash val="solid"/>
          </a:ln>
        </p:spPr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B5C1D81-4358-4A9E-B30C-3D29551E64DD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4895850" cy="3429000"/>
          </a:xfrm>
          <a:prstGeom prst="roundRect">
            <a:avLst>
              <a:gd name="adj" fmla="val 1667"/>
            </a:avLst>
          </a:prstGeom>
          <a:solidFill>
            <a:srgbClr val="F3F5F7"/>
          </a:solidFill>
          <a:ln w="9525">
            <a:solidFill>
              <a:srgbClr val="CCD3D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FD3FDC-4DEE-4E16-9B7E-5308C4890432}"/>
              </a:ext>
            </a:extLst>
          </p:cNvPr>
          <p:cNvSpPr>
            <a:spLocks noGrp="1"/>
          </p:cNvSpPr>
          <p:nvPr/>
        </p:nvSpPr>
        <p:spPr>
          <a:xfrm>
            <a:off x="933450" y="184785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Gemini 2.5 Flash-Lite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32C08E-5472-4651-9A09-15097B66D6DE}"/>
              </a:ext>
            </a:extLst>
          </p:cNvPr>
          <p:cNvSpPr>
            <a:spLocks noGrp="1"/>
          </p:cNvSpPr>
          <p:nvPr/>
        </p:nvSpPr>
        <p:spPr>
          <a:xfrm>
            <a:off x="933450" y="22098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Three votes per prompt; ties allowed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0E17A4-A559-4A4C-AB7B-1D5744E0476A}"/>
              </a:ext>
            </a:extLst>
          </p:cNvPr>
          <p:cNvSpPr>
            <a:spLocks noGrp="1"/>
          </p:cNvSpPr>
          <p:nvPr/>
        </p:nvSpPr>
        <p:spPr>
          <a:xfrm>
            <a:off x="933450" y="2762250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425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Fine-tuned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3381486-2316-401D-BD88-90DC48D85C1E}"/>
              </a:ext>
            </a:extLst>
          </p:cNvPr>
          <p:cNvSpPr>
            <a:spLocks noGrp="1"/>
          </p:cNvSpPr>
          <p:nvPr/>
        </p:nvSpPr>
        <p:spPr>
          <a:xfrm>
            <a:off x="933450" y="3095625"/>
            <a:ext cx="2952750" cy="209550"/>
          </a:xfrm>
          <a:prstGeom prst="roundRect">
            <a:avLst>
              <a:gd name="adj" fmla="val 18182"/>
            </a:avLst>
          </a:prstGeom>
          <a:solidFill>
            <a:srgbClr val="F3F5F7"/>
          </a:solidFill>
          <a:ln w="0">
            <a:noFill/>
            <a:prstDash val="solid"/>
          </a:ln>
        </p:spPr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FAFE527-E1AA-4506-BAA6-4BBBD5B0EC45}"/>
              </a:ext>
            </a:extLst>
          </p:cNvPr>
          <p:cNvSpPr>
            <a:spLocks noGrp="1"/>
          </p:cNvSpPr>
          <p:nvPr/>
        </p:nvSpPr>
        <p:spPr>
          <a:xfrm>
            <a:off x="933450" y="3095625"/>
            <a:ext cx="2362200" cy="209550"/>
          </a:xfrm>
          <a:prstGeom prst="roundRect">
            <a:avLst>
              <a:gd name="adj" fmla="val 18182"/>
            </a:avLst>
          </a:prstGeom>
          <a:solidFill>
            <a:srgbClr val="26734D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32F446-AD68-4AEB-A341-7CFC7D03A61A}"/>
              </a:ext>
            </a:extLst>
          </p:cNvPr>
          <p:cNvSpPr>
            <a:spLocks noGrp="1"/>
          </p:cNvSpPr>
          <p:nvPr/>
        </p:nvSpPr>
        <p:spPr>
          <a:xfrm>
            <a:off x="4019550" y="3057525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08000"/>
              </a:lnSpc>
              <a:buNone/>
              <a:defRPr sz="1725" b="1" i="0">
                <a:solidFill>
                  <a:srgbClr val="2673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6734D"/>
                </a:solidFill>
                <a:latin typeface="Helvetica Neue"/>
                <a:ea typeface="Helvetica Neue"/>
                <a:cs typeface="Helvetica Neue"/>
              </a:rPr>
              <a:t>40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4ACE53-2A45-4FD4-BD7E-C5BA647579D2}"/>
              </a:ext>
            </a:extLst>
          </p:cNvPr>
          <p:cNvSpPr>
            <a:spLocks noGrp="1"/>
          </p:cNvSpPr>
          <p:nvPr/>
        </p:nvSpPr>
        <p:spPr>
          <a:xfrm>
            <a:off x="933450" y="347662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425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Base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B4C8439-C01F-4B3F-951B-8B0DFA9DC303}"/>
              </a:ext>
            </a:extLst>
          </p:cNvPr>
          <p:cNvSpPr>
            <a:spLocks noGrp="1"/>
          </p:cNvSpPr>
          <p:nvPr/>
        </p:nvSpPr>
        <p:spPr>
          <a:xfrm>
            <a:off x="933450" y="3810000"/>
            <a:ext cx="2952750" cy="209550"/>
          </a:xfrm>
          <a:prstGeom prst="roundRect">
            <a:avLst>
              <a:gd name="adj" fmla="val 18182"/>
            </a:avLst>
          </a:prstGeom>
          <a:solidFill>
            <a:srgbClr val="F3F5F7"/>
          </a:solidFill>
          <a:ln w="0">
            <a:noFill/>
            <a:prstDash val="solid"/>
          </a:ln>
        </p:spPr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803D85D-E31E-4A6C-9BEE-DE7C49AB8B9C}"/>
              </a:ext>
            </a:extLst>
          </p:cNvPr>
          <p:cNvSpPr>
            <a:spLocks noGrp="1"/>
          </p:cNvSpPr>
          <p:nvPr/>
        </p:nvSpPr>
        <p:spPr>
          <a:xfrm>
            <a:off x="933450" y="3810000"/>
            <a:ext cx="1653540" cy="209550"/>
          </a:xfrm>
          <a:prstGeom prst="roundRect">
            <a:avLst>
              <a:gd name="adj" fmla="val 18182"/>
            </a:avLst>
          </a:prstGeom>
          <a:solidFill>
            <a:srgbClr val="B84444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2332D7-4D06-42E1-BC53-4B9789857213}"/>
              </a:ext>
            </a:extLst>
          </p:cNvPr>
          <p:cNvSpPr>
            <a:spLocks noGrp="1"/>
          </p:cNvSpPr>
          <p:nvPr/>
        </p:nvSpPr>
        <p:spPr>
          <a:xfrm>
            <a:off x="4019550" y="3771900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08000"/>
              </a:lnSpc>
              <a:buNone/>
              <a:defRPr sz="1725" b="1" i="0">
                <a:solidFill>
                  <a:srgbClr val="B8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B84444"/>
                </a:solidFill>
                <a:latin typeface="Helvetica Neue"/>
                <a:ea typeface="Helvetica Neue"/>
                <a:cs typeface="Helvetica Neue"/>
              </a:rPr>
              <a:t>28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8E282A-4F6C-4387-97A1-8A8EEA2AA453}"/>
              </a:ext>
            </a:extLst>
          </p:cNvPr>
          <p:cNvSpPr>
            <a:spLocks noGrp="1"/>
          </p:cNvSpPr>
          <p:nvPr/>
        </p:nvSpPr>
        <p:spPr>
          <a:xfrm>
            <a:off x="933450" y="42957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42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32 ties  •  Fine-tuned margin: +12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F3A666E-AE13-43BE-B95F-5B6EF1A3532D}"/>
              </a:ext>
            </a:extLst>
          </p:cNvPr>
          <p:cNvSpPr>
            <a:spLocks noGrp="1"/>
          </p:cNvSpPr>
          <p:nvPr/>
        </p:nvSpPr>
        <p:spPr>
          <a:xfrm>
            <a:off x="6610350" y="1562100"/>
            <a:ext cx="4895850" cy="3429000"/>
          </a:xfrm>
          <a:prstGeom prst="roundRect">
            <a:avLst>
              <a:gd name="adj" fmla="val 1667"/>
            </a:avLst>
          </a:prstGeom>
          <a:solidFill>
            <a:srgbClr val="EAF6F4"/>
          </a:solidFill>
          <a:ln w="9525">
            <a:solidFill>
              <a:srgbClr val="0F7A7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CE6D91-2283-4E33-B112-5307844908A4}"/>
              </a:ext>
            </a:extLst>
          </p:cNvPr>
          <p:cNvSpPr>
            <a:spLocks noGrp="1"/>
          </p:cNvSpPr>
          <p:nvPr/>
        </p:nvSpPr>
        <p:spPr>
          <a:xfrm>
            <a:off x="6858000" y="18478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GPT-5.6 Luna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931467-E8F8-4065-921C-B0DFA37303F6}"/>
              </a:ext>
            </a:extLst>
          </p:cNvPr>
          <p:cNvSpPr>
            <a:spLocks noGrp="1"/>
          </p:cNvSpPr>
          <p:nvPr/>
        </p:nvSpPr>
        <p:spPr>
          <a:xfrm>
            <a:off x="6858000" y="22098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One strict A/B choice per prompt; no tie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C0AF71-894E-4497-B440-A516CA3B1473}"/>
              </a:ext>
            </a:extLst>
          </p:cNvPr>
          <p:cNvSpPr>
            <a:spLocks noGrp="1"/>
          </p:cNvSpPr>
          <p:nvPr/>
        </p:nvSpPr>
        <p:spPr>
          <a:xfrm>
            <a:off x="6858000" y="2743200"/>
            <a:ext cx="1905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51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55%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EB8362-A9B2-4816-AF72-1794F1971AAC}"/>
              </a:ext>
            </a:extLst>
          </p:cNvPr>
          <p:cNvSpPr>
            <a:spLocks noGrp="1"/>
          </p:cNvSpPr>
          <p:nvPr/>
        </p:nvSpPr>
        <p:spPr>
          <a:xfrm>
            <a:off x="6896100" y="3571875"/>
            <a:ext cx="238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fine-tuned win rate</a:t>
            </a:r>
          </a:p>
          <a:p>
            <a:pPr algn="l">
              <a:lnSpc>
                <a:spcPct val="108000"/>
              </a:lnSpc>
              <a:buNone/>
              <a:defRPr sz="1800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(55 wins vs 45)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30AB22D-890A-4127-9CE8-C781CD1B1CF5}"/>
              </a:ext>
            </a:extLst>
          </p:cNvPr>
          <p:cNvSpPr>
            <a:spLocks noGrp="1"/>
          </p:cNvSpPr>
          <p:nvPr/>
        </p:nvSpPr>
        <p:spPr>
          <a:xfrm>
            <a:off x="6858000" y="4400550"/>
            <a:ext cx="3667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42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Positive but modest improvement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D45CB1-C647-4AB5-9701-E9B2E71061D2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10763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0000"/>
              </a:lnSpc>
              <a:buNone/>
              <a:defRPr sz="1800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Interpretation: both views favor the fine-tuned model, but human comparison remains the most important next confirmation.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8C1D0416-8415-4389-8E8D-727AB9F76FE4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CCD3DA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5F14295-2E22-4EDD-82FB-475F23D4DC9E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Bangla Preference Dataset Project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2C21FD7-7C59-4F1B-BDDF-F2CD7ABA854F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35531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F6CB58D-3F1A-4715-9F42-7380312C1721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97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BANGLA PREFERENCE DATASET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94D418-17DE-46C7-B243-C6C96721D9CA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31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Examples 1 &amp; 2: correctness and relevance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AADE1F5B-0014-49F7-A1C7-6C83C05D73EB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0"/>
          </a:xfrm>
          <a:prstGeom prst="line">
            <a:avLst/>
          </a:prstGeom>
          <a:noFill/>
          <a:ln w="9525">
            <a:solidFill>
              <a:srgbClr val="CCD3DA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BCDA6E-07A1-49B0-A4B5-FA35D7D4C310}"/>
              </a:ext>
            </a:extLst>
          </p:cNvPr>
          <p:cNvSpPr>
            <a:spLocks noGrp="1"/>
          </p:cNvSpPr>
          <p:nvPr/>
        </p:nvSpPr>
        <p:spPr>
          <a:xfrm>
            <a:off x="609600" y="1476375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Mathematics — “45 runs + 33 runs = total?”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C56CADD-D177-4E82-AFC4-50576251A60E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5200650" cy="1390650"/>
          </a:xfrm>
          <a:prstGeom prst="roundRect">
            <a:avLst>
              <a:gd name="adj" fmla="val 4110"/>
            </a:avLst>
          </a:prstGeom>
          <a:solidFill>
            <a:srgbClr val="FFF0F0"/>
          </a:solidFill>
          <a:ln w="9525">
            <a:solidFill>
              <a:srgbClr val="B84444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3F4F9D-DF05-4A7F-B226-5F128D8622A9}"/>
              </a:ext>
            </a:extLst>
          </p:cNvPr>
          <p:cNvSpPr>
            <a:spLocks noGrp="1"/>
          </p:cNvSpPr>
          <p:nvPr/>
        </p:nvSpPr>
        <p:spPr>
          <a:xfrm>
            <a:off x="742950" y="1981200"/>
            <a:ext cx="493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B8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B84444"/>
                </a:solidFill>
                <a:latin typeface="Helvetica Neue"/>
                <a:ea typeface="Helvetica Neue"/>
                <a:cs typeface="Helvetica Neue"/>
              </a:rPr>
              <a:t>Before • base model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45410C-4684-4072-BD3A-7B9B44CEE61C}"/>
              </a:ext>
            </a:extLst>
          </p:cNvPr>
          <p:cNvSpPr>
            <a:spLocks noGrp="1"/>
          </p:cNvSpPr>
          <p:nvPr/>
        </p:nvSpPr>
        <p:spPr>
          <a:xfrm>
            <a:off x="742950" y="2286000"/>
            <a:ext cx="49339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4000"/>
              </a:lnSpc>
              <a:buNone/>
              <a:def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defRPr>
            </a:pPr>
            <a:r>
              <a: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rPr>
              <a:t>৪৫ + ৩৩ = ৫৫</a:t>
            </a:r>
          </a:p>
          <a:p>
            <a:pPr algn="l">
              <a:lnSpc>
                <a:spcPct val="104000"/>
              </a:lnSpc>
              <a:buNone/>
              <a:def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defRPr>
            </a:pPr>
            <a:r>
              <a: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rPr>
              <a:t>সুতরাং, দুই দল মিলে মোট ৫৫ রান করেছে।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40A90D9-E718-4C58-9B73-88CF1E6D8ABB}"/>
              </a:ext>
            </a:extLst>
          </p:cNvPr>
          <p:cNvSpPr>
            <a:spLocks noGrp="1"/>
          </p:cNvSpPr>
          <p:nvPr/>
        </p:nvSpPr>
        <p:spPr>
          <a:xfrm>
            <a:off x="6229350" y="1885950"/>
            <a:ext cx="5200650" cy="1390650"/>
          </a:xfrm>
          <a:prstGeom prst="roundRect">
            <a:avLst>
              <a:gd name="adj" fmla="val 4110"/>
            </a:avLst>
          </a:prstGeom>
          <a:solidFill>
            <a:srgbClr val="EEF8F0"/>
          </a:solidFill>
          <a:ln w="9525">
            <a:solidFill>
              <a:srgbClr val="26734D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9DB0CD-25A8-414B-92C9-3BC51FE9E837}"/>
              </a:ext>
            </a:extLst>
          </p:cNvPr>
          <p:cNvSpPr>
            <a:spLocks noGrp="1"/>
          </p:cNvSpPr>
          <p:nvPr/>
        </p:nvSpPr>
        <p:spPr>
          <a:xfrm>
            <a:off x="6362700" y="1981200"/>
            <a:ext cx="493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2673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26734D"/>
                </a:solidFill>
                <a:latin typeface="Helvetica Neue"/>
                <a:ea typeface="Helvetica Neue"/>
                <a:cs typeface="Helvetica Neue"/>
              </a:rPr>
              <a:t>After • fine-tuned model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447C61-C7FC-4439-BB60-3A3126138C83}"/>
              </a:ext>
            </a:extLst>
          </p:cNvPr>
          <p:cNvSpPr>
            <a:spLocks noGrp="1"/>
          </p:cNvSpPr>
          <p:nvPr/>
        </p:nvSpPr>
        <p:spPr>
          <a:xfrm>
            <a:off x="6362700" y="2286000"/>
            <a:ext cx="49339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defRPr>
            </a:pPr>
            <a:r>
              <a: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rPr>
              <a:t>৪৫ + ৩৩ = </a:t>
            </a:r>
            <a:r>
              <a:rPr sz="1575">
                <a:solidFill>
                  <a:srgbClr val="17212F"/>
                </a:solidFill>
                <a:latin typeface="Kalpurush"/>
                <a:ea typeface="Kalpurush"/>
                <a:cs typeface="Kalpurush"/>
              </a:rPr>
              <a:t>৭৮</a:t>
            </a:r>
            <a:endParaRPr sz="1575" b="0" i="0">
              <a:solidFill>
                <a:srgbClr val="17212F"/>
              </a:solidFill>
              <a:latin typeface="Kalpurush"/>
              <a:ea typeface="Kalpurush"/>
              <a:cs typeface="Kalpurush"/>
            </a:endParaRPr>
          </a:p>
          <a:p>
            <a:pPr>
              <a:buNone/>
              <a:def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defRPr>
            </a:pPr>
            <a:r>
              <a: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rPr>
              <a:t>মোট </a:t>
            </a:r>
            <a:r>
              <a:rPr sz="1575">
                <a:solidFill>
                  <a:srgbClr val="17212F"/>
                </a:solidFill>
                <a:latin typeface="Kalpurush"/>
                <a:ea typeface="Kalpurush"/>
                <a:cs typeface="Kalpurush"/>
              </a:rPr>
              <a:t>৭৮</a:t>
            </a:r>
            <a:r>
              <a: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rPr>
              <a:t> রান হয়েছে।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2EA561-1267-42BD-B0F5-576F17E0F1C5}"/>
              </a:ext>
            </a:extLst>
          </p:cNvPr>
          <p:cNvSpPr>
            <a:spLocks noGrp="1"/>
          </p:cNvSpPr>
          <p:nvPr/>
        </p:nvSpPr>
        <p:spPr>
          <a:xfrm>
            <a:off x="609600" y="3362325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42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Visible change: the arithmetic result is corrected.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EBB6A7-3D2E-459B-BF7A-E46924225CE5}"/>
              </a:ext>
            </a:extLst>
          </p:cNvPr>
          <p:cNvSpPr>
            <a:spLocks noGrp="1"/>
          </p:cNvSpPr>
          <p:nvPr/>
        </p:nvSpPr>
        <p:spPr>
          <a:xfrm>
            <a:off x="609600" y="4067175"/>
            <a:ext cx="695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Sports — “What could a weekly fencing training plan look like?”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96355BB-1666-4BE6-9835-1A5E2C0026BE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5200650" cy="1390650"/>
          </a:xfrm>
          <a:prstGeom prst="roundRect">
            <a:avLst>
              <a:gd name="adj" fmla="val 4110"/>
            </a:avLst>
          </a:prstGeom>
          <a:solidFill>
            <a:srgbClr val="FFF0F0"/>
          </a:solidFill>
          <a:ln w="9525">
            <a:solidFill>
              <a:srgbClr val="B84444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ABE496-950E-46EE-9F6F-C0626E97EC59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493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B8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B84444"/>
                </a:solidFill>
                <a:latin typeface="Helvetica Neue"/>
                <a:ea typeface="Helvetica Neue"/>
                <a:cs typeface="Helvetica Neue"/>
              </a:rPr>
              <a:t>Before • base model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FBFD36-4D6E-462C-8ADC-AFADD1319077}"/>
              </a:ext>
            </a:extLst>
          </p:cNvPr>
          <p:cNvSpPr>
            <a:spLocks noGrp="1"/>
          </p:cNvSpPr>
          <p:nvPr/>
        </p:nvSpPr>
        <p:spPr>
          <a:xfrm>
            <a:off x="742950" y="4876800"/>
            <a:ext cx="49339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4000"/>
              </a:lnSpc>
              <a:buNone/>
              <a:def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defRPr>
            </a:pPr>
            <a:r>
              <a: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rPr>
              <a:t>সকার পজিশন: সেন্টার, ডাম, ব্যাক।</a:t>
            </a:r>
          </a:p>
          <a:p>
            <a:pPr algn="l">
              <a:lnSpc>
                <a:spcPct val="104000"/>
              </a:lnSpc>
              <a:buNone/>
              <a:def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defRPr>
            </a:pPr>
            <a:r>
              <a: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rPr>
              <a:t>বিভিন্ন ধরনের স্কিন এবং শটের অনুশীলন।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606D66F-2F48-480D-8D91-08CA64A84753}"/>
              </a:ext>
            </a:extLst>
          </p:cNvPr>
          <p:cNvSpPr>
            <a:spLocks noGrp="1"/>
          </p:cNvSpPr>
          <p:nvPr/>
        </p:nvSpPr>
        <p:spPr>
          <a:xfrm>
            <a:off x="6229350" y="4476750"/>
            <a:ext cx="5200650" cy="1390650"/>
          </a:xfrm>
          <a:prstGeom prst="roundRect">
            <a:avLst>
              <a:gd name="adj" fmla="val 4110"/>
            </a:avLst>
          </a:prstGeom>
          <a:solidFill>
            <a:srgbClr val="EEF8F0"/>
          </a:solidFill>
          <a:ln w="9525">
            <a:solidFill>
              <a:srgbClr val="26734D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86F9EB-A836-4597-A887-85168C29FCD1}"/>
              </a:ext>
            </a:extLst>
          </p:cNvPr>
          <p:cNvSpPr>
            <a:spLocks noGrp="1"/>
          </p:cNvSpPr>
          <p:nvPr/>
        </p:nvSpPr>
        <p:spPr>
          <a:xfrm>
            <a:off x="6362700" y="4572000"/>
            <a:ext cx="493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2673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26734D"/>
                </a:solidFill>
                <a:latin typeface="Helvetica Neue"/>
                <a:ea typeface="Helvetica Neue"/>
                <a:cs typeface="Helvetica Neue"/>
              </a:rPr>
              <a:t>After • fine-tuned model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56A979-5AAE-45CD-8D12-9E0A2EC0F62A}"/>
              </a:ext>
            </a:extLst>
          </p:cNvPr>
          <p:cNvSpPr>
            <a:spLocks noGrp="1"/>
          </p:cNvSpPr>
          <p:nvPr/>
        </p:nvSpPr>
        <p:spPr>
          <a:xfrm>
            <a:off x="6362700" y="4876800"/>
            <a:ext cx="49339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4000"/>
              </a:lnSpc>
              <a:buNone/>
              <a:def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defRPr>
            </a:pPr>
            <a:r>
              <a: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rPr>
              <a:t>দৌড়, জাম্পিং ও স্ট্রেচিং।</a:t>
            </a:r>
          </a:p>
          <a:p>
            <a:pPr algn="l">
              <a:lnSpc>
                <a:spcPct val="104000"/>
              </a:lnSpc>
              <a:buNone/>
              <a:def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defRPr>
            </a:pPr>
            <a:r>
              <a: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rPr>
              <a:t>ম্যাচ বা সিমুলেশন অনুশীলন।</a:t>
            </a:r>
          </a:p>
          <a:p>
            <a:pPr algn="l">
              <a:lnSpc>
                <a:spcPct val="104000"/>
              </a:lnSpc>
              <a:buNone/>
              <a:def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defRPr>
            </a:pPr>
            <a:r>
              <a: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rPr>
              <a:t>ভিডিও বিশ্লেষণ থেকে নতুন কৌশল শেখা।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A14F45D-6057-4452-9373-6467209B2E99}"/>
              </a:ext>
            </a:extLst>
          </p:cNvPr>
          <p:cNvSpPr>
            <a:spLocks noGrp="1"/>
          </p:cNvSpPr>
          <p:nvPr/>
        </p:nvSpPr>
        <p:spPr>
          <a:xfrm>
            <a:off x="609600" y="5972175"/>
            <a:ext cx="1047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Visible change: unrelated football terms are replaced by a fencing-relevant practice plan.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23596C1F-D9FB-486A-9A7E-7F75994BF35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CCD3DA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EF4CCE-FF4D-4EE0-A469-4A42584C4F88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Bangla Preference Dataset Project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1D3157-8A5A-4075-8B32-506EC65983C4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725600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A6BFC18-69CC-4007-A8A7-9D7B2CB2ED60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97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BANGLA PREFERENCE DATASET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8ABCA3-7FDE-4222-ACFB-49E34DCE9296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31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Examples 3 &amp; 4: clearer explanations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28E80452-3FE2-4F5E-A5F7-75D95D6CF38D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0"/>
          </a:xfrm>
          <a:prstGeom prst="line">
            <a:avLst/>
          </a:prstGeom>
          <a:noFill/>
          <a:ln w="9525">
            <a:solidFill>
              <a:srgbClr val="CCD3DA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8C8B82-7877-40A9-B73D-A5A75565FA58}"/>
              </a:ext>
            </a:extLst>
          </p:cNvPr>
          <p:cNvSpPr>
            <a:spLocks noGrp="1"/>
          </p:cNvSpPr>
          <p:nvPr/>
        </p:nvSpPr>
        <p:spPr>
          <a:xfrm>
            <a:off x="609600" y="1476375"/>
            <a:ext cx="659408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Education — “Explain electric current simply for my child.”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F684304-A93D-43E1-8B5B-5AAA33DE102D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5200650" cy="1390650"/>
          </a:xfrm>
          <a:prstGeom prst="roundRect">
            <a:avLst>
              <a:gd name="adj" fmla="val 4110"/>
            </a:avLst>
          </a:prstGeom>
          <a:solidFill>
            <a:srgbClr val="FFF0F0"/>
          </a:solidFill>
          <a:ln w="9525">
            <a:solidFill>
              <a:srgbClr val="B8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FFB10F-AF89-481D-95BA-697A498D3385}"/>
              </a:ext>
            </a:extLst>
          </p:cNvPr>
          <p:cNvSpPr>
            <a:spLocks noGrp="1"/>
          </p:cNvSpPr>
          <p:nvPr/>
        </p:nvSpPr>
        <p:spPr>
          <a:xfrm>
            <a:off x="742950" y="1981200"/>
            <a:ext cx="493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B8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B84444"/>
                </a:solidFill>
                <a:latin typeface="Helvetica Neue"/>
                <a:ea typeface="Helvetica Neue"/>
                <a:cs typeface="Helvetica Neue"/>
              </a:rPr>
              <a:t>Before • base model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14904A-3359-4E93-9257-B79FE68B2A50}"/>
              </a:ext>
            </a:extLst>
          </p:cNvPr>
          <p:cNvSpPr>
            <a:spLocks noGrp="1"/>
          </p:cNvSpPr>
          <p:nvPr/>
        </p:nvSpPr>
        <p:spPr>
          <a:xfrm>
            <a:off x="742950" y="2286000"/>
            <a:ext cx="49339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4000"/>
              </a:lnSpc>
              <a:buNone/>
              <a:def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defRPr>
            </a:pPr>
            <a:r>
              <a: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rPr>
              <a:t>তড়িৎ প্রবাহের উৎস হতে পারে:</a:t>
            </a:r>
          </a:p>
          <a:p>
            <a:pPr algn="l">
              <a:lnSpc>
                <a:spcPct val="104000"/>
              </a:lnSpc>
              <a:buNone/>
              <a:def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defRPr>
            </a:pPr>
            <a:r>
              <a: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rPr>
              <a:t>লাইট বাল্ব, কম্পিউটার, মোবাইল ফোন।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0E0F68C-582F-47D8-9A1E-AE18AAE5182D}"/>
              </a:ext>
            </a:extLst>
          </p:cNvPr>
          <p:cNvSpPr>
            <a:spLocks noGrp="1"/>
          </p:cNvSpPr>
          <p:nvPr/>
        </p:nvSpPr>
        <p:spPr>
          <a:xfrm>
            <a:off x="6229350" y="1885950"/>
            <a:ext cx="5200650" cy="1390650"/>
          </a:xfrm>
          <a:prstGeom prst="roundRect">
            <a:avLst>
              <a:gd name="adj" fmla="val 4110"/>
            </a:avLst>
          </a:prstGeom>
          <a:solidFill>
            <a:srgbClr val="EEF8F0"/>
          </a:solidFill>
          <a:ln w="9525">
            <a:solidFill>
              <a:srgbClr val="26734D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663AF4-6A13-4D52-96AD-85FA89EFDA30}"/>
              </a:ext>
            </a:extLst>
          </p:cNvPr>
          <p:cNvSpPr>
            <a:spLocks noGrp="1"/>
          </p:cNvSpPr>
          <p:nvPr/>
        </p:nvSpPr>
        <p:spPr>
          <a:xfrm>
            <a:off x="6362700" y="1981200"/>
            <a:ext cx="493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2673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26734D"/>
                </a:solidFill>
                <a:latin typeface="Helvetica Neue"/>
                <a:ea typeface="Helvetica Neue"/>
                <a:cs typeface="Helvetica Neue"/>
              </a:rPr>
              <a:t>After • fine-tuned model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435ED0-6B77-4BC4-8AD9-3DE4209A4C70}"/>
              </a:ext>
            </a:extLst>
          </p:cNvPr>
          <p:cNvSpPr>
            <a:spLocks noGrp="1"/>
          </p:cNvSpPr>
          <p:nvPr/>
        </p:nvSpPr>
        <p:spPr>
          <a:xfrm>
            <a:off x="6362700" y="2286000"/>
            <a:ext cx="49339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4000"/>
              </a:lnSpc>
              <a:buNone/>
              <a:def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defRPr>
            </a:pPr>
            <a:r>
              <a: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rPr>
              <a:t>বিদ্যুৎ উৎস: ব্যাটারি বা জেনারেটর।</a:t>
            </a:r>
          </a:p>
          <a:p>
            <a:pPr algn="l">
              <a:lnSpc>
                <a:spcPct val="104000"/>
              </a:lnSpc>
              <a:buNone/>
              <a:def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defRPr>
            </a:pPr>
            <a:r>
              <a: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rPr>
              <a:t>পরিবাহী পদার্থ: তার।</a:t>
            </a:r>
          </a:p>
          <a:p>
            <a:pPr algn="l">
              <a:lnSpc>
                <a:spcPct val="104000"/>
              </a:lnSpc>
              <a:buNone/>
              <a:def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defRPr>
            </a:pPr>
            <a:r>
              <a: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rPr>
              <a:t>তার দিয়ে বিদ্যুৎ চললে তড়িৎ প্রবাহ সৃষ্টি হয়।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F7858C-1D6F-4888-BC09-3C0B1C1C5707}"/>
              </a:ext>
            </a:extLst>
          </p:cNvPr>
          <p:cNvSpPr>
            <a:spLocks noGrp="1"/>
          </p:cNvSpPr>
          <p:nvPr/>
        </p:nvSpPr>
        <p:spPr>
          <a:xfrm>
            <a:off x="609600" y="3362325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42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Visible change: the fine-tuned answer distinguishes an energy source from a conductor.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99B57ED3-0604-4B4A-8F36-7F816091A83B}"/>
              </a:ext>
            </a:extLst>
          </p:cNvPr>
          <p:cNvSpPr>
            <a:spLocks noGrp="1"/>
          </p:cNvSpPr>
          <p:nvPr/>
        </p:nvSpPr>
        <p:spPr>
          <a:xfrm>
            <a:off x="609600" y="3838575"/>
            <a:ext cx="10972800" cy="0"/>
          </a:xfrm>
          <a:prstGeom prst="line">
            <a:avLst/>
          </a:prstGeom>
          <a:noFill/>
          <a:ln w="9525">
            <a:solidFill>
              <a:srgbClr val="CCD3D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B2F269-A920-4AD8-9608-1256EAD423AF}"/>
              </a:ext>
            </a:extLst>
          </p:cNvPr>
          <p:cNvSpPr>
            <a:spLocks noGrp="1"/>
          </p:cNvSpPr>
          <p:nvPr/>
        </p:nvSpPr>
        <p:spPr>
          <a:xfrm>
            <a:off x="609599" y="4067175"/>
            <a:ext cx="677250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725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Economics — “Explain classical economics in simple words.”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396FC04-2D7D-4CF4-B3C3-4AD4D6017B3B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5200650" cy="1390650"/>
          </a:xfrm>
          <a:prstGeom prst="roundRect">
            <a:avLst>
              <a:gd name="adj" fmla="val 4110"/>
            </a:avLst>
          </a:prstGeom>
          <a:solidFill>
            <a:srgbClr val="FFF0F0"/>
          </a:solidFill>
          <a:ln w="9525">
            <a:solidFill>
              <a:srgbClr val="B84444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D41BE4-77EE-47D2-AF76-D8A05E33A2D8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493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B8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B84444"/>
                </a:solidFill>
                <a:latin typeface="Helvetica Neue"/>
                <a:ea typeface="Helvetica Neue"/>
                <a:cs typeface="Helvetica Neue"/>
              </a:rPr>
              <a:t>Before • base model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E581CA-C7EF-4C76-B347-5FCEA829135D}"/>
              </a:ext>
            </a:extLst>
          </p:cNvPr>
          <p:cNvSpPr>
            <a:spLocks noGrp="1"/>
          </p:cNvSpPr>
          <p:nvPr/>
        </p:nvSpPr>
        <p:spPr>
          <a:xfrm>
            <a:off x="742950" y="4876800"/>
            <a:ext cx="49339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4000"/>
              </a:lnSpc>
              <a:buNone/>
              <a:def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defRPr>
            </a:pPr>
            <a:r>
              <a: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rPr>
              <a:t>অ্যাকাডেমি মডেল: নির্দিষ্ট নিয়ম ও শর্ত।</a:t>
            </a:r>
          </a:p>
          <a:p>
            <a:pPr algn="l">
              <a:lnSpc>
                <a:spcPct val="104000"/>
              </a:lnSpc>
              <a:buNone/>
              <a:def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defRPr>
            </a:pPr>
            <a:r>
              <a: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rPr>
              <a:t>গাণিতিক মডেল: সংখ্যা ও সূত্র ব্যবহার।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F2D9764-F210-468F-A91A-89321893D899}"/>
              </a:ext>
            </a:extLst>
          </p:cNvPr>
          <p:cNvSpPr>
            <a:spLocks noGrp="1"/>
          </p:cNvSpPr>
          <p:nvPr/>
        </p:nvSpPr>
        <p:spPr>
          <a:xfrm>
            <a:off x="6229350" y="4476750"/>
            <a:ext cx="5200650" cy="1390650"/>
          </a:xfrm>
          <a:prstGeom prst="roundRect">
            <a:avLst>
              <a:gd name="adj" fmla="val 4110"/>
            </a:avLst>
          </a:prstGeom>
          <a:solidFill>
            <a:srgbClr val="EEF8F0"/>
          </a:solidFill>
          <a:ln w="9525">
            <a:solidFill>
              <a:srgbClr val="26734D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534522-7F27-4D84-9B9E-CEEDB1663808}"/>
              </a:ext>
            </a:extLst>
          </p:cNvPr>
          <p:cNvSpPr>
            <a:spLocks noGrp="1"/>
          </p:cNvSpPr>
          <p:nvPr/>
        </p:nvSpPr>
        <p:spPr>
          <a:xfrm>
            <a:off x="6362700" y="4572000"/>
            <a:ext cx="493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2673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26734D"/>
                </a:solidFill>
                <a:latin typeface="Helvetica Neue"/>
                <a:ea typeface="Helvetica Neue"/>
                <a:cs typeface="Helvetica Neue"/>
              </a:rPr>
              <a:t>After • fine-tuned model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B6C745-E965-4AA6-87E2-3C8C882E7233}"/>
              </a:ext>
            </a:extLst>
          </p:cNvPr>
          <p:cNvSpPr>
            <a:spLocks noGrp="1"/>
          </p:cNvSpPr>
          <p:nvPr/>
        </p:nvSpPr>
        <p:spPr>
          <a:xfrm>
            <a:off x="6362700" y="4876800"/>
            <a:ext cx="49339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4000"/>
              </a:lnSpc>
              <a:buNone/>
              <a:def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defRPr>
            </a:pPr>
            <a:r>
              <a: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rPr>
              <a:t>চাহিদা বেশি ও সরবরাহ কম হলে দাম বাড়ে।</a:t>
            </a:r>
          </a:p>
          <a:p>
            <a:pPr algn="l">
              <a:lnSpc>
                <a:spcPct val="104000"/>
              </a:lnSpc>
              <a:buNone/>
              <a:def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defRPr>
            </a:pPr>
            <a:r>
              <a: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rPr>
              <a:t>সরবরাহ বেশি ও চাহিদা কম হলে দাম কমে।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266881D-736B-43B7-BBBD-7D3E44C552E7}"/>
              </a:ext>
            </a:extLst>
          </p:cNvPr>
          <p:cNvSpPr>
            <a:spLocks noGrp="1"/>
          </p:cNvSpPr>
          <p:nvPr/>
        </p:nvSpPr>
        <p:spPr>
          <a:xfrm>
            <a:off x="609600" y="5972175"/>
            <a:ext cx="1047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Visible change: vague labels are replaced by familiar demand–supply mechanisms.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38E62000-BE8E-4FEE-9550-72C8415ED96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CCD3DA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CB7B64-AF20-4EA6-AB84-1BEE267D4DA4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Bangla Preference Dataset Project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5DBBF3-022F-47CC-BE8E-36F61CB0F318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4094477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104CA7D-A043-4ED1-A3C2-3A8C77A35E0D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97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BANGLA PREFERENCE DATASET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1D8D3B-D6AB-4BCA-A615-6CA9FFFFC836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31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Programming practice becomes more achievable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B7B567F1-F078-4B32-818D-D1239F92177E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0"/>
          </a:xfrm>
          <a:prstGeom prst="line">
            <a:avLst/>
          </a:prstGeom>
          <a:noFill/>
          <a:ln w="9525">
            <a:solidFill>
              <a:srgbClr val="CCD3DA"/>
            </a:solidFill>
            <a:prstDash val="solid"/>
          </a:ln>
        </p:spPr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99D406B-F21F-4D89-9262-E09081D1A9A5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685800"/>
          </a:xfrm>
          <a:prstGeom prst="roundRect">
            <a:avLst>
              <a:gd name="adj" fmla="val 6944"/>
            </a:avLst>
          </a:prstGeom>
          <a:solidFill>
            <a:srgbClr val="EAF4FF"/>
          </a:solidFill>
          <a:ln w="9525">
            <a:solidFill>
              <a:srgbClr val="CCD3D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366C5D-62B5-4C83-9619-B1DCFC4401A4}"/>
              </a:ext>
            </a:extLst>
          </p:cNvPr>
          <p:cNvSpPr>
            <a:spLocks noGrp="1"/>
          </p:cNvSpPr>
          <p:nvPr/>
        </p:nvSpPr>
        <p:spPr>
          <a:xfrm>
            <a:off x="838200" y="1628775"/>
            <a:ext cx="1038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800" b="0" i="0">
                <a:solidFill>
                  <a:srgbClr val="17212F"/>
                </a:solidFill>
                <a:latin typeface="Kalpurush"/>
                <a:ea typeface="Kalpurush"/>
                <a:cs typeface="Kalpurush"/>
              </a:defRPr>
            </a:pPr>
            <a:r>
              <a:rPr sz="1800" b="0" i="0">
                <a:solidFill>
                  <a:srgbClr val="17212F"/>
                </a:solidFill>
                <a:latin typeface="Kalpurush"/>
                <a:ea typeface="Kalpurush"/>
                <a:cs typeface="Kalpurush"/>
              </a:rPr>
              <a:t>Prompt: স্কুলে আইসিটি ক্লাসে প্রোগ্রামিং শেখার ধাপ পড়ানো হচ্ছে, বাসায় কীভাবে চর্চা করব?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82ABE52-DC85-4CF2-B6A8-C5E1A8ACB201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5200650" cy="1962150"/>
          </a:xfrm>
          <a:prstGeom prst="roundRect">
            <a:avLst>
              <a:gd name="adj" fmla="val 2913"/>
            </a:avLst>
          </a:prstGeom>
          <a:solidFill>
            <a:srgbClr val="FFF0F0"/>
          </a:solidFill>
          <a:ln w="9525">
            <a:solidFill>
              <a:srgbClr val="B84444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AB7B22-F7C9-46CD-8A45-9C9C17DB30F4}"/>
              </a:ext>
            </a:extLst>
          </p:cNvPr>
          <p:cNvSpPr>
            <a:spLocks noGrp="1"/>
          </p:cNvSpPr>
          <p:nvPr/>
        </p:nvSpPr>
        <p:spPr>
          <a:xfrm>
            <a:off x="742950" y="2667000"/>
            <a:ext cx="493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B8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B84444"/>
                </a:solidFill>
                <a:latin typeface="Helvetica Neue"/>
                <a:ea typeface="Helvetica Neue"/>
                <a:cs typeface="Helvetica Neue"/>
              </a:rPr>
              <a:t>Before • base model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B1857D-C991-4199-9E4A-ECCF4AADC313}"/>
              </a:ext>
            </a:extLst>
          </p:cNvPr>
          <p:cNvSpPr>
            <a:spLocks noGrp="1"/>
          </p:cNvSpPr>
          <p:nvPr/>
        </p:nvSpPr>
        <p:spPr>
          <a:xfrm>
            <a:off x="742950" y="2971800"/>
            <a:ext cx="493395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4000"/>
              </a:lnSpc>
              <a:buNone/>
              <a:def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defRPr>
            </a:pPr>
            <a:r>
              <a: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rPr>
              <a:t>উন্নত বিষয় শিখুন—অ্যালগরিদম, গ্রাফ থিওরি।</a:t>
            </a:r>
          </a:p>
          <a:p>
            <a:endParaRPr sz="1575" b="0" i="0">
              <a:solidFill>
                <a:srgbClr val="17212F"/>
              </a:solidFill>
              <a:latin typeface="Kalpurush"/>
              <a:ea typeface="Kalpurush"/>
              <a:cs typeface="Kalpurush"/>
            </a:endParaRPr>
          </a:p>
          <a:p>
            <a:pPr algn="l">
              <a:lnSpc>
                <a:spcPct val="104000"/>
              </a:lnSpc>
              <a:buNone/>
              <a:def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defRPr>
            </a:pPr>
            <a:r>
              <a: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rPr>
              <a:t>ছোট প্রকল্প হিসেবে ক্যালকুলেটর, গেম ও ডেটাবেস তৈরি করুন।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067CB5E-FD53-4AF9-9D51-C4F955B7F67A}"/>
              </a:ext>
            </a:extLst>
          </p:cNvPr>
          <p:cNvSpPr>
            <a:spLocks noGrp="1"/>
          </p:cNvSpPr>
          <p:nvPr/>
        </p:nvSpPr>
        <p:spPr>
          <a:xfrm>
            <a:off x="6229350" y="2571750"/>
            <a:ext cx="5200650" cy="1962150"/>
          </a:xfrm>
          <a:prstGeom prst="roundRect">
            <a:avLst>
              <a:gd name="adj" fmla="val 2913"/>
            </a:avLst>
          </a:prstGeom>
          <a:solidFill>
            <a:srgbClr val="EEF8F0"/>
          </a:solidFill>
          <a:ln w="9525">
            <a:solidFill>
              <a:srgbClr val="26734D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1FBA78-5101-486A-BE93-D4BAA501E858}"/>
              </a:ext>
            </a:extLst>
          </p:cNvPr>
          <p:cNvSpPr>
            <a:spLocks noGrp="1"/>
          </p:cNvSpPr>
          <p:nvPr/>
        </p:nvSpPr>
        <p:spPr>
          <a:xfrm>
            <a:off x="6362700" y="2667000"/>
            <a:ext cx="493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2673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26734D"/>
                </a:solidFill>
                <a:latin typeface="Helvetica Neue"/>
                <a:ea typeface="Helvetica Neue"/>
                <a:cs typeface="Helvetica Neue"/>
              </a:rPr>
              <a:t>After • fine-tuned model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CC5E3E-6E0A-4050-BEB8-105F84FDC656}"/>
              </a:ext>
            </a:extLst>
          </p:cNvPr>
          <p:cNvSpPr>
            <a:spLocks noGrp="1"/>
          </p:cNvSpPr>
          <p:nvPr/>
        </p:nvSpPr>
        <p:spPr>
          <a:xfrm>
            <a:off x="6362700" y="2971800"/>
            <a:ext cx="493395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4000"/>
              </a:lnSpc>
              <a:buNone/>
              <a:def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defRPr>
            </a:pPr>
            <a:r>
              <a: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rPr>
              <a:t>প্রথমে একটি প্রোগ্রামিং ভাষা নির্বাচন করুন—পাইথন, জাভা বা সি++।</a:t>
            </a:r>
          </a:p>
          <a:p>
            <a:endParaRPr sz="1575" b="0" i="0">
              <a:solidFill>
                <a:srgbClr val="17212F"/>
              </a:solidFill>
              <a:latin typeface="Kalpurush"/>
              <a:ea typeface="Kalpurush"/>
              <a:cs typeface="Kalpurush"/>
            </a:endParaRPr>
          </a:p>
          <a:p>
            <a:pPr algn="l">
              <a:lnSpc>
                <a:spcPct val="104000"/>
              </a:lnSpc>
              <a:buNone/>
              <a:def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defRPr>
            </a:pPr>
            <a:r>
              <a: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rPr>
              <a:t>অনলাইন কোডিং চ্যালেঞ্জ ও সমস্যা সমাধান করুন।</a:t>
            </a:r>
          </a:p>
          <a:p>
            <a:pPr algn="l">
              <a:lnSpc>
                <a:spcPct val="104000"/>
              </a:lnSpc>
              <a:buNone/>
              <a:def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defRPr>
            </a:pPr>
            <a:r>
              <a:rPr sz="1575" b="0" i="0">
                <a:solidFill>
                  <a:srgbClr val="17212F"/>
                </a:solidFill>
                <a:latin typeface="Kalpurush"/>
                <a:ea typeface="Kalpurush"/>
                <a:cs typeface="Kalpurush"/>
              </a:rPr>
              <a:t>একই ভাষা শেখা বন্ধুদের সঙ্গে আলোচনা করুন।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4E8476-4B41-43F5-9CF1-EE8020B18527}"/>
              </a:ext>
            </a:extLst>
          </p:cNvPr>
          <p:cNvSpPr>
            <a:spLocks noGrp="1"/>
          </p:cNvSpPr>
          <p:nvPr/>
        </p:nvSpPr>
        <p:spPr>
          <a:xfrm>
            <a:off x="609600" y="49720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Visible change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3C841F-7D5C-430C-BB52-A3631F9D1506}"/>
              </a:ext>
            </a:extLst>
          </p:cNvPr>
          <p:cNvSpPr>
            <a:spLocks noGrp="1"/>
          </p:cNvSpPr>
          <p:nvPr/>
        </p:nvSpPr>
        <p:spPr>
          <a:xfrm>
            <a:off x="609600" y="5314950"/>
            <a:ext cx="10334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0000"/>
              </a:lnSpc>
              <a:buNone/>
              <a:defRPr sz="187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The base answer jumps to advanced topics. The fine-tuned answer starts with an achievable choice, practice activity and peer discussion.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AE75D9-4D75-4A5A-8521-31DC016EED7E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382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275" b="0" i="1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1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Illustrative qualitative example; the aggregate claim remains the 100-prompt blind comparison.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1B2F32A4-03B4-4789-944A-E06B011363A3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CCD3DA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6D10AF-CA3D-44D4-A734-BD80DC2D58EB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90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Bangla Preference Dataset Project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93185D-FFA4-4172-87AD-49FFD67E4493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08000"/>
              </a:lnSpc>
              <a:buNone/>
              <a:defRPr sz="900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153604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A8B2AA7-27DD-4867-B3C2-08AC4DEF33A1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876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40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What this project demonstrates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517098A4-47B5-4A2C-9C1F-4A04CDA81025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820400" cy="0"/>
          </a:xfrm>
          <a:prstGeom prst="line">
            <a:avLst/>
          </a:prstGeom>
          <a:noFill/>
          <a:ln w="28575">
            <a:solidFill>
              <a:srgbClr val="0F7A7A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46C879-A0BE-4CAA-8EAA-E5A9FE2FA714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609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A0F1D4-BA2E-43C8-9B37-7177AF82B030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3009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4000"/>
              </a:lnSpc>
              <a:buNone/>
              <a:defRPr sz="210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A usable dataset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9E45CF-D6CB-4EE7-9948-2D24AF6D4237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3048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6,254 Bangla prompts</a:t>
            </a:r>
          </a:p>
          <a:p>
            <a:pPr algn="l">
              <a:lnSpc>
                <a:spcPct val="118000"/>
              </a:lnSpc>
              <a:buNone/>
              <a:def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18,762 candidate responses</a:t>
            </a:r>
          </a:p>
          <a:p>
            <a:pPr algn="l">
              <a:lnSpc>
                <a:spcPct val="118000"/>
              </a:lnSpc>
              <a:buNone/>
              <a:def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6 practical domains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269066-1769-40A8-BC01-C5FBBDE4EA65}"/>
              </a:ext>
            </a:extLst>
          </p:cNvPr>
          <p:cNvSpPr>
            <a:spLocks noGrp="1"/>
          </p:cNvSpPr>
          <p:nvPr/>
        </p:nvSpPr>
        <p:spPr>
          <a:xfrm>
            <a:off x="4286250" y="2190750"/>
            <a:ext cx="609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6333B9-B9B0-4357-A4DC-C40A9BEB09B0}"/>
              </a:ext>
            </a:extLst>
          </p:cNvPr>
          <p:cNvSpPr>
            <a:spLocks noGrp="1"/>
          </p:cNvSpPr>
          <p:nvPr/>
        </p:nvSpPr>
        <p:spPr>
          <a:xfrm>
            <a:off x="4286250" y="2781300"/>
            <a:ext cx="3009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4000"/>
              </a:lnSpc>
              <a:buNone/>
              <a:defRPr sz="210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Evidence it is reliable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4E96DC-FB5B-4F10-B591-59F7DAC2B582}"/>
              </a:ext>
            </a:extLst>
          </p:cNvPr>
          <p:cNvSpPr>
            <a:spLocks noGrp="1"/>
          </p:cNvSpPr>
          <p:nvPr/>
        </p:nvSpPr>
        <p:spPr>
          <a:xfrm>
            <a:off x="4286250" y="3505200"/>
            <a:ext cx="3048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Repeated anonymous ranking</a:t>
            </a:r>
          </a:p>
          <a:p>
            <a:pPr algn="l">
              <a:lnSpc>
                <a:spcPct val="118000"/>
              </a:lnSpc>
              <a:buNone/>
              <a:def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~75.7% human pairwise alignment</a:t>
            </a:r>
          </a:p>
          <a:p>
            <a:pPr algn="l">
              <a:lnSpc>
                <a:spcPct val="118000"/>
              </a:lnSpc>
              <a:buNone/>
              <a:def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Strict W = 1.0 filtering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164373-6732-4BEE-BF49-D1C9D2FCB4CD}"/>
              </a:ext>
            </a:extLst>
          </p:cNvPr>
          <p:cNvSpPr>
            <a:spLocks noGrp="1"/>
          </p:cNvSpPr>
          <p:nvPr/>
        </p:nvSpPr>
        <p:spPr>
          <a:xfrm>
            <a:off x="7886700" y="2190750"/>
            <a:ext cx="609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7D1D1C-B4D0-4A1C-A56A-54E658D10B56}"/>
              </a:ext>
            </a:extLst>
          </p:cNvPr>
          <p:cNvSpPr>
            <a:spLocks noGrp="1"/>
          </p:cNvSpPr>
          <p:nvPr/>
        </p:nvSpPr>
        <p:spPr>
          <a:xfrm>
            <a:off x="7886700" y="2781300"/>
            <a:ext cx="3009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4000"/>
              </a:lnSpc>
              <a:buNone/>
              <a:defRPr sz="210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A practical use case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C5F082-0A12-4FFD-AA7D-1E4AFEF14ACB}"/>
              </a:ext>
            </a:extLst>
          </p:cNvPr>
          <p:cNvSpPr>
            <a:spLocks noGrp="1"/>
          </p:cNvSpPr>
          <p:nvPr/>
        </p:nvSpPr>
        <p:spPr>
          <a:xfrm>
            <a:off x="7886700" y="3505200"/>
            <a:ext cx="3048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DPO/QLoRA on TigerLLM-1B</a:t>
            </a:r>
          </a:p>
          <a:p>
            <a:pPr algn="l">
              <a:lnSpc>
                <a:spcPct val="118000"/>
              </a:lnSpc>
              <a:buNone/>
              <a:def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Single L4 GPU</a:t>
            </a:r>
          </a:p>
          <a:p>
            <a:pPr algn="l">
              <a:lnSpc>
                <a:spcPct val="118000"/>
              </a:lnSpc>
              <a:buNone/>
              <a:def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Modest positive blind-test signal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D3CA71F-8225-4BB8-BCA9-978E4E398DF7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10820400" cy="990600"/>
          </a:xfrm>
          <a:prstGeom prst="roundRect">
            <a:avLst>
              <a:gd name="adj" fmla="val 4808"/>
            </a:avLst>
          </a:prstGeom>
          <a:solidFill>
            <a:srgbClr val="EAF6F4"/>
          </a:solidFill>
          <a:ln w="9525">
            <a:solidFill>
              <a:srgbClr val="0F7A7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B81243-CFBF-46C0-9DB0-96934A198F46}"/>
              </a:ext>
            </a:extLst>
          </p:cNvPr>
          <p:cNvSpPr>
            <a:spLocks noGrp="1"/>
          </p:cNvSpPr>
          <p:nvPr/>
        </p:nvSpPr>
        <p:spPr>
          <a:xfrm>
            <a:off x="933450" y="5438775"/>
            <a:ext cx="1028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18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The validated Bangla preference-data pipeline is the durable contribution.</a:t>
            </a:r>
          </a:p>
          <a:p>
            <a:pPr algn="ctr">
              <a:lnSpc>
                <a:spcPct val="106000"/>
              </a:lnSpc>
              <a:buNone/>
              <a:defRPr sz="18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Fine-tuning demonstrates how the data can be reused.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A2046B-6834-4A22-8781-B243FD01DA85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Bangla Preference Dataset Project</a:t>
            </a:r>
          </a:p>
        </p:txBody>
      </p:sp>
    </p:spTree>
    <p:extLst>
      <p:ext uri="{BB962C8B-B14F-4D97-AF65-F5344CB8AC3E}">
        <p14:creationId xmlns:p14="http://schemas.microsoft.com/office/powerpoint/2010/main" val="40409390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A8B2AA7-27DD-4867-B3C2-08AC4DEF33A1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876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40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517098A4-47B5-4A2C-9C1F-4A04CDA81025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820400" cy="0"/>
          </a:xfrm>
          <a:prstGeom prst="line">
            <a:avLst/>
          </a:prstGeom>
          <a:noFill/>
          <a:ln w="28575">
            <a:solidFill>
              <a:srgbClr val="0F7A7A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46C879-A0BE-4CAA-8EAA-E5A9FE2FA714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609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A0F1D4-BA2E-43C8-9B37-7177AF82B030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3009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4000"/>
              </a:lnSpc>
              <a:buNone/>
              <a:defRPr sz="210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Modest improvement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9E45CF-D6CB-4EE7-9948-2D24AF6D4237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3048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Fine-tuned responses won more often, but the overall gain was small.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269066-1769-40A8-BC01-C5FBBDE4EA65}"/>
              </a:ext>
            </a:extLst>
          </p:cNvPr>
          <p:cNvSpPr>
            <a:spLocks noGrp="1"/>
          </p:cNvSpPr>
          <p:nvPr/>
        </p:nvSpPr>
        <p:spPr>
          <a:xfrm>
            <a:off x="4286250" y="2190750"/>
            <a:ext cx="609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6333B9-B9B0-4357-A4DC-C40A9BEB09B0}"/>
              </a:ext>
            </a:extLst>
          </p:cNvPr>
          <p:cNvSpPr>
            <a:spLocks noGrp="1"/>
          </p:cNvSpPr>
          <p:nvPr/>
        </p:nvSpPr>
        <p:spPr>
          <a:xfrm>
            <a:off x="4286250" y="2781300"/>
            <a:ext cx="3009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4000"/>
              </a:lnSpc>
              <a:buNone/>
              <a:defRPr sz="210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Limited resources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4E96DC-FB5B-4F10-B591-59F7DAC2B582}"/>
              </a:ext>
            </a:extLst>
          </p:cNvPr>
          <p:cNvSpPr>
            <a:spLocks noGrp="1"/>
          </p:cNvSpPr>
          <p:nvPr/>
        </p:nvSpPr>
        <p:spPr>
          <a:xfrm>
            <a:off x="4286250" y="3505200"/>
            <a:ext cx="3048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1B model, one L4 GPU, and limited time for hyperparameter exploration.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164373-6732-4BEE-BF49-D1C9D2FCB4CD}"/>
              </a:ext>
            </a:extLst>
          </p:cNvPr>
          <p:cNvSpPr>
            <a:spLocks noGrp="1"/>
          </p:cNvSpPr>
          <p:nvPr/>
        </p:nvSpPr>
        <p:spPr>
          <a:xfrm>
            <a:off x="7886700" y="2190750"/>
            <a:ext cx="609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7D1D1C-B4D0-4A1C-A56A-54E658D10B56}"/>
              </a:ext>
            </a:extLst>
          </p:cNvPr>
          <p:cNvSpPr>
            <a:spLocks noGrp="1"/>
          </p:cNvSpPr>
          <p:nvPr/>
        </p:nvSpPr>
        <p:spPr>
          <a:xfrm>
            <a:off x="7886700" y="2781300"/>
            <a:ext cx="3009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4000"/>
              </a:lnSpc>
              <a:buNone/>
              <a:defRPr sz="210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Small evaluation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C5F082-0A12-4FFD-AA7D-1E4AFEF14ACB}"/>
              </a:ext>
            </a:extLst>
          </p:cNvPr>
          <p:cNvSpPr>
            <a:spLocks noGrp="1"/>
          </p:cNvSpPr>
          <p:nvPr/>
        </p:nvSpPr>
        <p:spPr>
          <a:xfrm>
            <a:off x="7886700" y="3505200"/>
            <a:ext cx="3048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Only 100 held-out prompts; results may not cover every Bangla task or domain.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D3CA71F-8225-4BB8-BCA9-978E4E398DF7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10820400" cy="990600"/>
          </a:xfrm>
          <a:prstGeom prst="roundRect">
            <a:avLst>
              <a:gd name="adj" fmla="val 4808"/>
            </a:avLst>
          </a:prstGeom>
          <a:solidFill>
            <a:srgbClr val="EAF6F4"/>
          </a:solidFill>
          <a:ln w="9525">
            <a:solidFill>
              <a:srgbClr val="0F7A7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B81243-CFBF-46C0-9DB0-96934A198F46}"/>
              </a:ext>
            </a:extLst>
          </p:cNvPr>
          <p:cNvSpPr>
            <a:spLocks noGrp="1"/>
          </p:cNvSpPr>
          <p:nvPr/>
        </p:nvSpPr>
        <p:spPr>
          <a:xfrm>
            <a:off x="933450" y="5438775"/>
            <a:ext cx="1028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18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More diverse training data could strengthen the model.</a:t>
            </a:r>
          </a:p>
          <a:p>
            <a:pPr algn="ctr">
              <a:lnSpc>
                <a:spcPct val="106000"/>
              </a:lnSpc>
              <a:buNone/>
              <a:defRPr sz="18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Objective achieved: fine-tuned model won more often in the strict blind test.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A2046B-6834-4A22-8781-B243FD01DA85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Bangla Preference Dataset Project</a:t>
            </a:r>
          </a:p>
        </p:txBody>
      </p:sp>
    </p:spTree>
    <p:extLst>
      <p:ext uri="{BB962C8B-B14F-4D97-AF65-F5344CB8AC3E}">
        <p14:creationId xmlns:p14="http://schemas.microsoft.com/office/powerpoint/2010/main" val="30408017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A8B2AA7-27DD-4867-B3C2-08AC4DEF33A1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876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40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Connection to the base paper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517098A4-47B5-4A2C-9C1F-4A04CDA81025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820400" cy="0"/>
          </a:xfrm>
          <a:prstGeom prst="line">
            <a:avLst/>
          </a:prstGeom>
          <a:noFill/>
          <a:ln w="28575">
            <a:solidFill>
              <a:srgbClr val="0F7A7A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46C879-A0BE-4CAA-8EAA-E5A9FE2FA714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609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A0F1D4-BA2E-43C8-9B37-7177AF82B030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3009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4000"/>
              </a:lnSpc>
              <a:buNone/>
              <a:defRPr sz="210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Limited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9E45CF-D6CB-4EE7-9948-2D24AF6D4237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3048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This project: 4,469 pairs.</a:t>
            </a:r>
          </a:p>
          <a:p>
            <a:pPr algn="l">
              <a:lnSpc>
                <a:spcPct val="118000"/>
              </a:lnSpc>
              <a:buNone/>
              <a:def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Paper: fewer than 3,000 training examples.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269066-1769-40A8-BC01-C5FBBDE4EA65}"/>
              </a:ext>
            </a:extLst>
          </p:cNvPr>
          <p:cNvSpPr>
            <a:spLocks noGrp="1"/>
          </p:cNvSpPr>
          <p:nvPr/>
        </p:nvSpPr>
        <p:spPr>
          <a:xfrm>
            <a:off x="4286250" y="2190750"/>
            <a:ext cx="609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6333B9-B9B0-4357-A4DC-C40A9BEB09B0}"/>
              </a:ext>
            </a:extLst>
          </p:cNvPr>
          <p:cNvSpPr>
            <a:spLocks noGrp="1"/>
          </p:cNvSpPr>
          <p:nvPr/>
        </p:nvSpPr>
        <p:spPr>
          <a:xfrm>
            <a:off x="4286250" y="2781300"/>
            <a:ext cx="3009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4000"/>
              </a:lnSpc>
              <a:buNone/>
              <a:defRPr sz="210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Small gains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4E96DC-FB5B-4F10-B591-59F7DAC2B582}"/>
              </a:ext>
            </a:extLst>
          </p:cNvPr>
          <p:cNvSpPr>
            <a:spLocks noGrp="1"/>
          </p:cNvSpPr>
          <p:nvPr/>
        </p:nvSpPr>
        <p:spPr>
          <a:xfrm>
            <a:off x="4286250" y="3505200"/>
            <a:ext cx="3048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This project: 55% vs 45%.</a:t>
            </a:r>
          </a:p>
          <a:p>
            <a:pPr algn="l">
              <a:lnSpc>
                <a:spcPct val="118000"/>
              </a:lnSpc>
              <a:buNone/>
              <a:def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Paper: differences largely below 10%.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164373-6732-4BEE-BF49-D1C9D2FCB4CD}"/>
              </a:ext>
            </a:extLst>
          </p:cNvPr>
          <p:cNvSpPr>
            <a:spLocks noGrp="1"/>
          </p:cNvSpPr>
          <p:nvPr/>
        </p:nvSpPr>
        <p:spPr>
          <a:xfrm>
            <a:off x="7886700" y="2190750"/>
            <a:ext cx="609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7D1D1C-B4D0-4A1C-A56A-54E658D10B56}"/>
              </a:ext>
            </a:extLst>
          </p:cNvPr>
          <p:cNvSpPr>
            <a:spLocks noGrp="1"/>
          </p:cNvSpPr>
          <p:nvPr/>
        </p:nvSpPr>
        <p:spPr>
          <a:xfrm>
            <a:off x="7886700" y="2781300"/>
            <a:ext cx="3009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4000"/>
              </a:lnSpc>
              <a:buNone/>
              <a:defRPr sz="210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Evaluator bias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C5F082-0A12-4FFD-AA7D-1E4AFEF14ACB}"/>
              </a:ext>
            </a:extLst>
          </p:cNvPr>
          <p:cNvSpPr>
            <a:spLocks noGrp="1"/>
          </p:cNvSpPr>
          <p:nvPr/>
        </p:nvSpPr>
        <p:spPr>
          <a:xfrm>
            <a:off x="7886700" y="3505200"/>
            <a:ext cx="3048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Both used LLM judges; the paper warns a single evaluator can introduce bias.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D3CA71F-8225-4BB8-BCA9-978E4E398DF7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10820400" cy="990600"/>
          </a:xfrm>
          <a:prstGeom prst="roundRect">
            <a:avLst>
              <a:gd name="adj" fmla="val 4808"/>
            </a:avLst>
          </a:prstGeom>
          <a:solidFill>
            <a:srgbClr val="EAF6F4"/>
          </a:solidFill>
          <a:ln w="9525">
            <a:solidFill>
              <a:srgbClr val="0F7A7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B81243-CFBF-46C0-9DB0-96934A198F46}"/>
              </a:ext>
            </a:extLst>
          </p:cNvPr>
          <p:cNvSpPr>
            <a:spLocks noGrp="1"/>
          </p:cNvSpPr>
          <p:nvPr/>
        </p:nvSpPr>
        <p:spPr>
          <a:xfrm>
            <a:off x="933450" y="5438775"/>
            <a:ext cx="1028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18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Finding: preference filtering can help, but larger training sets and more human-checked evaluation are still needed.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A2046B-6834-4A22-8781-B243FD01DA85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Devine (2024), Limitations</a:t>
            </a:r>
          </a:p>
        </p:txBody>
      </p:sp>
    </p:spTree>
    <p:extLst>
      <p:ext uri="{BB962C8B-B14F-4D97-AF65-F5344CB8AC3E}">
        <p14:creationId xmlns:p14="http://schemas.microsoft.com/office/powerpoint/2010/main" val="1404806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E107A00-AB10-4372-9CF7-2776838BD0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7A7A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AC26DD-7726-49A7-A602-04E243CF27DD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CONCLUSION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76EE53-4568-4195-842D-6B18016E45EE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7429500" cy="1543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95000"/>
              </a:lnSpc>
              <a:buNone/>
              <a:defRPr sz="55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A validated Bangla</a:t>
            </a:r>
          </a:p>
          <a:p>
            <a:pPr algn="l">
              <a:lnSpc>
                <a:spcPct val="95000"/>
              </a:lnSpc>
              <a:buNone/>
              <a:defRPr sz="55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preference pipeline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A2DE1A-904A-48B7-9F72-D823646F9447}"/>
              </a:ext>
            </a:extLst>
          </p:cNvPr>
          <p:cNvSpPr>
            <a:spLocks noGrp="1"/>
          </p:cNvSpPr>
          <p:nvPr/>
        </p:nvSpPr>
        <p:spPr>
          <a:xfrm>
            <a:off x="704850" y="3048000"/>
            <a:ext cx="6572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2025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The project created an auditable dataset, checked automated preferences with people, and demonstrated a modest positive gain after fine-tuning TigerLLM-1B.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B1EEACD2-A5C5-43FF-B494-C736D4D3D223}"/>
              </a:ext>
            </a:extLst>
          </p:cNvPr>
          <p:cNvSpPr>
            <a:spLocks noGrp="1"/>
          </p:cNvSpPr>
          <p:nvPr/>
        </p:nvSpPr>
        <p:spPr>
          <a:xfrm>
            <a:off x="685800" y="4229100"/>
            <a:ext cx="9525000" cy="0"/>
          </a:xfrm>
          <a:prstGeom prst="line">
            <a:avLst/>
          </a:prstGeom>
          <a:noFill/>
          <a:ln w="9525">
            <a:solidFill>
              <a:srgbClr val="CCD3D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A7C5D0-4EAC-4599-8784-0D9C9A8B330F}"/>
              </a:ext>
            </a:extLst>
          </p:cNvPr>
          <p:cNvSpPr>
            <a:spLocks noGrp="1"/>
          </p:cNvSpPr>
          <p:nvPr/>
        </p:nvSpPr>
        <p:spPr>
          <a:xfrm>
            <a:off x="704850" y="4457700"/>
            <a:ext cx="904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7212F"/>
                </a:solidFill>
                <a:latin typeface="Helvetica Neue"/>
                <a:ea typeface="Helvetica Neue"/>
                <a:cs typeface="Helvetica Neue"/>
              </a:rPr>
              <a:t>Dataset creation  •  Repeated ranking  •  Human validation  •  Fine-tuning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84812B-D9D0-4B4B-943D-D99FDB7DD997}"/>
              </a:ext>
            </a:extLst>
          </p:cNvPr>
          <p:cNvSpPr>
            <a:spLocks noGrp="1"/>
          </p:cNvSpPr>
          <p:nvPr/>
        </p:nvSpPr>
        <p:spPr>
          <a:xfrm>
            <a:off x="704850" y="52768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5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6,254 prompts  |  ~75.7% human alignment  |  55% strict blind-test win rate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04D2C1-9252-4301-A94A-FB41FE638BDD}"/>
              </a:ext>
            </a:extLst>
          </p:cNvPr>
          <p:cNvSpPr>
            <a:spLocks noGrp="1"/>
          </p:cNvSpPr>
          <p:nvPr/>
        </p:nvSpPr>
        <p:spPr>
          <a:xfrm>
            <a:off x="704850" y="61341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125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Bangla Preference Dataset Project</a:t>
            </a:r>
          </a:p>
        </p:txBody>
      </p:sp>
    </p:spTree>
    <p:extLst>
      <p:ext uri="{BB962C8B-B14F-4D97-AF65-F5344CB8AC3E}">
        <p14:creationId xmlns:p14="http://schemas.microsoft.com/office/powerpoint/2010/main" val="12655662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A8B2AA7-27DD-4867-B3C2-08AC4DEF33A1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876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40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183B63"/>
                </a:solidFill>
                <a:latin typeface="Helvetica Neue"/>
                <a:ea typeface="Helvetica Neue"/>
                <a:cs typeface="Helvetica Neue"/>
              </a:rPr>
              <a:t>References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517098A4-47B5-4A2C-9C1F-4A04CDA81025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820400" cy="0"/>
          </a:xfrm>
          <a:prstGeom prst="line">
            <a:avLst/>
          </a:prstGeom>
          <a:noFill/>
          <a:ln w="28575">
            <a:solidFill>
              <a:srgbClr val="0F7A7A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A0F1D4-BA2E-43C8-9B37-7177AF82B03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4000"/>
              </a:lnSpc>
              <a:buNone/>
              <a:defRPr sz="1800" b="1" i="0">
                <a:solidFill>
                  <a:srgbClr val="167D7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67D7F"/>
                </a:solidFill>
                <a:latin typeface="Helvetica Neue"/>
                <a:ea typeface="Helvetica Neue"/>
                <a:cs typeface="Helvetica Neue"/>
              </a:rPr>
              <a:t>Selected sources and project links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9E45CF-D6CB-4EE7-9948-2D24AF6D4237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108204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1313" b="0" i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 i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1. Devine (2024), Repeat Ranking | </a:t>
            </a:r>
            <a:r>
              <a:rPr sz="1313" b="0" i="0">
                <a:solidFill>
                  <a:srgbClr val="167D7F"/>
                </a:solidFill>
                <a:latin typeface="Helvetica Neue"/>
                <a:ea typeface="Helvetica Neue"/>
                <a:cs typeface="Helvetica Neue"/>
                <a:hlinkClick r:id="rId3"/>
              </a:rPr>
              <a:t>https://aclanthology.org/2024.mrl-1.5/</a:t>
            </a:r>
          </a:p>
          <a:p>
            <a:pPr algn="l">
              <a:lnSpc>
                <a:spcPct val="118000"/>
              </a:lnSpc>
              <a:buNone/>
              <a:defRPr sz="1313" b="0" i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 i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2. Rafailov et al. (2023), Direct Preference Optimization | </a:t>
            </a:r>
            <a:r>
              <a:rPr sz="1313" b="0" i="0">
                <a:solidFill>
                  <a:srgbClr val="167D7F"/>
                </a:solidFill>
                <a:latin typeface="Helvetica Neue"/>
                <a:ea typeface="Helvetica Neue"/>
                <a:cs typeface="Helvetica Neue"/>
                <a:hlinkClick r:id="rId4"/>
              </a:rPr>
              <a:t>https://arxiv.org/abs/2305.18290</a:t>
            </a:r>
          </a:p>
          <a:p>
            <a:pPr algn="l">
              <a:lnSpc>
                <a:spcPct val="118000"/>
              </a:lnSpc>
              <a:buNone/>
              <a:defRPr sz="1313" b="0" i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 i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3. Hu et al. (2022), LoRA | </a:t>
            </a:r>
            <a:r>
              <a:rPr sz="1313" b="0" i="0">
                <a:solidFill>
                  <a:srgbClr val="167D7F"/>
                </a:solidFill>
                <a:latin typeface="Helvetica Neue"/>
                <a:ea typeface="Helvetica Neue"/>
                <a:cs typeface="Helvetica Neue"/>
                <a:hlinkClick r:id="rId5"/>
              </a:rPr>
              <a:t>https://arxiv.org/abs/2106.09685</a:t>
            </a:r>
          </a:p>
          <a:p>
            <a:pPr algn="l">
              <a:lnSpc>
                <a:spcPct val="118000"/>
              </a:lnSpc>
              <a:buNone/>
              <a:defRPr sz="1313" b="0" i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 i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4. Dettmers et al. (2023), QLoRA | </a:t>
            </a:r>
            <a:r>
              <a:rPr sz="1313" b="0" i="0">
                <a:solidFill>
                  <a:srgbClr val="167D7F"/>
                </a:solidFill>
                <a:latin typeface="Helvetica Neue"/>
                <a:ea typeface="Helvetica Neue"/>
                <a:cs typeface="Helvetica Neue"/>
                <a:hlinkClick r:id="rId6"/>
              </a:rPr>
              <a:t>https://arxiv.org/abs/2305.14314</a:t>
            </a:r>
          </a:p>
          <a:p>
            <a:pPr algn="l">
              <a:lnSpc>
                <a:spcPct val="118000"/>
              </a:lnSpc>
              <a:buNone/>
              <a:defRPr sz="1313" b="0" i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 i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5. TigerLLM-1B-it | </a:t>
            </a:r>
            <a:r>
              <a:rPr sz="1313" b="0" i="0">
                <a:solidFill>
                  <a:srgbClr val="167D7F"/>
                </a:solidFill>
                <a:latin typeface="Helvetica Neue"/>
                <a:ea typeface="Helvetica Neue"/>
                <a:cs typeface="Helvetica Neue"/>
                <a:hlinkClick r:id="rId7"/>
              </a:rPr>
              <a:t>https://huggingface.co/md-nishat-008/TigerLLM-1B-it</a:t>
            </a:r>
          </a:p>
          <a:p>
            <a:pPr algn="l">
              <a:lnSpc>
                <a:spcPct val="118000"/>
              </a:lnSpc>
              <a:buNone/>
              <a:defRPr sz="1313" b="0" i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 i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6. Project repository | </a:t>
            </a:r>
            <a:r>
              <a:rPr sz="1313" b="0" i="0">
                <a:solidFill>
                  <a:srgbClr val="167D7F"/>
                </a:solidFill>
                <a:latin typeface="Helvetica Neue"/>
                <a:ea typeface="Helvetica Neue"/>
                <a:cs typeface="Helvetica Neue"/>
                <a:hlinkClick r:id="rId8"/>
              </a:rPr>
              <a:t>https://github.com/RezuanMustafaHasan/bangla-preference-dataset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D3CA71F-8225-4BB8-BCA9-978E4E398DF7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10820400" cy="990600"/>
          </a:xfrm>
          <a:prstGeom prst="roundRect">
            <a:avLst>
              <a:gd name="adj" fmla="val 4808"/>
            </a:avLst>
          </a:prstGeom>
          <a:solidFill>
            <a:srgbClr val="EAF6F4"/>
          </a:solidFill>
          <a:ln w="9525">
            <a:solidFill>
              <a:srgbClr val="0F7A7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B81243-CFBF-46C0-9DB0-96934A198F46}"/>
              </a:ext>
            </a:extLst>
          </p:cNvPr>
          <p:cNvSpPr>
            <a:spLocks noGrp="1"/>
          </p:cNvSpPr>
          <p:nvPr/>
        </p:nvSpPr>
        <p:spPr>
          <a:xfrm>
            <a:off x="933450" y="5438775"/>
            <a:ext cx="1028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18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F7A7A"/>
                </a:solidFill>
                <a:latin typeface="Helvetica Neue"/>
                <a:ea typeface="Helvetica Neue"/>
                <a:cs typeface="Helvetica Neue"/>
              </a:rPr>
              <a:t>Thank you • Questions are welcome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A2046B-6834-4A22-8781-B243FD01DA85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86575"/>
                </a:solidFill>
                <a:latin typeface="Helvetica Neue"/>
                <a:ea typeface="Helvetica Neue"/>
                <a:cs typeface="Helvetica Neue"/>
              </a:rPr>
              <a:t>Prepared for academic presentation</a:t>
            </a:r>
          </a:p>
        </p:txBody>
      </p:sp>
    </p:spTree>
    <p:extLst>
      <p:ext uri="{BB962C8B-B14F-4D97-AF65-F5344CB8AC3E}">
        <p14:creationId xmlns:p14="http://schemas.microsoft.com/office/powerpoint/2010/main" val="32273653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3693</Words>
  <Application>Microsoft Macintosh PowerPoint</Application>
  <DocSecurity>0</DocSecurity>
  <PresentationFormat>Widescreen</PresentationFormat>
  <Paragraphs>507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Calibri</vt:lpstr>
      <vt:lpstr>Helvetica Neue</vt:lpstr>
      <vt:lpstr>Kalpurush</vt:lpstr>
      <vt:lpstr>Menlo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Rezuan Mustafa Hasan</cp:lastModifiedBy>
  <cp:revision>4</cp:revision>
  <dcterms:created xsi:type="dcterms:W3CDTF">2026-09-02T07:44:34Z</dcterms:created>
  <dcterms:modified xsi:type="dcterms:W3CDTF">2026-09-02T07:53:16Z</dcterms:modified>
</cp:coreProperties>
</file>