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1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4a6b02f66547e1" /><Relationship Type="http://schemas.openxmlformats.org/officeDocument/2006/relationships/extended-properties" Target="/docProps/app.xml" Id="Re74aa7c3beaa4b4b" /><Relationship Type="http://schemas.openxmlformats.org/officeDocument/2006/relationships/officeDocument" Target="/ppt/presentation.xml" Id="Rb595fa0c7848467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8df13637efa470c"/>
  </p:sldMasterIdLst>
  <p:notesMasterIdLst>
    <p:notesMasterId xmlns:r="http://schemas.openxmlformats.org/officeDocument/2006/relationships" r:id="Rf6a4e9b343f749ed"/>
  </p:notesMasterIdLst>
  <p:sldIdLst>
    <p:sldId xmlns:r="http://schemas.openxmlformats.org/officeDocument/2006/relationships" id="256" r:id="R92910c2574344c09"/>
    <p:sldId xmlns:r="http://schemas.openxmlformats.org/officeDocument/2006/relationships" id="257" r:id="R8192c969259345c9"/>
    <p:sldId xmlns:r="http://schemas.openxmlformats.org/officeDocument/2006/relationships" id="258" r:id="R8551ade7553a466a"/>
    <p:sldId xmlns:r="http://schemas.openxmlformats.org/officeDocument/2006/relationships" id="259" r:id="Raf57e911ec6943ba"/>
    <p:sldId xmlns:r="http://schemas.openxmlformats.org/officeDocument/2006/relationships" id="260" r:id="Rd73d4f9812184466"/>
    <p:sldId xmlns:r="http://schemas.openxmlformats.org/officeDocument/2006/relationships" id="261" r:id="Rf348cd1d9f194c84"/>
    <p:sldId xmlns:r="http://schemas.openxmlformats.org/officeDocument/2006/relationships" id="262" r:id="Rc33d3cf8c69544ba"/>
    <p:sldId xmlns:r="http://schemas.openxmlformats.org/officeDocument/2006/relationships" id="263" r:id="R80f09ec5d317484e"/>
    <p:sldId xmlns:r="http://schemas.openxmlformats.org/officeDocument/2006/relationships" id="264" r:id="Rc9d5995642e44af1"/>
    <p:sldId xmlns:r="http://schemas.openxmlformats.org/officeDocument/2006/relationships" id="265" r:id="R77fbbb0c7f4a4662"/>
    <p:sldId xmlns:r="http://schemas.openxmlformats.org/officeDocument/2006/relationships" id="266" r:id="Rf1f8d4aec958424b"/>
    <p:sldId xmlns:r="http://schemas.openxmlformats.org/officeDocument/2006/relationships" id="267" r:id="R40ce66ed0f684bc2"/>
    <p:sldId xmlns:r="http://schemas.openxmlformats.org/officeDocument/2006/relationships" id="268" r:id="R0ccf0369bf054231"/>
    <p:sldId xmlns:r="http://schemas.openxmlformats.org/officeDocument/2006/relationships" id="269" r:id="R547d0f92f6d346d2"/>
    <p:sldId xmlns:r="http://schemas.openxmlformats.org/officeDocument/2006/relationships" id="270" r:id="Rc0fa777280e540a0"/>
    <p:sldId xmlns:r="http://schemas.openxmlformats.org/officeDocument/2006/relationships" id="271" r:id="Red1e2fd68a484aeb"/>
    <p:sldId xmlns:r="http://schemas.openxmlformats.org/officeDocument/2006/relationships" id="272" r:id="Rfeb7255d9100475d"/>
    <p:sldId xmlns:r="http://schemas.openxmlformats.org/officeDocument/2006/relationships" id="273" r:id="R68ff80624c11481a"/>
    <p:sldId xmlns:r="http://schemas.openxmlformats.org/officeDocument/2006/relationships" id="274" r:id="Rc3543e3037254fc1"/>
    <p:sldId xmlns:r="http://schemas.openxmlformats.org/officeDocument/2006/relationships" id="275" r:id="R87fc6555240a497a"/>
    <p:sldId xmlns:r="http://schemas.openxmlformats.org/officeDocument/2006/relationships" id="276" r:id="R2c0ca160ecaf4395"/>
    <p:sldId xmlns:r="http://schemas.openxmlformats.org/officeDocument/2006/relationships" id="277" r:id="Rd9368243b257472f"/>
    <p:sldId xmlns:r="http://schemas.openxmlformats.org/officeDocument/2006/relationships" id="278" r:id="Rf3b97197d0ae4d13"/>
    <p:sldId xmlns:r="http://schemas.openxmlformats.org/officeDocument/2006/relationships" id="279" r:id="Re42ebc503f3945a3"/>
    <p:sldId xmlns:r="http://schemas.openxmlformats.org/officeDocument/2006/relationships" id="280" r:id="R7090eecafdb04297"/>
    <p:sldId xmlns:r="http://schemas.openxmlformats.org/officeDocument/2006/relationships" id="281" r:id="Rba7beb96ad4243e4"/>
    <p:sldId xmlns:r="http://schemas.openxmlformats.org/officeDocument/2006/relationships" id="282" r:id="R877f72baf8574753"/>
    <p:sldId xmlns:r="http://schemas.openxmlformats.org/officeDocument/2006/relationships" id="283" r:id="R572766704dfd4f8b"/>
    <p:sldId xmlns:r="http://schemas.openxmlformats.org/officeDocument/2006/relationships" id="284" r:id="R3605ad0dfdc74670"/>
    <p:sldId xmlns:r="http://schemas.openxmlformats.org/officeDocument/2006/relationships" id="285" r:id="Rdfba6d37a4d341f8"/>
    <p:sldId xmlns:r="http://schemas.openxmlformats.org/officeDocument/2006/relationships" id="286" r:id="R48463feb648b43b7"/>
    <p:sldId xmlns:r="http://schemas.openxmlformats.org/officeDocument/2006/relationships" id="287" r:id="Re5973bf63b584568"/>
    <p:sldId xmlns:r="http://schemas.openxmlformats.org/officeDocument/2006/relationships" id="288" r:id="R5917e0b60d864838"/>
    <p:sldId xmlns:r="http://schemas.openxmlformats.org/officeDocument/2006/relationships" id="289" r:id="R8070f9f16f9c45ed"/>
    <p:sldId xmlns:r="http://schemas.openxmlformats.org/officeDocument/2006/relationships" id="290" r:id="Rb506d5c65a154952"/>
    <p:sldId xmlns:r="http://schemas.openxmlformats.org/officeDocument/2006/relationships" id="291" r:id="Rac0969dc49474289"/>
    <p:sldId xmlns:r="http://schemas.openxmlformats.org/officeDocument/2006/relationships" id="292" r:id="R5adb1df7e2ed4636"/>
    <p:sldId xmlns:r="http://schemas.openxmlformats.org/officeDocument/2006/relationships" id="293" r:id="R5d23240f936d43be"/>
    <p:sldId xmlns:r="http://schemas.openxmlformats.org/officeDocument/2006/relationships" id="294" r:id="R414a3c18941b44f3"/>
    <p:sldId xmlns:r="http://schemas.openxmlformats.org/officeDocument/2006/relationships" id="295" r:id="R4e792d2ab5294497"/>
    <p:sldId xmlns:r="http://schemas.openxmlformats.org/officeDocument/2006/relationships" id="296" r:id="R40a87460b07b4d66"/>
    <p:sldId xmlns:r="http://schemas.openxmlformats.org/officeDocument/2006/relationships" id="297" r:id="R79395f170a2c497c"/>
    <p:sldId xmlns:r="http://schemas.openxmlformats.org/officeDocument/2006/relationships" id="298" r:id="R84be4918d7cc4929"/>
    <p:sldId xmlns:r="http://schemas.openxmlformats.org/officeDocument/2006/relationships" id="299" r:id="R3492175552e44c88"/>
    <p:sldId xmlns:r="http://schemas.openxmlformats.org/officeDocument/2006/relationships" id="300" r:id="Rf6d6591151f24c45"/>
    <p:sldId xmlns:r="http://schemas.openxmlformats.org/officeDocument/2006/relationships" id="301" r:id="Rad854b6883a74915"/>
    <p:sldId xmlns:r="http://schemas.openxmlformats.org/officeDocument/2006/relationships" id="302" r:id="R85760d7eb42a4af7"/>
    <p:sldId xmlns:r="http://schemas.openxmlformats.org/officeDocument/2006/relationships" id="303" r:id="R5787cc646eac4c6b"/>
    <p:sldId xmlns:r="http://schemas.openxmlformats.org/officeDocument/2006/relationships" id="304" r:id="R281a758398604c78"/>
    <p:sldId xmlns:r="http://schemas.openxmlformats.org/officeDocument/2006/relationships" id="305" r:id="Re72ca58fc6394c87"/>
    <p:sldId xmlns:r="http://schemas.openxmlformats.org/officeDocument/2006/relationships" id="306" r:id="R8fbdccdc51be4b67"/>
    <p:sldId xmlns:r="http://schemas.openxmlformats.org/officeDocument/2006/relationships" id="307" r:id="R4c3e5df4ba0b4ae6"/>
    <p:sldId xmlns:r="http://schemas.openxmlformats.org/officeDocument/2006/relationships" id="308" r:id="R467c5bf999864622"/>
    <p:sldId xmlns:r="http://schemas.openxmlformats.org/officeDocument/2006/relationships" id="309" r:id="R0dfd1c4592994190"/>
    <p:sldId xmlns:r="http://schemas.openxmlformats.org/officeDocument/2006/relationships" id="310" r:id="R98a76d80a2ad4b26"/>
    <p:sldId xmlns:r="http://schemas.openxmlformats.org/officeDocument/2006/relationships" id="311" r:id="R7bf7c5120ecf4e37"/>
    <p:sldId xmlns:r="http://schemas.openxmlformats.org/officeDocument/2006/relationships" id="312" r:id="Rf2ffd59ba9b04764"/>
    <p:sldId xmlns:r="http://schemas.openxmlformats.org/officeDocument/2006/relationships" id="313" r:id="Rfe3963494fdb4f5f"/>
    <p:sldId xmlns:r="http://schemas.openxmlformats.org/officeDocument/2006/relationships" id="314" r:id="Ra37d44f19bb9470d"/>
    <p:sldId xmlns:r="http://schemas.openxmlformats.org/officeDocument/2006/relationships" id="315" r:id="Rb66581aeab3a4305"/>
    <p:sldId xmlns:r="http://schemas.openxmlformats.org/officeDocument/2006/relationships" id="316" r:id="Re1e704cd621d4d46"/>
    <p:sldId xmlns:r="http://schemas.openxmlformats.org/officeDocument/2006/relationships" id="317" r:id="R496a5585d53346b8"/>
    <p:sldId xmlns:r="http://schemas.openxmlformats.org/officeDocument/2006/relationships" id="318" r:id="R8bcb21d0e7d34e75"/>
    <p:sldId xmlns:r="http://schemas.openxmlformats.org/officeDocument/2006/relationships" id="319" r:id="Rd822387a4d1148eb"/>
    <p:sldId xmlns:r="http://schemas.openxmlformats.org/officeDocument/2006/relationships" id="320" r:id="Rcead6f3ce57f4e77"/>
    <p:sldId xmlns:r="http://schemas.openxmlformats.org/officeDocument/2006/relationships" id="321" r:id="R56a9f9fbb70d4e78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dbe759858a734ad7"/>
      <p:bold xmlns:r="http://schemas.openxmlformats.org/officeDocument/2006/relationships" r:id="R66afbc2b17454310"/>
      <p:italic xmlns:r="http://schemas.openxmlformats.org/officeDocument/2006/relationships" r:id="R019e240c2a4b48df"/>
      <p:boldItalic xmlns:r="http://schemas.openxmlformats.org/officeDocument/2006/relationships" r:id="R95bc5810dd46496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72ecf789f440fe" /><Relationship Type="http://schemas.openxmlformats.org/officeDocument/2006/relationships/slideMaster" Target="/ppt/slideMasters/slideMaster1.xml" Id="R68df13637efa470c" /><Relationship Type="http://schemas.openxmlformats.org/officeDocument/2006/relationships/notesMaster" Target="/ppt/notesMasters/notesMaster1.xml" Id="Rf6a4e9b343f749ed" /><Relationship Type="http://schemas.openxmlformats.org/officeDocument/2006/relationships/presProps" Target="/ppt/presProps.xml" Id="Ra47012df6cd146b6" /><Relationship Type="http://schemas.openxmlformats.org/officeDocument/2006/relationships/viewProps" Target="/ppt/viewProps.xml" Id="Rc1faf2b58f644591" /><Relationship Type="http://schemas.openxmlformats.org/officeDocument/2006/relationships/tableStyles" Target="/ppt/tableStyles.xml" Id="R2176569209c94158" /><Relationship Type="http://schemas.openxmlformats.org/officeDocument/2006/relationships/font" Target="/ppt/fonts/font.dat" Id="Rdbe759858a734ad7" /><Relationship Type="http://schemas.openxmlformats.org/officeDocument/2006/relationships/font" Target="/ppt/fonts/font2.dat" Id="R66afbc2b17454310" /><Relationship Type="http://schemas.openxmlformats.org/officeDocument/2006/relationships/font" Target="/ppt/fonts/font3.dat" Id="R019e240c2a4b48df" /><Relationship Type="http://schemas.openxmlformats.org/officeDocument/2006/relationships/font" Target="/ppt/fonts/font4.dat" Id="R95bc5810dd46496d" /><Relationship Type="http://schemas.openxmlformats.org/officeDocument/2006/relationships/slide" Target="/ppt/slides/slide1.xml" Id="R92910c2574344c09" /><Relationship Type="http://schemas.openxmlformats.org/officeDocument/2006/relationships/slide" Target="/ppt/slides/slide2.xml" Id="R8192c969259345c9" /><Relationship Type="http://schemas.openxmlformats.org/officeDocument/2006/relationships/slide" Target="/ppt/slides/slide3.xml" Id="R8551ade7553a466a" /><Relationship Type="http://schemas.openxmlformats.org/officeDocument/2006/relationships/slide" Target="/ppt/slides/slide4.xml" Id="Raf57e911ec6943ba" /><Relationship Type="http://schemas.openxmlformats.org/officeDocument/2006/relationships/slide" Target="/ppt/slides/slide5.xml" Id="Rd73d4f9812184466" /><Relationship Type="http://schemas.openxmlformats.org/officeDocument/2006/relationships/slide" Target="/ppt/slides/slide6.xml" Id="Rf348cd1d9f194c84" /><Relationship Type="http://schemas.openxmlformats.org/officeDocument/2006/relationships/slide" Target="/ppt/slides/slide7.xml" Id="Rc33d3cf8c69544ba" /><Relationship Type="http://schemas.openxmlformats.org/officeDocument/2006/relationships/slide" Target="/ppt/slides/slide8.xml" Id="R80f09ec5d317484e" /><Relationship Type="http://schemas.openxmlformats.org/officeDocument/2006/relationships/slide" Target="/ppt/slides/slide9.xml" Id="Rc9d5995642e44af1" /><Relationship Type="http://schemas.openxmlformats.org/officeDocument/2006/relationships/slide" Target="/ppt/slides/slide10.xml" Id="R77fbbb0c7f4a4662" /><Relationship Type="http://schemas.openxmlformats.org/officeDocument/2006/relationships/slide" Target="/ppt/slides/slide11.xml" Id="Rf1f8d4aec958424b" /><Relationship Type="http://schemas.openxmlformats.org/officeDocument/2006/relationships/slide" Target="/ppt/slides/slide12.xml" Id="R40ce66ed0f684bc2" /><Relationship Type="http://schemas.openxmlformats.org/officeDocument/2006/relationships/slide" Target="/ppt/slides/slide13.xml" Id="R0ccf0369bf054231" /><Relationship Type="http://schemas.openxmlformats.org/officeDocument/2006/relationships/slide" Target="/ppt/slides/slide14.xml" Id="R547d0f92f6d346d2" /><Relationship Type="http://schemas.openxmlformats.org/officeDocument/2006/relationships/slide" Target="/ppt/slides/slide15.xml" Id="Rc0fa777280e540a0" /><Relationship Type="http://schemas.openxmlformats.org/officeDocument/2006/relationships/slide" Target="/ppt/slides/slide16.xml" Id="Red1e2fd68a484aeb" /><Relationship Type="http://schemas.openxmlformats.org/officeDocument/2006/relationships/slide" Target="/ppt/slides/slide17.xml" Id="Rfeb7255d9100475d" /><Relationship Type="http://schemas.openxmlformats.org/officeDocument/2006/relationships/slide" Target="/ppt/slides/slide18.xml" Id="R68ff80624c11481a" /><Relationship Type="http://schemas.openxmlformats.org/officeDocument/2006/relationships/slide" Target="/ppt/slides/slide19.xml" Id="Rc3543e3037254fc1" /><Relationship Type="http://schemas.openxmlformats.org/officeDocument/2006/relationships/slide" Target="/ppt/slides/slide20.xml" Id="R87fc6555240a497a" /><Relationship Type="http://schemas.openxmlformats.org/officeDocument/2006/relationships/slide" Target="/ppt/slides/slide21.xml" Id="R2c0ca160ecaf4395" /><Relationship Type="http://schemas.openxmlformats.org/officeDocument/2006/relationships/slide" Target="/ppt/slides/slide22.xml" Id="Rd9368243b257472f" /><Relationship Type="http://schemas.openxmlformats.org/officeDocument/2006/relationships/slide" Target="/ppt/slides/slide23.xml" Id="Rf3b97197d0ae4d13" /><Relationship Type="http://schemas.openxmlformats.org/officeDocument/2006/relationships/slide" Target="/ppt/slides/slide24.xml" Id="Re42ebc503f3945a3" /><Relationship Type="http://schemas.openxmlformats.org/officeDocument/2006/relationships/slide" Target="/ppt/slides/slide25.xml" Id="R7090eecafdb04297" /><Relationship Type="http://schemas.openxmlformats.org/officeDocument/2006/relationships/slide" Target="/ppt/slides/slide26.xml" Id="Rba7beb96ad4243e4" /><Relationship Type="http://schemas.openxmlformats.org/officeDocument/2006/relationships/slide" Target="/ppt/slides/slide27.xml" Id="R877f72baf8574753" /><Relationship Type="http://schemas.openxmlformats.org/officeDocument/2006/relationships/slide" Target="/ppt/slides/slide28.xml" Id="R572766704dfd4f8b" /><Relationship Type="http://schemas.openxmlformats.org/officeDocument/2006/relationships/slide" Target="/ppt/slides/slide29.xml" Id="R3605ad0dfdc74670" /><Relationship Type="http://schemas.openxmlformats.org/officeDocument/2006/relationships/slide" Target="/ppt/slides/slide30.xml" Id="Rdfba6d37a4d341f8" /><Relationship Type="http://schemas.openxmlformats.org/officeDocument/2006/relationships/slide" Target="/ppt/slides/slide31.xml" Id="R48463feb648b43b7" /><Relationship Type="http://schemas.openxmlformats.org/officeDocument/2006/relationships/slide" Target="/ppt/slides/slide32.xml" Id="Re5973bf63b584568" /><Relationship Type="http://schemas.openxmlformats.org/officeDocument/2006/relationships/slide" Target="/ppt/slides/slide33.xml" Id="R5917e0b60d864838" /><Relationship Type="http://schemas.openxmlformats.org/officeDocument/2006/relationships/slide" Target="/ppt/slides/slide34.xml" Id="R8070f9f16f9c45ed" /><Relationship Type="http://schemas.openxmlformats.org/officeDocument/2006/relationships/slide" Target="/ppt/slides/slide35.xml" Id="Rb506d5c65a154952" /><Relationship Type="http://schemas.openxmlformats.org/officeDocument/2006/relationships/slide" Target="/ppt/slides/slide36.xml" Id="Rac0969dc49474289" /><Relationship Type="http://schemas.openxmlformats.org/officeDocument/2006/relationships/slide" Target="/ppt/slides/slide37.xml" Id="R5adb1df7e2ed4636" /><Relationship Type="http://schemas.openxmlformats.org/officeDocument/2006/relationships/slide" Target="/ppt/slides/slide38.xml" Id="R5d23240f936d43be" /><Relationship Type="http://schemas.openxmlformats.org/officeDocument/2006/relationships/slide" Target="/ppt/slides/slide39.xml" Id="R414a3c18941b44f3" /><Relationship Type="http://schemas.openxmlformats.org/officeDocument/2006/relationships/slide" Target="/ppt/slides/slide40.xml" Id="R4e792d2ab5294497" /><Relationship Type="http://schemas.openxmlformats.org/officeDocument/2006/relationships/slide" Target="/ppt/slides/slide41.xml" Id="R40a87460b07b4d66" /><Relationship Type="http://schemas.openxmlformats.org/officeDocument/2006/relationships/slide" Target="/ppt/slides/slide42.xml" Id="R79395f170a2c497c" /><Relationship Type="http://schemas.openxmlformats.org/officeDocument/2006/relationships/slide" Target="/ppt/slides/slide43.xml" Id="R84be4918d7cc4929" /><Relationship Type="http://schemas.openxmlformats.org/officeDocument/2006/relationships/slide" Target="/ppt/slides/slide44.xml" Id="R3492175552e44c88" /><Relationship Type="http://schemas.openxmlformats.org/officeDocument/2006/relationships/slide" Target="/ppt/slides/slide45.xml" Id="Rf6d6591151f24c45" /><Relationship Type="http://schemas.openxmlformats.org/officeDocument/2006/relationships/slide" Target="/ppt/slides/slide46.xml" Id="Rad854b6883a74915" /><Relationship Type="http://schemas.openxmlformats.org/officeDocument/2006/relationships/slide" Target="/ppt/slides/slide47.xml" Id="R85760d7eb42a4af7" /><Relationship Type="http://schemas.openxmlformats.org/officeDocument/2006/relationships/slide" Target="/ppt/slides/slide48.xml" Id="R5787cc646eac4c6b" /><Relationship Type="http://schemas.openxmlformats.org/officeDocument/2006/relationships/slide" Target="/ppt/slides/slide49.xml" Id="R281a758398604c78" /><Relationship Type="http://schemas.openxmlformats.org/officeDocument/2006/relationships/slide" Target="/ppt/slides/slide50.xml" Id="Re72ca58fc6394c87" /><Relationship Type="http://schemas.openxmlformats.org/officeDocument/2006/relationships/slide" Target="/ppt/slides/slide51.xml" Id="R8fbdccdc51be4b67" /><Relationship Type="http://schemas.openxmlformats.org/officeDocument/2006/relationships/slide" Target="/ppt/slides/slide52.xml" Id="R4c3e5df4ba0b4ae6" /><Relationship Type="http://schemas.openxmlformats.org/officeDocument/2006/relationships/slide" Target="/ppt/slides/slide53.xml" Id="R467c5bf999864622" /><Relationship Type="http://schemas.openxmlformats.org/officeDocument/2006/relationships/slide" Target="/ppt/slides/slide54.xml" Id="R0dfd1c4592994190" /><Relationship Type="http://schemas.openxmlformats.org/officeDocument/2006/relationships/slide" Target="/ppt/slides/slide55.xml" Id="R98a76d80a2ad4b26" /><Relationship Type="http://schemas.openxmlformats.org/officeDocument/2006/relationships/slide" Target="/ppt/slides/slide56.xml" Id="R7bf7c5120ecf4e37" /><Relationship Type="http://schemas.openxmlformats.org/officeDocument/2006/relationships/slide" Target="/ppt/slides/slide57.xml" Id="Rf2ffd59ba9b04764" /><Relationship Type="http://schemas.openxmlformats.org/officeDocument/2006/relationships/slide" Target="/ppt/slides/slide58.xml" Id="Rfe3963494fdb4f5f" /><Relationship Type="http://schemas.openxmlformats.org/officeDocument/2006/relationships/slide" Target="/ppt/slides/slide59.xml" Id="Ra37d44f19bb9470d" /><Relationship Type="http://schemas.openxmlformats.org/officeDocument/2006/relationships/slide" Target="/ppt/slides/slide60.xml" Id="Rb66581aeab3a4305" /><Relationship Type="http://schemas.openxmlformats.org/officeDocument/2006/relationships/slide" Target="/ppt/slides/slide61.xml" Id="Re1e704cd621d4d46" /><Relationship Type="http://schemas.openxmlformats.org/officeDocument/2006/relationships/slide" Target="/ppt/slides/slide62.xml" Id="R496a5585d53346b8" /><Relationship Type="http://schemas.openxmlformats.org/officeDocument/2006/relationships/slide" Target="/ppt/slides/slide63.xml" Id="R8bcb21d0e7d34e75" /><Relationship Type="http://schemas.openxmlformats.org/officeDocument/2006/relationships/slide" Target="/ppt/slides/slide64.xml" Id="Rd822387a4d1148eb" /><Relationship Type="http://schemas.openxmlformats.org/officeDocument/2006/relationships/slide" Target="/ppt/slides/slide65.xml" Id="Rcead6f3ce57f4e77" /><Relationship Type="http://schemas.openxmlformats.org/officeDocument/2006/relationships/slide" Target="/ppt/slides/slide66.xml" Id="R56a9f9fbb70d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a39c6b72542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3cfdd842704c9b" /><Relationship Type="http://schemas.openxmlformats.org/officeDocument/2006/relationships/notesMaster" Target="/ppt/notesMasters/notesMaster1.xml" Id="R9b56f0db89ef4d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e4145b9a84e3f" /><Relationship Type="http://schemas.openxmlformats.org/officeDocument/2006/relationships/notesMaster" Target="/ppt/notesMasters/notesMaster1.xml" Id="Re44664533dde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00b8e36284b57" /><Relationship Type="http://schemas.openxmlformats.org/officeDocument/2006/relationships/notesMaster" Target="/ppt/notesMasters/notesMaster1.xml" Id="Rcc3bf8be9aea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de522d83ef44d8" /><Relationship Type="http://schemas.openxmlformats.org/officeDocument/2006/relationships/notesMaster" Target="/ppt/notesMasters/notesMaster1.xml" Id="R68fa19d6012b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776a201c8429a" /><Relationship Type="http://schemas.openxmlformats.org/officeDocument/2006/relationships/notesMaster" Target="/ppt/notesMasters/notesMaster1.xml" Id="R65bb8847deab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f40921aa34975" /><Relationship Type="http://schemas.openxmlformats.org/officeDocument/2006/relationships/notesMaster" Target="/ppt/notesMasters/notesMaster1.xml" Id="R458bcf81a6de49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60cbf1a7d04fe2" /><Relationship Type="http://schemas.openxmlformats.org/officeDocument/2006/relationships/notesMaster" Target="/ppt/notesMasters/notesMaster1.xml" Id="Rc688c5f5b3dd4b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360893d6fe4a5c" /><Relationship Type="http://schemas.openxmlformats.org/officeDocument/2006/relationships/notesMaster" Target="/ppt/notesMasters/notesMaster1.xml" Id="Rbb4c646dbe6b48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a70af0a674057" /><Relationship Type="http://schemas.openxmlformats.org/officeDocument/2006/relationships/notesMaster" Target="/ppt/notesMasters/notesMaster1.xml" Id="R26aa9961d3834c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21177842b4bac" /><Relationship Type="http://schemas.openxmlformats.org/officeDocument/2006/relationships/notesMaster" Target="/ppt/notesMasters/notesMaster1.xml" Id="Rd0c32808782e44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3c372be5e44403" /><Relationship Type="http://schemas.openxmlformats.org/officeDocument/2006/relationships/notesMaster" Target="/ppt/notesMasters/notesMaster1.xml" Id="R23d53ec0dc2746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877285675430a" /><Relationship Type="http://schemas.openxmlformats.org/officeDocument/2006/relationships/notesMaster" Target="/ppt/notesMasters/notesMaster1.xml" Id="R296ac1d2d19449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101c335f784ead" /><Relationship Type="http://schemas.openxmlformats.org/officeDocument/2006/relationships/notesMaster" Target="/ppt/notesMasters/notesMaster1.xml" Id="Rc6c6817fef9d42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4482d0c3d24a95" /><Relationship Type="http://schemas.openxmlformats.org/officeDocument/2006/relationships/notesMaster" Target="/ppt/notesMasters/notesMaster1.xml" Id="Re28749c015634b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86b0b583bf47c6" /><Relationship Type="http://schemas.openxmlformats.org/officeDocument/2006/relationships/notesMaster" Target="/ppt/notesMasters/notesMaster1.xml" Id="Rdce14b44e54a44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f924f45fec4a2c" /><Relationship Type="http://schemas.openxmlformats.org/officeDocument/2006/relationships/notesMaster" Target="/ppt/notesMasters/notesMaster1.xml" Id="R39c5021923b642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3d0afb3570458f" /><Relationship Type="http://schemas.openxmlformats.org/officeDocument/2006/relationships/notesMaster" Target="/ppt/notesMasters/notesMaster1.xml" Id="Rae9d1b17ba5843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c560e925654a98" /><Relationship Type="http://schemas.openxmlformats.org/officeDocument/2006/relationships/notesMaster" Target="/ppt/notesMasters/notesMaster1.xml" Id="Rdb0bcaa152c845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0fa493ec224ef3" /><Relationship Type="http://schemas.openxmlformats.org/officeDocument/2006/relationships/notesMaster" Target="/ppt/notesMasters/notesMaster1.xml" Id="R080e93156b4347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9e00b8fab64403" /><Relationship Type="http://schemas.openxmlformats.org/officeDocument/2006/relationships/notesMaster" Target="/ppt/notesMasters/notesMaster1.xml" Id="Rc45d371166d143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f7dba625b54a77" /><Relationship Type="http://schemas.openxmlformats.org/officeDocument/2006/relationships/notesMaster" Target="/ppt/notesMasters/notesMaster1.xml" Id="Re4fb7df98d8548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a75b12918b4128" /><Relationship Type="http://schemas.openxmlformats.org/officeDocument/2006/relationships/notesMaster" Target="/ppt/notesMasters/notesMaster1.xml" Id="Rdbdb293eaef24b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7e27e06eb6497f" /><Relationship Type="http://schemas.openxmlformats.org/officeDocument/2006/relationships/notesMaster" Target="/ppt/notesMasters/notesMaster1.xml" Id="R39e9455b51c54c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c3a297c18449db" /><Relationship Type="http://schemas.openxmlformats.org/officeDocument/2006/relationships/notesMaster" Target="/ppt/notesMasters/notesMaster1.xml" Id="R0cb94c18b8ff49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b605148dc542c9" /><Relationship Type="http://schemas.openxmlformats.org/officeDocument/2006/relationships/notesMaster" Target="/ppt/notesMasters/notesMaster1.xml" Id="R72860688b5f146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c982a93a234f3e" /><Relationship Type="http://schemas.openxmlformats.org/officeDocument/2006/relationships/notesMaster" Target="/ppt/notesMasters/notesMaster1.xml" Id="Refaa340923564f5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b6db3d69d8747e3" /><Relationship Type="http://schemas.openxmlformats.org/officeDocument/2006/relationships/notesMaster" Target="/ppt/notesMasters/notesMaster1.xml" Id="R03fac703e7384a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bc36f072ef474e" /><Relationship Type="http://schemas.openxmlformats.org/officeDocument/2006/relationships/notesMaster" Target="/ppt/notesMasters/notesMaster1.xml" Id="R95283d58788f46f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1015f5d587479e" /><Relationship Type="http://schemas.openxmlformats.org/officeDocument/2006/relationships/notesMaster" Target="/ppt/notesMasters/notesMaster1.xml" Id="R6167650c2f2446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53f4ef39214b4c" /><Relationship Type="http://schemas.openxmlformats.org/officeDocument/2006/relationships/notesMaster" Target="/ppt/notesMasters/notesMaster1.xml" Id="R81036e646ea145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d3b94090d44a84" /><Relationship Type="http://schemas.openxmlformats.org/officeDocument/2006/relationships/notesMaster" Target="/ppt/notesMasters/notesMaster1.xml" Id="R9b05f2b384af4e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39522a448de4c25" /><Relationship Type="http://schemas.openxmlformats.org/officeDocument/2006/relationships/notesMaster" Target="/ppt/notesMasters/notesMaster1.xml" Id="R76d86a1085aa4a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eb5571015e44eb" /><Relationship Type="http://schemas.openxmlformats.org/officeDocument/2006/relationships/notesMaster" Target="/ppt/notesMasters/notesMaster1.xml" Id="R8c3a0344930f41a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31be70f33c04509" /><Relationship Type="http://schemas.openxmlformats.org/officeDocument/2006/relationships/notesMaster" Target="/ppt/notesMasters/notesMaster1.xml" Id="R2d784eaa7d07465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a1090d5d1e485c" /><Relationship Type="http://schemas.openxmlformats.org/officeDocument/2006/relationships/notesMaster" Target="/ppt/notesMasters/notesMaster1.xml" Id="R5426fde5b8244e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1522b2f67e047d5" /><Relationship Type="http://schemas.openxmlformats.org/officeDocument/2006/relationships/notesMaster" Target="/ppt/notesMasters/notesMaster1.xml" Id="Rbcc5a9f1856e4a4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3cb20145e4f436f" /><Relationship Type="http://schemas.openxmlformats.org/officeDocument/2006/relationships/notesMaster" Target="/ppt/notesMasters/notesMaster1.xml" Id="Ref494076e5f64bd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4a781eeda5844d7" /><Relationship Type="http://schemas.openxmlformats.org/officeDocument/2006/relationships/notesMaster" Target="/ppt/notesMasters/notesMaster1.xml" Id="R4feb6337fc70433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5f693e509f8433f" /><Relationship Type="http://schemas.openxmlformats.org/officeDocument/2006/relationships/notesMaster" Target="/ppt/notesMasters/notesMaster1.xml" Id="Rc06839629173473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ff03f96cbda4fa5" /><Relationship Type="http://schemas.openxmlformats.org/officeDocument/2006/relationships/notesMaster" Target="/ppt/notesMasters/notesMaster1.xml" Id="R7fb81bff192845e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8834054de804f6c" /><Relationship Type="http://schemas.openxmlformats.org/officeDocument/2006/relationships/notesMaster" Target="/ppt/notesMasters/notesMaster1.xml" Id="R7d1d74555b7d481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e479ae537794448" /><Relationship Type="http://schemas.openxmlformats.org/officeDocument/2006/relationships/notesMaster" Target="/ppt/notesMasters/notesMaster1.xml" Id="R0a7323ae0f7f4b6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1466423d9c345cf" /><Relationship Type="http://schemas.openxmlformats.org/officeDocument/2006/relationships/notesMaster" Target="/ppt/notesMasters/notesMaster1.xml" Id="R47a40eb582b9434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e803a774b704344" /><Relationship Type="http://schemas.openxmlformats.org/officeDocument/2006/relationships/notesMaster" Target="/ppt/notesMasters/notesMaster1.xml" Id="Rd5b2dcd841ed44a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ca7aca163f5436d" /><Relationship Type="http://schemas.openxmlformats.org/officeDocument/2006/relationships/notesMaster" Target="/ppt/notesMasters/notesMaster1.xml" Id="Rd336ff2039a5470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8817f3b1b79466d" /><Relationship Type="http://schemas.openxmlformats.org/officeDocument/2006/relationships/notesMaster" Target="/ppt/notesMasters/notesMaster1.xml" Id="Rf37bb7d8165c4e4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1acb7e231c64d5c" /><Relationship Type="http://schemas.openxmlformats.org/officeDocument/2006/relationships/notesMaster" Target="/ppt/notesMasters/notesMaster1.xml" Id="R345c96e5b1ef4cc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e4054fe242242d1" /><Relationship Type="http://schemas.openxmlformats.org/officeDocument/2006/relationships/notesMaster" Target="/ppt/notesMasters/notesMaster1.xml" Id="Ra492b711eead468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a00bedd55b243ab" /><Relationship Type="http://schemas.openxmlformats.org/officeDocument/2006/relationships/notesMaster" Target="/ppt/notesMasters/notesMaster1.xml" Id="R496a8f01566544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8fa097dc55943c5" /><Relationship Type="http://schemas.openxmlformats.org/officeDocument/2006/relationships/notesMaster" Target="/ppt/notesMasters/notesMaster1.xml" Id="Rd22c86d13451474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95279f1023e4eed" /><Relationship Type="http://schemas.openxmlformats.org/officeDocument/2006/relationships/notesMaster" Target="/ppt/notesMasters/notesMaster1.xml" Id="R3ce536d45db547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e62c5207b9644e7" /><Relationship Type="http://schemas.openxmlformats.org/officeDocument/2006/relationships/notesMaster" Target="/ppt/notesMasters/notesMaster1.xml" Id="R9f494e70969a4c6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3081d25f7dd4ca8" /><Relationship Type="http://schemas.openxmlformats.org/officeDocument/2006/relationships/notesMaster" Target="/ppt/notesMasters/notesMaster1.xml" Id="R93141b06e9084af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3d7d6ef10d34d44" /><Relationship Type="http://schemas.openxmlformats.org/officeDocument/2006/relationships/notesMaster" Target="/ppt/notesMasters/notesMaster1.xml" Id="R1377ba7aafd04d9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d5a2ca9dff74235" /><Relationship Type="http://schemas.openxmlformats.org/officeDocument/2006/relationships/notesMaster" Target="/ppt/notesMasters/notesMaster1.xml" Id="R9b4213dbac874ca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8feaa4578034ae9" /><Relationship Type="http://schemas.openxmlformats.org/officeDocument/2006/relationships/notesMaster" Target="/ppt/notesMasters/notesMaster1.xml" Id="R347392084add4c2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5590a36e3ac4b7b" /><Relationship Type="http://schemas.openxmlformats.org/officeDocument/2006/relationships/notesMaster" Target="/ppt/notesMasters/notesMaster1.xml" Id="R525a590dc61945d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7644804ebe54eab" /><Relationship Type="http://schemas.openxmlformats.org/officeDocument/2006/relationships/notesMaster" Target="/ppt/notesMasters/notesMaster1.xml" Id="Rf3c3ff38f8c44de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91876a951a8420d" /><Relationship Type="http://schemas.openxmlformats.org/officeDocument/2006/relationships/notesMaster" Target="/ppt/notesMasters/notesMaster1.xml" Id="R4d53fd91d961413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d9233285f374857" /><Relationship Type="http://schemas.openxmlformats.org/officeDocument/2006/relationships/notesMaster" Target="/ppt/notesMasters/notesMaster1.xml" Id="R707f464dedeb42b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237d45094874c16" /><Relationship Type="http://schemas.openxmlformats.org/officeDocument/2006/relationships/notesMaster" Target="/ppt/notesMasters/notesMaster1.xml" Id="R7365dbb862c8409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1af223c3fd94113" /><Relationship Type="http://schemas.openxmlformats.org/officeDocument/2006/relationships/notesMaster" Target="/ppt/notesMasters/notesMaster1.xml" Id="R57ae0c57a5ad412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131db024fce4eb9" /><Relationship Type="http://schemas.openxmlformats.org/officeDocument/2006/relationships/notesMaster" Target="/ppt/notesMasters/notesMaster1.xml" Id="R54ce51f22fd843b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f9148be14b247b0" /><Relationship Type="http://schemas.openxmlformats.org/officeDocument/2006/relationships/notesMaster" Target="/ppt/notesMasters/notesMaster1.xml" Id="Rd56e8209b9da4d5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1d4ae2f0a5a404b" /><Relationship Type="http://schemas.openxmlformats.org/officeDocument/2006/relationships/notesMaster" Target="/ppt/notesMasters/notesMaster1.xml" Id="Raa22452d959c4be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fa61cbe6a944516" /><Relationship Type="http://schemas.openxmlformats.org/officeDocument/2006/relationships/notesMaster" Target="/ppt/notesMasters/notesMaster1.xml" Id="R91ffaa678d664f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supplied in CGPA_Final_Clean_Slide_Plan_WEKA_Only.md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Reference: user-supplied What_Shapes_Student_CGPA_Final_64_Slides_Ready.pptx, slide 6. Exact embedded screenshot assets reused.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teacher_focused_final/assets/dataset_screenshots/raw_responses_preview.png, rendered raw KUET CSV preview.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evidence/data.json, Spearman rank correlations on 1,102 rows with observed SGPA. Signs follow the response order in backup.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evidence/data.json, paired Spearman correlations on identical N=1,102.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sgpa_J48_cv.txt, sgpa_RandomForest_cv.txt, sgpa_SMO_cv.txt, sgpa_Logistic_cv.txt, sgpa_NaiveBayes_cv.txt, sgpa_ZeroR_cv.txt; questionnaire_J48_cv.txt, questionnaire_RandomForest_cv.txt, questionnaire_SMO_cv.txt, questionnaire_Logistic_cv.txt, questionnaire_NaiveBayes_cv.txt, questionnaire_ZeroR_cv.txt; main_J48_cv.txt, main_RandomForest_cv.txt, main_SMO_cv.txt, main_Logistic_cv.txt, main_NaiveBayes_cv.txt, main_ZeroR_cv.txt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evidence/split_indices.csv and data_provenance.json. CGPA-stratified existing split, seed 42, shared across all targets.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sgpa_J48_holdout.txt, sgpa_tree.dot, sgpa_weka_viewer.png. Exact WEKA TreeVisualizer export. Numeric option codes are listed in backup. Leaf (N/errors) denotes training support and training errors.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rules: sgpa_tree.txt and results.json. These are predictions from tree branches, not causal statements.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questionnaire_J48_holdout.txt, questionnaire_tree.dot, questionnaire_weka_viewer.png. Exact WEKA TreeVisualizer export. Numeric option codes are listed in backup. Leaf (N/errors) denotes training support and training errors.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rules: questionnaire_tree.txt and results.json. These are predictions from tree branches, not causal statements.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main_J48_holdout.txt, main_tree.dot, main_weka_viewer.png. Exact WEKA TreeVisualizer export. Numeric option codes are listed in backup. Leaf (N/errors) denotes training support and training errors.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rules: main_tree.txt and results.json. These are predictions from tree branches, not causal statements.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sgpa_J48_holdout.txt, questionnaire_J48_holdout.txt, main_J48_holdout.txt. All J48 models C=.25 M=40.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main_J48_holdout.txt, TEST section, 221 held-out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main_RandomForest_cv.txt, main_SMO_cv.txt.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main_Logistic_cv.txt, main_NaiveBayes_cv.txt.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main_ZeroR_cv.txt.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main_J48_cv.txt, main_RandomForest_cv.txt, main_SMO_cv.txt, main_Logistic_cv.txt, main_NaiveBayes_cv.txt, main_ZeroR_cv.txt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Ahmed (2024): https://doi.org/10.1155/2024/4067721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Maruf et al. ICCIT 2024: https://doi.org/10.1109/ICCIT64611.2024.11021990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Albonny &amp; Duru (2026): https://dergipark.org.tr/tr/pub/ijonfest/article/1879280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Ahmed (2024): https://doi.org/10.1155/2024/4067721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Maruf et al. ICCIT 2024: https://doi.org/10.1109/ICCIT64611.2024.11021990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Albonny &amp; Duru (2026): https://dergipark.org.tr/tr/pub/ijonfest/article/1879280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results: main_J48_cv.txt, main_RandomForest_cv.txt, main_SMO_cv.txt, main_Logistic_cv.txt, main_NaiveBayes_cv.txt, main_ZeroR_cv.txt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raw questionnaire, cleaning_verification.log, data_provenance.json. Questionnaire source-mode imputation used full dataset before CV.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names and rolls retained from existing deck source.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evidence/data.json. Derived from verified raw survey records.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raw CSV question headers and data_dictionary.csv. Fields below are excluded from the 12-input questionnaire 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cleaning_verification.log and data_provenance.json.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J48: -C 0.25 -M 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Random Forest: -P 100 -I 100 -num-slots 1 -K 0 -M 1.0 -V 0.001 -S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SMO: -C 1.0 -L 0.001 -P 1.0E-12 -N 0 -V -1 -W 1 -K "weka.classifiers.functions.supportVector.PolyKernel -E 1.0 -C 250007" -calibrator "weka.classifiers.functions.Logistic -R 1.0E-8 -M -1 -num-decimal-places 4"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Logistic: -R 1.0E-8 -M -1 -num-decimal-places 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Naive Bayes: 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ZeroR: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sgpa_tree.txt. Exact text from WEKA.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questionnaire_tree.txt. Exact text from WEKA.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main_tree.txt. Exact text from WEKA.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sgpa_J48_cv.txt, sgpa_RandomForest_cv.txt, sgpa_SMO_cv.txt, sgpa_Logistic_cv.txt, sgpa_NaiveBayes_cv.txt, sgpa_ZeroR_cv.txt. Macro F1 from WEKA confusion matrices.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questionnaire_J48_cv.txt, questionnaire_RandomForest_cv.txt, questionnaire_SMO_cv.txt, questionnaire_Logistic_cv.txt, questionnaire_NaiveBayes_cv.txt, questionnaire_ZeroR_cv.txt. Macro F1 from WEKA confusion matrices.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main_J48_cv.txt, main_RandomForest_cv.txt, main_SMO_cv.txt, main_Logistic_cv.txt, main_NaiveBayes_cv.txt, main_ZeroR_cv.txt. Macro F1 from WEKA confusion matrices.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sgpa_weka_output.png renders the verbatim WEKA test log in a Swing text component. It is not a screenshot of the Explorer window.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questionnaire_weka_output.png renders the verbatim WEKA test log in a Swing text component. It is not a screenshot of the Explorer window.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main_weka_output.png renders the verbatim WEKA test log in a Swing text component. It is not a screenshot of the Explorer window.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existing teacher_focused_final/scripts/build_deck.py. Roles were marked draft in the existing source.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32ccf8d434b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ebebf10e24d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23c264cd24f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741abfb7e48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e8cf26e514c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6e5888c6849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b4e05e9864b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281bdf5764b3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aefcedfa043b5" /><Relationship Type="http://schemas.openxmlformats.org/officeDocument/2006/relationships/slideLayout" Target="/ppt/slideLayouts/slideLayout1.xml" Id="R1a6f651777964f8b" /><Relationship Type="http://schemas.openxmlformats.org/officeDocument/2006/relationships/slideLayout" Target="/ppt/slideLayouts/slideLayout2.xml" Id="Rc714740fa40e42ca" /><Relationship Type="http://schemas.openxmlformats.org/officeDocument/2006/relationships/slideLayout" Target="/ppt/slideLayouts/slideLayout3.xml" Id="R13eb16f5964a46c0" /><Relationship Type="http://schemas.openxmlformats.org/officeDocument/2006/relationships/slideLayout" Target="/ppt/slideLayouts/slideLayout4.xml" Id="R8da20471bb9b4b33" /><Relationship Type="http://schemas.openxmlformats.org/officeDocument/2006/relationships/slideLayout" Target="/ppt/slideLayouts/slideLayout5.xml" Id="R194cb217a8ff463b" /><Relationship Type="http://schemas.openxmlformats.org/officeDocument/2006/relationships/slideLayout" Target="/ppt/slideLayouts/slideLayout6.xml" Id="R960ced90cef84d22" /><Relationship Type="http://schemas.openxmlformats.org/officeDocument/2006/relationships/slideLayout" Target="/ppt/slideLayouts/slideLayout7.xml" Id="R274101aca8d84d23" /><Relationship Type="http://schemas.openxmlformats.org/officeDocument/2006/relationships/slideLayout" Target="/ppt/slideLayouts/slideLayout8.xml" Id="R4599042ef00240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6f651777964f8b"/>
    <p:sldLayoutId xmlns:r="http://schemas.openxmlformats.org/officeDocument/2006/relationships" id="2147483650" r:id="Rc714740fa40e42ca"/>
    <p:sldLayoutId xmlns:r="http://schemas.openxmlformats.org/officeDocument/2006/relationships" id="2147483651" r:id="R13eb16f5964a46c0"/>
    <p:sldLayoutId xmlns:r="http://schemas.openxmlformats.org/officeDocument/2006/relationships" id="2147483652" r:id="R8da20471bb9b4b33"/>
    <p:sldLayoutId xmlns:r="http://schemas.openxmlformats.org/officeDocument/2006/relationships" id="2147483653" r:id="R194cb217a8ff463b"/>
    <p:sldLayoutId xmlns:r="http://schemas.openxmlformats.org/officeDocument/2006/relationships" id="2147483654" r:id="R960ced90cef84d22"/>
    <p:sldLayoutId xmlns:r="http://schemas.openxmlformats.org/officeDocument/2006/relationships" id="2147483655" r:id="R274101aca8d84d23"/>
    <p:sldLayoutId xmlns:r="http://schemas.openxmlformats.org/officeDocument/2006/relationships" id="2147483656" r:id="R4599042ef002402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33a2664a54768" /><Relationship Type="http://schemas.openxmlformats.org/officeDocument/2006/relationships/notesSlide" Target="/ppt/notesSlides/notesSlide1.xml" Id="R201027ad135d4f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9c5b1a7a944b33" /><Relationship Type="http://schemas.openxmlformats.org/officeDocument/2006/relationships/notesSlide" Target="/ppt/notesSlides/notesSlide2.xml" Id="Ra185d385c9b2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172a98b1b48c2" /><Relationship Type="http://schemas.openxmlformats.org/officeDocument/2006/relationships/image" Target="/ppt/media/image.png" Id="Rf6e52992bb384b1e" /><Relationship Type="http://schemas.openxmlformats.org/officeDocument/2006/relationships/image" Target="/ppt/media/image2.png" Id="R59d346d8fc84412f" /><Relationship Type="http://schemas.openxmlformats.org/officeDocument/2006/relationships/image" Target="/ppt/media/image3.png" Id="R6b5eb1cf865a4e95" /><Relationship Type="http://schemas.openxmlformats.org/officeDocument/2006/relationships/image" Target="/ppt/media/image4.png" Id="Rb1ec3a3e95614a88" /><Relationship Type="http://schemas.openxmlformats.org/officeDocument/2006/relationships/image" Target="/ppt/media/image5.png" Id="Rb3188fcbd7214683" /><Relationship Type="http://schemas.openxmlformats.org/officeDocument/2006/relationships/notesSlide" Target="/ppt/notesSlides/notesSlide3.xml" Id="Rb4c58b75b6fc49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db568f73b4951" /><Relationship Type="http://schemas.openxmlformats.org/officeDocument/2006/relationships/image" Target="/ppt/media/image6.png" Id="R5976b597fe8c4fdf" /><Relationship Type="http://schemas.openxmlformats.org/officeDocument/2006/relationships/notesSlide" Target="/ppt/notesSlides/notesSlide4.xml" Id="R4281b693daaf46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72db3a0a94201" /><Relationship Type="http://schemas.openxmlformats.org/officeDocument/2006/relationships/notesSlide" Target="/ppt/notesSlides/notesSlide5.xml" Id="Rc11c3751b12b45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98cb71a794023" /><Relationship Type="http://schemas.openxmlformats.org/officeDocument/2006/relationships/notesSlide" Target="/ppt/notesSlides/notesSlide6.xml" Id="R85c38714d47f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8f26479514e13" /><Relationship Type="http://schemas.openxmlformats.org/officeDocument/2006/relationships/notesSlide" Target="/ppt/notesSlides/notesSlide7.xml" Id="R4d2af813b2b44d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5307074cd4eb5" /><Relationship Type="http://schemas.openxmlformats.org/officeDocument/2006/relationships/notesSlide" Target="/ppt/notesSlides/notesSlide8.xml" Id="R73f37d3dc09549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bf25519fb4445" /><Relationship Type="http://schemas.openxmlformats.org/officeDocument/2006/relationships/notesSlide" Target="/ppt/notesSlides/notesSlide9.xml" Id="R6759f0a7245245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cac71aa114717" /><Relationship Type="http://schemas.openxmlformats.org/officeDocument/2006/relationships/notesSlide" Target="/ppt/notesSlides/notesSlide10.xml" Id="R4fd0242ebd6645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37d75b239d4472" /><Relationship Type="http://schemas.openxmlformats.org/officeDocument/2006/relationships/notesSlide" Target="/ppt/notesSlides/notesSlide11.xml" Id="Rfdcad5bb1c95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363cb37dc4224" /><Relationship Type="http://schemas.openxmlformats.org/officeDocument/2006/relationships/notesSlide" Target="/ppt/notesSlides/notesSlide12.xml" Id="R998ccfa5273348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fbb8dfca444a8" /><Relationship Type="http://schemas.openxmlformats.org/officeDocument/2006/relationships/notesSlide" Target="/ppt/notesSlides/notesSlide13.xml" Id="R2a681fc9705b48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829032bd294a18" /><Relationship Type="http://schemas.openxmlformats.org/officeDocument/2006/relationships/notesSlide" Target="/ppt/notesSlides/notesSlide14.xml" Id="Ra377a8e4c45544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5716eb01a485f" /><Relationship Type="http://schemas.openxmlformats.org/officeDocument/2006/relationships/notesSlide" Target="/ppt/notesSlides/notesSlide15.xml" Id="R92c87a0d5e344a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9cc2686a04755" /><Relationship Type="http://schemas.openxmlformats.org/officeDocument/2006/relationships/notesSlide" Target="/ppt/notesSlides/notesSlide16.xml" Id="R8209f4525e6b42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5b5fd6360b4d98" /><Relationship Type="http://schemas.openxmlformats.org/officeDocument/2006/relationships/notesSlide" Target="/ppt/notesSlides/notesSlide17.xml" Id="R0519f7a27e8947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abb435c5047d8" /><Relationship Type="http://schemas.openxmlformats.org/officeDocument/2006/relationships/notesSlide" Target="/ppt/notesSlides/notesSlide18.xml" Id="Rdaade148558140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eb5ddc85d4991" /><Relationship Type="http://schemas.openxmlformats.org/officeDocument/2006/relationships/notesSlide" Target="/ppt/notesSlides/notesSlide19.xml" Id="R6b61186f33f842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8372958a942e0" /><Relationship Type="http://schemas.openxmlformats.org/officeDocument/2006/relationships/notesSlide" Target="/ppt/notesSlides/notesSlide20.xml" Id="R9287a30d7a7e42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89166a53a8427f" /><Relationship Type="http://schemas.openxmlformats.org/officeDocument/2006/relationships/notesSlide" Target="/ppt/notesSlides/notesSlide21.xml" Id="R640f6ba3204a49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a73c52dc44ccb" /><Relationship Type="http://schemas.openxmlformats.org/officeDocument/2006/relationships/notesSlide" Target="/ppt/notesSlides/notesSlide22.xml" Id="R3e7b16b7f53341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26a4eb8a64bdc" /><Relationship Type="http://schemas.openxmlformats.org/officeDocument/2006/relationships/notesSlide" Target="/ppt/notesSlides/notesSlide23.xml" Id="Rf417b312df1d47a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9bc3e0435a4e43" /><Relationship Type="http://schemas.openxmlformats.org/officeDocument/2006/relationships/notesSlide" Target="/ppt/notesSlides/notesSlide24.xml" Id="R53de1fa889584a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7eea7f6c44e29" /><Relationship Type="http://schemas.openxmlformats.org/officeDocument/2006/relationships/notesSlide" Target="/ppt/notesSlides/notesSlide25.xml" Id="Rcdaeb86f348a4c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0370a55ce14c73" /><Relationship Type="http://schemas.openxmlformats.org/officeDocument/2006/relationships/notesSlide" Target="/ppt/notesSlides/notesSlide26.xml" Id="R6d706a36719545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097353ee744f2" /><Relationship Type="http://schemas.openxmlformats.org/officeDocument/2006/relationships/notesSlide" Target="/ppt/notesSlides/notesSlide27.xml" Id="R2ca565badc7e4f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3dcaacdcf4d30" /><Relationship Type="http://schemas.openxmlformats.org/officeDocument/2006/relationships/notesSlide" Target="/ppt/notesSlides/notesSlide28.xml" Id="R68828e02bc2044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180b49fc4444e" /><Relationship Type="http://schemas.openxmlformats.org/officeDocument/2006/relationships/notesSlide" Target="/ppt/notesSlides/notesSlide29.xml" Id="R4a3b7402ac9540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d4a164339e438d" /><Relationship Type="http://schemas.openxmlformats.org/officeDocument/2006/relationships/notesSlide" Target="/ppt/notesSlides/notesSlide30.xml" Id="R8454cd9bf4054c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68b97bc8741d3" /><Relationship Type="http://schemas.openxmlformats.org/officeDocument/2006/relationships/notesSlide" Target="/ppt/notesSlides/notesSlide31.xml" Id="Rd6d1e09c01dc49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346684b81444bf" /><Relationship Type="http://schemas.openxmlformats.org/officeDocument/2006/relationships/image" Target="/ppt/media/image7.png" Id="Rab9a54e88264487c" /><Relationship Type="http://schemas.openxmlformats.org/officeDocument/2006/relationships/notesSlide" Target="/ppt/notesSlides/notesSlide32.xml" Id="R70784b7db9524a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4d2c4a8d74cbd" /><Relationship Type="http://schemas.openxmlformats.org/officeDocument/2006/relationships/notesSlide" Target="/ppt/notesSlides/notesSlide33.xml" Id="Rd956beb1c19a42b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8014801d54002" /><Relationship Type="http://schemas.openxmlformats.org/officeDocument/2006/relationships/image" Target="/ppt/media/image8.png" Id="Rf82f66de1c0840c5" /><Relationship Type="http://schemas.openxmlformats.org/officeDocument/2006/relationships/notesSlide" Target="/ppt/notesSlides/notesSlide34.xml" Id="R05c20d0147954ee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44861b8a45485e" /><Relationship Type="http://schemas.openxmlformats.org/officeDocument/2006/relationships/notesSlide" Target="/ppt/notesSlides/notesSlide35.xml" Id="R220ab215d622446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7c71c27c314de8" /><Relationship Type="http://schemas.openxmlformats.org/officeDocument/2006/relationships/image" Target="/ppt/media/image9.png" Id="Rde37fd7fca6d4cfd" /><Relationship Type="http://schemas.openxmlformats.org/officeDocument/2006/relationships/notesSlide" Target="/ppt/notesSlides/notesSlide36.xml" Id="R578532603e6f4e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5305ee013455b" /><Relationship Type="http://schemas.openxmlformats.org/officeDocument/2006/relationships/notesSlide" Target="/ppt/notesSlides/notesSlide37.xml" Id="Rf61cc3c262d447a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30f9b217a4e4d" /><Relationship Type="http://schemas.openxmlformats.org/officeDocument/2006/relationships/notesSlide" Target="/ppt/notesSlides/notesSlide38.xml" Id="R8c2f8daa232042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1f47a82ed4cb7" /><Relationship Type="http://schemas.openxmlformats.org/officeDocument/2006/relationships/notesSlide" Target="/ppt/notesSlides/notesSlide39.xml" Id="R70b9159116f44c3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0342862f04a26" /><Relationship Type="http://schemas.openxmlformats.org/officeDocument/2006/relationships/notesSlide" Target="/ppt/notesSlides/notesSlide40.xml" Id="R6e602ee9037f4a4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76cfa914b42a3" /><Relationship Type="http://schemas.openxmlformats.org/officeDocument/2006/relationships/notesSlide" Target="/ppt/notesSlides/notesSlide41.xml" Id="R625710704ddc49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11c9e6d094b2d" /><Relationship Type="http://schemas.openxmlformats.org/officeDocument/2006/relationships/notesSlide" Target="/ppt/notesSlides/notesSlide42.xml" Id="Rcd4eb5cdd3924de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cc8da6c754dc7" /><Relationship Type="http://schemas.openxmlformats.org/officeDocument/2006/relationships/chart" Target="/ppt/slides/charts/chart1.xml" Id="Rcf95a3e5986d4b14" /><Relationship Type="http://schemas.openxmlformats.org/officeDocument/2006/relationships/notesSlide" Target="/ppt/notesSlides/notesSlide43.xml" Id="R9362b992efac41b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6dd93afee43bb" /><Relationship Type="http://schemas.openxmlformats.org/officeDocument/2006/relationships/notesSlide" Target="/ppt/notesSlides/notesSlide44.xml" Id="Rb5b28c17955c446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10d842ee84ebf" /><Relationship Type="http://schemas.openxmlformats.org/officeDocument/2006/relationships/notesSlide" Target="/ppt/notesSlides/notesSlide45.xml" Id="R5b781f216219432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17e0de1344926" /><Relationship Type="http://schemas.openxmlformats.org/officeDocument/2006/relationships/notesSlide" Target="/ppt/notesSlides/notesSlide46.xml" Id="Rd94fa2445e16478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ecded3266447a" /><Relationship Type="http://schemas.openxmlformats.org/officeDocument/2006/relationships/notesSlide" Target="/ppt/notesSlides/notesSlide47.xml" Id="R4a53d5cece4e479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9a2ab8e50d482a" /><Relationship Type="http://schemas.openxmlformats.org/officeDocument/2006/relationships/notesSlide" Target="/ppt/notesSlides/notesSlide48.xml" Id="R5d2fc22fbd46453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6120db1d344fb" /><Relationship Type="http://schemas.openxmlformats.org/officeDocument/2006/relationships/notesSlide" Target="/ppt/notesSlides/notesSlide49.xml" Id="Ree3631e55c414ca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c34ef018b457d" /><Relationship Type="http://schemas.openxmlformats.org/officeDocument/2006/relationships/notesSlide" Target="/ppt/notesSlides/notesSlide50.xml" Id="R5467f9c834aa422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c2cbf4f494844" /><Relationship Type="http://schemas.openxmlformats.org/officeDocument/2006/relationships/notesSlide" Target="/ppt/notesSlides/notesSlide51.xml" Id="Rcbe910a43cd7474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4819d394d447f" /><Relationship Type="http://schemas.openxmlformats.org/officeDocument/2006/relationships/notesSlide" Target="/ppt/notesSlides/notesSlide52.xml" Id="R3e071c68683f4f6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bf3aa1c80c407d" /><Relationship Type="http://schemas.openxmlformats.org/officeDocument/2006/relationships/notesSlide" Target="/ppt/notesSlides/notesSlide53.xml" Id="R7b13452f1d2f477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d97c4bf3243e5" /><Relationship Type="http://schemas.openxmlformats.org/officeDocument/2006/relationships/notesSlide" Target="/ppt/notesSlides/notesSlide54.xml" Id="R2c0dd67c2a2a4b8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587f602f64856" /><Relationship Type="http://schemas.openxmlformats.org/officeDocument/2006/relationships/notesSlide" Target="/ppt/notesSlides/notesSlide55.xml" Id="Ref386dcbf22845a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bab2cf98454840" /><Relationship Type="http://schemas.openxmlformats.org/officeDocument/2006/relationships/notesSlide" Target="/ppt/notesSlides/notesSlide56.xml" Id="R7ae24cf9b3cf450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b73ca11ee4657" /><Relationship Type="http://schemas.openxmlformats.org/officeDocument/2006/relationships/notesSlide" Target="/ppt/notesSlides/notesSlide57.xml" Id="Rd2219dd5cd02438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44ddbdd894375" /><Relationship Type="http://schemas.openxmlformats.org/officeDocument/2006/relationships/notesSlide" Target="/ppt/notesSlides/notesSlide58.xml" Id="Re5fa55fd2bd747f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f711e38454650" /><Relationship Type="http://schemas.openxmlformats.org/officeDocument/2006/relationships/notesSlide" Target="/ppt/notesSlides/notesSlide59.xml" Id="Rb1f7d32ab4584ff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31ec368bf4cf7" /><Relationship Type="http://schemas.openxmlformats.org/officeDocument/2006/relationships/notesSlide" Target="/ppt/notesSlides/notesSlide60.xml" Id="R74e7fe0117b44d6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22367265643a8" /><Relationship Type="http://schemas.openxmlformats.org/officeDocument/2006/relationships/notesSlide" Target="/ppt/notesSlides/notesSlide61.xml" Id="Ra7afd3bf1ab7491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fe07115e84b74" /><Relationship Type="http://schemas.openxmlformats.org/officeDocument/2006/relationships/notesSlide" Target="/ppt/notesSlides/notesSlide62.xml" Id="Rb478dd1e58354d1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b0ecf9b0884177" /><Relationship Type="http://schemas.openxmlformats.org/officeDocument/2006/relationships/image" Target="/ppt/media/image10.png" Id="R1ea706fdda8b47ec" /><Relationship Type="http://schemas.openxmlformats.org/officeDocument/2006/relationships/notesSlide" Target="/ppt/notesSlides/notesSlide63.xml" Id="Rc43e7fdd0ed94a2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99c63f3be54071" /><Relationship Type="http://schemas.openxmlformats.org/officeDocument/2006/relationships/image" Target="/ppt/media/image11.png" Id="R1eef94438a984a1b" /><Relationship Type="http://schemas.openxmlformats.org/officeDocument/2006/relationships/notesSlide" Target="/ppt/notesSlides/notesSlide64.xml" Id="R4e8d89b7212049b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b3020638a4515" /><Relationship Type="http://schemas.openxmlformats.org/officeDocument/2006/relationships/image" Target="/ppt/media/image12.png" Id="Rba6f674a94844a85" /><Relationship Type="http://schemas.openxmlformats.org/officeDocument/2006/relationships/notesSlide" Target="/ppt/notesSlides/notesSlide65.xml" Id="R4cf8132e0d2b43c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fc7df12b74907" /><Relationship Type="http://schemas.openxmlformats.org/officeDocument/2006/relationships/notesSlide" Target="/ppt/notesSlides/notesSlide66.xml" Id="Rb13221b4b0ad45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 xmlns:a="http://schemas.openxmlformats.org/drawingml/2006/main">
              <a:srgbClr val="2878CF"/>
            </a:solidFill>
          </c:spPr>
          <c:cat>
            <c:strRef>
              <c:f>'Chart Data'!$A$2:$A$7</c:f>
              <c:strCache>
                <c:ptCount val="6"/>
                <c:pt idx="0">
                  <c:v>ZeroR</c:v>
                </c:pt>
                <c:pt idx="1">
                  <c:v>J48</c:v>
                </c:pt>
                <c:pt idx="2">
                  <c:v>Random Forest</c:v>
                </c:pt>
                <c:pt idx="3">
                  <c:v>SMO</c:v>
                </c:pt>
                <c:pt idx="4">
                  <c:v>Logistic</c:v>
                </c:pt>
                <c:pt idx="5">
                  <c:v>Naive Bayes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29.0381</c:v>
                </c:pt>
                <c:pt idx="1">
                  <c:v>38.294</c:v>
                </c:pt>
                <c:pt idx="2">
                  <c:v>43.9201</c:v>
                </c:pt>
                <c:pt idx="3">
                  <c:v>37.1143</c:v>
                </c:pt>
                <c:pt idx="4">
                  <c:v>36.8421</c:v>
                </c:pt>
                <c:pt idx="5">
                  <c:v>38.1125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4500">
                <a:latin typeface="Times New Roman"/>
                <a:ea typeface="Times New Roman"/>
                <a:cs typeface="Times New Roman"/>
              </a:rPr>
              <a:t>What Shapes Student CGPA?</a:t>
            </a:r>
          </a:p>
        </p:txBody>
      </p:sp>
      <p:sp>
        <p:nvSpPr>
          <p:cNvPr id="5" name="An Engineering Student Academic Performance Dataset&#10;and">
            <a:extLst xmlns:a="http://schemas.openxmlformats.org/drawingml/2006/main">
              <a:ext uri="{FF2B5EF4-FFF2-40B4-BE49-F238E27FC236}">
                <a16:creationId xmlns:a16="http://schemas.microsoft.com/office/drawing/2014/main" id="{711E215F-4277-4A7C-815D-2A23937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An Engineering Student Academic Performance Dataset</a:t>
            </a:r>
          </a:p>
          <a:p xmlns:a="http://schemas.openxmlformats.org/drawingml/2006/main">
            <a:pPr>
              <a:def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and Machine Learning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9D05B-F980-493D-BCDD-BFDC30A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7" name="Student">
            <a:extLst xmlns:a="http://schemas.openxmlformats.org/drawingml/2006/main">
              <a:ext uri="{FF2B5EF4-FFF2-40B4-BE49-F238E27FC236}">
                <a16:creationId xmlns:a16="http://schemas.microsoft.com/office/drawing/2014/main" id="{6A0E1BA9-A86B-47C2-B8F1-DA2549A8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746D5-4276-4464-9D2F-C225B9FB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957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10F9D-4DA9-474D-92E1-79C948EE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10" name="Form">
            <a:extLst xmlns:a="http://schemas.openxmlformats.org/drawingml/2006/main">
              <a:ext uri="{FF2B5EF4-FFF2-40B4-BE49-F238E27FC236}">
                <a16:creationId xmlns:a16="http://schemas.microsoft.com/office/drawing/2014/main" id="{457DABF1-5158-42C0-83BF-809DDD6E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D7054-3823-4501-BC28-63DAE90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70A7A-2DB4-4231-834B-0853F061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13" name="Data">
            <a:extLst xmlns:a="http://schemas.openxmlformats.org/drawingml/2006/main">
              <a:ext uri="{FF2B5EF4-FFF2-40B4-BE49-F238E27FC236}">
                <a16:creationId xmlns:a16="http://schemas.microsoft.com/office/drawing/2014/main" id="{3A9B2AE5-3E9E-460F-93FF-CD82546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3537-3355-410E-BA7B-FA1B151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BC5D1-DC7F-4099-B6F4-9A05EB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16" name="Relation">
            <a:extLst xmlns:a="http://schemas.openxmlformats.org/drawingml/2006/main">
              <a:ext uri="{FF2B5EF4-FFF2-40B4-BE49-F238E27FC236}">
                <a16:creationId xmlns:a16="http://schemas.microsoft.com/office/drawing/2014/main" id="{F06CA0AA-6CCF-4BEB-9B93-A8EC9A74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22598-D47B-45A0-B6D1-505C7CD3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957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F77FE-0902-4879-A324-4DCE42B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19" name="WEKA">
            <a:extLst xmlns:a="http://schemas.openxmlformats.org/drawingml/2006/main">
              <a:ext uri="{FF2B5EF4-FFF2-40B4-BE49-F238E27FC236}">
                <a16:creationId xmlns:a16="http://schemas.microsoft.com/office/drawing/2014/main" id="{8A7E3D74-E9D9-4C90-8F6D-91848F3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45A80-9F38-4F6B-A06C-273D0FD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957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C5BD8-B59A-4998-B2C1-4E19B1F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38600"/>
            <a:ext cx="1590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22" name="CGPA">
            <a:extLst xmlns:a="http://schemas.openxmlformats.org/drawingml/2006/main">
              <a:ext uri="{FF2B5EF4-FFF2-40B4-BE49-F238E27FC236}">
                <a16:creationId xmlns:a16="http://schemas.microsoft.com/office/drawing/2014/main" id="{BA284EDD-7819-4AF6-95D5-B60D75C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81475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CGPA</a:t>
            </a:r>
          </a:p>
        </p:txBody>
      </p:sp>
      <p:sp>
        <p:nvSpPr>
          <p:cNvPr id="23" name="1,108 usable responses    BUET · BRAC · CUET · KUET">
            <a:extLst xmlns:a="http://schemas.openxmlformats.org/drawingml/2006/main">
              <a:ext uri="{FF2B5EF4-FFF2-40B4-BE49-F238E27FC236}">
                <a16:creationId xmlns:a16="http://schemas.microsoft.com/office/drawing/2014/main" id="{109121E7-8AA1-4FCF-BF03-9DDB1093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1,108 usable responses    BUET · BRAC · CUET · KUET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What are we trying to understand?</a:t>
            </a:r>
          </a:p>
        </p:txBody>
      </p:sp>
      <p:sp>
        <p:nvSpPr>
          <p:cNvPr id="534" name="01">
            <a:extLst xmlns:a="http://schemas.openxmlformats.org/drawingml/2006/main">
              <a:ext uri="{FF2B5EF4-FFF2-40B4-BE49-F238E27FC236}">
                <a16:creationId xmlns:a16="http://schemas.microsoft.com/office/drawing/2014/main" id="{1C4FE221-7D9D-49F9-AFB3-FF7D99D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35" name="What did students answer?">
            <a:extLst xmlns:a="http://schemas.openxmlformats.org/drawingml/2006/main">
              <a:ext uri="{FF2B5EF4-FFF2-40B4-BE49-F238E27FC236}">
                <a16:creationId xmlns:a16="http://schemas.microsoft.com/office/drawing/2014/main" id="{BA7BE13A-00A5-490D-BE5B-5C715F1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717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What did students answer?</a:t>
            </a:r>
          </a:p>
        </p:txBody>
      </p:sp>
      <p:sp>
        <p:nvSpPr>
          <p:cNvPr id="536" name="02">
            <a:extLst xmlns:a="http://schemas.openxmlformats.org/drawingml/2006/main">
              <a:ext uri="{FF2B5EF4-FFF2-40B4-BE49-F238E27FC236}">
                <a16:creationId xmlns:a16="http://schemas.microsoft.com/office/drawing/2014/main" id="{BE6F79EF-0A60-49ED-8B94-F0D71B3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37" name="How does each answer relate to CGPA?">
            <a:extLst xmlns:a="http://schemas.openxmlformats.org/drawingml/2006/main">
              <a:ext uri="{FF2B5EF4-FFF2-40B4-BE49-F238E27FC236}">
                <a16:creationId xmlns:a16="http://schemas.microsoft.com/office/drawing/2014/main" id="{B04E9A42-FF62-4209-937E-60BBB939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How does each answer relate to CGPA?</a:t>
            </a:r>
          </a:p>
        </p:txBody>
      </p:sp>
      <p:sp>
        <p:nvSpPr>
          <p:cNvPr id="538" name="03">
            <a:extLst xmlns:a="http://schemas.openxmlformats.org/drawingml/2006/main">
              <a:ext uri="{FF2B5EF4-FFF2-40B4-BE49-F238E27FC236}">
                <a16:creationId xmlns:a16="http://schemas.microsoft.com/office/drawing/2014/main" id="{6C91372A-D3D0-4864-8EF8-5A331E5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0">
                <a:solidFill>
                  <a:srgbClr val="C7C7C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39" name="Can WEKA predict SGPA / CGPA?">
            <a:extLst xmlns:a="http://schemas.openxmlformats.org/drawingml/2006/main">
              <a:ext uri="{FF2B5EF4-FFF2-40B4-BE49-F238E27FC236}">
                <a16:creationId xmlns:a16="http://schemas.microsoft.com/office/drawing/2014/main" id="{65EE633F-587B-47DC-AB93-C97CB29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910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Can WEKA predict SGPA / CGPA?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What did the form look like?</a:t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52992bb384b1e"/>
          <a:stretch xmlns:a="http://schemas.openxmlformats.org/drawingml/2006/main"/>
        </p:blipFill>
        <p:spPr>
          <a:xfrm xmlns:a="http://schemas.openxmlformats.org/drawingml/2006/main">
            <a:off x="400050" y="1376904"/>
            <a:ext cx="4676775" cy="3932743"/>
          </a:xfrm>
          <a:prstGeom xmlns:a="http://schemas.openxmlformats.org/drawingml/2006/main" prst="rect">
            <a:avLst/>
          </a:prstGeom>
        </p:spPr>
      </p:pic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346d8fc84412f"/>
          <a:stretch xmlns:a="http://schemas.openxmlformats.org/drawingml/2006/main"/>
        </p:blipFill>
        <p:spPr>
          <a:xfrm xmlns:a="http://schemas.openxmlformats.org/drawingml/2006/main">
            <a:off x="5305425" y="1428840"/>
            <a:ext cx="3171825" cy="1828620"/>
          </a:xfrm>
          <a:prstGeom xmlns:a="http://schemas.openxmlformats.org/drawingml/2006/main" prst="rect">
            <a:avLst/>
          </a:prstGeom>
        </p:spPr>
      </p:pic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eb1cf865a4e95"/>
          <a:stretch xmlns:a="http://schemas.openxmlformats.org/drawingml/2006/main"/>
        </p:blipFill>
        <p:spPr>
          <a:xfrm xmlns:a="http://schemas.openxmlformats.org/drawingml/2006/main">
            <a:off x="8610600" y="1444466"/>
            <a:ext cx="3171825" cy="1797368"/>
          </a:xfrm>
          <a:prstGeom xmlns:a="http://schemas.openxmlformats.org/drawingml/2006/main" prst="rect">
            <a:avLst/>
          </a:prstGeom>
        </p:spPr>
      </p:pic>
      <p:pic>
        <p:nvPicPr>
          <p:cNvPr id="5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c3a3e95614a88"/>
          <a:stretch xmlns:a="http://schemas.openxmlformats.org/drawingml/2006/main"/>
        </p:blipFill>
        <p:spPr>
          <a:xfrm xmlns:a="http://schemas.openxmlformats.org/drawingml/2006/main">
            <a:off x="5305425" y="3654701"/>
            <a:ext cx="3171825" cy="1663148"/>
          </a:xfrm>
          <a:prstGeom xmlns:a="http://schemas.openxmlformats.org/drawingml/2006/main" prst="rect">
            <a:avLst/>
          </a:prstGeom>
        </p:spPr>
      </p:pic>
      <p:pic>
        <p:nvPicPr>
          <p:cNvPr id="5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88fcbd7214683"/>
          <a:stretch xmlns:a="http://schemas.openxmlformats.org/drawingml/2006/main"/>
        </p:blipFill>
        <p:spPr>
          <a:xfrm xmlns:a="http://schemas.openxmlformats.org/drawingml/2006/main">
            <a:off x="8610600" y="3655096"/>
            <a:ext cx="3171825" cy="1662359"/>
          </a:xfrm>
          <a:prstGeom xmlns:a="http://schemas.openxmlformats.org/drawingml/2006/main" prst="rect">
            <a:avLst/>
          </a:prstGeom>
        </p:spPr>
      </p:pic>
      <p:sp>
        <p:nvSpPr>
          <p:cNvPr id="539" name="English + Bangla survey screenshots. Both forms asked t">
            <a:extLst xmlns:a="http://schemas.openxmlformats.org/drawingml/2006/main">
              <a:ext uri="{FF2B5EF4-FFF2-40B4-BE49-F238E27FC236}">
                <a16:creationId xmlns:a16="http://schemas.microsoft.com/office/drawing/2014/main" id="{AC32AF7A-A321-446A-A320-0E132AC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English + Bangla survey screenshots. Both forms asked the same core questions.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KUET form responses</a:t>
            </a:r>
          </a:p>
        </p:txBody>
      </p:sp>
      <p:sp>
        <p:nvSpPr>
          <p:cNvPr id="534" name="896 responses">
            <a:extLst xmlns:a="http://schemas.openxmlformats.org/drawingml/2006/main">
              <a:ext uri="{FF2B5EF4-FFF2-40B4-BE49-F238E27FC236}">
                <a16:creationId xmlns:a16="http://schemas.microsoft.com/office/drawing/2014/main" id="{D9EE6C69-552A-45AA-9A99-09BDBB9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896 responses</a:t>
            </a:r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6b597fe8c4fdf"/>
          <a:stretch xmlns:a="http://schemas.openxmlformats.org/drawingml/2006/main"/>
        </p:blipFill>
        <p:spPr>
          <a:xfrm xmlns:a="http://schemas.openxmlformats.org/drawingml/2006/main">
            <a:off x="2449286" y="2352675"/>
            <a:ext cx="7293429" cy="3190875"/>
          </a:xfrm>
          <a:prstGeom xmlns:a="http://schemas.openxmlformats.org/drawingml/2006/main" prst="rect">
            <a:avLst/>
          </a:prstGeom>
        </p:spPr>
      </p:pic>
      <p:sp>
        <p:nvSpPr>
          <p:cNvPr id="536" name="KUET response export preview">
            <a:extLst xmlns:a="http://schemas.openxmlformats.org/drawingml/2006/main">
              <a:ext uri="{FF2B5EF4-FFF2-40B4-BE49-F238E27FC236}">
                <a16:creationId xmlns:a16="http://schemas.microsoft.com/office/drawing/2014/main" id="{25FF8A9A-9591-40F5-AAFB-1E3EC379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KUET response export preview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Total responses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5BE99E8-61AE-4082-B860-7A6F6C2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230">
            <a:extLst xmlns:a="http://schemas.openxmlformats.org/drawingml/2006/main">
              <a:ext uri="{FF2B5EF4-FFF2-40B4-BE49-F238E27FC236}">
                <a16:creationId xmlns:a16="http://schemas.microsoft.com/office/drawing/2014/main" id="{FA71D6D5-A584-4621-8C27-8AF8DDBC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93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230</a:t>
            </a:r>
          </a:p>
        </p:txBody>
      </p:sp>
      <p:sp>
        <p:nvSpPr>
          <p:cNvPr id="536" name="BUET · BRAC · CUET">
            <a:extLst xmlns:a="http://schemas.openxmlformats.org/drawingml/2006/main">
              <a:ext uri="{FF2B5EF4-FFF2-40B4-BE49-F238E27FC236}">
                <a16:creationId xmlns:a16="http://schemas.microsoft.com/office/drawing/2014/main" id="{951DBAB0-2AE6-4BD6-AC4E-36261A4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933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BUET · BRAC · CUET</a:t>
            </a:r>
          </a:p>
        </p:txBody>
      </p:sp>
      <p:sp>
        <p:nvSpPr>
          <p:cNvPr id="537" name="+">
            <a:extLst xmlns:a="http://schemas.openxmlformats.org/drawingml/2006/main">
              <a:ext uri="{FF2B5EF4-FFF2-40B4-BE49-F238E27FC236}">
                <a16:creationId xmlns:a16="http://schemas.microsoft.com/office/drawing/2014/main" id="{F73ECEC3-22E6-4E99-A79D-8E4DE17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523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4BD7096-94E7-4DD4-B952-BD1C5E8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57375"/>
            <a:ext cx="3238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896">
            <a:extLst xmlns:a="http://schemas.openxmlformats.org/drawingml/2006/main">
              <a:ext uri="{FF2B5EF4-FFF2-40B4-BE49-F238E27FC236}">
                <a16:creationId xmlns:a16="http://schemas.microsoft.com/office/drawing/2014/main" id="{C66C27A2-766C-41B8-B586-599917EB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293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896</a:t>
            </a:r>
          </a:p>
        </p:txBody>
      </p:sp>
      <p:sp>
        <p:nvSpPr>
          <p:cNvPr id="540" name="KUET">
            <a:extLst xmlns:a="http://schemas.openxmlformats.org/drawingml/2006/main">
              <a:ext uri="{FF2B5EF4-FFF2-40B4-BE49-F238E27FC236}">
                <a16:creationId xmlns:a16="http://schemas.microsoft.com/office/drawing/2014/main" id="{9FAC4B91-1079-4580-A458-9CBC5BAD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19350"/>
            <a:ext cx="2933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KUET</a:t>
            </a:r>
          </a:p>
        </p:txBody>
      </p:sp>
      <p:sp>
        <p:nvSpPr>
          <p:cNvPr id="541" name="=">
            <a:extLst xmlns:a="http://schemas.openxmlformats.org/drawingml/2006/main">
              <a:ext uri="{FF2B5EF4-FFF2-40B4-BE49-F238E27FC236}">
                <a16:creationId xmlns:a16="http://schemas.microsoft.com/office/drawing/2014/main" id="{5376D353-8039-42BE-A88A-FD05FD7B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33600"/>
            <a:ext cx="523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5A3C12A-62B7-46FC-B7BF-E11249D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524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3" name="1,126">
            <a:extLst xmlns:a="http://schemas.openxmlformats.org/drawingml/2006/main">
              <a:ext uri="{FF2B5EF4-FFF2-40B4-BE49-F238E27FC236}">
                <a16:creationId xmlns:a16="http://schemas.microsoft.com/office/drawing/2014/main" id="{10537B18-6A8A-4E36-BFE0-B6975008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2219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1,126</a:t>
            </a:r>
          </a:p>
        </p:txBody>
      </p:sp>
      <p:sp>
        <p:nvSpPr>
          <p:cNvPr id="544" name="Raw responses">
            <a:extLst xmlns:a="http://schemas.openxmlformats.org/drawingml/2006/main">
              <a:ext uri="{FF2B5EF4-FFF2-40B4-BE49-F238E27FC236}">
                <a16:creationId xmlns:a16="http://schemas.microsoft.com/office/drawing/2014/main" id="{B32940B7-8C98-444E-84C8-EB4F676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2193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Raw responses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30F9C03-0B83-4B2C-AB4D-DBFF6FE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76650"/>
            <a:ext cx="28575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38E601C-740E-444B-84A1-92BFF1B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543425"/>
            <a:ext cx="590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7" name="1,108 usable records">
            <a:extLst xmlns:a="http://schemas.openxmlformats.org/drawingml/2006/main">
              <a:ext uri="{FF2B5EF4-FFF2-40B4-BE49-F238E27FC236}">
                <a16:creationId xmlns:a16="http://schemas.microsoft.com/office/drawing/2014/main" id="{0F61808E-7C21-45B4-933B-12C33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86300"/>
            <a:ext cx="560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1,108 usable records</a:t>
            </a:r>
          </a:p>
        </p:txBody>
      </p:sp>
      <p:sp>
        <p:nvSpPr>
          <p:cNvPr id="548" name="18 responses without usable CGPA removed">
            <a:extLst xmlns:a="http://schemas.openxmlformats.org/drawingml/2006/main">
              <a:ext uri="{FF2B5EF4-FFF2-40B4-BE49-F238E27FC236}">
                <a16:creationId xmlns:a16="http://schemas.microsoft.com/office/drawing/2014/main" id="{0BDBDD1B-2B78-4A5D-B15C-30838E0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105400"/>
            <a:ext cx="560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18 responses without usable CGPA removed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Response categories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15A8FCE-CF0C-4F6F-B274-0339F08F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Academic">
            <a:extLst xmlns:a="http://schemas.openxmlformats.org/drawingml/2006/main">
              <a:ext uri="{FF2B5EF4-FFF2-40B4-BE49-F238E27FC236}">
                <a16:creationId xmlns:a16="http://schemas.microsoft.com/office/drawing/2014/main" id="{B3876732-032B-4D52-8366-75D855D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Academic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411BA98-75B0-4F73-8014-37F6CF48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7" name="Study habit">
            <a:extLst xmlns:a="http://schemas.openxmlformats.org/drawingml/2006/main">
              <a:ext uri="{FF2B5EF4-FFF2-40B4-BE49-F238E27FC236}">
                <a16:creationId xmlns:a16="http://schemas.microsoft.com/office/drawing/2014/main" id="{6A41A21D-822B-47ED-A734-09B1AECA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habit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0278C77-673B-4F9C-B13D-94965E2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Lifestyle">
            <a:extLst xmlns:a="http://schemas.openxmlformats.org/drawingml/2006/main">
              <a:ext uri="{FF2B5EF4-FFF2-40B4-BE49-F238E27FC236}">
                <a16:creationId xmlns:a16="http://schemas.microsoft.com/office/drawing/2014/main" id="{750D1160-9E85-4820-8590-6B297648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Lifestyle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F59C56E-8F0A-4AA0-A06E-74317B5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1" name="Stress / responsibility">
            <a:extLst xmlns:a="http://schemas.openxmlformats.org/drawingml/2006/main">
              <a:ext uri="{FF2B5EF4-FFF2-40B4-BE49-F238E27FC236}">
                <a16:creationId xmlns:a16="http://schemas.microsoft.com/office/drawing/2014/main" id="{17741D08-E4CE-47A5-B13F-376C464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Stress / responsibility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408A254-6ADE-4050-B88A-4ABE3982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3" name="Motivation / support">
            <a:extLst xmlns:a="http://schemas.openxmlformats.org/drawingml/2006/main">
              <a:ext uri="{FF2B5EF4-FFF2-40B4-BE49-F238E27FC236}">
                <a16:creationId xmlns:a16="http://schemas.microsoft.com/office/drawing/2014/main" id="{5A5D38AF-332F-479D-8DBD-BF59DB5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Motivation / support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C05F3ED-664F-45DC-A8C8-A08C422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52875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5" name="Environment">
            <a:extLst xmlns:a="http://schemas.openxmlformats.org/drawingml/2006/main">
              <a:ext uri="{FF2B5EF4-FFF2-40B4-BE49-F238E27FC236}">
                <a16:creationId xmlns:a16="http://schemas.microsoft.com/office/drawing/2014/main" id="{E93B70FC-8110-4B0A-944F-D23DE17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4EF7567-DFA9-4B9C-9071-13B4F3CB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52875"/>
            <a:ext cx="2628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7" name="Academic result">
            <a:extLst xmlns:a="http://schemas.openxmlformats.org/drawingml/2006/main">
              <a:ext uri="{FF2B5EF4-FFF2-40B4-BE49-F238E27FC236}">
                <a16:creationId xmlns:a16="http://schemas.microsoft.com/office/drawing/2014/main" id="{AAFCD612-6DC4-481C-B386-7FC4A7F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Academic result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Form responses: academic questions</a:t>
            </a:r>
          </a:p>
        </p:txBody>
      </p:sp>
      <p:sp>
        <p:nvSpPr>
          <p:cNvPr id="534" name="Class attendance">
            <a:extLst xmlns:a="http://schemas.openxmlformats.org/drawingml/2006/main">
              <a:ext uri="{FF2B5EF4-FFF2-40B4-BE49-F238E27FC236}">
                <a16:creationId xmlns:a16="http://schemas.microsoft.com/office/drawing/2014/main" id="{45E92C31-3929-4C46-9350-B575CE1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Class attendance</a:t>
            </a:r>
          </a:p>
        </p:txBody>
      </p:sp>
      <p:sp>
        <p:nvSpPr>
          <p:cNvPr id="535" name="Less than 40%">
            <a:extLst xmlns:a="http://schemas.openxmlformats.org/drawingml/2006/main">
              <a:ext uri="{FF2B5EF4-FFF2-40B4-BE49-F238E27FC236}">
                <a16:creationId xmlns:a16="http://schemas.microsoft.com/office/drawing/2014/main" id="{4DAD6ADC-44FC-4F69-B2F5-410BE015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40%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E7AFDA1-2291-4E97-BC97-E811CBF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05" y="2228850"/>
            <a:ext cx="2164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10  (0.9%)">
            <a:extLst xmlns:a="http://schemas.openxmlformats.org/drawingml/2006/main">
              <a:ext uri="{FF2B5EF4-FFF2-40B4-BE49-F238E27FC236}">
                <a16:creationId xmlns:a16="http://schemas.microsoft.com/office/drawing/2014/main" id="{4FDA0CC4-0C18-46DB-885A-2BDA723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220027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  (0.9%)</a:t>
            </a:r>
          </a:p>
        </p:txBody>
      </p:sp>
      <p:sp>
        <p:nvSpPr>
          <p:cNvPr id="538" name="40-59%">
            <a:extLst xmlns:a="http://schemas.openxmlformats.org/drawingml/2006/main">
              <a:ext uri="{FF2B5EF4-FFF2-40B4-BE49-F238E27FC236}">
                <a16:creationId xmlns:a16="http://schemas.microsoft.com/office/drawing/2014/main" id="{0779417E-A863-4B2D-AF34-F34E311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798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40-59%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855FC42-9971-4A40-9E71-C71D950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05" y="2916555"/>
            <a:ext cx="497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0" name="23  (2.1%)">
            <a:extLst xmlns:a="http://schemas.openxmlformats.org/drawingml/2006/main">
              <a:ext uri="{FF2B5EF4-FFF2-40B4-BE49-F238E27FC236}">
                <a16:creationId xmlns:a16="http://schemas.microsoft.com/office/drawing/2014/main" id="{F194E3E2-35CA-42C9-B053-B72BA53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288798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  (2.1%)</a:t>
            </a:r>
          </a:p>
        </p:txBody>
      </p:sp>
      <p:sp>
        <p:nvSpPr>
          <p:cNvPr id="541" name="60-74%">
            <a:extLst xmlns:a="http://schemas.openxmlformats.org/drawingml/2006/main">
              <a:ext uri="{FF2B5EF4-FFF2-40B4-BE49-F238E27FC236}">
                <a16:creationId xmlns:a16="http://schemas.microsoft.com/office/drawing/2014/main" id="{617275B1-F1CD-4C59-92A1-769D8494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568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60-74%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7BBC04B-4511-4E9B-BA63-B6D70DD3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05" y="3604260"/>
            <a:ext cx="5974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3" name="276  (24.9%)">
            <a:extLst xmlns:a="http://schemas.openxmlformats.org/drawingml/2006/main">
              <a:ext uri="{FF2B5EF4-FFF2-40B4-BE49-F238E27FC236}">
                <a16:creationId xmlns:a16="http://schemas.microsoft.com/office/drawing/2014/main" id="{B4BBCCDC-374D-44B9-979A-2EC6567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357568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276  (24.9%)</a:t>
            </a:r>
          </a:p>
        </p:txBody>
      </p:sp>
      <p:sp>
        <p:nvSpPr>
          <p:cNvPr id="544" name="75-89%">
            <a:extLst xmlns:a="http://schemas.openxmlformats.org/drawingml/2006/main">
              <a:ext uri="{FF2B5EF4-FFF2-40B4-BE49-F238E27FC236}">
                <a16:creationId xmlns:a16="http://schemas.microsoft.com/office/drawing/2014/main" id="{80EBD22D-F0BF-408F-BEF4-5900527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339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75-89%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BD5D11F-03C6-439C-BFC0-CFF2967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05" y="4291965"/>
            <a:ext cx="82477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6" name="381  (34.4%)">
            <a:extLst xmlns:a="http://schemas.openxmlformats.org/drawingml/2006/main">
              <a:ext uri="{FF2B5EF4-FFF2-40B4-BE49-F238E27FC236}">
                <a16:creationId xmlns:a16="http://schemas.microsoft.com/office/drawing/2014/main" id="{360535B6-4498-42EE-88AD-446DE9CF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426339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381  (34.4%)</a:t>
            </a:r>
          </a:p>
        </p:txBody>
      </p:sp>
      <p:sp>
        <p:nvSpPr>
          <p:cNvPr id="547" name="90% or more">
            <a:extLst xmlns:a="http://schemas.openxmlformats.org/drawingml/2006/main">
              <a:ext uri="{FF2B5EF4-FFF2-40B4-BE49-F238E27FC236}">
                <a16:creationId xmlns:a16="http://schemas.microsoft.com/office/drawing/2014/main" id="{383BD916-5647-4829-866D-79F46C7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109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90% or more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D77D5C7-A1E2-4186-A0B5-F8CB7AB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605" y="4979670"/>
            <a:ext cx="90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418  (37.7%)">
            <a:extLst xmlns:a="http://schemas.openxmlformats.org/drawingml/2006/main">
              <a:ext uri="{FF2B5EF4-FFF2-40B4-BE49-F238E27FC236}">
                <a16:creationId xmlns:a16="http://schemas.microsoft.com/office/drawing/2014/main" id="{E301FC70-FA44-4F99-8FED-D27DED5E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495109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418  (37.7%)</a:t>
            </a:r>
          </a:p>
        </p:txBody>
      </p:sp>
      <p:sp>
        <p:nvSpPr>
          <p:cNvPr id="550" name="Self-study per week">
            <a:extLst xmlns:a="http://schemas.openxmlformats.org/drawingml/2006/main">
              <a:ext uri="{FF2B5EF4-FFF2-40B4-BE49-F238E27FC236}">
                <a16:creationId xmlns:a16="http://schemas.microsoft.com/office/drawing/2014/main" id="{CF838235-71FF-452F-8298-DBAD29E3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Self-study per week</a:t>
            </a:r>
          </a:p>
        </p:txBody>
      </p:sp>
      <p:sp>
        <p:nvSpPr>
          <p:cNvPr id="551" name="Less than 3 hrs">
            <a:extLst xmlns:a="http://schemas.openxmlformats.org/drawingml/2006/main">
              <a:ext uri="{FF2B5EF4-FFF2-40B4-BE49-F238E27FC236}">
                <a16:creationId xmlns:a16="http://schemas.microsoft.com/office/drawing/2014/main" id="{42C03419-D30B-4E7A-A48C-09E4AFFC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027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3 hrs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0D130C1-BB9B-415E-A5AD-6952ADC3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2228850"/>
            <a:ext cx="75674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235  (21.2%)">
            <a:extLst xmlns:a="http://schemas.openxmlformats.org/drawingml/2006/main">
              <a:ext uri="{FF2B5EF4-FFF2-40B4-BE49-F238E27FC236}">
                <a16:creationId xmlns:a16="http://schemas.microsoft.com/office/drawing/2014/main" id="{6BE410E0-6AA4-477A-B77C-B1E0745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220027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235  (21.2%)</a:t>
            </a:r>
          </a:p>
        </p:txBody>
      </p:sp>
      <p:sp>
        <p:nvSpPr>
          <p:cNvPr id="554" name="3-6 hrs">
            <a:extLst xmlns:a="http://schemas.openxmlformats.org/drawingml/2006/main">
              <a:ext uri="{FF2B5EF4-FFF2-40B4-BE49-F238E27FC236}">
                <a16:creationId xmlns:a16="http://schemas.microsoft.com/office/drawing/2014/main" id="{4E717D3F-8DEA-4B6F-BF21-1AE2E3E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8798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3-6 hrs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2749E4B-E504-47C7-BFF8-F9FA0E84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2916555"/>
            <a:ext cx="90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6" name="281  (25.4%)">
            <a:extLst xmlns:a="http://schemas.openxmlformats.org/drawingml/2006/main">
              <a:ext uri="{FF2B5EF4-FFF2-40B4-BE49-F238E27FC236}">
                <a16:creationId xmlns:a16="http://schemas.microsoft.com/office/drawing/2014/main" id="{F5DF1E84-4F85-4F64-8621-0EADC88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288798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281  (25.4%)</a:t>
            </a:r>
          </a:p>
        </p:txBody>
      </p:sp>
      <p:sp>
        <p:nvSpPr>
          <p:cNvPr id="557" name="7-10 hrs">
            <a:extLst xmlns:a="http://schemas.openxmlformats.org/drawingml/2006/main">
              <a:ext uri="{FF2B5EF4-FFF2-40B4-BE49-F238E27FC236}">
                <a16:creationId xmlns:a16="http://schemas.microsoft.com/office/drawing/2014/main" id="{212D18EB-7AE1-4CBE-AF01-FE9A609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568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7-10 hrs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B025148E-E2F2-4572-9A03-ADD23C6C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3604260"/>
            <a:ext cx="80826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9" name="251  (22.7%)">
            <a:extLst xmlns:a="http://schemas.openxmlformats.org/drawingml/2006/main">
              <a:ext uri="{FF2B5EF4-FFF2-40B4-BE49-F238E27FC236}">
                <a16:creationId xmlns:a16="http://schemas.microsoft.com/office/drawing/2014/main" id="{AA6F5211-7733-47AC-8A9D-08BC0C0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357568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251  (22.7%)</a:t>
            </a:r>
          </a:p>
        </p:txBody>
      </p:sp>
      <p:sp>
        <p:nvSpPr>
          <p:cNvPr id="560" name="11-15 hrs">
            <a:extLst xmlns:a="http://schemas.openxmlformats.org/drawingml/2006/main">
              <a:ext uri="{FF2B5EF4-FFF2-40B4-BE49-F238E27FC236}">
                <a16:creationId xmlns:a16="http://schemas.microsoft.com/office/drawing/2014/main" id="{88D6AAF5-792F-43C0-9099-648DB65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339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11-15 hrs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F5B42C6-1857-46A5-A11B-9B536DB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4291965"/>
            <a:ext cx="59573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2" name="185  (16.7%)">
            <a:extLst xmlns:a="http://schemas.openxmlformats.org/drawingml/2006/main">
              <a:ext uri="{FF2B5EF4-FFF2-40B4-BE49-F238E27FC236}">
                <a16:creationId xmlns:a16="http://schemas.microsoft.com/office/drawing/2014/main" id="{EEFE6D4C-8FC0-4A07-9544-141BBEA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426339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185  (16.7%)</a:t>
            </a:r>
          </a:p>
        </p:txBody>
      </p:sp>
      <p:sp>
        <p:nvSpPr>
          <p:cNvPr id="563" name="More than 15 hrs">
            <a:extLst xmlns:a="http://schemas.openxmlformats.org/drawingml/2006/main">
              <a:ext uri="{FF2B5EF4-FFF2-40B4-BE49-F238E27FC236}">
                <a16:creationId xmlns:a16="http://schemas.microsoft.com/office/drawing/2014/main" id="{038E6A07-28C5-41EA-A889-B5E8E32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109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15 hrs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30B0053-E7DB-4385-B199-CB123F89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4979670"/>
            <a:ext cx="50235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5" name="156  (14.1%)">
            <a:extLst xmlns:a="http://schemas.openxmlformats.org/drawingml/2006/main">
              <a:ext uri="{FF2B5EF4-FFF2-40B4-BE49-F238E27FC236}">
                <a16:creationId xmlns:a16="http://schemas.microsoft.com/office/drawing/2014/main" id="{DB961949-B6AD-4476-983E-8A119E5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495109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156  (14.1%)</a:t>
            </a:r>
          </a:p>
        </p:txBody>
      </p:sp>
      <p:sp>
        <p:nvSpPr>
          <p:cNvPr id="566" name="Study style">
            <a:extLst xmlns:a="http://schemas.openxmlformats.org/drawingml/2006/main">
              <a:ext uri="{FF2B5EF4-FFF2-40B4-BE49-F238E27FC236}">
                <a16:creationId xmlns:a16="http://schemas.microsoft.com/office/drawing/2014/main" id="{8C23B1A1-8FDF-40E7-935F-5DA44151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style</a:t>
            </a:r>
          </a:p>
        </p:txBody>
      </p:sp>
      <p:sp>
        <p:nvSpPr>
          <p:cNvPr id="567" name="Occasionally when necessary">
            <a:extLst xmlns:a="http://schemas.openxmlformats.org/drawingml/2006/main">
              <a:ext uri="{FF2B5EF4-FFF2-40B4-BE49-F238E27FC236}">
                <a16:creationId xmlns:a16="http://schemas.microsoft.com/office/drawing/2014/main" id="{DDCF401F-27C5-4460-8147-401F1D9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Occasionally when necessary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BF0C7176-ED2C-49C0-9A85-8B63190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05" y="2228850"/>
            <a:ext cx="81622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9" name="267  (24.1%)">
            <a:extLst xmlns:a="http://schemas.openxmlformats.org/drawingml/2006/main">
              <a:ext uri="{FF2B5EF4-FFF2-40B4-BE49-F238E27FC236}">
                <a16:creationId xmlns:a16="http://schemas.microsoft.com/office/drawing/2014/main" id="{9A6C3A9D-F1E1-491B-B41D-C24EA7F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365" y="220027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267  (24.1%)</a:t>
            </a:r>
          </a:p>
        </p:txBody>
      </p:sp>
      <p:sp>
        <p:nvSpPr>
          <p:cNvPr id="570" name="Mostly just before exams">
            <a:extLst xmlns:a="http://schemas.openxmlformats.org/drawingml/2006/main">
              <a:ext uri="{FF2B5EF4-FFF2-40B4-BE49-F238E27FC236}">
                <a16:creationId xmlns:a16="http://schemas.microsoft.com/office/drawing/2014/main" id="{92DADF7A-FBB9-4BAC-B23A-2DEB9A2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8798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just before exams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507D42B-4B41-45ED-BDB4-500C141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05" y="2916555"/>
            <a:ext cx="90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2" name="296  (26.7%)">
            <a:extLst xmlns:a="http://schemas.openxmlformats.org/drawingml/2006/main">
              <a:ext uri="{FF2B5EF4-FFF2-40B4-BE49-F238E27FC236}">
                <a16:creationId xmlns:a16="http://schemas.microsoft.com/office/drawing/2014/main" id="{ED237674-39F8-4A4A-8BEC-AFA7328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365" y="288798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296  (26.7%)</a:t>
            </a:r>
          </a:p>
        </p:txBody>
      </p:sp>
      <p:sp>
        <p:nvSpPr>
          <p:cNvPr id="573" name="Regularly but not every day">
            <a:extLst xmlns:a="http://schemas.openxmlformats.org/drawingml/2006/main">
              <a:ext uri="{FF2B5EF4-FFF2-40B4-BE49-F238E27FC236}">
                <a16:creationId xmlns:a16="http://schemas.microsoft.com/office/drawing/2014/main" id="{ABEF7EC8-3F72-4837-B03F-49C687B7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568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Regularly but not every day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C16DE4D-32A8-4B1B-A6AB-B098400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05" y="3604260"/>
            <a:ext cx="78565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5" name="257  (23.2%)">
            <a:extLst xmlns:a="http://schemas.openxmlformats.org/drawingml/2006/main">
              <a:ext uri="{FF2B5EF4-FFF2-40B4-BE49-F238E27FC236}">
                <a16:creationId xmlns:a16="http://schemas.microsoft.com/office/drawing/2014/main" id="{B35F27EF-29FE-4FC2-90E8-6BA43110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365" y="357568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257  (23.2%)</a:t>
            </a:r>
          </a:p>
        </p:txBody>
      </p:sp>
      <p:sp>
        <p:nvSpPr>
          <p:cNvPr id="576" name="Mostly consistent routine">
            <a:extLst xmlns:a="http://schemas.openxmlformats.org/drawingml/2006/main">
              <a:ext uri="{FF2B5EF4-FFF2-40B4-BE49-F238E27FC236}">
                <a16:creationId xmlns:a16="http://schemas.microsoft.com/office/drawing/2014/main" id="{524AD4B7-D681-44A4-9472-D74A420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3390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consistent routine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F40A4CD-616A-44F7-9F0D-30A67CF7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05" y="4291965"/>
            <a:ext cx="47995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8" name="157  (14.2%)">
            <a:extLst xmlns:a="http://schemas.openxmlformats.org/drawingml/2006/main">
              <a:ext uri="{FF2B5EF4-FFF2-40B4-BE49-F238E27FC236}">
                <a16:creationId xmlns:a16="http://schemas.microsoft.com/office/drawing/2014/main" id="{E8E1705F-CBE6-4939-9B3D-E8734E4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365" y="4263390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157  (14.2%)</a:t>
            </a:r>
          </a:p>
        </p:txBody>
      </p:sp>
      <p:sp>
        <p:nvSpPr>
          <p:cNvPr id="579" name="Consistent throughout the semester">
            <a:extLst xmlns:a="http://schemas.openxmlformats.org/drawingml/2006/main">
              <a:ext uri="{FF2B5EF4-FFF2-40B4-BE49-F238E27FC236}">
                <a16:creationId xmlns:a16="http://schemas.microsoft.com/office/drawing/2014/main" id="{409D96A3-C522-4824-9C9A-A8C48D1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1095"/>
            <a:ext cx="1737360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Consistent throughout the semester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97D3353C-9F71-4BEB-8FCF-5B84156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05" y="4979670"/>
            <a:ext cx="40046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1" name="131  (11.8%)">
            <a:extLst xmlns:a="http://schemas.openxmlformats.org/drawingml/2006/main">
              <a:ext uri="{FF2B5EF4-FFF2-40B4-BE49-F238E27FC236}">
                <a16:creationId xmlns:a16="http://schemas.microsoft.com/office/drawing/2014/main" id="{12E36182-D657-4106-A184-FC18D079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365" y="4951095"/>
            <a:ext cx="832485" cy="65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131  (11.8%)</a:t>
            </a:r>
          </a:p>
        </p:txBody>
      </p:sp>
      <p:sp>
        <p:nvSpPr>
          <p:cNvPr id="582" name="Counts and percentages from the cleaned dataset, N = 1,">
            <a:extLst xmlns:a="http://schemas.openxmlformats.org/drawingml/2006/main">
              <a:ext uri="{FF2B5EF4-FFF2-40B4-BE49-F238E27FC236}">
                <a16:creationId xmlns:a16="http://schemas.microsoft.com/office/drawing/2014/main" id="{DBB769A8-1402-4D42-8C75-0C1EEAE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Counts and percentages from the cleaned dataset, N = 1,108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Form responses: understanding and SGPA</a:t>
            </a:r>
          </a:p>
        </p:txBody>
      </p:sp>
      <p:sp>
        <p:nvSpPr>
          <p:cNvPr id="534" name="Topic clear after class">
            <a:extLst xmlns:a="http://schemas.openxmlformats.org/drawingml/2006/main">
              <a:ext uri="{FF2B5EF4-FFF2-40B4-BE49-F238E27FC236}">
                <a16:creationId xmlns:a16="http://schemas.microsoft.com/office/drawing/2014/main" id="{6D1877B6-5F23-460C-8665-268915C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Topic clear after class</a:t>
            </a:r>
          </a:p>
        </p:txBody>
      </p:sp>
      <p:sp>
        <p:nvSpPr>
          <p:cNvPr id="535" name="Almost nothing">
            <a:extLst xmlns:a="http://schemas.openxmlformats.org/drawingml/2006/main">
              <a:ext uri="{FF2B5EF4-FFF2-40B4-BE49-F238E27FC236}">
                <a16:creationId xmlns:a16="http://schemas.microsoft.com/office/drawing/2014/main" id="{F57146B9-AD27-4C86-BAE5-8166EF8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nothing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577F612-6482-4022-A251-98915237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238375"/>
            <a:ext cx="7874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181  (16.3%)">
            <a:extLst xmlns:a="http://schemas.openxmlformats.org/drawingml/2006/main">
              <a:ext uri="{FF2B5EF4-FFF2-40B4-BE49-F238E27FC236}">
                <a16:creationId xmlns:a16="http://schemas.microsoft.com/office/drawing/2014/main" id="{9A7FEB0C-D6F0-4426-A399-64EFDA1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09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181  (16.3%)</a:t>
            </a:r>
          </a:p>
        </p:txBody>
      </p:sp>
      <p:sp>
        <p:nvSpPr>
          <p:cNvPr id="538" name="A little">
            <a:extLst xmlns:a="http://schemas.openxmlformats.org/drawingml/2006/main">
              <a:ext uri="{FF2B5EF4-FFF2-40B4-BE49-F238E27FC236}">
                <a16:creationId xmlns:a16="http://schemas.microsoft.com/office/drawing/2014/main" id="{C42CD703-5C44-4604-91B6-87665A93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 little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23916D4-CF2B-497D-B41E-D627AA2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905125"/>
            <a:ext cx="115284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0" name="265  (23.9%)">
            <a:extLst xmlns:a="http://schemas.openxmlformats.org/drawingml/2006/main">
              <a:ext uri="{FF2B5EF4-FFF2-40B4-BE49-F238E27FC236}">
                <a16:creationId xmlns:a16="http://schemas.microsoft.com/office/drawing/2014/main" id="{047B7A9F-3E23-4680-B4FC-7650E61D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8765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265  (23.9%)</a:t>
            </a:r>
          </a:p>
        </p:txBody>
      </p:sp>
      <p:sp>
        <p:nvSpPr>
          <p:cNvPr id="541" name="About half">
            <a:extLst xmlns:a="http://schemas.openxmlformats.org/drawingml/2006/main">
              <a:ext uri="{FF2B5EF4-FFF2-40B4-BE49-F238E27FC236}">
                <a16:creationId xmlns:a16="http://schemas.microsoft.com/office/drawing/2014/main" id="{8D8E7AFB-7AFA-4BA9-A127-B6D1CBB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About half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AF4B41B-7C7C-4B14-807F-DD664BF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357187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3" name="312  (28.2%)">
            <a:extLst xmlns:a="http://schemas.openxmlformats.org/drawingml/2006/main">
              <a:ext uri="{FF2B5EF4-FFF2-40B4-BE49-F238E27FC236}">
                <a16:creationId xmlns:a16="http://schemas.microsoft.com/office/drawing/2014/main" id="{9C53A081-E9DA-4028-B753-72EF8FF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35433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312  (28.2%)</a:t>
            </a:r>
          </a:p>
        </p:txBody>
      </p:sp>
      <p:sp>
        <p:nvSpPr>
          <p:cNvPr id="544" name="Most of it">
            <a:extLst xmlns:a="http://schemas.openxmlformats.org/drawingml/2006/main">
              <a:ext uri="{FF2B5EF4-FFF2-40B4-BE49-F238E27FC236}">
                <a16:creationId xmlns:a16="http://schemas.microsoft.com/office/drawing/2014/main" id="{5A0E0EFA-2EB0-4EF8-A834-E32FB77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 of it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BA855B0-1B73-4B16-8074-6C0219DD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238625"/>
            <a:ext cx="94402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6" name="217  (19.6%)">
            <a:extLst xmlns:a="http://schemas.openxmlformats.org/drawingml/2006/main">
              <a:ext uri="{FF2B5EF4-FFF2-40B4-BE49-F238E27FC236}">
                <a16:creationId xmlns:a16="http://schemas.microsoft.com/office/drawing/2014/main" id="{5E44A230-BC35-40E0-8C6F-6B6C930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2100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217  (19.6%)</a:t>
            </a:r>
          </a:p>
        </p:txBody>
      </p:sp>
      <p:sp>
        <p:nvSpPr>
          <p:cNvPr id="547" name="Almost everything">
            <a:extLst xmlns:a="http://schemas.openxmlformats.org/drawingml/2006/main">
              <a:ext uri="{FF2B5EF4-FFF2-40B4-BE49-F238E27FC236}">
                <a16:creationId xmlns:a16="http://schemas.microsoft.com/office/drawing/2014/main" id="{C67CFB78-8679-4405-A5AB-018119D3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everything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ED286B3-9095-44C8-B285-BC286167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905375"/>
            <a:ext cx="5785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133  (12.0%)">
            <a:extLst xmlns:a="http://schemas.openxmlformats.org/drawingml/2006/main">
              <a:ext uri="{FF2B5EF4-FFF2-40B4-BE49-F238E27FC236}">
                <a16:creationId xmlns:a16="http://schemas.microsoft.com/office/drawing/2014/main" id="{27D63513-1582-4B84-9030-A87B6B4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876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133  (12.0%)</a:t>
            </a:r>
          </a:p>
        </p:txBody>
      </p:sp>
      <p:sp>
        <p:nvSpPr>
          <p:cNvPr id="550" name="Recent semester SGPA">
            <a:extLst xmlns:a="http://schemas.openxmlformats.org/drawingml/2006/main">
              <a:ext uri="{FF2B5EF4-FFF2-40B4-BE49-F238E27FC236}">
                <a16:creationId xmlns:a16="http://schemas.microsoft.com/office/drawing/2014/main" id="{973687B2-0720-41C8-864B-28B0CFA1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Recent semester SGPA</a:t>
            </a:r>
          </a:p>
        </p:txBody>
      </p:sp>
      <p:sp>
        <p:nvSpPr>
          <p:cNvPr id="551" name="below 3.20">
            <a:extLst xmlns:a="http://schemas.openxmlformats.org/drawingml/2006/main">
              <a:ext uri="{FF2B5EF4-FFF2-40B4-BE49-F238E27FC236}">
                <a16:creationId xmlns:a16="http://schemas.microsoft.com/office/drawing/2014/main" id="{8A5A8238-43AC-40A2-8DA5-9754AC4E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60604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below 3.20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60907D0-C0D5-416A-84C3-53BC862B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238375"/>
            <a:ext cx="1078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236  (21.3%)">
            <a:extLst xmlns:a="http://schemas.openxmlformats.org/drawingml/2006/main">
              <a:ext uri="{FF2B5EF4-FFF2-40B4-BE49-F238E27FC236}">
                <a16:creationId xmlns:a16="http://schemas.microsoft.com/office/drawing/2014/main" id="{D16628BC-6B60-4E51-B915-010112FE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2209800"/>
            <a:ext cx="1248728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  (21.3%)</a:t>
            </a:r>
          </a:p>
        </p:txBody>
      </p:sp>
      <p:sp>
        <p:nvSpPr>
          <p:cNvPr id="554" name="3.20-3.49">
            <a:extLst xmlns:a="http://schemas.openxmlformats.org/drawingml/2006/main">
              <a:ext uri="{FF2B5EF4-FFF2-40B4-BE49-F238E27FC236}">
                <a16:creationId xmlns:a16="http://schemas.microsoft.com/office/drawing/2014/main" id="{15799565-6FF9-4D14-94EC-359E5BC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3238"/>
            <a:ext cx="260604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3.20-3.49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757D766-BB20-42E2-B826-141D3BD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3071813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6" name="297  (26.8%)">
            <a:extLst xmlns:a="http://schemas.openxmlformats.org/drawingml/2006/main">
              <a:ext uri="{FF2B5EF4-FFF2-40B4-BE49-F238E27FC236}">
                <a16:creationId xmlns:a16="http://schemas.microsoft.com/office/drawing/2014/main" id="{88135429-244A-4975-BAAB-D25EA2E0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3043238"/>
            <a:ext cx="1248728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297  (26.8%)</a:t>
            </a:r>
          </a:p>
        </p:txBody>
      </p:sp>
      <p:sp>
        <p:nvSpPr>
          <p:cNvPr id="557" name="3.50-3.74">
            <a:extLst xmlns:a="http://schemas.openxmlformats.org/drawingml/2006/main">
              <a:ext uri="{FF2B5EF4-FFF2-40B4-BE49-F238E27FC236}">
                <a16:creationId xmlns:a16="http://schemas.microsoft.com/office/drawing/2014/main" id="{C5D652D9-51C9-47FF-A279-C138147A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6675"/>
            <a:ext cx="260604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3.50-3.74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FBCACA04-97A3-4BFA-87D0-F1EC9AF5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3905250"/>
            <a:ext cx="130704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9" name="286  (25.8%)">
            <a:extLst xmlns:a="http://schemas.openxmlformats.org/drawingml/2006/main">
              <a:ext uri="{FF2B5EF4-FFF2-40B4-BE49-F238E27FC236}">
                <a16:creationId xmlns:a16="http://schemas.microsoft.com/office/drawing/2014/main" id="{F18E927E-A7B8-41FB-A5EF-87E0C4A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3876675"/>
            <a:ext cx="1248728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286  (25.8%)</a:t>
            </a:r>
          </a:p>
        </p:txBody>
      </p:sp>
      <p:sp>
        <p:nvSpPr>
          <p:cNvPr id="560" name="3.75+">
            <a:extLst xmlns:a="http://schemas.openxmlformats.org/drawingml/2006/main">
              <a:ext uri="{FF2B5EF4-FFF2-40B4-BE49-F238E27FC236}">
                <a16:creationId xmlns:a16="http://schemas.microsoft.com/office/drawing/2014/main" id="{C1FFD8ED-7D62-40FC-B84A-F130E53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10113"/>
            <a:ext cx="260604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3.75+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A0A7D60-6C44-4185-AA96-4313BE6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4738688"/>
            <a:ext cx="132075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2" name="289  (26.1%)">
            <a:extLst xmlns:a="http://schemas.openxmlformats.org/drawingml/2006/main">
              <a:ext uri="{FF2B5EF4-FFF2-40B4-BE49-F238E27FC236}">
                <a16:creationId xmlns:a16="http://schemas.microsoft.com/office/drawing/2014/main" id="{DED85969-17E9-4A8A-A707-DBF49A2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4710113"/>
            <a:ext cx="1248728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289  (26.1%)</a:t>
            </a:r>
          </a:p>
        </p:txBody>
      </p:sp>
      <p:sp>
        <p:nvSpPr>
          <p:cNvPr id="563" name="N = 1,108. SGPA distribution includes six historically ">
            <a:extLst xmlns:a="http://schemas.openxmlformats.org/drawingml/2006/main">
              <a:ext uri="{FF2B5EF4-FFF2-40B4-BE49-F238E27FC236}">
                <a16:creationId xmlns:a16="http://schemas.microsoft.com/office/drawing/2014/main" id="{6D928AE3-A829-4E3A-8212-A0EF8523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 = 1,108. SGPA distribution includes six historically imputed answers.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Form responses: lifestyle</a:t>
            </a:r>
          </a:p>
        </p:txBody>
      </p:sp>
      <p:sp>
        <p:nvSpPr>
          <p:cNvPr id="534" name="Sleep per night">
            <a:extLst xmlns:a="http://schemas.openxmlformats.org/drawingml/2006/main">
              <a:ext uri="{FF2B5EF4-FFF2-40B4-BE49-F238E27FC236}">
                <a16:creationId xmlns:a16="http://schemas.microsoft.com/office/drawing/2014/main" id="{13CF06C2-9F82-433E-B855-69C7C91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Sleep per night</a:t>
            </a:r>
          </a:p>
        </p:txBody>
      </p:sp>
      <p:sp>
        <p:nvSpPr>
          <p:cNvPr id="535" name="Less than 5 hrs">
            <a:extLst xmlns:a="http://schemas.openxmlformats.org/drawingml/2006/main">
              <a:ext uri="{FF2B5EF4-FFF2-40B4-BE49-F238E27FC236}">
                <a16:creationId xmlns:a16="http://schemas.microsoft.com/office/drawing/2014/main" id="{FEED8AB8-5B5A-4543-A84A-B687AF8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5 hrs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2128A11-7D92-474D-BFF6-3C898C47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238375"/>
            <a:ext cx="7924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181  (16.3%)">
            <a:extLst xmlns:a="http://schemas.openxmlformats.org/drawingml/2006/main">
              <a:ext uri="{FF2B5EF4-FFF2-40B4-BE49-F238E27FC236}">
                <a16:creationId xmlns:a16="http://schemas.microsoft.com/office/drawing/2014/main" id="{4D075853-03D3-45F0-82F5-C2879B9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09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181  (16.3%)</a:t>
            </a:r>
          </a:p>
        </p:txBody>
      </p:sp>
      <p:sp>
        <p:nvSpPr>
          <p:cNvPr id="538" name="5-6 hrs">
            <a:extLst xmlns:a="http://schemas.openxmlformats.org/drawingml/2006/main">
              <a:ext uri="{FF2B5EF4-FFF2-40B4-BE49-F238E27FC236}">
                <a16:creationId xmlns:a16="http://schemas.microsoft.com/office/drawing/2014/main" id="{378CE6B5-FE6F-4B39-B5F6-97D79EC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5-6 hrs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F1F7B93-0A1A-45E9-BF50-2CD41976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90512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0" name="310  (28.0%)">
            <a:extLst xmlns:a="http://schemas.openxmlformats.org/drawingml/2006/main">
              <a:ext uri="{FF2B5EF4-FFF2-40B4-BE49-F238E27FC236}">
                <a16:creationId xmlns:a16="http://schemas.microsoft.com/office/drawing/2014/main" id="{7B37882D-0628-4A6B-9645-8092AEA2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8765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310  (28.0%)</a:t>
            </a:r>
          </a:p>
        </p:txBody>
      </p:sp>
      <p:sp>
        <p:nvSpPr>
          <p:cNvPr id="541" name="6-7 hrs">
            <a:extLst xmlns:a="http://schemas.openxmlformats.org/drawingml/2006/main">
              <a:ext uri="{FF2B5EF4-FFF2-40B4-BE49-F238E27FC236}">
                <a16:creationId xmlns:a16="http://schemas.microsoft.com/office/drawing/2014/main" id="{7B31A468-9025-49B2-9F35-BD3ACC9D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6-7 hrs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43BD7F7-0B7C-43E0-BE89-6FDA4F11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3571875"/>
            <a:ext cx="12522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3" name="286  (25.8%)">
            <a:extLst xmlns:a="http://schemas.openxmlformats.org/drawingml/2006/main">
              <a:ext uri="{FF2B5EF4-FFF2-40B4-BE49-F238E27FC236}">
                <a16:creationId xmlns:a16="http://schemas.microsoft.com/office/drawing/2014/main" id="{A3F75E75-5092-495F-9595-6BB0A58A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35433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286  (25.8%)</a:t>
            </a:r>
          </a:p>
        </p:txBody>
      </p:sp>
      <p:sp>
        <p:nvSpPr>
          <p:cNvPr id="544" name="7-8 hrs">
            <a:extLst xmlns:a="http://schemas.openxmlformats.org/drawingml/2006/main">
              <a:ext uri="{FF2B5EF4-FFF2-40B4-BE49-F238E27FC236}">
                <a16:creationId xmlns:a16="http://schemas.microsoft.com/office/drawing/2014/main" id="{ACA4967E-AD8A-4C7D-A5D2-58ADA7D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7-8 hrs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B250009-447A-4684-93D0-297CA340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238625"/>
            <a:ext cx="9457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6" name="216  (19.5%)">
            <a:extLst xmlns:a="http://schemas.openxmlformats.org/drawingml/2006/main">
              <a:ext uri="{FF2B5EF4-FFF2-40B4-BE49-F238E27FC236}">
                <a16:creationId xmlns:a16="http://schemas.microsoft.com/office/drawing/2014/main" id="{EAEDFF1A-CD2A-4794-B8EE-EFD78B0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2100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216  (19.5%)</a:t>
            </a:r>
          </a:p>
        </p:txBody>
      </p:sp>
      <p:sp>
        <p:nvSpPr>
          <p:cNvPr id="547" name="More than 8 hrs">
            <a:extLst xmlns:a="http://schemas.openxmlformats.org/drawingml/2006/main">
              <a:ext uri="{FF2B5EF4-FFF2-40B4-BE49-F238E27FC236}">
                <a16:creationId xmlns:a16="http://schemas.microsoft.com/office/drawing/2014/main" id="{A4AB0137-00B2-40EF-ADB7-3B3ACB2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8 hrs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9E5C604-FB57-49CB-8712-1FD18A5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905375"/>
            <a:ext cx="50351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115  (10.4%)">
            <a:extLst xmlns:a="http://schemas.openxmlformats.org/drawingml/2006/main">
              <a:ext uri="{FF2B5EF4-FFF2-40B4-BE49-F238E27FC236}">
                <a16:creationId xmlns:a16="http://schemas.microsoft.com/office/drawing/2014/main" id="{8BFC121F-5009-4927-ADDF-B3F362F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876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115  (10.4%)</a:t>
            </a:r>
          </a:p>
        </p:txBody>
      </p:sp>
      <p:sp>
        <p:nvSpPr>
          <p:cNvPr id="550" name="Phone / social media took study time">
            <a:extLst xmlns:a="http://schemas.openxmlformats.org/drawingml/2006/main">
              <a:ext uri="{FF2B5EF4-FFF2-40B4-BE49-F238E27FC236}">
                <a16:creationId xmlns:a16="http://schemas.microsoft.com/office/drawing/2014/main" id="{5A1AA320-9F42-42C1-937F-EFB7617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Phone / social media took study time</a:t>
            </a:r>
          </a:p>
        </p:txBody>
      </p:sp>
      <p:sp>
        <p:nvSpPr>
          <p:cNvPr id="551" name="Never">
            <a:extLst xmlns:a="http://schemas.openxmlformats.org/drawingml/2006/main">
              <a:ext uri="{FF2B5EF4-FFF2-40B4-BE49-F238E27FC236}">
                <a16:creationId xmlns:a16="http://schemas.microsoft.com/office/drawing/2014/main" id="{54D45AB3-385D-40E0-A391-B52E783B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Never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326A776-AF6C-4A9B-9D34-6AF1B8F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238375"/>
            <a:ext cx="5338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118  (10.6%)">
            <a:extLst xmlns:a="http://schemas.openxmlformats.org/drawingml/2006/main">
              <a:ext uri="{FF2B5EF4-FFF2-40B4-BE49-F238E27FC236}">
                <a16:creationId xmlns:a16="http://schemas.microsoft.com/office/drawing/2014/main" id="{DF829C80-EDB1-4145-8835-DA26613D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2209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118  (10.6%)</a:t>
            </a:r>
          </a:p>
        </p:txBody>
      </p:sp>
      <p:sp>
        <p:nvSpPr>
          <p:cNvPr id="554" name="Rarely">
            <a:extLst xmlns:a="http://schemas.openxmlformats.org/drawingml/2006/main">
              <a:ext uri="{FF2B5EF4-FFF2-40B4-BE49-F238E27FC236}">
                <a16:creationId xmlns:a16="http://schemas.microsoft.com/office/drawing/2014/main" id="{B603C560-9958-4826-8677-E3A4F5C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Rarely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713504E-E1D1-4537-82EB-B3EF7638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905125"/>
            <a:ext cx="7329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6" name="162  (14.6%)">
            <a:extLst xmlns:a="http://schemas.openxmlformats.org/drawingml/2006/main">
              <a:ext uri="{FF2B5EF4-FFF2-40B4-BE49-F238E27FC236}">
                <a16:creationId xmlns:a16="http://schemas.microsoft.com/office/drawing/2014/main" id="{E207FC79-700B-4C72-85D0-0052FBE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28765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162  (14.6%)</a:t>
            </a:r>
          </a:p>
        </p:txBody>
      </p:sp>
      <p:sp>
        <p:nvSpPr>
          <p:cNvPr id="557" name="Sometimes">
            <a:extLst xmlns:a="http://schemas.openxmlformats.org/drawingml/2006/main">
              <a:ext uri="{FF2B5EF4-FFF2-40B4-BE49-F238E27FC236}">
                <a16:creationId xmlns:a16="http://schemas.microsoft.com/office/drawing/2014/main" id="{A50C69B9-0B89-425E-BFBE-48E5CFF4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Sometimes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83E0746-B787-4B6B-BCD3-58E3B170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357187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9" name="300  (27.1%)">
            <a:extLst xmlns:a="http://schemas.openxmlformats.org/drawingml/2006/main">
              <a:ext uri="{FF2B5EF4-FFF2-40B4-BE49-F238E27FC236}">
                <a16:creationId xmlns:a16="http://schemas.microsoft.com/office/drawing/2014/main" id="{7F59108E-CC93-4F82-ABEE-4D3E54B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35433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300  (27.1%)</a:t>
            </a:r>
          </a:p>
        </p:txBody>
      </p:sp>
      <p:sp>
        <p:nvSpPr>
          <p:cNvPr id="560" name="Often">
            <a:extLst xmlns:a="http://schemas.openxmlformats.org/drawingml/2006/main">
              <a:ext uri="{FF2B5EF4-FFF2-40B4-BE49-F238E27FC236}">
                <a16:creationId xmlns:a16="http://schemas.microsoft.com/office/drawing/2014/main" id="{3A606036-2C9A-4151-8B4E-0A75D691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Often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0AF582A-AEF6-48FE-BA67-E975EA2A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4238625"/>
            <a:ext cx="13211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2" name="292  (26.4%)">
            <a:extLst xmlns:a="http://schemas.openxmlformats.org/drawingml/2006/main">
              <a:ext uri="{FF2B5EF4-FFF2-40B4-BE49-F238E27FC236}">
                <a16:creationId xmlns:a16="http://schemas.microsoft.com/office/drawing/2014/main" id="{68AC4CC1-A1D9-4799-A0B7-D69DE7F3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42100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292  (26.4%)</a:t>
            </a:r>
          </a:p>
        </p:txBody>
      </p:sp>
      <p:sp>
        <p:nvSpPr>
          <p:cNvPr id="563" name="Almost every day">
            <a:extLst xmlns:a="http://schemas.openxmlformats.org/drawingml/2006/main">
              <a:ext uri="{FF2B5EF4-FFF2-40B4-BE49-F238E27FC236}">
                <a16:creationId xmlns:a16="http://schemas.microsoft.com/office/drawing/2014/main" id="{69488C4B-C7BC-4CDE-A058-729143A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every day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73DE0C2-078C-42AA-95E0-654E283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4905375"/>
            <a:ext cx="10677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5" name="236  (21.3%)">
            <a:extLst xmlns:a="http://schemas.openxmlformats.org/drawingml/2006/main">
              <a:ext uri="{FF2B5EF4-FFF2-40B4-BE49-F238E27FC236}">
                <a16:creationId xmlns:a16="http://schemas.microsoft.com/office/drawing/2014/main" id="{DC3DFA7E-9C0F-40C2-8B4B-6017F72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4876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  (21.3%)</a:t>
            </a:r>
          </a:p>
        </p:txBody>
      </p:sp>
      <p:sp>
        <p:nvSpPr>
          <p:cNvPr id="566" name="Counts and percentages from the cleaned dataset, N = 1,">
            <a:extLst xmlns:a="http://schemas.openxmlformats.org/drawingml/2006/main">
              <a:ext uri="{FF2B5EF4-FFF2-40B4-BE49-F238E27FC236}">
                <a16:creationId xmlns:a16="http://schemas.microsoft.com/office/drawing/2014/main" id="{5F50E46E-43D0-403E-A38F-1E3FEF1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Counts and percentages from the cleaned dataset, N = 1,108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Form responses: stress and responsibilities</a:t>
            </a:r>
          </a:p>
        </p:txBody>
      </p:sp>
      <p:sp>
        <p:nvSpPr>
          <p:cNvPr id="534" name="Stress blocked studying">
            <a:extLst xmlns:a="http://schemas.openxmlformats.org/drawingml/2006/main">
              <a:ext uri="{FF2B5EF4-FFF2-40B4-BE49-F238E27FC236}">
                <a16:creationId xmlns:a16="http://schemas.microsoft.com/office/drawing/2014/main" id="{10B94247-685D-43B8-B70E-09F55ADA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Stress blocked studying</a:t>
            </a:r>
          </a:p>
        </p:txBody>
      </p:sp>
      <p:sp>
        <p:nvSpPr>
          <p:cNvPr id="535" name="Never">
            <a:extLst xmlns:a="http://schemas.openxmlformats.org/drawingml/2006/main">
              <a:ext uri="{FF2B5EF4-FFF2-40B4-BE49-F238E27FC236}">
                <a16:creationId xmlns:a16="http://schemas.microsoft.com/office/drawing/2014/main" id="{0BAD1991-AAE6-4160-9063-643D52F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Never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E34DEE-5ED3-4262-B829-C5CA15E1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238375"/>
            <a:ext cx="57977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129  (11.6%)">
            <a:extLst xmlns:a="http://schemas.openxmlformats.org/drawingml/2006/main">
              <a:ext uri="{FF2B5EF4-FFF2-40B4-BE49-F238E27FC236}">
                <a16:creationId xmlns:a16="http://schemas.microsoft.com/office/drawing/2014/main" id="{ED7C59A8-D821-4874-8127-7214EE2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09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129  (11.6%)</a:t>
            </a:r>
          </a:p>
        </p:txBody>
      </p:sp>
      <p:sp>
        <p:nvSpPr>
          <p:cNvPr id="538" name="Rarely">
            <a:extLst xmlns:a="http://schemas.openxmlformats.org/drawingml/2006/main">
              <a:ext uri="{FF2B5EF4-FFF2-40B4-BE49-F238E27FC236}">
                <a16:creationId xmlns:a16="http://schemas.microsoft.com/office/drawing/2014/main" id="{DB633C03-BA12-47AA-A157-3B682873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Rarely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9C8DA55-84C5-410C-AE7A-57A6DB90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905125"/>
            <a:ext cx="10606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0" name="236  (21.3%)">
            <a:extLst xmlns:a="http://schemas.openxmlformats.org/drawingml/2006/main">
              <a:ext uri="{FF2B5EF4-FFF2-40B4-BE49-F238E27FC236}">
                <a16:creationId xmlns:a16="http://schemas.microsoft.com/office/drawing/2014/main" id="{41687C14-E2A6-4DE1-8295-6423E824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8765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  (21.3%)</a:t>
            </a:r>
          </a:p>
        </p:txBody>
      </p:sp>
      <p:sp>
        <p:nvSpPr>
          <p:cNvPr id="541" name="Sometimes">
            <a:extLst xmlns:a="http://schemas.openxmlformats.org/drawingml/2006/main">
              <a:ext uri="{FF2B5EF4-FFF2-40B4-BE49-F238E27FC236}">
                <a16:creationId xmlns:a16="http://schemas.microsoft.com/office/drawing/2014/main" id="{EB22F8B5-1BD3-4E64-95CF-8177DBD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Sometimes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B124B15-87D3-4357-86A5-F0FE5163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357187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3" name="302  (27.3%)">
            <a:extLst xmlns:a="http://schemas.openxmlformats.org/drawingml/2006/main">
              <a:ext uri="{FF2B5EF4-FFF2-40B4-BE49-F238E27FC236}">
                <a16:creationId xmlns:a16="http://schemas.microsoft.com/office/drawing/2014/main" id="{22A4596A-E5DA-40C9-AB5A-2EB396D6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35433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302  (27.3%)</a:t>
            </a:r>
          </a:p>
        </p:txBody>
      </p:sp>
      <p:sp>
        <p:nvSpPr>
          <p:cNvPr id="544" name="Often">
            <a:extLst xmlns:a="http://schemas.openxmlformats.org/drawingml/2006/main">
              <a:ext uri="{FF2B5EF4-FFF2-40B4-BE49-F238E27FC236}">
                <a16:creationId xmlns:a16="http://schemas.microsoft.com/office/drawing/2014/main" id="{CE1892EA-5DEC-4F24-96ED-7CA3F38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Often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28CE558-A1C5-410A-A152-9FD37FC2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238625"/>
            <a:ext cx="111910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6" name="249  (22.5%)">
            <a:extLst xmlns:a="http://schemas.openxmlformats.org/drawingml/2006/main">
              <a:ext uri="{FF2B5EF4-FFF2-40B4-BE49-F238E27FC236}">
                <a16:creationId xmlns:a16="http://schemas.microsoft.com/office/drawing/2014/main" id="{B2E695D3-5EDA-42C3-8F87-7920F5D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2100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249  (22.5%)</a:t>
            </a:r>
          </a:p>
        </p:txBody>
      </p:sp>
      <p:sp>
        <p:nvSpPr>
          <p:cNvPr id="547" name="Almost always">
            <a:extLst xmlns:a="http://schemas.openxmlformats.org/drawingml/2006/main">
              <a:ext uri="{FF2B5EF4-FFF2-40B4-BE49-F238E27FC236}">
                <a16:creationId xmlns:a16="http://schemas.microsoft.com/office/drawing/2014/main" id="{7500A841-C127-4643-AE12-5629FA2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always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07DBBF1-964F-4642-ABFF-9D5524E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905375"/>
            <a:ext cx="86292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192  (17.3%)">
            <a:extLst xmlns:a="http://schemas.openxmlformats.org/drawingml/2006/main">
              <a:ext uri="{FF2B5EF4-FFF2-40B4-BE49-F238E27FC236}">
                <a16:creationId xmlns:a16="http://schemas.microsoft.com/office/drawing/2014/main" id="{C119975D-7D17-420C-A21D-126E4AE8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876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192  (17.3%)</a:t>
            </a:r>
          </a:p>
        </p:txBody>
      </p:sp>
      <p:sp>
        <p:nvSpPr>
          <p:cNvPr id="550" name="Outside commitments (tuition/job/club)">
            <a:extLst xmlns:a="http://schemas.openxmlformats.org/drawingml/2006/main">
              <a:ext uri="{FF2B5EF4-FFF2-40B4-BE49-F238E27FC236}">
                <a16:creationId xmlns:a16="http://schemas.microsoft.com/office/drawing/2014/main" id="{34D5F6F1-1F81-434E-B7AB-CED158C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Outside commitments (tuition/job/club)</a:t>
            </a:r>
          </a:p>
        </p:txBody>
      </p:sp>
      <p:sp>
        <p:nvSpPr>
          <p:cNvPr id="551" name="None">
            <a:extLst xmlns:a="http://schemas.openxmlformats.org/drawingml/2006/main">
              <a:ext uri="{FF2B5EF4-FFF2-40B4-BE49-F238E27FC236}">
                <a16:creationId xmlns:a16="http://schemas.microsoft.com/office/drawing/2014/main" id="{D8D99A7C-9DDD-44C8-B437-A0BC8D0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None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F42B437-3438-4862-8356-4429433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23837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274  (24.7%)">
            <a:extLst xmlns:a="http://schemas.openxmlformats.org/drawingml/2006/main">
              <a:ext uri="{FF2B5EF4-FFF2-40B4-BE49-F238E27FC236}">
                <a16:creationId xmlns:a16="http://schemas.microsoft.com/office/drawing/2014/main" id="{F5A5A8E3-456F-44AD-BBD5-9A3AE1E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2209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274  (24.7%)</a:t>
            </a:r>
          </a:p>
        </p:txBody>
      </p:sp>
      <p:sp>
        <p:nvSpPr>
          <p:cNvPr id="554" name="1-5 hrs">
            <a:extLst xmlns:a="http://schemas.openxmlformats.org/drawingml/2006/main">
              <a:ext uri="{FF2B5EF4-FFF2-40B4-BE49-F238E27FC236}">
                <a16:creationId xmlns:a16="http://schemas.microsoft.com/office/drawing/2014/main" id="{4A451EE5-3FE5-4FF3-A5E8-D9D9C69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1-5 hrs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A71E515-0A15-4BBF-95D0-5859CEE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905125"/>
            <a:ext cx="130282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6" name="263  (23.7%)">
            <a:extLst xmlns:a="http://schemas.openxmlformats.org/drawingml/2006/main">
              <a:ext uri="{FF2B5EF4-FFF2-40B4-BE49-F238E27FC236}">
                <a16:creationId xmlns:a16="http://schemas.microsoft.com/office/drawing/2014/main" id="{A06316CF-1922-4682-A147-69B96FA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28765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263  (23.7%)</a:t>
            </a:r>
          </a:p>
        </p:txBody>
      </p:sp>
      <p:sp>
        <p:nvSpPr>
          <p:cNvPr id="557" name="6-10 hrs">
            <a:extLst xmlns:a="http://schemas.openxmlformats.org/drawingml/2006/main">
              <a:ext uri="{FF2B5EF4-FFF2-40B4-BE49-F238E27FC236}">
                <a16:creationId xmlns:a16="http://schemas.microsoft.com/office/drawing/2014/main" id="{0C5A6903-8F40-49ED-AF65-4476972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6-10 hrs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8B72943-4405-4A57-A984-A589828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3571875"/>
            <a:ext cx="114925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9" name="232  (20.9%)">
            <a:extLst xmlns:a="http://schemas.openxmlformats.org/drawingml/2006/main">
              <a:ext uri="{FF2B5EF4-FFF2-40B4-BE49-F238E27FC236}">
                <a16:creationId xmlns:a16="http://schemas.microsoft.com/office/drawing/2014/main" id="{C35E5F4B-36D3-4AF2-B9DA-79153D7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35433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232  (20.9%)</a:t>
            </a:r>
          </a:p>
        </p:txBody>
      </p:sp>
      <p:sp>
        <p:nvSpPr>
          <p:cNvPr id="560" name="11-15 hrs">
            <a:extLst xmlns:a="http://schemas.openxmlformats.org/drawingml/2006/main">
              <a:ext uri="{FF2B5EF4-FFF2-40B4-BE49-F238E27FC236}">
                <a16:creationId xmlns:a16="http://schemas.microsoft.com/office/drawing/2014/main" id="{D0BFD9F6-D032-4176-AE0A-1004F291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11-15 hrs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F2894DC-FFC3-4F58-9ECD-8226BA3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4238625"/>
            <a:ext cx="94615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2" name="191  (17.2%)">
            <a:extLst xmlns:a="http://schemas.openxmlformats.org/drawingml/2006/main">
              <a:ext uri="{FF2B5EF4-FFF2-40B4-BE49-F238E27FC236}">
                <a16:creationId xmlns:a16="http://schemas.microsoft.com/office/drawing/2014/main" id="{A7765A35-30E4-48DF-AF02-469D8582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421005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191  (17.2%)</a:t>
            </a:r>
          </a:p>
        </p:txBody>
      </p:sp>
      <p:sp>
        <p:nvSpPr>
          <p:cNvPr id="563" name="More than 15 hrs">
            <a:extLst xmlns:a="http://schemas.openxmlformats.org/drawingml/2006/main">
              <a:ext uri="{FF2B5EF4-FFF2-40B4-BE49-F238E27FC236}">
                <a16:creationId xmlns:a16="http://schemas.microsoft.com/office/drawing/2014/main" id="{54403C4F-D71F-4CD5-B51D-439D82DA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26060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15 hrs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4B14DAF7-9C14-4794-8FF6-633A325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4905375"/>
            <a:ext cx="73314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5" name="148  (13.4%)">
            <a:extLst xmlns:a="http://schemas.openxmlformats.org/drawingml/2006/main">
              <a:ext uri="{FF2B5EF4-FFF2-40B4-BE49-F238E27FC236}">
                <a16:creationId xmlns:a16="http://schemas.microsoft.com/office/drawing/2014/main" id="{022E79DD-81BD-457A-965C-2563DD6B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173" y="4876800"/>
            <a:ext cx="1248728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148  (13.4%)</a:t>
            </a:r>
          </a:p>
        </p:txBody>
      </p:sp>
      <p:sp>
        <p:nvSpPr>
          <p:cNvPr id="566" name="Counts and percentages from the cleaned dataset, N = 1,">
            <a:extLst xmlns:a="http://schemas.openxmlformats.org/drawingml/2006/main">
              <a:ext uri="{FF2B5EF4-FFF2-40B4-BE49-F238E27FC236}">
                <a16:creationId xmlns:a16="http://schemas.microsoft.com/office/drawing/2014/main" id="{F7B94C7E-0E5A-4605-B8EA-55C8C22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Counts and percentages from the cleaned dataset, N = 1,108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Form responses: motivation and environment</a:t>
            </a:r>
          </a:p>
        </p:txBody>
      </p:sp>
      <p:sp>
        <p:nvSpPr>
          <p:cNvPr id="534" name="Got desired department">
            <a:extLst xmlns:a="http://schemas.openxmlformats.org/drawingml/2006/main">
              <a:ext uri="{FF2B5EF4-FFF2-40B4-BE49-F238E27FC236}">
                <a16:creationId xmlns:a16="http://schemas.microsoft.com/office/drawing/2014/main" id="{A4FD1B6A-7462-42DB-9155-96CF5A1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Got desired department</a:t>
            </a:r>
          </a:p>
        </p:txBody>
      </p:sp>
      <p:sp>
        <p:nvSpPr>
          <p:cNvPr id="535" name="Not at all what I wanted">
            <a:extLst xmlns:a="http://schemas.openxmlformats.org/drawingml/2006/main">
              <a:ext uri="{FF2B5EF4-FFF2-40B4-BE49-F238E27FC236}">
                <a16:creationId xmlns:a16="http://schemas.microsoft.com/office/drawing/2014/main" id="{F6172D69-20B3-4E91-A8CC-0F3BD60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Not at all what I wanted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A10AF20-8875-49DC-BE64-CC5015B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028825"/>
            <a:ext cx="47905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144  (13.0%)">
            <a:extLst xmlns:a="http://schemas.openxmlformats.org/drawingml/2006/main">
              <a:ext uri="{FF2B5EF4-FFF2-40B4-BE49-F238E27FC236}">
                <a16:creationId xmlns:a16="http://schemas.microsoft.com/office/drawing/2014/main" id="{BA564BA0-0F0F-49E2-A1BB-0A89AEED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00025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144  (13.0%)</a:t>
            </a:r>
          </a:p>
        </p:txBody>
      </p:sp>
      <p:sp>
        <p:nvSpPr>
          <p:cNvPr id="538" name="Mostly different">
            <a:extLst xmlns:a="http://schemas.openxmlformats.org/drawingml/2006/main">
              <a:ext uri="{FF2B5EF4-FFF2-40B4-BE49-F238E27FC236}">
                <a16:creationId xmlns:a16="http://schemas.microsoft.com/office/drawing/2014/main" id="{AC2D8B0A-05C8-4FE3-A937-AE6AD2A9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743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different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DC03A7A-2C9F-45C6-AD3C-583FC5A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326005"/>
            <a:ext cx="4590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0" name="138  (12.5%)">
            <a:extLst xmlns:a="http://schemas.openxmlformats.org/drawingml/2006/main">
              <a:ext uri="{FF2B5EF4-FFF2-40B4-BE49-F238E27FC236}">
                <a16:creationId xmlns:a16="http://schemas.microsoft.com/office/drawing/2014/main" id="{E8A79E85-2C5F-4768-A239-2D98F1D1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9743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138  (12.5%)</a:t>
            </a:r>
          </a:p>
        </p:txBody>
      </p:sp>
      <p:sp>
        <p:nvSpPr>
          <p:cNvPr id="541" name="Somewhat different">
            <a:extLst xmlns:a="http://schemas.openxmlformats.org/drawingml/2006/main">
              <a:ext uri="{FF2B5EF4-FFF2-40B4-BE49-F238E27FC236}">
                <a16:creationId xmlns:a16="http://schemas.microsoft.com/office/drawing/2014/main" id="{611B09EB-E199-430E-B7A5-23AEA6B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461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Somewhat different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C4404F8-8B73-4E98-A680-EFAEF53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623185"/>
            <a:ext cx="57885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3" name="174  (15.7%)">
            <a:extLst xmlns:a="http://schemas.openxmlformats.org/drawingml/2006/main">
              <a:ext uri="{FF2B5EF4-FFF2-40B4-BE49-F238E27FC236}">
                <a16:creationId xmlns:a16="http://schemas.microsoft.com/office/drawing/2014/main" id="{B8B33578-A3A8-456A-ADD8-9799518D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59461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174  (15.7%)</a:t>
            </a:r>
          </a:p>
        </p:txBody>
      </p:sp>
      <p:sp>
        <p:nvSpPr>
          <p:cNvPr id="544" name="Close to what I wanted">
            <a:extLst xmlns:a="http://schemas.openxmlformats.org/drawingml/2006/main">
              <a:ext uri="{FF2B5EF4-FFF2-40B4-BE49-F238E27FC236}">
                <a16:creationId xmlns:a16="http://schemas.microsoft.com/office/drawing/2014/main" id="{CBE13F75-8C8A-43F1-8588-8EC5D153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179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Close to what I wanted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382C7B1-1B57-4D60-A1A5-0E609D1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2920365"/>
            <a:ext cx="81172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6" name="244  (22.0%)">
            <a:extLst xmlns:a="http://schemas.openxmlformats.org/drawingml/2006/main">
              <a:ext uri="{FF2B5EF4-FFF2-40B4-BE49-F238E27FC236}">
                <a16:creationId xmlns:a16="http://schemas.microsoft.com/office/drawing/2014/main" id="{4587DF21-AC4E-4275-9905-5495BDCD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89179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244  (22.0%)</a:t>
            </a:r>
          </a:p>
        </p:txBody>
      </p:sp>
      <p:sp>
        <p:nvSpPr>
          <p:cNvPr id="547" name="Yes, exactly what I wanted">
            <a:extLst xmlns:a="http://schemas.openxmlformats.org/drawingml/2006/main">
              <a:ext uri="{FF2B5EF4-FFF2-40B4-BE49-F238E27FC236}">
                <a16:creationId xmlns:a16="http://schemas.microsoft.com/office/drawing/2014/main" id="{302E90CD-5047-495D-B9C0-016E2D44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897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Yes, exactly what I wanted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6FBF7AE-D6DB-43B5-844A-8ACC61C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321754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408  (36.8%)">
            <a:extLst xmlns:a="http://schemas.openxmlformats.org/drawingml/2006/main">
              <a:ext uri="{FF2B5EF4-FFF2-40B4-BE49-F238E27FC236}">
                <a16:creationId xmlns:a16="http://schemas.microsoft.com/office/drawing/2014/main" id="{C5F6E57A-4542-495A-B929-6E9D4AAA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318897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408  (36.8%)</a:t>
            </a:r>
          </a:p>
        </p:txBody>
      </p:sp>
      <p:sp>
        <p:nvSpPr>
          <p:cNvPr id="550" name="Family / friend support">
            <a:extLst xmlns:a="http://schemas.openxmlformats.org/drawingml/2006/main">
              <a:ext uri="{FF2B5EF4-FFF2-40B4-BE49-F238E27FC236}">
                <a16:creationId xmlns:a16="http://schemas.microsoft.com/office/drawing/2014/main" id="{C4FDD19E-804F-43E2-A24E-1F841CC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Family / friend support</a:t>
            </a:r>
          </a:p>
        </p:txBody>
      </p:sp>
      <p:sp>
        <p:nvSpPr>
          <p:cNvPr id="551" name="No support">
            <a:extLst xmlns:a="http://schemas.openxmlformats.org/drawingml/2006/main">
              <a:ext uri="{FF2B5EF4-FFF2-40B4-BE49-F238E27FC236}">
                <a16:creationId xmlns:a16="http://schemas.microsoft.com/office/drawing/2014/main" id="{21A3AED3-13F7-43D5-8B34-CA620BDB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 support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48D8CBB-187D-4C4A-9B5B-71F0D91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2028825"/>
            <a:ext cx="6483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150  (13.5%)">
            <a:extLst xmlns:a="http://schemas.openxmlformats.org/drawingml/2006/main">
              <a:ext uri="{FF2B5EF4-FFF2-40B4-BE49-F238E27FC236}">
                <a16:creationId xmlns:a16="http://schemas.microsoft.com/office/drawing/2014/main" id="{756850E5-21AE-4F07-A068-1F159E7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200025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150  (13.5%)</a:t>
            </a:r>
          </a:p>
        </p:txBody>
      </p:sp>
      <p:sp>
        <p:nvSpPr>
          <p:cNvPr id="554" name="Very little support">
            <a:extLst xmlns:a="http://schemas.openxmlformats.org/drawingml/2006/main">
              <a:ext uri="{FF2B5EF4-FFF2-40B4-BE49-F238E27FC236}">
                <a16:creationId xmlns:a16="http://schemas.microsoft.com/office/drawing/2014/main" id="{3782928B-9544-40B6-A138-CB8260E7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9743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little support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6BA1C6A-B770-45B9-B2F6-4BE8356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2326005"/>
            <a:ext cx="74349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6" name="172  (15.5%)">
            <a:extLst xmlns:a="http://schemas.openxmlformats.org/drawingml/2006/main">
              <a:ext uri="{FF2B5EF4-FFF2-40B4-BE49-F238E27FC236}">
                <a16:creationId xmlns:a16="http://schemas.microsoft.com/office/drawing/2014/main" id="{B83458DA-B0C1-4893-AE9E-DE7A29F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229743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172  (15.5%)</a:t>
            </a:r>
          </a:p>
        </p:txBody>
      </p:sp>
      <p:sp>
        <p:nvSpPr>
          <p:cNvPr id="557" name="Some support">
            <a:extLst xmlns:a="http://schemas.openxmlformats.org/drawingml/2006/main">
              <a:ext uri="{FF2B5EF4-FFF2-40B4-BE49-F238E27FC236}">
                <a16:creationId xmlns:a16="http://schemas.microsoft.com/office/drawing/2014/main" id="{7E609B4C-E8EB-4935-A956-A527F81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461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 support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4B9A014-B4A7-45E7-B065-11914CB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2623185"/>
            <a:ext cx="11714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9" name="271  (24.5%)">
            <a:extLst xmlns:a="http://schemas.openxmlformats.org/drawingml/2006/main">
              <a:ext uri="{FF2B5EF4-FFF2-40B4-BE49-F238E27FC236}">
                <a16:creationId xmlns:a16="http://schemas.microsoft.com/office/drawing/2014/main" id="{FBF1AF1E-B261-4ABE-84D4-16568A8A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259461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271  (24.5%)</a:t>
            </a:r>
          </a:p>
        </p:txBody>
      </p:sp>
      <p:sp>
        <p:nvSpPr>
          <p:cNvPr id="560" name="Good support">
            <a:extLst xmlns:a="http://schemas.openxmlformats.org/drawingml/2006/main">
              <a:ext uri="{FF2B5EF4-FFF2-40B4-BE49-F238E27FC236}">
                <a16:creationId xmlns:a16="http://schemas.microsoft.com/office/drawing/2014/main" id="{E4B4AF04-13A5-4126-B7E6-D0612FF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179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Good support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F76304D1-F301-4C7E-BCB6-D895C87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292036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2" name="314  (28.3%)">
            <a:extLst xmlns:a="http://schemas.openxmlformats.org/drawingml/2006/main">
              <a:ext uri="{FF2B5EF4-FFF2-40B4-BE49-F238E27FC236}">
                <a16:creationId xmlns:a16="http://schemas.microsoft.com/office/drawing/2014/main" id="{05494CF4-AFBF-4BC7-A1E5-D41A016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289179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314  (28.3%)</a:t>
            </a:r>
          </a:p>
        </p:txBody>
      </p:sp>
      <p:sp>
        <p:nvSpPr>
          <p:cNvPr id="563" name="Strong support">
            <a:extLst xmlns:a="http://schemas.openxmlformats.org/drawingml/2006/main">
              <a:ext uri="{FF2B5EF4-FFF2-40B4-BE49-F238E27FC236}">
                <a16:creationId xmlns:a16="http://schemas.microsoft.com/office/drawing/2014/main" id="{658802AF-56A8-4B47-8BCC-A63D2200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897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Strong support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4E62922-48F9-43E8-8DB6-AB00EAFE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3217545"/>
            <a:ext cx="8688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5" name="201  (18.1%)">
            <a:extLst xmlns:a="http://schemas.openxmlformats.org/drawingml/2006/main">
              <a:ext uri="{FF2B5EF4-FFF2-40B4-BE49-F238E27FC236}">
                <a16:creationId xmlns:a16="http://schemas.microsoft.com/office/drawing/2014/main" id="{58D69162-EDF6-4ACC-8D86-B7EBB08A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318897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201  (18.1%)</a:t>
            </a:r>
          </a:p>
        </p:txBody>
      </p:sp>
      <p:sp>
        <p:nvSpPr>
          <p:cNvPr id="566" name="Study-friendly living place">
            <a:extLst xmlns:a="http://schemas.openxmlformats.org/drawingml/2006/main">
              <a:ext uri="{FF2B5EF4-FFF2-40B4-BE49-F238E27FC236}">
                <a16:creationId xmlns:a16="http://schemas.microsoft.com/office/drawing/2014/main" id="{5D0977E9-87FA-47EF-B22D-8667056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Study-friendly living place</a:t>
            </a:r>
          </a:p>
        </p:txBody>
      </p:sp>
      <p:sp>
        <p:nvSpPr>
          <p:cNvPr id="567" name="Very distracting">
            <a:extLst xmlns:a="http://schemas.openxmlformats.org/drawingml/2006/main">
              <a:ext uri="{FF2B5EF4-FFF2-40B4-BE49-F238E27FC236}">
                <a16:creationId xmlns:a16="http://schemas.microsoft.com/office/drawing/2014/main" id="{018DAD4A-2A4F-4D6C-9ADA-B07204C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distracting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D793031-8EA6-464C-A368-115E551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238625"/>
            <a:ext cx="60899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9" name="153  (13.8%)">
            <a:extLst xmlns:a="http://schemas.openxmlformats.org/drawingml/2006/main">
              <a:ext uri="{FF2B5EF4-FFF2-40B4-BE49-F238E27FC236}">
                <a16:creationId xmlns:a16="http://schemas.microsoft.com/office/drawing/2014/main" id="{A3F1EDDF-794E-4B31-A81A-2ABD8180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21005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153  (13.8%)</a:t>
            </a:r>
          </a:p>
        </p:txBody>
      </p:sp>
      <p:sp>
        <p:nvSpPr>
          <p:cNvPr id="570" name="Somewhat distracting">
            <a:extLst xmlns:a="http://schemas.openxmlformats.org/drawingml/2006/main">
              <a:ext uri="{FF2B5EF4-FFF2-40B4-BE49-F238E27FC236}">
                <a16:creationId xmlns:a16="http://schemas.microsoft.com/office/drawing/2014/main" id="{C868BD86-5597-4066-9484-A43D7DF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723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Somewhat distracting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24AA721-5E0F-40ED-BFCE-B89A319A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535805"/>
            <a:ext cx="73637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2" name="185  (16.7%)">
            <a:extLst xmlns:a="http://schemas.openxmlformats.org/drawingml/2006/main">
              <a:ext uri="{FF2B5EF4-FFF2-40B4-BE49-F238E27FC236}">
                <a16:creationId xmlns:a16="http://schemas.microsoft.com/office/drawing/2014/main" id="{793481E4-27A2-49C6-B482-3F984D3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50723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185  (16.7%)</a:t>
            </a:r>
          </a:p>
        </p:txBody>
      </p:sp>
      <p:sp>
        <p:nvSpPr>
          <p:cNvPr id="573" name="Neither good nor bad">
            <a:extLst xmlns:a="http://schemas.openxmlformats.org/drawingml/2006/main">
              <a:ext uri="{FF2B5EF4-FFF2-40B4-BE49-F238E27FC236}">
                <a16:creationId xmlns:a16="http://schemas.microsoft.com/office/drawing/2014/main" id="{ACE58E0F-8A30-45E6-A8FB-9490E27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441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Neither good nor bad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9279C3D1-553E-4A1F-987D-7C500E76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4832985"/>
            <a:ext cx="105878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5" name="266  (24.0%)">
            <a:extLst xmlns:a="http://schemas.openxmlformats.org/drawingml/2006/main">
              <a:ext uri="{FF2B5EF4-FFF2-40B4-BE49-F238E27FC236}">
                <a16:creationId xmlns:a16="http://schemas.microsoft.com/office/drawing/2014/main" id="{BA531F8A-6833-48EF-9234-F553FB49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480441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266  (24.0%)</a:t>
            </a:r>
          </a:p>
        </p:txBody>
      </p:sp>
      <p:sp>
        <p:nvSpPr>
          <p:cNvPr id="576" name="Mostly suitable">
            <a:extLst xmlns:a="http://schemas.openxmlformats.org/drawingml/2006/main">
              <a:ext uri="{FF2B5EF4-FFF2-40B4-BE49-F238E27FC236}">
                <a16:creationId xmlns:a16="http://schemas.microsoft.com/office/drawing/2014/main" id="{F2AF03D6-2199-4089-937D-E71C97A2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159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suitable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3377CD3-5426-459A-AB44-B6B0EC2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513016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8" name="341  (30.8%)">
            <a:extLst xmlns:a="http://schemas.openxmlformats.org/drawingml/2006/main">
              <a:ext uri="{FF2B5EF4-FFF2-40B4-BE49-F238E27FC236}">
                <a16:creationId xmlns:a16="http://schemas.microsoft.com/office/drawing/2014/main" id="{CD202EAE-99BD-4B0A-B7B7-753E947B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510159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341  (30.8%)</a:t>
            </a:r>
          </a:p>
        </p:txBody>
      </p:sp>
      <p:sp>
        <p:nvSpPr>
          <p:cNvPr id="579" name="Excellent for focused study">
            <a:extLst xmlns:a="http://schemas.openxmlformats.org/drawingml/2006/main">
              <a:ext uri="{FF2B5EF4-FFF2-40B4-BE49-F238E27FC236}">
                <a16:creationId xmlns:a16="http://schemas.microsoft.com/office/drawing/2014/main" id="{B2059D88-F917-499A-B9C3-FB9D238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877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Excellent for focused study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DBD6163-DBAB-4638-BACE-2323E875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3" y="5427345"/>
            <a:ext cx="64880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1" name="163  (14.7%)">
            <a:extLst xmlns:a="http://schemas.openxmlformats.org/drawingml/2006/main">
              <a:ext uri="{FF2B5EF4-FFF2-40B4-BE49-F238E27FC236}">
                <a16:creationId xmlns:a16="http://schemas.microsoft.com/office/drawing/2014/main" id="{B415777B-5344-4130-95B5-B7B1774F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539877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163  (14.7%)</a:t>
            </a:r>
          </a:p>
        </p:txBody>
      </p:sp>
      <p:sp>
        <p:nvSpPr>
          <p:cNvPr id="582" name="Semester routine manageable">
            <a:extLst xmlns:a="http://schemas.openxmlformats.org/drawingml/2006/main">
              <a:ext uri="{FF2B5EF4-FFF2-40B4-BE49-F238E27FC236}">
                <a16:creationId xmlns:a16="http://schemas.microsoft.com/office/drawing/2014/main" id="{CC913E52-EAF9-4517-B063-A7383B11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61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Semester routine manageable</a:t>
            </a:r>
          </a:p>
        </p:txBody>
      </p:sp>
      <p:sp>
        <p:nvSpPr>
          <p:cNvPr id="583" name="Completely unmanageable">
            <a:extLst xmlns:a="http://schemas.openxmlformats.org/drawingml/2006/main">
              <a:ext uri="{FF2B5EF4-FFF2-40B4-BE49-F238E27FC236}">
                <a16:creationId xmlns:a16="http://schemas.microsoft.com/office/drawing/2014/main" id="{6D4FCEFA-BBAD-4D08-BB06-278D5C94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Completely unmanageable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EB40B0A-0E89-478E-9847-6137C917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4238625"/>
            <a:ext cx="67456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5" name="165  (14.9%)">
            <a:extLst xmlns:a="http://schemas.openxmlformats.org/drawingml/2006/main">
              <a:ext uri="{FF2B5EF4-FFF2-40B4-BE49-F238E27FC236}">
                <a16:creationId xmlns:a16="http://schemas.microsoft.com/office/drawing/2014/main" id="{F8CDD4F0-26D4-45CC-9408-C78646D2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421005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165  (14.9%)</a:t>
            </a:r>
          </a:p>
        </p:txBody>
      </p:sp>
      <p:sp>
        <p:nvSpPr>
          <p:cNvPr id="586" name="Difficult to manage">
            <a:extLst xmlns:a="http://schemas.openxmlformats.org/drawingml/2006/main">
              <a:ext uri="{FF2B5EF4-FFF2-40B4-BE49-F238E27FC236}">
                <a16:creationId xmlns:a16="http://schemas.microsoft.com/office/drawing/2014/main" id="{51CBB2C1-EED0-4D77-8BDF-1AD73C7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723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Difficult to manage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46C05BB4-05B6-4236-9F07-030CD7A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4535805"/>
            <a:ext cx="10752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8" name="263  (23.7%)">
            <a:extLst xmlns:a="http://schemas.openxmlformats.org/drawingml/2006/main">
              <a:ext uri="{FF2B5EF4-FFF2-40B4-BE49-F238E27FC236}">
                <a16:creationId xmlns:a16="http://schemas.microsoft.com/office/drawing/2014/main" id="{0F5845E6-725F-4C68-8C2C-17FBB34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450723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263  (23.7%)</a:t>
            </a:r>
          </a:p>
        </p:txBody>
      </p:sp>
      <p:sp>
        <p:nvSpPr>
          <p:cNvPr id="589" name="Average">
            <a:extLst xmlns:a="http://schemas.openxmlformats.org/drawingml/2006/main">
              <a:ext uri="{FF2B5EF4-FFF2-40B4-BE49-F238E27FC236}">
                <a16:creationId xmlns:a16="http://schemas.microsoft.com/office/drawing/2014/main" id="{8C9E197B-8546-405F-BD79-80171868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441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Average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A6CB1B4B-29E9-4BF2-8731-B4EA6883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4832985"/>
            <a:ext cx="13573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91" name="332  (30.0%)">
            <a:extLst xmlns:a="http://schemas.openxmlformats.org/drawingml/2006/main">
              <a:ext uri="{FF2B5EF4-FFF2-40B4-BE49-F238E27FC236}">
                <a16:creationId xmlns:a16="http://schemas.microsoft.com/office/drawing/2014/main" id="{70DECC02-A20A-4B49-8715-9145988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480441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332  (30.0%)</a:t>
            </a:r>
          </a:p>
        </p:txBody>
      </p:sp>
      <p:sp>
        <p:nvSpPr>
          <p:cNvPr id="592" name="Mostly manageable">
            <a:extLst xmlns:a="http://schemas.openxmlformats.org/drawingml/2006/main">
              <a:ext uri="{FF2B5EF4-FFF2-40B4-BE49-F238E27FC236}">
                <a16:creationId xmlns:a16="http://schemas.microsoft.com/office/drawing/2014/main" id="{118A1CB6-7F10-4A67-AD11-285B0E1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159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manageable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AE486442-3564-47C6-9835-8451FF66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5130165"/>
            <a:ext cx="95257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94" name="233  (21.0%)">
            <a:extLst xmlns:a="http://schemas.openxmlformats.org/drawingml/2006/main">
              <a:ext uri="{FF2B5EF4-FFF2-40B4-BE49-F238E27FC236}">
                <a16:creationId xmlns:a16="http://schemas.microsoft.com/office/drawing/2014/main" id="{9268BD73-D3FE-4E21-851A-F2208F71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510159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233  (21.0%)</a:t>
            </a:r>
          </a:p>
        </p:txBody>
      </p:sp>
      <p:sp>
        <p:nvSpPr>
          <p:cNvPr id="595" name="Very healthy and balanced">
            <a:extLst xmlns:a="http://schemas.openxmlformats.org/drawingml/2006/main">
              <a:ext uri="{FF2B5EF4-FFF2-40B4-BE49-F238E27FC236}">
                <a16:creationId xmlns:a16="http://schemas.microsoft.com/office/drawing/2014/main" id="{64073249-E038-42AB-9770-9FA4E1D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8770"/>
            <a:ext cx="260604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healthy and balanced</a:t>
            </a:r>
          </a:p>
        </p:txBody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EFAB4117-1BD3-465B-8501-3B6F8EA4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5427345"/>
            <a:ext cx="4701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97" name="115  (10.4%)">
            <a:extLst xmlns:a="http://schemas.openxmlformats.org/drawingml/2006/main">
              <a:ext uri="{FF2B5EF4-FFF2-40B4-BE49-F238E27FC236}">
                <a16:creationId xmlns:a16="http://schemas.microsoft.com/office/drawing/2014/main" id="{0A75729F-C52E-4E61-8A6F-13D094FD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5398770"/>
            <a:ext cx="124872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115  (10.4%)</a:t>
            </a:r>
          </a:p>
        </p:txBody>
      </p:sp>
      <p:sp>
        <p:nvSpPr>
          <p:cNvPr id="598" name="Counts and percentages from the cleaned dataset, N = 1,">
            <a:extLst xmlns:a="http://schemas.openxmlformats.org/drawingml/2006/main">
              <a:ext uri="{FF2B5EF4-FFF2-40B4-BE49-F238E27FC236}">
                <a16:creationId xmlns:a16="http://schemas.microsoft.com/office/drawing/2014/main" id="{594A1053-6911-43BB-803B-570A016E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Counts and percentages from the cleaned dataset, N = 1,108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Universities in the dataset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C1DA73C-918C-420D-B477-99CA1AA1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353503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5" name="878&#10;79.2%">
            <a:extLst xmlns:a="http://schemas.openxmlformats.org/drawingml/2006/main">
              <a:ext uri="{FF2B5EF4-FFF2-40B4-BE49-F238E27FC236}">
                <a16:creationId xmlns:a16="http://schemas.microsoft.com/office/drawing/2014/main" id="{FA5D1CF5-ABB9-443A-98F5-A66B579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52575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878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79.2%</a:t>
            </a:r>
          </a:p>
        </p:txBody>
      </p:sp>
      <p:sp>
        <p:nvSpPr>
          <p:cNvPr id="536" name="KUET">
            <a:extLst xmlns:a="http://schemas.openxmlformats.org/drawingml/2006/main">
              <a:ext uri="{FF2B5EF4-FFF2-40B4-BE49-F238E27FC236}">
                <a16:creationId xmlns:a16="http://schemas.microsoft.com/office/drawing/2014/main" id="{52257EC9-6B72-4474-9D1E-9766907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KUET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D78BE2C-0AD0-4CCA-B8EF-0A21CAF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93744"/>
            <a:ext cx="1353503" cy="34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FE3"/>
          </a:solidFill>
          <a:ln xmlns:a="http://schemas.openxmlformats.org/drawingml/2006/main" w="0">
            <a:noFill/>
          </a:ln>
        </p:spPr>
      </p:sp>
      <p:sp>
        <p:nvSpPr>
          <p:cNvPr id="538" name="104&#10;9.4%">
            <a:extLst xmlns:a="http://schemas.openxmlformats.org/drawingml/2006/main">
              <a:ext uri="{FF2B5EF4-FFF2-40B4-BE49-F238E27FC236}">
                <a16:creationId xmlns:a16="http://schemas.microsoft.com/office/drawing/2014/main" id="{C3197122-E3A8-414A-A436-CC732A0F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5569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104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9.4%</a:t>
            </a:r>
          </a:p>
        </p:txBody>
      </p:sp>
      <p:sp>
        <p:nvSpPr>
          <p:cNvPr id="539" name="BUET">
            <a:extLst xmlns:a="http://schemas.openxmlformats.org/drawingml/2006/main">
              <a:ext uri="{FF2B5EF4-FFF2-40B4-BE49-F238E27FC236}">
                <a16:creationId xmlns:a16="http://schemas.microsoft.com/office/drawing/2014/main" id="{6CCA0B78-835A-471B-A35E-590E9BB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BUET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3AD8638A-1993-44D5-B041-19B6E573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3833"/>
            <a:ext cx="1353503" cy="339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8EC"/>
          </a:solidFill>
          <a:ln xmlns:a="http://schemas.openxmlformats.org/drawingml/2006/main" w="0">
            <a:noFill/>
          </a:ln>
        </p:spPr>
      </p:sp>
      <p:sp>
        <p:nvSpPr>
          <p:cNvPr id="541" name="101&#10;9.1%">
            <a:extLst xmlns:a="http://schemas.openxmlformats.org/drawingml/2006/main">
              <a:ext uri="{FF2B5EF4-FFF2-40B4-BE49-F238E27FC236}">
                <a16:creationId xmlns:a16="http://schemas.microsoft.com/office/drawing/2014/main" id="{CDD8B3D0-947B-4043-A7C3-1210CD8C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65658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101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9.1%</a:t>
            </a:r>
          </a:p>
        </p:txBody>
      </p:sp>
      <p:sp>
        <p:nvSpPr>
          <p:cNvPr id="542" name="BRAC">
            <a:extLst xmlns:a="http://schemas.openxmlformats.org/drawingml/2006/main">
              <a:ext uri="{FF2B5EF4-FFF2-40B4-BE49-F238E27FC236}">
                <a16:creationId xmlns:a16="http://schemas.microsoft.com/office/drawing/2014/main" id="{9A85AD27-B484-4D71-9519-70A2A801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BRAC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62B3FD9-76F2-40D4-BBFA-B790357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59424"/>
            <a:ext cx="1353503" cy="840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1F4"/>
          </a:solidFill>
          <a:ln xmlns:a="http://schemas.openxmlformats.org/drawingml/2006/main" w="0">
            <a:noFill/>
          </a:ln>
        </p:spPr>
      </p:sp>
      <p:sp>
        <p:nvSpPr>
          <p:cNvPr id="544" name="25&#10;2.3%">
            <a:extLst xmlns:a="http://schemas.openxmlformats.org/drawingml/2006/main">
              <a:ext uri="{FF2B5EF4-FFF2-40B4-BE49-F238E27FC236}">
                <a16:creationId xmlns:a16="http://schemas.microsoft.com/office/drawing/2014/main" id="{0A43AD80-5BB6-4D37-9C7D-C90E812D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21249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2.3%</a:t>
            </a:r>
          </a:p>
        </p:txBody>
      </p:sp>
      <p:sp>
        <p:nvSpPr>
          <p:cNvPr id="545" name="CUET">
            <a:extLst xmlns:a="http://schemas.openxmlformats.org/drawingml/2006/main">
              <a:ext uri="{FF2B5EF4-FFF2-40B4-BE49-F238E27FC236}">
                <a16:creationId xmlns:a16="http://schemas.microsoft.com/office/drawing/2014/main" id="{1B63D19A-A2C2-48BD-953F-328D331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CUET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Predicted CGPA classes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44E1B34-DAEA-4F32-8D8E-BA6B2FE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6384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C0">
            <a:extLst xmlns:a="http://schemas.openxmlformats.org/drawingml/2006/main">
              <a:ext uri="{FF2B5EF4-FFF2-40B4-BE49-F238E27FC236}">
                <a16:creationId xmlns:a16="http://schemas.microsoft.com/office/drawing/2014/main" id="{64F91D61-F566-46A8-A828-D2D9B6DB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6" name="&lt; 3.20">
            <a:extLst xmlns:a="http://schemas.openxmlformats.org/drawingml/2006/main">
              <a:ext uri="{FF2B5EF4-FFF2-40B4-BE49-F238E27FC236}">
                <a16:creationId xmlns:a16="http://schemas.microsoft.com/office/drawing/2014/main" id="{95BD389F-AFBE-4458-9788-3BD1233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&lt; 3.20</a:t>
            </a:r>
          </a:p>
        </p:txBody>
      </p:sp>
      <p:sp>
        <p:nvSpPr>
          <p:cNvPr id="537" name="236 students&#10;21.3%">
            <a:extLst xmlns:a="http://schemas.openxmlformats.org/drawingml/2006/main">
              <a:ext uri="{FF2B5EF4-FFF2-40B4-BE49-F238E27FC236}">
                <a16:creationId xmlns:a16="http://schemas.microsoft.com/office/drawing/2014/main" id="{DE0A5BBF-3BAD-410B-890C-64450A1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 students</a:t>
            </a:r>
          </a:p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21.3%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7D1BECE-1762-45BA-95A5-308E38C2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6384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A4B98A12-6219-4EC8-A653-9AC2988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3.20–3.49">
            <a:extLst xmlns:a="http://schemas.openxmlformats.org/drawingml/2006/main">
              <a:ext uri="{FF2B5EF4-FFF2-40B4-BE49-F238E27FC236}">
                <a16:creationId xmlns:a16="http://schemas.microsoft.com/office/drawing/2014/main" id="{0FD471BC-21A9-4004-BAEE-671AF9F3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3.20–3.49</a:t>
            </a:r>
          </a:p>
        </p:txBody>
      </p:sp>
      <p:sp>
        <p:nvSpPr>
          <p:cNvPr id="541" name="321 students&#10;29.0%">
            <a:extLst xmlns:a="http://schemas.openxmlformats.org/drawingml/2006/main">
              <a:ext uri="{FF2B5EF4-FFF2-40B4-BE49-F238E27FC236}">
                <a16:creationId xmlns:a16="http://schemas.microsoft.com/office/drawing/2014/main" id="{81C11532-9CA5-4A09-8762-2861B67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321 students</a:t>
            </a:r>
          </a:p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29.0%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2FFECDD-43F5-4E78-8EF2-1E4C8660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6384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3" name="C2">
            <a:extLst xmlns:a="http://schemas.openxmlformats.org/drawingml/2006/main">
              <a:ext uri="{FF2B5EF4-FFF2-40B4-BE49-F238E27FC236}">
                <a16:creationId xmlns:a16="http://schemas.microsoft.com/office/drawing/2014/main" id="{F4F649F8-6325-4CA7-B393-F7CEC29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4C91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0">
                <a:solidFill>
                  <a:srgbClr val="4C91D8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4" name="3.50–3.74">
            <a:extLst xmlns:a="http://schemas.openxmlformats.org/drawingml/2006/main">
              <a:ext uri="{FF2B5EF4-FFF2-40B4-BE49-F238E27FC236}">
                <a16:creationId xmlns:a16="http://schemas.microsoft.com/office/drawing/2014/main" id="{2C06E77E-2F42-4E01-9E5F-E13EF957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3.50–3.74</a:t>
            </a:r>
          </a:p>
        </p:txBody>
      </p:sp>
      <p:sp>
        <p:nvSpPr>
          <p:cNvPr id="545" name="303 students&#10;27.3%">
            <a:extLst xmlns:a="http://schemas.openxmlformats.org/drawingml/2006/main">
              <a:ext uri="{FF2B5EF4-FFF2-40B4-BE49-F238E27FC236}">
                <a16:creationId xmlns:a16="http://schemas.microsoft.com/office/drawing/2014/main" id="{AC9CA66F-D59B-4A74-91BD-A9A9C91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303 students</a:t>
            </a:r>
          </a:p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27.3%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E9F2D917-DDCE-4434-B235-0F05E53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6384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7" name="C3">
            <a:extLst xmlns:a="http://schemas.openxmlformats.org/drawingml/2006/main">
              <a:ext uri="{FF2B5EF4-FFF2-40B4-BE49-F238E27FC236}">
                <a16:creationId xmlns:a16="http://schemas.microsoft.com/office/drawing/2014/main" id="{B814FCA0-E017-4C0A-BFAC-0C11108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8" name="≥ 3.75">
            <a:extLst xmlns:a="http://schemas.openxmlformats.org/drawingml/2006/main">
              <a:ext uri="{FF2B5EF4-FFF2-40B4-BE49-F238E27FC236}">
                <a16:creationId xmlns:a16="http://schemas.microsoft.com/office/drawing/2014/main" id="{403ECB2D-7FD3-4CF5-8CEF-26ABB6BB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≥ 3.75</a:t>
            </a:r>
          </a:p>
        </p:txBody>
      </p:sp>
      <p:sp>
        <p:nvSpPr>
          <p:cNvPr id="549" name="248 students&#10;22.4%">
            <a:extLst xmlns:a="http://schemas.openxmlformats.org/drawingml/2006/main">
              <a:ext uri="{FF2B5EF4-FFF2-40B4-BE49-F238E27FC236}">
                <a16:creationId xmlns:a16="http://schemas.microsoft.com/office/drawing/2014/main" id="{071DB26D-1EC7-45F8-88DD-F7822CD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248 students</a:t>
            </a:r>
          </a:p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22.4%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CGPA distribution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C71BB789-A127-48EA-A32D-765DE993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2631"/>
            <a:ext cx="1353503" cy="2170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5" name="236&#10;21.3%">
            <a:extLst xmlns:a="http://schemas.openxmlformats.org/drawingml/2006/main">
              <a:ext uri="{FF2B5EF4-FFF2-40B4-BE49-F238E27FC236}">
                <a16:creationId xmlns:a16="http://schemas.microsoft.com/office/drawing/2014/main" id="{064B4EE6-1169-456B-BB81-1986B17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4456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21.3%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29249C6C-E78B-4CC1-98FF-2D2AFA0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F2C13A9-A628-421D-89E7-D1C7FC7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1353503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321&#10;29.0%">
            <a:extLst xmlns:a="http://schemas.openxmlformats.org/drawingml/2006/main">
              <a:ext uri="{FF2B5EF4-FFF2-40B4-BE49-F238E27FC236}">
                <a16:creationId xmlns:a16="http://schemas.microsoft.com/office/drawing/2014/main" id="{B343DF38-827B-4DAA-BDB1-AA862B1D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52575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321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29.0%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D417239C-EEE8-4642-BE25-F9B49065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CBCA2DB-BF37-48A9-BD9F-6AC6322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6325"/>
            <a:ext cx="1353503" cy="278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1" name="303&#10;27.3%">
            <a:extLst xmlns:a="http://schemas.openxmlformats.org/drawingml/2006/main">
              <a:ext uri="{FF2B5EF4-FFF2-40B4-BE49-F238E27FC236}">
                <a16:creationId xmlns:a16="http://schemas.microsoft.com/office/drawing/2014/main" id="{BFD8EC95-ECAB-4A6B-8250-A0681D5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8150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303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27.3%</a:t>
            </a:r>
          </a:p>
        </p:txBody>
      </p:sp>
      <p:sp>
        <p:nvSpPr>
          <p:cNvPr id="542" name="C2">
            <a:extLst xmlns:a="http://schemas.openxmlformats.org/drawingml/2006/main">
              <a:ext uri="{FF2B5EF4-FFF2-40B4-BE49-F238E27FC236}">
                <a16:creationId xmlns:a16="http://schemas.microsoft.com/office/drawing/2014/main" id="{884D1520-F20C-4032-AA9A-EC84E48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ED9022C-62E3-4467-AF38-2CC6BBD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2248"/>
            <a:ext cx="1353503" cy="22812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4" name="248&#10;22.4%">
            <a:extLst xmlns:a="http://schemas.openxmlformats.org/drawingml/2006/main">
              <a:ext uri="{FF2B5EF4-FFF2-40B4-BE49-F238E27FC236}">
                <a16:creationId xmlns:a16="http://schemas.microsoft.com/office/drawing/2014/main" id="{000AC5C7-152C-46BE-A8D1-73CEF3F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4073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248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22.4%</a:t>
            </a:r>
          </a:p>
        </p:txBody>
      </p:sp>
      <p:sp>
        <p:nvSpPr>
          <p:cNvPr id="545" name="C3">
            <a:extLst xmlns:a="http://schemas.openxmlformats.org/drawingml/2006/main">
              <a:ext uri="{FF2B5EF4-FFF2-40B4-BE49-F238E27FC236}">
                <a16:creationId xmlns:a16="http://schemas.microsoft.com/office/drawing/2014/main" id="{886B73DD-196A-4CFB-BB26-CE8D14A8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6" name="ZeroR majority class = C1. The N = 1,108 descriptive ba">
            <a:extLst xmlns:a="http://schemas.openxmlformats.org/drawingml/2006/main">
              <a:ext uri="{FF2B5EF4-FFF2-40B4-BE49-F238E27FC236}">
                <a16:creationId xmlns:a16="http://schemas.microsoft.com/office/drawing/2014/main" id="{99BB99C4-24BD-44EB-8509-46FAE9EF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ZeroR majority class = C1. The N = 1,108 descriptive baseline is 28.97%.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Recent SGPA distribution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F765C59-DFD2-4982-929A-8C470815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7207"/>
            <a:ext cx="1353503" cy="2346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5" name="236&#10;21.3%">
            <a:extLst xmlns:a="http://schemas.openxmlformats.org/drawingml/2006/main">
              <a:ext uri="{FF2B5EF4-FFF2-40B4-BE49-F238E27FC236}">
                <a16:creationId xmlns:a16="http://schemas.microsoft.com/office/drawing/2014/main" id="{9FFA1DE0-F953-42B9-B278-5104484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9032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21.3%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6AF9B3ED-836E-422D-B15C-C77B33A1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F37F476-7A90-4A71-BAC6-B4911A3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1353503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97&#10;26.8%">
            <a:extLst xmlns:a="http://schemas.openxmlformats.org/drawingml/2006/main">
              <a:ext uri="{FF2B5EF4-FFF2-40B4-BE49-F238E27FC236}">
                <a16:creationId xmlns:a16="http://schemas.microsoft.com/office/drawing/2014/main" id="{2BFC0C02-46FD-47A5-B8D0-B747944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52575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297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26.8%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0468BD00-C6EA-4883-A164-C3CDC2F2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110A662-75E5-443F-8A62-F2065CB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0111"/>
            <a:ext cx="1353503" cy="2843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1" name="286&#10;25.8%">
            <a:extLst xmlns:a="http://schemas.openxmlformats.org/drawingml/2006/main">
              <a:ext uri="{FF2B5EF4-FFF2-40B4-BE49-F238E27FC236}">
                <a16:creationId xmlns:a16="http://schemas.microsoft.com/office/drawing/2014/main" id="{EF224381-E04C-4F51-A667-3B21E66A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1936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286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25.8%</a:t>
            </a:r>
          </a:p>
        </p:txBody>
      </p:sp>
      <p:sp>
        <p:nvSpPr>
          <p:cNvPr id="542" name="C2">
            <a:extLst xmlns:a="http://schemas.openxmlformats.org/drawingml/2006/main">
              <a:ext uri="{FF2B5EF4-FFF2-40B4-BE49-F238E27FC236}">
                <a16:creationId xmlns:a16="http://schemas.microsoft.com/office/drawing/2014/main" id="{7B0ED7B2-7040-43BA-88A3-7FB9939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468A2F7-BD55-4A54-8582-7F67B4F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0285"/>
            <a:ext cx="1353503" cy="2873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4" name="289&#10;26.1%">
            <a:extLst xmlns:a="http://schemas.openxmlformats.org/drawingml/2006/main">
              <a:ext uri="{FF2B5EF4-FFF2-40B4-BE49-F238E27FC236}">
                <a16:creationId xmlns:a16="http://schemas.microsoft.com/office/drawing/2014/main" id="{327B6410-289B-41C9-9CEC-56554792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32110"/>
            <a:ext cx="16335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289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26.1%</a:t>
            </a:r>
          </a:p>
        </p:txBody>
      </p:sp>
      <p:sp>
        <p:nvSpPr>
          <p:cNvPr id="545" name="C3">
            <a:extLst xmlns:a="http://schemas.openxmlformats.org/drawingml/2006/main">
              <a:ext uri="{FF2B5EF4-FFF2-40B4-BE49-F238E27FC236}">
                <a16:creationId xmlns:a16="http://schemas.microsoft.com/office/drawing/2014/main" id="{4C477565-FD2D-484E-B6A5-E3699B1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57800"/>
            <a:ext cx="198358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6" name="Same class ranges as CGPA. Descriptive N = 1,108 includ">
            <a:extLst xmlns:a="http://schemas.openxmlformats.org/drawingml/2006/main">
              <a:ext uri="{FF2B5EF4-FFF2-40B4-BE49-F238E27FC236}">
                <a16:creationId xmlns:a16="http://schemas.microsoft.com/office/drawing/2014/main" id="{8BC6F901-BDBB-46A9-9051-5A83996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Same class ranges as CGPA. Descriptive N = 1,108 includes six historical imputations.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Attendance and CGPA</a:t>
            </a:r>
          </a:p>
        </p:txBody>
      </p:sp>
      <p:sp>
        <p:nvSpPr>
          <p:cNvPr id="534" name="Less than 40%">
            <a:extLst xmlns:a="http://schemas.openxmlformats.org/drawingml/2006/main">
              <a:ext uri="{FF2B5EF4-FFF2-40B4-BE49-F238E27FC236}">
                <a16:creationId xmlns:a16="http://schemas.microsoft.com/office/drawing/2014/main" id="{AE12E83A-60EE-432B-A6AD-369AC8EA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40%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F2FEFD5-83A7-4939-999B-500A9B7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20859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30%">
            <a:extLst xmlns:a="http://schemas.openxmlformats.org/drawingml/2006/main">
              <a:ext uri="{FF2B5EF4-FFF2-40B4-BE49-F238E27FC236}">
                <a16:creationId xmlns:a16="http://schemas.microsoft.com/office/drawing/2014/main" id="{02404CD3-9935-487A-901F-BB3FCD5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662595F-20C4-4BCE-9429-F0AFE1C9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0%">
            <a:extLst xmlns:a="http://schemas.openxmlformats.org/drawingml/2006/main">
              <a:ext uri="{FF2B5EF4-FFF2-40B4-BE49-F238E27FC236}">
                <a16:creationId xmlns:a16="http://schemas.microsoft.com/office/drawing/2014/main" id="{75B88EF2-8FF8-458B-BF9C-166768F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F086FEB-2EBC-4970-850F-961FD671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0%">
            <a:extLst xmlns:a="http://schemas.openxmlformats.org/drawingml/2006/main">
              <a:ext uri="{FF2B5EF4-FFF2-40B4-BE49-F238E27FC236}">
                <a16:creationId xmlns:a16="http://schemas.microsoft.com/office/drawing/2014/main" id="{220F01EB-1750-42AD-B2FF-3CBF36D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22B8B00-D0E1-4AB3-A3AA-DCCF11E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0859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30%">
            <a:extLst xmlns:a="http://schemas.openxmlformats.org/drawingml/2006/main">
              <a:ext uri="{FF2B5EF4-FFF2-40B4-BE49-F238E27FC236}">
                <a16:creationId xmlns:a16="http://schemas.microsoft.com/office/drawing/2014/main" id="{BD883531-2ED1-46C4-B734-4583340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43" name="n=10">
            <a:extLst xmlns:a="http://schemas.openxmlformats.org/drawingml/2006/main">
              <a:ext uri="{FF2B5EF4-FFF2-40B4-BE49-F238E27FC236}">
                <a16:creationId xmlns:a16="http://schemas.microsoft.com/office/drawing/2014/main" id="{D8D0B816-35F4-4467-BABB-BDB5635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n=10</a:t>
            </a:r>
          </a:p>
        </p:txBody>
      </p:sp>
      <p:sp>
        <p:nvSpPr>
          <p:cNvPr id="544" name="40-59%">
            <a:extLst xmlns:a="http://schemas.openxmlformats.org/drawingml/2006/main">
              <a:ext uri="{FF2B5EF4-FFF2-40B4-BE49-F238E27FC236}">
                <a16:creationId xmlns:a16="http://schemas.microsoft.com/office/drawing/2014/main" id="{C7AA33CF-FF4A-40DD-A5B1-64C10B5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40-59%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2EA070F-42F7-4033-9E9F-1B5BFA1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81389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6%">
            <a:extLst xmlns:a="http://schemas.openxmlformats.org/drawingml/2006/main">
              <a:ext uri="{FF2B5EF4-FFF2-40B4-BE49-F238E27FC236}">
                <a16:creationId xmlns:a16="http://schemas.microsoft.com/office/drawing/2014/main" id="{C811AA8E-A500-4C21-8E06-F54A4D25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7567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2D8DB3D-B440-4FE3-9965-A8AEA2B0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016" y="2628900"/>
            <a:ext cx="211620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30%">
            <a:extLst xmlns:a="http://schemas.openxmlformats.org/drawingml/2006/main">
              <a:ext uri="{FF2B5EF4-FFF2-40B4-BE49-F238E27FC236}">
                <a16:creationId xmlns:a16="http://schemas.microsoft.com/office/drawing/2014/main" id="{52337BFD-6AB4-469E-9FEA-D9F8749B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116" y="2733675"/>
            <a:ext cx="20590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87ADC16-D06E-49E0-9497-9E74E3E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223" y="2628900"/>
            <a:ext cx="181389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6%">
            <a:extLst xmlns:a="http://schemas.openxmlformats.org/drawingml/2006/main">
              <a:ext uri="{FF2B5EF4-FFF2-40B4-BE49-F238E27FC236}">
                <a16:creationId xmlns:a16="http://schemas.microsoft.com/office/drawing/2014/main" id="{F962FD4C-E2C9-48A8-BE18-957074F4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323" y="2733675"/>
            <a:ext cx="17567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A8237A8-780B-41E6-ABFD-319054E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114" y="2628900"/>
            <a:ext cx="120926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17%">
            <a:extLst xmlns:a="http://schemas.openxmlformats.org/drawingml/2006/main">
              <a:ext uri="{FF2B5EF4-FFF2-40B4-BE49-F238E27FC236}">
                <a16:creationId xmlns:a16="http://schemas.microsoft.com/office/drawing/2014/main" id="{C97ED008-598C-4DEA-AE83-3EE7DD2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214" y="2733675"/>
            <a:ext cx="11521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17%</a:t>
            </a:r>
          </a:p>
        </p:txBody>
      </p:sp>
      <p:sp>
        <p:nvSpPr>
          <p:cNvPr id="553" name="n=23">
            <a:extLst xmlns:a="http://schemas.openxmlformats.org/drawingml/2006/main">
              <a:ext uri="{FF2B5EF4-FFF2-40B4-BE49-F238E27FC236}">
                <a16:creationId xmlns:a16="http://schemas.microsoft.com/office/drawing/2014/main" id="{60B59414-BFBD-49E2-959F-ABD19705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</a:t>
            </a:r>
          </a:p>
        </p:txBody>
      </p:sp>
      <p:sp>
        <p:nvSpPr>
          <p:cNvPr id="554" name="60-74%">
            <a:extLst xmlns:a="http://schemas.openxmlformats.org/drawingml/2006/main">
              <a:ext uri="{FF2B5EF4-FFF2-40B4-BE49-F238E27FC236}">
                <a16:creationId xmlns:a16="http://schemas.microsoft.com/office/drawing/2014/main" id="{F42C6B45-8864-4E88-8B34-6F528F8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60-74%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EECE117-11A0-4FEA-9906-D5F0F19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71312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25%">
            <a:extLst xmlns:a="http://schemas.openxmlformats.org/drawingml/2006/main">
              <a:ext uri="{FF2B5EF4-FFF2-40B4-BE49-F238E27FC236}">
                <a16:creationId xmlns:a16="http://schemas.microsoft.com/office/drawing/2014/main" id="{A849D535-7E2F-406D-834F-03BD403D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655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B061EAA-9F57-4CA3-8354-D525E03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245" y="3352800"/>
            <a:ext cx="204062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29%">
            <a:extLst xmlns:a="http://schemas.openxmlformats.org/drawingml/2006/main">
              <a:ext uri="{FF2B5EF4-FFF2-40B4-BE49-F238E27FC236}">
                <a16:creationId xmlns:a16="http://schemas.microsoft.com/office/drawing/2014/main" id="{953F70AB-BA9E-4C94-BEAC-40169BB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345" y="3457575"/>
            <a:ext cx="198347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2BE6111-AC4B-4E17-B072-E3B354F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872" y="3352800"/>
            <a:ext cx="199024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9%">
            <a:extLst xmlns:a="http://schemas.openxmlformats.org/drawingml/2006/main">
              <a:ext uri="{FF2B5EF4-FFF2-40B4-BE49-F238E27FC236}">
                <a16:creationId xmlns:a16="http://schemas.microsoft.com/office/drawing/2014/main" id="{86309F7F-E36D-437D-ACA9-4DFAC7D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972" y="3457575"/>
            <a:ext cx="19330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359550D8-3716-412A-B12F-8306E8D6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114" y="3352800"/>
            <a:ext cx="120926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17%">
            <a:extLst xmlns:a="http://schemas.openxmlformats.org/drawingml/2006/main">
              <a:ext uri="{FF2B5EF4-FFF2-40B4-BE49-F238E27FC236}">
                <a16:creationId xmlns:a16="http://schemas.microsoft.com/office/drawing/2014/main" id="{4195C0A2-C00D-4D75-8B60-37BEE67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214" y="3457575"/>
            <a:ext cx="11521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17%</a:t>
            </a:r>
          </a:p>
        </p:txBody>
      </p:sp>
      <p:sp>
        <p:nvSpPr>
          <p:cNvPr id="563" name="n=276">
            <a:extLst xmlns:a="http://schemas.openxmlformats.org/drawingml/2006/main">
              <a:ext uri="{FF2B5EF4-FFF2-40B4-BE49-F238E27FC236}">
                <a16:creationId xmlns:a16="http://schemas.microsoft.com/office/drawing/2014/main" id="{1213A360-34B3-4821-8C78-4C118DD5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n=276</a:t>
            </a:r>
          </a:p>
        </p:txBody>
      </p:sp>
      <p:sp>
        <p:nvSpPr>
          <p:cNvPr id="564" name="75-89%">
            <a:extLst xmlns:a="http://schemas.openxmlformats.org/drawingml/2006/main">
              <a:ext uri="{FF2B5EF4-FFF2-40B4-BE49-F238E27FC236}">
                <a16:creationId xmlns:a16="http://schemas.microsoft.com/office/drawing/2014/main" id="{06ABAAEB-E573-418C-8280-4748922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75-89%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616C7541-83A7-4F6D-A104-6B50EBC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478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1%">
            <a:extLst xmlns:a="http://schemas.openxmlformats.org/drawingml/2006/main">
              <a:ext uri="{FF2B5EF4-FFF2-40B4-BE49-F238E27FC236}">
                <a16:creationId xmlns:a16="http://schemas.microsoft.com/office/drawing/2014/main" id="{68A9922F-0927-4306-B67B-AF037B4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42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C064842-F186-41FD-B8A9-70FDB9B3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375" y="4076700"/>
            <a:ext cx="2190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31%">
            <a:extLst xmlns:a="http://schemas.openxmlformats.org/drawingml/2006/main">
              <a:ext uri="{FF2B5EF4-FFF2-40B4-BE49-F238E27FC236}">
                <a16:creationId xmlns:a16="http://schemas.microsoft.com/office/drawing/2014/main" id="{8246D488-4AEE-4D5F-B9BB-35C7FC9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475" y="4181475"/>
            <a:ext cx="213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B480511-06DE-4030-8591-BCA9CF5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375" y="4076700"/>
            <a:ext cx="1770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5%">
            <a:extLst xmlns:a="http://schemas.openxmlformats.org/drawingml/2006/main">
              <a:ext uri="{FF2B5EF4-FFF2-40B4-BE49-F238E27FC236}">
                <a16:creationId xmlns:a16="http://schemas.microsoft.com/office/drawing/2014/main" id="{141A2321-E553-4D9C-8051-383D6D6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475" y="4181475"/>
            <a:ext cx="171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2F7EA68-B272-4F7B-835B-8F55370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625" y="4076700"/>
            <a:ext cx="1514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2%">
            <a:extLst xmlns:a="http://schemas.openxmlformats.org/drawingml/2006/main">
              <a:ext uri="{FF2B5EF4-FFF2-40B4-BE49-F238E27FC236}">
                <a16:creationId xmlns:a16="http://schemas.microsoft.com/office/drawing/2014/main" id="{E25B7881-6BAA-4439-BB57-44CED5C3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725" y="4181475"/>
            <a:ext cx="14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3" name="n=381">
            <a:extLst xmlns:a="http://schemas.openxmlformats.org/drawingml/2006/main">
              <a:ext uri="{FF2B5EF4-FFF2-40B4-BE49-F238E27FC236}">
                <a16:creationId xmlns:a16="http://schemas.microsoft.com/office/drawing/2014/main" id="{0465DDAD-F33A-4CE9-ACAA-629F7B2D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n=381</a:t>
            </a:r>
          </a:p>
        </p:txBody>
      </p:sp>
      <p:sp>
        <p:nvSpPr>
          <p:cNvPr id="574" name="90% or more">
            <a:extLst xmlns:a="http://schemas.openxmlformats.org/drawingml/2006/main">
              <a:ext uri="{FF2B5EF4-FFF2-40B4-BE49-F238E27FC236}">
                <a16:creationId xmlns:a16="http://schemas.microsoft.com/office/drawing/2014/main" id="{F5411FAE-A15F-4452-80E6-DB1199CF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90% or more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C93551C-D5B1-4C8C-9C8D-9B073487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29749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19%">
            <a:extLst xmlns:a="http://schemas.openxmlformats.org/drawingml/2006/main">
              <a:ext uri="{FF2B5EF4-FFF2-40B4-BE49-F238E27FC236}">
                <a16:creationId xmlns:a16="http://schemas.microsoft.com/office/drawing/2014/main" id="{AC4EC6DF-5C03-4B2E-95FD-4C8B94E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24034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27C66C0-686A-43D2-A478-48545E11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21" y="4800600"/>
            <a:ext cx="184643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7%">
            <a:extLst xmlns:a="http://schemas.openxmlformats.org/drawingml/2006/main">
              <a:ext uri="{FF2B5EF4-FFF2-40B4-BE49-F238E27FC236}">
                <a16:creationId xmlns:a16="http://schemas.microsoft.com/office/drawing/2014/main" id="{A8D71486-BD82-400E-A2E9-7AE926D0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721" y="4905375"/>
            <a:ext cx="17892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D7E2659-29DA-47FF-81A3-D9C5401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059" y="4800600"/>
            <a:ext cx="197951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8%">
            <a:extLst xmlns:a="http://schemas.openxmlformats.org/drawingml/2006/main">
              <a:ext uri="{FF2B5EF4-FFF2-40B4-BE49-F238E27FC236}">
                <a16:creationId xmlns:a16="http://schemas.microsoft.com/office/drawing/2014/main" id="{AF42DE66-547E-48CC-917A-8A133A1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9159" y="4905375"/>
            <a:ext cx="192236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783F3CD6-D639-447A-A735-5C15E94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572" y="4800600"/>
            <a:ext cx="182980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6%">
            <a:extLst xmlns:a="http://schemas.openxmlformats.org/drawingml/2006/main">
              <a:ext uri="{FF2B5EF4-FFF2-40B4-BE49-F238E27FC236}">
                <a16:creationId xmlns:a16="http://schemas.microsoft.com/office/drawing/2014/main" id="{FC827F02-5966-4002-AA9E-9F8FF776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8672" y="4905375"/>
            <a:ext cx="17726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83" name="n=418">
            <a:extLst xmlns:a="http://schemas.openxmlformats.org/drawingml/2006/main">
              <a:ext uri="{FF2B5EF4-FFF2-40B4-BE49-F238E27FC236}">
                <a16:creationId xmlns:a16="http://schemas.microsoft.com/office/drawing/2014/main" id="{51DE1F61-3779-4D5B-99DB-A08CC2E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n=418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E61EA85-6D73-4892-99C1-DF37B1E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0A74C96B-5166-4C72-B600-E6CC730B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50B9770-DFBA-4FA3-9455-50BA2E76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39687255-2F25-4C7D-8EA8-AA594C3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0A0860D4-B323-4017-BCDF-FEDE731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1BE2B5E4-C7B3-432D-A6A5-C5E92BD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AFACCF0D-0B10-4F36-9556-EC81C65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17BF479C-AEBD-47FE-B9B6-FC4D081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1BC9F5CB-34D1-43A4-8946-E10C2E5F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Weekly study time and CGPA</a:t>
            </a:r>
          </a:p>
        </p:txBody>
      </p:sp>
      <p:sp>
        <p:nvSpPr>
          <p:cNvPr id="534" name="Less than 3 hrs">
            <a:extLst xmlns:a="http://schemas.openxmlformats.org/drawingml/2006/main">
              <a:ext uri="{FF2B5EF4-FFF2-40B4-BE49-F238E27FC236}">
                <a16:creationId xmlns:a16="http://schemas.microsoft.com/office/drawing/2014/main" id="{70778BCB-E655-437B-9DD3-E03E58F3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3 hrs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90C2AEA-6F7A-4912-BDF6-4509D1E7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6569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4%">
            <a:extLst xmlns:a="http://schemas.openxmlformats.org/drawingml/2006/main">
              <a:ext uri="{FF2B5EF4-FFF2-40B4-BE49-F238E27FC236}">
                <a16:creationId xmlns:a16="http://schemas.microsoft.com/office/drawing/2014/main" id="{F2769B4C-70EF-445C-8DB1-516CE72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5997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CA4B648-03DB-4FF2-8994-34D50CC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070" y="1905000"/>
            <a:ext cx="195282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8%">
            <a:extLst xmlns:a="http://schemas.openxmlformats.org/drawingml/2006/main">
              <a:ext uri="{FF2B5EF4-FFF2-40B4-BE49-F238E27FC236}">
                <a16:creationId xmlns:a16="http://schemas.microsoft.com/office/drawing/2014/main" id="{CF8C6C7E-A8E8-4854-BEF4-0BCDBFC9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170" y="2009775"/>
            <a:ext cx="189567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FE69750-DEE1-46F4-BEB7-18B27FB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97" y="1905000"/>
            <a:ext cx="201200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9%">
            <a:extLst xmlns:a="http://schemas.openxmlformats.org/drawingml/2006/main">
              <a:ext uri="{FF2B5EF4-FFF2-40B4-BE49-F238E27FC236}">
                <a16:creationId xmlns:a16="http://schemas.microsoft.com/office/drawing/2014/main" id="{20ADEF86-D466-4878-B7E8-1E8E089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997" y="2009775"/>
            <a:ext cx="19548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7BC572C-CF0C-4BF0-9CF1-D279D9D2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902" y="1905000"/>
            <a:ext cx="133147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19%">
            <a:extLst xmlns:a="http://schemas.openxmlformats.org/drawingml/2006/main">
              <a:ext uri="{FF2B5EF4-FFF2-40B4-BE49-F238E27FC236}">
                <a16:creationId xmlns:a16="http://schemas.microsoft.com/office/drawing/2014/main" id="{90D7E1D5-D057-46E2-8C35-9C7988D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002" y="2009775"/>
            <a:ext cx="12743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43" name="n=235">
            <a:extLst xmlns:a="http://schemas.openxmlformats.org/drawingml/2006/main">
              <a:ext uri="{FF2B5EF4-FFF2-40B4-BE49-F238E27FC236}">
                <a16:creationId xmlns:a16="http://schemas.microsoft.com/office/drawing/2014/main" id="{27CC9F38-B2FF-406A-A1A7-AA36ECBF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n=235</a:t>
            </a:r>
          </a:p>
        </p:txBody>
      </p:sp>
      <p:sp>
        <p:nvSpPr>
          <p:cNvPr id="544" name="3-6 hrs">
            <a:extLst xmlns:a="http://schemas.openxmlformats.org/drawingml/2006/main">
              <a:ext uri="{FF2B5EF4-FFF2-40B4-BE49-F238E27FC236}">
                <a16:creationId xmlns:a16="http://schemas.microsoft.com/office/drawing/2014/main" id="{D07F0436-65F3-4ED3-AFC1-0CD33AC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3-6 hrs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664C06E-B518-4B5E-BD1F-2CFD392B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78161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6%">
            <a:extLst xmlns:a="http://schemas.openxmlformats.org/drawingml/2006/main">
              <a:ext uri="{FF2B5EF4-FFF2-40B4-BE49-F238E27FC236}">
                <a16:creationId xmlns:a16="http://schemas.microsoft.com/office/drawing/2014/main" id="{DA377271-797E-4E31-B89A-53E5ED14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7244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24D13B8-6A30-4990-8220-1441E41E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741" y="2628900"/>
            <a:ext cx="200431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9%">
            <a:extLst xmlns:a="http://schemas.openxmlformats.org/drawingml/2006/main">
              <a:ext uri="{FF2B5EF4-FFF2-40B4-BE49-F238E27FC236}">
                <a16:creationId xmlns:a16="http://schemas.microsoft.com/office/drawing/2014/main" id="{597691AB-36B4-44E4-9DF8-D75FAB6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841" y="2733675"/>
            <a:ext cx="194716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CA30C58-AB23-411F-90C2-10430F2D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058" y="2628900"/>
            <a:ext cx="188059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7%">
            <a:extLst xmlns:a="http://schemas.openxmlformats.org/drawingml/2006/main">
              <a:ext uri="{FF2B5EF4-FFF2-40B4-BE49-F238E27FC236}">
                <a16:creationId xmlns:a16="http://schemas.microsoft.com/office/drawing/2014/main" id="{593DA408-8A1A-4913-8B4E-086E805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158" y="2733675"/>
            <a:ext cx="18234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BA655DE-8304-4EA0-BB9C-71D807F5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653" y="2628900"/>
            <a:ext cx="128672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19%">
            <a:extLst xmlns:a="http://schemas.openxmlformats.org/drawingml/2006/main">
              <a:ext uri="{FF2B5EF4-FFF2-40B4-BE49-F238E27FC236}">
                <a16:creationId xmlns:a16="http://schemas.microsoft.com/office/drawing/2014/main" id="{E05CFD60-315B-4EDF-A286-4608BA76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753" y="2733675"/>
            <a:ext cx="12295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3" name="n=281">
            <a:extLst xmlns:a="http://schemas.openxmlformats.org/drawingml/2006/main">
              <a:ext uri="{FF2B5EF4-FFF2-40B4-BE49-F238E27FC236}">
                <a16:creationId xmlns:a16="http://schemas.microsoft.com/office/drawing/2014/main" id="{9CFDA46E-1F09-4D69-B6DD-DBFE917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n=281</a:t>
            </a:r>
          </a:p>
        </p:txBody>
      </p:sp>
      <p:sp>
        <p:nvSpPr>
          <p:cNvPr id="554" name="7-10 hrs">
            <a:extLst xmlns:a="http://schemas.openxmlformats.org/drawingml/2006/main">
              <a:ext uri="{FF2B5EF4-FFF2-40B4-BE49-F238E27FC236}">
                <a16:creationId xmlns:a16="http://schemas.microsoft.com/office/drawing/2014/main" id="{8B20D5B9-52AD-47A8-B86B-D18FD006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7-10 hrs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C0B80F8-0C93-4498-BEDA-96866B7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13579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6%">
            <a:extLst xmlns:a="http://schemas.openxmlformats.org/drawingml/2006/main">
              <a:ext uri="{FF2B5EF4-FFF2-40B4-BE49-F238E27FC236}">
                <a16:creationId xmlns:a16="http://schemas.microsoft.com/office/drawing/2014/main" id="{E0FDE422-EE85-4091-84A4-42EAA6D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0786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CE00508-D597-4FD2-BEAF-76E6794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915" y="3352800"/>
            <a:ext cx="207766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0%">
            <a:extLst xmlns:a="http://schemas.openxmlformats.org/drawingml/2006/main">
              <a:ext uri="{FF2B5EF4-FFF2-40B4-BE49-F238E27FC236}">
                <a16:creationId xmlns:a16="http://schemas.microsoft.com/office/drawing/2014/main" id="{E834BA59-4962-4D1E-A1D8-E441EE5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015" y="3457575"/>
            <a:ext cx="202051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B8240C7-15D9-4850-89CE-5E70B3D8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579" y="3352800"/>
            <a:ext cx="207766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30%">
            <a:extLst xmlns:a="http://schemas.openxmlformats.org/drawingml/2006/main">
              <a:ext uri="{FF2B5EF4-FFF2-40B4-BE49-F238E27FC236}">
                <a16:creationId xmlns:a16="http://schemas.microsoft.com/office/drawing/2014/main" id="{29B81990-F961-49EB-8FCC-693E440F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679" y="3457575"/>
            <a:ext cx="202051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CC73F04-DC4C-4339-900E-0735483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44" y="3352800"/>
            <a:ext cx="16621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4%">
            <a:extLst xmlns:a="http://schemas.openxmlformats.org/drawingml/2006/main">
              <a:ext uri="{FF2B5EF4-FFF2-40B4-BE49-F238E27FC236}">
                <a16:creationId xmlns:a16="http://schemas.microsoft.com/office/drawing/2014/main" id="{00524BD5-60CE-4C5F-BC10-DD220CFA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44" y="3457575"/>
            <a:ext cx="16049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63" name="n=251">
            <a:extLst xmlns:a="http://schemas.openxmlformats.org/drawingml/2006/main">
              <a:ext uri="{FF2B5EF4-FFF2-40B4-BE49-F238E27FC236}">
                <a16:creationId xmlns:a16="http://schemas.microsoft.com/office/drawing/2014/main" id="{0CECC818-499B-449F-ABF8-F8F6550B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n=251</a:t>
            </a:r>
          </a:p>
        </p:txBody>
      </p:sp>
      <p:sp>
        <p:nvSpPr>
          <p:cNvPr id="564" name="11-15 hrs">
            <a:extLst xmlns:a="http://schemas.openxmlformats.org/drawingml/2006/main">
              <a:ext uri="{FF2B5EF4-FFF2-40B4-BE49-F238E27FC236}">
                <a16:creationId xmlns:a16="http://schemas.microsoft.com/office/drawing/2014/main" id="{56656A85-AB22-4768-92FB-0F83A58A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11-15 hrs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2E4A8BB-0FA4-409E-9728-FF592BB7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27789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18%">
            <a:extLst xmlns:a="http://schemas.openxmlformats.org/drawingml/2006/main">
              <a:ext uri="{FF2B5EF4-FFF2-40B4-BE49-F238E27FC236}">
                <a16:creationId xmlns:a16="http://schemas.microsoft.com/office/drawing/2014/main" id="{C36043BA-31A3-4AD5-8E4F-BD8E83F0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2207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A07D8E76-D99A-4E8E-8664-DC58FD9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020" y="4076700"/>
            <a:ext cx="217993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31%">
            <a:extLst xmlns:a="http://schemas.openxmlformats.org/drawingml/2006/main">
              <a:ext uri="{FF2B5EF4-FFF2-40B4-BE49-F238E27FC236}">
                <a16:creationId xmlns:a16="http://schemas.microsoft.com/office/drawing/2014/main" id="{F4ADD8D5-4CF4-4B25-8ABB-550F01BE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120" y="4181475"/>
            <a:ext cx="2122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0CEC772-ED85-42E8-B357-F7944AB3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957" y="4076700"/>
            <a:ext cx="165374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4%">
            <a:extLst xmlns:a="http://schemas.openxmlformats.org/drawingml/2006/main">
              <a:ext uri="{FF2B5EF4-FFF2-40B4-BE49-F238E27FC236}">
                <a16:creationId xmlns:a16="http://schemas.microsoft.com/office/drawing/2014/main" id="{D43F9CC3-EBDC-4D6B-87D8-D0F6A90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057" y="4181475"/>
            <a:ext cx="15965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7FCF0AA-C2A2-45E3-8964-4177B23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703" y="4076700"/>
            <a:ext cx="184167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6%">
            <a:extLst xmlns:a="http://schemas.openxmlformats.org/drawingml/2006/main">
              <a:ext uri="{FF2B5EF4-FFF2-40B4-BE49-F238E27FC236}">
                <a16:creationId xmlns:a16="http://schemas.microsoft.com/office/drawing/2014/main" id="{C7E82EC8-05A1-485A-BF99-6A85701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803" y="4181475"/>
            <a:ext cx="17845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3" name="n=185">
            <a:extLst xmlns:a="http://schemas.openxmlformats.org/drawingml/2006/main">
              <a:ext uri="{FF2B5EF4-FFF2-40B4-BE49-F238E27FC236}">
                <a16:creationId xmlns:a16="http://schemas.microsoft.com/office/drawing/2014/main" id="{D98DC9E8-FE24-4CEF-A3DA-C7C9BAE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n=185</a:t>
            </a:r>
          </a:p>
        </p:txBody>
      </p:sp>
      <p:sp>
        <p:nvSpPr>
          <p:cNvPr id="574" name="More than 15 hrs">
            <a:extLst xmlns:a="http://schemas.openxmlformats.org/drawingml/2006/main">
              <a:ext uri="{FF2B5EF4-FFF2-40B4-BE49-F238E27FC236}">
                <a16:creationId xmlns:a16="http://schemas.microsoft.com/office/drawing/2014/main" id="{C7D50BD3-902C-4904-A403-5A7FD46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15 hrs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383586B-3BE6-4360-A770-B700347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4708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1%">
            <a:extLst xmlns:a="http://schemas.openxmlformats.org/drawingml/2006/main">
              <a:ext uri="{FF2B5EF4-FFF2-40B4-BE49-F238E27FC236}">
                <a16:creationId xmlns:a16="http://schemas.microsoft.com/office/drawing/2014/main" id="{903FBD5A-BD65-4844-A549-D10A303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41373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A5AF128-524E-4342-A77A-0E462F17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005" y="4800600"/>
            <a:ext cx="182745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6%">
            <a:extLst xmlns:a="http://schemas.openxmlformats.org/drawingml/2006/main">
              <a:ext uri="{FF2B5EF4-FFF2-40B4-BE49-F238E27FC236}">
                <a16:creationId xmlns:a16="http://schemas.microsoft.com/office/drawing/2014/main" id="{02115BFF-614B-4CAB-92EA-87CF00E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105" y="4905375"/>
            <a:ext cx="177030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9602A28-92A3-4853-9BF4-76EAE0D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462" y="4800600"/>
            <a:ext cx="178288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6%">
            <a:extLst xmlns:a="http://schemas.openxmlformats.org/drawingml/2006/main">
              <a:ext uri="{FF2B5EF4-FFF2-40B4-BE49-F238E27FC236}">
                <a16:creationId xmlns:a16="http://schemas.microsoft.com/office/drawing/2014/main" id="{A1205194-473D-43F5-9456-BE4D0E30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62" y="4905375"/>
            <a:ext cx="17257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24537B98-ABC4-4F7C-A74E-AB91F774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346" y="4800600"/>
            <a:ext cx="187202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7%">
            <a:extLst xmlns:a="http://schemas.openxmlformats.org/drawingml/2006/main">
              <a:ext uri="{FF2B5EF4-FFF2-40B4-BE49-F238E27FC236}">
                <a16:creationId xmlns:a16="http://schemas.microsoft.com/office/drawing/2014/main" id="{49D09081-BEC5-4E8F-A4F7-06810AE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46" y="4905375"/>
            <a:ext cx="181487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83" name="n=156">
            <a:extLst xmlns:a="http://schemas.openxmlformats.org/drawingml/2006/main">
              <a:ext uri="{FF2B5EF4-FFF2-40B4-BE49-F238E27FC236}">
                <a16:creationId xmlns:a16="http://schemas.microsoft.com/office/drawing/2014/main" id="{6EFC19D9-E0A7-433C-AD1B-10E0EE86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n=156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A570E08-7050-447E-9D07-4E00BF31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09738630-722E-4A07-83DA-6F1945EE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082B37C-6266-4982-A8AB-3A8D9488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D2668A20-CC25-4A0B-827B-3A5347F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48C4BD5-DE4C-44E2-BFAD-AB5C6D6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BACB4EF2-F521-4C1B-89D7-FA3FE0D0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D40D1489-0AB1-470E-9891-8BEB7DE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5DB3B506-DD0D-4DB7-87E0-E357AEC8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E5855D30-41BC-4503-92C0-F4EDB9B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Study style and CGPA</a:t>
            </a:r>
          </a:p>
        </p:txBody>
      </p:sp>
      <p:sp>
        <p:nvSpPr>
          <p:cNvPr id="534" name="Occasionally when necessary">
            <a:extLst xmlns:a="http://schemas.openxmlformats.org/drawingml/2006/main">
              <a:ext uri="{FF2B5EF4-FFF2-40B4-BE49-F238E27FC236}">
                <a16:creationId xmlns:a16="http://schemas.microsoft.com/office/drawing/2014/main" id="{54D3D74A-FE82-4D75-A882-3997F3E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Occasionally when necessary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A873BA4-D3DB-4757-988C-8DF0374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4062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0%">
            <a:extLst xmlns:a="http://schemas.openxmlformats.org/drawingml/2006/main">
              <a:ext uri="{FF2B5EF4-FFF2-40B4-BE49-F238E27FC236}">
                <a16:creationId xmlns:a16="http://schemas.microsoft.com/office/drawing/2014/main" id="{95F5E801-6034-42E1-AEF0-DE45F6D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34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16EA419-C318-4A4F-9DBF-316CEC2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400" y="1905000"/>
            <a:ext cx="164065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4%">
            <a:extLst xmlns:a="http://schemas.openxmlformats.org/drawingml/2006/main">
              <a:ext uri="{FF2B5EF4-FFF2-40B4-BE49-F238E27FC236}">
                <a16:creationId xmlns:a16="http://schemas.microsoft.com/office/drawing/2014/main" id="{10519A91-2437-454B-AC1E-5A2A413F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500" y="2009775"/>
            <a:ext cx="15835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B234988-F963-4665-B8AA-85AB081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055" y="1905000"/>
            <a:ext cx="210941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30%">
            <a:extLst xmlns:a="http://schemas.openxmlformats.org/drawingml/2006/main">
              <a:ext uri="{FF2B5EF4-FFF2-40B4-BE49-F238E27FC236}">
                <a16:creationId xmlns:a16="http://schemas.microsoft.com/office/drawing/2014/main" id="{97519FA0-CA60-44CB-9CCB-E9838F7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155" y="2009775"/>
            <a:ext cx="20522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72B23EF-7FB6-4A9A-A044-B1557B9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468" y="1905000"/>
            <a:ext cx="179690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6%">
            <a:extLst xmlns:a="http://schemas.openxmlformats.org/drawingml/2006/main">
              <a:ext uri="{FF2B5EF4-FFF2-40B4-BE49-F238E27FC236}">
                <a16:creationId xmlns:a16="http://schemas.microsoft.com/office/drawing/2014/main" id="{B7EBD41E-8C09-4AF3-8E65-E3FFC7E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568" y="2009775"/>
            <a:ext cx="17397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3" name="n=267">
            <a:extLst xmlns:a="http://schemas.openxmlformats.org/drawingml/2006/main">
              <a:ext uri="{FF2B5EF4-FFF2-40B4-BE49-F238E27FC236}">
                <a16:creationId xmlns:a16="http://schemas.microsoft.com/office/drawing/2014/main" id="{AC4877B9-9121-4520-AED8-EDDA7726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n=267</a:t>
            </a:r>
          </a:p>
        </p:txBody>
      </p:sp>
      <p:sp>
        <p:nvSpPr>
          <p:cNvPr id="544" name="Mostly just before exams">
            <a:extLst xmlns:a="http://schemas.openxmlformats.org/drawingml/2006/main">
              <a:ext uri="{FF2B5EF4-FFF2-40B4-BE49-F238E27FC236}">
                <a16:creationId xmlns:a16="http://schemas.microsoft.com/office/drawing/2014/main" id="{A5D29BD6-9532-4800-A5E5-52D8957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just before exams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C1F8AA0-2143-4F06-8B80-BF144CD0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66784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4%">
            <a:extLst xmlns:a="http://schemas.openxmlformats.org/drawingml/2006/main">
              <a:ext uri="{FF2B5EF4-FFF2-40B4-BE49-F238E27FC236}">
                <a16:creationId xmlns:a16="http://schemas.microsoft.com/office/drawing/2014/main" id="{16D2FF0D-871C-4762-8C9E-CA2073A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6106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FBAE124-F6F5-423E-AA03-FEA3B6B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965" y="2628900"/>
            <a:ext cx="223161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32%">
            <a:extLst xmlns:a="http://schemas.openxmlformats.org/drawingml/2006/main">
              <a:ext uri="{FF2B5EF4-FFF2-40B4-BE49-F238E27FC236}">
                <a16:creationId xmlns:a16="http://schemas.microsoft.com/office/drawing/2014/main" id="{55DDB69B-5C81-4B20-BC6B-88CDC29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65" y="2733675"/>
            <a:ext cx="21744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74DCB4C-A399-4AB8-ADE7-A255A181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583" y="2628900"/>
            <a:ext cx="178529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6%">
            <a:extLst xmlns:a="http://schemas.openxmlformats.org/drawingml/2006/main">
              <a:ext uri="{FF2B5EF4-FFF2-40B4-BE49-F238E27FC236}">
                <a16:creationId xmlns:a16="http://schemas.microsoft.com/office/drawing/2014/main" id="{0D0B3765-7D4D-47EA-A65E-8455D5B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683" y="2733675"/>
            <a:ext cx="17281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2B00EEE-9BDE-4860-9EBB-B1165F8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877" y="2628900"/>
            <a:ext cx="126849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18%">
            <a:extLst xmlns:a="http://schemas.openxmlformats.org/drawingml/2006/main">
              <a:ext uri="{FF2B5EF4-FFF2-40B4-BE49-F238E27FC236}">
                <a16:creationId xmlns:a16="http://schemas.microsoft.com/office/drawing/2014/main" id="{7B116D11-3A6F-4370-AA5D-7BCECC84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977" y="2733675"/>
            <a:ext cx="12113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53" name="n=296">
            <a:extLst xmlns:a="http://schemas.openxmlformats.org/drawingml/2006/main">
              <a:ext uri="{FF2B5EF4-FFF2-40B4-BE49-F238E27FC236}">
                <a16:creationId xmlns:a16="http://schemas.microsoft.com/office/drawing/2014/main" id="{2B8A6883-EE4D-4356-98B1-9D86EAB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n=296</a:t>
            </a:r>
          </a:p>
        </p:txBody>
      </p:sp>
      <p:sp>
        <p:nvSpPr>
          <p:cNvPr id="554" name="Regularly but not every day">
            <a:extLst xmlns:a="http://schemas.openxmlformats.org/drawingml/2006/main">
              <a:ext uri="{FF2B5EF4-FFF2-40B4-BE49-F238E27FC236}">
                <a16:creationId xmlns:a16="http://schemas.microsoft.com/office/drawing/2014/main" id="{A2B5D3B8-F809-481A-BE65-D8144C6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Regularly but not every day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DC39C02-DF5D-49AD-B474-CE82027A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27160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8%">
            <a:extLst xmlns:a="http://schemas.openxmlformats.org/drawingml/2006/main">
              <a:ext uri="{FF2B5EF4-FFF2-40B4-BE49-F238E27FC236}">
                <a16:creationId xmlns:a16="http://schemas.microsoft.com/office/drawing/2014/main" id="{159A3473-B2BA-4D7C-9375-4D4D4ED8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2144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AD9CB36-48B3-46BF-A102-7E2DAD0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31" y="3352800"/>
            <a:ext cx="240793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5%">
            <a:extLst xmlns:a="http://schemas.openxmlformats.org/drawingml/2006/main">
              <a:ext uri="{FF2B5EF4-FFF2-40B4-BE49-F238E27FC236}">
                <a16:creationId xmlns:a16="http://schemas.microsoft.com/office/drawing/2014/main" id="{242DDA1B-7E75-44FC-BEF4-19AF5C27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31" y="3457575"/>
            <a:ext cx="23507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F581EDB-6F0E-4675-8F40-CBD8580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666" y="3352800"/>
            <a:ext cx="192093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8%">
            <a:extLst xmlns:a="http://schemas.openxmlformats.org/drawingml/2006/main">
              <a:ext uri="{FF2B5EF4-FFF2-40B4-BE49-F238E27FC236}">
                <a16:creationId xmlns:a16="http://schemas.microsoft.com/office/drawing/2014/main" id="{A5FA72EB-65B3-4C9F-867F-16A015C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766" y="3457575"/>
            <a:ext cx="18637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4B88A009-A024-45F7-87B5-4EF3D2F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603" y="3352800"/>
            <a:ext cx="135277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19%">
            <a:extLst xmlns:a="http://schemas.openxmlformats.org/drawingml/2006/main">
              <a:ext uri="{FF2B5EF4-FFF2-40B4-BE49-F238E27FC236}">
                <a16:creationId xmlns:a16="http://schemas.microsoft.com/office/drawing/2014/main" id="{6F5FC641-51B4-46F5-8772-042E9938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703" y="3457575"/>
            <a:ext cx="12956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63" name="n=257">
            <a:extLst xmlns:a="http://schemas.openxmlformats.org/drawingml/2006/main">
              <a:ext uri="{FF2B5EF4-FFF2-40B4-BE49-F238E27FC236}">
                <a16:creationId xmlns:a16="http://schemas.microsoft.com/office/drawing/2014/main" id="{8F5CC149-FB9D-4FE7-AE5C-B08CB4E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n=257</a:t>
            </a:r>
          </a:p>
        </p:txBody>
      </p:sp>
      <p:sp>
        <p:nvSpPr>
          <p:cNvPr id="564" name="Mostly consistent routine">
            <a:extLst xmlns:a="http://schemas.openxmlformats.org/drawingml/2006/main">
              <a:ext uri="{FF2B5EF4-FFF2-40B4-BE49-F238E27FC236}">
                <a16:creationId xmlns:a16="http://schemas.microsoft.com/office/drawing/2014/main" id="{D252252E-42F5-4F3B-90ED-D2FB26CA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consistent routine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FAF3D3E-EA52-4E85-B6FF-2F2B234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68295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4%">
            <a:extLst xmlns:a="http://schemas.openxmlformats.org/drawingml/2006/main">
              <a:ext uri="{FF2B5EF4-FFF2-40B4-BE49-F238E27FC236}">
                <a16:creationId xmlns:a16="http://schemas.microsoft.com/office/drawing/2014/main" id="{7D2A7AD0-CB91-49C4-96A9-0655C8F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62580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09CDF4A-CB50-4159-A0F7-48ABF044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077" y="4076700"/>
            <a:ext cx="186010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7%">
            <a:extLst xmlns:a="http://schemas.openxmlformats.org/drawingml/2006/main">
              <a:ext uri="{FF2B5EF4-FFF2-40B4-BE49-F238E27FC236}">
                <a16:creationId xmlns:a16="http://schemas.microsoft.com/office/drawing/2014/main" id="{428292C7-887B-44DE-B51D-E9E47E3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177" y="4181475"/>
            <a:ext cx="180295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970D7F4-FEE8-4474-B8A2-6F875684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182" y="4076700"/>
            <a:ext cx="172724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5%">
            <a:extLst xmlns:a="http://schemas.openxmlformats.org/drawingml/2006/main">
              <a:ext uri="{FF2B5EF4-FFF2-40B4-BE49-F238E27FC236}">
                <a16:creationId xmlns:a16="http://schemas.microsoft.com/office/drawing/2014/main" id="{A094B96C-C21D-4F9D-979B-C17BF1C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282" y="4181475"/>
            <a:ext cx="16700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02AB6B9-6D31-4019-B1D0-E7F8C249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423" y="4076700"/>
            <a:ext cx="168295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4%">
            <a:extLst xmlns:a="http://schemas.openxmlformats.org/drawingml/2006/main">
              <a:ext uri="{FF2B5EF4-FFF2-40B4-BE49-F238E27FC236}">
                <a16:creationId xmlns:a16="http://schemas.microsoft.com/office/drawing/2014/main" id="{A69C0D18-8924-4571-B774-04B2E874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523" y="4181475"/>
            <a:ext cx="162580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73" name="n=157">
            <a:extLst xmlns:a="http://schemas.openxmlformats.org/drawingml/2006/main">
              <a:ext uri="{FF2B5EF4-FFF2-40B4-BE49-F238E27FC236}">
                <a16:creationId xmlns:a16="http://schemas.microsoft.com/office/drawing/2014/main" id="{949B9123-25D8-4794-942B-788BAE8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n=157</a:t>
            </a:r>
          </a:p>
        </p:txBody>
      </p:sp>
      <p:sp>
        <p:nvSpPr>
          <p:cNvPr id="574" name="Consistent throughout the semester">
            <a:extLst xmlns:a="http://schemas.openxmlformats.org/drawingml/2006/main">
              <a:ext uri="{FF2B5EF4-FFF2-40B4-BE49-F238E27FC236}">
                <a16:creationId xmlns:a16="http://schemas.microsoft.com/office/drawing/2014/main" id="{5C96F9EF-FB20-4F21-BF5F-FF681CB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Consistent throughout the semester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234D04A-9FEE-418F-BF8E-A7112DC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38003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0%">
            <a:extLst xmlns:a="http://schemas.openxmlformats.org/drawingml/2006/main">
              <a:ext uri="{FF2B5EF4-FFF2-40B4-BE49-F238E27FC236}">
                <a16:creationId xmlns:a16="http://schemas.microsoft.com/office/drawing/2014/main" id="{8BC4011F-F4AB-4BE0-A349-1822C4C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32288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1F4A64E7-CCAB-4B87-B7DE-30E1EF5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159" y="4800600"/>
            <a:ext cx="169850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4%">
            <a:extLst xmlns:a="http://schemas.openxmlformats.org/drawingml/2006/main">
              <a:ext uri="{FF2B5EF4-FFF2-40B4-BE49-F238E27FC236}">
                <a16:creationId xmlns:a16="http://schemas.microsoft.com/office/drawing/2014/main" id="{E34B7E70-80C3-4B20-AAA9-A5D0E88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259" y="4905375"/>
            <a:ext cx="16413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A3B2B2D-3674-4836-B6CC-EEAAFDA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663" y="4800600"/>
            <a:ext cx="191081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7%">
            <a:extLst xmlns:a="http://schemas.openxmlformats.org/drawingml/2006/main">
              <a:ext uri="{FF2B5EF4-FFF2-40B4-BE49-F238E27FC236}">
                <a16:creationId xmlns:a16="http://schemas.microsoft.com/office/drawing/2014/main" id="{13284156-6768-4D11-A057-FCB01AC6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63" y="4905375"/>
            <a:ext cx="18536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756183A-AE0C-41B4-A2B8-4C989447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480" y="4800600"/>
            <a:ext cx="196389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8%">
            <a:extLst xmlns:a="http://schemas.openxmlformats.org/drawingml/2006/main">
              <a:ext uri="{FF2B5EF4-FFF2-40B4-BE49-F238E27FC236}">
                <a16:creationId xmlns:a16="http://schemas.microsoft.com/office/drawing/2014/main" id="{F789F10D-B47F-488B-BFFC-DFB3E4C4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580" y="4905375"/>
            <a:ext cx="19067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83" name="n=131">
            <a:extLst xmlns:a="http://schemas.openxmlformats.org/drawingml/2006/main">
              <a:ext uri="{FF2B5EF4-FFF2-40B4-BE49-F238E27FC236}">
                <a16:creationId xmlns:a16="http://schemas.microsoft.com/office/drawing/2014/main" id="{F99591CD-D969-4E8E-A8F5-09B5641C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n=131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6BD05C8-4C53-4DC1-BA2D-D0F6C282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3CECFDAE-1B7B-4854-A84E-9F7104C6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23B3A29E-579B-4385-BBF7-9E86215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EA3EBBF0-9483-46BA-AD23-B9AE126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2614B997-0652-4246-9926-4851ADC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F31DD538-6FBB-4F13-AF6A-5686FECC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C10C7523-9D0D-4C17-B662-C22A38E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6E315968-A477-4DA0-A5BB-0B828AFB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494A1EC4-0672-42CE-968B-790EB83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Topic clarity and CGPA</a:t>
            </a:r>
          </a:p>
        </p:txBody>
      </p:sp>
      <p:sp>
        <p:nvSpPr>
          <p:cNvPr id="534" name="Almost nothing">
            <a:extLst xmlns:a="http://schemas.openxmlformats.org/drawingml/2006/main">
              <a:ext uri="{FF2B5EF4-FFF2-40B4-BE49-F238E27FC236}">
                <a16:creationId xmlns:a16="http://schemas.microsoft.com/office/drawing/2014/main" id="{728DD5F2-D936-49AF-8C99-480AA72B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nothing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F3105BC-0124-42C4-8081-CF869638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65187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4%">
            <a:extLst xmlns:a="http://schemas.openxmlformats.org/drawingml/2006/main">
              <a:ext uri="{FF2B5EF4-FFF2-40B4-BE49-F238E27FC236}">
                <a16:creationId xmlns:a16="http://schemas.microsoft.com/office/drawing/2014/main" id="{3DD396A3-2BB9-4118-9E51-FAB7432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5947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CA9C875-3208-4796-B07B-DC64B61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002" y="1905000"/>
            <a:ext cx="215128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31%">
            <a:extLst xmlns:a="http://schemas.openxmlformats.org/drawingml/2006/main">
              <a:ext uri="{FF2B5EF4-FFF2-40B4-BE49-F238E27FC236}">
                <a16:creationId xmlns:a16="http://schemas.microsoft.com/office/drawing/2014/main" id="{688E1CBF-891E-4070-8FE0-7A737133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102" y="2009775"/>
            <a:ext cx="20941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5E2570C-C6FE-45B7-900C-31EE086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284" y="1905000"/>
            <a:ext cx="172870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5%">
            <a:extLst xmlns:a="http://schemas.openxmlformats.org/drawingml/2006/main">
              <a:ext uri="{FF2B5EF4-FFF2-40B4-BE49-F238E27FC236}">
                <a16:creationId xmlns:a16="http://schemas.microsoft.com/office/drawing/2014/main" id="{535EFA1F-6C2D-4AAE-8146-D5E512D0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384" y="2009775"/>
            <a:ext cx="167155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D7095CB-703F-43A0-8C86-CD657825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992" y="1905000"/>
            <a:ext cx="142138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0%">
            <a:extLst xmlns:a="http://schemas.openxmlformats.org/drawingml/2006/main">
              <a:ext uri="{FF2B5EF4-FFF2-40B4-BE49-F238E27FC236}">
                <a16:creationId xmlns:a16="http://schemas.microsoft.com/office/drawing/2014/main" id="{64BDE92A-ABB1-48DB-B76F-E31EAA2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92" y="2009775"/>
            <a:ext cx="13642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43" name="n=181">
            <a:extLst xmlns:a="http://schemas.openxmlformats.org/drawingml/2006/main">
              <a:ext uri="{FF2B5EF4-FFF2-40B4-BE49-F238E27FC236}">
                <a16:creationId xmlns:a16="http://schemas.microsoft.com/office/drawing/2014/main" id="{A02A6DDB-8B68-4D5D-AF92-B712FCF5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n=181</a:t>
            </a:r>
          </a:p>
        </p:txBody>
      </p:sp>
      <p:sp>
        <p:nvSpPr>
          <p:cNvPr id="544" name="A little">
            <a:extLst xmlns:a="http://schemas.openxmlformats.org/drawingml/2006/main">
              <a:ext uri="{FF2B5EF4-FFF2-40B4-BE49-F238E27FC236}">
                <a16:creationId xmlns:a16="http://schemas.microsoft.com/office/drawing/2014/main" id="{FE270BC4-CAFD-43E5-8E7E-BF8FFD5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 little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2C114DC-5356-44FA-87FE-9041B172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62679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3%">
            <a:extLst xmlns:a="http://schemas.openxmlformats.org/drawingml/2006/main">
              <a:ext uri="{FF2B5EF4-FFF2-40B4-BE49-F238E27FC236}">
                <a16:creationId xmlns:a16="http://schemas.microsoft.com/office/drawing/2014/main" id="{E71A5F7B-45A0-42E6-BA77-C450ABD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569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5411A477-E296-4DFC-BD29-E3B5A4D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923" y="2628900"/>
            <a:ext cx="183670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6%">
            <a:extLst xmlns:a="http://schemas.openxmlformats.org/drawingml/2006/main">
              <a:ext uri="{FF2B5EF4-FFF2-40B4-BE49-F238E27FC236}">
                <a16:creationId xmlns:a16="http://schemas.microsoft.com/office/drawing/2014/main" id="{7392D2ED-0E80-41FB-B071-273EA5D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023" y="2733675"/>
            <a:ext cx="17795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71845DA-9AE8-4F2F-823B-9422686F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31" y="2628900"/>
            <a:ext cx="183670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6%">
            <a:extLst xmlns:a="http://schemas.openxmlformats.org/drawingml/2006/main">
              <a:ext uri="{FF2B5EF4-FFF2-40B4-BE49-F238E27FC236}">
                <a16:creationId xmlns:a16="http://schemas.microsoft.com/office/drawing/2014/main" id="{E2617B2E-4948-4CB4-A9CA-D7114785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31" y="2733675"/>
            <a:ext cx="17795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1292710-161E-4662-B0BF-3B3849B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338" y="2628900"/>
            <a:ext cx="165303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4%">
            <a:extLst xmlns:a="http://schemas.openxmlformats.org/drawingml/2006/main">
              <a:ext uri="{FF2B5EF4-FFF2-40B4-BE49-F238E27FC236}">
                <a16:creationId xmlns:a16="http://schemas.microsoft.com/office/drawing/2014/main" id="{55D4EEF8-6816-4174-B372-B31B7631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38" y="2733675"/>
            <a:ext cx="15958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53" name="n=265">
            <a:extLst xmlns:a="http://schemas.openxmlformats.org/drawingml/2006/main">
              <a:ext uri="{FF2B5EF4-FFF2-40B4-BE49-F238E27FC236}">
                <a16:creationId xmlns:a16="http://schemas.microsoft.com/office/drawing/2014/main" id="{66AA2194-760B-41C4-B303-F74839B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n=265</a:t>
            </a:r>
          </a:p>
        </p:txBody>
      </p:sp>
      <p:sp>
        <p:nvSpPr>
          <p:cNvPr id="554" name="About half">
            <a:extLst xmlns:a="http://schemas.openxmlformats.org/drawingml/2006/main">
              <a:ext uri="{FF2B5EF4-FFF2-40B4-BE49-F238E27FC236}">
                <a16:creationId xmlns:a16="http://schemas.microsoft.com/office/drawing/2014/main" id="{48D24B51-1FCD-4D51-8D2B-B6F80AF0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About half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DE3E3A9-7D0C-4AB0-ADA0-E883A9E5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33716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9%">
            <a:extLst xmlns:a="http://schemas.openxmlformats.org/drawingml/2006/main">
              <a:ext uri="{FF2B5EF4-FFF2-40B4-BE49-F238E27FC236}">
                <a16:creationId xmlns:a16="http://schemas.microsoft.com/office/drawing/2014/main" id="{C769C505-2143-4BC4-A3AC-BB7B2C0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2800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8F2DC11-6A8E-4A06-A09A-88B78F02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288" y="3352800"/>
            <a:ext cx="220632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2%">
            <a:extLst xmlns:a="http://schemas.openxmlformats.org/drawingml/2006/main">
              <a:ext uri="{FF2B5EF4-FFF2-40B4-BE49-F238E27FC236}">
                <a16:creationId xmlns:a16="http://schemas.microsoft.com/office/drawing/2014/main" id="{C0861014-8E3E-4FB0-89EE-C7CF3987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388" y="3457575"/>
            <a:ext cx="21491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837C6F1-EC54-47CF-8840-B9383662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608" y="3352800"/>
            <a:ext cx="20280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9%">
            <a:extLst xmlns:a="http://schemas.openxmlformats.org/drawingml/2006/main">
              <a:ext uri="{FF2B5EF4-FFF2-40B4-BE49-F238E27FC236}">
                <a16:creationId xmlns:a16="http://schemas.microsoft.com/office/drawing/2014/main" id="{FD120E4F-E370-469C-A14E-359BCC8A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708" y="3457575"/>
            <a:ext cx="19708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C392B0F-9ADF-4413-91BD-5E90BC41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39" y="3352800"/>
            <a:ext cx="138173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0%">
            <a:extLst xmlns:a="http://schemas.openxmlformats.org/drawingml/2006/main">
              <a:ext uri="{FF2B5EF4-FFF2-40B4-BE49-F238E27FC236}">
                <a16:creationId xmlns:a16="http://schemas.microsoft.com/office/drawing/2014/main" id="{E5D18BE6-4548-4959-A7B8-B45D6B3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739" y="3457575"/>
            <a:ext cx="132458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3" name="n=312">
            <a:extLst xmlns:a="http://schemas.openxmlformats.org/drawingml/2006/main">
              <a:ext uri="{FF2B5EF4-FFF2-40B4-BE49-F238E27FC236}">
                <a16:creationId xmlns:a16="http://schemas.microsoft.com/office/drawing/2014/main" id="{68D06ACE-1C90-4F40-A2EF-81CD6D98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n=312</a:t>
            </a:r>
          </a:p>
        </p:txBody>
      </p:sp>
      <p:sp>
        <p:nvSpPr>
          <p:cNvPr id="564" name="Most of it">
            <a:extLst xmlns:a="http://schemas.openxmlformats.org/drawingml/2006/main">
              <a:ext uri="{FF2B5EF4-FFF2-40B4-BE49-F238E27FC236}">
                <a16:creationId xmlns:a16="http://schemas.microsoft.com/office/drawing/2014/main" id="{6421512E-D70F-4393-8BBD-D890064C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 of it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471D58F-BDC4-4D3D-8B79-AF484AB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21762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18%">
            <a:extLst xmlns:a="http://schemas.openxmlformats.org/drawingml/2006/main">
              <a:ext uri="{FF2B5EF4-FFF2-40B4-BE49-F238E27FC236}">
                <a16:creationId xmlns:a16="http://schemas.microsoft.com/office/drawing/2014/main" id="{D769472D-1A58-486C-81AC-4F8EB22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160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E8CA0FAB-59A0-49EA-8423-9172FE4F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745" y="4076700"/>
            <a:ext cx="198664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9%">
            <a:extLst xmlns:a="http://schemas.openxmlformats.org/drawingml/2006/main">
              <a:ext uri="{FF2B5EF4-FFF2-40B4-BE49-F238E27FC236}">
                <a16:creationId xmlns:a16="http://schemas.microsoft.com/office/drawing/2014/main" id="{B49D83DC-CA92-4CC3-9272-E8B4638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845" y="4181475"/>
            <a:ext cx="19294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10F1807-FA4D-4D42-B518-3557C24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88" y="4076700"/>
            <a:ext cx="221094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32%">
            <a:extLst xmlns:a="http://schemas.openxmlformats.org/drawingml/2006/main">
              <a:ext uri="{FF2B5EF4-FFF2-40B4-BE49-F238E27FC236}">
                <a16:creationId xmlns:a16="http://schemas.microsoft.com/office/drawing/2014/main" id="{12060D8C-384C-4D66-9B5C-B2C4D12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488" y="4181475"/>
            <a:ext cx="215379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B2461F02-D6BA-4DCF-A2BE-444E840E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329" y="4076700"/>
            <a:ext cx="153804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2%">
            <a:extLst xmlns:a="http://schemas.openxmlformats.org/drawingml/2006/main">
              <a:ext uri="{FF2B5EF4-FFF2-40B4-BE49-F238E27FC236}">
                <a16:creationId xmlns:a16="http://schemas.microsoft.com/office/drawing/2014/main" id="{53012205-65C8-43C1-BC6E-E242801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429" y="4181475"/>
            <a:ext cx="14808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3" name="n=217">
            <a:extLst xmlns:a="http://schemas.openxmlformats.org/drawingml/2006/main">
              <a:ext uri="{FF2B5EF4-FFF2-40B4-BE49-F238E27FC236}">
                <a16:creationId xmlns:a16="http://schemas.microsoft.com/office/drawing/2014/main" id="{38FECF88-E59B-4669-9E46-F562DB21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n=217</a:t>
            </a:r>
          </a:p>
        </p:txBody>
      </p:sp>
      <p:sp>
        <p:nvSpPr>
          <p:cNvPr id="574" name="Almost everything">
            <a:extLst xmlns:a="http://schemas.openxmlformats.org/drawingml/2006/main">
              <a:ext uri="{FF2B5EF4-FFF2-40B4-BE49-F238E27FC236}">
                <a16:creationId xmlns:a16="http://schemas.microsoft.com/office/drawing/2014/main" id="{3A552C76-C9F2-49AA-B5CE-1F64570A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everything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F6F189E-42E7-46E7-B9D6-9E86571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72524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5%">
            <a:extLst xmlns:a="http://schemas.openxmlformats.org/drawingml/2006/main">
              <a:ext uri="{FF2B5EF4-FFF2-40B4-BE49-F238E27FC236}">
                <a16:creationId xmlns:a16="http://schemas.microsoft.com/office/drawing/2014/main" id="{65805CDC-8AFC-4AF1-A20B-AEC20A7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680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0238FF5D-DF2B-47DD-B729-E06FBDB3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367" y="4800600"/>
            <a:ext cx="177752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6%">
            <a:extLst xmlns:a="http://schemas.openxmlformats.org/drawingml/2006/main">
              <a:ext uri="{FF2B5EF4-FFF2-40B4-BE49-F238E27FC236}">
                <a16:creationId xmlns:a16="http://schemas.microsoft.com/office/drawing/2014/main" id="{AF2930B4-605C-42C7-A2A6-5086C16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467" y="4905375"/>
            <a:ext cx="172037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2F23FC6-8456-4ED7-A895-E6C21E5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890" y="4800600"/>
            <a:ext cx="146384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1%">
            <a:extLst xmlns:a="http://schemas.openxmlformats.org/drawingml/2006/main">
              <a:ext uri="{FF2B5EF4-FFF2-40B4-BE49-F238E27FC236}">
                <a16:creationId xmlns:a16="http://schemas.microsoft.com/office/drawing/2014/main" id="{54037535-A91E-44C6-9E73-E03369D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990" y="4905375"/>
            <a:ext cx="14066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FF74CF7-5BC9-4E14-897C-E8BE237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732" y="4800600"/>
            <a:ext cx="198664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9%">
            <a:extLst xmlns:a="http://schemas.openxmlformats.org/drawingml/2006/main">
              <a:ext uri="{FF2B5EF4-FFF2-40B4-BE49-F238E27FC236}">
                <a16:creationId xmlns:a16="http://schemas.microsoft.com/office/drawing/2014/main" id="{79F526A3-E265-4B72-8E56-98E79073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832" y="4905375"/>
            <a:ext cx="19294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83" name="n=133">
            <a:extLst xmlns:a="http://schemas.openxmlformats.org/drawingml/2006/main">
              <a:ext uri="{FF2B5EF4-FFF2-40B4-BE49-F238E27FC236}">
                <a16:creationId xmlns:a16="http://schemas.microsoft.com/office/drawing/2014/main" id="{FC44BEA1-5B99-4662-88D0-0FD3DD1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n=133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AF2E17A2-15AF-4C80-B797-C101DE9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154D55A6-5488-44D6-8B2A-91176F2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F5DE9467-6CB5-499F-92BF-34DDB61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E6DB8F5E-B53F-4F14-830C-F09C2CC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AB31E7A5-A0F2-44B5-BF01-312E2B59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D7B2DA2A-72C3-4B1B-AF86-FAC4E6A7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6E8BAF0F-F548-4A29-A222-A6CB420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F60A1E47-562A-4EF0-9496-D02B0364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F7615605-30BE-4F85-BE7C-1A888A1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Sleep and CGPA</a:t>
            </a:r>
          </a:p>
        </p:txBody>
      </p:sp>
      <p:sp>
        <p:nvSpPr>
          <p:cNvPr id="534" name="Less than 5 hrs">
            <a:extLst xmlns:a="http://schemas.openxmlformats.org/drawingml/2006/main">
              <a:ext uri="{FF2B5EF4-FFF2-40B4-BE49-F238E27FC236}">
                <a16:creationId xmlns:a16="http://schemas.microsoft.com/office/drawing/2014/main" id="{F3DF7095-85D8-4006-B332-2A75FB54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Less than 5 hrs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D06A6E2-3D79-4516-8749-43ECF98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53663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2%">
            <a:extLst xmlns:a="http://schemas.openxmlformats.org/drawingml/2006/main">
              <a:ext uri="{FF2B5EF4-FFF2-40B4-BE49-F238E27FC236}">
                <a16:creationId xmlns:a16="http://schemas.microsoft.com/office/drawing/2014/main" id="{EFFA381E-B597-4939-B957-0C57D363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479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B383FC1-3504-4F02-A1F7-0B0D72A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55" y="1905000"/>
            <a:ext cx="245860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35%">
            <a:extLst xmlns:a="http://schemas.openxmlformats.org/drawingml/2006/main">
              <a:ext uri="{FF2B5EF4-FFF2-40B4-BE49-F238E27FC236}">
                <a16:creationId xmlns:a16="http://schemas.microsoft.com/office/drawing/2014/main" id="{3B670E97-AA2F-4A82-BD9E-28FA882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55" y="2009775"/>
            <a:ext cx="24014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81934B2-7891-4D1F-A20C-90F73C6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363" y="1905000"/>
            <a:ext cx="165187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4%">
            <a:extLst xmlns:a="http://schemas.openxmlformats.org/drawingml/2006/main">
              <a:ext uri="{FF2B5EF4-FFF2-40B4-BE49-F238E27FC236}">
                <a16:creationId xmlns:a16="http://schemas.microsoft.com/office/drawing/2014/main" id="{8A08817D-4633-4F4C-9F33-CCEF3BC3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463" y="2009775"/>
            <a:ext cx="15947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C8683B5-29C0-415B-8DE5-9FA435EC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240" y="1905000"/>
            <a:ext cx="130613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19%">
            <a:extLst xmlns:a="http://schemas.openxmlformats.org/drawingml/2006/main">
              <a:ext uri="{FF2B5EF4-FFF2-40B4-BE49-F238E27FC236}">
                <a16:creationId xmlns:a16="http://schemas.microsoft.com/office/drawing/2014/main" id="{D46F16EF-DE05-4D79-94DE-340468C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340" y="2009775"/>
            <a:ext cx="1248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43" name="n=181">
            <a:extLst xmlns:a="http://schemas.openxmlformats.org/drawingml/2006/main">
              <a:ext uri="{FF2B5EF4-FFF2-40B4-BE49-F238E27FC236}">
                <a16:creationId xmlns:a16="http://schemas.microsoft.com/office/drawing/2014/main" id="{02952132-C799-4B3E-A115-D928C94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n=181</a:t>
            </a:r>
          </a:p>
        </p:txBody>
      </p:sp>
      <p:sp>
        <p:nvSpPr>
          <p:cNvPr id="544" name="5-6 hrs">
            <a:extLst xmlns:a="http://schemas.openxmlformats.org/drawingml/2006/main">
              <a:ext uri="{FF2B5EF4-FFF2-40B4-BE49-F238E27FC236}">
                <a16:creationId xmlns:a16="http://schemas.microsoft.com/office/drawing/2014/main" id="{E07C1FCB-36A7-4409-9E21-99CA5911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5-6 hrs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10C40D5-AD58-40A9-9470-AFE26A1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43551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1%">
            <a:extLst xmlns:a="http://schemas.openxmlformats.org/drawingml/2006/main">
              <a:ext uri="{FF2B5EF4-FFF2-40B4-BE49-F238E27FC236}">
                <a16:creationId xmlns:a16="http://schemas.microsoft.com/office/drawing/2014/main" id="{8994B669-DF78-4892-ABB3-07F2944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3783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1DCD715-BD65-4375-979A-C59B6E9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635" y="2628900"/>
            <a:ext cx="181681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6%">
            <a:extLst xmlns:a="http://schemas.openxmlformats.org/drawingml/2006/main">
              <a:ext uri="{FF2B5EF4-FFF2-40B4-BE49-F238E27FC236}">
                <a16:creationId xmlns:a16="http://schemas.microsoft.com/office/drawing/2014/main" id="{EA00C5A4-C2FF-4111-9F96-E9F0835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35" y="2733675"/>
            <a:ext cx="17596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BCB1226-7961-4076-B9E0-1AB3E3E2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452" y="2628900"/>
            <a:ext cx="21532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31%">
            <a:extLst xmlns:a="http://schemas.openxmlformats.org/drawingml/2006/main">
              <a:ext uri="{FF2B5EF4-FFF2-40B4-BE49-F238E27FC236}">
                <a16:creationId xmlns:a16="http://schemas.microsoft.com/office/drawing/2014/main" id="{70932471-6AB1-4EB5-9988-E2858E6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552" y="2733675"/>
            <a:ext cx="20961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BE01831-6636-4F32-9C94-48C438D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716" y="2628900"/>
            <a:ext cx="154765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2%">
            <a:extLst xmlns:a="http://schemas.openxmlformats.org/drawingml/2006/main">
              <a:ext uri="{FF2B5EF4-FFF2-40B4-BE49-F238E27FC236}">
                <a16:creationId xmlns:a16="http://schemas.microsoft.com/office/drawing/2014/main" id="{B0E65ADD-1946-488F-9F3E-412F74F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816" y="2733675"/>
            <a:ext cx="14905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53" name="n=310">
            <a:extLst xmlns:a="http://schemas.openxmlformats.org/drawingml/2006/main">
              <a:ext uri="{FF2B5EF4-FFF2-40B4-BE49-F238E27FC236}">
                <a16:creationId xmlns:a16="http://schemas.microsoft.com/office/drawing/2014/main" id="{A789972D-D81F-4274-AD95-7909A2E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n=310</a:t>
            </a:r>
          </a:p>
        </p:txBody>
      </p:sp>
      <p:sp>
        <p:nvSpPr>
          <p:cNvPr id="554" name="6-7 hrs">
            <a:extLst xmlns:a="http://schemas.openxmlformats.org/drawingml/2006/main">
              <a:ext uri="{FF2B5EF4-FFF2-40B4-BE49-F238E27FC236}">
                <a16:creationId xmlns:a16="http://schemas.microsoft.com/office/drawing/2014/main" id="{995572E7-6EC7-45BF-B550-C5AF422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6-7 hrs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C916197-F7D3-4EF1-9241-B453C19D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385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20%">
            <a:extLst xmlns:a="http://schemas.openxmlformats.org/drawingml/2006/main">
              <a:ext uri="{FF2B5EF4-FFF2-40B4-BE49-F238E27FC236}">
                <a16:creationId xmlns:a16="http://schemas.microsoft.com/office/drawing/2014/main" id="{26384405-E510-4392-BE28-CFFCC219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3286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0806C5A-6FF6-4D67-B266-E7C7AE8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13" y="3352800"/>
            <a:ext cx="223671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2%">
            <a:extLst xmlns:a="http://schemas.openxmlformats.org/drawingml/2006/main">
              <a:ext uri="{FF2B5EF4-FFF2-40B4-BE49-F238E27FC236}">
                <a16:creationId xmlns:a16="http://schemas.microsoft.com/office/drawing/2014/main" id="{8E540F2E-C603-4BE2-A077-74BA404A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013" y="3457575"/>
            <a:ext cx="21795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85CB4A7-4F2E-4A9E-92E5-D3BE6E2A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22" y="3352800"/>
            <a:ext cx="179909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6%">
            <a:extLst xmlns:a="http://schemas.openxmlformats.org/drawingml/2006/main">
              <a:ext uri="{FF2B5EF4-FFF2-40B4-BE49-F238E27FC236}">
                <a16:creationId xmlns:a16="http://schemas.microsoft.com/office/drawing/2014/main" id="{933DA2DC-AF1F-4EA7-BDFA-236C384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722" y="3457575"/>
            <a:ext cx="17419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41F3676-7703-47D5-BD2E-7CD3949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715" y="3352800"/>
            <a:ext cx="15316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2%">
            <a:extLst xmlns:a="http://schemas.openxmlformats.org/drawingml/2006/main">
              <a:ext uri="{FF2B5EF4-FFF2-40B4-BE49-F238E27FC236}">
                <a16:creationId xmlns:a16="http://schemas.microsoft.com/office/drawing/2014/main" id="{E53E8D33-676F-4224-8408-99E21DB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815" y="3457575"/>
            <a:ext cx="147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63" name="n=286">
            <a:extLst xmlns:a="http://schemas.openxmlformats.org/drawingml/2006/main">
              <a:ext uri="{FF2B5EF4-FFF2-40B4-BE49-F238E27FC236}">
                <a16:creationId xmlns:a16="http://schemas.microsoft.com/office/drawing/2014/main" id="{D9A9414A-C747-4354-B6F6-06C2CB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n=286</a:t>
            </a:r>
          </a:p>
        </p:txBody>
      </p:sp>
      <p:sp>
        <p:nvSpPr>
          <p:cNvPr id="564" name="7-8 hrs">
            <a:extLst xmlns:a="http://schemas.openxmlformats.org/drawingml/2006/main">
              <a:ext uri="{FF2B5EF4-FFF2-40B4-BE49-F238E27FC236}">
                <a16:creationId xmlns:a16="http://schemas.microsoft.com/office/drawing/2014/main" id="{145558ED-7500-4D2B-AE1E-A3D133F8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7-8 hrs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EA24939C-50C5-4632-A235-DEB65AC2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38421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0%">
            <a:extLst xmlns:a="http://schemas.openxmlformats.org/drawingml/2006/main">
              <a:ext uri="{FF2B5EF4-FFF2-40B4-BE49-F238E27FC236}">
                <a16:creationId xmlns:a16="http://schemas.microsoft.com/office/drawing/2014/main" id="{CBC1E457-BA1D-44F6-B252-92394D9D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3270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85F5512-97CC-4089-8B41-511ABB61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337" y="4076700"/>
            <a:ext cx="199584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9%">
            <a:extLst xmlns:a="http://schemas.openxmlformats.org/drawingml/2006/main">
              <a:ext uri="{FF2B5EF4-FFF2-40B4-BE49-F238E27FC236}">
                <a16:creationId xmlns:a16="http://schemas.microsoft.com/office/drawing/2014/main" id="{61063409-B905-4BCC-A7C4-E70A2C4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437" y="4181475"/>
            <a:ext cx="19386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07F84D0-33EB-48F7-B237-DA7A43F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177" y="4076700"/>
            <a:ext cx="177050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5%">
            <a:extLst xmlns:a="http://schemas.openxmlformats.org/drawingml/2006/main">
              <a:ext uri="{FF2B5EF4-FFF2-40B4-BE49-F238E27FC236}">
                <a16:creationId xmlns:a16="http://schemas.microsoft.com/office/drawing/2014/main" id="{5D27EACF-D3CD-4DFC-8111-F51DC4B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277" y="4181475"/>
            <a:ext cx="17133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51ED6C2-DB0C-448E-A59B-842E00B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81" y="4076700"/>
            <a:ext cx="180269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6%">
            <a:extLst xmlns:a="http://schemas.openxmlformats.org/drawingml/2006/main">
              <a:ext uri="{FF2B5EF4-FFF2-40B4-BE49-F238E27FC236}">
                <a16:creationId xmlns:a16="http://schemas.microsoft.com/office/drawing/2014/main" id="{4632412D-E888-484E-A395-C407075E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781" y="4181475"/>
            <a:ext cx="17455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3" name="n=216">
            <a:extLst xmlns:a="http://schemas.openxmlformats.org/drawingml/2006/main">
              <a:ext uri="{FF2B5EF4-FFF2-40B4-BE49-F238E27FC236}">
                <a16:creationId xmlns:a16="http://schemas.microsoft.com/office/drawing/2014/main" id="{1AC0477C-EC21-4A6E-BD6D-842A8A3A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n=216</a:t>
            </a:r>
          </a:p>
        </p:txBody>
      </p:sp>
      <p:sp>
        <p:nvSpPr>
          <p:cNvPr id="574" name="More than 8 hrs">
            <a:extLst xmlns:a="http://schemas.openxmlformats.org/drawingml/2006/main">
              <a:ext uri="{FF2B5EF4-FFF2-40B4-BE49-F238E27FC236}">
                <a16:creationId xmlns:a16="http://schemas.microsoft.com/office/drawing/2014/main" id="{68A4EAED-0189-48F7-AD7C-795745A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8 hrs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4DCD466A-B09E-4C1D-887A-1574581E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93481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8%">
            <a:extLst xmlns:a="http://schemas.openxmlformats.org/drawingml/2006/main">
              <a:ext uri="{FF2B5EF4-FFF2-40B4-BE49-F238E27FC236}">
                <a16:creationId xmlns:a16="http://schemas.microsoft.com/office/drawing/2014/main" id="{9691B53D-D313-47D1-9FE5-1C9386B0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8776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BF95E5D-9704-4A28-BCE7-635FB42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942" y="4800600"/>
            <a:ext cx="133018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19%">
            <a:extLst xmlns:a="http://schemas.openxmlformats.org/drawingml/2006/main">
              <a:ext uri="{FF2B5EF4-FFF2-40B4-BE49-F238E27FC236}">
                <a16:creationId xmlns:a16="http://schemas.microsoft.com/office/drawing/2014/main" id="{DAE50840-C72B-43AF-BD72-955F2739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042" y="4905375"/>
            <a:ext cx="12730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DC172DB-AF2A-462E-B0E2-782DCE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129" y="4800600"/>
            <a:ext cx="211620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30%">
            <a:extLst xmlns:a="http://schemas.openxmlformats.org/drawingml/2006/main">
              <a:ext uri="{FF2B5EF4-FFF2-40B4-BE49-F238E27FC236}">
                <a16:creationId xmlns:a16="http://schemas.microsoft.com/office/drawing/2014/main" id="{766572DC-5F32-41AA-8A40-A4EC2EF2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229" y="4905375"/>
            <a:ext cx="20590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C7E421DB-DEEC-40BB-B09C-9C0812A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336" y="4800600"/>
            <a:ext cx="157203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3%">
            <a:extLst xmlns:a="http://schemas.openxmlformats.org/drawingml/2006/main">
              <a:ext uri="{FF2B5EF4-FFF2-40B4-BE49-F238E27FC236}">
                <a16:creationId xmlns:a16="http://schemas.microsoft.com/office/drawing/2014/main" id="{BF9E844A-7E3A-4E10-962D-78B6E2FE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436" y="4905375"/>
            <a:ext cx="15148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83" name="n=115">
            <a:extLst xmlns:a="http://schemas.openxmlformats.org/drawingml/2006/main">
              <a:ext uri="{FF2B5EF4-FFF2-40B4-BE49-F238E27FC236}">
                <a16:creationId xmlns:a16="http://schemas.microsoft.com/office/drawing/2014/main" id="{935A2D00-0E09-4B4D-82B2-DD89F81B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n=115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41BABA3E-8044-4E0C-8412-2575F1C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0E1D5672-34C0-4869-B27C-F330404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18A434A-83D4-43EE-B82F-89281B7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65CF8668-CFAC-4A84-938B-8B13BBD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9F86DF02-905C-4686-97AB-E0D5B970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1EAAA1FF-2AE4-4BA3-B345-DFD255A2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D7F1D0C3-FC03-4C29-80BC-B194E59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8EE1ADA1-CD9A-4662-A4B8-70B84E5D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679F7421-3963-4D0D-B775-1A8D41E5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Stress and CGPA</a:t>
            </a:r>
          </a:p>
        </p:txBody>
      </p:sp>
      <p:sp>
        <p:nvSpPr>
          <p:cNvPr id="534" name="Never">
            <a:extLst xmlns:a="http://schemas.openxmlformats.org/drawingml/2006/main">
              <a:ext uri="{FF2B5EF4-FFF2-40B4-BE49-F238E27FC236}">
                <a16:creationId xmlns:a16="http://schemas.microsoft.com/office/drawing/2014/main" id="{B180C138-1091-4A3A-B5BB-518E3DE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Never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BF87C44-0FEC-489E-B01A-25406C9E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67093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4%">
            <a:extLst xmlns:a="http://schemas.openxmlformats.org/drawingml/2006/main">
              <a:ext uri="{FF2B5EF4-FFF2-40B4-BE49-F238E27FC236}">
                <a16:creationId xmlns:a16="http://schemas.microsoft.com/office/drawing/2014/main" id="{73EE8629-D994-475E-BC8D-0BB4CDA0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61378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64EB400-A0D1-4638-ACEE-6A76FE1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061" y="1905000"/>
            <a:ext cx="199434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9%">
            <a:extLst xmlns:a="http://schemas.openxmlformats.org/drawingml/2006/main">
              <a:ext uri="{FF2B5EF4-FFF2-40B4-BE49-F238E27FC236}">
                <a16:creationId xmlns:a16="http://schemas.microsoft.com/office/drawing/2014/main" id="{83877F0A-478A-4A7F-9778-09C067F1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161" y="2009775"/>
            <a:ext cx="19371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3C83AD7-2FF6-43EB-9365-798F57F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404" y="1905000"/>
            <a:ext cx="172483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5%">
            <a:extLst xmlns:a="http://schemas.openxmlformats.org/drawingml/2006/main">
              <a:ext uri="{FF2B5EF4-FFF2-40B4-BE49-F238E27FC236}">
                <a16:creationId xmlns:a16="http://schemas.microsoft.com/office/drawing/2014/main" id="{609D6585-367D-4807-8EDA-0FAB21B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504" y="2009775"/>
            <a:ext cx="16676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F861B48-AE84-4CBE-A60C-B58EB2D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241" y="1905000"/>
            <a:ext cx="156313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2%">
            <a:extLst xmlns:a="http://schemas.openxmlformats.org/drawingml/2006/main">
              <a:ext uri="{FF2B5EF4-FFF2-40B4-BE49-F238E27FC236}">
                <a16:creationId xmlns:a16="http://schemas.microsoft.com/office/drawing/2014/main" id="{E305BCF2-5B20-4EFF-BAFA-61F3D8B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341" y="2009775"/>
            <a:ext cx="150598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43" name="n=129">
            <a:extLst xmlns:a="http://schemas.openxmlformats.org/drawingml/2006/main">
              <a:ext uri="{FF2B5EF4-FFF2-40B4-BE49-F238E27FC236}">
                <a16:creationId xmlns:a16="http://schemas.microsoft.com/office/drawing/2014/main" id="{33A8C08B-7FB1-47AD-862D-D99BE0A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n=129</a:t>
            </a:r>
          </a:p>
        </p:txBody>
      </p:sp>
      <p:sp>
        <p:nvSpPr>
          <p:cNvPr id="544" name="Rarely">
            <a:extLst xmlns:a="http://schemas.openxmlformats.org/drawingml/2006/main">
              <a:ext uri="{FF2B5EF4-FFF2-40B4-BE49-F238E27FC236}">
                <a16:creationId xmlns:a16="http://schemas.microsoft.com/office/drawing/2014/main" id="{8695E0D0-6D14-4F14-9F8F-6593A9B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Rarely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378D2F-04BE-4F05-BAF5-08CB6DBE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59099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3%">
            <a:extLst xmlns:a="http://schemas.openxmlformats.org/drawingml/2006/main">
              <a:ext uri="{FF2B5EF4-FFF2-40B4-BE49-F238E27FC236}">
                <a16:creationId xmlns:a16="http://schemas.microsoft.com/office/drawing/2014/main" id="{B6295E0B-9AE4-4C36-B9E4-EFFF3226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5338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BA95F61-D409-420F-82AD-3C444F6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123" y="2628900"/>
            <a:ext cx="167938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4%">
            <a:extLst xmlns:a="http://schemas.openxmlformats.org/drawingml/2006/main">
              <a:ext uri="{FF2B5EF4-FFF2-40B4-BE49-F238E27FC236}">
                <a16:creationId xmlns:a16="http://schemas.microsoft.com/office/drawing/2014/main" id="{D660CBCF-0B8A-4D64-9012-8D78ED18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223" y="2733675"/>
            <a:ext cx="16222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9B8DEA1-225B-4D8C-B980-93E72AB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510" y="2628900"/>
            <a:ext cx="235703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34%">
            <a:extLst xmlns:a="http://schemas.openxmlformats.org/drawingml/2006/main">
              <a:ext uri="{FF2B5EF4-FFF2-40B4-BE49-F238E27FC236}">
                <a16:creationId xmlns:a16="http://schemas.microsoft.com/office/drawing/2014/main" id="{58B74E3E-13BD-401E-A26D-0FC64F4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610" y="2733675"/>
            <a:ext cx="229988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34%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9EE9641-EFCA-4BB8-8E39-59919F3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543" y="2628900"/>
            <a:ext cx="132583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19%">
            <a:extLst xmlns:a="http://schemas.openxmlformats.org/drawingml/2006/main">
              <a:ext uri="{FF2B5EF4-FFF2-40B4-BE49-F238E27FC236}">
                <a16:creationId xmlns:a16="http://schemas.microsoft.com/office/drawing/2014/main" id="{B2241433-4BB6-4655-81D2-A65E7816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643" y="2733675"/>
            <a:ext cx="12686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3" name="n=236">
            <a:extLst xmlns:a="http://schemas.openxmlformats.org/drawingml/2006/main">
              <a:ext uri="{FF2B5EF4-FFF2-40B4-BE49-F238E27FC236}">
                <a16:creationId xmlns:a16="http://schemas.microsoft.com/office/drawing/2014/main" id="{4C7BEBCF-C893-496B-A10E-F2BCDCE3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n=236</a:t>
            </a:r>
          </a:p>
        </p:txBody>
      </p:sp>
      <p:sp>
        <p:nvSpPr>
          <p:cNvPr id="554" name="Sometimes">
            <a:extLst xmlns:a="http://schemas.openxmlformats.org/drawingml/2006/main">
              <a:ext uri="{FF2B5EF4-FFF2-40B4-BE49-F238E27FC236}">
                <a16:creationId xmlns:a16="http://schemas.microsoft.com/office/drawing/2014/main" id="{500FF9F7-AFF4-41EC-8559-B5BFB65C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Sometimes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0D07462-E611-4DD0-917B-F8D2B3ED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17422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7%">
            <a:extLst xmlns:a="http://schemas.openxmlformats.org/drawingml/2006/main">
              <a:ext uri="{FF2B5EF4-FFF2-40B4-BE49-F238E27FC236}">
                <a16:creationId xmlns:a16="http://schemas.microsoft.com/office/drawing/2014/main" id="{43518822-8E84-43E0-AA73-B623896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1170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AB458823-423B-43AE-AB91-D8E4F9EB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349" y="3352800"/>
            <a:ext cx="227937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3%">
            <a:extLst xmlns:a="http://schemas.openxmlformats.org/drawingml/2006/main">
              <a:ext uri="{FF2B5EF4-FFF2-40B4-BE49-F238E27FC236}">
                <a16:creationId xmlns:a16="http://schemas.microsoft.com/office/drawing/2014/main" id="{D8ACBC79-EA75-4126-9B22-7C0E144F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449" y="3457575"/>
            <a:ext cx="222222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BC88CDFD-CA1C-48DA-A970-BCFAD805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726" y="3352800"/>
            <a:ext cx="170377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5%">
            <a:extLst xmlns:a="http://schemas.openxmlformats.org/drawingml/2006/main">
              <a:ext uri="{FF2B5EF4-FFF2-40B4-BE49-F238E27FC236}">
                <a16:creationId xmlns:a16="http://schemas.microsoft.com/office/drawing/2014/main" id="{E6F28B75-C9CA-482B-AD0A-7631243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26" y="3457575"/>
            <a:ext cx="164662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44626A1A-74C7-4362-92CE-E3CADDA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502" y="3352800"/>
            <a:ext cx="179587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6%">
            <a:extLst xmlns:a="http://schemas.openxmlformats.org/drawingml/2006/main">
              <a:ext uri="{FF2B5EF4-FFF2-40B4-BE49-F238E27FC236}">
                <a16:creationId xmlns:a16="http://schemas.microsoft.com/office/drawing/2014/main" id="{3C8C6C0B-0FCB-4F1C-911D-0A1530AD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602" y="3457575"/>
            <a:ext cx="17387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63" name="n=302">
            <a:extLst xmlns:a="http://schemas.openxmlformats.org/drawingml/2006/main">
              <a:ext uri="{FF2B5EF4-FFF2-40B4-BE49-F238E27FC236}">
                <a16:creationId xmlns:a16="http://schemas.microsoft.com/office/drawing/2014/main" id="{338CF3AA-0C9E-4323-8760-0A62949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n=302</a:t>
            </a:r>
          </a:p>
        </p:txBody>
      </p:sp>
      <p:sp>
        <p:nvSpPr>
          <p:cNvPr id="564" name="Often">
            <a:extLst xmlns:a="http://schemas.openxmlformats.org/drawingml/2006/main">
              <a:ext uri="{FF2B5EF4-FFF2-40B4-BE49-F238E27FC236}">
                <a16:creationId xmlns:a16="http://schemas.microsoft.com/office/drawing/2014/main" id="{DF5BE59F-58CA-40AF-9381-EF119B6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Often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FD74BBD-3A15-4D8B-9F3C-F35A2F9F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39623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0%">
            <a:extLst xmlns:a="http://schemas.openxmlformats.org/drawingml/2006/main">
              <a:ext uri="{FF2B5EF4-FFF2-40B4-BE49-F238E27FC236}">
                <a16:creationId xmlns:a16="http://schemas.microsoft.com/office/drawing/2014/main" id="{284759EE-E2EE-46AC-9B36-8FDAA77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3390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894D387-F45E-427E-BB95-117B483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60" y="4076700"/>
            <a:ext cx="240152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35%">
            <a:extLst xmlns:a="http://schemas.openxmlformats.org/drawingml/2006/main">
              <a:ext uri="{FF2B5EF4-FFF2-40B4-BE49-F238E27FC236}">
                <a16:creationId xmlns:a16="http://schemas.microsoft.com/office/drawing/2014/main" id="{EF1BB90C-BDA4-40D6-A510-962CA50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460" y="4181475"/>
            <a:ext cx="23443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0483293-20B6-4BEC-9DBE-262DE8F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84" y="4076700"/>
            <a:ext cx="159170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3%">
            <a:extLst xmlns:a="http://schemas.openxmlformats.org/drawingml/2006/main">
              <a:ext uri="{FF2B5EF4-FFF2-40B4-BE49-F238E27FC236}">
                <a16:creationId xmlns:a16="http://schemas.microsoft.com/office/drawing/2014/main" id="{EECD7402-5BD1-4F31-BB19-1094985F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984" y="4181475"/>
            <a:ext cx="15345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D355CD4-7DD0-4422-B731-EE800B99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592" y="4076700"/>
            <a:ext cx="156378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2%">
            <a:extLst xmlns:a="http://schemas.openxmlformats.org/drawingml/2006/main">
              <a:ext uri="{FF2B5EF4-FFF2-40B4-BE49-F238E27FC236}">
                <a16:creationId xmlns:a16="http://schemas.microsoft.com/office/drawing/2014/main" id="{E64772BC-BD7E-42E5-B97C-93859D3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692" y="4181475"/>
            <a:ext cx="15066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3" name="n=249">
            <a:extLst xmlns:a="http://schemas.openxmlformats.org/drawingml/2006/main">
              <a:ext uri="{FF2B5EF4-FFF2-40B4-BE49-F238E27FC236}">
                <a16:creationId xmlns:a16="http://schemas.microsoft.com/office/drawing/2014/main" id="{0736DEEC-C7BB-401A-A921-42C08E98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n=249</a:t>
            </a:r>
          </a:p>
        </p:txBody>
      </p:sp>
      <p:sp>
        <p:nvSpPr>
          <p:cNvPr id="574" name="Almost always">
            <a:extLst xmlns:a="http://schemas.openxmlformats.org/drawingml/2006/main">
              <a:ext uri="{FF2B5EF4-FFF2-40B4-BE49-F238E27FC236}">
                <a16:creationId xmlns:a16="http://schemas.microsoft.com/office/drawing/2014/main" id="{A545B364-40CB-48E6-BB41-2277AD6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always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DC3E031-5617-4F7D-9236-CAC4F36B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81074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6%">
            <a:extLst xmlns:a="http://schemas.openxmlformats.org/drawingml/2006/main">
              <a:ext uri="{FF2B5EF4-FFF2-40B4-BE49-F238E27FC236}">
                <a16:creationId xmlns:a16="http://schemas.microsoft.com/office/drawing/2014/main" id="{7AB5FFC2-FF74-4F00-9810-4A1634B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7535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01543B3-FB43-438C-929A-A432DAA4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867" y="4800600"/>
            <a:ext cx="152102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2%">
            <a:extLst xmlns:a="http://schemas.openxmlformats.org/drawingml/2006/main">
              <a:ext uri="{FF2B5EF4-FFF2-40B4-BE49-F238E27FC236}">
                <a16:creationId xmlns:a16="http://schemas.microsoft.com/office/drawing/2014/main" id="{B38A0195-200D-4437-9538-34AEAE27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67" y="4905375"/>
            <a:ext cx="146387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4FA46FA-CC71-4CE0-8991-D563EEE8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891" y="4800600"/>
            <a:ext cx="217289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31%">
            <a:extLst xmlns:a="http://schemas.openxmlformats.org/drawingml/2006/main">
              <a:ext uri="{FF2B5EF4-FFF2-40B4-BE49-F238E27FC236}">
                <a16:creationId xmlns:a16="http://schemas.microsoft.com/office/drawing/2014/main" id="{46F3D874-9AEA-400D-A98D-97EBA310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991" y="4905375"/>
            <a:ext cx="21157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43DD36C-31B3-47FE-A02B-9D4116A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781" y="4800600"/>
            <a:ext cx="144859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1%">
            <a:extLst xmlns:a="http://schemas.openxmlformats.org/drawingml/2006/main">
              <a:ext uri="{FF2B5EF4-FFF2-40B4-BE49-F238E27FC236}">
                <a16:creationId xmlns:a16="http://schemas.microsoft.com/office/drawing/2014/main" id="{D5515542-A20C-4FAE-9D37-F5BFECD6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81" y="4905375"/>
            <a:ext cx="13914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83" name="n=192">
            <a:extLst xmlns:a="http://schemas.openxmlformats.org/drawingml/2006/main">
              <a:ext uri="{FF2B5EF4-FFF2-40B4-BE49-F238E27FC236}">
                <a16:creationId xmlns:a16="http://schemas.microsoft.com/office/drawing/2014/main" id="{5EF1799B-0F23-43F6-9CDA-04F7E1F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n=192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1DD43469-7158-4356-8749-8E02D2D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2D85C876-4B3A-4C7F-BEDB-48AE3C73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E681E399-CBC3-4591-80FF-A1D6F1C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2B93B68B-898E-4B4F-9A0E-9C334AE3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AA853B8-BACE-4176-89C1-6E5031B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6797C5EF-285B-4FEC-B78C-6405AE1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5D77CD7-AC6C-4956-94B9-A0401AE8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6FF864FE-F07A-48AD-879E-48A7112B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62042B5B-7D79-472A-AB89-6DDA5BB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Phone distraction and CGPA</a:t>
            </a:r>
          </a:p>
        </p:txBody>
      </p:sp>
      <p:sp>
        <p:nvSpPr>
          <p:cNvPr id="534" name="Never">
            <a:extLst xmlns:a="http://schemas.openxmlformats.org/drawingml/2006/main">
              <a:ext uri="{FF2B5EF4-FFF2-40B4-BE49-F238E27FC236}">
                <a16:creationId xmlns:a16="http://schemas.microsoft.com/office/drawing/2014/main" id="{51EC90A5-1DF9-4612-8391-70341B2F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Never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9861678-73E3-4F9C-9C12-3A55228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59099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3%">
            <a:extLst xmlns:a="http://schemas.openxmlformats.org/drawingml/2006/main">
              <a:ext uri="{FF2B5EF4-FFF2-40B4-BE49-F238E27FC236}">
                <a16:creationId xmlns:a16="http://schemas.microsoft.com/office/drawing/2014/main" id="{BA0B6792-9838-428C-9967-36AFEA4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5338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47F012C-F7ED-4433-AB85-3ECF8BC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123" y="1905000"/>
            <a:ext cx="135529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19%">
            <a:extLst xmlns:a="http://schemas.openxmlformats.org/drawingml/2006/main">
              <a:ext uri="{FF2B5EF4-FFF2-40B4-BE49-F238E27FC236}">
                <a16:creationId xmlns:a16="http://schemas.microsoft.com/office/drawing/2014/main" id="{F59E8521-D586-48C9-95EC-4391030D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223" y="2009775"/>
            <a:ext cx="12981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4007075-0209-46D9-9520-C5DB61C4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417" y="1905000"/>
            <a:ext cx="21213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31%">
            <a:extLst xmlns:a="http://schemas.openxmlformats.org/drawingml/2006/main">
              <a:ext uri="{FF2B5EF4-FFF2-40B4-BE49-F238E27FC236}">
                <a16:creationId xmlns:a16="http://schemas.microsoft.com/office/drawing/2014/main" id="{1BA2DDCA-8A77-4CAD-89CA-D1F66BC1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517" y="2009775"/>
            <a:ext cx="20641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4137148-F681-498A-9554-E73F20C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748" y="1905000"/>
            <a:ext cx="188562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7%">
            <a:extLst xmlns:a="http://schemas.openxmlformats.org/drawingml/2006/main">
              <a:ext uri="{FF2B5EF4-FFF2-40B4-BE49-F238E27FC236}">
                <a16:creationId xmlns:a16="http://schemas.microsoft.com/office/drawing/2014/main" id="{38B9DB2B-1B04-41D6-805F-389AE9D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848" y="2009775"/>
            <a:ext cx="18284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43" name="n=118">
            <a:extLst xmlns:a="http://schemas.openxmlformats.org/drawingml/2006/main">
              <a:ext uri="{FF2B5EF4-FFF2-40B4-BE49-F238E27FC236}">
                <a16:creationId xmlns:a16="http://schemas.microsoft.com/office/drawing/2014/main" id="{890BCD84-8EF1-4A42-8EA3-106A19CE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n=118</a:t>
            </a:r>
          </a:p>
        </p:txBody>
      </p:sp>
      <p:sp>
        <p:nvSpPr>
          <p:cNvPr id="544" name="Rarely">
            <a:extLst xmlns:a="http://schemas.openxmlformats.org/drawingml/2006/main">
              <a:ext uri="{FF2B5EF4-FFF2-40B4-BE49-F238E27FC236}">
                <a16:creationId xmlns:a16="http://schemas.microsoft.com/office/drawing/2014/main" id="{1FEF9248-3983-432E-BBB1-DABBDF4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Rarely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94620A7-8050-412A-AC4E-37B4AF1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54516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2%">
            <a:extLst xmlns:a="http://schemas.openxmlformats.org/drawingml/2006/main">
              <a:ext uri="{FF2B5EF4-FFF2-40B4-BE49-F238E27FC236}">
                <a16:creationId xmlns:a16="http://schemas.microsoft.com/office/drawing/2014/main" id="{12C1C337-35B3-43D8-B24C-8D03308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48801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F30A451-6664-4BB9-8688-B0A2FAE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292" y="2628900"/>
            <a:ext cx="188853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7%">
            <a:extLst xmlns:a="http://schemas.openxmlformats.org/drawingml/2006/main">
              <a:ext uri="{FF2B5EF4-FFF2-40B4-BE49-F238E27FC236}">
                <a16:creationId xmlns:a16="http://schemas.microsoft.com/office/drawing/2014/main" id="{36A97571-E14A-4192-A8F0-DCC5D4EF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392" y="2733675"/>
            <a:ext cx="183138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8C02268-EA67-49C8-A487-E7BFE45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29" y="2628900"/>
            <a:ext cx="218898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31%">
            <a:extLst xmlns:a="http://schemas.openxmlformats.org/drawingml/2006/main">
              <a:ext uri="{FF2B5EF4-FFF2-40B4-BE49-F238E27FC236}">
                <a16:creationId xmlns:a16="http://schemas.microsoft.com/office/drawing/2014/main" id="{253EAFC3-AD66-4B9D-B5FC-CF331D93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29" y="2733675"/>
            <a:ext cx="21318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238E98C-7E79-4794-AD08-BA3BF01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815" y="2628900"/>
            <a:ext cx="13305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19%">
            <a:extLst xmlns:a="http://schemas.openxmlformats.org/drawingml/2006/main">
              <a:ext uri="{FF2B5EF4-FFF2-40B4-BE49-F238E27FC236}">
                <a16:creationId xmlns:a16="http://schemas.microsoft.com/office/drawing/2014/main" id="{4A751709-2020-424B-ABB1-016D7D8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915" y="2733675"/>
            <a:ext cx="12734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3" name="n=162">
            <a:extLst xmlns:a="http://schemas.openxmlformats.org/drawingml/2006/main">
              <a:ext uri="{FF2B5EF4-FFF2-40B4-BE49-F238E27FC236}">
                <a16:creationId xmlns:a16="http://schemas.microsoft.com/office/drawing/2014/main" id="{67F6CD3B-9FFA-4AF0-97C8-AC029A5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n=162</a:t>
            </a:r>
          </a:p>
        </p:txBody>
      </p:sp>
      <p:sp>
        <p:nvSpPr>
          <p:cNvPr id="554" name="Sometimes">
            <a:extLst xmlns:a="http://schemas.openxmlformats.org/drawingml/2006/main">
              <a:ext uri="{FF2B5EF4-FFF2-40B4-BE49-F238E27FC236}">
                <a16:creationId xmlns:a16="http://schemas.microsoft.com/office/drawing/2014/main" id="{637C514F-02FB-4718-9B31-E063E676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Sometimes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1FB84BC-DAC6-45BD-B777-4C6EDCD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27476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8%">
            <a:extLst xmlns:a="http://schemas.openxmlformats.org/drawingml/2006/main">
              <a:ext uri="{FF2B5EF4-FFF2-40B4-BE49-F238E27FC236}">
                <a16:creationId xmlns:a16="http://schemas.microsoft.com/office/drawing/2014/main" id="{38FB3DD0-7A68-4203-92D5-64C3E7E6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21761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03A5E37-AA18-47A0-B3E3-E8ADD77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87" y="3352800"/>
            <a:ext cx="229457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3%">
            <a:extLst xmlns:a="http://schemas.openxmlformats.org/drawingml/2006/main">
              <a:ext uri="{FF2B5EF4-FFF2-40B4-BE49-F238E27FC236}">
                <a16:creationId xmlns:a16="http://schemas.microsoft.com/office/drawing/2014/main" id="{C619F5FD-3F1C-4276-A578-AFD5C23E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987" y="3457575"/>
            <a:ext cx="22374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29F9A2A-A0C9-40C2-886C-0BEA581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460" y="3352800"/>
            <a:ext cx="192373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8%">
            <a:extLst xmlns:a="http://schemas.openxmlformats.org/drawingml/2006/main">
              <a:ext uri="{FF2B5EF4-FFF2-40B4-BE49-F238E27FC236}">
                <a16:creationId xmlns:a16="http://schemas.microsoft.com/office/drawing/2014/main" id="{F01E2228-1700-41A4-89FB-A8760F47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560" y="3457575"/>
            <a:ext cx="18665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ADEC357-5665-4A1C-9AB7-11D15729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193" y="3352800"/>
            <a:ext cx="146018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1%">
            <a:extLst xmlns:a="http://schemas.openxmlformats.org/drawingml/2006/main">
              <a:ext uri="{FF2B5EF4-FFF2-40B4-BE49-F238E27FC236}">
                <a16:creationId xmlns:a16="http://schemas.microsoft.com/office/drawing/2014/main" id="{2547E506-2A17-4619-A70D-3BC03EB4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293" y="3457575"/>
            <a:ext cx="14030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63" name="n=300">
            <a:extLst xmlns:a="http://schemas.openxmlformats.org/drawingml/2006/main">
              <a:ext uri="{FF2B5EF4-FFF2-40B4-BE49-F238E27FC236}">
                <a16:creationId xmlns:a16="http://schemas.microsoft.com/office/drawing/2014/main" id="{B4E17E6C-1758-4116-A565-1084220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n=300</a:t>
            </a:r>
          </a:p>
        </p:txBody>
      </p:sp>
      <p:sp>
        <p:nvSpPr>
          <p:cNvPr id="564" name="Often">
            <a:extLst xmlns:a="http://schemas.openxmlformats.org/drawingml/2006/main">
              <a:ext uri="{FF2B5EF4-FFF2-40B4-BE49-F238E27FC236}">
                <a16:creationId xmlns:a16="http://schemas.microsoft.com/office/drawing/2014/main" id="{0594DB75-1338-45D1-B098-3DDBE405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Often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18B3E242-61F9-4338-9092-0E0909AE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40493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0%">
            <a:extLst xmlns:a="http://schemas.openxmlformats.org/drawingml/2006/main">
              <a:ext uri="{FF2B5EF4-FFF2-40B4-BE49-F238E27FC236}">
                <a16:creationId xmlns:a16="http://schemas.microsoft.com/office/drawing/2014/main" id="{7D2F10D3-983B-4652-B4ED-DDFD0328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347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B79B03B-E89C-4111-83EC-34BBE154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4076700"/>
            <a:ext cx="2143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31%">
            <a:extLst xmlns:a="http://schemas.openxmlformats.org/drawingml/2006/main">
              <a:ext uri="{FF2B5EF4-FFF2-40B4-BE49-F238E27FC236}">
                <a16:creationId xmlns:a16="http://schemas.microsoft.com/office/drawing/2014/main" id="{1147633D-DE12-49A1-91ED-F663294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418147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5088481-6960-4F21-81A2-F35FD6EF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4076700"/>
            <a:ext cx="183356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6%">
            <a:extLst xmlns:a="http://schemas.openxmlformats.org/drawingml/2006/main">
              <a:ext uri="{FF2B5EF4-FFF2-40B4-BE49-F238E27FC236}">
                <a16:creationId xmlns:a16="http://schemas.microsoft.com/office/drawing/2014/main" id="{F246AAA2-48ED-4886-8D59-5C02BCBE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288" y="4181475"/>
            <a:ext cx="17764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E771E050-B47D-4BD6-887A-1C7F0E1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1571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3%">
            <a:extLst xmlns:a="http://schemas.openxmlformats.org/drawingml/2006/main">
              <a:ext uri="{FF2B5EF4-FFF2-40B4-BE49-F238E27FC236}">
                <a16:creationId xmlns:a16="http://schemas.microsoft.com/office/drawing/2014/main" id="{1336BB8D-3B27-4877-BE3D-02097978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81475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73" name="n=292">
            <a:extLst xmlns:a="http://schemas.openxmlformats.org/drawingml/2006/main">
              <a:ext uri="{FF2B5EF4-FFF2-40B4-BE49-F238E27FC236}">
                <a16:creationId xmlns:a16="http://schemas.microsoft.com/office/drawing/2014/main" id="{FA16AB85-F9B6-417C-A997-77DA7FB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n=292</a:t>
            </a:r>
          </a:p>
        </p:txBody>
      </p:sp>
      <p:sp>
        <p:nvSpPr>
          <p:cNvPr id="574" name="Almost every day">
            <a:extLst xmlns:a="http://schemas.openxmlformats.org/drawingml/2006/main">
              <a:ext uri="{FF2B5EF4-FFF2-40B4-BE49-F238E27FC236}">
                <a16:creationId xmlns:a16="http://schemas.microsoft.com/office/drawing/2014/main" id="{852654AD-2429-4AE4-9C5C-1EC7D3A0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Almost every day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6393A1BE-0C69-4928-97C1-2480E76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73831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5%">
            <a:extLst xmlns:a="http://schemas.openxmlformats.org/drawingml/2006/main">
              <a:ext uri="{FF2B5EF4-FFF2-40B4-BE49-F238E27FC236}">
                <a16:creationId xmlns:a16="http://schemas.microsoft.com/office/drawing/2014/main" id="{6773BF48-828E-48F8-AE82-184E8A7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811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3B05832-2C90-4161-BE7C-8E19A5E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4800600"/>
            <a:ext cx="191509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8%">
            <a:extLst xmlns:a="http://schemas.openxmlformats.org/drawingml/2006/main">
              <a:ext uri="{FF2B5EF4-FFF2-40B4-BE49-F238E27FC236}">
                <a16:creationId xmlns:a16="http://schemas.microsoft.com/office/drawing/2014/main" id="{BD68F51F-EB0E-421C-88A3-63A808DE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4905375"/>
            <a:ext cx="18579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E61A240-900B-4D66-82F9-8144461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528" y="4800600"/>
            <a:ext cx="164992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4%">
            <a:extLst xmlns:a="http://schemas.openxmlformats.org/drawingml/2006/main">
              <a:ext uri="{FF2B5EF4-FFF2-40B4-BE49-F238E27FC236}">
                <a16:creationId xmlns:a16="http://schemas.microsoft.com/office/drawing/2014/main" id="{257F30A3-9026-457F-B34F-A44A5853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628" y="4905375"/>
            <a:ext cx="15927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3464327D-BFF4-459E-9F85-E3BEBFE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51" y="4800600"/>
            <a:ext cx="164992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4%">
            <a:extLst xmlns:a="http://schemas.openxmlformats.org/drawingml/2006/main">
              <a:ext uri="{FF2B5EF4-FFF2-40B4-BE49-F238E27FC236}">
                <a16:creationId xmlns:a16="http://schemas.microsoft.com/office/drawing/2014/main" id="{9638882E-77B8-4B01-A7F6-248B2743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551" y="4905375"/>
            <a:ext cx="159277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83" name="n=236">
            <a:extLst xmlns:a="http://schemas.openxmlformats.org/drawingml/2006/main">
              <a:ext uri="{FF2B5EF4-FFF2-40B4-BE49-F238E27FC236}">
                <a16:creationId xmlns:a16="http://schemas.microsoft.com/office/drawing/2014/main" id="{5216C554-FC22-4464-97B7-D7C0F49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n=236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D213B97-6A03-4099-957A-DA760339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22DFB10E-BD2E-4C7E-A12D-1DFE3D8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6043DDC-E47F-41DA-9CDC-3CE21C3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FAD25904-9E7B-41ED-BD14-63BDD86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C5AC57A-D5D1-4F0B-9AE5-7E5F1608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EDB5EC64-3288-4DD9-9B00-E514B18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D7EF505B-BD78-4B21-BE2E-09D181F0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8E1ED000-D5DC-48C5-AEC5-CC9CC9C3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E6B51464-5FA8-4872-994F-E68F2007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Outside commitments and CGPA</a:t>
            </a:r>
          </a:p>
        </p:txBody>
      </p:sp>
      <p:sp>
        <p:nvSpPr>
          <p:cNvPr id="534" name="None">
            <a:extLst xmlns:a="http://schemas.openxmlformats.org/drawingml/2006/main">
              <a:ext uri="{FF2B5EF4-FFF2-40B4-BE49-F238E27FC236}">
                <a16:creationId xmlns:a16="http://schemas.microsoft.com/office/drawing/2014/main" id="{06F73B64-2A9A-44AE-B5B8-2E1DD35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None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33FF35-5E33-4C6D-A482-9424181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3957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0%">
            <a:extLst xmlns:a="http://schemas.openxmlformats.org/drawingml/2006/main">
              <a:ext uri="{FF2B5EF4-FFF2-40B4-BE49-F238E27FC236}">
                <a16:creationId xmlns:a16="http://schemas.microsoft.com/office/drawing/2014/main" id="{A2E048ED-831E-4188-B98F-70C01D3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338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8BA7B73-60B0-4DC9-BEAF-3A87948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850" y="1905000"/>
            <a:ext cx="170024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4%">
            <a:extLst xmlns:a="http://schemas.openxmlformats.org/drawingml/2006/main">
              <a:ext uri="{FF2B5EF4-FFF2-40B4-BE49-F238E27FC236}">
                <a16:creationId xmlns:a16="http://schemas.microsoft.com/office/drawing/2014/main" id="{9684E1E3-D626-4FE0-A099-A90B4D86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950" y="2009775"/>
            <a:ext cx="164309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42106E5-2E2B-4C48-9B73-28D953B8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098" y="1905000"/>
            <a:ext cx="192863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8%">
            <a:extLst xmlns:a="http://schemas.openxmlformats.org/drawingml/2006/main">
              <a:ext uri="{FF2B5EF4-FFF2-40B4-BE49-F238E27FC236}">
                <a16:creationId xmlns:a16="http://schemas.microsoft.com/office/drawing/2014/main" id="{ACBAC976-DFB0-4F79-A3A5-AFD1D44D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198" y="2009775"/>
            <a:ext cx="18714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199AB25-9023-40C8-AED9-8891FA0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736" y="1905000"/>
            <a:ext cx="192863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8%">
            <a:extLst xmlns:a="http://schemas.openxmlformats.org/drawingml/2006/main">
              <a:ext uri="{FF2B5EF4-FFF2-40B4-BE49-F238E27FC236}">
                <a16:creationId xmlns:a16="http://schemas.microsoft.com/office/drawing/2014/main" id="{3934E198-843A-4DF2-9234-346483A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836" y="2009775"/>
            <a:ext cx="18714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43" name="n=274">
            <a:extLst xmlns:a="http://schemas.openxmlformats.org/drawingml/2006/main">
              <a:ext uri="{FF2B5EF4-FFF2-40B4-BE49-F238E27FC236}">
                <a16:creationId xmlns:a16="http://schemas.microsoft.com/office/drawing/2014/main" id="{0EB77608-C8CC-43D9-87DB-96DEDF4A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n=274</a:t>
            </a:r>
          </a:p>
        </p:txBody>
      </p:sp>
      <p:sp>
        <p:nvSpPr>
          <p:cNvPr id="544" name="1-5 hrs">
            <a:extLst xmlns:a="http://schemas.openxmlformats.org/drawingml/2006/main">
              <a:ext uri="{FF2B5EF4-FFF2-40B4-BE49-F238E27FC236}">
                <a16:creationId xmlns:a16="http://schemas.microsoft.com/office/drawing/2014/main" id="{2BF9A136-326C-4564-9D4A-08F26E9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1-5 hrs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103342D-DADA-4D50-BB8F-3F29061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401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0%">
            <a:extLst xmlns:a="http://schemas.openxmlformats.org/drawingml/2006/main">
              <a:ext uri="{FF2B5EF4-FFF2-40B4-BE49-F238E27FC236}">
                <a16:creationId xmlns:a16="http://schemas.microsoft.com/office/drawing/2014/main" id="{D1221AC4-0867-4F35-B210-5CD437F7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344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55AD0F1-C86A-4216-A7E5-0E94AEF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350" y="2628900"/>
            <a:ext cx="190355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7%">
            <a:extLst xmlns:a="http://schemas.openxmlformats.org/drawingml/2006/main">
              <a:ext uri="{FF2B5EF4-FFF2-40B4-BE49-F238E27FC236}">
                <a16:creationId xmlns:a16="http://schemas.microsoft.com/office/drawing/2014/main" id="{E3CB562C-C30B-4F35-9555-EEDD06AA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450" y="2733675"/>
            <a:ext cx="18464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A6374F7-B994-4E84-900E-740EB0B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902" y="2628900"/>
            <a:ext cx="190355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7%">
            <a:extLst xmlns:a="http://schemas.openxmlformats.org/drawingml/2006/main">
              <a:ext uri="{FF2B5EF4-FFF2-40B4-BE49-F238E27FC236}">
                <a16:creationId xmlns:a16="http://schemas.microsoft.com/office/drawing/2014/main" id="{1EE2E7AD-93D1-489D-A761-7E7096AE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002" y="2733675"/>
            <a:ext cx="18464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CD6CAAF-D6FB-4015-914D-EE3764E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453" y="2628900"/>
            <a:ext cx="174492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5%">
            <a:extLst xmlns:a="http://schemas.openxmlformats.org/drawingml/2006/main">
              <a:ext uri="{FF2B5EF4-FFF2-40B4-BE49-F238E27FC236}">
                <a16:creationId xmlns:a16="http://schemas.microsoft.com/office/drawing/2014/main" id="{4D15D9B5-8EBE-40A8-AB3A-BD5FA08E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53" y="2733675"/>
            <a:ext cx="16877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53" name="n=263">
            <a:extLst xmlns:a="http://schemas.openxmlformats.org/drawingml/2006/main">
              <a:ext uri="{FF2B5EF4-FFF2-40B4-BE49-F238E27FC236}">
                <a16:creationId xmlns:a16="http://schemas.microsoft.com/office/drawing/2014/main" id="{F27A5FD8-E001-4E0A-93C5-C709308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n=263</a:t>
            </a:r>
          </a:p>
        </p:txBody>
      </p:sp>
      <p:sp>
        <p:nvSpPr>
          <p:cNvPr id="554" name="6-10 hrs">
            <a:extLst xmlns:a="http://schemas.openxmlformats.org/drawingml/2006/main">
              <a:ext uri="{FF2B5EF4-FFF2-40B4-BE49-F238E27FC236}">
                <a16:creationId xmlns:a16="http://schemas.microsoft.com/office/drawing/2014/main" id="{AE587873-1B78-46C6-9ED9-941EFBA5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6-10 hrs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6055E24-EB83-435F-8430-12F0387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37866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20%">
            <a:extLst xmlns:a="http://schemas.openxmlformats.org/drawingml/2006/main">
              <a:ext uri="{FF2B5EF4-FFF2-40B4-BE49-F238E27FC236}">
                <a16:creationId xmlns:a16="http://schemas.microsoft.com/office/drawing/2014/main" id="{BF5479A6-9D96-40A1-9EF1-CDEA2C6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32151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EB3C9F75-1C4A-4CCA-86A8-D0ED3AF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787" y="3352800"/>
            <a:ext cx="236770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4%">
            <a:extLst xmlns:a="http://schemas.openxmlformats.org/drawingml/2006/main">
              <a:ext uri="{FF2B5EF4-FFF2-40B4-BE49-F238E27FC236}">
                <a16:creationId xmlns:a16="http://schemas.microsoft.com/office/drawing/2014/main" id="{7D463A22-BDCA-456B-9C48-6B6EB70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887" y="3457575"/>
            <a:ext cx="231055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34%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DC6573E-B281-405F-91D7-58A9C73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488" y="3352800"/>
            <a:ext cx="197808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8%">
            <a:extLst xmlns:a="http://schemas.openxmlformats.org/drawingml/2006/main">
              <a:ext uri="{FF2B5EF4-FFF2-40B4-BE49-F238E27FC236}">
                <a16:creationId xmlns:a16="http://schemas.microsoft.com/office/drawing/2014/main" id="{12171C3A-FFD1-4EB3-ACE7-310BF7AC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588" y="3457575"/>
            <a:ext cx="192093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ABD8618-8E51-474B-ACD6-831CA7A4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568" y="3352800"/>
            <a:ext cx="122880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18%">
            <a:extLst xmlns:a="http://schemas.openxmlformats.org/drawingml/2006/main">
              <a:ext uri="{FF2B5EF4-FFF2-40B4-BE49-F238E27FC236}">
                <a16:creationId xmlns:a16="http://schemas.microsoft.com/office/drawing/2014/main" id="{4AEE8657-0D1D-4377-AE1E-50BA3BA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668" y="3457575"/>
            <a:ext cx="11716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3" name="n=232">
            <a:extLst xmlns:a="http://schemas.openxmlformats.org/drawingml/2006/main">
              <a:ext uri="{FF2B5EF4-FFF2-40B4-BE49-F238E27FC236}">
                <a16:creationId xmlns:a16="http://schemas.microsoft.com/office/drawing/2014/main" id="{A8D2ADFC-18B9-487E-9868-7E153FF5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n=232</a:t>
            </a:r>
          </a:p>
        </p:txBody>
      </p:sp>
      <p:sp>
        <p:nvSpPr>
          <p:cNvPr id="564" name="11-15 hrs">
            <a:extLst xmlns:a="http://schemas.openxmlformats.org/drawingml/2006/main">
              <a:ext uri="{FF2B5EF4-FFF2-40B4-BE49-F238E27FC236}">
                <a16:creationId xmlns:a16="http://schemas.microsoft.com/office/drawing/2014/main" id="{540113E8-EDF3-4CE5-8922-D16422B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11-15 hrs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9EF01FD-11E1-4FED-A5BF-73FF8AF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74741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5%">
            <a:extLst xmlns:a="http://schemas.openxmlformats.org/drawingml/2006/main">
              <a:ext uri="{FF2B5EF4-FFF2-40B4-BE49-F238E27FC236}">
                <a16:creationId xmlns:a16="http://schemas.microsoft.com/office/drawing/2014/main" id="{DA0C6208-6F09-4E38-88FD-0F8C088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69026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E7794F8-08C8-4743-A081-2A383B9E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539" y="4076700"/>
            <a:ext cx="20022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9%">
            <a:extLst xmlns:a="http://schemas.openxmlformats.org/drawingml/2006/main">
              <a:ext uri="{FF2B5EF4-FFF2-40B4-BE49-F238E27FC236}">
                <a16:creationId xmlns:a16="http://schemas.microsoft.com/office/drawing/2014/main" id="{1697362B-47CC-4300-A13A-4321B44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39" y="4181475"/>
            <a:ext cx="19450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1E41954-CBDA-4147-88EA-17457D0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783" y="4076700"/>
            <a:ext cx="18930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7%">
            <a:extLst xmlns:a="http://schemas.openxmlformats.org/drawingml/2006/main">
              <a:ext uri="{FF2B5EF4-FFF2-40B4-BE49-F238E27FC236}">
                <a16:creationId xmlns:a16="http://schemas.microsoft.com/office/drawing/2014/main" id="{FADA3301-091C-40F6-96CB-0FFC697D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883" y="4181475"/>
            <a:ext cx="18358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F54900E-7D4D-4571-B5F2-422543A7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815" y="4076700"/>
            <a:ext cx="131056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19%">
            <a:extLst xmlns:a="http://schemas.openxmlformats.org/drawingml/2006/main">
              <a:ext uri="{FF2B5EF4-FFF2-40B4-BE49-F238E27FC236}">
                <a16:creationId xmlns:a16="http://schemas.microsoft.com/office/drawing/2014/main" id="{A181E119-AE8D-4E44-AFF7-55A201D7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915" y="4181475"/>
            <a:ext cx="12534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73" name="n=191">
            <a:extLst xmlns:a="http://schemas.openxmlformats.org/drawingml/2006/main">
              <a:ext uri="{FF2B5EF4-FFF2-40B4-BE49-F238E27FC236}">
                <a16:creationId xmlns:a16="http://schemas.microsoft.com/office/drawing/2014/main" id="{CBEEAF55-4EB3-4E5C-AE9E-0C0B9978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n=191</a:t>
            </a:r>
          </a:p>
        </p:txBody>
      </p:sp>
      <p:sp>
        <p:nvSpPr>
          <p:cNvPr id="574" name="More than 15 hrs">
            <a:extLst xmlns:a="http://schemas.openxmlformats.org/drawingml/2006/main">
              <a:ext uri="{FF2B5EF4-FFF2-40B4-BE49-F238E27FC236}">
                <a16:creationId xmlns:a16="http://schemas.microsoft.com/office/drawing/2014/main" id="{9D6BE75D-6DBB-49BF-A353-17BFEC4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More than 15 hrs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56F9BEF3-33E3-4842-9CE5-FD4F96E4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59736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3%">
            <a:extLst xmlns:a="http://schemas.openxmlformats.org/drawingml/2006/main">
              <a:ext uri="{FF2B5EF4-FFF2-40B4-BE49-F238E27FC236}">
                <a16:creationId xmlns:a16="http://schemas.microsoft.com/office/drawing/2014/main" id="{A7887C4E-4D36-4BE2-B490-E472FFCD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54021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0DDF048-BC34-4895-B364-7C6CCFDB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493" y="4800600"/>
            <a:ext cx="225510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32%">
            <a:extLst xmlns:a="http://schemas.openxmlformats.org/drawingml/2006/main">
              <a:ext uri="{FF2B5EF4-FFF2-40B4-BE49-F238E27FC236}">
                <a16:creationId xmlns:a16="http://schemas.microsoft.com/office/drawing/2014/main" id="{79CA9FA5-1A72-48CD-898A-7CC6347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93" y="4905375"/>
            <a:ext cx="21979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1BF492F-8C6E-4879-8F52-89D1D3A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01" y="4800600"/>
            <a:ext cx="173831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5%">
            <a:extLst xmlns:a="http://schemas.openxmlformats.org/drawingml/2006/main">
              <a:ext uri="{FF2B5EF4-FFF2-40B4-BE49-F238E27FC236}">
                <a16:creationId xmlns:a16="http://schemas.microsoft.com/office/drawing/2014/main" id="{988098A0-5280-4C72-84B9-3CFAAAD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1" y="4905375"/>
            <a:ext cx="16811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6C89BD47-8D30-46BB-AF8C-9E8F675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914" y="4800600"/>
            <a:ext cx="136246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0%">
            <a:extLst xmlns:a="http://schemas.openxmlformats.org/drawingml/2006/main">
              <a:ext uri="{FF2B5EF4-FFF2-40B4-BE49-F238E27FC236}">
                <a16:creationId xmlns:a16="http://schemas.microsoft.com/office/drawing/2014/main" id="{53766011-626B-4CE2-9353-7FDF56C0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14" y="4905375"/>
            <a:ext cx="13053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83" name="n=148">
            <a:extLst xmlns:a="http://schemas.openxmlformats.org/drawingml/2006/main">
              <a:ext uri="{FF2B5EF4-FFF2-40B4-BE49-F238E27FC236}">
                <a16:creationId xmlns:a16="http://schemas.microsoft.com/office/drawing/2014/main" id="{AEE1BA63-0A9C-4AF6-90C5-1027DB1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n=148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22ED1F0-CF14-4998-9ADA-1E739A6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CF3A29F5-E008-4AB0-974E-795047E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C9266015-FE9E-433C-9399-F0FA1AB1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A180E62E-1B54-4A06-B55E-C5F40D0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FF770ABB-CBBE-4CD7-B5A5-263E034D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4179D3BE-519E-4319-B324-AD630D4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C79B2415-C853-4C02-B729-8CC6B39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3CD76AEB-2410-4AD6-BAFC-6877A293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C15C2548-3665-43E1-81C9-5FB0B1C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Desired department and CGPA</a:t>
            </a:r>
          </a:p>
        </p:txBody>
      </p:sp>
      <p:sp>
        <p:nvSpPr>
          <p:cNvPr id="534" name="Not at all what I wanted">
            <a:extLst xmlns:a="http://schemas.openxmlformats.org/drawingml/2006/main">
              <a:ext uri="{FF2B5EF4-FFF2-40B4-BE49-F238E27FC236}">
                <a16:creationId xmlns:a16="http://schemas.microsoft.com/office/drawing/2014/main" id="{1F50F564-D3C8-487B-8BB3-4E920B4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Not at all what I wanted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D4ABE00-6890-4E70-8F34-3D49F748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9797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8%">
            <a:extLst xmlns:a="http://schemas.openxmlformats.org/drawingml/2006/main">
              <a:ext uri="{FF2B5EF4-FFF2-40B4-BE49-F238E27FC236}">
                <a16:creationId xmlns:a16="http://schemas.microsoft.com/office/drawing/2014/main" id="{E43DC5BF-F574-4B95-A051-20D00EA2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9225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F40EB25-E1CC-4372-BBB8-3F88519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870" y="1905000"/>
            <a:ext cx="212460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31%">
            <a:extLst xmlns:a="http://schemas.openxmlformats.org/drawingml/2006/main">
              <a:ext uri="{FF2B5EF4-FFF2-40B4-BE49-F238E27FC236}">
                <a16:creationId xmlns:a16="http://schemas.microsoft.com/office/drawing/2014/main" id="{EA51A354-775C-45BC-A9B6-A5811B08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970" y="2009775"/>
            <a:ext cx="20674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C9F2B437-F675-4C03-B3D1-E1E4B0E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474" y="1905000"/>
            <a:ext cx="159345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3%">
            <a:extLst xmlns:a="http://schemas.openxmlformats.org/drawingml/2006/main">
              <a:ext uri="{FF2B5EF4-FFF2-40B4-BE49-F238E27FC236}">
                <a16:creationId xmlns:a16="http://schemas.microsoft.com/office/drawing/2014/main" id="{59D0EC28-B218-45F9-84B9-5194CCB6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74" y="2009775"/>
            <a:ext cx="15363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463D124-ABD5-49AA-B43B-DFEFE8C0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927" y="1905000"/>
            <a:ext cx="125544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18%">
            <a:extLst xmlns:a="http://schemas.openxmlformats.org/drawingml/2006/main">
              <a:ext uri="{FF2B5EF4-FFF2-40B4-BE49-F238E27FC236}">
                <a16:creationId xmlns:a16="http://schemas.microsoft.com/office/drawing/2014/main" id="{E25F6198-B4D4-4E87-9251-6B065D2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027" y="2009775"/>
            <a:ext cx="11982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43" name="n=144">
            <a:extLst xmlns:a="http://schemas.openxmlformats.org/drawingml/2006/main">
              <a:ext uri="{FF2B5EF4-FFF2-40B4-BE49-F238E27FC236}">
                <a16:creationId xmlns:a16="http://schemas.microsoft.com/office/drawing/2014/main" id="{9424D5B4-F87D-4680-9615-6A7A095A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n=144</a:t>
            </a:r>
          </a:p>
        </p:txBody>
      </p:sp>
      <p:sp>
        <p:nvSpPr>
          <p:cNvPr id="544" name="Mostly different">
            <a:extLst xmlns:a="http://schemas.openxmlformats.org/drawingml/2006/main">
              <a:ext uri="{FF2B5EF4-FFF2-40B4-BE49-F238E27FC236}">
                <a16:creationId xmlns:a16="http://schemas.microsoft.com/office/drawing/2014/main" id="{3718D5B7-61FC-402A-ACC8-10E365A9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different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90FCFFA-3990-4B07-BB4E-464D59B0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2317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33%">
            <a:extLst xmlns:a="http://schemas.openxmlformats.org/drawingml/2006/main">
              <a:ext uri="{FF2B5EF4-FFF2-40B4-BE49-F238E27FC236}">
                <a16:creationId xmlns:a16="http://schemas.microsoft.com/office/drawing/2014/main" id="{5D7C3CF4-AFD9-474D-BFA0-018CD1C8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226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108A24A-99A4-4300-A6B6-016DD7A0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75" y="2628900"/>
            <a:ext cx="166273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4%">
            <a:extLst xmlns:a="http://schemas.openxmlformats.org/drawingml/2006/main">
              <a:ext uri="{FF2B5EF4-FFF2-40B4-BE49-F238E27FC236}">
                <a16:creationId xmlns:a16="http://schemas.microsoft.com/office/drawing/2014/main" id="{D880C110-517B-45A1-AD0C-3307361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975" y="2733675"/>
            <a:ext cx="160558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854E0E9B-2775-447D-B7DF-E9E6E0E9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609" y="2628900"/>
            <a:ext cx="156196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2%">
            <a:extLst xmlns:a="http://schemas.openxmlformats.org/drawingml/2006/main">
              <a:ext uri="{FF2B5EF4-FFF2-40B4-BE49-F238E27FC236}">
                <a16:creationId xmlns:a16="http://schemas.microsoft.com/office/drawing/2014/main" id="{CC078C4D-5E42-44CD-BA09-B8A70C2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709" y="2733675"/>
            <a:ext cx="150481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2C69F7F-8BB2-41CB-A167-4388D31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571" y="2628900"/>
            <a:ext cx="141080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0%">
            <a:extLst xmlns:a="http://schemas.openxmlformats.org/drawingml/2006/main">
              <a:ext uri="{FF2B5EF4-FFF2-40B4-BE49-F238E27FC236}">
                <a16:creationId xmlns:a16="http://schemas.microsoft.com/office/drawing/2014/main" id="{8CDD0D83-2FE2-474D-B9B1-939FA893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671" y="2733675"/>
            <a:ext cx="13536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53" name="n=138">
            <a:extLst xmlns:a="http://schemas.openxmlformats.org/drawingml/2006/main">
              <a:ext uri="{FF2B5EF4-FFF2-40B4-BE49-F238E27FC236}">
                <a16:creationId xmlns:a16="http://schemas.microsoft.com/office/drawing/2014/main" id="{22CE227A-168E-4680-B739-65E4305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n=138</a:t>
            </a:r>
          </a:p>
        </p:txBody>
      </p:sp>
      <p:sp>
        <p:nvSpPr>
          <p:cNvPr id="554" name="Somewhat different">
            <a:extLst xmlns:a="http://schemas.openxmlformats.org/drawingml/2006/main">
              <a:ext uri="{FF2B5EF4-FFF2-40B4-BE49-F238E27FC236}">
                <a16:creationId xmlns:a16="http://schemas.microsoft.com/office/drawing/2014/main" id="{6F2E9840-8612-4BBB-8603-0F449190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Somewhat different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D44FDAB-8872-4653-B23C-DE07D92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4785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21%">
            <a:extLst xmlns:a="http://schemas.openxmlformats.org/drawingml/2006/main">
              <a:ext uri="{FF2B5EF4-FFF2-40B4-BE49-F238E27FC236}">
                <a16:creationId xmlns:a16="http://schemas.microsoft.com/office/drawing/2014/main" id="{C02C37CC-A4F3-4DBC-B5BE-486A4A7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4214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7B6D807-9F22-47BD-944B-EBA0B0DA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690" y="3352800"/>
            <a:ext cx="2317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3%">
            <a:extLst xmlns:a="http://schemas.openxmlformats.org/drawingml/2006/main">
              <a:ext uri="{FF2B5EF4-FFF2-40B4-BE49-F238E27FC236}">
                <a16:creationId xmlns:a16="http://schemas.microsoft.com/office/drawing/2014/main" id="{60A36C94-3EFE-43EE-AB10-D15C2B0F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790" y="3457575"/>
            <a:ext cx="226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4674443-474D-451D-A9B9-0E634EB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440" y="3352800"/>
            <a:ext cx="191813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8%">
            <a:extLst xmlns:a="http://schemas.openxmlformats.org/drawingml/2006/main">
              <a:ext uri="{FF2B5EF4-FFF2-40B4-BE49-F238E27FC236}">
                <a16:creationId xmlns:a16="http://schemas.microsoft.com/office/drawing/2014/main" id="{D9FE81B1-1AEA-496A-A63A-08409DE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540" y="3457575"/>
            <a:ext cx="18609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8D7EEA3C-1AE0-4923-A697-02EEDA3A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578" y="3352800"/>
            <a:ext cx="123879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18%">
            <a:extLst xmlns:a="http://schemas.openxmlformats.org/drawingml/2006/main">
              <a:ext uri="{FF2B5EF4-FFF2-40B4-BE49-F238E27FC236}">
                <a16:creationId xmlns:a16="http://schemas.microsoft.com/office/drawing/2014/main" id="{AB1F7F42-B041-4CA6-AADD-4672814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678" y="3457575"/>
            <a:ext cx="118164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3" name="n=174">
            <a:extLst xmlns:a="http://schemas.openxmlformats.org/drawingml/2006/main">
              <a:ext uri="{FF2B5EF4-FFF2-40B4-BE49-F238E27FC236}">
                <a16:creationId xmlns:a16="http://schemas.microsoft.com/office/drawing/2014/main" id="{236D3C60-1ED1-46B0-969A-49CD864D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n=174</a:t>
            </a:r>
          </a:p>
        </p:txBody>
      </p:sp>
      <p:sp>
        <p:nvSpPr>
          <p:cNvPr id="564" name="Close to what I wanted">
            <a:extLst xmlns:a="http://schemas.openxmlformats.org/drawingml/2006/main">
              <a:ext uri="{FF2B5EF4-FFF2-40B4-BE49-F238E27FC236}">
                <a16:creationId xmlns:a16="http://schemas.microsoft.com/office/drawing/2014/main" id="{821F7993-5330-467B-B031-AB6F7AB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Close to what I wanted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68C45CA7-9530-4B34-968D-C6F0F94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2538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18%">
            <a:extLst xmlns:a="http://schemas.openxmlformats.org/drawingml/2006/main">
              <a:ext uri="{FF2B5EF4-FFF2-40B4-BE49-F238E27FC236}">
                <a16:creationId xmlns:a16="http://schemas.microsoft.com/office/drawing/2014/main" id="{DE166358-509D-46FF-A1CE-E0E27D1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1967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A2E1F0AE-B349-452B-99E8-CF750ED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990" y="4076700"/>
            <a:ext cx="19662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8%">
            <a:extLst xmlns:a="http://schemas.openxmlformats.org/drawingml/2006/main">
              <a:ext uri="{FF2B5EF4-FFF2-40B4-BE49-F238E27FC236}">
                <a16:creationId xmlns:a16="http://schemas.microsoft.com/office/drawing/2014/main" id="{A7CFBDB7-75D5-4280-B7EB-E1955458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090" y="4181475"/>
            <a:ext cx="1909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EC45747-03BB-4773-9A51-89C7748A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278" y="4076700"/>
            <a:ext cx="18523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27%">
            <a:extLst xmlns:a="http://schemas.openxmlformats.org/drawingml/2006/main">
              <a:ext uri="{FF2B5EF4-FFF2-40B4-BE49-F238E27FC236}">
                <a16:creationId xmlns:a16="http://schemas.microsoft.com/office/drawing/2014/main" id="{0753EC11-5217-4B35-8B9A-D7881BFE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378" y="4181475"/>
            <a:ext cx="179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7B67E4D-2F33-492B-8C3C-ABB42C8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578" y="4076700"/>
            <a:ext cx="188079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7%">
            <a:extLst xmlns:a="http://schemas.openxmlformats.org/drawingml/2006/main">
              <a:ext uri="{FF2B5EF4-FFF2-40B4-BE49-F238E27FC236}">
                <a16:creationId xmlns:a16="http://schemas.microsoft.com/office/drawing/2014/main" id="{6E315094-8541-49BD-A729-EBDAFE8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678" y="4181475"/>
            <a:ext cx="182364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73" name="n=244">
            <a:extLst xmlns:a="http://schemas.openxmlformats.org/drawingml/2006/main">
              <a:ext uri="{FF2B5EF4-FFF2-40B4-BE49-F238E27FC236}">
                <a16:creationId xmlns:a16="http://schemas.microsoft.com/office/drawing/2014/main" id="{C2A30120-DD03-4CE5-B517-DECE4EA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n=244</a:t>
            </a:r>
          </a:p>
        </p:txBody>
      </p:sp>
      <p:sp>
        <p:nvSpPr>
          <p:cNvPr id="574" name="Yes, exactly what I wanted">
            <a:extLst xmlns:a="http://schemas.openxmlformats.org/drawingml/2006/main">
              <a:ext uri="{FF2B5EF4-FFF2-40B4-BE49-F238E27FC236}">
                <a16:creationId xmlns:a16="http://schemas.microsoft.com/office/drawing/2014/main" id="{D36F2B64-533C-4B56-919E-987E797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Yes, exactly what I wanted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DD4F495-BBF5-4EB3-95C8-4E5CEE63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158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17%">
            <a:extLst xmlns:a="http://schemas.openxmlformats.org/drawingml/2006/main">
              <a:ext uri="{FF2B5EF4-FFF2-40B4-BE49-F238E27FC236}">
                <a16:creationId xmlns:a16="http://schemas.microsoft.com/office/drawing/2014/main" id="{B113C637-9D0F-4D24-BC87-E3E755E5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10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48A759BE-7919-4A75-B596-F2071B81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4800600"/>
            <a:ext cx="199394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9%">
            <a:extLst xmlns:a="http://schemas.openxmlformats.org/drawingml/2006/main">
              <a:ext uri="{FF2B5EF4-FFF2-40B4-BE49-F238E27FC236}">
                <a16:creationId xmlns:a16="http://schemas.microsoft.com/office/drawing/2014/main" id="{00CB7921-B8E2-4BB7-83F8-E9CBD09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4905375"/>
            <a:ext cx="193679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2C36EFD-BCB5-4FC2-B6D2-2AE10CB7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47" y="4800600"/>
            <a:ext cx="214732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31%">
            <a:extLst xmlns:a="http://schemas.openxmlformats.org/drawingml/2006/main">
              <a:ext uri="{FF2B5EF4-FFF2-40B4-BE49-F238E27FC236}">
                <a16:creationId xmlns:a16="http://schemas.microsoft.com/office/drawing/2014/main" id="{E9B0B2BB-405D-44FB-B5FC-CF27F05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47" y="4905375"/>
            <a:ext cx="20901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593C7DA-9BDA-43D4-A69B-623942EE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274" y="4800600"/>
            <a:ext cx="165310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4%">
            <a:extLst xmlns:a="http://schemas.openxmlformats.org/drawingml/2006/main">
              <a:ext uri="{FF2B5EF4-FFF2-40B4-BE49-F238E27FC236}">
                <a16:creationId xmlns:a16="http://schemas.microsoft.com/office/drawing/2014/main" id="{8FB37369-9759-49A2-AA5C-3EB62A1E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374" y="4905375"/>
            <a:ext cx="159595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83" name="n=408">
            <a:extLst xmlns:a="http://schemas.openxmlformats.org/drawingml/2006/main">
              <a:ext uri="{FF2B5EF4-FFF2-40B4-BE49-F238E27FC236}">
                <a16:creationId xmlns:a16="http://schemas.microsoft.com/office/drawing/2014/main" id="{CB7939D6-C78B-45CF-94CB-4548E85F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n=408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74D08ECF-D0E5-4CD8-9F53-4A23D580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7D26BC27-9378-4915-A399-F0A7AA3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5474C4B-59A0-443B-BD04-1D21C67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011B52F7-C3BE-4439-8578-EECDC4AF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9786784-23B1-4DC3-AFE3-850ADB7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E11F95B9-E3EB-4E4E-8798-78D6C13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B9D36B1E-8514-4892-839E-909C912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BA4D24B2-2775-4150-8BFA-5644162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E645C260-87DD-4AAF-B03E-0261592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Support and CGPA</a:t>
            </a:r>
          </a:p>
        </p:txBody>
      </p:sp>
      <p:sp>
        <p:nvSpPr>
          <p:cNvPr id="534" name="No support">
            <a:extLst xmlns:a="http://schemas.openxmlformats.org/drawingml/2006/main">
              <a:ext uri="{FF2B5EF4-FFF2-40B4-BE49-F238E27FC236}">
                <a16:creationId xmlns:a16="http://schemas.microsoft.com/office/drawing/2014/main" id="{D1E0881A-FF0B-4C60-976E-53F5A35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No support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7B0AF86-F1D6-40F6-81D4-057AC032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71513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5%">
            <a:extLst xmlns:a="http://schemas.openxmlformats.org/drawingml/2006/main">
              <a:ext uri="{FF2B5EF4-FFF2-40B4-BE49-F238E27FC236}">
                <a16:creationId xmlns:a16="http://schemas.microsoft.com/office/drawing/2014/main" id="{85F701B8-3297-4C7F-89CA-674EEA88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657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71E70B5-20C8-4CA6-8B63-0AD86D5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260" y="1905000"/>
            <a:ext cx="18078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6%">
            <a:extLst xmlns:a="http://schemas.openxmlformats.org/drawingml/2006/main">
              <a:ext uri="{FF2B5EF4-FFF2-40B4-BE49-F238E27FC236}">
                <a16:creationId xmlns:a16="http://schemas.microsoft.com/office/drawing/2014/main" id="{94D1E499-4749-46EC-A3B1-27EC88F5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60" y="2009775"/>
            <a:ext cx="17506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94465DC-282B-40A8-AAB6-3B8634FD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105" y="1905000"/>
            <a:ext cx="18078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6%">
            <a:extLst xmlns:a="http://schemas.openxmlformats.org/drawingml/2006/main">
              <a:ext uri="{FF2B5EF4-FFF2-40B4-BE49-F238E27FC236}">
                <a16:creationId xmlns:a16="http://schemas.microsoft.com/office/drawing/2014/main" id="{316CB0D3-2CB2-4A82-B612-F651BD3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205" y="2009775"/>
            <a:ext cx="17506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22BE65A-DA39-436A-B2FE-6F7DBBF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1905000"/>
            <a:ext cx="16224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3%">
            <a:extLst xmlns:a="http://schemas.openxmlformats.org/drawingml/2006/main">
              <a:ext uri="{FF2B5EF4-FFF2-40B4-BE49-F238E27FC236}">
                <a16:creationId xmlns:a16="http://schemas.microsoft.com/office/drawing/2014/main" id="{67B000F3-616A-4A70-A485-45201F4B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0" y="2009775"/>
            <a:ext cx="156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43" name="n=150">
            <a:extLst xmlns:a="http://schemas.openxmlformats.org/drawingml/2006/main">
              <a:ext uri="{FF2B5EF4-FFF2-40B4-BE49-F238E27FC236}">
                <a16:creationId xmlns:a16="http://schemas.microsoft.com/office/drawing/2014/main" id="{1F7BD537-A4C5-44F2-9665-84B7763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n=150</a:t>
            </a:r>
          </a:p>
        </p:txBody>
      </p:sp>
      <p:sp>
        <p:nvSpPr>
          <p:cNvPr id="544" name="Very little support">
            <a:extLst xmlns:a="http://schemas.openxmlformats.org/drawingml/2006/main">
              <a:ext uri="{FF2B5EF4-FFF2-40B4-BE49-F238E27FC236}">
                <a16:creationId xmlns:a16="http://schemas.microsoft.com/office/drawing/2014/main" id="{CD4CE4CE-4EA7-4109-9734-E910A86B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little support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8110E0B-2E47-427C-B95B-75AE5522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98086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8%">
            <a:extLst xmlns:a="http://schemas.openxmlformats.org/drawingml/2006/main">
              <a:ext uri="{FF2B5EF4-FFF2-40B4-BE49-F238E27FC236}">
                <a16:creationId xmlns:a16="http://schemas.microsoft.com/office/drawing/2014/main" id="{4058CE26-E860-4463-A1D1-8E5E8298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92371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0D56D3E-70DC-4D70-B610-049CCA3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93" y="2628900"/>
            <a:ext cx="173831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25%">
            <a:extLst xmlns:a="http://schemas.openxmlformats.org/drawingml/2006/main">
              <a:ext uri="{FF2B5EF4-FFF2-40B4-BE49-F238E27FC236}">
                <a16:creationId xmlns:a16="http://schemas.microsoft.com/office/drawing/2014/main" id="{1D40E7A0-A045-4968-B2A7-052B475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093" y="2733675"/>
            <a:ext cx="16811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ABC3684-7076-4DF6-A5E3-37B05E4B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05" y="2628900"/>
            <a:ext cx="169788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4%">
            <a:extLst xmlns:a="http://schemas.openxmlformats.org/drawingml/2006/main">
              <a:ext uri="{FF2B5EF4-FFF2-40B4-BE49-F238E27FC236}">
                <a16:creationId xmlns:a16="http://schemas.microsoft.com/office/drawing/2014/main" id="{23CA0931-A240-4A36-A329-AAE4E8C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405" y="2733675"/>
            <a:ext cx="16407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DC8E9F8-445B-4822-9FC9-D6E3039F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192" y="2628900"/>
            <a:ext cx="153618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2%">
            <a:extLst xmlns:a="http://schemas.openxmlformats.org/drawingml/2006/main">
              <a:ext uri="{FF2B5EF4-FFF2-40B4-BE49-F238E27FC236}">
                <a16:creationId xmlns:a16="http://schemas.microsoft.com/office/drawing/2014/main" id="{1CDE1EB6-7BF1-4FEE-ACED-98014DF9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292" y="2733675"/>
            <a:ext cx="14790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53" name="n=172">
            <a:extLst xmlns:a="http://schemas.openxmlformats.org/drawingml/2006/main">
              <a:ext uri="{FF2B5EF4-FFF2-40B4-BE49-F238E27FC236}">
                <a16:creationId xmlns:a16="http://schemas.microsoft.com/office/drawing/2014/main" id="{B092F0A8-CD89-4608-90D8-E79E886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n=172</a:t>
            </a:r>
          </a:p>
        </p:txBody>
      </p:sp>
      <p:sp>
        <p:nvSpPr>
          <p:cNvPr id="554" name="Some support">
            <a:extLst xmlns:a="http://schemas.openxmlformats.org/drawingml/2006/main">
              <a:ext uri="{FF2B5EF4-FFF2-40B4-BE49-F238E27FC236}">
                <a16:creationId xmlns:a16="http://schemas.microsoft.com/office/drawing/2014/main" id="{B7E00B0F-6843-4F14-AE08-93052167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 support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B830FE8D-CAE5-4CE0-A502-BA51D16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3085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9%">
            <a:extLst xmlns:a="http://schemas.openxmlformats.org/drawingml/2006/main">
              <a:ext uri="{FF2B5EF4-FFF2-40B4-BE49-F238E27FC236}">
                <a16:creationId xmlns:a16="http://schemas.microsoft.com/office/drawing/2014/main" id="{58091ECD-E5F7-4666-B3FD-1FA6BF2A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2513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C02A49D-45D1-46D3-8F2C-E69D502C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670" y="3352800"/>
            <a:ext cx="259143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7%">
            <a:extLst xmlns:a="http://schemas.openxmlformats.org/drawingml/2006/main">
              <a:ext uri="{FF2B5EF4-FFF2-40B4-BE49-F238E27FC236}">
                <a16:creationId xmlns:a16="http://schemas.microsoft.com/office/drawing/2014/main" id="{15AEFED7-A8E5-4214-9AEC-F88FE03E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770" y="3457575"/>
            <a:ext cx="25342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585A4FDC-1DB4-450A-91B8-FD95584E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103" y="3352800"/>
            <a:ext cx="177038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5%">
            <a:extLst xmlns:a="http://schemas.openxmlformats.org/drawingml/2006/main">
              <a:ext uri="{FF2B5EF4-FFF2-40B4-BE49-F238E27FC236}">
                <a16:creationId xmlns:a16="http://schemas.microsoft.com/office/drawing/2014/main" id="{5581858B-8030-48E4-BE84-E2581413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203" y="3457575"/>
            <a:ext cx="17132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517621A-017C-4E43-A52B-285AAD8B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488" y="3352800"/>
            <a:ext cx="128288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18%">
            <a:extLst xmlns:a="http://schemas.openxmlformats.org/drawingml/2006/main">
              <a:ext uri="{FF2B5EF4-FFF2-40B4-BE49-F238E27FC236}">
                <a16:creationId xmlns:a16="http://schemas.microsoft.com/office/drawing/2014/main" id="{FD6AD43E-F2D2-4827-9C2F-2A407B9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588" y="3457575"/>
            <a:ext cx="12257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3" name="n=271">
            <a:extLst xmlns:a="http://schemas.openxmlformats.org/drawingml/2006/main">
              <a:ext uri="{FF2B5EF4-FFF2-40B4-BE49-F238E27FC236}">
                <a16:creationId xmlns:a16="http://schemas.microsoft.com/office/drawing/2014/main" id="{6C58C922-2F3D-4EBF-BB43-85C3F1C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n=271</a:t>
            </a:r>
          </a:p>
        </p:txBody>
      </p:sp>
      <p:sp>
        <p:nvSpPr>
          <p:cNvPr id="564" name="Good support">
            <a:extLst xmlns:a="http://schemas.openxmlformats.org/drawingml/2006/main">
              <a:ext uri="{FF2B5EF4-FFF2-40B4-BE49-F238E27FC236}">
                <a16:creationId xmlns:a16="http://schemas.microsoft.com/office/drawing/2014/main" id="{7D8B9FEF-AD98-4819-A2A2-6C21750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Good support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E15EE7F-69EF-4974-87E3-7CF063E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21792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18%">
            <a:extLst xmlns:a="http://schemas.openxmlformats.org/drawingml/2006/main">
              <a:ext uri="{FF2B5EF4-FFF2-40B4-BE49-F238E27FC236}">
                <a16:creationId xmlns:a16="http://schemas.microsoft.com/office/drawing/2014/main" id="{4E910F36-9AE7-4BA5-9557-9817B819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16077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6A27BE1-BAE0-4E5E-911E-5FA9D65F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051" y="4076700"/>
            <a:ext cx="190439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7%">
            <a:extLst xmlns:a="http://schemas.openxmlformats.org/drawingml/2006/main">
              <a:ext uri="{FF2B5EF4-FFF2-40B4-BE49-F238E27FC236}">
                <a16:creationId xmlns:a16="http://schemas.microsoft.com/office/drawing/2014/main" id="{21F55102-44E5-4370-A933-1FD88B4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51" y="4181475"/>
            <a:ext cx="18472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F032DF45-E24A-498C-97E4-7C3C470B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44" y="4076700"/>
            <a:ext cx="212583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31%">
            <a:extLst xmlns:a="http://schemas.openxmlformats.org/drawingml/2006/main">
              <a:ext uri="{FF2B5EF4-FFF2-40B4-BE49-F238E27FC236}">
                <a16:creationId xmlns:a16="http://schemas.microsoft.com/office/drawing/2014/main" id="{2FD8DAAF-236C-4637-B387-107E94D6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44" y="4181475"/>
            <a:ext cx="206868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46D1DA7-5C30-40E9-A4FB-707630FA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279" y="4076700"/>
            <a:ext cx="170509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5%">
            <a:extLst xmlns:a="http://schemas.openxmlformats.org/drawingml/2006/main">
              <a:ext uri="{FF2B5EF4-FFF2-40B4-BE49-F238E27FC236}">
                <a16:creationId xmlns:a16="http://schemas.microsoft.com/office/drawing/2014/main" id="{36771207-707B-4529-8194-6672252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379" y="4181475"/>
            <a:ext cx="164794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3" name="n=314">
            <a:extLst xmlns:a="http://schemas.openxmlformats.org/drawingml/2006/main">
              <a:ext uri="{FF2B5EF4-FFF2-40B4-BE49-F238E27FC236}">
                <a16:creationId xmlns:a16="http://schemas.microsoft.com/office/drawing/2014/main" id="{BCBB3716-5D89-4926-8B26-6E0588D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n=314</a:t>
            </a:r>
          </a:p>
        </p:txBody>
      </p:sp>
      <p:sp>
        <p:nvSpPr>
          <p:cNvPr id="574" name="Strong support">
            <a:extLst xmlns:a="http://schemas.openxmlformats.org/drawingml/2006/main">
              <a:ext uri="{FF2B5EF4-FFF2-40B4-BE49-F238E27FC236}">
                <a16:creationId xmlns:a16="http://schemas.microsoft.com/office/drawing/2014/main" id="{4DB1932D-042A-4760-8E39-8F7D942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Strong support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E1D37DA-CA2F-4DA9-968D-2685531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52210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2%">
            <a:extLst xmlns:a="http://schemas.openxmlformats.org/drawingml/2006/main">
              <a:ext uri="{FF2B5EF4-FFF2-40B4-BE49-F238E27FC236}">
                <a16:creationId xmlns:a16="http://schemas.microsoft.com/office/drawing/2014/main" id="{C1B3CD1A-6567-42C2-8F01-DFB89988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46495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2FC0835B-691D-4614-B05F-12D4BFB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9" y="4800600"/>
            <a:ext cx="179885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6%">
            <a:extLst xmlns:a="http://schemas.openxmlformats.org/drawingml/2006/main">
              <a:ext uri="{FF2B5EF4-FFF2-40B4-BE49-F238E27FC236}">
                <a16:creationId xmlns:a16="http://schemas.microsoft.com/office/drawing/2014/main" id="{72190EC2-871C-4840-A88D-E3E67F0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9" y="4905375"/>
            <a:ext cx="17417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7D1342B-CD93-4725-BEA9-F0126DAC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080" y="4800600"/>
            <a:ext cx="197181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8%">
            <a:extLst xmlns:a="http://schemas.openxmlformats.org/drawingml/2006/main">
              <a:ext uri="{FF2B5EF4-FFF2-40B4-BE49-F238E27FC236}">
                <a16:creationId xmlns:a16="http://schemas.microsoft.com/office/drawing/2014/main" id="{30BE69D9-6C49-46FE-96D5-947CA010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180" y="4905375"/>
            <a:ext cx="191466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276E5891-B529-4F5E-B493-045F152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97" y="4800600"/>
            <a:ext cx="166047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4%">
            <a:extLst xmlns:a="http://schemas.openxmlformats.org/drawingml/2006/main">
              <a:ext uri="{FF2B5EF4-FFF2-40B4-BE49-F238E27FC236}">
                <a16:creationId xmlns:a16="http://schemas.microsoft.com/office/drawing/2014/main" id="{7162DF20-05E7-4364-8775-B8825EB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97" y="4905375"/>
            <a:ext cx="160332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83" name="n=201">
            <a:extLst xmlns:a="http://schemas.openxmlformats.org/drawingml/2006/main">
              <a:ext uri="{FF2B5EF4-FFF2-40B4-BE49-F238E27FC236}">
                <a16:creationId xmlns:a16="http://schemas.microsoft.com/office/drawing/2014/main" id="{93100880-3DD4-4315-824E-0FA5CDA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n=201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FCF6C6EA-1BC6-47C0-BF48-303FF3D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5A1EFBEB-384B-4DE6-9F93-87D0FED7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06F7266-9161-4B26-BBDF-D81D070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76B9B6C4-B86A-4234-A60F-C5E6302C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0B7E115B-C96E-4694-BEA7-FED612AD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6E9DFA9E-3B16-43F8-B79D-E22189D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9E44298-AEA9-43FE-9D5A-D1BADF2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9628939C-5E31-43EF-81BC-7A945B89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FDF95B1D-F3D7-46B7-A367-4E51DCF9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Study environment and CGPA</a:t>
            </a:r>
          </a:p>
        </p:txBody>
      </p:sp>
      <p:sp>
        <p:nvSpPr>
          <p:cNvPr id="534" name="Very distracting">
            <a:extLst xmlns:a="http://schemas.openxmlformats.org/drawingml/2006/main">
              <a:ext uri="{FF2B5EF4-FFF2-40B4-BE49-F238E27FC236}">
                <a16:creationId xmlns:a16="http://schemas.microsoft.com/office/drawing/2014/main" id="{3C6762E4-36B0-4625-ADF0-3420C9EA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distracting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2D9992D-F387-40DC-A966-5B6A25D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209052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30%">
            <a:extLst xmlns:a="http://schemas.openxmlformats.org/drawingml/2006/main">
              <a:ext uri="{FF2B5EF4-FFF2-40B4-BE49-F238E27FC236}">
                <a16:creationId xmlns:a16="http://schemas.microsoft.com/office/drawing/2014/main" id="{F769A0F2-11B7-45BE-B96A-0ED7E65B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20333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2E56304-C6A4-4349-8CEA-38190A6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645" y="1905000"/>
            <a:ext cx="163605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4%">
            <a:extLst xmlns:a="http://schemas.openxmlformats.org/drawingml/2006/main">
              <a:ext uri="{FF2B5EF4-FFF2-40B4-BE49-F238E27FC236}">
                <a16:creationId xmlns:a16="http://schemas.microsoft.com/office/drawing/2014/main" id="{3FE33EB8-FC2B-4B0E-8DAF-62CE8E5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745" y="2009775"/>
            <a:ext cx="15789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87D883A-8E25-4AF7-B2BE-2ACC198C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03" y="1905000"/>
            <a:ext cx="159061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23%">
            <a:extLst xmlns:a="http://schemas.openxmlformats.org/drawingml/2006/main">
              <a:ext uri="{FF2B5EF4-FFF2-40B4-BE49-F238E27FC236}">
                <a16:creationId xmlns:a16="http://schemas.microsoft.com/office/drawing/2014/main" id="{A39A8C17-28E5-4970-AFF3-AD822EA2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803" y="2009775"/>
            <a:ext cx="15334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96780B4-8227-448A-B078-26851FE5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316" y="1905000"/>
            <a:ext cx="163605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24%">
            <a:extLst xmlns:a="http://schemas.openxmlformats.org/drawingml/2006/main">
              <a:ext uri="{FF2B5EF4-FFF2-40B4-BE49-F238E27FC236}">
                <a16:creationId xmlns:a16="http://schemas.microsoft.com/office/drawing/2014/main" id="{60EE6C17-A886-46B8-95AF-F2BC2C2C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416" y="2009775"/>
            <a:ext cx="15789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43" name="n=153">
            <a:extLst xmlns:a="http://schemas.openxmlformats.org/drawingml/2006/main">
              <a:ext uri="{FF2B5EF4-FFF2-40B4-BE49-F238E27FC236}">
                <a16:creationId xmlns:a16="http://schemas.microsoft.com/office/drawing/2014/main" id="{FF65287A-93A2-4C3C-B5AE-D3545BA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n=153</a:t>
            </a:r>
          </a:p>
        </p:txBody>
      </p:sp>
      <p:sp>
        <p:nvSpPr>
          <p:cNvPr id="544" name="Somewhat distracting">
            <a:extLst xmlns:a="http://schemas.openxmlformats.org/drawingml/2006/main">
              <a:ext uri="{FF2B5EF4-FFF2-40B4-BE49-F238E27FC236}">
                <a16:creationId xmlns:a16="http://schemas.microsoft.com/office/drawing/2014/main" id="{827FDE7C-ADA8-44CB-B33B-7AA0975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Somewhat distracting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BA27ADC3-99A7-4161-BD30-F390590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46582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1%">
            <a:extLst xmlns:a="http://schemas.openxmlformats.org/drawingml/2006/main">
              <a:ext uri="{FF2B5EF4-FFF2-40B4-BE49-F238E27FC236}">
                <a16:creationId xmlns:a16="http://schemas.microsoft.com/office/drawing/2014/main" id="{9F073EE8-B3B4-497E-8107-2AADF38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4086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F6C5BAE-BA07-406C-A3E4-465CF76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945" y="2628900"/>
            <a:ext cx="214235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31%">
            <a:extLst xmlns:a="http://schemas.openxmlformats.org/drawingml/2006/main">
              <a:ext uri="{FF2B5EF4-FFF2-40B4-BE49-F238E27FC236}">
                <a16:creationId xmlns:a16="http://schemas.microsoft.com/office/drawing/2014/main" id="{EF8C5ABA-9F84-4568-BC2D-5F365A2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045" y="2733675"/>
            <a:ext cx="20852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31%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D25CC75-749A-4776-8BED-8C33E9C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298" y="2628900"/>
            <a:ext cx="165374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24%">
            <a:extLst xmlns:a="http://schemas.openxmlformats.org/drawingml/2006/main">
              <a:ext uri="{FF2B5EF4-FFF2-40B4-BE49-F238E27FC236}">
                <a16:creationId xmlns:a16="http://schemas.microsoft.com/office/drawing/2014/main" id="{B6204180-D0AD-4E12-BDC8-265E032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398" y="2733675"/>
            <a:ext cx="15965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9AD147B4-4BAB-4269-903C-153B76FC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044" y="2628900"/>
            <a:ext cx="169133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4%">
            <a:extLst xmlns:a="http://schemas.openxmlformats.org/drawingml/2006/main">
              <a:ext uri="{FF2B5EF4-FFF2-40B4-BE49-F238E27FC236}">
                <a16:creationId xmlns:a16="http://schemas.microsoft.com/office/drawing/2014/main" id="{DB2DF94A-BB63-4115-9A35-72378E0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144" y="2733675"/>
            <a:ext cx="16341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53" name="n=185">
            <a:extLst xmlns:a="http://schemas.openxmlformats.org/drawingml/2006/main">
              <a:ext uri="{FF2B5EF4-FFF2-40B4-BE49-F238E27FC236}">
                <a16:creationId xmlns:a16="http://schemas.microsoft.com/office/drawing/2014/main" id="{273001DA-0323-404C-8EB8-A38E583B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n=185</a:t>
            </a:r>
          </a:p>
        </p:txBody>
      </p:sp>
      <p:sp>
        <p:nvSpPr>
          <p:cNvPr id="554" name="Neither good nor bad">
            <a:extLst xmlns:a="http://schemas.openxmlformats.org/drawingml/2006/main">
              <a:ext uri="{FF2B5EF4-FFF2-40B4-BE49-F238E27FC236}">
                <a16:creationId xmlns:a16="http://schemas.microsoft.com/office/drawing/2014/main" id="{A4673D16-A0D1-483B-9492-B36D6BAC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Neither good nor bad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46276AD3-C576-48CA-91E5-5290A5B0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25472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8%">
            <a:extLst xmlns:a="http://schemas.openxmlformats.org/drawingml/2006/main">
              <a:ext uri="{FF2B5EF4-FFF2-40B4-BE49-F238E27FC236}">
                <a16:creationId xmlns:a16="http://schemas.microsoft.com/office/drawing/2014/main" id="{D5D9D6AB-6647-4FB7-81AE-72E3884B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1975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FFAC337-5C31-4DF6-9D36-00EFB39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847" y="3352800"/>
            <a:ext cx="227418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3%">
            <a:extLst xmlns:a="http://schemas.openxmlformats.org/drawingml/2006/main">
              <a:ext uri="{FF2B5EF4-FFF2-40B4-BE49-F238E27FC236}">
                <a16:creationId xmlns:a16="http://schemas.microsoft.com/office/drawing/2014/main" id="{7B29B3D2-F8E5-4C06-8E66-A1845328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947" y="3457575"/>
            <a:ext cx="22170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14B45D88-03DB-404B-A3FB-7966626E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30" y="3352800"/>
            <a:ext cx="198664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29%">
            <a:extLst xmlns:a="http://schemas.openxmlformats.org/drawingml/2006/main">
              <a:ext uri="{FF2B5EF4-FFF2-40B4-BE49-F238E27FC236}">
                <a16:creationId xmlns:a16="http://schemas.microsoft.com/office/drawing/2014/main" id="{13CDB6EE-7E1F-496F-BEEF-75A6270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130" y="3457575"/>
            <a:ext cx="19294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5D66631-B4B2-4E3E-A636-F026301B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673" y="3352800"/>
            <a:ext cx="143770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1%">
            <a:extLst xmlns:a="http://schemas.openxmlformats.org/drawingml/2006/main">
              <a:ext uri="{FF2B5EF4-FFF2-40B4-BE49-F238E27FC236}">
                <a16:creationId xmlns:a16="http://schemas.microsoft.com/office/drawing/2014/main" id="{E958FFF8-E2D1-455C-90A7-18392BB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773" y="3457575"/>
            <a:ext cx="138055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63" name="n=266">
            <a:extLst xmlns:a="http://schemas.openxmlformats.org/drawingml/2006/main">
              <a:ext uri="{FF2B5EF4-FFF2-40B4-BE49-F238E27FC236}">
                <a16:creationId xmlns:a16="http://schemas.microsoft.com/office/drawing/2014/main" id="{7DBB85C9-2683-4747-B5D0-D72B1192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n=266</a:t>
            </a:r>
          </a:p>
        </p:txBody>
      </p:sp>
      <p:sp>
        <p:nvSpPr>
          <p:cNvPr id="564" name="Mostly suitable">
            <a:extLst xmlns:a="http://schemas.openxmlformats.org/drawingml/2006/main">
              <a:ext uri="{FF2B5EF4-FFF2-40B4-BE49-F238E27FC236}">
                <a16:creationId xmlns:a16="http://schemas.microsoft.com/office/drawing/2014/main" id="{38094381-B0E9-4BAD-9CD8-0BABEB98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suitable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C07C373-7D52-4334-8415-580951B4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16227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17%">
            <a:extLst xmlns:a="http://schemas.openxmlformats.org/drawingml/2006/main">
              <a:ext uri="{FF2B5EF4-FFF2-40B4-BE49-F238E27FC236}">
                <a16:creationId xmlns:a16="http://schemas.microsoft.com/office/drawing/2014/main" id="{49857BB4-98E3-420B-AC89-711E653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1051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8BFBE54E-6D0C-4A64-AE0B-E26137A3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398" y="4076700"/>
            <a:ext cx="199829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9%">
            <a:extLst xmlns:a="http://schemas.openxmlformats.org/drawingml/2006/main">
              <a:ext uri="{FF2B5EF4-FFF2-40B4-BE49-F238E27FC236}">
                <a16:creationId xmlns:a16="http://schemas.microsoft.com/office/drawing/2014/main" id="{09164897-6969-41EF-B58E-4F6CE494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498" y="4181475"/>
            <a:ext cx="19411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CB2489A1-8FCE-4A0E-9C70-7D46523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693" y="4076700"/>
            <a:ext cx="22837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33%">
            <a:extLst xmlns:a="http://schemas.openxmlformats.org/drawingml/2006/main">
              <a:ext uri="{FF2B5EF4-FFF2-40B4-BE49-F238E27FC236}">
                <a16:creationId xmlns:a16="http://schemas.microsoft.com/office/drawing/2014/main" id="{CA89A13C-92EB-461B-B7CC-93C48C99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793" y="4181475"/>
            <a:ext cx="22266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33%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7F6082F-E860-4006-9CF4-FBC59A5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459" y="4076700"/>
            <a:ext cx="1508916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2%">
            <a:extLst xmlns:a="http://schemas.openxmlformats.org/drawingml/2006/main">
              <a:ext uri="{FF2B5EF4-FFF2-40B4-BE49-F238E27FC236}">
                <a16:creationId xmlns:a16="http://schemas.microsoft.com/office/drawing/2014/main" id="{92BFE5EB-989A-4676-B7A3-8FA14230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559" y="4181475"/>
            <a:ext cx="145176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73" name="n=341">
            <a:extLst xmlns:a="http://schemas.openxmlformats.org/drawingml/2006/main">
              <a:ext uri="{FF2B5EF4-FFF2-40B4-BE49-F238E27FC236}">
                <a16:creationId xmlns:a16="http://schemas.microsoft.com/office/drawing/2014/main" id="{1DFDF717-2C45-472C-92B1-B162F07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n=341</a:t>
            </a:r>
          </a:p>
        </p:txBody>
      </p:sp>
      <p:sp>
        <p:nvSpPr>
          <p:cNvPr id="574" name="Excellent for focused study">
            <a:extLst xmlns:a="http://schemas.openxmlformats.org/drawingml/2006/main">
              <a:ext uri="{FF2B5EF4-FFF2-40B4-BE49-F238E27FC236}">
                <a16:creationId xmlns:a16="http://schemas.microsoft.com/office/drawing/2014/main" id="{2D344112-20C0-4D7D-8E64-8D0F918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Excellent for focused study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F16E975-3270-47F8-8648-ECCD3C5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96226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8%">
            <a:extLst xmlns:a="http://schemas.openxmlformats.org/drawingml/2006/main">
              <a:ext uri="{FF2B5EF4-FFF2-40B4-BE49-F238E27FC236}">
                <a16:creationId xmlns:a16="http://schemas.microsoft.com/office/drawing/2014/main" id="{70BCE0BF-C0A6-43CB-A797-93D6BC45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90511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A0DFA16-4CB4-43A7-BDD1-4472BC8C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392" y="4800600"/>
            <a:ext cx="183429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6%">
            <a:extLst xmlns:a="http://schemas.openxmlformats.org/drawingml/2006/main">
              <a:ext uri="{FF2B5EF4-FFF2-40B4-BE49-F238E27FC236}">
                <a16:creationId xmlns:a16="http://schemas.microsoft.com/office/drawing/2014/main" id="{35164519-DA78-495D-92A5-240F75F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492" y="4905375"/>
            <a:ext cx="17771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73B20E5-19E6-4BE3-9965-64CB946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685" y="4800600"/>
            <a:ext cx="153568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2%">
            <a:extLst xmlns:a="http://schemas.openxmlformats.org/drawingml/2006/main">
              <a:ext uri="{FF2B5EF4-FFF2-40B4-BE49-F238E27FC236}">
                <a16:creationId xmlns:a16="http://schemas.microsoft.com/office/drawing/2014/main" id="{C6ADB859-DC8E-42E7-87CC-3333711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785" y="4905375"/>
            <a:ext cx="14785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04533AB1-5482-41B1-9A81-36CFD9F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372" y="4800600"/>
            <a:ext cx="162100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3%">
            <a:extLst xmlns:a="http://schemas.openxmlformats.org/drawingml/2006/main">
              <a:ext uri="{FF2B5EF4-FFF2-40B4-BE49-F238E27FC236}">
                <a16:creationId xmlns:a16="http://schemas.microsoft.com/office/drawing/2014/main" id="{C47F34B8-F288-420B-8050-CB083574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472" y="4905375"/>
            <a:ext cx="15638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83" name="n=163">
            <a:extLst xmlns:a="http://schemas.openxmlformats.org/drawingml/2006/main">
              <a:ext uri="{FF2B5EF4-FFF2-40B4-BE49-F238E27FC236}">
                <a16:creationId xmlns:a16="http://schemas.microsoft.com/office/drawing/2014/main" id="{67A25A3A-65A5-4E4D-8A65-046A1F8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n=163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8C0C630E-33D3-4739-8E15-97E92E2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DFBCD036-660D-4C00-8FC0-2E3621A8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B958EC1-9891-4330-AE17-DBBAF795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9DB36425-8C4B-4553-B317-1D935B8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4086C98A-4651-483C-8D90-11F3C5D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B733F10F-31F2-48A3-99F4-FBBEF949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FF756141-B772-4F84-86BC-E900EFC7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0C619846-4FC8-4E1B-9A8D-F7258CA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9C5ED39C-FE97-48F4-9200-01A9DF5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Routine manageability and CGPA</a:t>
            </a:r>
          </a:p>
        </p:txBody>
      </p:sp>
      <p:sp>
        <p:nvSpPr>
          <p:cNvPr id="534" name="Completely unmanageable">
            <a:extLst xmlns:a="http://schemas.openxmlformats.org/drawingml/2006/main">
              <a:ext uri="{FF2B5EF4-FFF2-40B4-BE49-F238E27FC236}">
                <a16:creationId xmlns:a16="http://schemas.microsoft.com/office/drawing/2014/main" id="{3E7F35A0-98BC-4886-8A7F-980CBF2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Completely unmanageable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6C2C2B2-A13E-49F1-8319-6F91051E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05000"/>
            <a:ext cx="189634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36" name="27%">
            <a:extLst xmlns:a="http://schemas.openxmlformats.org/drawingml/2006/main">
              <a:ext uri="{FF2B5EF4-FFF2-40B4-BE49-F238E27FC236}">
                <a16:creationId xmlns:a16="http://schemas.microsoft.com/office/drawing/2014/main" id="{937228A8-928B-4680-ABB9-EF0C1740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9775"/>
            <a:ext cx="183919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AFE1B95-1164-4978-A231-BC45C75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466" y="1905000"/>
            <a:ext cx="189634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38" name="27%">
            <a:extLst xmlns:a="http://schemas.openxmlformats.org/drawingml/2006/main">
              <a:ext uri="{FF2B5EF4-FFF2-40B4-BE49-F238E27FC236}">
                <a16:creationId xmlns:a16="http://schemas.microsoft.com/office/drawing/2014/main" id="{8CC2207C-838E-446C-A3BD-FFD49218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66" y="2009775"/>
            <a:ext cx="183919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603BA1C-224E-46B1-AECD-71E3368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807" y="1905000"/>
            <a:ext cx="2191327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40" name="32%">
            <a:extLst xmlns:a="http://schemas.openxmlformats.org/drawingml/2006/main">
              <a:ext uri="{FF2B5EF4-FFF2-40B4-BE49-F238E27FC236}">
                <a16:creationId xmlns:a16="http://schemas.microsoft.com/office/drawing/2014/main" id="{137C22D4-E8DC-4D85-AF7C-BB44506D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907" y="2009775"/>
            <a:ext cx="21341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171EB80-CE86-4EE8-988D-CD85F3E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134" y="1905000"/>
            <a:ext cx="96924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42" name="14%">
            <a:extLst xmlns:a="http://schemas.openxmlformats.org/drawingml/2006/main">
              <a:ext uri="{FF2B5EF4-FFF2-40B4-BE49-F238E27FC236}">
                <a16:creationId xmlns:a16="http://schemas.microsoft.com/office/drawing/2014/main" id="{22ECD036-73BB-46B3-9F53-5F386E4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234" y="2009775"/>
            <a:ext cx="91209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14%</a:t>
            </a:r>
          </a:p>
        </p:txBody>
      </p:sp>
      <p:sp>
        <p:nvSpPr>
          <p:cNvPr id="543" name="n=165">
            <a:extLst xmlns:a="http://schemas.openxmlformats.org/drawingml/2006/main">
              <a:ext uri="{FF2B5EF4-FFF2-40B4-BE49-F238E27FC236}">
                <a16:creationId xmlns:a16="http://schemas.microsoft.com/office/drawing/2014/main" id="{402DA344-57FF-4511-9FD6-89CCAF6B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002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n=165</a:t>
            </a:r>
          </a:p>
        </p:txBody>
      </p:sp>
      <p:sp>
        <p:nvSpPr>
          <p:cNvPr id="544" name="Difficult to manage">
            <a:extLst xmlns:a="http://schemas.openxmlformats.org/drawingml/2006/main">
              <a:ext uri="{FF2B5EF4-FFF2-40B4-BE49-F238E27FC236}">
                <a16:creationId xmlns:a16="http://schemas.microsoft.com/office/drawing/2014/main" id="{5D315D28-CA58-4F6D-833D-5C3E5B7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Difficult to manage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FBC8498-C278-4D16-941E-59FAB820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48054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46" name="21%">
            <a:extLst xmlns:a="http://schemas.openxmlformats.org/drawingml/2006/main">
              <a:ext uri="{FF2B5EF4-FFF2-40B4-BE49-F238E27FC236}">
                <a16:creationId xmlns:a16="http://schemas.microsoft.com/office/drawing/2014/main" id="{85E9DD1E-CCF1-45EB-95C3-3DB1765C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33675"/>
            <a:ext cx="14233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21%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C760118-E611-4BA4-99C3-1C697892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665" y="2628900"/>
            <a:ext cx="208861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48" name="30%">
            <a:extLst xmlns:a="http://schemas.openxmlformats.org/drawingml/2006/main">
              <a:ext uri="{FF2B5EF4-FFF2-40B4-BE49-F238E27FC236}">
                <a16:creationId xmlns:a16="http://schemas.microsoft.com/office/drawing/2014/main" id="{F8FF8904-48D2-4210-9C53-D9B294F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765" y="2733675"/>
            <a:ext cx="203146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A1F64836-1FF4-438B-81A5-4FD072C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284" y="2628900"/>
            <a:ext cx="134834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50" name="19%">
            <a:extLst xmlns:a="http://schemas.openxmlformats.org/drawingml/2006/main">
              <a:ext uri="{FF2B5EF4-FFF2-40B4-BE49-F238E27FC236}">
                <a16:creationId xmlns:a16="http://schemas.microsoft.com/office/drawing/2014/main" id="{CEA84195-8B0E-400D-BC48-352CC778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384" y="2733675"/>
            <a:ext cx="129119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19%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E915CF4-366C-4F3F-A3D1-C3DF4056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633" y="2628900"/>
            <a:ext cx="203574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52" name="29%">
            <a:extLst xmlns:a="http://schemas.openxmlformats.org/drawingml/2006/main">
              <a:ext uri="{FF2B5EF4-FFF2-40B4-BE49-F238E27FC236}">
                <a16:creationId xmlns:a16="http://schemas.microsoft.com/office/drawing/2014/main" id="{48466A17-1747-458E-8236-1BD51271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33" y="2733675"/>
            <a:ext cx="19785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29%</a:t>
            </a:r>
          </a:p>
        </p:txBody>
      </p:sp>
      <p:sp>
        <p:nvSpPr>
          <p:cNvPr id="553" name="n=263">
            <a:extLst xmlns:a="http://schemas.openxmlformats.org/drawingml/2006/main">
              <a:ext uri="{FF2B5EF4-FFF2-40B4-BE49-F238E27FC236}">
                <a16:creationId xmlns:a16="http://schemas.microsoft.com/office/drawing/2014/main" id="{AA0A1423-802D-44D8-B75C-A73EB74E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241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n=263</a:t>
            </a:r>
          </a:p>
        </p:txBody>
      </p:sp>
      <p:sp>
        <p:nvSpPr>
          <p:cNvPr id="554" name="Average">
            <a:extLst xmlns:a="http://schemas.openxmlformats.org/drawingml/2006/main">
              <a:ext uri="{FF2B5EF4-FFF2-40B4-BE49-F238E27FC236}">
                <a16:creationId xmlns:a16="http://schemas.microsoft.com/office/drawing/2014/main" id="{A9A418D8-693C-4000-8BCA-F55535A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Average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E3BBCB2-7AA0-4578-A1BB-99F48D71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125661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56" name="18%">
            <a:extLst xmlns:a="http://schemas.openxmlformats.org/drawingml/2006/main">
              <a:ext uri="{FF2B5EF4-FFF2-40B4-BE49-F238E27FC236}">
                <a16:creationId xmlns:a16="http://schemas.microsoft.com/office/drawing/2014/main" id="{046D4389-4F3F-491C-B2CC-4AFECC3E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57575"/>
            <a:ext cx="119946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18%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8FD43389-EB72-4DED-B124-199F66C8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736" y="3352800"/>
            <a:ext cx="2220014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58" name="32%">
            <a:extLst xmlns:a="http://schemas.openxmlformats.org/drawingml/2006/main">
              <a:ext uri="{FF2B5EF4-FFF2-40B4-BE49-F238E27FC236}">
                <a16:creationId xmlns:a16="http://schemas.microsoft.com/office/drawing/2014/main" id="{95B6A70C-353C-4F3F-AB98-2949B31C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836" y="3457575"/>
            <a:ext cx="216286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32%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197B879D-E750-4B4F-90B5-EB62054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094352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60" name="30%">
            <a:extLst xmlns:a="http://schemas.openxmlformats.org/drawingml/2006/main">
              <a:ext uri="{FF2B5EF4-FFF2-40B4-BE49-F238E27FC236}">
                <a16:creationId xmlns:a16="http://schemas.microsoft.com/office/drawing/2014/main" id="{78D1E63A-EE2C-435C-B041-8AD61C41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203720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36F4EC8C-8383-493E-805E-8B89FA1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102" y="3352800"/>
            <a:ext cx="138227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62" name="20%">
            <a:extLst xmlns:a="http://schemas.openxmlformats.org/drawingml/2006/main">
              <a:ext uri="{FF2B5EF4-FFF2-40B4-BE49-F238E27FC236}">
                <a16:creationId xmlns:a16="http://schemas.microsoft.com/office/drawing/2014/main" id="{589E2576-FE19-462D-9BC2-8F8EA75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202" y="3457575"/>
            <a:ext cx="13251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3" name="n=332">
            <a:extLst xmlns:a="http://schemas.openxmlformats.org/drawingml/2006/main">
              <a:ext uri="{FF2B5EF4-FFF2-40B4-BE49-F238E27FC236}">
                <a16:creationId xmlns:a16="http://schemas.microsoft.com/office/drawing/2014/main" id="{F94B50DD-36E0-4A49-882F-C3A8A807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n=332</a:t>
            </a:r>
          </a:p>
        </p:txBody>
      </p:sp>
      <p:sp>
        <p:nvSpPr>
          <p:cNvPr id="564" name="Mostly manageable">
            <a:extLst xmlns:a="http://schemas.openxmlformats.org/drawingml/2006/main">
              <a:ext uri="{FF2B5EF4-FFF2-40B4-BE49-F238E27FC236}">
                <a16:creationId xmlns:a16="http://schemas.microsoft.com/office/drawing/2014/main" id="{4D7A617E-413D-44FC-B445-9BE5CA2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Mostly manageable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4E16F0D-20F3-4B42-8BD9-81FDE1A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76700"/>
            <a:ext cx="137274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66" name="20%">
            <a:extLst xmlns:a="http://schemas.openxmlformats.org/drawingml/2006/main">
              <a:ext uri="{FF2B5EF4-FFF2-40B4-BE49-F238E27FC236}">
                <a16:creationId xmlns:a16="http://schemas.microsoft.com/office/drawing/2014/main" id="{9192329C-F09F-4819-914E-73EC1F0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81475"/>
            <a:ext cx="13155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20%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F967116-C6AC-44E5-BB00-A066506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870" y="4076700"/>
            <a:ext cx="188006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68" name="27%">
            <a:extLst xmlns:a="http://schemas.openxmlformats.org/drawingml/2006/main">
              <a:ext uri="{FF2B5EF4-FFF2-40B4-BE49-F238E27FC236}">
                <a16:creationId xmlns:a16="http://schemas.microsoft.com/office/drawing/2014/main" id="{0663B37E-0065-42C0-827B-1A79195A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970" y="4181475"/>
            <a:ext cx="18229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27%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9FD31E1-7562-48FD-A3B6-237BA81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33" y="4076700"/>
            <a:ext cx="2088959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70" name="30%">
            <a:extLst xmlns:a="http://schemas.openxmlformats.org/drawingml/2006/main">
              <a:ext uri="{FF2B5EF4-FFF2-40B4-BE49-F238E27FC236}">
                <a16:creationId xmlns:a16="http://schemas.microsoft.com/office/drawing/2014/main" id="{90E5CD6A-F510-4D81-9FA5-5999AA18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033" y="4181475"/>
            <a:ext cx="20318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30%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8EFAECF-242F-4C11-9482-C9792B95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892" y="4076700"/>
            <a:ext cx="1611483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72" name="23%">
            <a:extLst xmlns:a="http://schemas.openxmlformats.org/drawingml/2006/main">
              <a:ext uri="{FF2B5EF4-FFF2-40B4-BE49-F238E27FC236}">
                <a16:creationId xmlns:a16="http://schemas.microsoft.com/office/drawing/2014/main" id="{0724A395-17D1-4342-9FB1-02B09355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992" y="4181475"/>
            <a:ext cx="15543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23%</a:t>
            </a:r>
          </a:p>
        </p:txBody>
      </p:sp>
      <p:sp>
        <p:nvSpPr>
          <p:cNvPr id="573" name="n=233">
            <a:extLst xmlns:a="http://schemas.openxmlformats.org/drawingml/2006/main">
              <a:ext uri="{FF2B5EF4-FFF2-40B4-BE49-F238E27FC236}">
                <a16:creationId xmlns:a16="http://schemas.microsoft.com/office/drawing/2014/main" id="{1A81B232-22E8-4385-86F0-81D97F72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n=233</a:t>
            </a:r>
          </a:p>
        </p:txBody>
      </p:sp>
      <p:sp>
        <p:nvSpPr>
          <p:cNvPr id="574" name="Very healthy and balanced">
            <a:extLst xmlns:a="http://schemas.openxmlformats.org/drawingml/2006/main">
              <a:ext uri="{FF2B5EF4-FFF2-40B4-BE49-F238E27FC236}">
                <a16:creationId xmlns:a16="http://schemas.microsoft.com/office/drawing/2014/main" id="{01225E59-899E-4BD3-9C75-346C2A9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Very healthy and balanced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0543B520-ADAF-4C76-98FF-DDD685E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00600"/>
            <a:ext cx="175342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76" name="25%">
            <a:extLst xmlns:a="http://schemas.openxmlformats.org/drawingml/2006/main">
              <a:ext uri="{FF2B5EF4-FFF2-40B4-BE49-F238E27FC236}">
                <a16:creationId xmlns:a16="http://schemas.microsoft.com/office/drawing/2014/main" id="{C9D1D9F5-EE20-49F4-95DF-CAD5439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9627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25%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692E0F0-8BA1-46DB-868D-D5301DD7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553" y="4800600"/>
            <a:ext cx="16929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78" name="24%">
            <a:extLst xmlns:a="http://schemas.openxmlformats.org/drawingml/2006/main">
              <a:ext uri="{FF2B5EF4-FFF2-40B4-BE49-F238E27FC236}">
                <a16:creationId xmlns:a16="http://schemas.microsoft.com/office/drawing/2014/main" id="{1AE690E4-9954-4D07-91D6-67454D0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653" y="4905375"/>
            <a:ext cx="16358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4B975B4-B56B-4EA6-8AA8-23A109A4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518" y="4800600"/>
            <a:ext cx="1813891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0" name="26%">
            <a:extLst xmlns:a="http://schemas.openxmlformats.org/drawingml/2006/main">
              <a:ext uri="{FF2B5EF4-FFF2-40B4-BE49-F238E27FC236}">
                <a16:creationId xmlns:a16="http://schemas.microsoft.com/office/drawing/2014/main" id="{F451F49A-CB72-49A9-88F1-E6F244F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618" y="4905375"/>
            <a:ext cx="175674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26%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BBC6995C-6D83-41EA-9A0C-5830034E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410" y="4800600"/>
            <a:ext cx="169296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82" name="24%">
            <a:extLst xmlns:a="http://schemas.openxmlformats.org/drawingml/2006/main">
              <a:ext uri="{FF2B5EF4-FFF2-40B4-BE49-F238E27FC236}">
                <a16:creationId xmlns:a16="http://schemas.microsoft.com/office/drawing/2014/main" id="{E6213C9F-0162-47F5-B53B-A16709D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510" y="4905375"/>
            <a:ext cx="16358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24%</a:t>
            </a:r>
          </a:p>
        </p:txBody>
      </p:sp>
      <p:sp>
        <p:nvSpPr>
          <p:cNvPr id="583" name="n=115">
            <a:extLst xmlns:a="http://schemas.openxmlformats.org/drawingml/2006/main">
              <a:ext uri="{FF2B5EF4-FFF2-40B4-BE49-F238E27FC236}">
                <a16:creationId xmlns:a16="http://schemas.microsoft.com/office/drawing/2014/main" id="{DB4B7F31-1219-465C-82EB-8954BA1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95850"/>
            <a:ext cx="981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n=115</a:t>
            </a: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D9441059-6148-4CAC-B5BC-6426A87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A"/>
          </a:solidFill>
          <a:ln xmlns:a="http://schemas.openxmlformats.org/drawingml/2006/main" w="0">
            <a:noFill/>
          </a:ln>
        </p:spPr>
      </p:sp>
      <p:sp>
        <p:nvSpPr>
          <p:cNvPr id="585" name="C0  &lt; 3.20">
            <a:extLst xmlns:a="http://schemas.openxmlformats.org/drawingml/2006/main">
              <a:ext uri="{FF2B5EF4-FFF2-40B4-BE49-F238E27FC236}">
                <a16:creationId xmlns:a16="http://schemas.microsoft.com/office/drawing/2014/main" id="{CA7820B6-AA00-4377-B75F-972F14C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3D141F2-87DF-49FF-A075-C321645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13D"/>
          </a:solidFill>
          <a:ln xmlns:a="http://schemas.openxmlformats.org/drawingml/2006/main" w="0">
            <a:noFill/>
          </a:ln>
        </p:spPr>
      </p:sp>
      <p:sp>
        <p:nvSpPr>
          <p:cNvPr id="587" name="C1  3.20–3.49">
            <a:extLst xmlns:a="http://schemas.openxmlformats.org/drawingml/2006/main">
              <a:ext uri="{FF2B5EF4-FFF2-40B4-BE49-F238E27FC236}">
                <a16:creationId xmlns:a16="http://schemas.microsoft.com/office/drawing/2014/main" id="{214D1088-896D-4989-9D87-A78E4C47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516A69C6-371F-41D1-8789-00C2F38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D8"/>
          </a:solidFill>
          <a:ln xmlns:a="http://schemas.openxmlformats.org/drawingml/2006/main" w="0">
            <a:noFill/>
          </a:ln>
        </p:spPr>
      </p:sp>
      <p:sp>
        <p:nvSpPr>
          <p:cNvPr id="589" name="C2  3.50–3.74">
            <a:extLst xmlns:a="http://schemas.openxmlformats.org/drawingml/2006/main">
              <a:ext uri="{FF2B5EF4-FFF2-40B4-BE49-F238E27FC236}">
                <a16:creationId xmlns:a16="http://schemas.microsoft.com/office/drawing/2014/main" id="{19DE4266-CE0D-4F1D-A478-582DA84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8A5329BA-B6CA-4368-BA1C-92863BC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B9F"/>
          </a:solidFill>
          <a:ln xmlns:a="http://schemas.openxmlformats.org/drawingml/2006/main" w="0">
            <a:noFill/>
          </a:ln>
        </p:spPr>
      </p:sp>
      <p:sp>
        <p:nvSpPr>
          <p:cNvPr id="591" name="C3  ≥ 3.75">
            <a:extLst xmlns:a="http://schemas.openxmlformats.org/drawingml/2006/main">
              <a:ext uri="{FF2B5EF4-FFF2-40B4-BE49-F238E27FC236}">
                <a16:creationId xmlns:a16="http://schemas.microsoft.com/office/drawing/2014/main" id="{AD089DC8-45FD-4109-ADB0-D45C40E5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92" name="Each bar = 100% of students choosing that answer. Descr">
            <a:extLst xmlns:a="http://schemas.openxmlformats.org/drawingml/2006/main">
              <a:ext uri="{FF2B5EF4-FFF2-40B4-BE49-F238E27FC236}">
                <a16:creationId xmlns:a16="http://schemas.microsoft.com/office/drawing/2014/main" id="{AF6736E6-252F-497E-8549-3120199A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bar = 100% of students choosing that answer. Descriptive association, N = 1,108.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Questionnaire–CGPA relationships</a:t>
            </a:r>
          </a:p>
        </p:txBody>
      </p:sp>
      <p:sp>
        <p:nvSpPr>
          <p:cNvPr id="534" name="Desired department">
            <a:extLst xmlns:a="http://schemas.openxmlformats.org/drawingml/2006/main">
              <a:ext uri="{FF2B5EF4-FFF2-40B4-BE49-F238E27FC236}">
                <a16:creationId xmlns:a16="http://schemas.microsoft.com/office/drawing/2014/main" id="{40771416-A30D-4343-8841-3E8EAFED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Desired department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5C5EBB4-E6EE-4B88-BDA6-9864CF0D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335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4B43F01-85F9-4F94-988D-B01601D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211013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+0.117">
            <a:extLst xmlns:a="http://schemas.openxmlformats.org/drawingml/2006/main">
              <a:ext uri="{FF2B5EF4-FFF2-40B4-BE49-F238E27FC236}">
                <a16:creationId xmlns:a16="http://schemas.microsoft.com/office/drawing/2014/main" id="{7BEF738E-FCAB-4970-AC70-D651C55F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335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+0.117</a:t>
            </a:r>
          </a:p>
        </p:txBody>
      </p:sp>
      <p:sp>
        <p:nvSpPr>
          <p:cNvPr id="538" name="Attendance">
            <a:extLst xmlns:a="http://schemas.openxmlformats.org/drawingml/2006/main">
              <a:ext uri="{FF2B5EF4-FFF2-40B4-BE49-F238E27FC236}">
                <a16:creationId xmlns:a16="http://schemas.microsoft.com/office/drawing/2014/main" id="{92DE285F-6686-4BD2-B9FE-21962B4A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64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Attendance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03D0E4A-5F87-490F-9C50-35D0AAA6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764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F62F98A-6BFC-40FB-9F1A-80CDA81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591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1" name="+0.088">
            <a:extLst xmlns:a="http://schemas.openxmlformats.org/drawingml/2006/main">
              <a:ext uri="{FF2B5EF4-FFF2-40B4-BE49-F238E27FC236}">
                <a16:creationId xmlns:a16="http://schemas.microsoft.com/office/drawing/2014/main" id="{1BD13EFC-9E21-425F-9F2F-C33A3A35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764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+0.088</a:t>
            </a:r>
          </a:p>
        </p:txBody>
      </p:sp>
      <p:sp>
        <p:nvSpPr>
          <p:cNvPr id="542" name="Outside commitments">
            <a:extLst xmlns:a="http://schemas.openxmlformats.org/drawingml/2006/main">
              <a:ext uri="{FF2B5EF4-FFF2-40B4-BE49-F238E27FC236}">
                <a16:creationId xmlns:a16="http://schemas.microsoft.com/office/drawing/2014/main" id="{69A5ACFD-5FD7-4308-A0D3-E94120B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Outside commitments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42ECBEF-FD2B-42DB-A228-627578F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193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469C308-24E9-4F35-AC62-3E0B403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948" y="2257425"/>
            <a:ext cx="1565927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5" name="-0.087">
            <a:extLst xmlns:a="http://schemas.openxmlformats.org/drawingml/2006/main">
              <a:ext uri="{FF2B5EF4-FFF2-40B4-BE49-F238E27FC236}">
                <a16:creationId xmlns:a16="http://schemas.microsoft.com/office/drawing/2014/main" id="{201BC8C7-38EB-4772-B2D2-555C5427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193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-0.087</a:t>
            </a:r>
          </a:p>
        </p:txBody>
      </p:sp>
      <p:sp>
        <p:nvSpPr>
          <p:cNvPr id="546" name="Weekly study time">
            <a:extLst xmlns:a="http://schemas.openxmlformats.org/drawingml/2006/main">
              <a:ext uri="{FF2B5EF4-FFF2-40B4-BE49-F238E27FC236}">
                <a16:creationId xmlns:a16="http://schemas.microsoft.com/office/drawing/2014/main" id="{D67D8F90-0DAD-423E-9596-D7E5CD1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Weekly study time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7587027-A483-4DD1-88FB-A430D9DF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622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B6CA680-C78F-4322-9000-8FDC8D5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00325"/>
            <a:ext cx="1225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49" name="+0.068">
            <a:extLst xmlns:a="http://schemas.openxmlformats.org/drawingml/2006/main">
              <a:ext uri="{FF2B5EF4-FFF2-40B4-BE49-F238E27FC236}">
                <a16:creationId xmlns:a16="http://schemas.microsoft.com/office/drawing/2014/main" id="{02A4C358-F16A-4063-8A2F-B83BF40A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622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+0.068</a:t>
            </a:r>
          </a:p>
        </p:txBody>
      </p:sp>
      <p:sp>
        <p:nvSpPr>
          <p:cNvPr id="550" name="Support">
            <a:extLst xmlns:a="http://schemas.openxmlformats.org/drawingml/2006/main">
              <a:ext uri="{FF2B5EF4-FFF2-40B4-BE49-F238E27FC236}">
                <a16:creationId xmlns:a16="http://schemas.microsoft.com/office/drawing/2014/main" id="{22EF24AA-180E-4C67-A5AD-FE567111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18C07C8-EA29-4BB6-8A8F-23E9B71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051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57DAD1A-963B-455B-BEAC-45875619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98106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53" name="+0.054">
            <a:extLst xmlns:a="http://schemas.openxmlformats.org/drawingml/2006/main">
              <a:ext uri="{FF2B5EF4-FFF2-40B4-BE49-F238E27FC236}">
                <a16:creationId xmlns:a16="http://schemas.microsoft.com/office/drawing/2014/main" id="{A0CECEFF-E834-428A-BEEE-DB214AC1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+0.054</a:t>
            </a:r>
          </a:p>
        </p:txBody>
      </p:sp>
      <p:sp>
        <p:nvSpPr>
          <p:cNvPr id="554" name="Routine manageability">
            <a:extLst xmlns:a="http://schemas.openxmlformats.org/drawingml/2006/main">
              <a:ext uri="{FF2B5EF4-FFF2-40B4-BE49-F238E27FC236}">
                <a16:creationId xmlns:a16="http://schemas.microsoft.com/office/drawing/2014/main" id="{9174C92D-2D32-4912-A7BE-B37AF72E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Routine manageability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41D34D3-2D9A-420E-9397-C6DE918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480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A0EAEE2-DEE5-4DA3-9C61-95CFDA8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86125"/>
            <a:ext cx="707937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57" name="+0.039">
            <a:extLst xmlns:a="http://schemas.openxmlformats.org/drawingml/2006/main">
              <a:ext uri="{FF2B5EF4-FFF2-40B4-BE49-F238E27FC236}">
                <a16:creationId xmlns:a16="http://schemas.microsoft.com/office/drawing/2014/main" id="{49BDA253-99DE-415E-A078-BD10071D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480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+0.039</a:t>
            </a:r>
          </a:p>
        </p:txBody>
      </p:sp>
      <p:sp>
        <p:nvSpPr>
          <p:cNvPr id="558" name="Topic clarity">
            <a:extLst xmlns:a="http://schemas.openxmlformats.org/drawingml/2006/main">
              <a:ext uri="{FF2B5EF4-FFF2-40B4-BE49-F238E27FC236}">
                <a16:creationId xmlns:a16="http://schemas.microsoft.com/office/drawing/2014/main" id="{57FF7372-AED2-46CB-A5C5-6CFE2492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Topic clarity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13A022F2-7F89-40E3-AE91-4FAC81A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909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5C1A1757-C435-43D3-82C6-316C6C5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29025"/>
            <a:ext cx="687126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61" name="+0.038">
            <a:extLst xmlns:a="http://schemas.openxmlformats.org/drawingml/2006/main">
              <a:ext uri="{FF2B5EF4-FFF2-40B4-BE49-F238E27FC236}">
                <a16:creationId xmlns:a16="http://schemas.microsoft.com/office/drawing/2014/main" id="{715E5653-97CC-4C77-B328-A2DC868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90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+0.038</a:t>
            </a:r>
          </a:p>
        </p:txBody>
      </p:sp>
      <p:sp>
        <p:nvSpPr>
          <p:cNvPr id="562" name="Sleep">
            <a:extLst xmlns:a="http://schemas.openxmlformats.org/drawingml/2006/main">
              <a:ext uri="{FF2B5EF4-FFF2-40B4-BE49-F238E27FC236}">
                <a16:creationId xmlns:a16="http://schemas.microsoft.com/office/drawing/2014/main" id="{CC54F98A-5163-4143-8713-0B7F751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Sleep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E18336E-60D3-4D4D-8589-454F97DB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338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0C1AF77-B644-40BE-9F55-69FFC55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54021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65" name="+0.030">
            <a:extLst xmlns:a="http://schemas.openxmlformats.org/drawingml/2006/main">
              <a:ext uri="{FF2B5EF4-FFF2-40B4-BE49-F238E27FC236}">
                <a16:creationId xmlns:a16="http://schemas.microsoft.com/office/drawing/2014/main" id="{6499A748-B8B8-4092-86A0-EC6F3A8A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33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+0.030</a:t>
            </a:r>
          </a:p>
        </p:txBody>
      </p:sp>
      <p:sp>
        <p:nvSpPr>
          <p:cNvPr id="566" name="Phone distraction">
            <a:extLst xmlns:a="http://schemas.openxmlformats.org/drawingml/2006/main">
              <a:ext uri="{FF2B5EF4-FFF2-40B4-BE49-F238E27FC236}">
                <a16:creationId xmlns:a16="http://schemas.microsoft.com/office/drawing/2014/main" id="{742D8AFB-8326-426A-8173-A68B2E4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Phone distraction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BF8212A2-824B-4457-AA1E-E88E4C72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767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201DFE1-DFA6-4BF6-A456-23AEA3E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541" y="4314825"/>
            <a:ext cx="480334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69" name="-0.027">
            <a:extLst xmlns:a="http://schemas.openxmlformats.org/drawingml/2006/main">
              <a:ext uri="{FF2B5EF4-FFF2-40B4-BE49-F238E27FC236}">
                <a16:creationId xmlns:a16="http://schemas.microsoft.com/office/drawing/2014/main" id="{DDC47A08-D338-45EF-AD43-CFDF5FB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76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-0.027</a:t>
            </a:r>
          </a:p>
        </p:txBody>
      </p:sp>
      <p:sp>
        <p:nvSpPr>
          <p:cNvPr id="570" name="Study environment">
            <a:extLst xmlns:a="http://schemas.openxmlformats.org/drawingml/2006/main">
              <a:ext uri="{FF2B5EF4-FFF2-40B4-BE49-F238E27FC236}">
                <a16:creationId xmlns:a16="http://schemas.microsoft.com/office/drawing/2014/main" id="{B0D4ACD7-A1DE-49EC-B1D3-6AE4A1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environment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78B13879-B602-4898-9414-DB04B85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96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414B8ED-7169-4BE8-8ABC-62C74C1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57725"/>
            <a:ext cx="324609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73" name="+0.018">
            <a:extLst xmlns:a="http://schemas.openxmlformats.org/drawingml/2006/main">
              <a:ext uri="{FF2B5EF4-FFF2-40B4-BE49-F238E27FC236}">
                <a16:creationId xmlns:a16="http://schemas.microsoft.com/office/drawing/2014/main" id="{2A6CADC2-036B-4149-A356-80078CA4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96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+0.018</a:t>
            </a:r>
          </a:p>
        </p:txBody>
      </p:sp>
      <p:sp>
        <p:nvSpPr>
          <p:cNvPr id="574" name="Stress">
            <a:extLst xmlns:a="http://schemas.openxmlformats.org/drawingml/2006/main">
              <a:ext uri="{FF2B5EF4-FFF2-40B4-BE49-F238E27FC236}">
                <a16:creationId xmlns:a16="http://schemas.microsoft.com/office/drawing/2014/main" id="{4AA04F2C-5117-4CFF-82FF-32F16CA3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Stress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E5EF92C-E1F9-4AE6-BAE4-0FECFE9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625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91D5FA76-54AD-48AA-8AF9-6C57489E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128" y="5000625"/>
            <a:ext cx="98747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77" name="-0.005">
            <a:extLst xmlns:a="http://schemas.openxmlformats.org/drawingml/2006/main">
              <a:ext uri="{FF2B5EF4-FFF2-40B4-BE49-F238E27FC236}">
                <a16:creationId xmlns:a16="http://schemas.microsoft.com/office/drawing/2014/main" id="{84071927-9BA0-4145-B44A-D34D913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9625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-0.005</a:t>
            </a:r>
          </a:p>
        </p:txBody>
      </p:sp>
      <p:sp>
        <p:nvSpPr>
          <p:cNvPr id="578" name="Study style">
            <a:extLst xmlns:a="http://schemas.openxmlformats.org/drawingml/2006/main">
              <a:ext uri="{FF2B5EF4-FFF2-40B4-BE49-F238E27FC236}">
                <a16:creationId xmlns:a16="http://schemas.microsoft.com/office/drawing/2014/main" id="{93237DB4-E11B-47A8-AF95-69984A42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style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1EF59818-59DF-4E20-B555-5C8DE26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05425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AAAAAA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87F23E5-5787-467A-BDB7-48920E7E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708" y="5343525"/>
            <a:ext cx="98167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FD6"/>
          </a:solidFill>
          <a:ln xmlns:a="http://schemas.openxmlformats.org/drawingml/2006/main" w="0">
            <a:noFill/>
          </a:ln>
        </p:spPr>
      </p:sp>
      <p:sp>
        <p:nvSpPr>
          <p:cNvPr id="581" name="-0.005">
            <a:extLst xmlns:a="http://schemas.openxmlformats.org/drawingml/2006/main">
              <a:ext uri="{FF2B5EF4-FFF2-40B4-BE49-F238E27FC236}">
                <a16:creationId xmlns:a16="http://schemas.microsoft.com/office/drawing/2014/main" id="{47AE88C1-940E-4565-9C87-0CFE1690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054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-0.005</a:t>
            </a:r>
          </a:p>
        </p:txBody>
      </p:sp>
      <p:sp>
        <p:nvSpPr>
          <p:cNvPr id="582" name="Spearman ρ: direction and strength of ordinal associati">
            <a:extLst xmlns:a="http://schemas.openxmlformats.org/drawingml/2006/main">
              <a:ext uri="{FF2B5EF4-FFF2-40B4-BE49-F238E27FC236}">
                <a16:creationId xmlns:a16="http://schemas.microsoft.com/office/drawing/2014/main" id="{AA53F7F0-84F5-466C-96E5-AF75BF1E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Spearman ρ: direction and strength of ordinal association. All magnitudes are small.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Do SGPA and CGPA show the same pattern?</a:t>
            </a:r>
          </a:p>
        </p:txBody>
      </p:sp>
      <p:sp>
        <p:nvSpPr>
          <p:cNvPr id="534" name="Attendance">
            <a:extLst xmlns:a="http://schemas.openxmlformats.org/drawingml/2006/main">
              <a:ext uri="{FF2B5EF4-FFF2-40B4-BE49-F238E27FC236}">
                <a16:creationId xmlns:a16="http://schemas.microsoft.com/office/drawing/2014/main" id="{A8B878C2-F209-4A35-BB11-EDEE0D1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Attendance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946F248-0E1F-4E38-A182-6C161C7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5DFB0E9-0ADF-41A9-8A13-369B764C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075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29408D4-948C-4BEB-9684-B5625D9B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745" y="1647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38" name="Weekly study time">
            <a:extLst xmlns:a="http://schemas.openxmlformats.org/drawingml/2006/main">
              <a:ext uri="{FF2B5EF4-FFF2-40B4-BE49-F238E27FC236}">
                <a16:creationId xmlns:a16="http://schemas.microsoft.com/office/drawing/2014/main" id="{704F706C-897B-4C7B-A7B5-F5CE4F4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Weekly study time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4E22D34-F8EA-4022-AE87-6FB43A87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B3AAD81-2CD2-4F12-99A4-9005C075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050" y="1838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798AC73-1D51-41D5-93B2-7FD8AE1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824" y="1962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42" name="Study style">
            <a:extLst xmlns:a="http://schemas.openxmlformats.org/drawingml/2006/main">
              <a:ext uri="{FF2B5EF4-FFF2-40B4-BE49-F238E27FC236}">
                <a16:creationId xmlns:a16="http://schemas.microsoft.com/office/drawing/2014/main" id="{18E459F1-1C72-4471-8E3E-72DD59E8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style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4D8A509-57D7-4588-99CC-FE7AD9A7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9C63314-E9BD-4633-A384-AEAA47E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083" y="2152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DFF97B7-9E25-4D60-99AB-40DD94E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34" y="2276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46" name="Topic clarity">
            <a:extLst xmlns:a="http://schemas.openxmlformats.org/drawingml/2006/main">
              <a:ext uri="{FF2B5EF4-FFF2-40B4-BE49-F238E27FC236}">
                <a16:creationId xmlns:a16="http://schemas.microsoft.com/office/drawing/2014/main" id="{9678DAD3-8CF1-4595-B3D3-EA07BEE0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Topic clarity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2E85B99-10CE-40A9-B550-EEBBAE5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6222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EADBF1A-4867-4DAF-BEA6-FD492FF9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376" y="2466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F848948-8FD5-4CC6-95C2-FB73FF98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078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50" name="Stress">
            <a:extLst xmlns:a="http://schemas.openxmlformats.org/drawingml/2006/main">
              <a:ext uri="{FF2B5EF4-FFF2-40B4-BE49-F238E27FC236}">
                <a16:creationId xmlns:a16="http://schemas.microsoft.com/office/drawing/2014/main" id="{F2C9850D-080A-4D88-804C-792D2404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Stress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FF89FA9-9599-4B40-86A2-D421D41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3571016-0DD4-41C0-BBD8-3E855DDC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503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D1BC4E6-94DF-4F50-9D71-DF1462E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933" y="2905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54" name="Sleep">
            <a:extLst xmlns:a="http://schemas.openxmlformats.org/drawingml/2006/main">
              <a:ext uri="{FF2B5EF4-FFF2-40B4-BE49-F238E27FC236}">
                <a16:creationId xmlns:a16="http://schemas.microsoft.com/office/drawing/2014/main" id="{6F6A1F13-35F3-40D8-BD5C-5176DD05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Sleep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7A0C2967-081B-4AC0-AE49-0B158BF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1D88F07-58CE-4E9A-BA1B-9B6A4C3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465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1D84362-6095-4DD0-B950-A50C8757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86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58" name="Phone distraction">
            <a:extLst xmlns:a="http://schemas.openxmlformats.org/drawingml/2006/main">
              <a:ext uri="{FF2B5EF4-FFF2-40B4-BE49-F238E27FC236}">
                <a16:creationId xmlns:a16="http://schemas.microsoft.com/office/drawing/2014/main" id="{439811FD-7AF1-48FC-806D-E3E5C08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Phone distraction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1C784D2-77F9-4E04-8259-369FCD46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ACB1A7D-1321-4B30-B278-4E05DADB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916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C0C1A381-E212-4E7C-91F6-A47E074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747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62" name="Outside commitments">
            <a:extLst xmlns:a="http://schemas.openxmlformats.org/drawingml/2006/main">
              <a:ext uri="{FF2B5EF4-FFF2-40B4-BE49-F238E27FC236}">
                <a16:creationId xmlns:a16="http://schemas.microsoft.com/office/drawing/2014/main" id="{C90FFBB9-3D3B-4822-A22E-0E9D38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Outside commitments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8E9C98D-80C3-405D-87BA-8E64088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F416F065-1370-4D66-A51E-3E291F4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323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837DC2D-90C0-4533-B057-2D47316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69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66" name="Desired department">
            <a:extLst xmlns:a="http://schemas.openxmlformats.org/drawingml/2006/main">
              <a:ext uri="{FF2B5EF4-FFF2-40B4-BE49-F238E27FC236}">
                <a16:creationId xmlns:a16="http://schemas.microsoft.com/office/drawing/2014/main" id="{0448161B-42A6-441B-805C-B430E7F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9097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Desired department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CFA4F5A6-4449-43CD-B88D-8D7A9CCB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86662B04-A33A-4722-81B9-B816E1F7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382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59E57F4C-F435-4632-9FA5-41448EA8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971" y="4162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70" name="Support">
            <a:extLst xmlns:a="http://schemas.openxmlformats.org/drawingml/2006/main">
              <a:ext uri="{FF2B5EF4-FFF2-40B4-BE49-F238E27FC236}">
                <a16:creationId xmlns:a16="http://schemas.microsoft.com/office/drawing/2014/main" id="{399EFBEF-3C87-4DB2-83BF-160995C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DB88A085-BEAB-42EB-845D-D3B52FC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4817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AD36183-E067-4716-8BD9-CF046F5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11" y="4352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2B7F8555-7855-4B3C-A9A0-D38E618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738" y="447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74" name="Study environment">
            <a:extLst xmlns:a="http://schemas.openxmlformats.org/drawingml/2006/main">
              <a:ext uri="{FF2B5EF4-FFF2-40B4-BE49-F238E27FC236}">
                <a16:creationId xmlns:a16="http://schemas.microsoft.com/office/drawing/2014/main" id="{68B80A1E-7251-4EC8-AFCB-67A3B05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environment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CFF97E4-5FC4-443F-82BE-CF87E54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6ADD77A-D57E-4E00-8E20-56B5D5EF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859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D2D4C7D-498F-4BEB-8BA8-43BB449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544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78" name="Routine manageability">
            <a:extLst xmlns:a="http://schemas.openxmlformats.org/drawingml/2006/main">
              <a:ext uri="{FF2B5EF4-FFF2-40B4-BE49-F238E27FC236}">
                <a16:creationId xmlns:a16="http://schemas.microsoft.com/office/drawing/2014/main" id="{EEDED48E-98E3-4998-9008-9844299D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Routine manageability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D4E7475-68D4-4FE5-BB24-4F5FD882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6825"/>
            <a:ext cx="504825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3E3E3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DFD1D61C-0D60-448D-98DB-4DEC824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187" y="4981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B33DA36-C743-4D71-A95D-70513404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585" y="5105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82" name="-0.15">
            <a:extLst xmlns:a="http://schemas.openxmlformats.org/drawingml/2006/main">
              <a:ext uri="{FF2B5EF4-FFF2-40B4-BE49-F238E27FC236}">
                <a16:creationId xmlns:a16="http://schemas.microsoft.com/office/drawing/2014/main" id="{17763952-C7DE-4FA1-B219-FF836FD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00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-0.15</a:t>
            </a:r>
          </a:p>
        </p:txBody>
      </p:sp>
      <p:sp>
        <p:nvSpPr>
          <p:cNvPr id="583" name="0.00">
            <a:extLst xmlns:a="http://schemas.openxmlformats.org/drawingml/2006/main">
              <a:ext uri="{FF2B5EF4-FFF2-40B4-BE49-F238E27FC236}">
                <a16:creationId xmlns:a16="http://schemas.microsoft.com/office/drawing/2014/main" id="{3A230A82-CBC1-4276-B0E8-48268F1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00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584" name="0.15">
            <a:extLst xmlns:a="http://schemas.openxmlformats.org/drawingml/2006/main">
              <a:ext uri="{FF2B5EF4-FFF2-40B4-BE49-F238E27FC236}">
                <a16:creationId xmlns:a16="http://schemas.microsoft.com/office/drawing/2014/main" id="{3681BD26-1B0E-4DFF-AF25-F0E0C50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400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0.15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025C61DF-8F8D-4DF8-BE73-80AF55E4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721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CF"/>
          </a:solidFill>
          <a:ln xmlns:a="http://schemas.openxmlformats.org/drawingml/2006/main" w="0">
            <a:noFill/>
          </a:ln>
        </p:spPr>
      </p:sp>
      <p:sp>
        <p:nvSpPr>
          <p:cNvPr id="586" name="CGPA">
            <a:extLst xmlns:a="http://schemas.openxmlformats.org/drawingml/2006/main">
              <a:ext uri="{FF2B5EF4-FFF2-40B4-BE49-F238E27FC236}">
                <a16:creationId xmlns:a16="http://schemas.microsoft.com/office/drawing/2014/main" id="{195CA24C-E2C0-44DC-BE31-180DB50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054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CGPA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062AF8A-95CC-4458-A9F2-1FC050CF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772150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803A"/>
          </a:solidFill>
          <a:ln xmlns:a="http://schemas.openxmlformats.org/drawingml/2006/main" w="0">
            <a:noFill/>
          </a:ln>
        </p:spPr>
      </p:sp>
      <p:sp>
        <p:nvSpPr>
          <p:cNvPr id="588" name="Recent SGPA">
            <a:extLst xmlns:a="http://schemas.openxmlformats.org/drawingml/2006/main">
              <a:ext uri="{FF2B5EF4-FFF2-40B4-BE49-F238E27FC236}">
                <a16:creationId xmlns:a16="http://schemas.microsoft.com/office/drawing/2014/main" id="{A1C770DE-5C08-4EC2-96EF-88AB37C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7054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Recent SGPA</a:t>
            </a:r>
          </a:p>
        </p:txBody>
      </p:sp>
      <p:sp>
        <p:nvSpPr>
          <p:cNvPr id="589" name="Spearman ρ. Desired department / attendance: positive i">
            <a:extLst xmlns:a="http://schemas.openxmlformats.org/drawingml/2006/main">
              <a:ext uri="{FF2B5EF4-FFF2-40B4-BE49-F238E27FC236}">
                <a16:creationId xmlns:a16="http://schemas.microsoft.com/office/drawing/2014/main" id="{15FFF191-C25A-448D-9674-209FC14F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Spearman ρ. Desired department / attendance: positive in both. Commitments: negative in both.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target-specific model results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714625"/>
                <a:gridCol w="3105150"/>
                <a:gridCol w="2714625"/>
              </a:tblGrid>
              <a:tr h="48985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WEKA model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Recent SGPA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CGPA questionnaire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CGPA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38.29%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29.76%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43.92%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37.11%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29.58%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Naive Bayes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38.11%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Stratified 10-fold cross-validation, seed 1">
            <a:extLst xmlns:a="http://schemas.openxmlformats.org/drawingml/2006/main">
              <a:ext uri="{FF2B5EF4-FFF2-40B4-BE49-F238E27FC236}">
                <a16:creationId xmlns:a16="http://schemas.microsoft.com/office/drawing/2014/main" id="{0537DC0A-7A21-405A-AF24-2B61CF9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Stratified 10-fold cross-validation, seed 1</a:t>
            </a:r>
          </a:p>
        </p:txBody>
      </p:sp>
      <p:sp>
        <p:nvSpPr>
          <p:cNvPr id="536" name="Same 1,102 records. Questionnaire: 12 inputs. Main CGPA">
            <a:extLst xmlns:a="http://schemas.openxmlformats.org/drawingml/2006/main">
              <a:ext uri="{FF2B5EF4-FFF2-40B4-BE49-F238E27FC236}">
                <a16:creationId xmlns:a16="http://schemas.microsoft.com/office/drawing/2014/main" id="{67D35FFE-1E24-4572-832D-037749D4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Same 1,102 records. Questionnaire: 12 inputs. Main CGPA: same inputs + recent SGPA.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Train / test split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396CA9F9-C11F-4F44-BF77-6E2329C6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571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1,102 records">
            <a:extLst xmlns:a="http://schemas.openxmlformats.org/drawingml/2006/main">
              <a:ext uri="{FF2B5EF4-FFF2-40B4-BE49-F238E27FC236}">
                <a16:creationId xmlns:a16="http://schemas.microsoft.com/office/drawing/2014/main" id="{49C5C2E3-E484-46A9-B0D9-24B5E67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1,102 records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4D159C7-9A83-43F3-B7E2-7A7515A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098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45A876B-27A0-4632-ACF3-BE8F66E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8" name="881 training">
            <a:extLst xmlns:a="http://schemas.openxmlformats.org/drawingml/2006/main">
              <a:ext uri="{FF2B5EF4-FFF2-40B4-BE49-F238E27FC236}">
                <a16:creationId xmlns:a16="http://schemas.microsoft.com/office/drawing/2014/main" id="{4B12C607-45B5-4D2C-8241-AA6C4BB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43125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881 training</a:t>
            </a:r>
          </a:p>
        </p:txBody>
      </p:sp>
      <p:sp>
        <p:nvSpPr>
          <p:cNvPr id="539" name="80%">
            <a:extLst xmlns:a="http://schemas.openxmlformats.org/drawingml/2006/main">
              <a:ext uri="{FF2B5EF4-FFF2-40B4-BE49-F238E27FC236}">
                <a16:creationId xmlns:a16="http://schemas.microsoft.com/office/drawing/2014/main" id="{C1BD3253-8E5F-455F-B15D-73F40B29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62225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9ADE479-8883-475C-8EEC-1DB88E4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98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42621F0-3FA0-4DA9-B2CC-ACC51106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00250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2" name="WEKA J48">
            <a:extLst xmlns:a="http://schemas.openxmlformats.org/drawingml/2006/main">
              <a:ext uri="{FF2B5EF4-FFF2-40B4-BE49-F238E27FC236}">
                <a16:creationId xmlns:a16="http://schemas.microsoft.com/office/drawing/2014/main" id="{1AD039AD-D0A0-466D-87E3-1A9BB80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43125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WEKA J48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ADDC3C8-99F6-4E06-BE62-6DDD451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4" name="221 testing">
            <a:extLst xmlns:a="http://schemas.openxmlformats.org/drawingml/2006/main">
              <a:ext uri="{FF2B5EF4-FFF2-40B4-BE49-F238E27FC236}">
                <a16:creationId xmlns:a16="http://schemas.microsoft.com/office/drawing/2014/main" id="{5481B3D4-8E07-40A4-8576-6A3B420A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255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221 testing</a:t>
            </a:r>
          </a:p>
        </p:txBody>
      </p:sp>
      <p:sp>
        <p:nvSpPr>
          <p:cNvPr id="545" name="20%, held aside">
            <a:extLst xmlns:a="http://schemas.openxmlformats.org/drawingml/2006/main">
              <a:ext uri="{FF2B5EF4-FFF2-40B4-BE49-F238E27FC236}">
                <a16:creationId xmlns:a16="http://schemas.microsoft.com/office/drawing/2014/main" id="{58AB6A6B-428F-4CD8-A720-CF74B572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1010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20%, held aside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D3B494F-A17C-4733-87A4-52F9EDA6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672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A12F50F-6012-4EAD-8117-06E6F7AD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48125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8" name="Test predictions">
            <a:extLst xmlns:a="http://schemas.openxmlformats.org/drawingml/2006/main">
              <a:ext uri="{FF2B5EF4-FFF2-40B4-BE49-F238E27FC236}">
                <a16:creationId xmlns:a16="http://schemas.microsoft.com/office/drawing/2014/main" id="{4B11DE70-BAAE-48EE-AC22-A314DBB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Test predictions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A91FD78-914E-4136-A652-CC0DB49F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95625"/>
            <a:ext cx="0" cy="15049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BBBBBB"/>
            </a:solidFill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9FE2948-B2D6-4E70-8B37-3F8274E8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005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BBBBBB"/>
            </a:solidFill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A21E486-7A3F-4369-98FF-86241E2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0532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CFA233F-CAB1-40D1-BE6E-878ED87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38125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53" name="Six SGPA-imputed rows excluded. Fixed split seed 42, re">
            <a:extLst xmlns:a="http://schemas.openxmlformats.org/drawingml/2006/main">
              <a:ext uri="{FF2B5EF4-FFF2-40B4-BE49-F238E27FC236}">
                <a16:creationId xmlns:a16="http://schemas.microsoft.com/office/drawing/2014/main" id="{E769F317-4B59-4902-B4D5-40BAEBA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Six SGPA-imputed rows excluded. Fixed split seed 42, reused for all three tree experiments.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J48: Recent SGPA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a54e88264487c"/>
          <a:stretch xmlns:a="http://schemas.openxmlformats.org/drawingml/2006/main"/>
        </p:blipFill>
        <p:spPr>
          <a:xfrm xmlns:a="http://schemas.openxmlformats.org/drawingml/2006/main">
            <a:off x="1809750" y="1381125"/>
            <a:ext cx="8572500" cy="4524375"/>
          </a:xfrm>
          <a:prstGeom xmlns:a="http://schemas.openxmlformats.org/drawingml/2006/main" prst="rect">
            <a:avLst/>
          </a:prstGeom>
        </p:spPr>
      </p:pic>
      <p:sp>
        <p:nvSpPr>
          <p:cNvPr id="535" name="WEKA J48 -C 0.25 -M 40. Recent SGPA. Test: 29.86%. Zero">
            <a:extLst xmlns:a="http://schemas.openxmlformats.org/drawingml/2006/main">
              <a:ext uri="{FF2B5EF4-FFF2-40B4-BE49-F238E27FC236}">
                <a16:creationId xmlns:a16="http://schemas.microsoft.com/office/drawing/2014/main" id="{870F424A-6913-4706-BC51-202D4308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J48 -C 0.25 -M 40. Recent SGPA. Test: 29.86%. ZeroR test: 27.15%.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J48: SGPA rules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0A5DB4B-BED9-4A8B-876C-6F51D1C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971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IF routine is completely unmanageable">
            <a:extLst xmlns:a="http://schemas.openxmlformats.org/drawingml/2006/main">
              <a:ext uri="{FF2B5EF4-FFF2-40B4-BE49-F238E27FC236}">
                <a16:creationId xmlns:a16="http://schemas.microsoft.com/office/drawing/2014/main" id="{08EF0E4B-75FE-4494-81AF-0DA4210D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routine is completely unmanageable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C1F8BB4-1613-441F-9C12-F97E4B8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669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37" name="C1">
            <a:extLst xmlns:a="http://schemas.openxmlformats.org/drawingml/2006/main">
              <a:ext uri="{FF2B5EF4-FFF2-40B4-BE49-F238E27FC236}">
                <a16:creationId xmlns:a16="http://schemas.microsoft.com/office/drawing/2014/main" id="{FB5E2785-F583-40B5-B3F4-FB65C53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6882513-7069-4EA2-9A2F-44BB9906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971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IF routine is above completely unmanageable&#10;AND almost ">
            <a:extLst xmlns:a="http://schemas.openxmlformats.org/drawingml/2006/main">
              <a:ext uri="{FF2B5EF4-FFF2-40B4-BE49-F238E27FC236}">
                <a16:creationId xmlns:a16="http://schemas.microsoft.com/office/drawing/2014/main" id="{8556B067-BBE3-4AC8-BD48-2887ED3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routine is above completely unmanageable</a:t>
            </a:r>
          </a:p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AND almost everything is clear after class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D5ED54F-1B59-4F8F-8BBC-169D9E8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95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1" name="C0">
            <a:extLst xmlns:a="http://schemas.openxmlformats.org/drawingml/2006/main">
              <a:ext uri="{FF2B5EF4-FFF2-40B4-BE49-F238E27FC236}">
                <a16:creationId xmlns:a16="http://schemas.microsoft.com/office/drawing/2014/main" id="{06149850-AEBD-4367-9457-27AE8BF0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05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42" name="Selected branches from the preceding WEKA J48 tree. Ful">
            <a:extLst xmlns:a="http://schemas.openxmlformats.org/drawingml/2006/main">
              <a:ext uri="{FF2B5EF4-FFF2-40B4-BE49-F238E27FC236}">
                <a16:creationId xmlns:a16="http://schemas.microsoft.com/office/drawing/2014/main" id="{1ADCFD7D-8343-49B0-81F4-9126B880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Selected branches from the preceding WEKA J48 tree. Full text and option codes in backup.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J48: CGPA from questionnaire variables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f66de1c0840c5"/>
          <a:stretch xmlns:a="http://schemas.openxmlformats.org/drawingml/2006/main"/>
        </p:blipFill>
        <p:spPr>
          <a:xfrm xmlns:a="http://schemas.openxmlformats.org/drawingml/2006/main">
            <a:off x="1809750" y="1381125"/>
            <a:ext cx="8572500" cy="4524375"/>
          </a:xfrm>
          <a:prstGeom xmlns:a="http://schemas.openxmlformats.org/drawingml/2006/main" prst="rect">
            <a:avLst/>
          </a:prstGeom>
        </p:spPr>
      </p:pic>
      <p:sp>
        <p:nvSpPr>
          <p:cNvPr id="535" name="WEKA J48 -C 0.25 -M 40. CGPA from questionnaire variabl">
            <a:extLst xmlns:a="http://schemas.openxmlformats.org/drawingml/2006/main">
              <a:ext uri="{FF2B5EF4-FFF2-40B4-BE49-F238E27FC236}">
                <a16:creationId xmlns:a16="http://schemas.microsoft.com/office/drawing/2014/main" id="{8B7AE20C-ED04-4DA9-85ED-BB70127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J48 -C 0.25 -M 40. CGPA from questionnaire variables. Test: 32.13%. ZeroR test: 28.96%.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Questionnaire J48 rules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1485ED6-186D-4363-B098-5A07725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971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IF study environment is very distracting">
            <a:extLst xmlns:a="http://schemas.openxmlformats.org/drawingml/2006/main">
              <a:ext uri="{FF2B5EF4-FFF2-40B4-BE49-F238E27FC236}">
                <a16:creationId xmlns:a16="http://schemas.microsoft.com/office/drawing/2014/main" id="{4E3E6202-DDE4-45D5-B952-39FDAFF2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study environment is very distracting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9A359B7-8299-4D6B-A375-ADCB9019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669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2BCE12CF-972C-441C-8628-F0F2D4AA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7A5A759-28EF-4B55-92ED-7EDF7FC6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971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IF environment is excellent for focused study&#10;AND atten">
            <a:extLst xmlns:a="http://schemas.openxmlformats.org/drawingml/2006/main">
              <a:ext uri="{FF2B5EF4-FFF2-40B4-BE49-F238E27FC236}">
                <a16:creationId xmlns:a16="http://schemas.microsoft.com/office/drawing/2014/main" id="{B3DA30AC-A96C-4AF4-A7CD-E8373B9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environment is excellent for focused study</a:t>
            </a:r>
          </a:p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AND attendance is 90% or more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B8198B3-717C-4D20-AA0E-BE8ACB3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95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1" name="C3">
            <a:extLst xmlns:a="http://schemas.openxmlformats.org/drawingml/2006/main">
              <a:ext uri="{FF2B5EF4-FFF2-40B4-BE49-F238E27FC236}">
                <a16:creationId xmlns:a16="http://schemas.microsoft.com/office/drawing/2014/main" id="{F2AC624A-44AA-4706-B57E-C04A6B4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052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2" name="Selected branches from the preceding WEKA J48 tree. Ful">
            <a:extLst xmlns:a="http://schemas.openxmlformats.org/drawingml/2006/main">
              <a:ext uri="{FF2B5EF4-FFF2-40B4-BE49-F238E27FC236}">
                <a16:creationId xmlns:a16="http://schemas.microsoft.com/office/drawing/2014/main" id="{0A027E74-81A3-4844-9D8D-1E0C1F0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Selected branches from the preceding WEKA J48 tree. Full text and option codes in backup.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J48: Main CGPA prediction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7fd7fca6d4cfd"/>
          <a:stretch xmlns:a="http://schemas.openxmlformats.org/drawingml/2006/main"/>
        </p:blipFill>
        <p:spPr>
          <a:xfrm xmlns:a="http://schemas.openxmlformats.org/drawingml/2006/main">
            <a:off x="1809750" y="1381125"/>
            <a:ext cx="8572500" cy="4524375"/>
          </a:xfrm>
          <a:prstGeom xmlns:a="http://schemas.openxmlformats.org/drawingml/2006/main" prst="rect">
            <a:avLst/>
          </a:prstGeom>
        </p:spPr>
      </p:pic>
      <p:sp>
        <p:nvSpPr>
          <p:cNvPr id="535" name="WEKA J48 -C 0.25 -M 40. Main CGPA prediction. Test: 49.">
            <a:extLst xmlns:a="http://schemas.openxmlformats.org/drawingml/2006/main">
              <a:ext uri="{FF2B5EF4-FFF2-40B4-BE49-F238E27FC236}">
                <a16:creationId xmlns:a16="http://schemas.microsoft.com/office/drawing/2014/main" id="{9F675CF9-74AB-4FE8-81C8-F29481B0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J48 -C 0.25 -M 40. Main CGPA prediction. Test: 49.77%. ZeroR test: 28.96%.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Main CGPA J48 rules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26E57E7-B428-4CB4-8BA3-C6519134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IF recent SGPA is below 3.20">
            <a:extLst xmlns:a="http://schemas.openxmlformats.org/drawingml/2006/main">
              <a:ext uri="{FF2B5EF4-FFF2-40B4-BE49-F238E27FC236}">
                <a16:creationId xmlns:a16="http://schemas.microsoft.com/office/drawing/2014/main" id="{E16C5B50-D028-4E43-94D7-EA8A1DA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recent SGPA is below 3.20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2C872AC-A827-4521-9F23-E931472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669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74C733A4-0A37-4116-8BED-44A9A7B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A83A3A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14E96CB-3648-4FF2-B087-A94F2BB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9" name="IF recent SGPA is 3.20–3.49">
            <a:extLst xmlns:a="http://schemas.openxmlformats.org/drawingml/2006/main">
              <a:ext uri="{FF2B5EF4-FFF2-40B4-BE49-F238E27FC236}">
                <a16:creationId xmlns:a16="http://schemas.microsoft.com/office/drawing/2014/main" id="{1FA80B7A-C15B-42FB-9255-ABC557E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recent SGPA is 3.20–3.49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7C3D587-50F2-431B-8544-3060587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1" name="C1">
            <a:extLst xmlns:a="http://schemas.openxmlformats.org/drawingml/2006/main">
              <a:ext uri="{FF2B5EF4-FFF2-40B4-BE49-F238E27FC236}">
                <a16:creationId xmlns:a16="http://schemas.microsoft.com/office/drawing/2014/main" id="{B77E0ED3-E1F1-463C-BAEE-C5C4C49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146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DC713D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C1F263A-D6D2-4DF7-8582-3398173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3" name="IF recent SGPA is 3.50–3.74">
            <a:extLst xmlns:a="http://schemas.openxmlformats.org/drawingml/2006/main">
              <a:ext uri="{FF2B5EF4-FFF2-40B4-BE49-F238E27FC236}">
                <a16:creationId xmlns:a16="http://schemas.microsoft.com/office/drawing/2014/main" id="{A3AA4AE0-59FD-4836-9057-5A961D3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recent SGPA is 3.50–3.74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64609CC-4502-497D-AB90-9A6708F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909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5" name="C2">
            <a:extLst xmlns:a="http://schemas.openxmlformats.org/drawingml/2006/main">
              <a:ext uri="{FF2B5EF4-FFF2-40B4-BE49-F238E27FC236}">
                <a16:creationId xmlns:a16="http://schemas.microsoft.com/office/drawing/2014/main" id="{BB5BFC23-882B-444E-A98F-5D10088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766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4C91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4C91D8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79D4553-5A89-4AE8-A460-C1C15530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7" name="IF recent SGPA is 3.75 or higher&#10;AND outside commitment">
            <a:extLst xmlns:a="http://schemas.openxmlformats.org/drawingml/2006/main">
              <a:ext uri="{FF2B5EF4-FFF2-40B4-BE49-F238E27FC236}">
                <a16:creationId xmlns:a16="http://schemas.microsoft.com/office/drawing/2014/main" id="{AF0C428E-C58D-4214-9E0C-10262A63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904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IF recent SGPA is 3.75 or higher</a:t>
            </a:r>
          </a:p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AND outside commitments are 0–5 hours per week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7CD3025-A1BF-4AC9-88B7-D9F72A0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AAAA"/>
          </a:solidFill>
          <a:ln xmlns:a="http://schemas.openxmlformats.org/drawingml/2006/main" w="0">
            <a:noFill/>
          </a:ln>
        </p:spPr>
      </p:sp>
      <p:sp>
        <p:nvSpPr>
          <p:cNvPr id="549" name="C3">
            <a:extLst xmlns:a="http://schemas.openxmlformats.org/drawingml/2006/main">
              <a:ext uri="{FF2B5EF4-FFF2-40B4-BE49-F238E27FC236}">
                <a16:creationId xmlns:a16="http://schemas.microsoft.com/office/drawing/2014/main" id="{54E44013-C6E6-4446-845B-F183736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38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285B9F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50" name="Selected branches from the preceding WEKA J48 tree. Ful">
            <a:extLst xmlns:a="http://schemas.openxmlformats.org/drawingml/2006/main">
              <a:ext uri="{FF2B5EF4-FFF2-40B4-BE49-F238E27FC236}">
                <a16:creationId xmlns:a16="http://schemas.microsoft.com/office/drawing/2014/main" id="{703BF492-3021-4A79-9223-484B6106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Selected branches from the preceding WEKA J48 tree. Full text and option codes in backup.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 training and test accuracy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133600"/>
          <a:ext xmlns:a="http://schemas.openxmlformats.org/drawingml/2006/main" cx="113919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0450"/>
                <a:gridCol w="2571750"/>
                <a:gridCol w="2619375"/>
                <a:gridCol w="2600325"/>
              </a:tblGrid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(881)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(221)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ZeroR test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Recent SGPA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39.39%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CGPA questionnaire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36.55%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32.13%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28.96%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CGPA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49.77%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28.96%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Each row evaluates the same fitted WEKA J48 on its trai">
            <a:extLst xmlns:a="http://schemas.openxmlformats.org/drawingml/2006/main">
              <a:ext uri="{FF2B5EF4-FFF2-40B4-BE49-F238E27FC236}">
                <a16:creationId xmlns:a16="http://schemas.microsoft.com/office/drawing/2014/main" id="{F6DEFF97-0E0E-43D0-AC79-EE02F262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Each row evaluates the same fitted WEKA J48 on its training and test records.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J48: main CGPA test confusion matrix</a:t>
            </a:r>
          </a:p>
        </p:txBody>
      </p:sp>
      <p:sp>
        <p:nvSpPr>
          <p:cNvPr id="534" name="Fixed test set">
            <a:extLst xmlns:a="http://schemas.openxmlformats.org/drawingml/2006/main">
              <a:ext uri="{FF2B5EF4-FFF2-40B4-BE49-F238E27FC236}">
                <a16:creationId xmlns:a16="http://schemas.microsoft.com/office/drawing/2014/main" id="{3739AA41-A84E-4DAC-A438-FE6F290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38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Fixed test set</a:t>
            </a:r>
          </a:p>
        </p:txBody>
      </p:sp>
      <p:sp>
        <p:nvSpPr>
          <p:cNvPr id="535" name="Predicted">
            <a:extLst xmlns:a="http://schemas.openxmlformats.org/drawingml/2006/main">
              <a:ext uri="{FF2B5EF4-FFF2-40B4-BE49-F238E27FC236}">
                <a16:creationId xmlns:a16="http://schemas.microsoft.com/office/drawing/2014/main" id="{C1712C18-5E68-4CFC-B3F7-1461649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859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7C6F7F92-7FF1-4303-81C8-0249E069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47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0BFA08BB-4965-4588-AE75-A5B3509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C1">
            <a:extLst xmlns:a="http://schemas.openxmlformats.org/drawingml/2006/main">
              <a:ext uri="{FF2B5EF4-FFF2-40B4-BE49-F238E27FC236}">
                <a16:creationId xmlns:a16="http://schemas.microsoft.com/office/drawing/2014/main" id="{68B9F007-3737-455C-BCE6-27DA0AA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47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11AA9828-9357-40C6-B606-DA483A9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C2">
            <a:extLst xmlns:a="http://schemas.openxmlformats.org/drawingml/2006/main">
              <a:ext uri="{FF2B5EF4-FFF2-40B4-BE49-F238E27FC236}">
                <a16:creationId xmlns:a16="http://schemas.microsoft.com/office/drawing/2014/main" id="{D4CAEEDD-C666-4CF9-86EB-DF9B971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1" name="C2">
            <a:extLst xmlns:a="http://schemas.openxmlformats.org/drawingml/2006/main">
              <a:ext uri="{FF2B5EF4-FFF2-40B4-BE49-F238E27FC236}">
                <a16:creationId xmlns:a16="http://schemas.microsoft.com/office/drawing/2014/main" id="{3633376E-A84D-4CA3-92A7-E9B40D2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2" name="C3">
            <a:extLst xmlns:a="http://schemas.openxmlformats.org/drawingml/2006/main">
              <a:ext uri="{FF2B5EF4-FFF2-40B4-BE49-F238E27FC236}">
                <a16:creationId xmlns:a16="http://schemas.microsoft.com/office/drawing/2014/main" id="{33BA2BE4-3B94-4104-955A-4DB8302C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3" name="C3">
            <a:extLst xmlns:a="http://schemas.openxmlformats.org/drawingml/2006/main">
              <a:ext uri="{FF2B5EF4-FFF2-40B4-BE49-F238E27FC236}">
                <a16:creationId xmlns:a16="http://schemas.microsoft.com/office/drawing/2014/main" id="{02C74AD8-225B-4A0B-A877-0DAE203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DEA5E1A-4613-49F7-B8A0-358E7FF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19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45" name="22">
            <a:extLst xmlns:a="http://schemas.openxmlformats.org/drawingml/2006/main">
              <a:ext uri="{FF2B5EF4-FFF2-40B4-BE49-F238E27FC236}">
                <a16:creationId xmlns:a16="http://schemas.microsoft.com/office/drawing/2014/main" id="{224B06EB-448B-4341-BD58-CC805A6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A6CA628-2B6B-45F4-A1E1-EC12939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19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7" name="15">
            <a:extLst xmlns:a="http://schemas.openxmlformats.org/drawingml/2006/main">
              <a:ext uri="{FF2B5EF4-FFF2-40B4-BE49-F238E27FC236}">
                <a16:creationId xmlns:a16="http://schemas.microsoft.com/office/drawing/2014/main" id="{D82B291B-5ABB-45E2-995B-74DD4CE2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28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C3CD02A-C4A1-48D5-90D8-2DDA5E4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19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9" name="6">
            <a:extLst xmlns:a="http://schemas.openxmlformats.org/drawingml/2006/main">
              <a:ext uri="{FF2B5EF4-FFF2-40B4-BE49-F238E27FC236}">
                <a16:creationId xmlns:a16="http://schemas.microsoft.com/office/drawing/2014/main" id="{661C2EBA-7689-4DAF-A81D-8E0138E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AE034E4-FD72-4F48-8A82-65F3E96F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19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1" name="4">
            <a:extLst xmlns:a="http://schemas.openxmlformats.org/drawingml/2006/main">
              <a:ext uri="{FF2B5EF4-FFF2-40B4-BE49-F238E27FC236}">
                <a16:creationId xmlns:a16="http://schemas.microsoft.com/office/drawing/2014/main" id="{7DFA47BA-DC7C-42B2-BA91-1AE4459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91F08D7-84BF-4785-9CB0-6D994C5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3" name="8">
            <a:extLst xmlns:a="http://schemas.openxmlformats.org/drawingml/2006/main">
              <a:ext uri="{FF2B5EF4-FFF2-40B4-BE49-F238E27FC236}">
                <a16:creationId xmlns:a16="http://schemas.microsoft.com/office/drawing/2014/main" id="{5BE679D5-7A28-4624-8432-A4A800E0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E8647A3-E4D8-4653-B644-F1F8D45B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81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55" name="31">
            <a:extLst xmlns:a="http://schemas.openxmlformats.org/drawingml/2006/main">
              <a:ext uri="{FF2B5EF4-FFF2-40B4-BE49-F238E27FC236}">
                <a16:creationId xmlns:a16="http://schemas.microsoft.com/office/drawing/2014/main" id="{B833342E-AD57-46FF-BE11-70D2A80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4D62EB5-3748-4BAF-85C2-CF4EE1D5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7" name="15">
            <a:extLst xmlns:a="http://schemas.openxmlformats.org/drawingml/2006/main">
              <a:ext uri="{FF2B5EF4-FFF2-40B4-BE49-F238E27FC236}">
                <a16:creationId xmlns:a16="http://schemas.microsoft.com/office/drawing/2014/main" id="{A822F886-B0D3-4B8B-B67D-457F7AE1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9F6E432E-87BC-4EB3-A695-CD36BC5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9" name="10">
            <a:extLst xmlns:a="http://schemas.openxmlformats.org/drawingml/2006/main">
              <a:ext uri="{FF2B5EF4-FFF2-40B4-BE49-F238E27FC236}">
                <a16:creationId xmlns:a16="http://schemas.microsoft.com/office/drawing/2014/main" id="{9399365C-40D0-4885-A0C1-EE22ABB8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64F8F8F5-EB1B-4829-8AA3-6169D47D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43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1" name="7">
            <a:extLst xmlns:a="http://schemas.openxmlformats.org/drawingml/2006/main">
              <a:ext uri="{FF2B5EF4-FFF2-40B4-BE49-F238E27FC236}">
                <a16:creationId xmlns:a16="http://schemas.microsoft.com/office/drawing/2014/main" id="{A2215DC9-9298-4EB4-A991-DFD936B6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52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011E8A7-D942-4B70-B71A-5F086E1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43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3" name="15">
            <a:extLst xmlns:a="http://schemas.openxmlformats.org/drawingml/2006/main">
              <a:ext uri="{FF2B5EF4-FFF2-40B4-BE49-F238E27FC236}">
                <a16:creationId xmlns:a16="http://schemas.microsoft.com/office/drawing/2014/main" id="{B87AC660-6FAE-4489-BA03-63B04FD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52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08700BC-EC30-4F22-8D0D-BC68EC3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43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65" name="29">
            <a:extLst xmlns:a="http://schemas.openxmlformats.org/drawingml/2006/main">
              <a:ext uri="{FF2B5EF4-FFF2-40B4-BE49-F238E27FC236}">
                <a16:creationId xmlns:a16="http://schemas.microsoft.com/office/drawing/2014/main" id="{E055F965-D75C-4542-B28A-7517BB18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52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EB89D73-8E57-4D8E-86DE-96113D03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43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7" name="9">
            <a:extLst xmlns:a="http://schemas.openxmlformats.org/drawingml/2006/main">
              <a:ext uri="{FF2B5EF4-FFF2-40B4-BE49-F238E27FC236}">
                <a16:creationId xmlns:a16="http://schemas.microsoft.com/office/drawing/2014/main" id="{4E8B27D2-C8F6-496C-B891-0B60C28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F29AC85-CEBB-43F3-8DD2-DCA6922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05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9" name="3">
            <a:extLst xmlns:a="http://schemas.openxmlformats.org/drawingml/2006/main">
              <a:ext uri="{FF2B5EF4-FFF2-40B4-BE49-F238E27FC236}">
                <a16:creationId xmlns:a16="http://schemas.microsoft.com/office/drawing/2014/main" id="{FFA2081E-D0F7-4992-AE34-E350B10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E8F86C4B-C122-4D3F-9C14-9E26C10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05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1" name="11">
            <a:extLst xmlns:a="http://schemas.openxmlformats.org/drawingml/2006/main">
              <a:ext uri="{FF2B5EF4-FFF2-40B4-BE49-F238E27FC236}">
                <a16:creationId xmlns:a16="http://schemas.microsoft.com/office/drawing/2014/main" id="{4BDAA861-5F1F-4ADD-8392-6EE98E1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30E8E8AF-CCAE-4C9C-8B73-8341C046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05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3" name="8">
            <a:extLst xmlns:a="http://schemas.openxmlformats.org/drawingml/2006/main">
              <a:ext uri="{FF2B5EF4-FFF2-40B4-BE49-F238E27FC236}">
                <a16:creationId xmlns:a16="http://schemas.microsoft.com/office/drawing/2014/main" id="{E6D1C492-E574-4A52-837C-FFCEA1B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884B5B1-E26D-4A60-83F5-3CFA9D31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053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75" name="28">
            <a:extLst xmlns:a="http://schemas.openxmlformats.org/drawingml/2006/main">
              <a:ext uri="{FF2B5EF4-FFF2-40B4-BE49-F238E27FC236}">
                <a16:creationId xmlns:a16="http://schemas.microsoft.com/office/drawing/2014/main" id="{C77C9DE1-EA68-4295-AB28-B83DF1A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14900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76" name="C0  &lt; 3.20&#10;C1  3.20–3.49&#10;C2  3.50–3.74&#10;C3  ≥ 3.75">
            <a:extLst xmlns:a="http://schemas.openxmlformats.org/drawingml/2006/main">
              <a:ext uri="{FF2B5EF4-FFF2-40B4-BE49-F238E27FC236}">
                <a16:creationId xmlns:a16="http://schemas.microsoft.com/office/drawing/2014/main" id="{535EE8C2-4DFB-4CD7-B1AC-773F48E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  &lt; 3.20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  3.20–3.49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  3.50–3.74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  ≥ 3.75</a:t>
            </a:r>
          </a:p>
        </p:txBody>
      </p:sp>
      <p:sp>
        <p:nvSpPr>
          <p:cNvPr id="577" name="Rows = actual class. Columns = predicted class. Blue ce">
            <a:extLst xmlns:a="http://schemas.openxmlformats.org/drawingml/2006/main">
              <a:ext uri="{FF2B5EF4-FFF2-40B4-BE49-F238E27FC236}">
                <a16:creationId xmlns:a16="http://schemas.microsoft.com/office/drawing/2014/main" id="{5C5F3199-13B0-4449-A726-1F31AE21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Rows = actual class. Columns = predicted class. Blue cells are 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Random Forest and SMO matrices</a:t>
            </a:r>
          </a:p>
        </p:txBody>
      </p:sp>
      <p:sp>
        <p:nvSpPr>
          <p:cNvPr id="534" name="Random Forest">
            <a:extLst xmlns:a="http://schemas.openxmlformats.org/drawingml/2006/main">
              <a:ext uri="{FF2B5EF4-FFF2-40B4-BE49-F238E27FC236}">
                <a16:creationId xmlns:a16="http://schemas.microsoft.com/office/drawing/2014/main" id="{0F2F2DFE-AD5B-4629-ACCB-05C4E9C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Random Forest</a:t>
            </a:r>
          </a:p>
        </p:txBody>
      </p:sp>
      <p:sp>
        <p:nvSpPr>
          <p:cNvPr id="535" name="Predicted">
            <a:extLst xmlns:a="http://schemas.openxmlformats.org/drawingml/2006/main">
              <a:ext uri="{FF2B5EF4-FFF2-40B4-BE49-F238E27FC236}">
                <a16:creationId xmlns:a16="http://schemas.microsoft.com/office/drawing/2014/main" id="{DDD9BC4E-CF17-4DCD-B8DC-5843CB1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80BDD149-0E22-45F9-80AF-C2BC951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F4A4CFCB-6031-416A-A0A6-06638A9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C1">
            <a:extLst xmlns:a="http://schemas.openxmlformats.org/drawingml/2006/main">
              <a:ext uri="{FF2B5EF4-FFF2-40B4-BE49-F238E27FC236}">
                <a16:creationId xmlns:a16="http://schemas.microsoft.com/office/drawing/2014/main" id="{3171E6BB-B4B1-4C01-A786-1AE1C13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14C64141-A013-46D8-8B0D-41E6DBBC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C2">
            <a:extLst xmlns:a="http://schemas.openxmlformats.org/drawingml/2006/main">
              <a:ext uri="{FF2B5EF4-FFF2-40B4-BE49-F238E27FC236}">
                <a16:creationId xmlns:a16="http://schemas.microsoft.com/office/drawing/2014/main" id="{D591E177-BA9C-4F4D-9D42-7F25A3F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1" name="C2">
            <a:extLst xmlns:a="http://schemas.openxmlformats.org/drawingml/2006/main">
              <a:ext uri="{FF2B5EF4-FFF2-40B4-BE49-F238E27FC236}">
                <a16:creationId xmlns:a16="http://schemas.microsoft.com/office/drawing/2014/main" id="{3C6139E3-7BCF-407D-971B-5C6ACD8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2" name="C3">
            <a:extLst xmlns:a="http://schemas.openxmlformats.org/drawingml/2006/main">
              <a:ext uri="{FF2B5EF4-FFF2-40B4-BE49-F238E27FC236}">
                <a16:creationId xmlns:a16="http://schemas.microsoft.com/office/drawing/2014/main" id="{6EE1E8AC-9110-42A3-9AF3-5578598D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3" name="C3">
            <a:extLst xmlns:a="http://schemas.openxmlformats.org/drawingml/2006/main">
              <a:ext uri="{FF2B5EF4-FFF2-40B4-BE49-F238E27FC236}">
                <a16:creationId xmlns:a16="http://schemas.microsoft.com/office/drawing/2014/main" id="{20D278B0-58B3-4153-9AB7-86B8FED7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D11D9988-1815-4633-A201-C3691AF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45" name="95">
            <a:extLst xmlns:a="http://schemas.openxmlformats.org/drawingml/2006/main">
              <a:ext uri="{FF2B5EF4-FFF2-40B4-BE49-F238E27FC236}">
                <a16:creationId xmlns:a16="http://schemas.microsoft.com/office/drawing/2014/main" id="{0AF98338-F7D2-40C8-9BB4-E7A6DB2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95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D4A0DA2-021C-4DD8-B93B-F87CB03E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7" name="81">
            <a:extLst xmlns:a="http://schemas.openxmlformats.org/drawingml/2006/main">
              <a:ext uri="{FF2B5EF4-FFF2-40B4-BE49-F238E27FC236}">
                <a16:creationId xmlns:a16="http://schemas.microsoft.com/office/drawing/2014/main" id="{D2198BD5-0A52-469F-BBEC-480FCF2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81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906FA53-33A7-4D28-9FE8-E1A8F059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9" name="26">
            <a:extLst xmlns:a="http://schemas.openxmlformats.org/drawingml/2006/main">
              <a:ext uri="{FF2B5EF4-FFF2-40B4-BE49-F238E27FC236}">
                <a16:creationId xmlns:a16="http://schemas.microsoft.com/office/drawing/2014/main" id="{A699CC03-0A6F-4D96-8E89-2AD80EF4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8B873C1-215C-425F-AF39-DBD53E6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1" name="34">
            <a:extLst xmlns:a="http://schemas.openxmlformats.org/drawingml/2006/main">
              <a:ext uri="{FF2B5EF4-FFF2-40B4-BE49-F238E27FC236}">
                <a16:creationId xmlns:a16="http://schemas.microsoft.com/office/drawing/2014/main" id="{4A4168F7-46E3-4576-951D-93BF914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14C9AA9-D23B-4C10-A933-9BD85FF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3" name="57">
            <a:extLst xmlns:a="http://schemas.openxmlformats.org/drawingml/2006/main">
              <a:ext uri="{FF2B5EF4-FFF2-40B4-BE49-F238E27FC236}">
                <a16:creationId xmlns:a16="http://schemas.microsoft.com/office/drawing/2014/main" id="{80DB899D-BD1B-41A3-9B19-2FFB5E0F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57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C2500C5-C792-4DE6-B376-A7BE219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55" name="159">
            <a:extLst xmlns:a="http://schemas.openxmlformats.org/drawingml/2006/main">
              <a:ext uri="{FF2B5EF4-FFF2-40B4-BE49-F238E27FC236}">
                <a16:creationId xmlns:a16="http://schemas.microsoft.com/office/drawing/2014/main" id="{CCFBA774-3D54-4CC7-B3D7-96C0317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159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33AE933-1476-4090-84F9-0EA47D1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7" name="71">
            <a:extLst xmlns:a="http://schemas.openxmlformats.org/drawingml/2006/main">
              <a:ext uri="{FF2B5EF4-FFF2-40B4-BE49-F238E27FC236}">
                <a16:creationId xmlns:a16="http://schemas.microsoft.com/office/drawing/2014/main" id="{986D60C0-2F08-4D18-BDF3-344808A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71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7B7C1E8-963E-4A60-A5A3-F4930AB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9" name="33">
            <a:extLst xmlns:a="http://schemas.openxmlformats.org/drawingml/2006/main">
              <a:ext uri="{FF2B5EF4-FFF2-40B4-BE49-F238E27FC236}">
                <a16:creationId xmlns:a16="http://schemas.microsoft.com/office/drawing/2014/main" id="{C9EF27C4-576A-4264-91AB-CEC1780D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9D97520-C572-4285-B327-EDEF1F8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1" name="47">
            <a:extLst xmlns:a="http://schemas.openxmlformats.org/drawingml/2006/main">
              <a:ext uri="{FF2B5EF4-FFF2-40B4-BE49-F238E27FC236}">
                <a16:creationId xmlns:a16="http://schemas.microsoft.com/office/drawing/2014/main" id="{71831B06-AA0D-4C31-9397-C152075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47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34012A19-68B3-4FCD-9A0C-DD6A395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3" name="79">
            <a:extLst xmlns:a="http://schemas.openxmlformats.org/drawingml/2006/main">
              <a:ext uri="{FF2B5EF4-FFF2-40B4-BE49-F238E27FC236}">
                <a16:creationId xmlns:a16="http://schemas.microsoft.com/office/drawing/2014/main" id="{28B34E49-82BB-491A-A4A2-9C95DD4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79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0C62F330-9BCF-48DE-ADAC-6E6C496C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65" name="126">
            <a:extLst xmlns:a="http://schemas.openxmlformats.org/drawingml/2006/main">
              <a:ext uri="{FF2B5EF4-FFF2-40B4-BE49-F238E27FC236}">
                <a16:creationId xmlns:a16="http://schemas.microsoft.com/office/drawing/2014/main" id="{618467CC-2828-4D6C-933B-4CDB516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126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0256204E-6A45-4A74-BBDD-FA657A45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7" name="48">
            <a:extLst xmlns:a="http://schemas.openxmlformats.org/drawingml/2006/main">
              <a:ext uri="{FF2B5EF4-FFF2-40B4-BE49-F238E27FC236}">
                <a16:creationId xmlns:a16="http://schemas.microsoft.com/office/drawing/2014/main" id="{6F799D76-7EC3-4ABA-8124-E099B94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48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774412FF-622F-420B-8EE1-EAF10E0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9" name="43">
            <a:extLst xmlns:a="http://schemas.openxmlformats.org/drawingml/2006/main">
              <a:ext uri="{FF2B5EF4-FFF2-40B4-BE49-F238E27FC236}">
                <a16:creationId xmlns:a16="http://schemas.microsoft.com/office/drawing/2014/main" id="{B47EFCD2-FCB6-4E14-95F6-D292C5C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9C8F86F2-1D33-4017-80DC-875BC07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1" name="50">
            <a:extLst xmlns:a="http://schemas.openxmlformats.org/drawingml/2006/main">
              <a:ext uri="{FF2B5EF4-FFF2-40B4-BE49-F238E27FC236}">
                <a16:creationId xmlns:a16="http://schemas.microsoft.com/office/drawing/2014/main" id="{F0D60755-9770-41C8-AB4A-F1708D8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9F61A3A-1447-494E-BC2B-299141A2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3" name="49">
            <a:extLst xmlns:a="http://schemas.openxmlformats.org/drawingml/2006/main">
              <a:ext uri="{FF2B5EF4-FFF2-40B4-BE49-F238E27FC236}">
                <a16:creationId xmlns:a16="http://schemas.microsoft.com/office/drawing/2014/main" id="{1EC4589B-041C-4310-BF07-47AF89C1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2E3B671-A302-4C01-AABA-3758D87C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75" name="104">
            <a:extLst xmlns:a="http://schemas.openxmlformats.org/drawingml/2006/main">
              <a:ext uri="{FF2B5EF4-FFF2-40B4-BE49-F238E27FC236}">
                <a16:creationId xmlns:a16="http://schemas.microsoft.com/office/drawing/2014/main" id="{DA762A01-9D20-43D9-A4AB-52FA97E8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104</a:t>
            </a:r>
          </a:p>
        </p:txBody>
      </p:sp>
      <p:sp>
        <p:nvSpPr>
          <p:cNvPr id="576" name="SMO">
            <a:extLst xmlns:a="http://schemas.openxmlformats.org/drawingml/2006/main">
              <a:ext uri="{FF2B5EF4-FFF2-40B4-BE49-F238E27FC236}">
                <a16:creationId xmlns:a16="http://schemas.microsoft.com/office/drawing/2014/main" id="{3BABFCF0-35E7-4B6B-BD76-E9E1749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SMO</a:t>
            </a:r>
          </a:p>
        </p:txBody>
      </p:sp>
      <p:sp>
        <p:nvSpPr>
          <p:cNvPr id="577" name="Predicted">
            <a:extLst xmlns:a="http://schemas.openxmlformats.org/drawingml/2006/main">
              <a:ext uri="{FF2B5EF4-FFF2-40B4-BE49-F238E27FC236}">
                <a16:creationId xmlns:a16="http://schemas.microsoft.com/office/drawing/2014/main" id="{F39808B3-1686-40FC-9FF6-9882CEF4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78" name="C0">
            <a:extLst xmlns:a="http://schemas.openxmlformats.org/drawingml/2006/main">
              <a:ext uri="{FF2B5EF4-FFF2-40B4-BE49-F238E27FC236}">
                <a16:creationId xmlns:a16="http://schemas.microsoft.com/office/drawing/2014/main" id="{4EB0661E-038B-412B-B04C-C89876B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79" name="C0">
            <a:extLst xmlns:a="http://schemas.openxmlformats.org/drawingml/2006/main">
              <a:ext uri="{FF2B5EF4-FFF2-40B4-BE49-F238E27FC236}">
                <a16:creationId xmlns:a16="http://schemas.microsoft.com/office/drawing/2014/main" id="{1FBFAC63-9425-4534-A86B-E93E97C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80" name="C1">
            <a:extLst xmlns:a="http://schemas.openxmlformats.org/drawingml/2006/main">
              <a:ext uri="{FF2B5EF4-FFF2-40B4-BE49-F238E27FC236}">
                <a16:creationId xmlns:a16="http://schemas.microsoft.com/office/drawing/2014/main" id="{2FB66E8F-1044-41CB-AB46-F496C41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81" name="C1">
            <a:extLst xmlns:a="http://schemas.openxmlformats.org/drawingml/2006/main">
              <a:ext uri="{FF2B5EF4-FFF2-40B4-BE49-F238E27FC236}">
                <a16:creationId xmlns:a16="http://schemas.microsoft.com/office/drawing/2014/main" id="{2B7D64CB-570B-4FF1-95F5-CE6AAB5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82" name="C2">
            <a:extLst xmlns:a="http://schemas.openxmlformats.org/drawingml/2006/main">
              <a:ext uri="{FF2B5EF4-FFF2-40B4-BE49-F238E27FC236}">
                <a16:creationId xmlns:a16="http://schemas.microsoft.com/office/drawing/2014/main" id="{3BE742B8-E027-4F3E-AD75-E2A17CC5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83" name="C2">
            <a:extLst xmlns:a="http://schemas.openxmlformats.org/drawingml/2006/main">
              <a:ext uri="{FF2B5EF4-FFF2-40B4-BE49-F238E27FC236}">
                <a16:creationId xmlns:a16="http://schemas.microsoft.com/office/drawing/2014/main" id="{BD1096B7-232F-45BA-8E80-2A64AB3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84" name="C3">
            <a:extLst xmlns:a="http://schemas.openxmlformats.org/drawingml/2006/main">
              <a:ext uri="{FF2B5EF4-FFF2-40B4-BE49-F238E27FC236}">
                <a16:creationId xmlns:a16="http://schemas.microsoft.com/office/drawing/2014/main" id="{C07A15B5-6060-4633-BFF7-D910DA3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85" name="C3">
            <a:extLst xmlns:a="http://schemas.openxmlformats.org/drawingml/2006/main">
              <a:ext uri="{FF2B5EF4-FFF2-40B4-BE49-F238E27FC236}">
                <a16:creationId xmlns:a16="http://schemas.microsoft.com/office/drawing/2014/main" id="{50974A56-6CE3-4563-8B66-B25AB99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0876E1C7-5B12-46B0-8C21-5D73DB3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87" name="61">
            <a:extLst xmlns:a="http://schemas.openxmlformats.org/drawingml/2006/main">
              <a:ext uri="{FF2B5EF4-FFF2-40B4-BE49-F238E27FC236}">
                <a16:creationId xmlns:a16="http://schemas.microsoft.com/office/drawing/2014/main" id="{95388BEB-8698-4CFB-92AD-E832C724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61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F960E39D-F991-4EAE-8F4E-3C9309B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89" name="113">
            <a:extLst xmlns:a="http://schemas.openxmlformats.org/drawingml/2006/main">
              <a:ext uri="{FF2B5EF4-FFF2-40B4-BE49-F238E27FC236}">
                <a16:creationId xmlns:a16="http://schemas.microsoft.com/office/drawing/2014/main" id="{DE78A59A-4956-4EF3-92A5-EE28E442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113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6C051456-58AA-4EAF-85FF-83EDA544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1" name="34">
            <a:extLst xmlns:a="http://schemas.openxmlformats.org/drawingml/2006/main">
              <a:ext uri="{FF2B5EF4-FFF2-40B4-BE49-F238E27FC236}">
                <a16:creationId xmlns:a16="http://schemas.microsoft.com/office/drawing/2014/main" id="{2A91F79E-832C-4644-BBDD-FA0CCB86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6B00BD00-CE11-4BFD-8FA9-9F85F305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3" name="28">
            <a:extLst xmlns:a="http://schemas.openxmlformats.org/drawingml/2006/main">
              <a:ext uri="{FF2B5EF4-FFF2-40B4-BE49-F238E27FC236}">
                <a16:creationId xmlns:a16="http://schemas.microsoft.com/office/drawing/2014/main" id="{CBCBDA0B-45C0-436F-B0EE-2B46687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78B6431-D79A-41B0-BD2A-711BF2F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5" name="51">
            <a:extLst xmlns:a="http://schemas.openxmlformats.org/drawingml/2006/main">
              <a:ext uri="{FF2B5EF4-FFF2-40B4-BE49-F238E27FC236}">
                <a16:creationId xmlns:a16="http://schemas.microsoft.com/office/drawing/2014/main" id="{BB6EEC3F-CC83-426E-B5AD-E6A952D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51</a:t>
            </a:r>
          </a:p>
        </p:txBody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FA612206-D54A-4241-B32C-B32EE34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97" name="154">
            <a:extLst xmlns:a="http://schemas.openxmlformats.org/drawingml/2006/main">
              <a:ext uri="{FF2B5EF4-FFF2-40B4-BE49-F238E27FC236}">
                <a16:creationId xmlns:a16="http://schemas.microsoft.com/office/drawing/2014/main" id="{6524B158-CEDE-4927-A679-415745B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154</a:t>
            </a:r>
          </a:p>
        </p:txBody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741B065-A589-4A32-A6F3-749FF391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9" name="75">
            <a:extLst xmlns:a="http://schemas.openxmlformats.org/drawingml/2006/main">
              <a:ext uri="{FF2B5EF4-FFF2-40B4-BE49-F238E27FC236}">
                <a16:creationId xmlns:a16="http://schemas.microsoft.com/office/drawing/2014/main" id="{6E693FF2-9E95-4201-B4C8-A142A87D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75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EA89467E-4E91-43E3-86A4-9D4FC54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1" name="40">
            <a:extLst xmlns:a="http://schemas.openxmlformats.org/drawingml/2006/main">
              <a:ext uri="{FF2B5EF4-FFF2-40B4-BE49-F238E27FC236}">
                <a16:creationId xmlns:a16="http://schemas.microsoft.com/office/drawing/2014/main" id="{65BBB772-4CBD-4A3D-8CF3-20104AD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8264695-B981-4B60-A3B7-45AB5D19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3" name="42">
            <a:extLst xmlns:a="http://schemas.openxmlformats.org/drawingml/2006/main">
              <a:ext uri="{FF2B5EF4-FFF2-40B4-BE49-F238E27FC236}">
                <a16:creationId xmlns:a16="http://schemas.microsoft.com/office/drawing/2014/main" id="{4FBE7EBE-EC57-4791-A404-41BAEE3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4A2145E4-CACD-4F97-9067-D19FD95C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5" name="93">
            <a:extLst xmlns:a="http://schemas.openxmlformats.org/drawingml/2006/main">
              <a:ext uri="{FF2B5EF4-FFF2-40B4-BE49-F238E27FC236}">
                <a16:creationId xmlns:a16="http://schemas.microsoft.com/office/drawing/2014/main" id="{B33826F1-97EE-49FD-BF10-2B1CA315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93</a:t>
            </a:r>
          </a:p>
        </p:txBody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744B05F3-5989-4A6C-852E-958688C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607" name="109">
            <a:extLst xmlns:a="http://schemas.openxmlformats.org/drawingml/2006/main">
              <a:ext uri="{FF2B5EF4-FFF2-40B4-BE49-F238E27FC236}">
                <a16:creationId xmlns:a16="http://schemas.microsoft.com/office/drawing/2014/main" id="{69F449AD-3C64-4102-9C8C-2ABE1259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109</a:t>
            </a:r>
          </a:p>
        </p:txBody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91D34F1E-D72B-402C-AF44-D52C256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9" name="56">
            <a:extLst xmlns:a="http://schemas.openxmlformats.org/drawingml/2006/main">
              <a:ext uri="{FF2B5EF4-FFF2-40B4-BE49-F238E27FC236}">
                <a16:creationId xmlns:a16="http://schemas.microsoft.com/office/drawing/2014/main" id="{CC10493B-6C60-467F-9119-60E4E99A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56</a:t>
            </a:r>
          </a:p>
        </p:txBody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F2C1BB96-9BE2-4381-9A73-7251356C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1" name="35">
            <a:extLst xmlns:a="http://schemas.openxmlformats.org/drawingml/2006/main">
              <a:ext uri="{FF2B5EF4-FFF2-40B4-BE49-F238E27FC236}">
                <a16:creationId xmlns:a16="http://schemas.microsoft.com/office/drawing/2014/main" id="{3836D571-8D4C-4AE7-BE4D-7985478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A974C435-DD44-4BF0-93FA-7CEF3489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3" name="56">
            <a:extLst xmlns:a="http://schemas.openxmlformats.org/drawingml/2006/main">
              <a:ext uri="{FF2B5EF4-FFF2-40B4-BE49-F238E27FC236}">
                <a16:creationId xmlns:a16="http://schemas.microsoft.com/office/drawing/2014/main" id="{ACF3F70D-BB54-44D5-9F92-30F1A602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56</a:t>
            </a:r>
          </a:p>
        </p:txBody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32CFB375-EE95-40D6-ABD5-ACB5FA4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5" name="70">
            <a:extLst xmlns:a="http://schemas.openxmlformats.org/drawingml/2006/main">
              <a:ext uri="{FF2B5EF4-FFF2-40B4-BE49-F238E27FC236}">
                <a16:creationId xmlns:a16="http://schemas.microsoft.com/office/drawing/2014/main" id="{46C2F5B0-9491-45E5-A00D-350B6F2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70</a:t>
            </a:r>
          </a:p>
        </p:txBody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7F01A60E-F14E-4487-909D-37D501A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617" name="85">
            <a:extLst xmlns:a="http://schemas.openxmlformats.org/drawingml/2006/main">
              <a:ext uri="{FF2B5EF4-FFF2-40B4-BE49-F238E27FC236}">
                <a16:creationId xmlns:a16="http://schemas.microsoft.com/office/drawing/2014/main" id="{162A5730-C506-487B-942D-A1F5AFE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85</a:t>
            </a:r>
          </a:p>
        </p:txBody>
      </p:sp>
      <p:sp>
        <p:nvSpPr>
          <p:cNvPr id="618" name="Main CGPA, stratified 10-fold cross-validation, N = 1,1">
            <a:extLst xmlns:a="http://schemas.openxmlformats.org/drawingml/2006/main">
              <a:ext uri="{FF2B5EF4-FFF2-40B4-BE49-F238E27FC236}">
                <a16:creationId xmlns:a16="http://schemas.microsoft.com/office/drawing/2014/main" id="{4C7AB07D-9877-4CF6-B55C-DAD5905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Main CGPA, stratified 10-fold cross-validation, N = 1,102. Rows actual, columns predicted.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Logistic and Naive Bayes matrices</a:t>
            </a:r>
          </a:p>
        </p:txBody>
      </p:sp>
      <p:sp>
        <p:nvSpPr>
          <p:cNvPr id="534" name="Logistic">
            <a:extLst xmlns:a="http://schemas.openxmlformats.org/drawingml/2006/main">
              <a:ext uri="{FF2B5EF4-FFF2-40B4-BE49-F238E27FC236}">
                <a16:creationId xmlns:a16="http://schemas.microsoft.com/office/drawing/2014/main" id="{71F8A36B-87E3-4D72-9BC7-3C6DEED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Logistic</a:t>
            </a:r>
          </a:p>
        </p:txBody>
      </p:sp>
      <p:sp>
        <p:nvSpPr>
          <p:cNvPr id="535" name="Predicted">
            <a:extLst xmlns:a="http://schemas.openxmlformats.org/drawingml/2006/main">
              <a:ext uri="{FF2B5EF4-FFF2-40B4-BE49-F238E27FC236}">
                <a16:creationId xmlns:a16="http://schemas.microsoft.com/office/drawing/2014/main" id="{5D2907A2-97A3-4833-87BD-62DE273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D767E7CB-B82F-42C2-8D51-1FF586E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B0EF0506-CBA4-49A2-BCFB-A7DF2854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C1">
            <a:extLst xmlns:a="http://schemas.openxmlformats.org/drawingml/2006/main">
              <a:ext uri="{FF2B5EF4-FFF2-40B4-BE49-F238E27FC236}">
                <a16:creationId xmlns:a16="http://schemas.microsoft.com/office/drawing/2014/main" id="{0FCD3A40-E23A-447C-99BB-F162410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67E79395-5FED-47E2-BC08-5294D73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C2">
            <a:extLst xmlns:a="http://schemas.openxmlformats.org/drawingml/2006/main">
              <a:ext uri="{FF2B5EF4-FFF2-40B4-BE49-F238E27FC236}">
                <a16:creationId xmlns:a16="http://schemas.microsoft.com/office/drawing/2014/main" id="{437EEFDB-BC9C-4904-A8B3-630A2AE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1" name="C2">
            <a:extLst xmlns:a="http://schemas.openxmlformats.org/drawingml/2006/main">
              <a:ext uri="{FF2B5EF4-FFF2-40B4-BE49-F238E27FC236}">
                <a16:creationId xmlns:a16="http://schemas.microsoft.com/office/drawing/2014/main" id="{F8840D07-918B-415C-A5BA-17023F5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2" name="C3">
            <a:extLst xmlns:a="http://schemas.openxmlformats.org/drawingml/2006/main">
              <a:ext uri="{FF2B5EF4-FFF2-40B4-BE49-F238E27FC236}">
                <a16:creationId xmlns:a16="http://schemas.microsoft.com/office/drawing/2014/main" id="{0E9DD2B0-FB5C-4AB6-B187-E0C477A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3" name="C3">
            <a:extLst xmlns:a="http://schemas.openxmlformats.org/drawingml/2006/main">
              <a:ext uri="{FF2B5EF4-FFF2-40B4-BE49-F238E27FC236}">
                <a16:creationId xmlns:a16="http://schemas.microsoft.com/office/drawing/2014/main" id="{7DEAA965-78FB-4C97-BCB3-63225FA6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E45CE72-815A-4C4F-8F9C-C1949DB9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45" name="61">
            <a:extLst xmlns:a="http://schemas.openxmlformats.org/drawingml/2006/main">
              <a:ext uri="{FF2B5EF4-FFF2-40B4-BE49-F238E27FC236}">
                <a16:creationId xmlns:a16="http://schemas.microsoft.com/office/drawing/2014/main" id="{4D93DA6B-4ADB-4934-A9F8-61A56E06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61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51AD29BD-3947-42BD-8806-56420D2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7" name="107">
            <a:extLst xmlns:a="http://schemas.openxmlformats.org/drawingml/2006/main">
              <a:ext uri="{FF2B5EF4-FFF2-40B4-BE49-F238E27FC236}">
                <a16:creationId xmlns:a16="http://schemas.microsoft.com/office/drawing/2014/main" id="{68DE8935-CCBF-4003-9AB5-B61A5E4D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107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C206170-E419-4688-8761-ABB3F191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9" name="38">
            <a:extLst xmlns:a="http://schemas.openxmlformats.org/drawingml/2006/main">
              <a:ext uri="{FF2B5EF4-FFF2-40B4-BE49-F238E27FC236}">
                <a16:creationId xmlns:a16="http://schemas.microsoft.com/office/drawing/2014/main" id="{73F37CE0-F045-492A-AB98-E404B444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85DC6C7-C162-4941-A04A-D9AC991B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1" name="30">
            <a:extLst xmlns:a="http://schemas.openxmlformats.org/drawingml/2006/main">
              <a:ext uri="{FF2B5EF4-FFF2-40B4-BE49-F238E27FC236}">
                <a16:creationId xmlns:a16="http://schemas.microsoft.com/office/drawing/2014/main" id="{50FA316A-1E87-4C52-BA5A-B428848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837818E-BE1D-45AB-AD19-430E8F5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3" name="49">
            <a:extLst xmlns:a="http://schemas.openxmlformats.org/drawingml/2006/main">
              <a:ext uri="{FF2B5EF4-FFF2-40B4-BE49-F238E27FC236}">
                <a16:creationId xmlns:a16="http://schemas.microsoft.com/office/drawing/2014/main" id="{835B728D-9A5B-4183-AB9D-EFDCC6D3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2ACE5B2-26BC-467D-B805-A01A8C4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55" name="145">
            <a:extLst xmlns:a="http://schemas.openxmlformats.org/drawingml/2006/main">
              <a:ext uri="{FF2B5EF4-FFF2-40B4-BE49-F238E27FC236}">
                <a16:creationId xmlns:a16="http://schemas.microsoft.com/office/drawing/2014/main" id="{796654AF-FFAE-4C6D-B669-27A27F07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145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8A70F48-3AB3-476A-AF22-46C0AEF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7" name="83">
            <a:extLst xmlns:a="http://schemas.openxmlformats.org/drawingml/2006/main">
              <a:ext uri="{FF2B5EF4-FFF2-40B4-BE49-F238E27FC236}">
                <a16:creationId xmlns:a16="http://schemas.microsoft.com/office/drawing/2014/main" id="{061E7EB3-A183-4165-9B6C-36C70DF6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83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777C653-2955-4695-B6DD-22DC5F9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9" name="43">
            <a:extLst xmlns:a="http://schemas.openxmlformats.org/drawingml/2006/main">
              <a:ext uri="{FF2B5EF4-FFF2-40B4-BE49-F238E27FC236}">
                <a16:creationId xmlns:a16="http://schemas.microsoft.com/office/drawing/2014/main" id="{ED9195BC-1F38-4F4D-B27B-12302C5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6039A85-E262-4A56-9146-CD782651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1" name="42">
            <a:extLst xmlns:a="http://schemas.openxmlformats.org/drawingml/2006/main">
              <a:ext uri="{FF2B5EF4-FFF2-40B4-BE49-F238E27FC236}">
                <a16:creationId xmlns:a16="http://schemas.microsoft.com/office/drawing/2014/main" id="{1DC7406E-6854-4DDF-B194-3A1E9C59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483C91D-4728-4415-83DB-482B5754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3" name="92">
            <a:extLst xmlns:a="http://schemas.openxmlformats.org/drawingml/2006/main">
              <a:ext uri="{FF2B5EF4-FFF2-40B4-BE49-F238E27FC236}">
                <a16:creationId xmlns:a16="http://schemas.microsoft.com/office/drawing/2014/main" id="{11F7E7C7-5B46-4E28-8224-05CD280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92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305BE54F-A0C3-45E1-979B-808ED4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65" name="101">
            <a:extLst xmlns:a="http://schemas.openxmlformats.org/drawingml/2006/main">
              <a:ext uri="{FF2B5EF4-FFF2-40B4-BE49-F238E27FC236}">
                <a16:creationId xmlns:a16="http://schemas.microsoft.com/office/drawing/2014/main" id="{62150027-9A03-4968-B473-74337DCE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101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3E8D3E96-345C-4895-8098-822F26D8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7" name="65">
            <a:extLst xmlns:a="http://schemas.openxmlformats.org/drawingml/2006/main">
              <a:ext uri="{FF2B5EF4-FFF2-40B4-BE49-F238E27FC236}">
                <a16:creationId xmlns:a16="http://schemas.microsoft.com/office/drawing/2014/main" id="{07E9A74B-1785-462C-AC9C-6EDFC889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65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9B45E0D-360A-4D18-91F7-4B88C0F5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9" name="31">
            <a:extLst xmlns:a="http://schemas.openxmlformats.org/drawingml/2006/main">
              <a:ext uri="{FF2B5EF4-FFF2-40B4-BE49-F238E27FC236}">
                <a16:creationId xmlns:a16="http://schemas.microsoft.com/office/drawing/2014/main" id="{CFC2B8A2-3C72-4A74-8D96-1B03C6DE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DBBE969-4971-4804-A06C-CA8E9EA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1" name="55">
            <a:extLst xmlns:a="http://schemas.openxmlformats.org/drawingml/2006/main">
              <a:ext uri="{FF2B5EF4-FFF2-40B4-BE49-F238E27FC236}">
                <a16:creationId xmlns:a16="http://schemas.microsoft.com/office/drawing/2014/main" id="{465487D1-7DAB-4C19-91A7-92181219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55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17403ED2-DBEE-444A-9E7D-8BA3073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3" name="61">
            <a:extLst xmlns:a="http://schemas.openxmlformats.org/drawingml/2006/main">
              <a:ext uri="{FF2B5EF4-FFF2-40B4-BE49-F238E27FC236}">
                <a16:creationId xmlns:a16="http://schemas.microsoft.com/office/drawing/2014/main" id="{8E7C3523-D867-4D8A-83B0-B19EEB2E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61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58B31BAC-9241-489B-A3AC-59A6766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75" name="99">
            <a:extLst xmlns:a="http://schemas.openxmlformats.org/drawingml/2006/main">
              <a:ext uri="{FF2B5EF4-FFF2-40B4-BE49-F238E27FC236}">
                <a16:creationId xmlns:a16="http://schemas.microsoft.com/office/drawing/2014/main" id="{1F550A6E-496D-4073-9965-CC51EA9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99</a:t>
            </a:r>
          </a:p>
        </p:txBody>
      </p:sp>
      <p:sp>
        <p:nvSpPr>
          <p:cNvPr id="576" name="Naive Bayes">
            <a:extLst xmlns:a="http://schemas.openxmlformats.org/drawingml/2006/main">
              <a:ext uri="{FF2B5EF4-FFF2-40B4-BE49-F238E27FC236}">
                <a16:creationId xmlns:a16="http://schemas.microsoft.com/office/drawing/2014/main" id="{0E081AEC-212B-400C-8157-EC9BD806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Naive Bayes</a:t>
            </a:r>
          </a:p>
        </p:txBody>
      </p:sp>
      <p:sp>
        <p:nvSpPr>
          <p:cNvPr id="577" name="Predicted">
            <a:extLst xmlns:a="http://schemas.openxmlformats.org/drawingml/2006/main">
              <a:ext uri="{FF2B5EF4-FFF2-40B4-BE49-F238E27FC236}">
                <a16:creationId xmlns:a16="http://schemas.microsoft.com/office/drawing/2014/main" id="{96742278-51E4-4399-809C-27E311D6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78" name="C0">
            <a:extLst xmlns:a="http://schemas.openxmlformats.org/drawingml/2006/main">
              <a:ext uri="{FF2B5EF4-FFF2-40B4-BE49-F238E27FC236}">
                <a16:creationId xmlns:a16="http://schemas.microsoft.com/office/drawing/2014/main" id="{4C2C0606-0A95-4E08-B1F3-0C81A1E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79" name="C0">
            <a:extLst xmlns:a="http://schemas.openxmlformats.org/drawingml/2006/main">
              <a:ext uri="{FF2B5EF4-FFF2-40B4-BE49-F238E27FC236}">
                <a16:creationId xmlns:a16="http://schemas.microsoft.com/office/drawing/2014/main" id="{DE8CF003-FDED-46B0-9FED-1EA11942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80" name="C1">
            <a:extLst xmlns:a="http://schemas.openxmlformats.org/drawingml/2006/main">
              <a:ext uri="{FF2B5EF4-FFF2-40B4-BE49-F238E27FC236}">
                <a16:creationId xmlns:a16="http://schemas.microsoft.com/office/drawing/2014/main" id="{F6EA8406-582A-4B58-AAA9-92A3C0F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81" name="C1">
            <a:extLst xmlns:a="http://schemas.openxmlformats.org/drawingml/2006/main">
              <a:ext uri="{FF2B5EF4-FFF2-40B4-BE49-F238E27FC236}">
                <a16:creationId xmlns:a16="http://schemas.microsoft.com/office/drawing/2014/main" id="{D61A304C-F72F-40A3-8CC6-1F0B9A17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82" name="C2">
            <a:extLst xmlns:a="http://schemas.openxmlformats.org/drawingml/2006/main">
              <a:ext uri="{FF2B5EF4-FFF2-40B4-BE49-F238E27FC236}">
                <a16:creationId xmlns:a16="http://schemas.microsoft.com/office/drawing/2014/main" id="{C5976856-5201-4D91-8B64-5B2411B2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83" name="C2">
            <a:extLst xmlns:a="http://schemas.openxmlformats.org/drawingml/2006/main">
              <a:ext uri="{FF2B5EF4-FFF2-40B4-BE49-F238E27FC236}">
                <a16:creationId xmlns:a16="http://schemas.microsoft.com/office/drawing/2014/main" id="{E85C2EA8-6597-48D1-862E-279479E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84" name="C3">
            <a:extLst xmlns:a="http://schemas.openxmlformats.org/drawingml/2006/main">
              <a:ext uri="{FF2B5EF4-FFF2-40B4-BE49-F238E27FC236}">
                <a16:creationId xmlns:a16="http://schemas.microsoft.com/office/drawing/2014/main" id="{0495AD6F-571B-4B51-A6A7-A65F9FEF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85" name="C3">
            <a:extLst xmlns:a="http://schemas.openxmlformats.org/drawingml/2006/main">
              <a:ext uri="{FF2B5EF4-FFF2-40B4-BE49-F238E27FC236}">
                <a16:creationId xmlns:a16="http://schemas.microsoft.com/office/drawing/2014/main" id="{350369C4-6E90-43E2-ACC1-87052A4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D534BB6-8728-43AE-BA81-544763A4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87" name="69">
            <a:extLst xmlns:a="http://schemas.openxmlformats.org/drawingml/2006/main">
              <a:ext uri="{FF2B5EF4-FFF2-40B4-BE49-F238E27FC236}">
                <a16:creationId xmlns:a16="http://schemas.microsoft.com/office/drawing/2014/main" id="{3790964D-F1BC-476D-B27B-9A3B86A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69</a:t>
            </a: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A6DBC743-2EBC-4CEF-AA72-9CA2A0F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89" name="101">
            <a:extLst xmlns:a="http://schemas.openxmlformats.org/drawingml/2006/main">
              <a:ext uri="{FF2B5EF4-FFF2-40B4-BE49-F238E27FC236}">
                <a16:creationId xmlns:a16="http://schemas.microsoft.com/office/drawing/2014/main" id="{0A78BF92-AC51-4483-A6C3-577F5C6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101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E236408C-F142-4168-9027-240BF5C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1" name="34">
            <a:extLst xmlns:a="http://schemas.openxmlformats.org/drawingml/2006/main">
              <a:ext uri="{FF2B5EF4-FFF2-40B4-BE49-F238E27FC236}">
                <a16:creationId xmlns:a16="http://schemas.microsoft.com/office/drawing/2014/main" id="{6BADE0ED-91FA-48CF-8818-7A1030D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D808EF9C-91BB-456C-9BA6-18C3288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33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3" name="32">
            <a:extLst xmlns:a="http://schemas.openxmlformats.org/drawingml/2006/main">
              <a:ext uri="{FF2B5EF4-FFF2-40B4-BE49-F238E27FC236}">
                <a16:creationId xmlns:a16="http://schemas.microsoft.com/office/drawing/2014/main" id="{249DAE14-A6A8-45DF-88E3-CA00282C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43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DBBFD45E-E911-497F-AA18-9AC07D2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5" name="51">
            <a:extLst xmlns:a="http://schemas.openxmlformats.org/drawingml/2006/main">
              <a:ext uri="{FF2B5EF4-FFF2-40B4-BE49-F238E27FC236}">
                <a16:creationId xmlns:a16="http://schemas.microsoft.com/office/drawing/2014/main" id="{AAD83016-784E-468E-896D-90E6A6F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51</a:t>
            </a:r>
          </a:p>
        </p:txBody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0A27F4CD-92F3-46A6-AF7B-E491CE8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97" name="169">
            <a:extLst xmlns:a="http://schemas.openxmlformats.org/drawingml/2006/main">
              <a:ext uri="{FF2B5EF4-FFF2-40B4-BE49-F238E27FC236}">
                <a16:creationId xmlns:a16="http://schemas.microsoft.com/office/drawing/2014/main" id="{73F67E6B-C025-4C9F-AA60-C89C7E71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169</a:t>
            </a:r>
          </a:p>
        </p:txBody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A43B5E4-F381-40DB-B734-6C4FFD0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99" name="70">
            <a:extLst xmlns:a="http://schemas.openxmlformats.org/drawingml/2006/main">
              <a:ext uri="{FF2B5EF4-FFF2-40B4-BE49-F238E27FC236}">
                <a16:creationId xmlns:a16="http://schemas.microsoft.com/office/drawing/2014/main" id="{D8EF3D78-9837-4A1C-80CD-9228483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70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1C4FBB20-6D2F-4441-BAAD-43F29AA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95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1" name="30">
            <a:extLst xmlns:a="http://schemas.openxmlformats.org/drawingml/2006/main">
              <a:ext uri="{FF2B5EF4-FFF2-40B4-BE49-F238E27FC236}">
                <a16:creationId xmlns:a16="http://schemas.microsoft.com/office/drawing/2014/main" id="{2C2E7D5E-A634-4E8A-AD60-44C52AC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05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8E3EFD15-E9B5-4F04-9734-2CE1006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3" name="54">
            <a:extLst xmlns:a="http://schemas.openxmlformats.org/drawingml/2006/main">
              <a:ext uri="{FF2B5EF4-FFF2-40B4-BE49-F238E27FC236}">
                <a16:creationId xmlns:a16="http://schemas.microsoft.com/office/drawing/2014/main" id="{4B9AED75-38D9-482E-AEF8-4D53CF2F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54</a:t>
            </a:r>
          </a:p>
        </p:txBody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E03EF61D-CB89-4971-9489-8C21F4E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5" name="104">
            <a:extLst xmlns:a="http://schemas.openxmlformats.org/drawingml/2006/main">
              <a:ext uri="{FF2B5EF4-FFF2-40B4-BE49-F238E27FC236}">
                <a16:creationId xmlns:a16="http://schemas.microsoft.com/office/drawing/2014/main" id="{11002CF0-603E-4760-A2FE-B744B48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104</a:t>
            </a:r>
          </a:p>
        </p:txBody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C5D8E2E8-16E2-4340-9BA2-FC048C6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607" name="96">
            <a:extLst xmlns:a="http://schemas.openxmlformats.org/drawingml/2006/main">
              <a:ext uri="{FF2B5EF4-FFF2-40B4-BE49-F238E27FC236}">
                <a16:creationId xmlns:a16="http://schemas.microsoft.com/office/drawing/2014/main" id="{A004D1EB-5CDD-403E-9443-AEBC986B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96</a:t>
            </a:r>
          </a:p>
        </p:txBody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1A60621B-8AF9-4E33-AD86-3E410FA9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57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09" name="46">
            <a:extLst xmlns:a="http://schemas.openxmlformats.org/drawingml/2006/main">
              <a:ext uri="{FF2B5EF4-FFF2-40B4-BE49-F238E27FC236}">
                <a16:creationId xmlns:a16="http://schemas.microsoft.com/office/drawing/2014/main" id="{2F07FC2D-4F1B-4A37-A7FA-FEE9894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67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46</a:t>
            </a:r>
          </a:p>
        </p:txBody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8D1951E9-86F8-4B97-8CE8-BB9B3F2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1" name="39">
            <a:extLst xmlns:a="http://schemas.openxmlformats.org/drawingml/2006/main">
              <a:ext uri="{FF2B5EF4-FFF2-40B4-BE49-F238E27FC236}">
                <a16:creationId xmlns:a16="http://schemas.microsoft.com/office/drawing/2014/main" id="{98A38515-DDB0-402C-B103-57EE2AB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3B4B3AB8-C5AC-4FDA-82D2-76326DA4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3" name="49">
            <a:extLst xmlns:a="http://schemas.openxmlformats.org/drawingml/2006/main">
              <a:ext uri="{FF2B5EF4-FFF2-40B4-BE49-F238E27FC236}">
                <a16:creationId xmlns:a16="http://schemas.microsoft.com/office/drawing/2014/main" id="{794FDD94-EDB2-427F-BA57-486D0126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8C3F0E24-5B50-48B2-A3C5-EAD74F4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15" name="72">
            <a:extLst xmlns:a="http://schemas.openxmlformats.org/drawingml/2006/main">
              <a:ext uri="{FF2B5EF4-FFF2-40B4-BE49-F238E27FC236}">
                <a16:creationId xmlns:a16="http://schemas.microsoft.com/office/drawing/2014/main" id="{0E0EC389-99B9-4821-8492-8CF6AD7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72</a:t>
            </a:r>
          </a:p>
        </p:txBody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D6CBD6DA-DDC2-4CE3-823E-3CF0208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196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617" name="86">
            <a:extLst xmlns:a="http://schemas.openxmlformats.org/drawingml/2006/main">
              <a:ext uri="{FF2B5EF4-FFF2-40B4-BE49-F238E27FC236}">
                <a16:creationId xmlns:a16="http://schemas.microsoft.com/office/drawing/2014/main" id="{E1CEB1DC-1EC2-41FF-ACA0-E4D0F767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292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86</a:t>
            </a:r>
          </a:p>
        </p:txBody>
      </p:sp>
      <p:sp>
        <p:nvSpPr>
          <p:cNvPr id="618" name="Main CGPA, stratified 10-fold cross-validation, N = 1,1">
            <a:extLst xmlns:a="http://schemas.openxmlformats.org/drawingml/2006/main">
              <a:ext uri="{FF2B5EF4-FFF2-40B4-BE49-F238E27FC236}">
                <a16:creationId xmlns:a16="http://schemas.microsoft.com/office/drawing/2014/main" id="{DD324EAF-583B-4368-ADB3-50A181C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Main CGPA, stratified 10-fold cross-validation, N = 1,102. Rows actual, columns predicted.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ZeroR baseline matrix</a:t>
            </a:r>
          </a:p>
        </p:txBody>
      </p:sp>
      <p:sp>
        <p:nvSpPr>
          <p:cNvPr id="534" name="Main CGPA, 10-fold CV">
            <a:extLst xmlns:a="http://schemas.openxmlformats.org/drawingml/2006/main">
              <a:ext uri="{FF2B5EF4-FFF2-40B4-BE49-F238E27FC236}">
                <a16:creationId xmlns:a16="http://schemas.microsoft.com/office/drawing/2014/main" id="{E091C9E9-5D11-4220-819D-DCF08B6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477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Main CGPA, 10-fold CV</a:t>
            </a:r>
          </a:p>
        </p:txBody>
      </p:sp>
      <p:sp>
        <p:nvSpPr>
          <p:cNvPr id="535" name="Predicted">
            <a:extLst xmlns:a="http://schemas.openxmlformats.org/drawingml/2006/main">
              <a:ext uri="{FF2B5EF4-FFF2-40B4-BE49-F238E27FC236}">
                <a16:creationId xmlns:a16="http://schemas.microsoft.com/office/drawing/2014/main" id="{2A18EB2C-6AD3-448E-AED3-54FA329A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536" name="C0">
            <a:extLst xmlns:a="http://schemas.openxmlformats.org/drawingml/2006/main">
              <a:ext uri="{FF2B5EF4-FFF2-40B4-BE49-F238E27FC236}">
                <a16:creationId xmlns:a16="http://schemas.microsoft.com/office/drawing/2014/main" id="{07246EBF-0104-4BDF-8DF9-11292B3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57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7" name="C0">
            <a:extLst xmlns:a="http://schemas.openxmlformats.org/drawingml/2006/main">
              <a:ext uri="{FF2B5EF4-FFF2-40B4-BE49-F238E27FC236}">
                <a16:creationId xmlns:a16="http://schemas.microsoft.com/office/drawing/2014/main" id="{B3C2D89F-FB6D-4B0C-9D31-7C7A8E4E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05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C0</a:t>
            </a:r>
          </a:p>
        </p:txBody>
      </p:sp>
      <p:sp>
        <p:nvSpPr>
          <p:cNvPr id="538" name="C1">
            <a:extLst xmlns:a="http://schemas.openxmlformats.org/drawingml/2006/main">
              <a:ext uri="{FF2B5EF4-FFF2-40B4-BE49-F238E27FC236}">
                <a16:creationId xmlns:a16="http://schemas.microsoft.com/office/drawing/2014/main" id="{1A8618B5-DC9C-4C64-BA37-E94DD3C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57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39" name="C1">
            <a:extLst xmlns:a="http://schemas.openxmlformats.org/drawingml/2006/main">
              <a:ext uri="{FF2B5EF4-FFF2-40B4-BE49-F238E27FC236}">
                <a16:creationId xmlns:a16="http://schemas.microsoft.com/office/drawing/2014/main" id="{31F065B0-2F03-4B1B-AEAB-C59EA9D6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C1</a:t>
            </a:r>
          </a:p>
        </p:txBody>
      </p:sp>
      <p:sp>
        <p:nvSpPr>
          <p:cNvPr id="540" name="C2">
            <a:extLst xmlns:a="http://schemas.openxmlformats.org/drawingml/2006/main">
              <a:ext uri="{FF2B5EF4-FFF2-40B4-BE49-F238E27FC236}">
                <a16:creationId xmlns:a16="http://schemas.microsoft.com/office/drawing/2014/main" id="{98965E40-FE3F-4FB5-A1B7-93FB623A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57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1" name="C2">
            <a:extLst xmlns:a="http://schemas.openxmlformats.org/drawingml/2006/main">
              <a:ext uri="{FF2B5EF4-FFF2-40B4-BE49-F238E27FC236}">
                <a16:creationId xmlns:a16="http://schemas.microsoft.com/office/drawing/2014/main" id="{A40CCE50-33C6-4C28-9A46-1EBF7830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29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542" name="C3">
            <a:extLst xmlns:a="http://schemas.openxmlformats.org/drawingml/2006/main">
              <a:ext uri="{FF2B5EF4-FFF2-40B4-BE49-F238E27FC236}">
                <a16:creationId xmlns:a16="http://schemas.microsoft.com/office/drawing/2014/main" id="{2009D059-68DF-4218-84F8-7168945F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57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3" name="C3">
            <a:extLst xmlns:a="http://schemas.openxmlformats.org/drawingml/2006/main">
              <a:ext uri="{FF2B5EF4-FFF2-40B4-BE49-F238E27FC236}">
                <a16:creationId xmlns:a16="http://schemas.microsoft.com/office/drawing/2014/main" id="{BA5E4CF7-1F18-4AD0-A4AD-8B5DAE5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FB6B48F-D222-484B-8AF6-9351C953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45" name="0">
            <a:extLst xmlns:a="http://schemas.openxmlformats.org/drawingml/2006/main">
              <a:ext uri="{FF2B5EF4-FFF2-40B4-BE49-F238E27FC236}">
                <a16:creationId xmlns:a16="http://schemas.microsoft.com/office/drawing/2014/main" id="{BEB97863-C6B2-4352-90DC-B098DEF4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38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8EC6AF7-6705-4008-9E89-7CF24C16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7" name="236">
            <a:extLst xmlns:a="http://schemas.openxmlformats.org/drawingml/2006/main">
              <a:ext uri="{FF2B5EF4-FFF2-40B4-BE49-F238E27FC236}">
                <a16:creationId xmlns:a16="http://schemas.microsoft.com/office/drawing/2014/main" id="{AEB433C8-154F-4CFE-9F26-DA975B2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38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236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D09E0DE-7A0F-4253-BD8C-EE2F188A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49" name="0">
            <a:extLst xmlns:a="http://schemas.openxmlformats.org/drawingml/2006/main">
              <a:ext uri="{FF2B5EF4-FFF2-40B4-BE49-F238E27FC236}">
                <a16:creationId xmlns:a16="http://schemas.microsoft.com/office/drawing/2014/main" id="{D34AB242-61D4-4FB4-9B22-57586BE0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D890034-7D45-44BE-B780-1DF3BC6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1" name="0">
            <a:extLst xmlns:a="http://schemas.openxmlformats.org/drawingml/2006/main">
              <a:ext uri="{FF2B5EF4-FFF2-40B4-BE49-F238E27FC236}">
                <a16:creationId xmlns:a16="http://schemas.microsoft.com/office/drawing/2014/main" id="{5779C272-4816-4953-A4E9-886B2A4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38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8C08E2E-C4CA-4816-8EBE-D29F48F7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3" name="0">
            <a:extLst xmlns:a="http://schemas.openxmlformats.org/drawingml/2006/main">
              <a:ext uri="{FF2B5EF4-FFF2-40B4-BE49-F238E27FC236}">
                <a16:creationId xmlns:a16="http://schemas.microsoft.com/office/drawing/2014/main" id="{960A7BAD-A9D6-49E1-A917-1EEB6CC6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0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233C520-BC2E-44A3-BC4E-1A474CA9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90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55" name="320">
            <a:extLst xmlns:a="http://schemas.openxmlformats.org/drawingml/2006/main">
              <a:ext uri="{FF2B5EF4-FFF2-40B4-BE49-F238E27FC236}">
                <a16:creationId xmlns:a16="http://schemas.microsoft.com/office/drawing/2014/main" id="{6B04052B-7248-4C8A-B669-0BABFB1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00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320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D61A0AA-9D5F-47C3-AEA9-62D1101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7" name="0">
            <a:extLst xmlns:a="http://schemas.openxmlformats.org/drawingml/2006/main">
              <a:ext uri="{FF2B5EF4-FFF2-40B4-BE49-F238E27FC236}">
                <a16:creationId xmlns:a16="http://schemas.microsoft.com/office/drawing/2014/main" id="{D4FE36AB-BFF5-42C2-9250-4C05B90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0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77921D74-1E82-41BA-BCE0-CCB727F0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59" name="0">
            <a:extLst xmlns:a="http://schemas.openxmlformats.org/drawingml/2006/main">
              <a:ext uri="{FF2B5EF4-FFF2-40B4-BE49-F238E27FC236}">
                <a16:creationId xmlns:a16="http://schemas.microsoft.com/office/drawing/2014/main" id="{C80A41A3-854F-4E13-B229-701DC219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0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F7B1BE1-2432-4D44-959C-FE71280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52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1" name="0">
            <a:extLst xmlns:a="http://schemas.openxmlformats.org/drawingml/2006/main">
              <a:ext uri="{FF2B5EF4-FFF2-40B4-BE49-F238E27FC236}">
                <a16:creationId xmlns:a16="http://schemas.microsoft.com/office/drawing/2014/main" id="{733FE4D6-381B-4000-B226-A8C35BB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62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0299D2F-06D0-4E3F-8D71-FC0A3C6B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52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3" name="300">
            <a:extLst xmlns:a="http://schemas.openxmlformats.org/drawingml/2006/main">
              <a:ext uri="{FF2B5EF4-FFF2-40B4-BE49-F238E27FC236}">
                <a16:creationId xmlns:a16="http://schemas.microsoft.com/office/drawing/2014/main" id="{AF7A8122-7E14-47B5-BDCC-205F69A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62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1CC29FBA-90D7-47F7-AA50-63E22ADE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65" name="0">
            <a:extLst xmlns:a="http://schemas.openxmlformats.org/drawingml/2006/main">
              <a:ext uri="{FF2B5EF4-FFF2-40B4-BE49-F238E27FC236}">
                <a16:creationId xmlns:a16="http://schemas.microsoft.com/office/drawing/2014/main" id="{57B6D371-4B11-45CC-8293-7E0018E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A1EB812-FAB7-4EBE-BC17-2FE25A9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52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7" name="0">
            <a:extLst xmlns:a="http://schemas.openxmlformats.org/drawingml/2006/main">
              <a:ext uri="{FF2B5EF4-FFF2-40B4-BE49-F238E27FC236}">
                <a16:creationId xmlns:a16="http://schemas.microsoft.com/office/drawing/2014/main" id="{C45F4788-67BE-4E39-8961-02E01F1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62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01D06860-CDA5-47C0-B0AB-80829FCE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14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69" name="0">
            <a:extLst xmlns:a="http://schemas.openxmlformats.org/drawingml/2006/main">
              <a:ext uri="{FF2B5EF4-FFF2-40B4-BE49-F238E27FC236}">
                <a16:creationId xmlns:a16="http://schemas.microsoft.com/office/drawing/2014/main" id="{FD09B39A-5BD1-4850-8B15-C2850106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24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EFFAB73-0AF2-4991-B1F1-5F2EF8AF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14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1" name="246">
            <a:extLst xmlns:a="http://schemas.openxmlformats.org/drawingml/2006/main">
              <a:ext uri="{FF2B5EF4-FFF2-40B4-BE49-F238E27FC236}">
                <a16:creationId xmlns:a16="http://schemas.microsoft.com/office/drawing/2014/main" id="{DA9D9DA0-42DA-4F67-BE67-C66C6BC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24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246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070DC3E-0ADF-4BD1-AFC9-BD7BEF0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573" name="0">
            <a:extLst xmlns:a="http://schemas.openxmlformats.org/drawingml/2006/main">
              <a:ext uri="{FF2B5EF4-FFF2-40B4-BE49-F238E27FC236}">
                <a16:creationId xmlns:a16="http://schemas.microsoft.com/office/drawing/2014/main" id="{1DC09590-FFB5-4C31-A5D3-21599A5C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0E6329F2-20F4-498A-A91A-36C2AF1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14875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7"/>
          </a:solidFill>
          <a:ln xmlns:a="http://schemas.openxmlformats.org/drawingml/2006/main" w="0">
            <a:noFill/>
          </a:ln>
        </p:spPr>
      </p:sp>
      <p:sp>
        <p:nvSpPr>
          <p:cNvPr id="575" name="0">
            <a:extLst xmlns:a="http://schemas.openxmlformats.org/drawingml/2006/main">
              <a:ext uri="{FF2B5EF4-FFF2-40B4-BE49-F238E27FC236}">
                <a16:creationId xmlns:a16="http://schemas.microsoft.com/office/drawing/2014/main" id="{860C7F2A-8EB9-4B07-817A-1C4F0A59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24425"/>
            <a:ext cx="73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6" name="Always predicts C1">
            <a:extLst xmlns:a="http://schemas.openxmlformats.org/drawingml/2006/main">
              <a:ext uri="{FF2B5EF4-FFF2-40B4-BE49-F238E27FC236}">
                <a16:creationId xmlns:a16="http://schemas.microsoft.com/office/drawing/2014/main" id="{C811BBA3-E17E-46FE-9908-31DF4A14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Always predicts C1</a:t>
            </a:r>
          </a:p>
        </p:txBody>
      </p:sp>
      <p:sp>
        <p:nvSpPr>
          <p:cNvPr id="577" name="Every prediction falls&#10;in one column.">
            <a:extLst xmlns:a="http://schemas.openxmlformats.org/drawingml/2006/main">
              <a:ext uri="{FF2B5EF4-FFF2-40B4-BE49-F238E27FC236}">
                <a16:creationId xmlns:a16="http://schemas.microsoft.com/office/drawing/2014/main" id="{DE86C585-6927-47EB-9005-6B746C1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Every prediction falls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in one column.</a:t>
            </a:r>
          </a:p>
        </p:txBody>
      </p:sp>
      <p:sp>
        <p:nvSpPr>
          <p:cNvPr id="578" name="WEKA ZeroR, main CGPA, 10-fold CV, N = 1,102. Accuracy ">
            <a:extLst xmlns:a="http://schemas.openxmlformats.org/drawingml/2006/main">
              <a:ext uri="{FF2B5EF4-FFF2-40B4-BE49-F238E27FC236}">
                <a16:creationId xmlns:a16="http://schemas.microsoft.com/office/drawing/2014/main" id="{4305A702-3325-4FE0-A628-7F56BED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ZeroR, main CGPA, 10-fold CV, N = 1,102. Accuracy = 29.04%.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WEKA main CGPA accuracy: 10-fold CV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857250" y="1524000"/>
          <a:ext xmlns:a="http://schemas.openxmlformats.org/drawingml/2006/main" cx="10763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95a3e5986d4b14"/>
          </a:graphicData>
        </a:graphic>
      </p:graphicFrame>
      <p:sp>
        <p:nvSpPr>
          <p:cNvPr id="535" name="WEKA 3.8.7, stratified 10-fold CV, seed 1. Same 1,102 r">
            <a:extLst xmlns:a="http://schemas.openxmlformats.org/drawingml/2006/main">
              <a:ext uri="{FF2B5EF4-FFF2-40B4-BE49-F238E27FC236}">
                <a16:creationId xmlns:a16="http://schemas.microsoft.com/office/drawing/2014/main" id="{78BFE0E2-C5FA-4554-A017-2271F9AC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3.8.7, stratified 10-fold CV, seed 1. Same 1,102 records and main CGPA inputs.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Why keep a decision tree?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7A5DC1F-0B2A-4D04-96A2-F0FF695D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2673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WEKA J48">
            <a:extLst xmlns:a="http://schemas.openxmlformats.org/drawingml/2006/main">
              <a:ext uri="{FF2B5EF4-FFF2-40B4-BE49-F238E27FC236}">
                <a16:creationId xmlns:a16="http://schemas.microsoft.com/office/drawing/2014/main" id="{B69EE2D2-88AF-4055-8C43-3944193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90725"/>
            <a:ext cx="4962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WEKA J48</a:t>
            </a:r>
          </a:p>
        </p:txBody>
      </p:sp>
      <p:sp>
        <p:nvSpPr>
          <p:cNvPr id="536" name="A single tree&#10;Visible split conditions&#10;Rules tied to ex">
            <a:extLst xmlns:a="http://schemas.openxmlformats.org/drawingml/2006/main">
              <a:ext uri="{FF2B5EF4-FFF2-40B4-BE49-F238E27FC236}">
                <a16:creationId xmlns:a16="http://schemas.microsoft.com/office/drawing/2014/main" id="{A6CDF7C2-7F53-4E2F-B6C5-8A3227BA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49625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A single tree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Visible split conditions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Rules tied to exact branches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04BFB1E-A5C8-496C-9C97-1B748B6C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548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8" name="Random Forest / SMO">
            <a:extLst xmlns:a="http://schemas.openxmlformats.org/drawingml/2006/main">
              <a:ext uri="{FF2B5EF4-FFF2-40B4-BE49-F238E27FC236}">
                <a16:creationId xmlns:a16="http://schemas.microsoft.com/office/drawing/2014/main" id="{5E2DB500-FADA-4FF2-BCF3-3F28B390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90725"/>
            <a:ext cx="518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Random Forest / SMO</a:t>
            </a:r>
          </a:p>
        </p:txBody>
      </p:sp>
      <p:sp>
        <p:nvSpPr>
          <p:cNvPr id="539" name="Prediction benchmarks&#10;No single short tree&#10;Random Fores">
            <a:extLst xmlns:a="http://schemas.openxmlformats.org/drawingml/2006/main">
              <a:ext uri="{FF2B5EF4-FFF2-40B4-BE49-F238E27FC236}">
                <a16:creationId xmlns:a16="http://schemas.microsoft.com/office/drawing/2014/main" id="{7B4F65D9-38F5-4D29-8191-95E3ED81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5181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Prediction benchmarks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No single short tree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Random Forest leads this comparison</a:t>
            </a:r>
          </a:p>
        </p:txBody>
      </p:sp>
      <p:sp>
        <p:nvSpPr>
          <p:cNvPr id="540" name="Interpretability and predictive performance answer diff">
            <a:extLst xmlns:a="http://schemas.openxmlformats.org/drawingml/2006/main">
              <a:ext uri="{FF2B5EF4-FFF2-40B4-BE49-F238E27FC236}">
                <a16:creationId xmlns:a16="http://schemas.microsoft.com/office/drawing/2014/main" id="{B679A0DD-1C03-489E-B4F5-B24F0E71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Interpretability and predictive performance answer different presentation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Previous studies and models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1685925"/>
          <a:ext xmlns:a="http://schemas.openxmlformats.org/drawingml/2006/main" cx="113919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09875"/>
                <a:gridCol w="3238500"/>
                <a:gridCol w="2962275"/>
              </a:tblGrid>
              <a:tr h="9263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 / population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result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Ahmed (2024)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 performance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SVM, tree, NB, KNN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K-means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SVM accuracy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Maruf et al.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(ICCIT 2024)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Bangladesh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SSC / HSC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Tuned classifiers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stacking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82.23% SSC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86.89% HSC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63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Albonny &amp; Duru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(2026)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Bangladesh school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average course grade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Linear regression,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tree, RF, DNN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RF R² = 0.933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Regression metric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Different populations, targets and evaluation designs. ">
            <a:extLst xmlns:a="http://schemas.openxmlformats.org/drawingml/2006/main">
              <a:ext uri="{FF2B5EF4-FFF2-40B4-BE49-F238E27FC236}">
                <a16:creationId xmlns:a16="http://schemas.microsoft.com/office/drawing/2014/main" id="{139F709B-C0A1-42C0-B530-2D6BCA9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Different populations, targets and evaluation designs. Source links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Previous work and our WEKA models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34A934E-86A0-43AD-8E79-B4575F2F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5286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Previous work">
            <a:extLst xmlns:a="http://schemas.openxmlformats.org/drawingml/2006/main">
              <a:ext uri="{FF2B5EF4-FFF2-40B4-BE49-F238E27FC236}">
                <a16:creationId xmlns:a16="http://schemas.microsoft.com/office/drawing/2014/main" id="{4304B167-C6CE-4F2F-935B-68A1A55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4981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Previous work</a:t>
            </a:r>
          </a:p>
        </p:txBody>
      </p:sp>
      <p:sp>
        <p:nvSpPr>
          <p:cNvPr id="536" name="School results and student performance&#10;SVM, trees and e">
            <a:extLst xmlns:a="http://schemas.openxmlformats.org/drawingml/2006/main">
              <a:ext uri="{FF2B5EF4-FFF2-40B4-BE49-F238E27FC236}">
                <a16:creationId xmlns:a16="http://schemas.microsoft.com/office/drawing/2014/main" id="{FC9042EC-6B6F-44DB-AB55-02DB72FA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49815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School results and student performance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SVM, trees and ensembles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Classification and regression targets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C9A8D04-4A20-4DAA-B336-7F081ED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505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8" name="This project">
            <a:extLst xmlns:a="http://schemas.openxmlformats.org/drawingml/2006/main">
              <a:ext uri="{FF2B5EF4-FFF2-40B4-BE49-F238E27FC236}">
                <a16:creationId xmlns:a16="http://schemas.microsoft.com/office/drawing/2014/main" id="{6E5F86F6-6F30-4E68-AE9E-177B9ADB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85975"/>
            <a:ext cx="520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This project</a:t>
            </a:r>
          </a:p>
        </p:txBody>
      </p:sp>
      <p:sp>
        <p:nvSpPr>
          <p:cNvPr id="539" name="Engineering students, four CGPA bands&#10;J48, Random Fores">
            <a:extLst xmlns:a="http://schemas.openxmlformats.org/drawingml/2006/main">
              <a:ext uri="{FF2B5EF4-FFF2-40B4-BE49-F238E27FC236}">
                <a16:creationId xmlns:a16="http://schemas.microsoft.com/office/drawing/2014/main" id="{464C491C-2620-43C6-976C-51E73DA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5200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Engineering students, four CGPA bands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J48, Random Forest, SMO, Logistic,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Naive Bayes and ZeroR</a:t>
            </a:r>
          </a:p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WEKA 10-fold comparison</a:t>
            </a:r>
          </a:p>
        </p:txBody>
      </p:sp>
      <p:sp>
        <p:nvSpPr>
          <p:cNvPr id="540" name="Different datasets and targets; reported scores are not">
            <a:extLst xmlns:a="http://schemas.openxmlformats.org/drawingml/2006/main">
              <a:ext uri="{FF2B5EF4-FFF2-40B4-BE49-F238E27FC236}">
                <a16:creationId xmlns:a16="http://schemas.microsoft.com/office/drawing/2014/main" id="{570AEDB2-E15A-4070-8EDB-1C404B57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Different datasets and targets; reported scores are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What did we learn?</a:t>
            </a:r>
          </a:p>
        </p:txBody>
      </p:sp>
      <p:sp>
        <p:nvSpPr>
          <p:cNvPr id="534" name="•">
            <a:extLst xmlns:a="http://schemas.openxmlformats.org/drawingml/2006/main">
              <a:ext uri="{FF2B5EF4-FFF2-40B4-BE49-F238E27FC236}">
                <a16:creationId xmlns:a16="http://schemas.microsoft.com/office/drawing/2014/main" id="{F3FD6801-B02F-41C1-A065-00F6308E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240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5" name="Student answers vary across academic and lifestyle ques">
            <a:extLst xmlns:a="http://schemas.openxmlformats.org/drawingml/2006/main">
              <a:ext uri="{FF2B5EF4-FFF2-40B4-BE49-F238E27FC236}">
                <a16:creationId xmlns:a16="http://schemas.microsoft.com/office/drawing/2014/main" id="{BDD7A629-AFE1-45FB-B720-A6FDACD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Student answers vary across academic and lifestyle questions.</a:t>
            </a:r>
          </a:p>
        </p:txBody>
      </p:sp>
      <p:sp>
        <p:nvSpPr>
          <p:cNvPr id="536" name="•">
            <a:extLst xmlns:a="http://schemas.openxmlformats.org/drawingml/2006/main">
              <a:ext uri="{FF2B5EF4-FFF2-40B4-BE49-F238E27FC236}">
                <a16:creationId xmlns:a16="http://schemas.microsoft.com/office/drawing/2014/main" id="{569162A9-4B84-4D3C-9502-8F4A151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622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7" name="Desired department, attendance and outside commitments ">
            <a:extLst xmlns:a="http://schemas.openxmlformats.org/drawingml/2006/main">
              <a:ext uri="{FF2B5EF4-FFF2-40B4-BE49-F238E27FC236}">
                <a16:creationId xmlns:a16="http://schemas.microsoft.com/office/drawing/2014/main" id="{641283A1-E46A-449F-845D-CDEE87D1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Desired department, attendance and outside commitments show the clearest CGPA associations.</a:t>
            </a:r>
          </a:p>
        </p:txBody>
      </p:sp>
      <p:sp>
        <p:nvSpPr>
          <p:cNvPr id="538" name="•">
            <a:extLst xmlns:a="http://schemas.openxmlformats.org/drawingml/2006/main">
              <a:ext uri="{FF2B5EF4-FFF2-40B4-BE49-F238E27FC236}">
                <a16:creationId xmlns:a16="http://schemas.microsoft.com/office/drawing/2014/main" id="{ECAC0E3D-EFEE-44F0-AA16-E0C058C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004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9" name="Questionnaire-only classification stays close to the ba">
            <a:extLst xmlns:a="http://schemas.openxmlformats.org/drawingml/2006/main">
              <a:ext uri="{FF2B5EF4-FFF2-40B4-BE49-F238E27FC236}">
                <a16:creationId xmlns:a16="http://schemas.microsoft.com/office/drawing/2014/main" id="{B240F353-BB2C-4A33-AE2F-F04CFF3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04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Questionnaire-only classification stays close to the baseline.</a:t>
            </a:r>
          </a:p>
        </p:txBody>
      </p:sp>
      <p:sp>
        <p:nvSpPr>
          <p:cNvPr id="540" name="•">
            <a:extLst xmlns:a="http://schemas.openxmlformats.org/drawingml/2006/main">
              <a:ext uri="{FF2B5EF4-FFF2-40B4-BE49-F238E27FC236}">
                <a16:creationId xmlns:a16="http://schemas.microsoft.com/office/drawing/2014/main" id="{A3E63293-E1F8-4320-9838-41FAE00F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386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1" name="Recent SGPA is the first split in the main J48 tree.">
            <a:extLst xmlns:a="http://schemas.openxmlformats.org/drawingml/2006/main">
              <a:ext uri="{FF2B5EF4-FFF2-40B4-BE49-F238E27FC236}">
                <a16:creationId xmlns:a16="http://schemas.microsoft.com/office/drawing/2014/main" id="{602A27EF-CFAC-4EC9-896B-915C7D7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Recent SGPA is the first split in the main J48 tree.</a:t>
            </a:r>
          </a:p>
        </p:txBody>
      </p:sp>
      <p:sp>
        <p:nvSpPr>
          <p:cNvPr id="542" name="•">
            <a:extLst xmlns:a="http://schemas.openxmlformats.org/drawingml/2006/main">
              <a:ext uri="{FF2B5EF4-FFF2-40B4-BE49-F238E27FC236}">
                <a16:creationId xmlns:a16="http://schemas.microsoft.com/office/drawing/2014/main" id="{72EFD97A-E72A-49D1-B1E4-A668F89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768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3" name="Random Forest leads the CV comparison; J48 provides rea">
            <a:extLst xmlns:a="http://schemas.openxmlformats.org/drawingml/2006/main">
              <a:ext uri="{FF2B5EF4-FFF2-40B4-BE49-F238E27FC236}">
                <a16:creationId xmlns:a16="http://schemas.microsoft.com/office/drawing/2014/main" id="{C962752C-A1ED-43F5-BE85-58CB8EC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768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Random Forest leads the CV comparison; J48 provides readable rules.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Limitations</a:t>
            </a:r>
          </a:p>
        </p:txBody>
      </p:sp>
      <p:sp>
        <p:nvSpPr>
          <p:cNvPr id="534" name="•">
            <a:extLst xmlns:a="http://schemas.openxmlformats.org/drawingml/2006/main">
              <a:ext uri="{FF2B5EF4-FFF2-40B4-BE49-F238E27FC236}">
                <a16:creationId xmlns:a16="http://schemas.microsoft.com/office/drawing/2014/main" id="{1F0EF624-3790-41F6-B8BB-023E95FE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954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5" name="Self-reported answers without verified registrar record">
            <a:extLst xmlns:a="http://schemas.openxmlformats.org/drawingml/2006/main">
              <a:ext uri="{FF2B5EF4-FFF2-40B4-BE49-F238E27FC236}">
                <a16:creationId xmlns:a16="http://schemas.microsoft.com/office/drawing/2014/main" id="{D452E248-A52B-4711-B884-3BE4218C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Self-reported answers without verified registrar records</a:t>
            </a:r>
          </a:p>
        </p:txBody>
      </p:sp>
      <p:sp>
        <p:nvSpPr>
          <p:cNvPr id="536" name="•">
            <a:extLst xmlns:a="http://schemas.openxmlformats.org/drawingml/2006/main">
              <a:ext uri="{FF2B5EF4-FFF2-40B4-BE49-F238E27FC236}">
                <a16:creationId xmlns:a16="http://schemas.microsoft.com/office/drawing/2014/main" id="{A4770531-12B3-4ED6-863A-52C3BBB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146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7" name="KUET-heavy sample and a one-time survey">
            <a:extLst xmlns:a="http://schemas.openxmlformats.org/drawingml/2006/main">
              <a:ext uri="{FF2B5EF4-FFF2-40B4-BE49-F238E27FC236}">
                <a16:creationId xmlns:a16="http://schemas.microsoft.com/office/drawing/2014/main" id="{42CD3D53-803A-4BAE-8BC4-726FA934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KUET-heavy sample and a one-time survey</a:t>
            </a:r>
          </a:p>
        </p:txBody>
      </p:sp>
      <p:sp>
        <p:nvSpPr>
          <p:cNvPr id="538" name="•">
            <a:extLst xmlns:a="http://schemas.openxmlformats.org/drawingml/2006/main">
              <a:ext uri="{FF2B5EF4-FFF2-40B4-BE49-F238E27FC236}">
                <a16:creationId xmlns:a16="http://schemas.microsoft.com/office/drawing/2014/main" id="{1D27EED9-B970-4608-90FC-542B9E04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337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9" name="Banded SGPA / CGPA with different time wording between ">
            <a:extLst xmlns:a="http://schemas.openxmlformats.org/drawingml/2006/main">
              <a:ext uri="{FF2B5EF4-FFF2-40B4-BE49-F238E27FC236}">
                <a16:creationId xmlns:a16="http://schemas.microsoft.com/office/drawing/2014/main" id="{333A2528-CC7B-499B-88AE-F02BAAD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Banded SGPA / CGPA with different time wording between forms</a:t>
            </a:r>
          </a:p>
        </p:txBody>
      </p:sp>
      <p:sp>
        <p:nvSpPr>
          <p:cNvPr id="540" name="•">
            <a:extLst xmlns:a="http://schemas.openxmlformats.org/drawingml/2006/main">
              <a:ext uri="{FF2B5EF4-FFF2-40B4-BE49-F238E27FC236}">
                <a16:creationId xmlns:a16="http://schemas.microsoft.com/office/drawing/2014/main" id="{BFB27253-237D-492B-9AA0-B3A31C11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1529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1" name="Questionnaire imputation occurred before splitting / CV">
            <a:extLst xmlns:a="http://schemas.openxmlformats.org/drawingml/2006/main">
              <a:ext uri="{FF2B5EF4-FFF2-40B4-BE49-F238E27FC236}">
                <a16:creationId xmlns:a16="http://schemas.microsoft.com/office/drawing/2014/main" id="{5B5ECEA5-0A0F-465A-B44C-18B27BB0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529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Questionnaire imputation occurred before splitting / CV</a:t>
            </a:r>
          </a:p>
        </p:txBody>
      </p:sp>
      <p:sp>
        <p:nvSpPr>
          <p:cNvPr id="542" name="•">
            <a:extLst xmlns:a="http://schemas.openxmlformats.org/drawingml/2006/main">
              <a:ext uri="{FF2B5EF4-FFF2-40B4-BE49-F238E27FC236}">
                <a16:creationId xmlns:a16="http://schemas.microsoft.com/office/drawing/2014/main" id="{EA689285-DCAC-4367-8180-0360DB2B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7205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3" name="Small associations and exploratory prediction estimates">
            <a:extLst xmlns:a="http://schemas.openxmlformats.org/drawingml/2006/main">
              <a:ext uri="{FF2B5EF4-FFF2-40B4-BE49-F238E27FC236}">
                <a16:creationId xmlns:a16="http://schemas.microsoft.com/office/drawing/2014/main" id="{6EE90635-2B43-40BB-8C94-1CD4F43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Small associations and exploratory prediction estimates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5D7439F-3AA2-49DB-A9FE-11936C7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3581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5" name="Data">
            <a:extLst xmlns:a="http://schemas.openxmlformats.org/drawingml/2006/main">
              <a:ext uri="{FF2B5EF4-FFF2-40B4-BE49-F238E27FC236}">
                <a16:creationId xmlns:a16="http://schemas.microsoft.com/office/drawing/2014/main" id="{5EFE354A-7562-4BF0-A988-E211616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536" name="1,108 usable engineering-student responses">
            <a:extLst xmlns:a="http://schemas.openxmlformats.org/drawingml/2006/main">
              <a:ext uri="{FF2B5EF4-FFF2-40B4-BE49-F238E27FC236}">
                <a16:creationId xmlns:a16="http://schemas.microsoft.com/office/drawing/2014/main" id="{A98EE0D0-F0A3-4778-9767-A0D7042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276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1,108 usable engineering-student responses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CF35F9C-3442-44A9-B450-F4C912E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19325"/>
            <a:ext cx="3581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38" name="Relationship">
            <a:extLst xmlns:a="http://schemas.openxmlformats.org/drawingml/2006/main">
              <a:ext uri="{FF2B5EF4-FFF2-40B4-BE49-F238E27FC236}">
                <a16:creationId xmlns:a16="http://schemas.microsoft.com/office/drawing/2014/main" id="{55F8ACB2-5732-48FB-B869-525980D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Relationship</a:t>
            </a:r>
          </a:p>
        </p:txBody>
      </p:sp>
      <p:sp>
        <p:nvSpPr>
          <p:cNvPr id="539" name="Question-by-question CGPA patterns">
            <a:extLst xmlns:a="http://schemas.openxmlformats.org/drawingml/2006/main">
              <a:ext uri="{FF2B5EF4-FFF2-40B4-BE49-F238E27FC236}">
                <a16:creationId xmlns:a16="http://schemas.microsoft.com/office/drawing/2014/main" id="{697A63A5-BA10-4E4C-86EB-65FE9BE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276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Question-by-question CGPA patterns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D14E9A6-6EA7-4A23-B869-E4B543D9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19325"/>
            <a:ext cx="3581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541" name="WEKA">
            <a:extLst xmlns:a="http://schemas.openxmlformats.org/drawingml/2006/main">
              <a:ext uri="{FF2B5EF4-FFF2-40B4-BE49-F238E27FC236}">
                <a16:creationId xmlns:a16="http://schemas.microsoft.com/office/drawing/2014/main" id="{AAD25545-575B-4EE7-B3FF-8FC3555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27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WEKA</a:t>
            </a:r>
          </a:p>
        </p:txBody>
      </p:sp>
      <p:sp>
        <p:nvSpPr>
          <p:cNvPr id="542" name="J48 rules and comparison with five standard classifiers">
            <a:extLst xmlns:a="http://schemas.openxmlformats.org/drawingml/2006/main">
              <a:ext uri="{FF2B5EF4-FFF2-40B4-BE49-F238E27FC236}">
                <a16:creationId xmlns:a16="http://schemas.microsoft.com/office/drawing/2014/main" id="{61280A2C-866C-4699-82A5-D1B5448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2766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J48 rules and comparison with five standard classifiers</a:t>
            </a:r>
          </a:p>
        </p:txBody>
      </p:sp>
      <p:sp>
        <p:nvSpPr>
          <p:cNvPr id="543" name="Associations and predictions, not causal proof.">
            <a:extLst xmlns:a="http://schemas.openxmlformats.org/drawingml/2006/main">
              <a:ext uri="{FF2B5EF4-FFF2-40B4-BE49-F238E27FC236}">
                <a16:creationId xmlns:a16="http://schemas.microsoft.com/office/drawing/2014/main" id="{7C27FA56-AB0A-403C-8FFE-37F7BE18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Associations and predictions, not causal proof.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34" name="2107020   Sheikh Md. Galib Mahim">
            <a:extLst xmlns:a="http://schemas.openxmlformats.org/drawingml/2006/main">
              <a:ext uri="{FF2B5EF4-FFF2-40B4-BE49-F238E27FC236}">
                <a16:creationId xmlns:a16="http://schemas.microsoft.com/office/drawing/2014/main" id="{A2447938-B5DC-41AA-BCE4-EBEC2D81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2107020   Sheikh Md. Galib Mahim</a:t>
            </a:r>
          </a:p>
        </p:txBody>
      </p:sp>
      <p:sp>
        <p:nvSpPr>
          <p:cNvPr id="535" name="2107030   Md. Eftakar Jaman Arfan">
            <a:extLst xmlns:a="http://schemas.openxmlformats.org/drawingml/2006/main">
              <a:ext uri="{FF2B5EF4-FFF2-40B4-BE49-F238E27FC236}">
                <a16:creationId xmlns:a16="http://schemas.microsoft.com/office/drawing/2014/main" id="{0E1294B1-7B51-46D6-B94C-C794500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2107030   Md. Eftakar Jaman Arfan</a:t>
            </a:r>
          </a:p>
        </p:txBody>
      </p:sp>
      <p:sp>
        <p:nvSpPr>
          <p:cNvPr id="536" name="2107007   Asif Jawad">
            <a:extLst xmlns:a="http://schemas.openxmlformats.org/drawingml/2006/main">
              <a:ext uri="{FF2B5EF4-FFF2-40B4-BE49-F238E27FC236}">
                <a16:creationId xmlns:a16="http://schemas.microsoft.com/office/drawing/2014/main" id="{98A5CDAA-F369-4374-851F-C977CEF2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2107007   Asif Jawad</a:t>
            </a:r>
          </a:p>
        </p:txBody>
      </p:sp>
      <p:sp>
        <p:nvSpPr>
          <p:cNvPr id="537" name="2107008   Rakibul Islam">
            <a:extLst xmlns:a="http://schemas.openxmlformats.org/drawingml/2006/main">
              <a:ext uri="{FF2B5EF4-FFF2-40B4-BE49-F238E27FC236}">
                <a16:creationId xmlns:a16="http://schemas.microsoft.com/office/drawing/2014/main" id="{2A15C6A6-23D2-4773-8DE4-A4FB78EB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2107008   Rakibul Islam</a:t>
            </a:r>
          </a:p>
        </p:txBody>
      </p:sp>
      <p:sp>
        <p:nvSpPr>
          <p:cNvPr id="538" name="2107012   Md Enam E Elahi">
            <a:extLst xmlns:a="http://schemas.openxmlformats.org/drawingml/2006/main">
              <a:ext uri="{FF2B5EF4-FFF2-40B4-BE49-F238E27FC236}">
                <a16:creationId xmlns:a16="http://schemas.microsoft.com/office/drawing/2014/main" id="{BB39D38A-CAE2-4AD6-99A5-131C8A18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2107012   Md Enam E Elahi</a:t>
            </a:r>
          </a:p>
        </p:txBody>
      </p:sp>
      <p:sp>
        <p:nvSpPr>
          <p:cNvPr id="539" name="2107014   Al Mubtasim Preom">
            <a:extLst xmlns:a="http://schemas.openxmlformats.org/drawingml/2006/main">
              <a:ext uri="{FF2B5EF4-FFF2-40B4-BE49-F238E27FC236}">
                <a16:creationId xmlns:a16="http://schemas.microsoft.com/office/drawing/2014/main" id="{97874660-2478-4E4A-BBFB-58B7FFE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23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2107014   Al Mubtasim Preom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A: questionnaire options 1</a:t>
            </a:r>
          </a:p>
        </p:txBody>
      </p:sp>
      <p:sp>
        <p:nvSpPr>
          <p:cNvPr id="534" name="Attendance">
            <a:extLst xmlns:a="http://schemas.openxmlformats.org/drawingml/2006/main">
              <a:ext uri="{FF2B5EF4-FFF2-40B4-BE49-F238E27FC236}">
                <a16:creationId xmlns:a16="http://schemas.microsoft.com/office/drawing/2014/main" id="{C08768FA-E20C-44BD-8469-070E0B7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Attendance</a:t>
            </a:r>
          </a:p>
        </p:txBody>
      </p:sp>
      <p:sp>
        <p:nvSpPr>
          <p:cNvPr id="535" name="0: Less than 40%&#10;1: 40-59%&#10;2: 60-74%&#10;3: 75-89%&#10;4: 90% o">
            <a:extLst xmlns:a="http://schemas.openxmlformats.org/drawingml/2006/main">
              <a:ext uri="{FF2B5EF4-FFF2-40B4-BE49-F238E27FC236}">
                <a16:creationId xmlns:a16="http://schemas.microsoft.com/office/drawing/2014/main" id="{1F0C87CA-C74A-46C6-955C-13F3212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Less than 40%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40-59%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60-74%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75-89%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90% or more</a:t>
            </a:r>
          </a:p>
        </p:txBody>
      </p:sp>
      <p:sp>
        <p:nvSpPr>
          <p:cNvPr id="536" name="Weekly study time">
            <a:extLst xmlns:a="http://schemas.openxmlformats.org/drawingml/2006/main">
              <a:ext uri="{FF2B5EF4-FFF2-40B4-BE49-F238E27FC236}">
                <a16:creationId xmlns:a16="http://schemas.microsoft.com/office/drawing/2014/main" id="{CB110ADB-E498-460C-804C-216F026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Weekly study time</a:t>
            </a:r>
          </a:p>
        </p:txBody>
      </p:sp>
      <p:sp>
        <p:nvSpPr>
          <p:cNvPr id="537" name="0: Less than 3 hrs&#10;1: 3-6 hrs&#10;2: 7-10 hrs&#10;3: 11-15 hrs&#10;">
            <a:extLst xmlns:a="http://schemas.openxmlformats.org/drawingml/2006/main">
              <a:ext uri="{FF2B5EF4-FFF2-40B4-BE49-F238E27FC236}">
                <a16:creationId xmlns:a16="http://schemas.microsoft.com/office/drawing/2014/main" id="{D002EE2C-35AE-4620-AC6B-A4DBB3C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Less than 3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3-6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7-10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11-15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More than 15 hrs</a:t>
            </a:r>
          </a:p>
        </p:txBody>
      </p:sp>
      <p:sp>
        <p:nvSpPr>
          <p:cNvPr id="538" name="Study style">
            <a:extLst xmlns:a="http://schemas.openxmlformats.org/drawingml/2006/main">
              <a:ext uri="{FF2B5EF4-FFF2-40B4-BE49-F238E27FC236}">
                <a16:creationId xmlns:a16="http://schemas.microsoft.com/office/drawing/2014/main" id="{889BF80E-26AE-460E-BB38-C14670E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style</a:t>
            </a:r>
          </a:p>
        </p:txBody>
      </p:sp>
      <p:sp>
        <p:nvSpPr>
          <p:cNvPr id="539" name="0: Occasionally when necessary&#10;1: Mostly just before ex">
            <a:extLst xmlns:a="http://schemas.openxmlformats.org/drawingml/2006/main">
              <a:ext uri="{FF2B5EF4-FFF2-40B4-BE49-F238E27FC236}">
                <a16:creationId xmlns:a16="http://schemas.microsoft.com/office/drawing/2014/main" id="{2FB2D22B-90C4-422D-BA02-D231967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Occasionally when necessary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Mostly just before exams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Regularly but not every day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Mostly consistent routine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Consistent throughout the semester</a:t>
            </a:r>
          </a:p>
        </p:txBody>
      </p:sp>
      <p:sp>
        <p:nvSpPr>
          <p:cNvPr id="540" name="Topic clarity">
            <a:extLst xmlns:a="http://schemas.openxmlformats.org/drawingml/2006/main">
              <a:ext uri="{FF2B5EF4-FFF2-40B4-BE49-F238E27FC236}">
                <a16:creationId xmlns:a16="http://schemas.microsoft.com/office/drawing/2014/main" id="{52C56A9B-37E1-42F6-B691-4920EDE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Topic clarity</a:t>
            </a:r>
          </a:p>
        </p:txBody>
      </p:sp>
      <p:sp>
        <p:nvSpPr>
          <p:cNvPr id="541" name="0: Almost nothing&#10;1: A little&#10;2: About half&#10;3: Most of ">
            <a:extLst xmlns:a="http://schemas.openxmlformats.org/drawingml/2006/main">
              <a:ext uri="{FF2B5EF4-FFF2-40B4-BE49-F238E27FC236}">
                <a16:creationId xmlns:a16="http://schemas.microsoft.com/office/drawing/2014/main" id="{05CDCD6C-93A4-474F-B5B6-C62B8FE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Almost nothing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A little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About half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Most of it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Almost everything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A: questionnaire options 2</a:t>
            </a:r>
          </a:p>
        </p:txBody>
      </p:sp>
      <p:sp>
        <p:nvSpPr>
          <p:cNvPr id="534" name="Stress">
            <a:extLst xmlns:a="http://schemas.openxmlformats.org/drawingml/2006/main">
              <a:ext uri="{FF2B5EF4-FFF2-40B4-BE49-F238E27FC236}">
                <a16:creationId xmlns:a16="http://schemas.microsoft.com/office/drawing/2014/main" id="{1EA44E34-21D5-4FC2-B80A-034D699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Stress</a:t>
            </a:r>
          </a:p>
        </p:txBody>
      </p:sp>
      <p:sp>
        <p:nvSpPr>
          <p:cNvPr id="535" name="0: Never&#10;1: Rarely&#10;2: Sometimes&#10;3: Often&#10;4: Almost alwa">
            <a:extLst xmlns:a="http://schemas.openxmlformats.org/drawingml/2006/main">
              <a:ext uri="{FF2B5EF4-FFF2-40B4-BE49-F238E27FC236}">
                <a16:creationId xmlns:a16="http://schemas.microsoft.com/office/drawing/2014/main" id="{A0F258F7-E240-4741-958D-FAE1665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Never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Rarely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Sometimes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Often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Almost always</a:t>
            </a:r>
          </a:p>
        </p:txBody>
      </p:sp>
      <p:sp>
        <p:nvSpPr>
          <p:cNvPr id="536" name="Sleep">
            <a:extLst xmlns:a="http://schemas.openxmlformats.org/drawingml/2006/main">
              <a:ext uri="{FF2B5EF4-FFF2-40B4-BE49-F238E27FC236}">
                <a16:creationId xmlns:a16="http://schemas.microsoft.com/office/drawing/2014/main" id="{E97327DC-ED42-4617-A42F-2E58F1A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Sleep</a:t>
            </a:r>
          </a:p>
        </p:txBody>
      </p:sp>
      <p:sp>
        <p:nvSpPr>
          <p:cNvPr id="537" name="0: Less than 5 hrs&#10;1: 5-6 hrs&#10;2: 6-7 hrs&#10;3: 7-8 hrs&#10;4: ">
            <a:extLst xmlns:a="http://schemas.openxmlformats.org/drawingml/2006/main">
              <a:ext uri="{FF2B5EF4-FFF2-40B4-BE49-F238E27FC236}">
                <a16:creationId xmlns:a16="http://schemas.microsoft.com/office/drawing/2014/main" id="{C19DD1D4-173A-4E8D-9362-FE57857B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Less than 5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5-6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6-7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7-8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More than 8 hrs</a:t>
            </a:r>
          </a:p>
        </p:txBody>
      </p:sp>
      <p:sp>
        <p:nvSpPr>
          <p:cNvPr id="538" name="Phone distraction">
            <a:extLst xmlns:a="http://schemas.openxmlformats.org/drawingml/2006/main">
              <a:ext uri="{FF2B5EF4-FFF2-40B4-BE49-F238E27FC236}">
                <a16:creationId xmlns:a16="http://schemas.microsoft.com/office/drawing/2014/main" id="{8AAF5B94-23C7-42BB-954A-FAC3E696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Phone distraction</a:t>
            </a:r>
          </a:p>
        </p:txBody>
      </p:sp>
      <p:sp>
        <p:nvSpPr>
          <p:cNvPr id="539" name="0: Never&#10;1: Rarely&#10;2: Sometimes&#10;3: Often&#10;4: Almost ever">
            <a:extLst xmlns:a="http://schemas.openxmlformats.org/drawingml/2006/main">
              <a:ext uri="{FF2B5EF4-FFF2-40B4-BE49-F238E27FC236}">
                <a16:creationId xmlns:a16="http://schemas.microsoft.com/office/drawing/2014/main" id="{805F0AFF-03C7-4BFC-84F2-3E9EF15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Never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Rarely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Sometimes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Often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Almost every day</a:t>
            </a:r>
          </a:p>
        </p:txBody>
      </p:sp>
      <p:sp>
        <p:nvSpPr>
          <p:cNvPr id="540" name="Outside commitments">
            <a:extLst xmlns:a="http://schemas.openxmlformats.org/drawingml/2006/main">
              <a:ext uri="{FF2B5EF4-FFF2-40B4-BE49-F238E27FC236}">
                <a16:creationId xmlns:a16="http://schemas.microsoft.com/office/drawing/2014/main" id="{C2617F53-3DB4-4D31-B1B4-209B8FB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Outside commitments</a:t>
            </a:r>
          </a:p>
        </p:txBody>
      </p:sp>
      <p:sp>
        <p:nvSpPr>
          <p:cNvPr id="541" name="0: None&#10;1: 1-5 hrs&#10;2: 6-10 hrs&#10;3: 11-15 hrs&#10;4: More tha">
            <a:extLst xmlns:a="http://schemas.openxmlformats.org/drawingml/2006/main">
              <a:ext uri="{FF2B5EF4-FFF2-40B4-BE49-F238E27FC236}">
                <a16:creationId xmlns:a16="http://schemas.microsoft.com/office/drawing/2014/main" id="{1056EC02-566D-412F-B462-3F42242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None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1-5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6-10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11-15 hrs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More than 15 hrs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A: questionnaire options 3</a:t>
            </a:r>
          </a:p>
        </p:txBody>
      </p:sp>
      <p:sp>
        <p:nvSpPr>
          <p:cNvPr id="534" name="Desired department">
            <a:extLst xmlns:a="http://schemas.openxmlformats.org/drawingml/2006/main">
              <a:ext uri="{FF2B5EF4-FFF2-40B4-BE49-F238E27FC236}">
                <a16:creationId xmlns:a16="http://schemas.microsoft.com/office/drawing/2014/main" id="{BF295364-4843-4CEC-AF1A-20FDC8B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Desired department</a:t>
            </a:r>
          </a:p>
        </p:txBody>
      </p:sp>
      <p:sp>
        <p:nvSpPr>
          <p:cNvPr id="535" name="0: Not at all what I wanted&#10;1: Mostly different&#10;2: Some">
            <a:extLst xmlns:a="http://schemas.openxmlformats.org/drawingml/2006/main">
              <a:ext uri="{FF2B5EF4-FFF2-40B4-BE49-F238E27FC236}">
                <a16:creationId xmlns:a16="http://schemas.microsoft.com/office/drawing/2014/main" id="{1110081A-623C-49DE-868C-4962F83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Not at all what I wanted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Mostly different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Somewhat different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Close to what I wanted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Yes, exactly what I wanted</a:t>
            </a:r>
          </a:p>
        </p:txBody>
      </p:sp>
      <p:sp>
        <p:nvSpPr>
          <p:cNvPr id="536" name="Support">
            <a:extLst xmlns:a="http://schemas.openxmlformats.org/drawingml/2006/main">
              <a:ext uri="{FF2B5EF4-FFF2-40B4-BE49-F238E27FC236}">
                <a16:creationId xmlns:a16="http://schemas.microsoft.com/office/drawing/2014/main" id="{D8CED666-62A7-446C-A5DA-47C10522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537" name="0: No support&#10;1: Very little support&#10;2: Some support&#10;3:">
            <a:extLst xmlns:a="http://schemas.openxmlformats.org/drawingml/2006/main">
              <a:ext uri="{FF2B5EF4-FFF2-40B4-BE49-F238E27FC236}">
                <a16:creationId xmlns:a16="http://schemas.microsoft.com/office/drawing/2014/main" id="{DD7E173B-9FBC-4249-8175-07A16E62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No support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Very little support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Some support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Good support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Strong support</a:t>
            </a:r>
          </a:p>
        </p:txBody>
      </p:sp>
      <p:sp>
        <p:nvSpPr>
          <p:cNvPr id="538" name="Study environment">
            <a:extLst xmlns:a="http://schemas.openxmlformats.org/drawingml/2006/main">
              <a:ext uri="{FF2B5EF4-FFF2-40B4-BE49-F238E27FC236}">
                <a16:creationId xmlns:a16="http://schemas.microsoft.com/office/drawing/2014/main" id="{650D37F0-3DED-432C-BDF5-A9852B5D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 environment</a:t>
            </a:r>
          </a:p>
        </p:txBody>
      </p:sp>
      <p:sp>
        <p:nvSpPr>
          <p:cNvPr id="539" name="0: Very distracting&#10;1: Somewhat distracting&#10;2: Neither ">
            <a:extLst xmlns:a="http://schemas.openxmlformats.org/drawingml/2006/main">
              <a:ext uri="{FF2B5EF4-FFF2-40B4-BE49-F238E27FC236}">
                <a16:creationId xmlns:a16="http://schemas.microsoft.com/office/drawing/2014/main" id="{14467095-8C03-41F9-8EA9-E8E77438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Very distracting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Somewhat distracting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Neither good nor bad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Mostly suitable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Excellent for focused study</a:t>
            </a:r>
          </a:p>
        </p:txBody>
      </p:sp>
      <p:sp>
        <p:nvSpPr>
          <p:cNvPr id="540" name="Routine manageability">
            <a:extLst xmlns:a="http://schemas.openxmlformats.org/drawingml/2006/main">
              <a:ext uri="{FF2B5EF4-FFF2-40B4-BE49-F238E27FC236}">
                <a16:creationId xmlns:a16="http://schemas.microsoft.com/office/drawing/2014/main" id="{FA3440A7-3B53-438E-9D11-04A11A3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Routine manageability</a:t>
            </a:r>
          </a:p>
        </p:txBody>
      </p:sp>
      <p:sp>
        <p:nvSpPr>
          <p:cNvPr id="541" name="0: Completely unmanageable&#10;1: Difficult to manage&#10;2: Av">
            <a:extLst xmlns:a="http://schemas.openxmlformats.org/drawingml/2006/main">
              <a:ext uri="{FF2B5EF4-FFF2-40B4-BE49-F238E27FC236}">
                <a16:creationId xmlns:a16="http://schemas.microsoft.com/office/drawing/2014/main" id="{20E6BF59-A7C7-4D63-B75B-452F9F0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54292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0: Completely unmanageable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1: Difficult to manage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2: Average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3: Mostly manageable</a:t>
            </a:r>
          </a:p>
          <a:p xmlns:a="http://schemas.openxmlformats.org/drawingml/2006/main">
            <a:pPr>
              <a:def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4: Very healthy and balanced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A: remaining form fields</a:t>
            </a: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504950"/>
          <a:ext xmlns:a="http://schemas.openxmlformats.org/drawingml/2006/main" cx="11391900" cy="4086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6962775"/>
              </a:tblGrid>
              <a:tr h="51077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University / department / semester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background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Admission satisfaction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Career expectation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Motivation 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Result satisfaction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Excluded outcome-related item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Recent SGPA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SGPA target or extra main CGPA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Four-band CGPA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7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Timestamp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Administration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5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B: cleaning and exclusions</a:t>
            </a:r>
          </a:p>
        </p:txBody>
      </p:sp>
      <p:sp>
        <p:nvSpPr>
          <p:cNvPr id="534" name="•">
            <a:extLst xmlns:a="http://schemas.openxmlformats.org/drawingml/2006/main">
              <a:ext uri="{FF2B5EF4-FFF2-40B4-BE49-F238E27FC236}">
                <a16:creationId xmlns:a16="http://schemas.microsoft.com/office/drawing/2014/main" id="{C79C9852-8C49-468B-98DE-4386EDA5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954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5" name="Merged 230 + 896 raw rows. Removed 18 unusable CGPA tar">
            <a:extLst xmlns:a="http://schemas.openxmlformats.org/drawingml/2006/main">
              <a:ext uri="{FF2B5EF4-FFF2-40B4-BE49-F238E27FC236}">
                <a16:creationId xmlns:a16="http://schemas.microsoft.com/office/drawing/2014/main" id="{326E2CEB-C283-443B-BAF9-9325386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954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Merged 230 + 896 raw rows. Removed 18 unusable CGPA targets.</a:t>
            </a:r>
          </a:p>
        </p:txBody>
      </p:sp>
      <p:sp>
        <p:nvSpPr>
          <p:cNvPr id="536" name="•">
            <a:extLst xmlns:a="http://schemas.openxmlformats.org/drawingml/2006/main">
              <a:ext uri="{FF2B5EF4-FFF2-40B4-BE49-F238E27FC236}">
                <a16:creationId xmlns:a16="http://schemas.microsoft.com/office/drawing/2014/main" id="{C07396F4-0C8A-4648-85E3-8E7A057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145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7" name="Standardised bilingual options, institution labels and ">
            <a:extLst xmlns:a="http://schemas.openxmlformats.org/drawingml/2006/main">
              <a:ext uri="{FF2B5EF4-FFF2-40B4-BE49-F238E27FC236}">
                <a16:creationId xmlns:a16="http://schemas.microsoft.com/office/drawing/2014/main" id="{7599448C-E47C-4314-A91C-1C05775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Standardised bilingual options, institution labels and GPA bands.</a:t>
            </a:r>
          </a:p>
        </p:txBody>
      </p:sp>
      <p:sp>
        <p:nvSpPr>
          <p:cNvPr id="538" name="•">
            <a:extLst xmlns:a="http://schemas.openxmlformats.org/drawingml/2006/main">
              <a:ext uri="{FF2B5EF4-FFF2-40B4-BE49-F238E27FC236}">
                <a16:creationId xmlns:a16="http://schemas.microsoft.com/office/drawing/2014/main" id="{7A640BBC-B23B-42D9-8FFC-D128D25E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337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9" name="Mapped ordered answers to numeric option codes.">
            <a:extLst xmlns:a="http://schemas.openxmlformats.org/drawingml/2006/main">
              <a:ext uri="{FF2B5EF4-FFF2-40B4-BE49-F238E27FC236}">
                <a16:creationId xmlns:a16="http://schemas.microsoft.com/office/drawing/2014/main" id="{E10C3002-D7CB-4E5B-B4CC-DCB7C89D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Mapped ordered answers to numeric option codes.</a:t>
            </a:r>
          </a:p>
        </p:txBody>
      </p:sp>
      <p:sp>
        <p:nvSpPr>
          <p:cNvPr id="540" name="•">
            <a:extLst xmlns:a="http://schemas.openxmlformats.org/drawingml/2006/main">
              <a:ext uri="{FF2B5EF4-FFF2-40B4-BE49-F238E27FC236}">
                <a16:creationId xmlns:a16="http://schemas.microsoft.com/office/drawing/2014/main" id="{EF3D9E6C-E6BA-4081-98B3-F42E17C7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52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1" name="Filled questionnaire blanks using within-source modes.">
            <a:extLst xmlns:a="http://schemas.openxmlformats.org/drawingml/2006/main">
              <a:ext uri="{FF2B5EF4-FFF2-40B4-BE49-F238E27FC236}">
                <a16:creationId xmlns:a16="http://schemas.microsoft.com/office/drawing/2014/main" id="{3CB805BD-BC1B-4DCC-9234-D5F057B8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Filled questionnaire blanks using within-source modes.</a:t>
            </a:r>
          </a:p>
        </p:txBody>
      </p:sp>
      <p:sp>
        <p:nvSpPr>
          <p:cNvPr id="542" name="•">
            <a:extLst xmlns:a="http://schemas.openxmlformats.org/drawingml/2006/main">
              <a:ext uri="{FF2B5EF4-FFF2-40B4-BE49-F238E27FC236}">
                <a16:creationId xmlns:a16="http://schemas.microsoft.com/office/drawing/2014/main" id="{4C90DDB1-1604-493C-A257-60FD9402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720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43" name="Excluded six target-conditioned SGPA imputations from a">
            <a:extLst xmlns:a="http://schemas.openxmlformats.org/drawingml/2006/main">
              <a:ext uri="{FF2B5EF4-FFF2-40B4-BE49-F238E27FC236}">
                <a16:creationId xmlns:a16="http://schemas.microsoft.com/office/drawing/2014/main" id="{74620034-BC22-4470-8D43-D0412CC8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Excluded six target-conditioned SGPA imputations from all models.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6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C: exact WEKA settings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343900"/>
              </a:tblGrid>
              <a:tr h="5170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Settings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CV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WEKA 3.8.7; 10 folds; seed 1; N=1,102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-C 0.25 -M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 explanatory trees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-C 0.25 -M 40; train 881 / test 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iterations; seed 1; default feature subset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C=1; polynomial kernel exponent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Logistic / Naive Bayes / ZeroR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WEKA 3.8.7 defaults; exact options in notes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Full option strings and saved ARFF files accompany the ">
            <a:extLst xmlns:a="http://schemas.openxmlformats.org/drawingml/2006/main">
              <a:ext uri="{FF2B5EF4-FFF2-40B4-BE49-F238E27FC236}">
                <a16:creationId xmlns:a16="http://schemas.microsoft.com/office/drawing/2014/main" id="{9E9D2C41-5EE2-406F-8DDA-F4E5BCD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Full option strings and saved ARFF files accompany the deck.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D: SGPA full J48 tree</a:t>
            </a:r>
          </a:p>
        </p:txBody>
      </p:sp>
      <p:sp>
        <p:nvSpPr>
          <p:cNvPr id="534" name="J48 pruned tree&#10;------------------&#10;&#10;routine_manageabili">
            <a:extLst xmlns:a="http://schemas.openxmlformats.org/drawingml/2006/main">
              <a:ext uri="{FF2B5EF4-FFF2-40B4-BE49-F238E27FC236}">
                <a16:creationId xmlns:a16="http://schemas.microsoft.com/office/drawing/2014/main" id="{DDE1168F-C8E3-437A-8BDB-CEB7AF0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34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J48 pruned tree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routine_manageability &lt;= 0: C1 (125.0/80.0)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routine_manageability &gt; 0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topic_clarity &lt;= 3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attendance &lt;= 3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stress_frequency &lt;= 1: C2 (128.0/77.0)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stress_frequency &gt; 1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support_level &lt;= 1: C3 (68.0/45.0)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support_level &gt; 1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weekly_study_time &lt;= 1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weekly_responsibilities &lt;= 1: C0 (52.0/35.0)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weekly_responsibilities &gt; 1: C1 (49.0/32.0)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weekly_study_time &gt; 1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distraction_frequency &lt;= 2: C1 (69.0/36.0)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distraction_frequency &gt; 2: C2 (50.0/31.0)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attendance &gt; 3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study_environment &lt;= 1: C3 (63.0/36.0)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study_environment &gt; 1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study_environment &lt;= 3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desired_department_match &lt;= 2: C1 (50.0/33.0)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desired_department_match &gt; 2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weekly_study_time &lt;= 1: C2 (43.0/19.0)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|   weekly_study_time &gt; 1: C3 (51.0/32.0)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study_environment &gt; 3: C3 (42.0/20.0)</a:t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topic_clarity &gt; 3: C0 (91.0/58.0)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Number of Leaves  : 	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Size of the tree : 	25</a:t>
            </a:r>
          </a:p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E: questionnaire CGPA full J48 tree</a:t>
            </a:r>
          </a:p>
        </p:txBody>
      </p:sp>
      <p:sp>
        <p:nvSpPr>
          <p:cNvPr id="534" name="J48 pruned tree&#10;------------------&#10;&#10;study_environment &lt;">
            <a:extLst xmlns:a="http://schemas.openxmlformats.org/drawingml/2006/main">
              <a:ext uri="{FF2B5EF4-FFF2-40B4-BE49-F238E27FC236}">
                <a16:creationId xmlns:a16="http://schemas.microsoft.com/office/drawing/2014/main" id="{DBE474EC-F89C-4882-8FE1-FE32050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34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J48 pruned tree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study_environment &lt;= 0: C0 (116.0/82.0)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study_environment &gt; 0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attendance &lt;= 3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distraction_frequency &lt;= 0: C2 (46.0/26.0)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distraction_frequency &gt; 0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routine_manageability &lt;= 1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support_level &lt;= 2: C1 (107.0/67.0)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support_level &gt; 2: C0 (62.0/38.0)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routine_manageability &gt; 1: C1 (250.0/158.0)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attendance &gt; 3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study_environment &lt;= 3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stress_frequency &lt;= 1: C2 (76.0/49.0)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stress_frequency &gt; 1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weekly_study_time &lt;= 2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distraction_frequency &lt;= 2: C1 (58.0/36.0)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|   distraction_frequency &gt; 2: C3 (63.0/41.0)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|   weekly_study_time &gt; 2: C3 (45.0/26.0)</a:t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study_environment &gt; 3: C3 (58.0/36.0)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Number of Leaves  : 	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Size of the tree : 	19</a:t>
            </a:r>
          </a:p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59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F: main CGPA full J48 tree</a:t>
            </a:r>
          </a:p>
        </p:txBody>
      </p:sp>
      <p:sp>
        <p:nvSpPr>
          <p:cNvPr id="534" name="J48 pruned tree&#10;------------------&#10;&#10;recent_sgpa &lt;= 1&#10;| ">
            <a:extLst xmlns:a="http://schemas.openxmlformats.org/drawingml/2006/main">
              <a:ext uri="{FF2B5EF4-FFF2-40B4-BE49-F238E27FC236}">
                <a16:creationId xmlns:a16="http://schemas.microsoft.com/office/drawing/2014/main" id="{211733B7-76B3-40F7-B0E4-EB35E12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34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J48 pruned tree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recent_sgpa &lt;= 1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recent_sgpa &lt;= 0: C0 (196.0/116.0)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recent_sgpa &gt; 0: C1 (236.0/117.0)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recent_sgpa &gt; 1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recent_sgpa &lt;= 2: C2 (225.0/123.0)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recent_sgpa &gt; 2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weekly_responsibilities &lt;= 1: C3 (109.0/44.0)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weekly_responsibilities &gt; 1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desired_department_match &lt;= 2: C1 (49.0/32.0)</a:t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|   |   |   desired_department_match &gt; 2: C3 (66.0/42.0)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Number of Leaves  : 	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121212"/>
                </a:solidFill>
                <a:latin typeface="Times New Roman"/>
                <a:ea typeface="Times New Roman"/>
                <a:cs typeface="Times New Roman"/>
              </a:rPr>
              <a:t>Size of the tree : 	11</a:t>
            </a:r>
          </a:p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G: sgpa WEKA CV metrics</a:t>
            </a: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743075"/>
          <a:ext xmlns:a="http://schemas.openxmlformats.org/drawingml/2006/main" cx="113919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686050"/>
                <a:gridCol w="2686050"/>
                <a:gridCol w="2686050"/>
              </a:tblGrid>
              <a:tr h="537482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Kappa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29.76%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Naive Bayes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G: questionnaire WEKA CV metrics</a:t>
            </a: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743075"/>
          <a:ext xmlns:a="http://schemas.openxmlformats.org/drawingml/2006/main" cx="113919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686050"/>
                <a:gridCol w="2686050"/>
                <a:gridCol w="2686050"/>
              </a:tblGrid>
              <a:tr h="537482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Kappa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29.58%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Naive Bayes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G: main WEKA CV metrics</a:t>
            </a: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743075"/>
          <a:ext xmlns:a="http://schemas.openxmlformats.org/drawingml/2006/main" cx="113919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686050"/>
                <a:gridCol w="2686050"/>
                <a:gridCol w="2686050"/>
              </a:tblGrid>
              <a:tr h="537482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F1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Kappa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38.29%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43.92%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37.11%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Naive Bayes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38.11%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29.04%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H: WEKA sgpa output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706fdda8b47ec"/>
          <a:stretch xmlns:a="http://schemas.openxmlformats.org/drawingml/2006/main"/>
        </p:blipFill>
        <p:spPr>
          <a:xfrm xmlns:a="http://schemas.openxmlformats.org/drawingml/2006/main">
            <a:off x="2177143" y="1323975"/>
            <a:ext cx="7837714" cy="4572000"/>
          </a:xfrm>
          <a:prstGeom xmlns:a="http://schemas.openxmlformats.org/drawingml/2006/main" prst="rect">
            <a:avLst/>
          </a:prstGeom>
        </p:spPr>
      </p:pic>
      <p:sp>
        <p:nvSpPr>
          <p:cNvPr id="535" name="Verbatim WEKA J48 test output capture. Original complet">
            <a:extLst xmlns:a="http://schemas.openxmlformats.org/drawingml/2006/main">
              <a:ext uri="{FF2B5EF4-FFF2-40B4-BE49-F238E27FC236}">
                <a16:creationId xmlns:a16="http://schemas.microsoft.com/office/drawing/2014/main" id="{B52FED40-8E54-4187-A452-47458D3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Verbatim WEKA J48 test output capture. Original complete text log accompanies the deck.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H: WEKA questionnaire output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f94438a984a1b"/>
          <a:stretch xmlns:a="http://schemas.openxmlformats.org/drawingml/2006/main"/>
        </p:blipFill>
        <p:spPr>
          <a:xfrm xmlns:a="http://schemas.openxmlformats.org/drawingml/2006/main">
            <a:off x="2177143" y="1323975"/>
            <a:ext cx="7837714" cy="4572000"/>
          </a:xfrm>
          <a:prstGeom xmlns:a="http://schemas.openxmlformats.org/drawingml/2006/main" prst="rect">
            <a:avLst/>
          </a:prstGeom>
        </p:spPr>
      </p:pic>
      <p:sp>
        <p:nvSpPr>
          <p:cNvPr id="535" name="Verbatim WEKA J48 test output capture. Original complet">
            <a:extLst xmlns:a="http://schemas.openxmlformats.org/drawingml/2006/main">
              <a:ext uri="{FF2B5EF4-FFF2-40B4-BE49-F238E27FC236}">
                <a16:creationId xmlns:a16="http://schemas.microsoft.com/office/drawing/2014/main" id="{F803E435-0220-44AC-999F-5944FEBC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Verbatim WEKA J48 test output capture. Original complete text log accompanies the deck.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5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H: WEKA main output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f674a94844a85"/>
          <a:stretch xmlns:a="http://schemas.openxmlformats.org/drawingml/2006/main"/>
        </p:blipFill>
        <p:spPr>
          <a:xfrm xmlns:a="http://schemas.openxmlformats.org/drawingml/2006/main">
            <a:off x="2177143" y="1323975"/>
            <a:ext cx="7837714" cy="4572000"/>
          </a:xfrm>
          <a:prstGeom xmlns:a="http://schemas.openxmlformats.org/drawingml/2006/main" prst="rect">
            <a:avLst/>
          </a:prstGeom>
        </p:spPr>
      </p:pic>
      <p:sp>
        <p:nvSpPr>
          <p:cNvPr id="535" name="Verbatim WEKA J48 test output capture. Original complet">
            <a:extLst xmlns:a="http://schemas.openxmlformats.org/drawingml/2006/main">
              <a:ext uri="{FF2B5EF4-FFF2-40B4-BE49-F238E27FC236}">
                <a16:creationId xmlns:a16="http://schemas.microsoft.com/office/drawing/2014/main" id="{7CF1C17B-2642-4689-A6F6-1A708F57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85858"/>
                </a:solidFill>
                <a:latin typeface="Times New Roman"/>
                <a:ea typeface="Times New Roman"/>
                <a:cs typeface="Times New Roman"/>
              </a:rPr>
              <a:t>Verbatim WEKA J48 test output capture. Original complete text log accompanies the deck.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6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latin typeface="Times New Roman"/>
                <a:ea typeface="Times New Roman"/>
                <a:cs typeface="Times New Roman"/>
              </a:rPr>
              <a:t>Backup I: team contribution</a:t>
            </a:r>
          </a:p>
        </p:txBody>
      </p:sp>
      <p:graphicFrame>
        <p:nvGraphicFramePr>
          <p:cNvPr id="538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296150"/>
              </a:tblGrid>
              <a:tr h="5578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role (confirm with team)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Sheikh Md. Galib Mahim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Cleaning, EDA, modelling notebook and documentation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Md. Eftakar Jaman Arfan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WEKA experiments and result tables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Asif Jawad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Form design and data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Rakibul Islam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 writing and related 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 Enam E Elahi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 writing and related 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 Mubtasim Preom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121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KUET schema cleaning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2026-09-13T18:23:09.2480000Z</dcterms:created>
  <dcterms:modified xsi:type="dcterms:W3CDTF">2026-09-13T18:23:09.2480000Z</dcterms:modified>
</coreProperties>
</file>