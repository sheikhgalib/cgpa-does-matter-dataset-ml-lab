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1.xml" ContentType="application/vnd.openxmlformats-officedocument.drawingml.chart+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76"/>
  </p:notesMasterIdLst>
  <p:sldIdLst>
    <p:sldId id="396" r:id="rId2"/>
    <p:sldId id="257" r:id="rId3"/>
    <p:sldId id="260" r:id="rId4"/>
    <p:sldId id="261" r:id="rId5"/>
    <p:sldId id="262" r:id="rId6"/>
    <p:sldId id="263" r:id="rId7"/>
    <p:sldId id="400" r:id="rId8"/>
    <p:sldId id="264" r:id="rId9"/>
    <p:sldId id="266" r:id="rId10"/>
    <p:sldId id="414" r:id="rId11"/>
    <p:sldId id="415" r:id="rId12"/>
    <p:sldId id="416" r:id="rId13"/>
    <p:sldId id="417" r:id="rId14"/>
    <p:sldId id="418" r:id="rId15"/>
    <p:sldId id="419" r:id="rId16"/>
    <p:sldId id="401" r:id="rId17"/>
    <p:sldId id="267" r:id="rId18"/>
    <p:sldId id="268" r:id="rId19"/>
    <p:sldId id="271" r:id="rId20"/>
    <p:sldId id="272" r:id="rId21"/>
    <p:sldId id="273" r:id="rId22"/>
    <p:sldId id="274" r:id="rId23"/>
    <p:sldId id="275" r:id="rId24"/>
    <p:sldId id="276" r:id="rId25"/>
    <p:sldId id="277" r:id="rId26"/>
    <p:sldId id="278" r:id="rId27"/>
    <p:sldId id="279" r:id="rId28"/>
    <p:sldId id="293" r:id="rId29"/>
    <p:sldId id="402" r:id="rId30"/>
    <p:sldId id="403" r:id="rId31"/>
    <p:sldId id="404" r:id="rId32"/>
    <p:sldId id="405" r:id="rId33"/>
    <p:sldId id="406" r:id="rId34"/>
    <p:sldId id="407" r:id="rId35"/>
    <p:sldId id="408" r:id="rId36"/>
    <p:sldId id="409" r:id="rId37"/>
    <p:sldId id="410" r:id="rId38"/>
    <p:sldId id="280" r:id="rId39"/>
    <p:sldId id="281" r:id="rId40"/>
    <p:sldId id="282" r:id="rId41"/>
    <p:sldId id="283" r:id="rId42"/>
    <p:sldId id="285" r:id="rId43"/>
    <p:sldId id="287" r:id="rId44"/>
    <p:sldId id="288" r:id="rId45"/>
    <p:sldId id="289" r:id="rId46"/>
    <p:sldId id="290" r:id="rId47"/>
    <p:sldId id="291" r:id="rId48"/>
    <p:sldId id="292" r:id="rId49"/>
    <p:sldId id="411" r:id="rId50"/>
    <p:sldId id="294" r:id="rId51"/>
    <p:sldId id="423" r:id="rId52"/>
    <p:sldId id="421" r:id="rId53"/>
    <p:sldId id="295" r:id="rId54"/>
    <p:sldId id="296" r:id="rId55"/>
    <p:sldId id="422" r:id="rId56"/>
    <p:sldId id="297" r:id="rId57"/>
    <p:sldId id="298" r:id="rId58"/>
    <p:sldId id="420" r:id="rId59"/>
    <p:sldId id="412" r:id="rId60"/>
    <p:sldId id="413" r:id="rId61"/>
    <p:sldId id="302" r:id="rId62"/>
    <p:sldId id="303" r:id="rId63"/>
    <p:sldId id="304" r:id="rId64"/>
    <p:sldId id="308" r:id="rId65"/>
    <p:sldId id="309" r:id="rId66"/>
    <p:sldId id="310" r:id="rId67"/>
    <p:sldId id="311" r:id="rId68"/>
    <p:sldId id="312" r:id="rId69"/>
    <p:sldId id="313" r:id="rId70"/>
    <p:sldId id="398" r:id="rId71"/>
    <p:sldId id="315" r:id="rId72"/>
    <p:sldId id="316" r:id="rId73"/>
    <p:sldId id="318" r:id="rId74"/>
    <p:sldId id="319" r:id="rId75"/>
  </p:sldIdLst>
  <p:sldSz cx="12192000" cy="6858000"/>
  <p:notesSz cx="6858000" cy="9144000"/>
  <p:embeddedFontLst>
    <p:embeddedFont>
      <p:font typeface="OpenAI Sans" panose="020B0604020202020204" charset="0"/>
      <p:regular r:id="rId77"/>
      <p:bold r:id="rId78"/>
      <p:italic r:id="rId79"/>
      <p:boldItalic r:id="rId80"/>
    </p:embeddedFont>
    <p:embeddedFont>
      <p:font typeface="Segoe UI" panose="020B0502040204020203" pitchFamily="34" charset="0"/>
      <p:regular r:id="rId81"/>
      <p:bold r:id="rId82"/>
      <p:italic r:id="rId83"/>
      <p:boldItalic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33"/>
    <p:restoredTop sz="94658"/>
  </p:normalViewPr>
  <p:slideViewPr>
    <p:cSldViewPr snapToGrid="0">
      <p:cViewPr varScale="1">
        <p:scale>
          <a:sx n="94" d="100"/>
          <a:sy n="94" d="100"/>
        </p:scale>
        <p:origin x="115" y="278"/>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4.fntdata"/><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6.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2878CF"/>
            </a:solidFill>
          </c:spPr>
          <c:invertIfNegative val="1"/>
          <c:dLbls>
            <c:numFmt formatCode="0.0&quot;%&quot;" sourceLinked="0"/>
            <c:spPr>
              <a:noFill/>
              <a:ln>
                <a:noFill/>
              </a:ln>
              <a:effectLst/>
            </c:spPr>
            <c:txPr>
              <a:bodyPr anchorCtr="1"/>
              <a:lstStyle/>
              <a:p>
                <a:pPr>
                  <a:defRPr>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ZeroR</c:v>
                </c:pt>
                <c:pt idx="1">
                  <c:v>J48</c:v>
                </c:pt>
                <c:pt idx="2">
                  <c:v>Random Forest</c:v>
                </c:pt>
                <c:pt idx="3">
                  <c:v>SMO</c:v>
                </c:pt>
                <c:pt idx="4">
                  <c:v>Logistic</c:v>
                </c:pt>
                <c:pt idx="5">
                  <c:v>Naive Bayes</c:v>
                </c:pt>
              </c:strCache>
            </c:strRef>
          </c:cat>
          <c:val>
            <c:numRef>
              <c:f>Sheet1!$B$2:$B$7</c:f>
              <c:numCache>
                <c:formatCode>0"%"</c:formatCode>
                <c:ptCount val="6"/>
                <c:pt idx="0">
                  <c:v>30.87</c:v>
                </c:pt>
                <c:pt idx="1">
                  <c:v>54.35</c:v>
                </c:pt>
                <c:pt idx="2">
                  <c:v>54.24</c:v>
                </c:pt>
                <c:pt idx="3">
                  <c:v>55.22</c:v>
                </c:pt>
                <c:pt idx="4">
                  <c:v>54.67</c:v>
                </c:pt>
                <c:pt idx="5">
                  <c:v>54.46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FF9-4988-A2A8-E9F8A5BC5F38}"/>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60"/>
          <c:min val="0"/>
        </c:scaling>
        <c:delete val="0"/>
        <c:axPos val="l"/>
        <c:numFmt formatCode="0&quot;%&quot;" sourceLinked="0"/>
        <c:majorTickMark val="none"/>
        <c:minorTickMark val="none"/>
        <c:tickLblPos val="nextTo"/>
        <c:spPr>
          <a:ln w="9525">
            <a:solidFill>
              <a:srgbClr val="D4D4D4"/>
            </a:solidFill>
            <a:prstDash val="solid"/>
          </a:ln>
        </c:spPr>
        <c:txPr>
          <a:bodyPr anchorCtr="1"/>
          <a:lstStyle/>
          <a:p>
            <a:pPr>
              <a:defRPr>
                <a:solidFill>
                  <a:srgbClr val="666666"/>
                </a:solidFill>
                <a:latin typeface="Times New Roman"/>
                <a:ea typeface="Times New Roman"/>
                <a:cs typeface="Times New Roman"/>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14D2-2802-9381-3FF9-B1BDC227F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838E4-A3D7-443C-4771-74618E3C9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27993-9BBE-6B01-9733-AB1FA9039A9B}"/>
              </a:ext>
            </a:extLst>
          </p:cNvPr>
          <p:cNvSpPr>
            <a:spLocks noGrp="1"/>
          </p:cNvSpPr>
          <p:nvPr>
            <p:ph type="body" idx="1"/>
          </p:nvPr>
        </p:nvSpPr>
        <p:spPr/>
        <p:txBody>
          <a:bodyPr/>
          <a:lstStyle/>
          <a:p>
            <a:r>
              <a:t>Assalamu alaikum. Amader project er naam 'What Shapes Student CGPA?'. Amra 920 jon engineering student er survey data niye kaj korsi. Amra bujhte chaisi student ra nijer academic life niye ki bole, kon pattern gula valo ba kharap result er sathe ashe, ar ei answer gula diye notun student er CGPA group predict kora jay kina. Flow ta simple: Student → Form → Data → Rules → CGPA.</a:t>
            </a:r>
          </a:p>
        </p:txBody>
      </p:sp>
      <p:sp>
        <p:nvSpPr>
          <p:cNvPr id="4" name="Slide Number Placeholder 3">
            <a:extLst>
              <a:ext uri="{FF2B5EF4-FFF2-40B4-BE49-F238E27FC236}">
                <a16:creationId xmlns:a16="http://schemas.microsoft.com/office/drawing/2014/main" id="{AF2EA6BD-8166-9F1E-E1F9-3EC85E4DC22E}"/>
              </a:ext>
            </a:extLst>
          </p:cNvPr>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3309749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Amader tinta simple question. Ek, student ra ki report kore. Dui, kon answer pattern gula valo ba kharap result er sathe beshi dekha jay. Tin, ei answer diye notun student er result predict kora jay kina. Amader goal shudhu accuracy na — result ta jeno bujha jay.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duita Google Form theke eseche. Multi-university form e 230 ta, ar KUET form e 896 ta response — mot 1,126. Clean ar SGPA-CGPA check er por 920 ta final record. Duita form e question same, shudhu wording ektu alada, tai careful vabe merge korsi.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Eta amader actual Google Form er screenshot — header ar charta question. KUET form e same core question chilo, shudhu wording ektu alada, tai duita merge kore ek dataset banaisi. Protiti question English ar Bangla duitai ache, ar form ta anonymous — name ba roll number nai. Answer gula option theke select korte hoy, tai sob student er answer compare kora easy. Model niye kotha bolar age amra dekhate chai data ta ashole kotha theke esheche.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Ekhane charta real question dekhano holo — attendance, weekly study time, stress, ar recent SGPA. Beshirvag answer category hishebe, jemon '75-89%' ba 'Often'. Ei category gula thakar karone different student der answer shohoje compare kora jay.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 chhoy ta real form question Decision Tree er rule e ashe — topic clarity, study style, study environment, semester routine, sleep, ar CGPA question ta nije target. Protiti screenshot er upore lekha ache kon tree seta use korse. Tree jokhon IF-AND rule dey, rule er protiti condition ei question gular answer theke ashe.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 e shudhu academic info na, non-academic diko ache: study habit, lifestyle, pressure, motivation-support, environment. Ar amader target holo CGPA group — C0 theke C3. Mane project ta academic ar behaviour duita dik eksathe dekhe.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Raw data te 1,126 ta response chilo. Same answer different vabe lekha — jemon BRAC, Brac, BRAc — egula ek kora hoyeche. Bangla bracket shoriye ek label kora hoyeche, duita GPA format ke C0-C3 group e ana hoyeche, ar 18 ta row jekhane CGPA chilo na seta bad deya hoyeche. Final 1,108 ta clean row. Cleaning na korle computer same answer ke alada vabto.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each of the 1102 students with a real SGPA, we compared the recent SGPA group with the CGPA group. 860 students (78%) are in the same group or one group apart. 242 students are 2 or 3 groups apart. Because CGPA is an average of all semesters, a gap that big should be rare.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Simple arithmetic: new CGPA = (5 × old CGPA + new SGPA) / 6. A very bad semester (3.80 then 2.80) gives 3.63, a very good semester (3.00 then 4.00) gives 3.17. So a big SGPA/CGPA gap is possible for a few students, but it should not be common.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BRAC and CUET have no big gaps. BUET has 37 of 104, KUET has 205 of 872. Inside KUET almost all big gaps are in semester 7 (199 of 675). Other KUET semesters have 0 to 3 each. BUET was not removed: the numbers are smaller and there is no single time pattern.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KUET semester-7 answers came in over two weeks. On 6 and 7 August we got 455 answers in two days, and 182 of them (40%) had a big SGPA/CGPA gap. Before 6 August only 2 of 120 did. The form is anonymous, so we do not know who filled these answers, only that this group looks different.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table counts students by recent SGPA group (rows) and CGPA group (columns). Blue cells = same group or one group apart. For most students the numbers sit near the diagonal (SGPA-CGPA correlation 0.62). In the 6-7 August group the numbers are spread almost evenly (correlation -0.04), which is what random picking looks like.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1,108 clean rows we kept the 1102 with a real recent SGPA. From the 455 answers sent on 6-7 August we kept 273 whose SGPA and CGPA are at most one group apart, and removed 182 with a gap of 2 or 3 groups. That leaves 920 rows, about 83% of the data. We also do not use the result satisfaction question, because it depends on each student's own goals.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5CAC9-C4A7-84B4-C962-DF95A30602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BD5A2-4BCC-9577-8A81-859594D644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D6E344B-699D-A205-20A6-F18977A01934}"/>
              </a:ext>
            </a:extLst>
          </p:cNvPr>
          <p:cNvSpPr>
            <a:spLocks noGrp="1"/>
          </p:cNvSpPr>
          <p:nvPr>
            <p:ph type="body" sz="quarter" idx="3"/>
          </p:nvPr>
        </p:nvSpPr>
        <p:spPr/>
        <p:txBody>
          <a:bodyPr/>
          <a:lstStyle/>
          <a:p>
            <a:r>
              <a:t>Teacher er suggestion onujayi reference dataset er screenshot rakhsi. Eta IUBAT er 894 jon Computer Science student er dataset, Mendeley Data te public. Ekhane attendance, daily study hour, social media hour, previous SGPA, current CGPA ache. Classified copy te performance category ache. Amra dekhte chaisi existing dataset e kon feature gula common.</a:t>
            </a:r>
          </a:p>
        </p:txBody>
      </p:sp>
      <p:sp>
        <p:nvSpPr>
          <p:cNvPr id="4" name="Slide Number Placeholder 3">
            <a:extLst>
              <a:ext uri="{FF2B5EF4-FFF2-40B4-BE49-F238E27FC236}">
                <a16:creationId xmlns:a16="http://schemas.microsoft.com/office/drawing/2014/main" id="{79DCB3A0-1204-9FFB-454B-362C3E91E8DB}"/>
              </a:ext>
            </a:extLst>
          </p:cNvPr>
          <p:cNvSpPr>
            <a:spLocks noGrp="1"/>
          </p:cNvSpPr>
          <p:nvPr>
            <p:ph type="sldNum" sz="quarter" idx="5"/>
          </p:nvPr>
        </p:nvSpPr>
        <p:spPr/>
      </p:sp>
    </p:spTree>
    <p:extLst>
      <p:ext uri="{BB962C8B-B14F-4D97-AF65-F5344CB8AC3E}">
        <p14:creationId xmlns:p14="http://schemas.microsoft.com/office/powerpoint/2010/main" val="3281603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er suggestion onujayi reference dataset er screenshot rakhsi. Eta IUBAT er 894 jon Computer Science student er dataset, Mendeley Data te public. Ekhane attendance, daily study hour, social media hour, previous SGPA, current CGPA ache. Classified copy te performance category ache. Amra dekhte chaisi existing dataset e kon feature gula common.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er sathe amader form compare korle 7 ta topic duitatei ache — attendance, study time, social media, previous SGPA, CGPA. Ar amra notun add korsi stress, sleep, topic clarity, desired department, routine, career expectation. Mane amader dataset familiar idea follow kore, kintu motivation ar environment related question beshi.</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the data check we have 920 students. The universities are not equal: KUET 690 (75.0%), BUET 104, BRAC 101, CUET 25. So we cannot say the results apply equally to every university.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form collected CGPA ranges, not exact numbers, so we made four groups: C0 below 3.20 (182 students), C1 3.20 to 3.49 (284), C2 3.50 to 3.74 (264), C3 3.75 or above (190). This is a four-class classification problem. These C0-C3 labels stay the same on every slide.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building models we checked that no group dominates. The largest group is C1 (30.9%), the smallest is C0 (19.8%). The four groups are roughly balanced, so accuracy is a fair measure.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only shows answers, no prediction. The most common answer is '90% or more' (349 students). 73.0% attend 75% or more, and only 25 attend below 60%.</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Study time outside class. Most students study 3-6 hrs a week (237 students). 194 study less than 3 hours, and 272 study more than 10 hours.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40.9% of students say stress often or almost always made studying difficult. 44.3% sleep less than 6 hours. Here we only describe answers; links with results come later.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48.7% say phone or social media often or almost every day took their study time. 49.5% spend 6 or more hours a week on tuition, job or club work.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39.0% got exactly the department they wanted. 48.2% get good or strong support from family or friends, and 48.0% say their living place is mostly suitable or excellent for study.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 of 12 behaviour questions, 3 patterns were reliable after checking: getting the desired department and higher attendance go with a higher CGPA group, and more tuition/job/club hours go with a lower group. All links are small (the largest is 0.13), so we say 'associated', not 'causes'.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checked whether each answer moves in the same direction for SGPA and CGPA. Attendance and getting the desired department go the same way for both. The other 10 questions are too weak to claim a matching pattern.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docs/final_results.json (920 students after the data check). Each bar = 100% of the students who chose that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Framework ta simple. Student er answer niye 80% student diye Decision Tree ke train kori — tree IF-AND rule shikhe. Tarpor baki 20% student, jader tree kokhono dekhe nai, tader answer diye group predict kori ar actual result er sathe milai. Training rule shekhay, test check kore rule gula notun student e kaj kore kina.</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WEKA 3.8.7 logs in docs/weka_runs/final/ (files ending _cv5.txt). Result satisfaction is not used as an input.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Tree drawn from the WEKA J48 output (docs/weka_runs/final/sgpa_J48_tree_full.txt). Leaf (N/errors) = students in that leaf / students it places in the wrong group.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Rules come from the WEKA J48 tree in docs/weka_runs/final/sgpa_J48_tree_full.txt. They are predictions, not causes.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Tree drawn from the WEKA J48 output (docs/weka_runs/final/questionnaire_cgpa_J48_tree_full.txt). Leaf (N/errors) = students in that leaf / students it places in the wrong group.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Rules come from the WEKA J48 tree in docs/weka_runs/final/questionnaire_cgpa_J48_tree_full.txt. They are predictions, not causes.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Tree drawn from the WEKA J48 output (docs/weka_runs/final/main_cgpa_J48_tree_full.txt). Leaf (N/errors) = students in that leaf / students it places in the wrong group.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docs/weka_runs/final/main_cgpa_J48_tree_full.txt. With at least 40 students per leaf, J48 keeps only recent SGPA.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 sgpa_J48_holdout.txt, questionnaire_J48_holdout.txt, main_J48_holdout.txt. All J48 models C=.25 M=40.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docs/weka_runs/final/main_cgpa_J48_split80.txt (WEKA percentage split 80%, seed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66722-F144-E1F6-0CF5-83C339446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723B8-68D7-847C-71D7-464C22481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5EA8C-7782-4C6A-A2D4-660FB747F10F}"/>
              </a:ext>
            </a:extLst>
          </p:cNvPr>
          <p:cNvSpPr>
            <a:spLocks noGrp="1"/>
          </p:cNvSpPr>
          <p:nvPr>
            <p:ph type="body" idx="1"/>
          </p:nvPr>
        </p:nvSpPr>
        <p:spPr/>
        <p:txBody>
          <a:bodyPr/>
          <a:lstStyle/>
          <a:p>
            <a:r>
              <a:t>Sources: docs/weka_runs/final/main_cgpa_RandomForest_cv5.txt and main_cgpa_SMO_cv5.txt.</a:t>
            </a:r>
          </a:p>
        </p:txBody>
      </p:sp>
      <p:sp>
        <p:nvSpPr>
          <p:cNvPr id="4" name="Slide Number Placeholder 3">
            <a:extLst>
              <a:ext uri="{FF2B5EF4-FFF2-40B4-BE49-F238E27FC236}">
                <a16:creationId xmlns:a16="http://schemas.microsoft.com/office/drawing/2014/main" id="{5D0D0E35-4DA2-74D4-E1D0-2242F94EE6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008497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BB017-D68A-30ED-B29E-EC5CB8018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0C4B9-76BD-E0FB-E514-704B1155C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B667B-2979-6724-4258-8D20B8996A68}"/>
              </a:ext>
            </a:extLst>
          </p:cNvPr>
          <p:cNvSpPr>
            <a:spLocks noGrp="1"/>
          </p:cNvSpPr>
          <p:nvPr>
            <p:ph type="body" idx="1"/>
          </p:nvPr>
        </p:nvSpPr>
        <p:spPr/>
        <p:txBody>
          <a:bodyPr/>
          <a:lstStyle/>
          <a:p>
            <a:r>
              <a:t>Sources: docs/weka_runs/final/main_cgpa_RandomForest_cv5.txt and main_cgpa_SMO_cv5.txt.</a:t>
            </a:r>
          </a:p>
        </p:txBody>
      </p:sp>
      <p:sp>
        <p:nvSpPr>
          <p:cNvPr id="4" name="Slide Number Placeholder 3">
            <a:extLst>
              <a:ext uri="{FF2B5EF4-FFF2-40B4-BE49-F238E27FC236}">
                <a16:creationId xmlns:a16="http://schemas.microsoft.com/office/drawing/2014/main" id="{748D74B1-7A36-1313-2DFC-709F3FE4AB3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101681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docs/weka_runs/final/main_cgpa_RandomForest_cv5.txt and main_cgpa_SMO_cv5.txt.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docs/weka_runs/final/main_cgpa_Logistic_cv5.txt and main_cgpa_NaiveBayes_cv5.txt.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2E7D6-EA8B-763F-8A73-DF58690BE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3B1A4-5405-B740-09C7-A2E51B6CAC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B0423-C779-0034-A579-03CBD0040466}"/>
              </a:ext>
            </a:extLst>
          </p:cNvPr>
          <p:cNvSpPr>
            <a:spLocks noGrp="1"/>
          </p:cNvSpPr>
          <p:nvPr>
            <p:ph type="body" idx="1"/>
          </p:nvPr>
        </p:nvSpPr>
        <p:spPr/>
        <p:txBody>
          <a:bodyPr/>
          <a:lstStyle/>
          <a:p>
            <a:r>
              <a:t>Sources: docs/weka_runs/final/main_cgpa_Logistic_cv5.txt and main_cgpa_NaiveBayes_cv5.txt.</a:t>
            </a:r>
          </a:p>
        </p:txBody>
      </p:sp>
      <p:sp>
        <p:nvSpPr>
          <p:cNvPr id="4" name="Slide Number Placeholder 3">
            <a:extLst>
              <a:ext uri="{FF2B5EF4-FFF2-40B4-BE49-F238E27FC236}">
                <a16:creationId xmlns:a16="http://schemas.microsoft.com/office/drawing/2014/main" id="{900CBC82-81F3-EFF1-D308-948E90E7776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144221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docs/weka_runs/final/main_cgpa_ZeroR_cv5.txt.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docs/weka_runs/final/main_cgpa_*_cv5.txt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models, same settings, same 5-fold cross-validation. The only change is removing the 182 unreliable answers. SMO goes from 46.10% to 55.22%. Logs: docs/weka_runs/final/before1102_main_*_cv5.txt and main_cgpa_*_cv5.txt.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Ahmed (2024): https://doi.org/10.1155/2024/4067721</a:t>
            </a:r>
          </a:p>
          <a:p>
            <a:pPr marL="0" lvl="0" indent="0" algn="l">
              <a:spcBef>
                <a:spcPts val="0"/>
              </a:spcBef>
              <a:spcAft>
                <a:spcPts val="0"/>
              </a:spcAft>
              <a:buNone/>
            </a:pPr>
            <a:r>
              <a:t>Maruf et al. ICCIT 2024: https://doi.org/10.1109/ICCIT64611.2024.11021990</a:t>
            </a:r>
          </a:p>
          <a:p>
            <a:pPr marL="0" lvl="0" indent="0" algn="l">
              <a:spcBef>
                <a:spcPts val="0"/>
              </a:spcBef>
              <a:spcAft>
                <a:spcPts val="0"/>
              </a:spcAft>
              <a:buNone/>
            </a:pPr>
            <a:r>
              <a:t>Albonny &amp; Duru (2026): https://dergipark.org.tr/tr/pub/ijonfest/article/1879280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Ahmed (2024): https://doi.org/10.1155/2024/4067721</a:t>
            </a:r>
          </a:p>
          <a:p>
            <a:pPr marL="0" lvl="0" indent="0" algn="l">
              <a:spcBef>
                <a:spcPts val="0"/>
              </a:spcBef>
              <a:spcAft>
                <a:spcPts val="0"/>
              </a:spcAft>
              <a:buNone/>
            </a:pPr>
            <a:r>
              <a:t>Maruf et al. ICCIT 2024: https://doi.org/10.1109/ICCIT64611.2024.11021990</a:t>
            </a:r>
          </a:p>
          <a:p>
            <a:pPr marL="0" lvl="0" indent="0" algn="l">
              <a:spcBef>
                <a:spcPts val="0"/>
              </a:spcBef>
              <a:spcAft>
                <a:spcPts val="0"/>
              </a:spcAft>
              <a:buNone/>
            </a:pPr>
            <a:r>
              <a:t>Albonny &amp; Duru (2026): https://dergipark.org.tr/tr/pub/ijonfest/article/1879280</a:t>
            </a:r>
          </a:p>
          <a:p>
            <a:pPr marL="0" lvl="0" indent="0" algn="l">
              <a:spcBef>
                <a:spcPts val="0"/>
              </a:spcBef>
              <a:spcAft>
                <a:spcPts val="0"/>
              </a:spcAft>
              <a:buNone/>
            </a:pPr>
            <a:r>
              <a:t>Project results: main_J48_cv.txt, main_RandomForest_cv.txt, main_SMO_cv.txt, main_Logistic_cv.txt, main_NaiveBayes_cv.txt, main_ZeroR_cv.txt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docs/final_results.json and docs/weka_runs/final/.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check only looked at the 6-7 August KUET semester-7 group. Other students with a big SGPA/CGPA gap (for example 37 at BUET) were kept.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evidence/data.json. Derived from verified raw survey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Dhonnobad. Kono question thakle bolun.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Viva er jonno form er shob question ar option. Last column e dekhano kon question tree te use hoyeche.</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Protiti feature er type, kon tree te use hoyeche, ar blank answer kivabe handle kora hoyeche.</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 split count ar tree setting. Tree size training set er vitore 5-fold CV diye select kora, test set shudhu ekbar use hoyeche.</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Default WEKA J48 grows 175 leaves for main CGPA and 216 for the questionnaire tree, which cannot be explained on a slide. With at least 40 students per leaf the trees stay small. The two matrices are J48 on the 80/20 test split.</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WEKA er full result: accuracy, weighted F1, kappa. main CGPA task e SMO ar Random Forest sobcheye valo.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WEKA percentage split 80% (seed 1): 736 students for training, 184 for testing. Logs: docs/weka_runs/final/*_split80.txt. Show this only if the teacher asks; the main result is 5-fold CV.</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Hold-out uses one fixed split, which is easy to explain. Cross-validation tests every student once, so it depends less on luck. We report 5-fold CV as the main result.</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er kaj er distribution. Present korar age team er sathe confirm korte hobe.</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Behaviour theke recent SGPA predict korar full shallow tree. Main slide e shudhu rule card dekhano hoyeche.</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WEKA 3.8.7 output text. Replace with WEKA Explorer screenshots if you take them.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8.xml"/><Relationship Id="rId5" Type="http://schemas.openxmlformats.org/officeDocument/2006/relationships/image" Target="../media/image49.png"/><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3.xml"/><Relationship Id="rId1" Type="http://schemas.openxmlformats.org/officeDocument/2006/relationships/slideLayout" Target="../slideLayouts/slideLayout8.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F939-D34A-71EB-689B-60A3AE9D20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7CD47D-0812-5F5E-8AA0-B4316F994F47}"/>
              </a:ext>
            </a:extLst>
          </p:cNvPr>
          <p:cNvSpPr>
            <a:spLocks noGrp="1"/>
          </p:cNvSpPr>
          <p:nvPr>
            <p:ph type="ctrTitle"/>
          </p:nvPr>
        </p:nvSpPr>
        <p:spPr>
          <a:xfrm>
            <a:off x="393700" y="1738755"/>
            <a:ext cx="9448800" cy="2491490"/>
          </a:xfrm>
        </p:spPr>
        <p:txBody>
          <a:bodyPr>
            <a:noAutofit/>
          </a:bodyPr>
          <a:lstStyle/>
          <a:p>
            <a:r>
              <a:rPr lang="en-US" sz="3400">
                <a:solidFill>
                  <a:srgbClr val="0C0C0C"/>
                </a:solidFill>
                <a:latin typeface="OpenAI Sans" panose="020B0604020202020204" charset="0"/>
              </a:rPr>
              <a:t>What Shapes Student CGPA?</a:t>
            </a:r>
            <a:br>
              <a:rPr lang="en-US" sz="3400">
                <a:solidFill>
                  <a:srgbClr val="0C0C0C"/>
                </a:solidFill>
                <a:latin typeface="OpenAI Sans" panose="020B0604020202020204" charset="0"/>
              </a:rPr>
            </a:br>
            <a:r>
              <a:rPr lang="en-US" sz="3400">
                <a:solidFill>
                  <a:srgbClr val="0C0C0C"/>
                </a:solidFill>
                <a:latin typeface="OpenAI Sans" panose="020B0604020202020204" charset="0"/>
              </a:rPr>
              <a:t>An Engineering Student Academic Performance Dataset and Machine Learning Analysis</a:t>
            </a:r>
            <a:endParaRPr lang="en-US" sz="3400" dirty="0">
              <a:solidFill>
                <a:srgbClr val="0C0C0C"/>
              </a:solidFill>
              <a:latin typeface="OpenAI Sans" panose="020B0604020202020204" charset="0"/>
            </a:endParaRPr>
          </a:p>
        </p:txBody>
      </p:sp>
      <p:sp>
        <p:nvSpPr>
          <p:cNvPr id="5" name="Subtitle 4">
            <a:extLst>
              <a:ext uri="{FF2B5EF4-FFF2-40B4-BE49-F238E27FC236}">
                <a16:creationId xmlns:a16="http://schemas.microsoft.com/office/drawing/2014/main" id="{283B85AD-626B-46B7-0C36-31F5BABDE10D}"/>
              </a:ext>
            </a:extLst>
          </p:cNvPr>
          <p:cNvSpPr>
            <a:spLocks noGrp="1"/>
          </p:cNvSpPr>
          <p:nvPr>
            <p:ph type="subTitle" idx="1"/>
          </p:nvPr>
        </p:nvSpPr>
        <p:spPr>
          <a:xfrm>
            <a:off x="393700" y="4742208"/>
            <a:ext cx="5702301" cy="1080246"/>
          </a:xfrm>
        </p:spPr>
        <p:txBody>
          <a:bodyPr>
            <a:noAutofit/>
          </a:bodyPr>
          <a:lstStyle/>
          <a:p>
            <a:pPr>
              <a:lnSpc>
                <a:spcPct val="100000"/>
              </a:lnSpc>
            </a:pPr>
            <a:r>
              <a:rPr lang="en-US" sz="1400">
                <a:solidFill>
                  <a:srgbClr val="2E3238"/>
                </a:solidFill>
                <a:latin typeface="Helvetica Neue"/>
              </a:rPr>
              <a:t>920 checked responses from four universities</a:t>
            </a:r>
          </a:p>
          <a:p>
            <a:pPr>
              <a:lnSpc>
                <a:spcPct val="100000"/>
              </a:lnSpc>
            </a:pPr>
            <a:r>
              <a:rPr lang="en-US" sz="1400">
                <a:solidFill>
                  <a:srgbClr val="2E3238"/>
                </a:solidFill>
                <a:latin typeface="Helvetica Neue"/>
              </a:rPr>
              <a:t>Behaviour patterns, SGPA prediction, and CGPA prediction</a:t>
            </a:r>
            <a:endParaRPr lang="en-US" sz="1400" dirty="0">
              <a:solidFill>
                <a:srgbClr val="2E3238"/>
              </a:solidFill>
              <a:latin typeface="Helvetica Neue"/>
            </a:endParaRPr>
          </a:p>
        </p:txBody>
      </p:sp>
      <p:sp>
        <p:nvSpPr>
          <p:cNvPr id="6" name="Subtitle 4">
            <a:extLst>
              <a:ext uri="{FF2B5EF4-FFF2-40B4-BE49-F238E27FC236}">
                <a16:creationId xmlns:a16="http://schemas.microsoft.com/office/drawing/2014/main" id="{543BAB87-2ABE-9D84-8400-3B5ABA08B3C2}"/>
              </a:ext>
            </a:extLst>
          </p:cNvPr>
          <p:cNvSpPr txBox="1">
            <a:spLocks/>
          </p:cNvSpPr>
          <p:nvPr/>
        </p:nvSpPr>
        <p:spPr>
          <a:xfrm>
            <a:off x="393700" y="392241"/>
            <a:ext cx="5702300" cy="64915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a:t>ACADEMIC PERFORMANCE  /  ENGINEERING STUDENTS</a:t>
            </a:r>
            <a:endParaRPr lang="en-US" sz="1800" dirty="0"/>
          </a:p>
        </p:txBody>
      </p:sp>
      <p:sp>
        <p:nvSpPr>
          <p:cNvPr id="2" name="Rectangle: Rounded Corners 1">
            <a:extLst>
              <a:ext uri="{FF2B5EF4-FFF2-40B4-BE49-F238E27FC236}">
                <a16:creationId xmlns:a16="http://schemas.microsoft.com/office/drawing/2014/main" id="{B3FAC5F5-A700-4DD8-8175-D00095733C3D}"/>
              </a:ext>
            </a:extLst>
          </p:cNvPr>
          <p:cNvSpPr/>
          <p:nvPr/>
        </p:nvSpPr>
        <p:spPr>
          <a:xfrm>
            <a:off x="3429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STUDENT</a:t>
            </a:r>
          </a:p>
        </p:txBody>
      </p:sp>
      <p:sp>
        <p:nvSpPr>
          <p:cNvPr id="3" name="Arrow: Right 2">
            <a:extLst>
              <a:ext uri="{FF2B5EF4-FFF2-40B4-BE49-F238E27FC236}">
                <a16:creationId xmlns:a16="http://schemas.microsoft.com/office/drawing/2014/main" id="{355A8B39-4D3A-4467-805D-B85FBAEBD8E6}"/>
              </a:ext>
            </a:extLst>
          </p:cNvPr>
          <p:cNvSpPr/>
          <p:nvPr/>
        </p:nvSpPr>
        <p:spPr>
          <a:xfrm>
            <a:off x="21082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7E2024B5-832D-49B8-B02C-B7149F3C830F}"/>
              </a:ext>
            </a:extLst>
          </p:cNvPr>
          <p:cNvSpPr/>
          <p:nvPr/>
        </p:nvSpPr>
        <p:spPr>
          <a:xfrm>
            <a:off x="26416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FORM</a:t>
            </a:r>
          </a:p>
        </p:txBody>
      </p:sp>
      <p:sp>
        <p:nvSpPr>
          <p:cNvPr id="8" name="Arrow: Right 7">
            <a:extLst>
              <a:ext uri="{FF2B5EF4-FFF2-40B4-BE49-F238E27FC236}">
                <a16:creationId xmlns:a16="http://schemas.microsoft.com/office/drawing/2014/main" id="{4D88F80F-44F8-4FFE-8B70-8359EE7288A5}"/>
              </a:ext>
            </a:extLst>
          </p:cNvPr>
          <p:cNvSpPr/>
          <p:nvPr/>
        </p:nvSpPr>
        <p:spPr>
          <a:xfrm>
            <a:off x="44069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8EE0BE5-0429-4138-BCB3-5F160E961607}"/>
              </a:ext>
            </a:extLst>
          </p:cNvPr>
          <p:cNvSpPr/>
          <p:nvPr/>
        </p:nvSpPr>
        <p:spPr>
          <a:xfrm>
            <a:off x="49403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DATA</a:t>
            </a:r>
          </a:p>
        </p:txBody>
      </p:sp>
      <p:sp>
        <p:nvSpPr>
          <p:cNvPr id="10" name="Arrow: Right 9">
            <a:extLst>
              <a:ext uri="{FF2B5EF4-FFF2-40B4-BE49-F238E27FC236}">
                <a16:creationId xmlns:a16="http://schemas.microsoft.com/office/drawing/2014/main" id="{D2EB4B1E-A90C-4223-97EE-B91D09D8AF1B}"/>
              </a:ext>
            </a:extLst>
          </p:cNvPr>
          <p:cNvSpPr/>
          <p:nvPr/>
        </p:nvSpPr>
        <p:spPr>
          <a:xfrm>
            <a:off x="67056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3670AD7-6886-4262-9490-1238C991DD3D}"/>
              </a:ext>
            </a:extLst>
          </p:cNvPr>
          <p:cNvSpPr/>
          <p:nvPr/>
        </p:nvSpPr>
        <p:spPr>
          <a:xfrm>
            <a:off x="7239000" y="5918200"/>
            <a:ext cx="1676400" cy="482600"/>
          </a:xfrm>
          <a:prstGeom prst="roundRect">
            <a:avLst/>
          </a:prstGeom>
          <a:solidFill>
            <a:srgbClr val="F1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181B1F"/>
                </a:solidFill>
                <a:latin typeface="Helvetica Neue"/>
              </a:rPr>
              <a:t>RULES</a:t>
            </a:r>
          </a:p>
        </p:txBody>
      </p:sp>
      <p:sp>
        <p:nvSpPr>
          <p:cNvPr id="12" name="Arrow: Right 11">
            <a:extLst>
              <a:ext uri="{FF2B5EF4-FFF2-40B4-BE49-F238E27FC236}">
                <a16:creationId xmlns:a16="http://schemas.microsoft.com/office/drawing/2014/main" id="{4BE6E414-3FA9-4436-9C8A-427A4F97D88D}"/>
              </a:ext>
            </a:extLst>
          </p:cNvPr>
          <p:cNvSpPr/>
          <p:nvPr/>
        </p:nvSpPr>
        <p:spPr>
          <a:xfrm>
            <a:off x="9004300" y="6057900"/>
            <a:ext cx="533400" cy="203200"/>
          </a:xfrm>
          <a:prstGeom prst="rightArrow">
            <a:avLst/>
          </a:prstGeom>
          <a:solidFill>
            <a:srgbClr val="BBC1C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2FB681E-A772-4A4B-A157-153D35E98063}"/>
              </a:ext>
            </a:extLst>
          </p:cNvPr>
          <p:cNvSpPr/>
          <p:nvPr/>
        </p:nvSpPr>
        <p:spPr>
          <a:xfrm>
            <a:off x="9537700" y="5918200"/>
            <a:ext cx="1676400" cy="482600"/>
          </a:xfrm>
          <a:prstGeom prst="roundRect">
            <a:avLst/>
          </a:prstGeom>
          <a:solidFill>
            <a:srgbClr val="43B0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Helvetica Neue"/>
              </a:rPr>
              <a:t>CGPA</a:t>
            </a:r>
          </a:p>
        </p:txBody>
      </p:sp>
    </p:spTree>
    <p:extLst>
      <p:ext uri="{BB962C8B-B14F-4D97-AF65-F5344CB8AC3E}">
        <p14:creationId xmlns:p14="http://schemas.microsoft.com/office/powerpoint/2010/main" val="2190456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OPENING</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Are We Trying to Understand?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a:t>
            </a:r>
          </a:p>
        </p:txBody>
      </p:sp>
      <p:sp>
        <p:nvSpPr>
          <p:cNvPr id="7" name="Rounded Rectangle 6"/>
          <p:cNvSpPr/>
          <p:nvPr/>
        </p:nvSpPr>
        <p:spPr>
          <a:xfrm>
            <a:off x="548640" y="1463040"/>
            <a:ext cx="3520440" cy="3246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59" y="173736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800" b="1">
                <a:solidFill>
                  <a:srgbClr val="FFFFFF"/>
                </a:solidFill>
                <a:latin typeface="Helvetica Neue"/>
              </a:rPr>
              <a:t>1</a:t>
            </a:r>
          </a:p>
        </p:txBody>
      </p:sp>
      <p:sp>
        <p:nvSpPr>
          <p:cNvPr id="9" name="TextBox 8"/>
          <p:cNvSpPr txBox="1"/>
          <p:nvPr/>
        </p:nvSpPr>
        <p:spPr>
          <a:xfrm>
            <a:off x="822959" y="2651760"/>
            <a:ext cx="3017520" cy="1280160"/>
          </a:xfrm>
          <a:prstGeom prst="rect">
            <a:avLst/>
          </a:prstGeom>
          <a:noFill/>
        </p:spPr>
        <p:txBody>
          <a:bodyPr wrap="square" lIns="27432" tIns="27432" rIns="27432" bIns="27432" anchor="t">
            <a:noAutofit/>
          </a:bodyPr>
          <a:lstStyle/>
          <a:p>
            <a:pPr algn="l">
              <a:lnSpc>
                <a:spcPct val="105000"/>
              </a:lnSpc>
            </a:pPr>
            <a:r>
              <a:rPr sz="2300" b="1">
                <a:solidFill>
                  <a:srgbClr val="0B0B0B"/>
                </a:solidFill>
                <a:latin typeface="Helvetica Neue"/>
              </a:rPr>
              <a:t>What do students report?</a:t>
            </a:r>
          </a:p>
        </p:txBody>
      </p:sp>
      <p:sp>
        <p:nvSpPr>
          <p:cNvPr id="10" name="TextBox 9"/>
          <p:cNvSpPr txBox="1"/>
          <p:nvPr/>
        </p:nvSpPr>
        <p:spPr>
          <a:xfrm>
            <a:off x="822959" y="3931920"/>
            <a:ext cx="301752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Attendance, study time, stress, sleep, support, environment…</a:t>
            </a:r>
          </a:p>
        </p:txBody>
      </p:sp>
      <p:sp>
        <p:nvSpPr>
          <p:cNvPr id="11" name="Rounded Rectangle 10"/>
          <p:cNvSpPr/>
          <p:nvPr/>
        </p:nvSpPr>
        <p:spPr>
          <a:xfrm>
            <a:off x="4297679" y="1463040"/>
            <a:ext cx="3520440" cy="3246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71999" y="173736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800" b="1">
                <a:solidFill>
                  <a:srgbClr val="FFFFFF"/>
                </a:solidFill>
                <a:latin typeface="Helvetica Neue"/>
              </a:rPr>
              <a:t>2</a:t>
            </a:r>
          </a:p>
        </p:txBody>
      </p:sp>
      <p:sp>
        <p:nvSpPr>
          <p:cNvPr id="13" name="TextBox 12"/>
          <p:cNvSpPr txBox="1"/>
          <p:nvPr/>
        </p:nvSpPr>
        <p:spPr>
          <a:xfrm>
            <a:off x="4571999" y="2651760"/>
            <a:ext cx="3017520" cy="1280160"/>
          </a:xfrm>
          <a:prstGeom prst="rect">
            <a:avLst/>
          </a:prstGeom>
          <a:noFill/>
        </p:spPr>
        <p:txBody>
          <a:bodyPr wrap="square" lIns="27432" tIns="27432" rIns="27432" bIns="27432" anchor="t">
            <a:noAutofit/>
          </a:bodyPr>
          <a:lstStyle/>
          <a:p>
            <a:pPr algn="l">
              <a:lnSpc>
                <a:spcPct val="105000"/>
              </a:lnSpc>
            </a:pPr>
            <a:r>
              <a:rPr sz="2300" b="1">
                <a:solidFill>
                  <a:srgbClr val="0B0B0B"/>
                </a:solidFill>
                <a:latin typeface="Helvetica Neue"/>
              </a:rPr>
              <a:t>Which patterns appear with better or worse results?</a:t>
            </a:r>
          </a:p>
        </p:txBody>
      </p:sp>
      <p:sp>
        <p:nvSpPr>
          <p:cNvPr id="14" name="TextBox 13"/>
          <p:cNvSpPr txBox="1"/>
          <p:nvPr/>
        </p:nvSpPr>
        <p:spPr>
          <a:xfrm>
            <a:off x="4571999" y="3931920"/>
            <a:ext cx="301752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Compare answer groups with CGPA groups</a:t>
            </a:r>
          </a:p>
        </p:txBody>
      </p:sp>
      <p:sp>
        <p:nvSpPr>
          <p:cNvPr id="15" name="Rounded Rectangle 14"/>
          <p:cNvSpPr/>
          <p:nvPr/>
        </p:nvSpPr>
        <p:spPr>
          <a:xfrm>
            <a:off x="8046719" y="1463040"/>
            <a:ext cx="3520440" cy="3246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21040" y="173736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800" b="1">
                <a:solidFill>
                  <a:srgbClr val="FFFFFF"/>
                </a:solidFill>
                <a:latin typeface="Helvetica Neue"/>
              </a:rPr>
              <a:t>3</a:t>
            </a:r>
          </a:p>
        </p:txBody>
      </p:sp>
      <p:sp>
        <p:nvSpPr>
          <p:cNvPr id="17" name="TextBox 16"/>
          <p:cNvSpPr txBox="1"/>
          <p:nvPr/>
        </p:nvSpPr>
        <p:spPr>
          <a:xfrm>
            <a:off x="8321040" y="2651760"/>
            <a:ext cx="3017520" cy="1280160"/>
          </a:xfrm>
          <a:prstGeom prst="rect">
            <a:avLst/>
          </a:prstGeom>
          <a:noFill/>
        </p:spPr>
        <p:txBody>
          <a:bodyPr wrap="square" lIns="27432" tIns="27432" rIns="27432" bIns="27432" anchor="t">
            <a:noAutofit/>
          </a:bodyPr>
          <a:lstStyle/>
          <a:p>
            <a:pPr algn="l">
              <a:lnSpc>
                <a:spcPct val="105000"/>
              </a:lnSpc>
            </a:pPr>
            <a:r>
              <a:rPr sz="2300" b="1">
                <a:solidFill>
                  <a:srgbClr val="0B0B0B"/>
                </a:solidFill>
                <a:latin typeface="Helvetica Neue"/>
              </a:rPr>
              <a:t>Can those answers predict a new student's result?</a:t>
            </a:r>
          </a:p>
        </p:txBody>
      </p:sp>
      <p:sp>
        <p:nvSpPr>
          <p:cNvPr id="18" name="TextBox 17"/>
          <p:cNvSpPr txBox="1"/>
          <p:nvPr/>
        </p:nvSpPr>
        <p:spPr>
          <a:xfrm>
            <a:off x="8321040" y="3931920"/>
            <a:ext cx="301752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Train on some students, test on unseen ones</a:t>
            </a:r>
          </a:p>
        </p:txBody>
      </p:sp>
      <p:sp>
        <p:nvSpPr>
          <p:cNvPr id="19" name="Rounded Rectangle 18"/>
          <p:cNvSpPr/>
          <p:nvPr/>
        </p:nvSpPr>
        <p:spPr>
          <a:xfrm>
            <a:off x="548640"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Data</a:t>
            </a:r>
          </a:p>
        </p:txBody>
      </p:sp>
      <p:sp>
        <p:nvSpPr>
          <p:cNvPr id="20" name="Right Arrow 19"/>
          <p:cNvSpPr/>
          <p:nvPr/>
        </p:nvSpPr>
        <p:spPr>
          <a:xfrm>
            <a:off x="2450592"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852928"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Student behaviour</a:t>
            </a:r>
          </a:p>
        </p:txBody>
      </p:sp>
      <p:sp>
        <p:nvSpPr>
          <p:cNvPr id="22" name="Right Arrow 21"/>
          <p:cNvSpPr/>
          <p:nvPr/>
        </p:nvSpPr>
        <p:spPr>
          <a:xfrm>
            <a:off x="4754880"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157216"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Understandable rules</a:t>
            </a:r>
          </a:p>
        </p:txBody>
      </p:sp>
      <p:sp>
        <p:nvSpPr>
          <p:cNvPr id="24" name="Right Arrow 23"/>
          <p:cNvSpPr/>
          <p:nvPr/>
        </p:nvSpPr>
        <p:spPr>
          <a:xfrm>
            <a:off x="7059168"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61504"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Train / Test</a:t>
            </a:r>
          </a:p>
        </p:txBody>
      </p:sp>
      <p:sp>
        <p:nvSpPr>
          <p:cNvPr id="26" name="Right Arrow 25"/>
          <p:cNvSpPr/>
          <p:nvPr/>
        </p:nvSpPr>
        <p:spPr>
          <a:xfrm>
            <a:off x="9363456" y="512521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765792" y="4937760"/>
            <a:ext cx="1847088"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0">
                <a:solidFill>
                  <a:srgbClr val="0B0B0B"/>
                </a:solidFill>
                <a:latin typeface="Helvetica Neue"/>
              </a:rPr>
              <a:t>Unseen-student result</a:t>
            </a:r>
          </a:p>
        </p:txBody>
      </p:sp>
      <p:sp>
        <p:nvSpPr>
          <p:cNvPr id="28" name="TextBox 27"/>
          <p:cNvSpPr txBox="1"/>
          <p:nvPr/>
        </p:nvSpPr>
        <p:spPr>
          <a:xfrm>
            <a:off x="548640" y="5760720"/>
            <a:ext cx="11064240" cy="457200"/>
          </a:xfrm>
          <a:prstGeom prst="rect">
            <a:avLst/>
          </a:prstGeom>
          <a:noFill/>
        </p:spPr>
        <p:txBody>
          <a:bodyPr wrap="square" lIns="27432" tIns="27432" rIns="27432" bIns="27432" anchor="t">
            <a:noAutofit/>
          </a:bodyPr>
          <a:lstStyle/>
          <a:p>
            <a:pPr algn="ctr">
              <a:lnSpc>
                <a:spcPct val="105000"/>
              </a:lnSpc>
            </a:pPr>
            <a:r>
              <a:rPr sz="1900" b="1">
                <a:solidFill>
                  <a:srgbClr val="1F3B5C"/>
                </a:solidFill>
                <a:latin typeface="Helvetica Neue"/>
              </a:rPr>
              <a:t>First we understand the data; then we test prediction.</a:t>
            </a:r>
          </a:p>
        </p:txBody>
      </p:sp>
      <p:sp>
        <p:nvSpPr>
          <p:cNvPr id="29" name="SimpleLightSectionLabel">
            <a:extLst>
              <a:ext uri="{FF2B5EF4-FFF2-40B4-BE49-F238E27FC236}">
                <a16:creationId xmlns:a16="http://schemas.microsoft.com/office/drawing/2014/main" id="{249FF687-826F-46DA-90BE-85791D661F56}"/>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Data Came From Student Surveys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a:t>
            </a:r>
          </a:p>
        </p:txBody>
      </p:sp>
      <p:pic>
        <p:nvPicPr>
          <p:cNvPr id="7" name="Picture 6" descr="form_multi_header_top.png"/>
          <p:cNvPicPr>
            <a:picLocks noChangeAspect="1"/>
          </p:cNvPicPr>
          <p:nvPr/>
        </p:nvPicPr>
        <p:blipFill>
          <a:blip r:embed="rId3"/>
          <a:stretch>
            <a:fillRect/>
          </a:stretch>
        </p:blipFill>
        <p:spPr>
          <a:xfrm>
            <a:off x="548640" y="1411085"/>
            <a:ext cx="5669280" cy="4767349"/>
          </a:xfrm>
          <a:prstGeom prst="rect">
            <a:avLst/>
          </a:prstGeom>
          <a:ln w="12700">
            <a:solidFill>
              <a:srgbClr val="DADCE0"/>
            </a:solidFill>
          </a:ln>
        </p:spPr>
      </p:pic>
      <p:sp>
        <p:nvSpPr>
          <p:cNvPr id="8" name="Rounded Rectangle 7"/>
          <p:cNvSpPr/>
          <p:nvPr/>
        </p:nvSpPr>
        <p:spPr>
          <a:xfrm>
            <a:off x="6583680" y="141732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20840" y="152704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2</a:t>
            </a:r>
          </a:p>
        </p:txBody>
      </p:sp>
      <p:sp>
        <p:nvSpPr>
          <p:cNvPr id="10" name="TextBox 9"/>
          <p:cNvSpPr txBox="1"/>
          <p:nvPr/>
        </p:nvSpPr>
        <p:spPr>
          <a:xfrm>
            <a:off x="6720840" y="229240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similar Google Forms</a:t>
            </a:r>
          </a:p>
        </p:txBody>
      </p:sp>
      <p:sp>
        <p:nvSpPr>
          <p:cNvPr id="11" name="Rounded Rectangle 10"/>
          <p:cNvSpPr/>
          <p:nvPr/>
        </p:nvSpPr>
        <p:spPr>
          <a:xfrm>
            <a:off x="9144000" y="141732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81160" y="152704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1,126</a:t>
            </a:r>
          </a:p>
        </p:txBody>
      </p:sp>
      <p:sp>
        <p:nvSpPr>
          <p:cNvPr id="13" name="TextBox 12"/>
          <p:cNvSpPr txBox="1"/>
          <p:nvPr/>
        </p:nvSpPr>
        <p:spPr>
          <a:xfrm>
            <a:off x="9281160" y="229240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raw responses</a:t>
            </a:r>
          </a:p>
        </p:txBody>
      </p:sp>
      <p:sp>
        <p:nvSpPr>
          <p:cNvPr id="14" name="Rounded Rectangle 13"/>
          <p:cNvSpPr/>
          <p:nvPr/>
        </p:nvSpPr>
        <p:spPr>
          <a:xfrm>
            <a:off x="6583680" y="310896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20840" y="321868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920</a:t>
            </a:r>
          </a:p>
        </p:txBody>
      </p:sp>
      <p:sp>
        <p:nvSpPr>
          <p:cNvPr id="16" name="TextBox 15"/>
          <p:cNvSpPr txBox="1"/>
          <p:nvPr/>
        </p:nvSpPr>
        <p:spPr>
          <a:xfrm>
            <a:off x="6720840" y="398404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final records</a:t>
            </a:r>
          </a:p>
        </p:txBody>
      </p:sp>
      <p:sp>
        <p:nvSpPr>
          <p:cNvPr id="17" name="Rounded Rectangle 16"/>
          <p:cNvSpPr/>
          <p:nvPr/>
        </p:nvSpPr>
        <p:spPr>
          <a:xfrm>
            <a:off x="9144000" y="3108960"/>
            <a:ext cx="2377440" cy="15087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1160" y="3218688"/>
            <a:ext cx="2103120" cy="829818"/>
          </a:xfrm>
          <a:prstGeom prst="rect">
            <a:avLst/>
          </a:prstGeom>
          <a:noFill/>
        </p:spPr>
        <p:txBody>
          <a:bodyPr wrap="square" lIns="27432" tIns="27432" rIns="27432" bIns="27432" anchor="ctr">
            <a:noAutofit/>
          </a:bodyPr>
          <a:lstStyle/>
          <a:p>
            <a:pPr algn="l">
              <a:lnSpc>
                <a:spcPct val="105000"/>
              </a:lnSpc>
            </a:pPr>
            <a:r>
              <a:rPr sz="4000" b="1">
                <a:solidFill>
                  <a:srgbClr val="2A78D6"/>
                </a:solidFill>
                <a:latin typeface="Helvetica Neue"/>
              </a:rPr>
              <a:t>4</a:t>
            </a:r>
          </a:p>
        </p:txBody>
      </p:sp>
      <p:sp>
        <p:nvSpPr>
          <p:cNvPr id="19" name="TextBox 18"/>
          <p:cNvSpPr txBox="1"/>
          <p:nvPr/>
        </p:nvSpPr>
        <p:spPr>
          <a:xfrm>
            <a:off x="9281160" y="3984040"/>
            <a:ext cx="2103120" cy="603504"/>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universities</a:t>
            </a:r>
          </a:p>
        </p:txBody>
      </p:sp>
      <p:sp>
        <p:nvSpPr>
          <p:cNvPr id="20" name="Rounded Rectangle 19"/>
          <p:cNvSpPr/>
          <p:nvPr/>
        </p:nvSpPr>
        <p:spPr>
          <a:xfrm>
            <a:off x="6583680" y="4937760"/>
            <a:ext cx="4937760" cy="12344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1F3B5C"/>
                </a:solidFill>
                <a:latin typeface="Helvetica Neue"/>
              </a:rPr>
              <a:t>Same questions, slightly different wording</a:t>
            </a:r>
          </a:p>
          <a:p>
            <a:pPr algn="ctr">
              <a:lnSpc>
                <a:spcPct val="105000"/>
              </a:lnSpc>
            </a:pPr>
            <a:r>
              <a:rPr sz="1600" b="0">
                <a:solidFill>
                  <a:srgbClr val="1F3B5C"/>
                </a:solidFill>
                <a:latin typeface="Helvetica Neue"/>
              </a:rPr>
              <a:t>Analysis snapshot: responses up to 03 Sep 2026. The two forms were merged carefully.</a:t>
            </a:r>
          </a:p>
        </p:txBody>
      </p:sp>
      <p:sp>
        <p:nvSpPr>
          <p:cNvPr id="21" name="SimpleLightSectionLabel">
            <a:extLst>
              <a:ext uri="{FF2B5EF4-FFF2-40B4-BE49-F238E27FC236}">
                <a16:creationId xmlns:a16="http://schemas.microsoft.com/office/drawing/2014/main" id="{41D5908E-D0E1-4528-96C2-B48B475C5F68}"/>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Did the Form Look Like?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a:t>
            </a:r>
          </a:p>
        </p:txBody>
      </p:sp>
      <p:pic>
        <p:nvPicPr>
          <p:cNvPr id="7" name="Picture 6" descr="form_multi_header_top.png"/>
          <p:cNvPicPr>
            <a:picLocks noChangeAspect="1"/>
          </p:cNvPicPr>
          <p:nvPr/>
        </p:nvPicPr>
        <p:blipFill>
          <a:blip r:embed="rId3"/>
          <a:stretch>
            <a:fillRect/>
          </a:stretch>
        </p:blipFill>
        <p:spPr>
          <a:xfrm>
            <a:off x="548640" y="1346661"/>
            <a:ext cx="4572000" cy="3844636"/>
          </a:xfrm>
          <a:prstGeom prst="rect">
            <a:avLst/>
          </a:prstGeom>
          <a:ln w="12700">
            <a:solidFill>
              <a:srgbClr val="DADCE0"/>
            </a:solidFill>
          </a:ln>
        </p:spPr>
      </p:pic>
      <p:pic>
        <p:nvPicPr>
          <p:cNvPr id="8" name="Picture 7" descr="form_multi_q_desired_department_tight.png"/>
          <p:cNvPicPr>
            <a:picLocks noChangeAspect="1"/>
          </p:cNvPicPr>
          <p:nvPr/>
        </p:nvPicPr>
        <p:blipFill>
          <a:blip r:embed="rId4"/>
          <a:stretch>
            <a:fillRect/>
          </a:stretch>
        </p:blipFill>
        <p:spPr>
          <a:xfrm>
            <a:off x="5349240" y="1334410"/>
            <a:ext cx="3063240" cy="1766018"/>
          </a:xfrm>
          <a:prstGeom prst="rect">
            <a:avLst/>
          </a:prstGeom>
          <a:ln w="12700">
            <a:solidFill>
              <a:srgbClr val="DADCE0"/>
            </a:solidFill>
          </a:ln>
        </p:spPr>
      </p:pic>
      <p:pic>
        <p:nvPicPr>
          <p:cNvPr id="9" name="Picture 8" descr="form_multi_q_phone_tight.png"/>
          <p:cNvPicPr>
            <a:picLocks noChangeAspect="1"/>
          </p:cNvPicPr>
          <p:nvPr/>
        </p:nvPicPr>
        <p:blipFill>
          <a:blip r:embed="rId5"/>
          <a:stretch>
            <a:fillRect/>
          </a:stretch>
        </p:blipFill>
        <p:spPr>
          <a:xfrm>
            <a:off x="8549640" y="1349501"/>
            <a:ext cx="3063240" cy="1735836"/>
          </a:xfrm>
          <a:prstGeom prst="rect">
            <a:avLst/>
          </a:prstGeom>
          <a:ln w="12700">
            <a:solidFill>
              <a:srgbClr val="DADCE0"/>
            </a:solidFill>
          </a:ln>
        </p:spPr>
      </p:pic>
      <p:pic>
        <p:nvPicPr>
          <p:cNvPr id="10" name="Picture 9" descr="form_multi_q_responsibilities_tight.png"/>
          <p:cNvPicPr>
            <a:picLocks noChangeAspect="1"/>
          </p:cNvPicPr>
          <p:nvPr/>
        </p:nvPicPr>
        <p:blipFill>
          <a:blip r:embed="rId6"/>
          <a:stretch>
            <a:fillRect/>
          </a:stretch>
        </p:blipFill>
        <p:spPr>
          <a:xfrm>
            <a:off x="5349240" y="3425994"/>
            <a:ext cx="3063240" cy="1606211"/>
          </a:xfrm>
          <a:prstGeom prst="rect">
            <a:avLst/>
          </a:prstGeom>
          <a:ln w="12700">
            <a:solidFill>
              <a:srgbClr val="DADCE0"/>
            </a:solidFill>
          </a:ln>
        </p:spPr>
      </p:pic>
      <p:pic>
        <p:nvPicPr>
          <p:cNvPr id="11" name="Picture 10" descr="form_multi_q_support_tight.png"/>
          <p:cNvPicPr>
            <a:picLocks noChangeAspect="1"/>
          </p:cNvPicPr>
          <p:nvPr/>
        </p:nvPicPr>
        <p:blipFill>
          <a:blip r:embed="rId7"/>
          <a:stretch>
            <a:fillRect/>
          </a:stretch>
        </p:blipFill>
        <p:spPr>
          <a:xfrm>
            <a:off x="8549640" y="3426375"/>
            <a:ext cx="3063240" cy="1605449"/>
          </a:xfrm>
          <a:prstGeom prst="rect">
            <a:avLst/>
          </a:prstGeom>
          <a:ln w="12700">
            <a:solidFill>
              <a:srgbClr val="DADCE0"/>
            </a:solidFill>
          </a:ln>
        </p:spPr>
      </p:pic>
      <p:sp>
        <p:nvSpPr>
          <p:cNvPr id="12" name="Rounded Rectangle 11"/>
          <p:cNvSpPr/>
          <p:nvPr/>
        </p:nvSpPr>
        <p:spPr>
          <a:xfrm>
            <a:off x="548640" y="5394960"/>
            <a:ext cx="11064240" cy="9144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400" b="1">
                <a:solidFill>
                  <a:srgbClr val="1F3B5C"/>
                </a:solidFill>
                <a:latin typeface="Helvetica Neue"/>
              </a:rPr>
              <a:t>Real screenshots of the University Student Performance Analysis Form</a:t>
            </a:r>
            <a:r>
              <a:rPr sz="1400" b="0">
                <a:solidFill>
                  <a:srgbClr val="1F3B5C"/>
                </a:solidFill>
                <a:latin typeface="Helvetica Neue"/>
              </a:rPr>
              <a:t> — English + Bangla, anonymous.</a:t>
            </a:r>
          </a:p>
          <a:p>
            <a:pPr algn="l">
              <a:lnSpc>
                <a:spcPct val="105000"/>
              </a:lnSpc>
            </a:pPr>
            <a:r>
              <a:rPr sz="1400" b="0">
                <a:solidFill>
                  <a:srgbClr val="1F3B5C"/>
                </a:solidFill>
                <a:latin typeface="Helvetica Neue"/>
              </a:rPr>
              <a:t>The KUET form (896 responses) asked the same core questions with slightly different wording; both were merged.</a:t>
            </a:r>
          </a:p>
        </p:txBody>
      </p:sp>
      <p:sp>
        <p:nvSpPr>
          <p:cNvPr id="13" name="SimpleLightSectionLabel">
            <a:extLst>
              <a:ext uri="{FF2B5EF4-FFF2-40B4-BE49-F238E27FC236}">
                <a16:creationId xmlns:a16="http://schemas.microsoft.com/office/drawing/2014/main" id="{CE8B7A97-A0F6-497E-A4BC-C43246A97F3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Example Questions We Asked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7</a:t>
            </a:r>
          </a:p>
        </p:txBody>
      </p:sp>
      <p:pic>
        <p:nvPicPr>
          <p:cNvPr id="7" name="Picture 6" descr="form_multi_q_attendance_tight.png"/>
          <p:cNvPicPr>
            <a:picLocks noChangeAspect="1"/>
          </p:cNvPicPr>
          <p:nvPr/>
        </p:nvPicPr>
        <p:blipFill>
          <a:blip r:embed="rId3"/>
          <a:stretch>
            <a:fillRect/>
          </a:stretch>
        </p:blipFill>
        <p:spPr>
          <a:xfrm>
            <a:off x="1710676" y="1325880"/>
            <a:ext cx="3116607" cy="2377440"/>
          </a:xfrm>
          <a:prstGeom prst="rect">
            <a:avLst/>
          </a:prstGeom>
          <a:ln w="12700">
            <a:solidFill>
              <a:srgbClr val="DADCE0"/>
            </a:solidFill>
          </a:ln>
        </p:spPr>
      </p:pic>
      <p:pic>
        <p:nvPicPr>
          <p:cNvPr id="8" name="Picture 7" descr="form_multi_q_study_time_tight.png"/>
          <p:cNvPicPr>
            <a:picLocks noChangeAspect="1"/>
          </p:cNvPicPr>
          <p:nvPr/>
        </p:nvPicPr>
        <p:blipFill>
          <a:blip r:embed="rId4"/>
          <a:stretch>
            <a:fillRect/>
          </a:stretch>
        </p:blipFill>
        <p:spPr>
          <a:xfrm>
            <a:off x="6744198" y="1325880"/>
            <a:ext cx="4296682" cy="2377440"/>
          </a:xfrm>
          <a:prstGeom prst="rect">
            <a:avLst/>
          </a:prstGeom>
          <a:ln w="12700">
            <a:solidFill>
              <a:srgbClr val="DADCE0"/>
            </a:solidFill>
          </a:ln>
        </p:spPr>
      </p:pic>
      <p:pic>
        <p:nvPicPr>
          <p:cNvPr id="9" name="Picture 8" descr="form_multi_q_stress_tight.png"/>
          <p:cNvPicPr>
            <a:picLocks noChangeAspect="1"/>
          </p:cNvPicPr>
          <p:nvPr/>
        </p:nvPicPr>
        <p:blipFill>
          <a:blip r:embed="rId5"/>
          <a:stretch>
            <a:fillRect/>
          </a:stretch>
        </p:blipFill>
        <p:spPr>
          <a:xfrm>
            <a:off x="824539" y="3886200"/>
            <a:ext cx="4888881" cy="2377440"/>
          </a:xfrm>
          <a:prstGeom prst="rect">
            <a:avLst/>
          </a:prstGeom>
          <a:ln w="12700">
            <a:solidFill>
              <a:srgbClr val="DADCE0"/>
            </a:solidFill>
          </a:ln>
        </p:spPr>
      </p:pic>
      <p:pic>
        <p:nvPicPr>
          <p:cNvPr id="10" name="Picture 9" descr="form_multi_q_sgpa_tight.png"/>
          <p:cNvPicPr>
            <a:picLocks noChangeAspect="1"/>
          </p:cNvPicPr>
          <p:nvPr/>
        </p:nvPicPr>
        <p:blipFill>
          <a:blip r:embed="rId6"/>
          <a:stretch>
            <a:fillRect/>
          </a:stretch>
        </p:blipFill>
        <p:spPr>
          <a:xfrm>
            <a:off x="7098138" y="3886200"/>
            <a:ext cx="3588802" cy="2377440"/>
          </a:xfrm>
          <a:prstGeom prst="rect">
            <a:avLst/>
          </a:prstGeom>
          <a:ln w="12700">
            <a:solidFill>
              <a:srgbClr val="DADCE0"/>
            </a:solidFill>
          </a:ln>
        </p:spPr>
      </p:pic>
      <p:sp>
        <p:nvSpPr>
          <p:cNvPr id="11" name="SimpleLightSectionLabel">
            <a:extLst>
              <a:ext uri="{FF2B5EF4-FFF2-40B4-BE49-F238E27FC236}">
                <a16:creationId xmlns:a16="http://schemas.microsoft.com/office/drawing/2014/main" id="{BE7BE54A-8E3D-4B93-9B12-162992CB5730}"/>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Form Questions Behind the Decision Tree Rules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8</a:t>
            </a:r>
          </a:p>
        </p:txBody>
      </p:sp>
      <p:sp>
        <p:nvSpPr>
          <p:cNvPr id="7" name="Rounded Rectangle 6"/>
          <p:cNvSpPr/>
          <p:nvPr/>
        </p:nvSpPr>
        <p:spPr>
          <a:xfrm>
            <a:off x="548640" y="1280160"/>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Topic clear after class · trees: SGPA, CGPA (+SGPA)</a:t>
            </a:r>
          </a:p>
        </p:txBody>
      </p:sp>
      <p:pic>
        <p:nvPicPr>
          <p:cNvPr id="8" name="Picture 7" descr="form_multi_q_topic_clarity_tight.png"/>
          <p:cNvPicPr>
            <a:picLocks noChangeAspect="1"/>
          </p:cNvPicPr>
          <p:nvPr/>
        </p:nvPicPr>
        <p:blipFill>
          <a:blip r:embed="rId3"/>
          <a:stretch>
            <a:fillRect/>
          </a:stretch>
        </p:blipFill>
        <p:spPr>
          <a:xfrm>
            <a:off x="548640" y="1803626"/>
            <a:ext cx="3520440" cy="1824283"/>
          </a:xfrm>
          <a:prstGeom prst="rect">
            <a:avLst/>
          </a:prstGeom>
          <a:ln w="12700">
            <a:solidFill>
              <a:srgbClr val="DADCE0"/>
            </a:solidFill>
          </a:ln>
        </p:spPr>
      </p:pic>
      <p:sp>
        <p:nvSpPr>
          <p:cNvPr id="9" name="Rounded Rectangle 8"/>
          <p:cNvSpPr/>
          <p:nvPr/>
        </p:nvSpPr>
        <p:spPr>
          <a:xfrm>
            <a:off x="4297679" y="1280160"/>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Study style · trees: SGPA</a:t>
            </a:r>
          </a:p>
        </p:txBody>
      </p:sp>
      <p:pic>
        <p:nvPicPr>
          <p:cNvPr id="10" name="Picture 9" descr="form_multi_q_study_style_tight.png"/>
          <p:cNvPicPr>
            <a:picLocks noChangeAspect="1"/>
          </p:cNvPicPr>
          <p:nvPr/>
        </p:nvPicPr>
        <p:blipFill>
          <a:blip r:embed="rId4"/>
          <a:stretch>
            <a:fillRect/>
          </a:stretch>
        </p:blipFill>
        <p:spPr>
          <a:xfrm>
            <a:off x="4541824" y="1709928"/>
            <a:ext cx="3032150" cy="2011680"/>
          </a:xfrm>
          <a:prstGeom prst="rect">
            <a:avLst/>
          </a:prstGeom>
          <a:ln w="12700">
            <a:solidFill>
              <a:srgbClr val="DADCE0"/>
            </a:solidFill>
          </a:ln>
        </p:spPr>
      </p:pic>
      <p:sp>
        <p:nvSpPr>
          <p:cNvPr id="11" name="Rounded Rectangle 10"/>
          <p:cNvSpPr/>
          <p:nvPr/>
        </p:nvSpPr>
        <p:spPr>
          <a:xfrm>
            <a:off x="8046719" y="1280160"/>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Study-friendly living place · trees: CGPA (behaviour)</a:t>
            </a:r>
          </a:p>
        </p:txBody>
      </p:sp>
      <p:pic>
        <p:nvPicPr>
          <p:cNvPr id="12" name="Picture 11" descr="form_multi_q_environment_tight.png"/>
          <p:cNvPicPr>
            <a:picLocks noChangeAspect="1"/>
          </p:cNvPicPr>
          <p:nvPr/>
        </p:nvPicPr>
        <p:blipFill>
          <a:blip r:embed="rId5"/>
          <a:stretch>
            <a:fillRect/>
          </a:stretch>
        </p:blipFill>
        <p:spPr>
          <a:xfrm>
            <a:off x="8128101" y="1709928"/>
            <a:ext cx="3357676" cy="2011680"/>
          </a:xfrm>
          <a:prstGeom prst="rect">
            <a:avLst/>
          </a:prstGeom>
          <a:ln w="12700">
            <a:solidFill>
              <a:srgbClr val="DADCE0"/>
            </a:solidFill>
          </a:ln>
        </p:spPr>
      </p:pic>
      <p:sp>
        <p:nvSpPr>
          <p:cNvPr id="13" name="Rounded Rectangle 12"/>
          <p:cNvSpPr/>
          <p:nvPr/>
        </p:nvSpPr>
        <p:spPr>
          <a:xfrm>
            <a:off x="548640" y="3840479"/>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Semester routine manageable · trees: CGPA (+SGPA)</a:t>
            </a:r>
          </a:p>
        </p:txBody>
      </p:sp>
      <p:pic>
        <p:nvPicPr>
          <p:cNvPr id="14" name="Picture 13" descr="form_multi_q_routine_tight.png"/>
          <p:cNvPicPr>
            <a:picLocks noChangeAspect="1"/>
          </p:cNvPicPr>
          <p:nvPr/>
        </p:nvPicPr>
        <p:blipFill>
          <a:blip r:embed="rId6"/>
          <a:stretch>
            <a:fillRect/>
          </a:stretch>
        </p:blipFill>
        <p:spPr>
          <a:xfrm>
            <a:off x="548640" y="4398911"/>
            <a:ext cx="3520440" cy="1754352"/>
          </a:xfrm>
          <a:prstGeom prst="rect">
            <a:avLst/>
          </a:prstGeom>
          <a:ln w="12700">
            <a:solidFill>
              <a:srgbClr val="DADCE0"/>
            </a:solidFill>
          </a:ln>
        </p:spPr>
      </p:pic>
      <p:sp>
        <p:nvSpPr>
          <p:cNvPr id="15" name="Rounded Rectangle 14"/>
          <p:cNvSpPr/>
          <p:nvPr/>
        </p:nvSpPr>
        <p:spPr>
          <a:xfrm>
            <a:off x="4297679" y="3840479"/>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Sleep per night · trees: CGPA (+SGPA)</a:t>
            </a:r>
          </a:p>
        </p:txBody>
      </p:sp>
      <p:pic>
        <p:nvPicPr>
          <p:cNvPr id="16" name="Picture 15" descr="form_multi_q_sleep_tight.png"/>
          <p:cNvPicPr>
            <a:picLocks noChangeAspect="1"/>
          </p:cNvPicPr>
          <p:nvPr/>
        </p:nvPicPr>
        <p:blipFill>
          <a:blip r:embed="rId7"/>
          <a:stretch>
            <a:fillRect/>
          </a:stretch>
        </p:blipFill>
        <p:spPr>
          <a:xfrm>
            <a:off x="4724704" y="4270247"/>
            <a:ext cx="2666390" cy="2011680"/>
          </a:xfrm>
          <a:prstGeom prst="rect">
            <a:avLst/>
          </a:prstGeom>
          <a:ln w="12700">
            <a:solidFill>
              <a:srgbClr val="DADCE0"/>
            </a:solidFill>
          </a:ln>
        </p:spPr>
      </p:pic>
      <p:sp>
        <p:nvSpPr>
          <p:cNvPr id="17" name="Rounded Rectangle 16"/>
          <p:cNvSpPr/>
          <p:nvPr/>
        </p:nvSpPr>
        <p:spPr>
          <a:xfrm>
            <a:off x="8046719" y="3840479"/>
            <a:ext cx="3520440" cy="38404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100" b="1">
                <a:solidFill>
                  <a:srgbClr val="1F3B5C"/>
                </a:solidFill>
                <a:latin typeface="Helvetica Neue"/>
              </a:rPr>
              <a:t>CGPA question · what the CGPA trees predict</a:t>
            </a:r>
          </a:p>
        </p:txBody>
      </p:sp>
      <p:pic>
        <p:nvPicPr>
          <p:cNvPr id="18" name="Picture 17" descr="form_multi_q_cgpa_tight.png"/>
          <p:cNvPicPr>
            <a:picLocks noChangeAspect="1"/>
          </p:cNvPicPr>
          <p:nvPr/>
        </p:nvPicPr>
        <p:blipFill>
          <a:blip r:embed="rId8"/>
          <a:stretch>
            <a:fillRect/>
          </a:stretch>
        </p:blipFill>
        <p:spPr>
          <a:xfrm>
            <a:off x="8354059" y="4270247"/>
            <a:ext cx="2905760" cy="2011680"/>
          </a:xfrm>
          <a:prstGeom prst="rect">
            <a:avLst/>
          </a:prstGeom>
          <a:ln w="12700">
            <a:solidFill>
              <a:srgbClr val="DADCE0"/>
            </a:solidFill>
          </a:ln>
        </p:spPr>
      </p:pic>
      <p:sp>
        <p:nvSpPr>
          <p:cNvPr id="19" name="SimpleLightSectionLabel">
            <a:extLst>
              <a:ext uri="{FF2B5EF4-FFF2-40B4-BE49-F238E27FC236}">
                <a16:creationId xmlns:a16="http://schemas.microsoft.com/office/drawing/2014/main" id="{3FE72201-7C1C-49BF-9B0F-5E70A9D5A856}"/>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PURPOSE + SOURCE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FD4E1F-F9B3-F4CC-5582-25920B2E97B2}"/>
              </a:ext>
            </a:extLst>
          </p:cNvPr>
          <p:cNvPicPr>
            <a:picLocks noChangeAspect="1"/>
          </p:cNvPicPr>
          <p:nvPr/>
        </p:nvPicPr>
        <p:blipFill>
          <a:blip r:embed="rId2"/>
          <a:srcRect r="16157" b="41194"/>
          <a:stretch>
            <a:fillRect/>
          </a:stretch>
        </p:blipFill>
        <p:spPr>
          <a:xfrm>
            <a:off x="310243" y="1691368"/>
            <a:ext cx="11622585" cy="3566432"/>
          </a:xfrm>
          <a:prstGeom prst="rect">
            <a:avLst/>
          </a:prstGeom>
        </p:spPr>
      </p:pic>
      <p:sp>
        <p:nvSpPr>
          <p:cNvPr id="4" name="Google Shape;533;p58">
            <a:extLst>
              <a:ext uri="{FF2B5EF4-FFF2-40B4-BE49-F238E27FC236}">
                <a16:creationId xmlns:a16="http://schemas.microsoft.com/office/drawing/2014/main" id="{5E99C4EE-3385-0E43-5148-7A67186B2BB5}"/>
              </a:ext>
            </a:extLst>
          </p:cNvPr>
          <p:cNvSpPr txBox="1">
            <a:spLocks/>
          </p:cNvSpPr>
          <p:nvPr/>
        </p:nvSpPr>
        <p:spPr>
          <a:xfrm>
            <a:off x="393700" y="506512"/>
            <a:ext cx="11404600" cy="1047491"/>
          </a:xfrm>
          <a:prstGeom prst="rect">
            <a:avLst/>
          </a:prstGeom>
        </p:spPr>
        <p:txBody>
          <a:bodyPr spcFirstLastPara="1" vert="horz" wrap="square" lIns="0" tIns="0" rIns="0" bIns="0" anchor="t">
            <a:noAutofit/>
          </a:bodyPr>
          <a:lstStyle>
            <a:lvl1pPr algn="l" defTabSz="914400" rtl="0" eaLnBrk="1" latinLnBrk="0" hangingPunct="1">
              <a:lnSpc>
                <a:spcPct val="90000"/>
              </a:lnSpc>
              <a:spcBef>
                <a:spcPct val="0"/>
              </a:spcBef>
              <a:buNone/>
              <a:defRPr sz="2900" kern="1200">
                <a:solidFill>
                  <a:schemeClr val="tx1"/>
                </a:solidFill>
                <a:latin typeface="+mj-lt"/>
                <a:ea typeface="+mj-ea"/>
                <a:cs typeface="+mj-cs"/>
              </a:defRPr>
            </a:lvl1pPr>
          </a:lstStyle>
          <a:p>
            <a:r>
              <a:rPr lang="en-US" sz="3000" dirty="0">
                <a:latin typeface="Times New Roman"/>
                <a:ea typeface="Times New Roman"/>
                <a:cs typeface="Times New Roman"/>
              </a:rPr>
              <a:t>Form responses glimpse</a:t>
            </a:r>
          </a:p>
        </p:txBody>
      </p:sp>
      <p:sp>
        <p:nvSpPr>
          <p:cNvPr id="7" name="Rectangle 6">
            <a:extLst>
              <a:ext uri="{FF2B5EF4-FFF2-40B4-BE49-F238E27FC236}">
                <a16:creationId xmlns:a16="http://schemas.microsoft.com/office/drawing/2014/main" id="{F053E5B3-15E2-D84D-5201-2EFA3E6958F3}"/>
              </a:ext>
            </a:extLst>
          </p:cNvPr>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5C8B043-A7E3-5B99-9CF7-557C8FA8FE4F}"/>
              </a:ext>
            </a:extLst>
          </p:cNvPr>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dirty="0">
                <a:solidFill>
                  <a:srgbClr val="2A78D6"/>
                </a:solidFill>
                <a:latin typeface="Helvetica Neue"/>
              </a:rPr>
              <a:t>DATA COLLECTION</a:t>
            </a:r>
          </a:p>
        </p:txBody>
      </p:sp>
    </p:spTree>
    <p:extLst>
      <p:ext uri="{BB962C8B-B14F-4D97-AF65-F5344CB8AC3E}">
        <p14:creationId xmlns:p14="http://schemas.microsoft.com/office/powerpoint/2010/main" val="614438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Student Information in Our Dataset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9</a:t>
            </a:r>
          </a:p>
        </p:txBody>
      </p:sp>
      <p:sp>
        <p:nvSpPr>
          <p:cNvPr id="7" name="Rounded Rectangle 6"/>
          <p:cNvSpPr/>
          <p:nvPr/>
        </p:nvSpPr>
        <p:spPr>
          <a:xfrm>
            <a:off x="548640" y="137160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31520" y="15544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1</a:t>
            </a:r>
          </a:p>
        </p:txBody>
      </p:sp>
      <p:sp>
        <p:nvSpPr>
          <p:cNvPr id="9" name="TextBox 8"/>
          <p:cNvSpPr txBox="1"/>
          <p:nvPr/>
        </p:nvSpPr>
        <p:spPr>
          <a:xfrm>
            <a:off x="1508760" y="164592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Academic</a:t>
            </a:r>
          </a:p>
        </p:txBody>
      </p:sp>
      <p:sp>
        <p:nvSpPr>
          <p:cNvPr id="10" name="TextBox 9"/>
          <p:cNvSpPr txBox="1"/>
          <p:nvPr/>
        </p:nvSpPr>
        <p:spPr>
          <a:xfrm>
            <a:off x="777240" y="228600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University · Department · Semester · Recent SGPA</a:t>
            </a:r>
          </a:p>
        </p:txBody>
      </p:sp>
      <p:sp>
        <p:nvSpPr>
          <p:cNvPr id="11" name="Rounded Rectangle 10"/>
          <p:cNvSpPr/>
          <p:nvPr/>
        </p:nvSpPr>
        <p:spPr>
          <a:xfrm>
            <a:off x="4297679" y="137160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80559" y="15544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2</a:t>
            </a:r>
          </a:p>
        </p:txBody>
      </p:sp>
      <p:sp>
        <p:nvSpPr>
          <p:cNvPr id="13" name="TextBox 12"/>
          <p:cNvSpPr txBox="1"/>
          <p:nvPr/>
        </p:nvSpPr>
        <p:spPr>
          <a:xfrm>
            <a:off x="5257799" y="164592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Study habits</a:t>
            </a:r>
          </a:p>
        </p:txBody>
      </p:sp>
      <p:sp>
        <p:nvSpPr>
          <p:cNvPr id="14" name="TextBox 13"/>
          <p:cNvSpPr txBox="1"/>
          <p:nvPr/>
        </p:nvSpPr>
        <p:spPr>
          <a:xfrm>
            <a:off x="4526279" y="228600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Attendance · Self-study time · Study style · Topic clear after class</a:t>
            </a:r>
          </a:p>
        </p:txBody>
      </p:sp>
      <p:sp>
        <p:nvSpPr>
          <p:cNvPr id="15" name="Rounded Rectangle 14"/>
          <p:cNvSpPr/>
          <p:nvPr/>
        </p:nvSpPr>
        <p:spPr>
          <a:xfrm>
            <a:off x="8046719" y="137160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9" y="15544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3</a:t>
            </a:r>
          </a:p>
        </p:txBody>
      </p:sp>
      <p:sp>
        <p:nvSpPr>
          <p:cNvPr id="17" name="TextBox 16"/>
          <p:cNvSpPr txBox="1"/>
          <p:nvPr/>
        </p:nvSpPr>
        <p:spPr>
          <a:xfrm>
            <a:off x="9006840" y="164592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Lifestyle</a:t>
            </a:r>
          </a:p>
        </p:txBody>
      </p:sp>
      <p:sp>
        <p:nvSpPr>
          <p:cNvPr id="18" name="TextBox 17"/>
          <p:cNvSpPr txBox="1"/>
          <p:nvPr/>
        </p:nvSpPr>
        <p:spPr>
          <a:xfrm>
            <a:off x="8275319" y="228600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Sleep · Phone / social media · Semester routine</a:t>
            </a:r>
          </a:p>
        </p:txBody>
      </p:sp>
      <p:sp>
        <p:nvSpPr>
          <p:cNvPr id="19" name="Rounded Rectangle 18"/>
          <p:cNvSpPr/>
          <p:nvPr/>
        </p:nvSpPr>
        <p:spPr>
          <a:xfrm>
            <a:off x="548640" y="338328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31520" y="3566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4</a:t>
            </a:r>
          </a:p>
        </p:txBody>
      </p:sp>
      <p:sp>
        <p:nvSpPr>
          <p:cNvPr id="21" name="TextBox 20"/>
          <p:cNvSpPr txBox="1"/>
          <p:nvPr/>
        </p:nvSpPr>
        <p:spPr>
          <a:xfrm>
            <a:off x="1508760" y="365760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Pressure</a:t>
            </a:r>
          </a:p>
        </p:txBody>
      </p:sp>
      <p:sp>
        <p:nvSpPr>
          <p:cNvPr id="22" name="TextBox 21"/>
          <p:cNvSpPr txBox="1"/>
          <p:nvPr/>
        </p:nvSpPr>
        <p:spPr>
          <a:xfrm>
            <a:off x="777240" y="429768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Stress · Tuition / job / club hours</a:t>
            </a:r>
          </a:p>
        </p:txBody>
      </p:sp>
      <p:sp>
        <p:nvSpPr>
          <p:cNvPr id="23" name="Rounded Rectangle 22"/>
          <p:cNvSpPr/>
          <p:nvPr/>
        </p:nvSpPr>
        <p:spPr>
          <a:xfrm>
            <a:off x="4297679" y="338328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480559" y="3566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5</a:t>
            </a:r>
          </a:p>
        </p:txBody>
      </p:sp>
      <p:sp>
        <p:nvSpPr>
          <p:cNvPr id="25" name="TextBox 24"/>
          <p:cNvSpPr txBox="1"/>
          <p:nvPr/>
        </p:nvSpPr>
        <p:spPr>
          <a:xfrm>
            <a:off x="5257799" y="365760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Motivation &amp; support</a:t>
            </a:r>
          </a:p>
        </p:txBody>
      </p:sp>
      <p:sp>
        <p:nvSpPr>
          <p:cNvPr id="26" name="TextBox 25"/>
          <p:cNvSpPr txBox="1"/>
          <p:nvPr/>
        </p:nvSpPr>
        <p:spPr>
          <a:xfrm>
            <a:off x="4526279" y="429768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Got desired department · Family / friend support · Career expectation</a:t>
            </a:r>
          </a:p>
        </p:txBody>
      </p:sp>
      <p:sp>
        <p:nvSpPr>
          <p:cNvPr id="27" name="Rounded Rectangle 26"/>
          <p:cNvSpPr/>
          <p:nvPr/>
        </p:nvSpPr>
        <p:spPr>
          <a:xfrm>
            <a:off x="8046719" y="3383280"/>
            <a:ext cx="352044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29599" y="3566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6</a:t>
            </a:r>
          </a:p>
        </p:txBody>
      </p:sp>
      <p:sp>
        <p:nvSpPr>
          <p:cNvPr id="29" name="TextBox 28"/>
          <p:cNvSpPr txBox="1"/>
          <p:nvPr/>
        </p:nvSpPr>
        <p:spPr>
          <a:xfrm>
            <a:off x="9006840" y="3657600"/>
            <a:ext cx="2468880" cy="457200"/>
          </a:xfrm>
          <a:prstGeom prst="rect">
            <a:avLst/>
          </a:prstGeom>
          <a:noFill/>
        </p:spPr>
        <p:txBody>
          <a:bodyPr wrap="square" lIns="27432" tIns="27432" rIns="27432" bIns="27432" anchor="t">
            <a:noAutofit/>
          </a:bodyPr>
          <a:lstStyle/>
          <a:p>
            <a:pPr algn="l">
              <a:lnSpc>
                <a:spcPct val="105000"/>
              </a:lnSpc>
            </a:pPr>
            <a:r>
              <a:rPr sz="2000" b="1">
                <a:solidFill>
                  <a:srgbClr val="0B0B0B"/>
                </a:solidFill>
                <a:latin typeface="Helvetica Neue"/>
              </a:rPr>
              <a:t>Environment</a:t>
            </a:r>
          </a:p>
        </p:txBody>
      </p:sp>
      <p:sp>
        <p:nvSpPr>
          <p:cNvPr id="30" name="TextBox 29"/>
          <p:cNvSpPr txBox="1"/>
          <p:nvPr/>
        </p:nvSpPr>
        <p:spPr>
          <a:xfrm>
            <a:off x="8275319" y="4297680"/>
            <a:ext cx="3108960" cy="86868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Study-friendly living place</a:t>
            </a:r>
          </a:p>
        </p:txBody>
      </p:sp>
      <p:sp>
        <p:nvSpPr>
          <p:cNvPr id="31" name="TextBox 30"/>
          <p:cNvSpPr txBox="1"/>
          <p:nvPr/>
        </p:nvSpPr>
        <p:spPr>
          <a:xfrm>
            <a:off x="548640" y="5532120"/>
            <a:ext cx="2926080" cy="457200"/>
          </a:xfrm>
          <a:prstGeom prst="rect">
            <a:avLst/>
          </a:prstGeom>
          <a:noFill/>
        </p:spPr>
        <p:txBody>
          <a:bodyPr wrap="square" lIns="27432" tIns="27432" rIns="27432" bIns="27432" anchor="ctr">
            <a:noAutofit/>
          </a:bodyPr>
          <a:lstStyle/>
          <a:p>
            <a:pPr algn="l">
              <a:lnSpc>
                <a:spcPct val="105000"/>
              </a:lnSpc>
            </a:pPr>
            <a:r>
              <a:rPr sz="2000" b="1">
                <a:solidFill>
                  <a:srgbClr val="0B0B0B"/>
                </a:solidFill>
                <a:latin typeface="Helvetica Neue"/>
              </a:rPr>
              <a:t>Target: CGPA group</a:t>
            </a:r>
          </a:p>
        </p:txBody>
      </p:sp>
      <p:sp>
        <p:nvSpPr>
          <p:cNvPr id="32" name="Rounded Rectangle 31"/>
          <p:cNvSpPr/>
          <p:nvPr/>
        </p:nvSpPr>
        <p:spPr>
          <a:xfrm>
            <a:off x="3291840" y="5559552"/>
            <a:ext cx="1920240" cy="411480"/>
          </a:xfrm>
          <a:prstGeom prst="roundRect">
            <a:avLst>
              <a:gd name="adj" fmla="val 8000"/>
            </a:avLst>
          </a:prstGeom>
          <a:solidFill>
            <a:srgbClr val="A83A3A"/>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C0  &lt;3.20</a:t>
            </a:r>
          </a:p>
        </p:txBody>
      </p:sp>
      <p:sp>
        <p:nvSpPr>
          <p:cNvPr id="33" name="Rounded Rectangle 32"/>
          <p:cNvSpPr/>
          <p:nvPr/>
        </p:nvSpPr>
        <p:spPr>
          <a:xfrm>
            <a:off x="5321808" y="5559552"/>
            <a:ext cx="1920240" cy="411480"/>
          </a:xfrm>
          <a:prstGeom prst="roundRect">
            <a:avLst>
              <a:gd name="adj" fmla="val 8000"/>
            </a:avLst>
          </a:prstGeom>
          <a:solidFill>
            <a:srgbClr val="E0703E"/>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C1  3.20–3.49</a:t>
            </a:r>
          </a:p>
        </p:txBody>
      </p:sp>
      <p:sp>
        <p:nvSpPr>
          <p:cNvPr id="34" name="Rounded Rectangle 33"/>
          <p:cNvSpPr/>
          <p:nvPr/>
        </p:nvSpPr>
        <p:spPr>
          <a:xfrm>
            <a:off x="7351776" y="5559552"/>
            <a:ext cx="1920240" cy="411480"/>
          </a:xfrm>
          <a:prstGeom prst="roundRect">
            <a:avLst>
              <a:gd name="adj" fmla="val 8000"/>
            </a:avLst>
          </a:prstGeom>
          <a:solidFill>
            <a:srgbClr val="4B8FD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C2  3.50–3.74</a:t>
            </a:r>
          </a:p>
        </p:txBody>
      </p:sp>
      <p:sp>
        <p:nvSpPr>
          <p:cNvPr id="35" name="Rounded Rectangle 34"/>
          <p:cNvSpPr/>
          <p:nvPr/>
        </p:nvSpPr>
        <p:spPr>
          <a:xfrm>
            <a:off x="9381744" y="5559552"/>
            <a:ext cx="1920240" cy="411480"/>
          </a:xfrm>
          <a:prstGeom prst="roundRect">
            <a:avLst>
              <a:gd name="adj" fmla="val 8000"/>
            </a:avLst>
          </a:prstGeom>
          <a:solidFill>
            <a:srgbClr val="2659A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FFFFFF"/>
                </a:solidFill>
                <a:latin typeface="Helvetica Neue"/>
              </a:rPr>
              <a:t>C3  3.75+</a:t>
            </a:r>
          </a:p>
        </p:txBody>
      </p:sp>
      <p:sp>
        <p:nvSpPr>
          <p:cNvPr id="36" name="SimpleLightSectionLabel">
            <a:extLst>
              <a:ext uri="{FF2B5EF4-FFF2-40B4-BE49-F238E27FC236}">
                <a16:creationId xmlns:a16="http://schemas.microsoft.com/office/drawing/2014/main" id="{3C3AD25B-0E06-47EC-B470-E0C4B7357AE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dirty="0">
                <a:solidFill>
                  <a:srgbClr val="2A78D6"/>
                </a:solidFill>
                <a:latin typeface="Helvetica Neue"/>
              </a:rPr>
              <a:t>DATA COLLECTION</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From Raw Responses to Usable Data</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11</a:t>
            </a:r>
          </a:p>
        </p:txBody>
      </p:sp>
      <p:sp>
        <p:nvSpPr>
          <p:cNvPr id="7" name="Rounded Rectangle 6"/>
          <p:cNvSpPr/>
          <p:nvPr/>
        </p:nvSpPr>
        <p:spPr>
          <a:xfrm>
            <a:off x="548640"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1,126 raw responses</a:t>
            </a:r>
          </a:p>
        </p:txBody>
      </p:sp>
      <p:sp>
        <p:nvSpPr>
          <p:cNvPr id="8" name="Right Arrow 7"/>
          <p:cNvSpPr/>
          <p:nvPr/>
        </p:nvSpPr>
        <p:spPr>
          <a:xfrm>
            <a:off x="302666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29000"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Fix spellings &amp; labels</a:t>
            </a:r>
          </a:p>
        </p:txBody>
      </p:sp>
      <p:sp>
        <p:nvSpPr>
          <p:cNvPr id="10" name="Right Arrow 9"/>
          <p:cNvSpPr/>
          <p:nvPr/>
        </p:nvSpPr>
        <p:spPr>
          <a:xfrm>
            <a:off x="590702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09359"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Merge the two forms</a:t>
            </a:r>
          </a:p>
        </p:txBody>
      </p:sp>
      <p:sp>
        <p:nvSpPr>
          <p:cNvPr id="12" name="Right Arrow 11"/>
          <p:cNvSpPr/>
          <p:nvPr/>
        </p:nvSpPr>
        <p:spPr>
          <a:xfrm>
            <a:off x="878738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89719" y="1371600"/>
            <a:ext cx="2423160" cy="8686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FFFFFF"/>
                </a:solidFill>
                <a:latin typeface="Helvetica Neue"/>
              </a:rPr>
              <a:t>1,108 clean rows</a:t>
            </a:r>
          </a:p>
        </p:txBody>
      </p:sp>
      <p:sp>
        <p:nvSpPr>
          <p:cNvPr id="16" name="Rounded Rectangle 15"/>
          <p:cNvSpPr/>
          <p:nvPr/>
        </p:nvSpPr>
        <p:spPr>
          <a:xfrm>
            <a:off x="3398520" y="258318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BRAC / Brac / BRAc</a:t>
            </a:r>
          </a:p>
        </p:txBody>
      </p:sp>
      <p:sp>
        <p:nvSpPr>
          <p:cNvPr id="17" name="Right Arrow 16"/>
          <p:cNvSpPr/>
          <p:nvPr/>
        </p:nvSpPr>
        <p:spPr>
          <a:xfrm>
            <a:off x="5702808" y="273862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096000" y="258318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BRAC</a:t>
            </a:r>
          </a:p>
        </p:txBody>
      </p:sp>
      <p:sp>
        <p:nvSpPr>
          <p:cNvPr id="19" name="Rounded Rectangle 18"/>
          <p:cNvSpPr/>
          <p:nvPr/>
        </p:nvSpPr>
        <p:spPr>
          <a:xfrm>
            <a:off x="3398520" y="3314699"/>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90% or more (৯০% বা তার বেশি)</a:t>
            </a:r>
          </a:p>
        </p:txBody>
      </p:sp>
      <p:sp>
        <p:nvSpPr>
          <p:cNvPr id="20" name="Right Arrow 19"/>
          <p:cNvSpPr/>
          <p:nvPr/>
        </p:nvSpPr>
        <p:spPr>
          <a:xfrm>
            <a:off x="5702808" y="3470147"/>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096000" y="3314699"/>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90% or more</a:t>
            </a:r>
          </a:p>
        </p:txBody>
      </p:sp>
      <p:sp>
        <p:nvSpPr>
          <p:cNvPr id="22" name="Rounded Rectangle 21"/>
          <p:cNvSpPr/>
          <p:nvPr/>
        </p:nvSpPr>
        <p:spPr>
          <a:xfrm>
            <a:off x="3398520" y="404622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110 department spellings</a:t>
            </a:r>
          </a:p>
        </p:txBody>
      </p:sp>
      <p:sp>
        <p:nvSpPr>
          <p:cNvPr id="23" name="Right Arrow 22"/>
          <p:cNvSpPr/>
          <p:nvPr/>
        </p:nvSpPr>
        <p:spPr>
          <a:xfrm>
            <a:off x="5702808" y="420166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096000" y="404622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24 departments</a:t>
            </a:r>
          </a:p>
        </p:txBody>
      </p:sp>
      <p:sp>
        <p:nvSpPr>
          <p:cNvPr id="25" name="Rounded Rectangle 24"/>
          <p:cNvSpPr/>
          <p:nvPr/>
        </p:nvSpPr>
        <p:spPr>
          <a:xfrm>
            <a:off x="3398520" y="477774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Two GPA formats + typed numbers</a:t>
            </a:r>
          </a:p>
        </p:txBody>
      </p:sp>
      <p:sp>
        <p:nvSpPr>
          <p:cNvPr id="26" name="Right Arrow 25"/>
          <p:cNvSpPr/>
          <p:nvPr/>
        </p:nvSpPr>
        <p:spPr>
          <a:xfrm>
            <a:off x="5702808" y="493318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096000" y="477774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C0 – C3 groups</a:t>
            </a:r>
          </a:p>
        </p:txBody>
      </p:sp>
      <p:sp>
        <p:nvSpPr>
          <p:cNvPr id="28" name="Rounded Rectangle 27"/>
          <p:cNvSpPr/>
          <p:nvPr/>
        </p:nvSpPr>
        <p:spPr>
          <a:xfrm>
            <a:off x="3398520" y="550926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18 rows with no CGPA</a:t>
            </a:r>
          </a:p>
        </p:txBody>
      </p:sp>
      <p:sp>
        <p:nvSpPr>
          <p:cNvPr id="29" name="Right Arrow 28"/>
          <p:cNvSpPr/>
          <p:nvPr/>
        </p:nvSpPr>
        <p:spPr>
          <a:xfrm>
            <a:off x="5702808" y="566470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096000" y="550926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removed</a:t>
            </a:r>
          </a:p>
        </p:txBody>
      </p:sp>
      <p:sp>
        <p:nvSpPr>
          <p:cNvPr id="31" name="SimpleLightSectionLabel">
            <a:extLst>
              <a:ext uri="{FF2B5EF4-FFF2-40B4-BE49-F238E27FC236}">
                <a16:creationId xmlns:a16="http://schemas.microsoft.com/office/drawing/2014/main" id="{16D00B4D-C329-4096-AC1E-2347D7797641}"/>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QUALITY CHECK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Do a Student's SGPA and CGPA Agree?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endParaRPr/>
          </a:p>
        </p:txBody>
      </p:sp>
      <p:pic>
        <p:nvPicPr>
          <p:cNvPr id="7" name="Picture 6" descr="rc_cgpa.png"/>
          <p:cNvPicPr>
            <a:picLocks noChangeAspect="1"/>
          </p:cNvPicPr>
          <p:nvPr/>
        </p:nvPicPr>
        <p:blipFill>
          <a:blip r:embed="rId3"/>
          <a:stretch>
            <a:fillRect/>
          </a:stretch>
        </p:blipFill>
        <p:spPr>
          <a:xfrm>
            <a:off x="548640" y="1419467"/>
            <a:ext cx="6675120" cy="4659144"/>
          </a:xfrm>
          <a:prstGeom prst="rect">
            <a:avLst/>
          </a:prstGeom>
        </p:spPr>
      </p:pic>
      <p:sp>
        <p:nvSpPr>
          <p:cNvPr id="8" name="Rounded Rectangle 7"/>
          <p:cNvSpPr/>
          <p:nvPr/>
        </p:nvSpPr>
        <p:spPr>
          <a:xfrm>
            <a:off x="7498079" y="3158870"/>
            <a:ext cx="2011680" cy="13258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5240" y="3268598"/>
            <a:ext cx="1737360" cy="729234"/>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78%</a:t>
            </a:r>
          </a:p>
        </p:txBody>
      </p:sp>
      <p:sp>
        <p:nvSpPr>
          <p:cNvPr id="10" name="TextBox 9"/>
          <p:cNvSpPr txBox="1"/>
          <p:nvPr/>
        </p:nvSpPr>
        <p:spPr>
          <a:xfrm>
            <a:off x="7635240" y="3927880"/>
            <a:ext cx="1737360" cy="530352"/>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860 within 1 band</a:t>
            </a:r>
          </a:p>
        </p:txBody>
      </p:sp>
      <p:sp>
        <p:nvSpPr>
          <p:cNvPr id="11" name="Rounded Rectangle 10"/>
          <p:cNvSpPr/>
          <p:nvPr/>
        </p:nvSpPr>
        <p:spPr>
          <a:xfrm>
            <a:off x="9768840" y="3132352"/>
            <a:ext cx="2011680" cy="13258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06000" y="3242080"/>
            <a:ext cx="1737360" cy="729234"/>
          </a:xfrm>
          <a:prstGeom prst="rect">
            <a:avLst/>
          </a:prstGeom>
          <a:noFill/>
        </p:spPr>
        <p:txBody>
          <a:bodyPr wrap="square" lIns="27432" tIns="27432" rIns="27432" bIns="27432" anchor="ctr">
            <a:noAutofit/>
          </a:bodyPr>
          <a:lstStyle/>
          <a:p>
            <a:pPr algn="l">
              <a:lnSpc>
                <a:spcPct val="105000"/>
              </a:lnSpc>
            </a:pPr>
            <a:r>
              <a:rPr sz="3000" b="1" dirty="0">
                <a:solidFill>
                  <a:srgbClr val="2A78D6"/>
                </a:solidFill>
                <a:latin typeface="Helvetica Neue"/>
              </a:rPr>
              <a:t>22%</a:t>
            </a:r>
          </a:p>
        </p:txBody>
      </p:sp>
      <p:sp>
        <p:nvSpPr>
          <p:cNvPr id="13" name="TextBox 12"/>
          <p:cNvSpPr txBox="1"/>
          <p:nvPr/>
        </p:nvSpPr>
        <p:spPr>
          <a:xfrm>
            <a:off x="9906000" y="3901362"/>
            <a:ext cx="1737360" cy="530352"/>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242 are 2–3 apart</a:t>
            </a:r>
          </a:p>
        </p:txBody>
      </p:sp>
      <p:sp>
        <p:nvSpPr>
          <p:cNvPr id="16" name="Rounded Rectangle 15"/>
          <p:cNvSpPr/>
          <p:nvPr/>
        </p:nvSpPr>
        <p:spPr>
          <a:xfrm>
            <a:off x="7498079" y="5623560"/>
            <a:ext cx="411480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CGPA averages many semesters, so it moves slowly</a:t>
            </a:r>
          </a:p>
        </p:txBody>
      </p:sp>
      <p:sp>
        <p:nvSpPr>
          <p:cNvPr id="17" name="SimpleLightSectionLabel">
            <a:extLst>
              <a:ext uri="{FF2B5EF4-FFF2-40B4-BE49-F238E27FC236}">
                <a16:creationId xmlns:a16="http://schemas.microsoft.com/office/drawing/2014/main" id="{976BFE16-9B2A-457B-A5AC-DB9A73DAFDF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 CHECK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QUALITY CHECK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One Semester Moves CGPA Only a Little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endParaRPr/>
          </a:p>
        </p:txBody>
      </p:sp>
      <p:sp>
        <p:nvSpPr>
          <p:cNvPr id="7" name="Rounded Rectangle 6"/>
          <p:cNvSpPr/>
          <p:nvPr/>
        </p:nvSpPr>
        <p:spPr>
          <a:xfrm>
            <a:off x="548640" y="1463040"/>
            <a:ext cx="5440680" cy="4023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44068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737360"/>
            <a:ext cx="4846320" cy="548640"/>
          </a:xfrm>
          <a:prstGeom prst="rect">
            <a:avLst/>
          </a:prstGeom>
          <a:noFill/>
        </p:spPr>
        <p:txBody>
          <a:bodyPr wrap="square" lIns="27432" tIns="27432" rIns="27432" bIns="27432" anchor="t">
            <a:noAutofit/>
          </a:bodyPr>
          <a:lstStyle/>
          <a:p>
            <a:pPr algn="l">
              <a:lnSpc>
                <a:spcPct val="105000"/>
              </a:lnSpc>
            </a:pPr>
            <a:r>
              <a:rPr sz="2400" b="1">
                <a:solidFill>
                  <a:srgbClr val="2A78D6"/>
                </a:solidFill>
                <a:latin typeface="Helvetica Neue"/>
              </a:rPr>
              <a:t>Example: a bad semester</a:t>
            </a:r>
          </a:p>
        </p:txBody>
      </p:sp>
      <p:sp>
        <p:nvSpPr>
          <p:cNvPr id="10" name="TextBox 9"/>
          <p:cNvSpPr txBox="1"/>
          <p:nvPr/>
        </p:nvSpPr>
        <p:spPr>
          <a:xfrm>
            <a:off x="868680" y="2468880"/>
            <a:ext cx="4846320" cy="2926080"/>
          </a:xfrm>
          <a:prstGeom prst="rect">
            <a:avLst/>
          </a:prstGeom>
          <a:noFill/>
        </p:spPr>
        <p:txBody>
          <a:bodyPr wrap="square" lIns="27432" tIns="27432" rIns="27432" bIns="27432" anchor="t">
            <a:noAutofit/>
          </a:bodyPr>
          <a:lstStyle/>
          <a:p>
            <a:pPr algn="l">
              <a:lnSpc>
                <a:spcPct val="105000"/>
              </a:lnSpc>
              <a:spcAft>
                <a:spcPts val="800"/>
              </a:spcAft>
            </a:pPr>
            <a:r>
              <a:rPr lang="en-US" sz="1900" b="0">
                <a:solidFill>
                  <a:srgbClr val="0B0B0B"/>
                </a:solidFill>
                <a:latin typeface="Helvetica Neue"/>
              </a:rPr>
              <a:t>• CGPA 3.80 after 5 semesters</a:t>
            </a:r>
          </a:p>
          <a:p>
            <a:pPr algn="l">
              <a:lnSpc>
                <a:spcPct val="105000"/>
              </a:lnSpc>
              <a:spcAft>
                <a:spcPts val="800"/>
              </a:spcAft>
            </a:pPr>
            <a:r>
              <a:rPr lang="en-US" sz="1900" b="0">
                <a:solidFill>
                  <a:srgbClr val="0B0B0B"/>
                </a:solidFill>
                <a:latin typeface="Helvetica Neue"/>
              </a:rPr>
              <a:t>• 6th semester SGPA: 2.80</a:t>
            </a:r>
          </a:p>
          <a:p>
            <a:pPr algn="l">
              <a:lnSpc>
                <a:spcPct val="105000"/>
              </a:lnSpc>
              <a:spcAft>
                <a:spcPts val="800"/>
              </a:spcAft>
            </a:pPr>
            <a:r>
              <a:rPr lang="en-US" sz="1900" b="0">
                <a:solidFill>
                  <a:srgbClr val="0B0B0B"/>
                </a:solidFill>
                <a:latin typeface="Helvetica Neue"/>
              </a:rPr>
              <a:t>• New CGPA: 3.63</a:t>
            </a:r>
          </a:p>
          <a:p>
            <a:pPr algn="l">
              <a:lnSpc>
                <a:spcPct val="105000"/>
              </a:lnSpc>
              <a:spcAft>
                <a:spcPts val="800"/>
              </a:spcAft>
            </a:pPr>
            <a:r>
              <a:rPr lang="en-US" sz="1900" b="0">
                <a:solidFill>
                  <a:srgbClr val="0B0B0B"/>
                </a:solidFill>
                <a:latin typeface="Helvetica Neue"/>
              </a:rPr>
              <a:t>• Group moves only C3 → C2</a:t>
            </a:r>
            <a:endParaRPr sz="1900" b="0">
              <a:solidFill>
                <a:srgbClr val="0B0B0B"/>
              </a:solidFill>
              <a:latin typeface="Helvetica Neue"/>
            </a:endParaRPr>
          </a:p>
        </p:txBody>
      </p:sp>
      <p:sp>
        <p:nvSpPr>
          <p:cNvPr id="11" name="Rounded Rectangle 10"/>
          <p:cNvSpPr/>
          <p:nvPr/>
        </p:nvSpPr>
        <p:spPr>
          <a:xfrm>
            <a:off x="6172200" y="1463040"/>
            <a:ext cx="5440680" cy="4023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63040"/>
            <a:ext cx="5440680" cy="109728"/>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737360"/>
            <a:ext cx="4846320" cy="548640"/>
          </a:xfrm>
          <a:prstGeom prst="rect">
            <a:avLst/>
          </a:prstGeom>
          <a:noFill/>
        </p:spPr>
        <p:txBody>
          <a:bodyPr wrap="square" lIns="27432" tIns="27432" rIns="27432" bIns="27432" anchor="t">
            <a:noAutofit/>
          </a:bodyPr>
          <a:lstStyle/>
          <a:p>
            <a:pPr algn="l">
              <a:lnSpc>
                <a:spcPct val="105000"/>
              </a:lnSpc>
            </a:pPr>
            <a:r>
              <a:rPr sz="2400" b="1">
                <a:solidFill>
                  <a:srgbClr val="1F3B5C"/>
                </a:solidFill>
                <a:latin typeface="Helvetica Neue"/>
              </a:rPr>
              <a:t>Example: a great semester</a:t>
            </a:r>
          </a:p>
        </p:txBody>
      </p:sp>
      <p:sp>
        <p:nvSpPr>
          <p:cNvPr id="14" name="TextBox 13"/>
          <p:cNvSpPr txBox="1"/>
          <p:nvPr/>
        </p:nvSpPr>
        <p:spPr>
          <a:xfrm>
            <a:off x="6492240" y="2468880"/>
            <a:ext cx="4846320" cy="2926080"/>
          </a:xfrm>
          <a:prstGeom prst="rect">
            <a:avLst/>
          </a:prstGeom>
          <a:noFill/>
        </p:spPr>
        <p:txBody>
          <a:bodyPr wrap="square" lIns="27432" tIns="27432" rIns="27432" bIns="27432" anchor="t">
            <a:noAutofit/>
          </a:bodyPr>
          <a:lstStyle/>
          <a:p>
            <a:pPr algn="l">
              <a:lnSpc>
                <a:spcPct val="105000"/>
              </a:lnSpc>
              <a:spcAft>
                <a:spcPts val="800"/>
              </a:spcAft>
            </a:pPr>
            <a:r>
              <a:rPr lang="en-US" sz="1900" b="0">
                <a:solidFill>
                  <a:srgbClr val="0B0B0B"/>
                </a:solidFill>
                <a:latin typeface="Helvetica Neue"/>
              </a:rPr>
              <a:t>• CGPA 3.00 after 5 semesters</a:t>
            </a:r>
          </a:p>
          <a:p>
            <a:pPr algn="l">
              <a:lnSpc>
                <a:spcPct val="105000"/>
              </a:lnSpc>
              <a:spcAft>
                <a:spcPts val="800"/>
              </a:spcAft>
            </a:pPr>
            <a:r>
              <a:rPr lang="en-US" sz="1900" b="0">
                <a:solidFill>
                  <a:srgbClr val="0B0B0B"/>
                </a:solidFill>
                <a:latin typeface="Helvetica Neue"/>
              </a:rPr>
              <a:t>• 6th semester SGPA: 4.00</a:t>
            </a:r>
          </a:p>
          <a:p>
            <a:pPr algn="l">
              <a:lnSpc>
                <a:spcPct val="105000"/>
              </a:lnSpc>
              <a:spcAft>
                <a:spcPts val="800"/>
              </a:spcAft>
            </a:pPr>
            <a:r>
              <a:rPr lang="en-US" sz="1900" b="0">
                <a:solidFill>
                  <a:srgbClr val="0B0B0B"/>
                </a:solidFill>
                <a:latin typeface="Helvetica Neue"/>
              </a:rPr>
              <a:t>• New CGPA: 3.17</a:t>
            </a:r>
          </a:p>
          <a:p>
            <a:pPr algn="l">
              <a:lnSpc>
                <a:spcPct val="105000"/>
              </a:lnSpc>
              <a:spcAft>
                <a:spcPts val="800"/>
              </a:spcAft>
            </a:pPr>
            <a:r>
              <a:rPr lang="en-US" sz="1900" b="0">
                <a:solidFill>
                  <a:srgbClr val="0B0B0B"/>
                </a:solidFill>
                <a:latin typeface="Helvetica Neue"/>
              </a:rPr>
              <a:t>• Group stays C0</a:t>
            </a:r>
            <a:endParaRPr sz="1900" b="0">
              <a:solidFill>
                <a:srgbClr val="0B0B0B"/>
              </a:solidFill>
              <a:latin typeface="Helvetica Neue"/>
            </a:endParaRPr>
          </a:p>
        </p:txBody>
      </p:sp>
      <p:sp>
        <p:nvSpPr>
          <p:cNvPr id="15" name="Rounded Rectangle 14"/>
          <p:cNvSpPr/>
          <p:nvPr/>
        </p:nvSpPr>
        <p:spPr>
          <a:xfrm>
            <a:off x="548640" y="5669280"/>
            <a:ext cx="11064240" cy="5486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1F3B5C"/>
                </a:solidFill>
                <a:latin typeface="Helvetica Neue"/>
              </a:rPr>
              <a:t>Big gaps can happen for a few students. When many answers in one group show them, we check that group.</a:t>
            </a:r>
          </a:p>
        </p:txBody>
      </p:sp>
      <p:sp>
        <p:nvSpPr>
          <p:cNvPr id="16" name="SimpleLightSectionLabel">
            <a:extLst>
              <a:ext uri="{FF2B5EF4-FFF2-40B4-BE49-F238E27FC236}">
                <a16:creationId xmlns:a16="http://schemas.microsoft.com/office/drawing/2014/main" id="{537FEEF8-B5B9-415B-9692-65F36147D1C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 CHECK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QUALITY CHECK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Where Were the Big Gaps?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endParaRPr/>
          </a:p>
        </p:txBody>
      </p:sp>
      <p:sp>
        <p:nvSpPr>
          <p:cNvPr id="7" name="TextBox 6"/>
          <p:cNvSpPr txBox="1"/>
          <p:nvPr/>
        </p:nvSpPr>
        <p:spPr>
          <a:xfrm>
            <a:off x="548640"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By university (2–3 bands apart)</a:t>
            </a:r>
          </a:p>
        </p:txBody>
      </p:sp>
      <p:pic>
        <p:nvPicPr>
          <p:cNvPr id="8" name="Picture 7" descr="rc_stress_frequency.png"/>
          <p:cNvPicPr>
            <a:picLocks noChangeAspect="1"/>
          </p:cNvPicPr>
          <p:nvPr/>
        </p:nvPicPr>
        <p:blipFill>
          <a:blip r:embed="rId3"/>
          <a:stretch>
            <a:fillRect/>
          </a:stretch>
        </p:blipFill>
        <p:spPr>
          <a:xfrm>
            <a:off x="650081" y="1783080"/>
            <a:ext cx="5192077" cy="3611880"/>
          </a:xfrm>
          <a:prstGeom prst="rect">
            <a:avLst/>
          </a:prstGeom>
        </p:spPr>
      </p:pic>
      <p:sp>
        <p:nvSpPr>
          <p:cNvPr id="9" name="Rounded Rectangle 8"/>
          <p:cNvSpPr/>
          <p:nvPr/>
        </p:nvSpPr>
        <p:spPr>
          <a:xfrm>
            <a:off x="548640"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KUET has 205 of the 242 big gaps</a:t>
            </a:r>
          </a:p>
        </p:txBody>
      </p:sp>
      <p:sp>
        <p:nvSpPr>
          <p:cNvPr id="10" name="TextBox 9"/>
          <p:cNvSpPr txBox="1"/>
          <p:nvPr/>
        </p:nvSpPr>
        <p:spPr>
          <a:xfrm>
            <a:off x="6217919"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KUET, by semester</a:t>
            </a:r>
          </a:p>
        </p:txBody>
      </p:sp>
      <p:pic>
        <p:nvPicPr>
          <p:cNvPr id="11" name="Picture 10" descr="rc_sleep_duration.png"/>
          <p:cNvPicPr>
            <a:picLocks noChangeAspect="1"/>
          </p:cNvPicPr>
          <p:nvPr/>
        </p:nvPicPr>
        <p:blipFill>
          <a:blip r:embed="rId4"/>
          <a:stretch>
            <a:fillRect/>
          </a:stretch>
        </p:blipFill>
        <p:spPr>
          <a:xfrm>
            <a:off x="6323702" y="1783080"/>
            <a:ext cx="5183395" cy="3611880"/>
          </a:xfrm>
          <a:prstGeom prst="rect">
            <a:avLst/>
          </a:prstGeom>
        </p:spPr>
      </p:pic>
      <p:sp>
        <p:nvSpPr>
          <p:cNvPr id="12" name="Rounded Rectangle 11"/>
          <p:cNvSpPr/>
          <p:nvPr/>
        </p:nvSpPr>
        <p:spPr>
          <a:xfrm>
            <a:off x="6217919"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KUET semester 7: 199 of 675 (29%)</a:t>
            </a:r>
          </a:p>
        </p:txBody>
      </p:sp>
      <p:sp>
        <p:nvSpPr>
          <p:cNvPr id="13" name="SimpleLightSectionLabel">
            <a:extLst>
              <a:ext uri="{FF2B5EF4-FFF2-40B4-BE49-F238E27FC236}">
                <a16:creationId xmlns:a16="http://schemas.microsoft.com/office/drawing/2014/main" id="{75ACC20C-A4DC-4FB9-82F3-E3C752A49FB5}"/>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 CHECK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QUALITY CHECK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dirty="0">
                <a:solidFill>
                  <a:srgbClr val="121212"/>
                </a:solidFill>
                <a:latin typeface="OpenAI Sans" panose="020B0604020202020204" charset="0"/>
              </a:rPr>
              <a:t>When Were These Answers Submitted?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endParaRPr/>
          </a:p>
        </p:txBody>
      </p:sp>
      <p:pic>
        <p:nvPicPr>
          <p:cNvPr id="7" name="Picture 6" descr="rc_university.png"/>
          <p:cNvPicPr>
            <a:picLocks noChangeAspect="1"/>
          </p:cNvPicPr>
          <p:nvPr/>
        </p:nvPicPr>
        <p:blipFill>
          <a:blip r:embed="rId3"/>
          <a:stretch>
            <a:fillRect/>
          </a:stretch>
        </p:blipFill>
        <p:spPr>
          <a:xfrm>
            <a:off x="548640" y="1447518"/>
            <a:ext cx="6583680" cy="4603043"/>
          </a:xfrm>
          <a:prstGeom prst="rect">
            <a:avLst/>
          </a:prstGeom>
        </p:spPr>
      </p:pic>
      <p:sp>
        <p:nvSpPr>
          <p:cNvPr id="8" name="Rounded Rectangle 7"/>
          <p:cNvSpPr/>
          <p:nvPr/>
        </p:nvSpPr>
        <p:spPr>
          <a:xfrm>
            <a:off x="7498079" y="1463040"/>
            <a:ext cx="411480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5240" y="1572768"/>
            <a:ext cx="3840480" cy="1005840"/>
          </a:xfrm>
          <a:prstGeom prst="rect">
            <a:avLst/>
          </a:prstGeom>
          <a:noFill/>
        </p:spPr>
        <p:txBody>
          <a:bodyPr wrap="square" lIns="27432" tIns="27432" rIns="27432" bIns="27432" anchor="ctr">
            <a:noAutofit/>
          </a:bodyPr>
          <a:lstStyle/>
          <a:p>
            <a:pPr algn="l">
              <a:lnSpc>
                <a:spcPct val="105000"/>
              </a:lnSpc>
            </a:pPr>
            <a:r>
              <a:rPr sz="5400" b="1">
                <a:solidFill>
                  <a:srgbClr val="2A78D6"/>
                </a:solidFill>
                <a:latin typeface="Helvetica Neue"/>
              </a:rPr>
              <a:t>40%</a:t>
            </a:r>
          </a:p>
        </p:txBody>
      </p:sp>
      <p:sp>
        <p:nvSpPr>
          <p:cNvPr id="10" name="TextBox 9"/>
          <p:cNvSpPr txBox="1"/>
          <p:nvPr/>
        </p:nvSpPr>
        <p:spPr>
          <a:xfrm>
            <a:off x="7635240" y="2523744"/>
            <a:ext cx="384048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of the 6–7 Aug answers had a big gap (182 of 455)</a:t>
            </a:r>
          </a:p>
        </p:txBody>
      </p:sp>
      <p:sp>
        <p:nvSpPr>
          <p:cNvPr id="12" name="SimpleLightSectionLabel">
            <a:extLst>
              <a:ext uri="{FF2B5EF4-FFF2-40B4-BE49-F238E27FC236}">
                <a16:creationId xmlns:a16="http://schemas.microsoft.com/office/drawing/2014/main" id="{33794158-D503-45D4-A483-B776399FD11C}"/>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 CHECK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 QUALITY CHECK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The 6–7 August Answers Look Random</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endParaRPr/>
          </a:p>
        </p:txBody>
      </p:sp>
      <p:sp>
        <p:nvSpPr>
          <p:cNvPr id="7" name="TextBox 6"/>
          <p:cNvSpPr txBox="1"/>
          <p:nvPr/>
        </p:nvSpPr>
        <p:spPr>
          <a:xfrm>
            <a:off x="548640"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6–7 Aug, KUET semester 7 (455)</a:t>
            </a:r>
          </a:p>
        </p:txBody>
      </p:sp>
      <p:pic>
        <p:nvPicPr>
          <p:cNvPr id="8" name="Picture 7" descr="rc_stress_frequency.png"/>
          <p:cNvPicPr>
            <a:picLocks noChangeAspect="1"/>
          </p:cNvPicPr>
          <p:nvPr/>
        </p:nvPicPr>
        <p:blipFill>
          <a:blip r:embed="rId3"/>
          <a:stretch>
            <a:fillRect/>
          </a:stretch>
        </p:blipFill>
        <p:spPr>
          <a:xfrm>
            <a:off x="650081" y="1783080"/>
            <a:ext cx="5192077" cy="3611880"/>
          </a:xfrm>
          <a:prstGeom prst="rect">
            <a:avLst/>
          </a:prstGeom>
        </p:spPr>
      </p:pic>
      <p:sp>
        <p:nvSpPr>
          <p:cNvPr id="9" name="Rounded Rectangle 8"/>
          <p:cNvSpPr/>
          <p:nvPr/>
        </p:nvSpPr>
        <p:spPr>
          <a:xfrm>
            <a:off x="548640"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Answers spread over every cell</a:t>
            </a:r>
          </a:p>
        </p:txBody>
      </p:sp>
      <p:sp>
        <p:nvSpPr>
          <p:cNvPr id="10" name="TextBox 9"/>
          <p:cNvSpPr txBox="1"/>
          <p:nvPr/>
        </p:nvSpPr>
        <p:spPr>
          <a:xfrm>
            <a:off x="6217919"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All other students (647)</a:t>
            </a:r>
          </a:p>
        </p:txBody>
      </p:sp>
      <p:pic>
        <p:nvPicPr>
          <p:cNvPr id="11" name="Picture 10" descr="rc_sleep_duration.png"/>
          <p:cNvPicPr>
            <a:picLocks noChangeAspect="1"/>
          </p:cNvPicPr>
          <p:nvPr/>
        </p:nvPicPr>
        <p:blipFill>
          <a:blip r:embed="rId4"/>
          <a:stretch>
            <a:fillRect/>
          </a:stretch>
        </p:blipFill>
        <p:spPr>
          <a:xfrm>
            <a:off x="6323702" y="1783080"/>
            <a:ext cx="5183395" cy="3611880"/>
          </a:xfrm>
          <a:prstGeom prst="rect">
            <a:avLst/>
          </a:prstGeom>
        </p:spPr>
      </p:pic>
      <p:sp>
        <p:nvSpPr>
          <p:cNvPr id="12" name="Rounded Rectangle 11"/>
          <p:cNvSpPr/>
          <p:nvPr/>
        </p:nvSpPr>
        <p:spPr>
          <a:xfrm>
            <a:off x="6217919"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Most answers sit near the diagonal</a:t>
            </a:r>
          </a:p>
        </p:txBody>
      </p:sp>
      <p:sp>
        <p:nvSpPr>
          <p:cNvPr id="13" name="SimpleLightSectionLabel">
            <a:extLst>
              <a:ext uri="{FF2B5EF4-FFF2-40B4-BE49-F238E27FC236}">
                <a16:creationId xmlns:a16="http://schemas.microsoft.com/office/drawing/2014/main" id="{75ACC20C-A4DC-4FB9-82F3-E3C752A49FB5}"/>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 CHECK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dirty="0">
                <a:solidFill>
                  <a:srgbClr val="2A78D6"/>
                </a:solidFill>
                <a:latin typeface="Helvetica Neue"/>
              </a:rPr>
              <a:t>DATA QUALITY CHECK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We Kept and What We Removed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endParaRPr/>
          </a:p>
        </p:txBody>
      </p:sp>
      <p:sp>
        <p:nvSpPr>
          <p:cNvPr id="7" name="Rounded Rectangle 6"/>
          <p:cNvSpPr/>
          <p:nvPr/>
        </p:nvSpPr>
        <p:spPr>
          <a:xfrm>
            <a:off x="548640"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1,108 clean rows</a:t>
            </a:r>
          </a:p>
        </p:txBody>
      </p:sp>
      <p:sp>
        <p:nvSpPr>
          <p:cNvPr id="8" name="Right Arrow 7"/>
          <p:cNvSpPr/>
          <p:nvPr/>
        </p:nvSpPr>
        <p:spPr>
          <a:xfrm>
            <a:off x="302666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29000"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Keep rows with a real SGPA</a:t>
            </a:r>
          </a:p>
        </p:txBody>
      </p:sp>
      <p:sp>
        <p:nvSpPr>
          <p:cNvPr id="10" name="Right Arrow 9"/>
          <p:cNvSpPr/>
          <p:nvPr/>
        </p:nvSpPr>
        <p:spPr>
          <a:xfrm>
            <a:off x="590702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09359" y="1371600"/>
            <a:ext cx="242316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0B0B0B"/>
                </a:solidFill>
                <a:latin typeface="Helvetica Neue"/>
              </a:rPr>
              <a:t>Check SGPA vs CGPA</a:t>
            </a:r>
          </a:p>
        </p:txBody>
      </p:sp>
      <p:sp>
        <p:nvSpPr>
          <p:cNvPr id="12" name="Right Arrow 11"/>
          <p:cNvSpPr/>
          <p:nvPr/>
        </p:nvSpPr>
        <p:spPr>
          <a:xfrm>
            <a:off x="8787384" y="1650492"/>
            <a:ext cx="347472"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89719" y="1371600"/>
            <a:ext cx="2423160" cy="8686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800" b="0">
                <a:solidFill>
                  <a:srgbClr val="FFFFFF"/>
                </a:solidFill>
                <a:latin typeface="Helvetica Neue"/>
              </a:rPr>
              <a:t>920 final rows</a:t>
            </a:r>
          </a:p>
        </p:txBody>
      </p:sp>
      <p:sp>
        <p:nvSpPr>
          <p:cNvPr id="16" name="Rounded Rectangle 15"/>
          <p:cNvSpPr/>
          <p:nvPr/>
        </p:nvSpPr>
        <p:spPr>
          <a:xfrm>
            <a:off x="3398520" y="258318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6 rows with no real SGPA</a:t>
            </a:r>
          </a:p>
        </p:txBody>
      </p:sp>
      <p:sp>
        <p:nvSpPr>
          <p:cNvPr id="17" name="Right Arrow 16"/>
          <p:cNvSpPr/>
          <p:nvPr/>
        </p:nvSpPr>
        <p:spPr>
          <a:xfrm>
            <a:off x="5702808" y="273862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096000" y="258318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removed</a:t>
            </a:r>
          </a:p>
        </p:txBody>
      </p:sp>
      <p:sp>
        <p:nvSpPr>
          <p:cNvPr id="19" name="Rounded Rectangle 18"/>
          <p:cNvSpPr/>
          <p:nvPr/>
        </p:nvSpPr>
        <p:spPr>
          <a:xfrm>
            <a:off x="3398520" y="3314699"/>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455 answers from 6–7 Aug</a:t>
            </a:r>
          </a:p>
        </p:txBody>
      </p:sp>
      <p:sp>
        <p:nvSpPr>
          <p:cNvPr id="20" name="Right Arrow 19"/>
          <p:cNvSpPr/>
          <p:nvPr/>
        </p:nvSpPr>
        <p:spPr>
          <a:xfrm>
            <a:off x="5702808" y="3470147"/>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096000" y="3314699"/>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checked</a:t>
            </a:r>
          </a:p>
        </p:txBody>
      </p:sp>
      <p:sp>
        <p:nvSpPr>
          <p:cNvPr id="22" name="Rounded Rectangle 21"/>
          <p:cNvSpPr/>
          <p:nvPr/>
        </p:nvSpPr>
        <p:spPr>
          <a:xfrm>
            <a:off x="3398520" y="404622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273 with a gap of 0–1 band</a:t>
            </a:r>
          </a:p>
        </p:txBody>
      </p:sp>
      <p:sp>
        <p:nvSpPr>
          <p:cNvPr id="23" name="Right Arrow 22"/>
          <p:cNvSpPr/>
          <p:nvPr/>
        </p:nvSpPr>
        <p:spPr>
          <a:xfrm>
            <a:off x="5702808" y="420166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096000" y="404622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kept</a:t>
            </a:r>
          </a:p>
        </p:txBody>
      </p:sp>
      <p:sp>
        <p:nvSpPr>
          <p:cNvPr id="25" name="Rounded Rectangle 24"/>
          <p:cNvSpPr/>
          <p:nvPr/>
        </p:nvSpPr>
        <p:spPr>
          <a:xfrm>
            <a:off x="3398520" y="477774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182 with a gap of 2–3 bands</a:t>
            </a:r>
          </a:p>
        </p:txBody>
      </p:sp>
      <p:sp>
        <p:nvSpPr>
          <p:cNvPr id="26" name="Right Arrow 25"/>
          <p:cNvSpPr/>
          <p:nvPr/>
        </p:nvSpPr>
        <p:spPr>
          <a:xfrm>
            <a:off x="5702808" y="493318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096000" y="477774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removed</a:t>
            </a:r>
          </a:p>
        </p:txBody>
      </p:sp>
      <p:sp>
        <p:nvSpPr>
          <p:cNvPr id="28" name="Rounded Rectangle 27"/>
          <p:cNvSpPr/>
          <p:nvPr/>
        </p:nvSpPr>
        <p:spPr>
          <a:xfrm>
            <a:off x="3398520" y="5509260"/>
            <a:ext cx="224028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300" b="0">
                <a:solidFill>
                  <a:srgbClr val="0B0B0B"/>
                </a:solidFill>
                <a:latin typeface="Helvetica Neue"/>
              </a:rPr>
              <a:t>Result satisfaction question</a:t>
            </a:r>
          </a:p>
        </p:txBody>
      </p:sp>
      <p:sp>
        <p:nvSpPr>
          <p:cNvPr id="29" name="Right Arrow 28"/>
          <p:cNvSpPr/>
          <p:nvPr/>
        </p:nvSpPr>
        <p:spPr>
          <a:xfrm>
            <a:off x="5702808" y="5664708"/>
            <a:ext cx="320040" cy="274320"/>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096000" y="5509260"/>
            <a:ext cx="169164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not used (subjective)</a:t>
            </a:r>
          </a:p>
        </p:txBody>
      </p:sp>
      <p:sp>
        <p:nvSpPr>
          <p:cNvPr id="31" name="SimpleLightSectionLabel">
            <a:extLst>
              <a:ext uri="{FF2B5EF4-FFF2-40B4-BE49-F238E27FC236}">
                <a16:creationId xmlns:a16="http://schemas.microsoft.com/office/drawing/2014/main" id="{16D00B4D-C329-4096-AC1E-2347D7797641}"/>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 CHECK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26375-1DA6-14F5-5A90-F0927A843D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81EAE2-62EB-02C5-0390-46D7C67E3FD2}"/>
              </a:ext>
            </a:extLst>
          </p:cNvPr>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48BBED9-97FD-9723-A046-9074FE07A0A1}"/>
              </a:ext>
            </a:extLst>
          </p:cNvPr>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REFERENCE DATASET</a:t>
            </a:r>
          </a:p>
        </p:txBody>
      </p:sp>
      <p:sp>
        <p:nvSpPr>
          <p:cNvPr id="4" name="TextBox 3">
            <a:extLst>
              <a:ext uri="{FF2B5EF4-FFF2-40B4-BE49-F238E27FC236}">
                <a16:creationId xmlns:a16="http://schemas.microsoft.com/office/drawing/2014/main" id="{DC89AEF4-BCA8-02C6-CB10-DB5F126131B6}"/>
              </a:ext>
            </a:extLst>
          </p:cNvPr>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Do Existing Student Datasets Look Like?</a:t>
            </a:r>
          </a:p>
        </p:txBody>
      </p:sp>
      <p:sp>
        <p:nvSpPr>
          <p:cNvPr id="5" name="TextBox 4">
            <a:extLst>
              <a:ext uri="{FF2B5EF4-FFF2-40B4-BE49-F238E27FC236}">
                <a16:creationId xmlns:a16="http://schemas.microsoft.com/office/drawing/2014/main" id="{DA215944-9CAE-08CC-1EA5-1707342C6A3C}"/>
              </a:ext>
            </a:extLst>
          </p:cNvPr>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a:extLst>
              <a:ext uri="{FF2B5EF4-FFF2-40B4-BE49-F238E27FC236}">
                <a16:creationId xmlns:a16="http://schemas.microsoft.com/office/drawing/2014/main" id="{E0D0E04E-3788-3637-D7E9-38DB61A9EC77}"/>
              </a:ext>
            </a:extLst>
          </p:cNvPr>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12</a:t>
            </a:r>
          </a:p>
        </p:txBody>
      </p:sp>
      <p:pic>
        <p:nvPicPr>
          <p:cNvPr id="7" name="Picture 6" descr="reference_mendeley_page.png">
            <a:extLst>
              <a:ext uri="{FF2B5EF4-FFF2-40B4-BE49-F238E27FC236}">
                <a16:creationId xmlns:a16="http://schemas.microsoft.com/office/drawing/2014/main" id="{BF01FA7E-4E38-125C-63B7-8D0B1E8F7AC1}"/>
              </a:ext>
            </a:extLst>
          </p:cNvPr>
          <p:cNvPicPr>
            <a:picLocks noChangeAspect="1"/>
          </p:cNvPicPr>
          <p:nvPr/>
        </p:nvPicPr>
        <p:blipFill>
          <a:blip r:embed="rId3"/>
          <a:stretch>
            <a:fillRect/>
          </a:stretch>
        </p:blipFill>
        <p:spPr>
          <a:xfrm>
            <a:off x="1552847" y="1252728"/>
            <a:ext cx="7677323" cy="5058265"/>
          </a:xfrm>
          <a:prstGeom prst="rect">
            <a:avLst/>
          </a:prstGeom>
          <a:ln w="12700">
            <a:solidFill>
              <a:srgbClr val="DADCE0"/>
            </a:solidFill>
          </a:ln>
        </p:spPr>
      </p:pic>
      <p:sp>
        <p:nvSpPr>
          <p:cNvPr id="21" name="SimpleLightSectionLabel">
            <a:extLst>
              <a:ext uri="{FF2B5EF4-FFF2-40B4-BE49-F238E27FC236}">
                <a16:creationId xmlns:a16="http://schemas.microsoft.com/office/drawing/2014/main" id="{A5001518-F94E-304B-D926-32F4862E17B7}"/>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extLst>
      <p:ext uri="{BB962C8B-B14F-4D97-AF65-F5344CB8AC3E}">
        <p14:creationId xmlns:p14="http://schemas.microsoft.com/office/powerpoint/2010/main" val="4277598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REFERENCE DATASET</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Do Existing Student Datasets Look Like?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12</a:t>
            </a:r>
          </a:p>
        </p:txBody>
      </p:sp>
      <p:pic>
        <p:nvPicPr>
          <p:cNvPr id="8" name="Picture 7" descr="reference_dataset_preview_trim.png"/>
          <p:cNvPicPr>
            <a:picLocks noChangeAspect="1"/>
          </p:cNvPicPr>
          <p:nvPr/>
        </p:nvPicPr>
        <p:blipFill>
          <a:blip r:embed="rId3"/>
          <a:stretch>
            <a:fillRect/>
          </a:stretch>
        </p:blipFill>
        <p:spPr>
          <a:xfrm>
            <a:off x="191680" y="1206952"/>
            <a:ext cx="11979328" cy="3556363"/>
          </a:xfrm>
          <a:prstGeom prst="rect">
            <a:avLst/>
          </a:prstGeom>
          <a:ln w="12700">
            <a:solidFill>
              <a:srgbClr val="DADCE0"/>
            </a:solidFill>
          </a:ln>
        </p:spPr>
      </p:pic>
      <p:sp>
        <p:nvSpPr>
          <p:cNvPr id="9" name="Rounded Rectangle 8"/>
          <p:cNvSpPr/>
          <p:nvPr/>
        </p:nvSpPr>
        <p:spPr>
          <a:xfrm>
            <a:off x="548640"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894</a:t>
            </a:r>
          </a:p>
        </p:txBody>
      </p:sp>
      <p:sp>
        <p:nvSpPr>
          <p:cNvPr id="11" name="TextBox 10"/>
          <p:cNvSpPr txBox="1"/>
          <p:nvPr/>
        </p:nvSpPr>
        <p:spPr>
          <a:xfrm>
            <a:off x="685800"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IUBAT Computer Science students</a:t>
            </a:r>
          </a:p>
        </p:txBody>
      </p:sp>
      <p:sp>
        <p:nvSpPr>
          <p:cNvPr id="12" name="Rounded Rectangle 11"/>
          <p:cNvSpPr/>
          <p:nvPr/>
        </p:nvSpPr>
        <p:spPr>
          <a:xfrm>
            <a:off x="3364992"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31</a:t>
            </a:r>
          </a:p>
        </p:txBody>
      </p:sp>
      <p:sp>
        <p:nvSpPr>
          <p:cNvPr id="14" name="TextBox 13"/>
          <p:cNvSpPr txBox="1"/>
          <p:nvPr/>
        </p:nvSpPr>
        <p:spPr>
          <a:xfrm>
            <a:off x="3502152"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questions / columns</a:t>
            </a:r>
          </a:p>
        </p:txBody>
      </p:sp>
      <p:sp>
        <p:nvSpPr>
          <p:cNvPr id="15" name="Rounded Rectangle 14"/>
          <p:cNvSpPr/>
          <p:nvPr/>
        </p:nvSpPr>
        <p:spPr>
          <a:xfrm>
            <a:off x="6181344"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8504"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Numbers</a:t>
            </a:r>
          </a:p>
        </p:txBody>
      </p:sp>
      <p:sp>
        <p:nvSpPr>
          <p:cNvPr id="17" name="TextBox 16"/>
          <p:cNvSpPr txBox="1"/>
          <p:nvPr/>
        </p:nvSpPr>
        <p:spPr>
          <a:xfrm>
            <a:off x="6318504"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CGPA and SGPA typed as numbers</a:t>
            </a:r>
          </a:p>
        </p:txBody>
      </p:sp>
      <p:sp>
        <p:nvSpPr>
          <p:cNvPr id="18" name="Rounded Rectangle 17"/>
          <p:cNvSpPr/>
          <p:nvPr/>
        </p:nvSpPr>
        <p:spPr>
          <a:xfrm>
            <a:off x="8997696" y="5257800"/>
            <a:ext cx="2651760" cy="10058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34856" y="5367528"/>
            <a:ext cx="2377440" cy="553212"/>
          </a:xfrm>
          <a:prstGeom prst="rect">
            <a:avLst/>
          </a:prstGeom>
          <a:noFill/>
        </p:spPr>
        <p:txBody>
          <a:bodyPr wrap="square" lIns="27432" tIns="27432" rIns="27432" bIns="27432" anchor="ctr">
            <a:noAutofit/>
          </a:bodyPr>
          <a:lstStyle/>
          <a:p>
            <a:pPr algn="l">
              <a:lnSpc>
                <a:spcPct val="105000"/>
              </a:lnSpc>
            </a:pPr>
            <a:r>
              <a:rPr sz="2400" b="1">
                <a:solidFill>
                  <a:srgbClr val="2A78D6"/>
                </a:solidFill>
                <a:latin typeface="Helvetica Neue"/>
              </a:rPr>
              <a:t>4 levels</a:t>
            </a:r>
          </a:p>
        </p:txBody>
      </p:sp>
      <p:sp>
        <p:nvSpPr>
          <p:cNvPr id="20" name="TextBox 19"/>
          <p:cNvSpPr txBox="1"/>
          <p:nvPr/>
        </p:nvSpPr>
        <p:spPr>
          <a:xfrm>
            <a:off x="9134856" y="5841187"/>
            <a:ext cx="2377440" cy="402336"/>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performance category in classified copy</a:t>
            </a:r>
          </a:p>
        </p:txBody>
      </p:sp>
      <p:sp>
        <p:nvSpPr>
          <p:cNvPr id="21" name="SimpleLightSectionLabel">
            <a:extLst>
              <a:ext uri="{FF2B5EF4-FFF2-40B4-BE49-F238E27FC236}">
                <a16:creationId xmlns:a16="http://schemas.microsoft.com/office/drawing/2014/main" id="{0B5AB749-72D2-42EE-9E72-A5C125C0773B}"/>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REFERENCE DATASET</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Is Similar and What Did We Add?</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13</a:t>
            </a:r>
          </a:p>
        </p:txBody>
      </p:sp>
      <p:pic>
        <p:nvPicPr>
          <p:cNvPr id="7" name="Picture 6" descr="reference_vs_ours.png"/>
          <p:cNvPicPr>
            <a:picLocks noChangeAspect="1"/>
          </p:cNvPicPr>
          <p:nvPr/>
        </p:nvPicPr>
        <p:blipFill>
          <a:blip r:embed="rId3"/>
          <a:stretch>
            <a:fillRect/>
          </a:stretch>
        </p:blipFill>
        <p:spPr>
          <a:xfrm>
            <a:off x="548640" y="1483146"/>
            <a:ext cx="6949440" cy="4623226"/>
          </a:xfrm>
          <a:prstGeom prst="rect">
            <a:avLst/>
          </a:prstGeom>
        </p:spPr>
      </p:pic>
      <p:sp>
        <p:nvSpPr>
          <p:cNvPr id="8" name="Rounded Rectangle 7"/>
          <p:cNvSpPr/>
          <p:nvPr/>
        </p:nvSpPr>
        <p:spPr>
          <a:xfrm>
            <a:off x="7772400" y="1371600"/>
            <a:ext cx="1874519"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481328"/>
            <a:ext cx="1600199" cy="678942"/>
          </a:xfrm>
          <a:prstGeom prst="rect">
            <a:avLst/>
          </a:prstGeom>
          <a:noFill/>
        </p:spPr>
        <p:txBody>
          <a:bodyPr wrap="square" lIns="27432" tIns="27432" rIns="27432" bIns="27432" anchor="ctr">
            <a:noAutofit/>
          </a:bodyPr>
          <a:lstStyle/>
          <a:p>
            <a:pPr algn="l">
              <a:lnSpc>
                <a:spcPct val="105000"/>
              </a:lnSpc>
            </a:pPr>
            <a:r>
              <a:rPr sz="3600" b="1">
                <a:solidFill>
                  <a:srgbClr val="2A78D6"/>
                </a:solidFill>
                <a:latin typeface="Helvetica Neue"/>
              </a:rPr>
              <a:t>7</a:t>
            </a:r>
          </a:p>
        </p:txBody>
      </p:sp>
      <p:sp>
        <p:nvSpPr>
          <p:cNvPr id="10" name="TextBox 9"/>
          <p:cNvSpPr txBox="1"/>
          <p:nvPr/>
        </p:nvSpPr>
        <p:spPr>
          <a:xfrm>
            <a:off x="7909560" y="2087575"/>
            <a:ext cx="1600199" cy="49377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asked in both</a:t>
            </a:r>
          </a:p>
        </p:txBody>
      </p:sp>
      <p:sp>
        <p:nvSpPr>
          <p:cNvPr id="11" name="Rounded Rectangle 10"/>
          <p:cNvSpPr/>
          <p:nvPr/>
        </p:nvSpPr>
        <p:spPr>
          <a:xfrm>
            <a:off x="9738360" y="1371600"/>
            <a:ext cx="1874519" cy="12344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0" y="1481328"/>
            <a:ext cx="1600199" cy="678942"/>
          </a:xfrm>
          <a:prstGeom prst="rect">
            <a:avLst/>
          </a:prstGeom>
          <a:noFill/>
        </p:spPr>
        <p:txBody>
          <a:bodyPr wrap="square" lIns="27432" tIns="27432" rIns="27432" bIns="27432" anchor="ctr">
            <a:noAutofit/>
          </a:bodyPr>
          <a:lstStyle/>
          <a:p>
            <a:pPr algn="l">
              <a:lnSpc>
                <a:spcPct val="105000"/>
              </a:lnSpc>
            </a:pPr>
            <a:r>
              <a:rPr sz="3600" b="1">
                <a:solidFill>
                  <a:srgbClr val="5598E7"/>
                </a:solidFill>
                <a:latin typeface="Helvetica Neue"/>
              </a:rPr>
              <a:t>4</a:t>
            </a:r>
          </a:p>
        </p:txBody>
      </p:sp>
      <p:sp>
        <p:nvSpPr>
          <p:cNvPr id="13" name="TextBox 12"/>
          <p:cNvSpPr txBox="1"/>
          <p:nvPr/>
        </p:nvSpPr>
        <p:spPr>
          <a:xfrm>
            <a:off x="9875520" y="2087575"/>
            <a:ext cx="1600199" cy="49377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similar idea</a:t>
            </a:r>
          </a:p>
        </p:txBody>
      </p:sp>
      <p:sp>
        <p:nvSpPr>
          <p:cNvPr id="14" name="Rounded Rectangle 13"/>
          <p:cNvSpPr/>
          <p:nvPr/>
        </p:nvSpPr>
        <p:spPr>
          <a:xfrm>
            <a:off x="7772400" y="2788920"/>
            <a:ext cx="3840480" cy="2377440"/>
          </a:xfrm>
          <a:prstGeom prst="roundRect">
            <a:avLst>
              <a:gd name="adj" fmla="val 8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79" y="2880360"/>
            <a:ext cx="3566160" cy="457200"/>
          </a:xfrm>
          <a:prstGeom prst="rect">
            <a:avLst/>
          </a:prstGeom>
          <a:noFill/>
        </p:spPr>
        <p:txBody>
          <a:bodyPr wrap="square" lIns="27432" tIns="27432" rIns="27432" bIns="27432" anchor="t">
            <a:noAutofit/>
          </a:bodyPr>
          <a:lstStyle/>
          <a:p>
            <a:pPr algn="l">
              <a:lnSpc>
                <a:spcPct val="105000"/>
              </a:lnSpc>
            </a:pPr>
            <a:r>
              <a:rPr sz="2000" b="1">
                <a:solidFill>
                  <a:srgbClr val="0E7A52"/>
                </a:solidFill>
                <a:latin typeface="Helvetica Neue"/>
              </a:rPr>
              <a:t>6 added in our survey</a:t>
            </a:r>
          </a:p>
        </p:txBody>
      </p:sp>
      <p:sp>
        <p:nvSpPr>
          <p:cNvPr id="16" name="TextBox 15"/>
          <p:cNvSpPr txBox="1"/>
          <p:nvPr/>
        </p:nvSpPr>
        <p:spPr>
          <a:xfrm>
            <a:off x="7955279" y="3383280"/>
            <a:ext cx="3566160" cy="1737360"/>
          </a:xfrm>
          <a:prstGeom prst="rect">
            <a:avLst/>
          </a:prstGeom>
          <a:noFill/>
        </p:spPr>
        <p:txBody>
          <a:bodyPr wrap="square" lIns="27432" tIns="27432" rIns="27432" bIns="27432" anchor="t">
            <a:noAutofit/>
          </a:bodyPr>
          <a:lstStyle/>
          <a:p>
            <a:pPr algn="l">
              <a:lnSpc>
                <a:spcPct val="105000"/>
              </a:lnSpc>
            </a:pPr>
            <a:r>
              <a:rPr sz="1500" b="0">
                <a:solidFill>
                  <a:srgbClr val="0B0B0B"/>
                </a:solidFill>
                <a:latin typeface="Helvetica Neue"/>
              </a:rPr>
              <a:t>• Stress</a:t>
            </a:r>
          </a:p>
          <a:p>
            <a:pPr algn="l">
              <a:lnSpc>
                <a:spcPct val="105000"/>
              </a:lnSpc>
            </a:pPr>
            <a:r>
              <a:rPr sz="1500" b="0">
                <a:solidFill>
                  <a:srgbClr val="0B0B0B"/>
                </a:solidFill>
                <a:latin typeface="Helvetica Neue"/>
              </a:rPr>
              <a:t>• Sleep</a:t>
            </a:r>
          </a:p>
          <a:p>
            <a:pPr algn="l">
              <a:lnSpc>
                <a:spcPct val="105000"/>
              </a:lnSpc>
            </a:pPr>
            <a:r>
              <a:rPr sz="1500" b="0">
                <a:solidFill>
                  <a:srgbClr val="0B0B0B"/>
                </a:solidFill>
                <a:latin typeface="Helvetica Neue"/>
              </a:rPr>
              <a:t>• Topic clear after class</a:t>
            </a:r>
          </a:p>
          <a:p>
            <a:pPr algn="l">
              <a:lnSpc>
                <a:spcPct val="105000"/>
              </a:lnSpc>
            </a:pPr>
            <a:r>
              <a:rPr sz="1500" b="0">
                <a:solidFill>
                  <a:srgbClr val="0B0B0B"/>
                </a:solidFill>
                <a:latin typeface="Helvetica Neue"/>
              </a:rPr>
              <a:t>• Got desired department</a:t>
            </a:r>
          </a:p>
          <a:p>
            <a:pPr algn="l">
              <a:lnSpc>
                <a:spcPct val="105000"/>
              </a:lnSpc>
            </a:pPr>
            <a:r>
              <a:rPr sz="1500" b="0">
                <a:solidFill>
                  <a:srgbClr val="0B0B0B"/>
                </a:solidFill>
                <a:latin typeface="Helvetica Neue"/>
              </a:rPr>
              <a:t>• Routine manageable</a:t>
            </a:r>
          </a:p>
          <a:p>
            <a:pPr algn="l">
              <a:lnSpc>
                <a:spcPct val="105000"/>
              </a:lnSpc>
            </a:pPr>
            <a:r>
              <a:rPr sz="1500" b="0">
                <a:solidFill>
                  <a:srgbClr val="0B0B0B"/>
                </a:solidFill>
                <a:latin typeface="Helvetica Neue"/>
              </a:rPr>
              <a:t>• Career expectation</a:t>
            </a:r>
          </a:p>
        </p:txBody>
      </p:sp>
      <p:sp>
        <p:nvSpPr>
          <p:cNvPr id="17" name="Rounded Rectangle 16"/>
          <p:cNvSpPr/>
          <p:nvPr/>
        </p:nvSpPr>
        <p:spPr>
          <a:xfrm>
            <a:off x="7772400" y="5349240"/>
            <a:ext cx="3840480" cy="86868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0">
                <a:solidFill>
                  <a:srgbClr val="52514E"/>
                </a:solidFill>
                <a:latin typeface="Helvetica Neue"/>
              </a:rPr>
              <a:t>Reference stores exact numeric CGPA / SGPA; our form uses bands (C0–C3)</a:t>
            </a:r>
          </a:p>
        </p:txBody>
      </p:sp>
      <p:sp>
        <p:nvSpPr>
          <p:cNvPr id="18" name="SimpleLightSectionLabel">
            <a:extLst>
              <a:ext uri="{FF2B5EF4-FFF2-40B4-BE49-F238E27FC236}">
                <a16:creationId xmlns:a16="http://schemas.microsoft.com/office/drawing/2014/main" id="{55159DB4-938C-49DA-A3BA-F7020AC70E78}"/>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DATASET STATISTICS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dirty="0">
                <a:solidFill>
                  <a:srgbClr val="121212"/>
                </a:solidFill>
                <a:latin typeface="OpenAI Sans" panose="020B0604020202020204" charset="0"/>
              </a:rPr>
              <a:t>Wh</a:t>
            </a:r>
            <a:r>
              <a:rPr lang="en-US" sz="3200" b="1" dirty="0">
                <a:solidFill>
                  <a:srgbClr val="121212"/>
                </a:solidFill>
                <a:latin typeface="OpenAI Sans" panose="020B0604020202020204" charset="0"/>
              </a:rPr>
              <a:t>ich universities are </a:t>
            </a:r>
            <a:r>
              <a:rPr sz="3200" b="1" dirty="0">
                <a:solidFill>
                  <a:srgbClr val="121212"/>
                </a:solidFill>
                <a:latin typeface="OpenAI Sans" panose="020B0604020202020204" charset="0"/>
              </a:rPr>
              <a:t>in the Dataset?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16</a:t>
            </a:r>
          </a:p>
        </p:txBody>
      </p:sp>
      <p:pic>
        <p:nvPicPr>
          <p:cNvPr id="7" name="Picture 6" descr="rc_university.png"/>
          <p:cNvPicPr>
            <a:picLocks noChangeAspect="1"/>
          </p:cNvPicPr>
          <p:nvPr/>
        </p:nvPicPr>
        <p:blipFill>
          <a:blip r:embed="rId3"/>
          <a:stretch>
            <a:fillRect/>
          </a:stretch>
        </p:blipFill>
        <p:spPr>
          <a:xfrm>
            <a:off x="548640" y="1447518"/>
            <a:ext cx="6583680" cy="4603043"/>
          </a:xfrm>
          <a:prstGeom prst="rect">
            <a:avLst/>
          </a:prstGeom>
        </p:spPr>
      </p:pic>
      <p:sp>
        <p:nvSpPr>
          <p:cNvPr id="8" name="Rounded Rectangle 7"/>
          <p:cNvSpPr/>
          <p:nvPr/>
        </p:nvSpPr>
        <p:spPr>
          <a:xfrm>
            <a:off x="7498079" y="1463040"/>
            <a:ext cx="4114800" cy="182880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5240" y="1572768"/>
            <a:ext cx="3840480" cy="1005840"/>
          </a:xfrm>
          <a:prstGeom prst="rect">
            <a:avLst/>
          </a:prstGeom>
          <a:noFill/>
        </p:spPr>
        <p:txBody>
          <a:bodyPr wrap="square" lIns="27432" tIns="27432" rIns="27432" bIns="27432" anchor="ctr">
            <a:noAutofit/>
          </a:bodyPr>
          <a:lstStyle/>
          <a:p>
            <a:pPr algn="l">
              <a:lnSpc>
                <a:spcPct val="105000"/>
              </a:lnSpc>
            </a:pPr>
            <a:r>
              <a:rPr sz="5400" b="1">
                <a:solidFill>
                  <a:srgbClr val="2A78D6"/>
                </a:solidFill>
                <a:latin typeface="Helvetica Neue"/>
              </a:rPr>
              <a:t>920</a:t>
            </a:r>
          </a:p>
        </p:txBody>
      </p:sp>
      <p:sp>
        <p:nvSpPr>
          <p:cNvPr id="10" name="TextBox 9"/>
          <p:cNvSpPr txBox="1"/>
          <p:nvPr/>
        </p:nvSpPr>
        <p:spPr>
          <a:xfrm>
            <a:off x="7635240" y="2523744"/>
            <a:ext cx="3840480" cy="731520"/>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students in the final dataset</a:t>
            </a:r>
          </a:p>
        </p:txBody>
      </p:sp>
      <p:sp>
        <p:nvSpPr>
          <p:cNvPr id="12" name="SimpleLightSectionLabel">
            <a:extLst>
              <a:ext uri="{FF2B5EF4-FFF2-40B4-BE49-F238E27FC236}">
                <a16:creationId xmlns:a16="http://schemas.microsoft.com/office/drawing/2014/main" id="{33794158-D503-45D4-A483-B776399FD11C}"/>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DATASET STATISTICS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dirty="0">
                <a:solidFill>
                  <a:srgbClr val="121212"/>
                </a:solidFill>
                <a:latin typeface="OpenAI Sans" panose="020B0604020202020204" charset="0"/>
              </a:rPr>
              <a:t>We Predict</a:t>
            </a:r>
            <a:r>
              <a:rPr lang="en-US" sz="3200" b="1" dirty="0">
                <a:solidFill>
                  <a:srgbClr val="121212"/>
                </a:solidFill>
                <a:latin typeface="OpenAI Sans" panose="020B0604020202020204" charset="0"/>
              </a:rPr>
              <a:t>ed</a:t>
            </a:r>
            <a:r>
              <a:rPr sz="3200" b="1" dirty="0">
                <a:solidFill>
                  <a:srgbClr val="121212"/>
                </a:solidFill>
                <a:latin typeface="OpenAI Sans" panose="020B0604020202020204" charset="0"/>
              </a:rPr>
              <a:t> Four CGPA Groups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17</a:t>
            </a:r>
          </a:p>
        </p:txBody>
      </p:sp>
      <p:sp>
        <p:nvSpPr>
          <p:cNvPr id="7" name="Rounded Rectangle 6"/>
          <p:cNvSpPr/>
          <p:nvPr/>
        </p:nvSpPr>
        <p:spPr>
          <a:xfrm>
            <a:off x="548640" y="1463040"/>
            <a:ext cx="2651760" cy="3566160"/>
          </a:xfrm>
          <a:prstGeom prst="roundRect">
            <a:avLst>
              <a:gd name="adj" fmla="val 8000"/>
            </a:avLst>
          </a:prstGeom>
          <a:solidFill>
            <a:srgbClr val="A8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C0</a:t>
            </a:r>
          </a:p>
        </p:txBody>
      </p:sp>
      <p:sp>
        <p:nvSpPr>
          <p:cNvPr id="9" name="TextBox 8"/>
          <p:cNvSpPr txBox="1"/>
          <p:nvPr/>
        </p:nvSpPr>
        <p:spPr>
          <a:xfrm>
            <a:off x="548640"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below 3.20</a:t>
            </a:r>
          </a:p>
        </p:txBody>
      </p:sp>
      <p:sp>
        <p:nvSpPr>
          <p:cNvPr id="10" name="TextBox 9"/>
          <p:cNvSpPr txBox="1"/>
          <p:nvPr/>
        </p:nvSpPr>
        <p:spPr>
          <a:xfrm>
            <a:off x="548640"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182</a:t>
            </a:r>
          </a:p>
        </p:txBody>
      </p:sp>
      <p:sp>
        <p:nvSpPr>
          <p:cNvPr id="11" name="TextBox 10"/>
          <p:cNvSpPr txBox="1"/>
          <p:nvPr/>
        </p:nvSpPr>
        <p:spPr>
          <a:xfrm>
            <a:off x="548640"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19.8%</a:t>
            </a:r>
          </a:p>
        </p:txBody>
      </p:sp>
      <p:sp>
        <p:nvSpPr>
          <p:cNvPr id="12" name="Rounded Rectangle 11"/>
          <p:cNvSpPr/>
          <p:nvPr/>
        </p:nvSpPr>
        <p:spPr>
          <a:xfrm>
            <a:off x="3364992" y="1463040"/>
            <a:ext cx="2651760" cy="3566160"/>
          </a:xfrm>
          <a:prstGeom prst="roundRect">
            <a:avLst>
              <a:gd name="adj" fmla="val 8000"/>
            </a:avLst>
          </a:prstGeom>
          <a:solidFill>
            <a:srgbClr val="E070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64992"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C1</a:t>
            </a:r>
          </a:p>
        </p:txBody>
      </p:sp>
      <p:sp>
        <p:nvSpPr>
          <p:cNvPr id="14" name="TextBox 13"/>
          <p:cNvSpPr txBox="1"/>
          <p:nvPr/>
        </p:nvSpPr>
        <p:spPr>
          <a:xfrm>
            <a:off x="3364992"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3.20 to 3.49</a:t>
            </a:r>
          </a:p>
        </p:txBody>
      </p:sp>
      <p:sp>
        <p:nvSpPr>
          <p:cNvPr id="15" name="TextBox 14"/>
          <p:cNvSpPr txBox="1"/>
          <p:nvPr/>
        </p:nvSpPr>
        <p:spPr>
          <a:xfrm>
            <a:off x="3364992"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284</a:t>
            </a:r>
          </a:p>
        </p:txBody>
      </p:sp>
      <p:sp>
        <p:nvSpPr>
          <p:cNvPr id="16" name="TextBox 15"/>
          <p:cNvSpPr txBox="1"/>
          <p:nvPr/>
        </p:nvSpPr>
        <p:spPr>
          <a:xfrm>
            <a:off x="3364992"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30.9%</a:t>
            </a:r>
          </a:p>
        </p:txBody>
      </p:sp>
      <p:sp>
        <p:nvSpPr>
          <p:cNvPr id="17" name="Rounded Rectangle 16"/>
          <p:cNvSpPr/>
          <p:nvPr/>
        </p:nvSpPr>
        <p:spPr>
          <a:xfrm>
            <a:off x="6181344" y="1463040"/>
            <a:ext cx="2651760" cy="3566160"/>
          </a:xfrm>
          <a:prstGeom prst="roundRect">
            <a:avLst>
              <a:gd name="adj" fmla="val 8000"/>
            </a:avLst>
          </a:prstGeom>
          <a:solidFill>
            <a:srgbClr val="4B8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C2</a:t>
            </a:r>
          </a:p>
        </p:txBody>
      </p:sp>
      <p:sp>
        <p:nvSpPr>
          <p:cNvPr id="19" name="TextBox 18"/>
          <p:cNvSpPr txBox="1"/>
          <p:nvPr/>
        </p:nvSpPr>
        <p:spPr>
          <a:xfrm>
            <a:off x="6181344"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3.50 to 3.74</a:t>
            </a:r>
          </a:p>
        </p:txBody>
      </p:sp>
      <p:sp>
        <p:nvSpPr>
          <p:cNvPr id="20" name="TextBox 19"/>
          <p:cNvSpPr txBox="1"/>
          <p:nvPr/>
        </p:nvSpPr>
        <p:spPr>
          <a:xfrm>
            <a:off x="6181344"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264</a:t>
            </a:r>
          </a:p>
        </p:txBody>
      </p:sp>
      <p:sp>
        <p:nvSpPr>
          <p:cNvPr id="21" name="TextBox 20"/>
          <p:cNvSpPr txBox="1"/>
          <p:nvPr/>
        </p:nvSpPr>
        <p:spPr>
          <a:xfrm>
            <a:off x="6181344"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28.7%</a:t>
            </a:r>
          </a:p>
        </p:txBody>
      </p:sp>
      <p:sp>
        <p:nvSpPr>
          <p:cNvPr id="22" name="Rounded Rectangle 21"/>
          <p:cNvSpPr/>
          <p:nvPr/>
        </p:nvSpPr>
        <p:spPr>
          <a:xfrm>
            <a:off x="8997696" y="1463040"/>
            <a:ext cx="2651760" cy="3566160"/>
          </a:xfrm>
          <a:prstGeom prst="roundRect">
            <a:avLst>
              <a:gd name="adj" fmla="val 8000"/>
            </a:avLst>
          </a:prstGeom>
          <a:solidFill>
            <a:srgbClr val="265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97696" y="1645920"/>
            <a:ext cx="2651760" cy="914400"/>
          </a:xfrm>
          <a:prstGeom prst="rect">
            <a:avLst/>
          </a:prstGeom>
          <a:noFill/>
        </p:spPr>
        <p:txBody>
          <a:bodyPr wrap="square" lIns="27432" tIns="27432" rIns="27432" bIns="27432" anchor="t">
            <a:noAutofit/>
          </a:bodyPr>
          <a:lstStyle/>
          <a:p>
            <a:pPr algn="ctr">
              <a:lnSpc>
                <a:spcPct val="105000"/>
              </a:lnSpc>
            </a:pPr>
            <a:r>
              <a:rPr sz="5400" b="1">
                <a:solidFill>
                  <a:srgbClr val="FFFFFF"/>
                </a:solidFill>
                <a:latin typeface="Helvetica Neue"/>
              </a:rPr>
              <a:t>C3</a:t>
            </a:r>
          </a:p>
        </p:txBody>
      </p:sp>
      <p:sp>
        <p:nvSpPr>
          <p:cNvPr id="24" name="TextBox 23"/>
          <p:cNvSpPr txBox="1"/>
          <p:nvPr/>
        </p:nvSpPr>
        <p:spPr>
          <a:xfrm>
            <a:off x="8997696" y="2606040"/>
            <a:ext cx="2651760" cy="457200"/>
          </a:xfrm>
          <a:prstGeom prst="rect">
            <a:avLst/>
          </a:prstGeom>
          <a:noFill/>
        </p:spPr>
        <p:txBody>
          <a:bodyPr wrap="square" lIns="27432" tIns="27432" rIns="27432" bIns="27432" anchor="t">
            <a:noAutofit/>
          </a:bodyPr>
          <a:lstStyle/>
          <a:p>
            <a:pPr algn="ctr">
              <a:lnSpc>
                <a:spcPct val="105000"/>
              </a:lnSpc>
            </a:pPr>
            <a:r>
              <a:rPr sz="1800" b="0">
                <a:solidFill>
                  <a:srgbClr val="FFFFFF"/>
                </a:solidFill>
                <a:latin typeface="Helvetica Neue"/>
              </a:rPr>
              <a:t>CGPA 3.75 and above</a:t>
            </a:r>
          </a:p>
        </p:txBody>
      </p:sp>
      <p:sp>
        <p:nvSpPr>
          <p:cNvPr id="25" name="TextBox 24"/>
          <p:cNvSpPr txBox="1"/>
          <p:nvPr/>
        </p:nvSpPr>
        <p:spPr>
          <a:xfrm>
            <a:off x="8997696" y="3337560"/>
            <a:ext cx="2651760" cy="640080"/>
          </a:xfrm>
          <a:prstGeom prst="rect">
            <a:avLst/>
          </a:prstGeom>
          <a:noFill/>
        </p:spPr>
        <p:txBody>
          <a:bodyPr wrap="square" lIns="27432" tIns="27432" rIns="27432" bIns="27432" anchor="t">
            <a:noAutofit/>
          </a:bodyPr>
          <a:lstStyle/>
          <a:p>
            <a:pPr algn="ctr">
              <a:lnSpc>
                <a:spcPct val="105000"/>
              </a:lnSpc>
            </a:pPr>
            <a:r>
              <a:rPr sz="4000" b="1">
                <a:solidFill>
                  <a:srgbClr val="FFFFFF"/>
                </a:solidFill>
                <a:latin typeface="Helvetica Neue"/>
              </a:rPr>
              <a:t>190</a:t>
            </a:r>
          </a:p>
        </p:txBody>
      </p:sp>
      <p:sp>
        <p:nvSpPr>
          <p:cNvPr id="26" name="TextBox 25"/>
          <p:cNvSpPr txBox="1"/>
          <p:nvPr/>
        </p:nvSpPr>
        <p:spPr>
          <a:xfrm>
            <a:off x="8997696" y="4023360"/>
            <a:ext cx="2651760" cy="457200"/>
          </a:xfrm>
          <a:prstGeom prst="rect">
            <a:avLst/>
          </a:prstGeom>
          <a:noFill/>
        </p:spPr>
        <p:txBody>
          <a:bodyPr wrap="square" lIns="27432" tIns="27432" rIns="27432" bIns="27432" anchor="t">
            <a:noAutofit/>
          </a:bodyPr>
          <a:lstStyle/>
          <a:p>
            <a:pPr algn="ctr">
              <a:lnSpc>
                <a:spcPct val="105000"/>
              </a:lnSpc>
            </a:pPr>
            <a:r>
              <a:rPr sz="1600" b="0">
                <a:solidFill>
                  <a:srgbClr val="FFFFFF"/>
                </a:solidFill>
                <a:latin typeface="Helvetica Neue"/>
              </a:rPr>
              <a:t>students · 20.7%</a:t>
            </a:r>
          </a:p>
        </p:txBody>
      </p:sp>
      <p:sp>
        <p:nvSpPr>
          <p:cNvPr id="27" name="Rounded Rectangle 26"/>
          <p:cNvSpPr/>
          <p:nvPr/>
        </p:nvSpPr>
        <p:spPr>
          <a:xfrm>
            <a:off x="548640" y="5349240"/>
            <a:ext cx="11064240" cy="8229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900" b="0">
                <a:solidFill>
                  <a:srgbClr val="0B0B0B"/>
                </a:solidFill>
                <a:latin typeface="Helvetica Neue"/>
              </a:rPr>
              <a:t>The form collected CGPA ranges, not exact numbers → a four-group classification problem.</a:t>
            </a:r>
          </a:p>
        </p:txBody>
      </p:sp>
      <p:sp>
        <p:nvSpPr>
          <p:cNvPr id="28" name="SimpleLightSectionLabel">
            <a:extLst>
              <a:ext uri="{FF2B5EF4-FFF2-40B4-BE49-F238E27FC236}">
                <a16:creationId xmlns:a16="http://schemas.microsoft.com/office/drawing/2014/main" id="{500E686E-E0EC-4E23-8E88-31D4A22E5B7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DATASET STATISTICS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Are Students Distributed Across CGPA Groups?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18</a:t>
            </a:r>
          </a:p>
        </p:txBody>
      </p:sp>
      <p:pic>
        <p:nvPicPr>
          <p:cNvPr id="7" name="Picture 6" descr="rc_cgpa.png"/>
          <p:cNvPicPr>
            <a:picLocks noChangeAspect="1"/>
          </p:cNvPicPr>
          <p:nvPr/>
        </p:nvPicPr>
        <p:blipFill>
          <a:blip r:embed="rId3"/>
          <a:stretch>
            <a:fillRect/>
          </a:stretch>
        </p:blipFill>
        <p:spPr>
          <a:xfrm>
            <a:off x="548640" y="1419467"/>
            <a:ext cx="6675120" cy="4659144"/>
          </a:xfrm>
          <a:prstGeom prst="rect">
            <a:avLst/>
          </a:prstGeom>
        </p:spPr>
      </p:pic>
      <p:sp>
        <p:nvSpPr>
          <p:cNvPr id="16" name="Rounded Rectangle 15"/>
          <p:cNvSpPr/>
          <p:nvPr/>
        </p:nvSpPr>
        <p:spPr>
          <a:xfrm>
            <a:off x="7498080" y="3552444"/>
            <a:ext cx="4114800" cy="594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dirty="0">
                <a:solidFill>
                  <a:srgbClr val="1F3B5C"/>
                </a:solidFill>
                <a:latin typeface="Helvetica Neue"/>
              </a:rPr>
              <a:t>Class shares are close enough for direct evaluation</a:t>
            </a:r>
          </a:p>
        </p:txBody>
      </p:sp>
      <p:sp>
        <p:nvSpPr>
          <p:cNvPr id="17" name="SimpleLightSectionLabel">
            <a:extLst>
              <a:ext uri="{FF2B5EF4-FFF2-40B4-BE49-F238E27FC236}">
                <a16:creationId xmlns:a16="http://schemas.microsoft.com/office/drawing/2014/main" id="{976BFE16-9B2A-457B-A5AC-DB9A73DAFDF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DATASET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Often Do Students Attend Classes?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19</a:t>
            </a:r>
          </a:p>
        </p:txBody>
      </p:sp>
      <p:pic>
        <p:nvPicPr>
          <p:cNvPr id="7" name="Picture 6" descr="rc_attendance.png"/>
          <p:cNvPicPr>
            <a:picLocks noChangeAspect="1"/>
          </p:cNvPicPr>
          <p:nvPr/>
        </p:nvPicPr>
        <p:blipFill>
          <a:blip r:embed="rId3"/>
          <a:stretch>
            <a:fillRect/>
          </a:stretch>
        </p:blipFill>
        <p:spPr>
          <a:xfrm>
            <a:off x="548640" y="1420280"/>
            <a:ext cx="6766560" cy="4703239"/>
          </a:xfrm>
          <a:prstGeom prst="rect">
            <a:avLst/>
          </a:prstGeom>
        </p:spPr>
      </p:pic>
      <p:sp>
        <p:nvSpPr>
          <p:cNvPr id="8" name="Rounded Rectangle 7"/>
          <p:cNvSpPr/>
          <p:nvPr/>
        </p:nvSpPr>
        <p:spPr>
          <a:xfrm>
            <a:off x="7635240" y="14173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15270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349 · 37.9%</a:t>
            </a:r>
          </a:p>
        </p:txBody>
      </p:sp>
      <p:sp>
        <p:nvSpPr>
          <p:cNvPr id="10" name="TextBox 9"/>
          <p:cNvSpPr txBox="1"/>
          <p:nvPr/>
        </p:nvSpPr>
        <p:spPr>
          <a:xfrm>
            <a:off x="7772400" y="22393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most common: 90% or more</a:t>
            </a:r>
          </a:p>
        </p:txBody>
      </p:sp>
      <p:sp>
        <p:nvSpPr>
          <p:cNvPr id="11" name="Rounded Rectangle 10"/>
          <p:cNvSpPr/>
          <p:nvPr/>
        </p:nvSpPr>
        <p:spPr>
          <a:xfrm>
            <a:off x="7635240" y="30175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31272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672 · 73.0%</a:t>
            </a:r>
          </a:p>
        </p:txBody>
      </p:sp>
      <p:sp>
        <p:nvSpPr>
          <p:cNvPr id="13" name="TextBox 12"/>
          <p:cNvSpPr txBox="1"/>
          <p:nvPr/>
        </p:nvSpPr>
        <p:spPr>
          <a:xfrm>
            <a:off x="7772400" y="38395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 75% or more</a:t>
            </a:r>
          </a:p>
        </p:txBody>
      </p:sp>
      <p:sp>
        <p:nvSpPr>
          <p:cNvPr id="14" name="Rounded Rectangle 13"/>
          <p:cNvSpPr/>
          <p:nvPr/>
        </p:nvSpPr>
        <p:spPr>
          <a:xfrm>
            <a:off x="7635240" y="46177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0" y="47274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25 · 2.7%</a:t>
            </a:r>
          </a:p>
        </p:txBody>
      </p:sp>
      <p:sp>
        <p:nvSpPr>
          <p:cNvPr id="16" name="TextBox 15"/>
          <p:cNvSpPr txBox="1"/>
          <p:nvPr/>
        </p:nvSpPr>
        <p:spPr>
          <a:xfrm>
            <a:off x="7772400" y="54397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attend below 60%</a:t>
            </a:r>
          </a:p>
        </p:txBody>
      </p:sp>
      <p:sp>
        <p:nvSpPr>
          <p:cNvPr id="17" name="SimpleLightSectionLabel">
            <a:extLst>
              <a:ext uri="{FF2B5EF4-FFF2-40B4-BE49-F238E27FC236}">
                <a16:creationId xmlns:a16="http://schemas.microsoft.com/office/drawing/2014/main" id="{1A6E1377-F8D2-489E-A4BA-DE4085875888}"/>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Much Time Do Students Study?</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20</a:t>
            </a:r>
          </a:p>
        </p:txBody>
      </p:sp>
      <p:pic>
        <p:nvPicPr>
          <p:cNvPr id="7" name="Picture 6" descr="rc_weekly_study_time.png"/>
          <p:cNvPicPr>
            <a:picLocks noChangeAspect="1"/>
          </p:cNvPicPr>
          <p:nvPr/>
        </p:nvPicPr>
        <p:blipFill>
          <a:blip r:embed="rId3"/>
          <a:stretch>
            <a:fillRect/>
          </a:stretch>
        </p:blipFill>
        <p:spPr>
          <a:xfrm>
            <a:off x="548640" y="1414371"/>
            <a:ext cx="6766560" cy="4715056"/>
          </a:xfrm>
          <a:prstGeom prst="rect">
            <a:avLst/>
          </a:prstGeom>
        </p:spPr>
      </p:pic>
      <p:sp>
        <p:nvSpPr>
          <p:cNvPr id="8" name="Rounded Rectangle 7"/>
          <p:cNvSpPr/>
          <p:nvPr/>
        </p:nvSpPr>
        <p:spPr>
          <a:xfrm>
            <a:off x="7635240" y="14173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15270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237 · 25.8%</a:t>
            </a:r>
          </a:p>
        </p:txBody>
      </p:sp>
      <p:sp>
        <p:nvSpPr>
          <p:cNvPr id="10" name="TextBox 9"/>
          <p:cNvSpPr txBox="1"/>
          <p:nvPr/>
        </p:nvSpPr>
        <p:spPr>
          <a:xfrm>
            <a:off x="7772400" y="22393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most common: 3–6 hrs a week</a:t>
            </a:r>
          </a:p>
        </p:txBody>
      </p:sp>
      <p:sp>
        <p:nvSpPr>
          <p:cNvPr id="11" name="Rounded Rectangle 10"/>
          <p:cNvSpPr/>
          <p:nvPr/>
        </p:nvSpPr>
        <p:spPr>
          <a:xfrm>
            <a:off x="7635240" y="30175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31272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194 · 21.1%</a:t>
            </a:r>
          </a:p>
        </p:txBody>
      </p:sp>
      <p:sp>
        <p:nvSpPr>
          <p:cNvPr id="13" name="TextBox 12"/>
          <p:cNvSpPr txBox="1"/>
          <p:nvPr/>
        </p:nvSpPr>
        <p:spPr>
          <a:xfrm>
            <a:off x="7772400" y="38395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study less than 3 hrs a week</a:t>
            </a:r>
          </a:p>
        </p:txBody>
      </p:sp>
      <p:sp>
        <p:nvSpPr>
          <p:cNvPr id="14" name="Rounded Rectangle 13"/>
          <p:cNvSpPr/>
          <p:nvPr/>
        </p:nvSpPr>
        <p:spPr>
          <a:xfrm>
            <a:off x="7635240" y="4617720"/>
            <a:ext cx="3977639" cy="14173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0" y="4727448"/>
            <a:ext cx="3703320" cy="779526"/>
          </a:xfrm>
          <a:prstGeom prst="rect">
            <a:avLst/>
          </a:prstGeom>
          <a:noFill/>
        </p:spPr>
        <p:txBody>
          <a:bodyPr wrap="square" lIns="27432" tIns="27432" rIns="27432" bIns="27432" anchor="ctr">
            <a:noAutofit/>
          </a:bodyPr>
          <a:lstStyle/>
          <a:p>
            <a:pPr algn="l">
              <a:lnSpc>
                <a:spcPct val="105000"/>
              </a:lnSpc>
            </a:pPr>
            <a:r>
              <a:rPr sz="3000" b="1">
                <a:solidFill>
                  <a:srgbClr val="2A78D6"/>
                </a:solidFill>
                <a:latin typeface="Helvetica Neue"/>
              </a:rPr>
              <a:t>272 · 29.6%</a:t>
            </a:r>
          </a:p>
        </p:txBody>
      </p:sp>
      <p:sp>
        <p:nvSpPr>
          <p:cNvPr id="16" name="TextBox 15"/>
          <p:cNvSpPr txBox="1"/>
          <p:nvPr/>
        </p:nvSpPr>
        <p:spPr>
          <a:xfrm>
            <a:off x="7772400" y="5439765"/>
            <a:ext cx="3703320" cy="566928"/>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study more than 10 hrs a week</a:t>
            </a:r>
          </a:p>
        </p:txBody>
      </p:sp>
      <p:sp>
        <p:nvSpPr>
          <p:cNvPr id="17" name="SimpleLightSectionLabel">
            <a:extLst>
              <a:ext uri="{FF2B5EF4-FFF2-40B4-BE49-F238E27FC236}">
                <a16:creationId xmlns:a16="http://schemas.microsoft.com/office/drawing/2014/main" id="{5A2AD51F-4B56-4579-98E6-39F417D1E3B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What Do Students Report About Stress and Sleep?</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21</a:t>
            </a:r>
          </a:p>
        </p:txBody>
      </p:sp>
      <p:sp>
        <p:nvSpPr>
          <p:cNvPr id="7" name="TextBox 6"/>
          <p:cNvSpPr txBox="1"/>
          <p:nvPr/>
        </p:nvSpPr>
        <p:spPr>
          <a:xfrm>
            <a:off x="548640"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Stress made studying difficult</a:t>
            </a:r>
          </a:p>
        </p:txBody>
      </p:sp>
      <p:pic>
        <p:nvPicPr>
          <p:cNvPr id="8" name="Picture 7" descr="rc_stress_frequency.png"/>
          <p:cNvPicPr>
            <a:picLocks noChangeAspect="1"/>
          </p:cNvPicPr>
          <p:nvPr/>
        </p:nvPicPr>
        <p:blipFill>
          <a:blip r:embed="rId3"/>
          <a:stretch>
            <a:fillRect/>
          </a:stretch>
        </p:blipFill>
        <p:spPr>
          <a:xfrm>
            <a:off x="650081" y="1783080"/>
            <a:ext cx="5192077" cy="3611880"/>
          </a:xfrm>
          <a:prstGeom prst="rect">
            <a:avLst/>
          </a:prstGeom>
        </p:spPr>
      </p:pic>
      <p:sp>
        <p:nvSpPr>
          <p:cNvPr id="9" name="Rounded Rectangle 8"/>
          <p:cNvSpPr/>
          <p:nvPr/>
        </p:nvSpPr>
        <p:spPr>
          <a:xfrm>
            <a:off x="548640"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Often + almost always: 376 students (40.9%)</a:t>
            </a:r>
          </a:p>
        </p:txBody>
      </p:sp>
      <p:sp>
        <p:nvSpPr>
          <p:cNvPr id="10" name="TextBox 9"/>
          <p:cNvSpPr txBox="1"/>
          <p:nvPr/>
        </p:nvSpPr>
        <p:spPr>
          <a:xfrm>
            <a:off x="6217919"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Sleep on a normal night</a:t>
            </a:r>
          </a:p>
        </p:txBody>
      </p:sp>
      <p:pic>
        <p:nvPicPr>
          <p:cNvPr id="11" name="Picture 10" descr="rc_sleep_duration.png"/>
          <p:cNvPicPr>
            <a:picLocks noChangeAspect="1"/>
          </p:cNvPicPr>
          <p:nvPr/>
        </p:nvPicPr>
        <p:blipFill>
          <a:blip r:embed="rId4"/>
          <a:stretch>
            <a:fillRect/>
          </a:stretch>
        </p:blipFill>
        <p:spPr>
          <a:xfrm>
            <a:off x="6323702" y="1783080"/>
            <a:ext cx="5183395" cy="3611880"/>
          </a:xfrm>
          <a:prstGeom prst="rect">
            <a:avLst/>
          </a:prstGeom>
        </p:spPr>
      </p:pic>
      <p:sp>
        <p:nvSpPr>
          <p:cNvPr id="12" name="Rounded Rectangle 11"/>
          <p:cNvSpPr/>
          <p:nvPr/>
        </p:nvSpPr>
        <p:spPr>
          <a:xfrm>
            <a:off x="6217919"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Under 6 hours: 408 students (44.3%)</a:t>
            </a:r>
          </a:p>
        </p:txBody>
      </p:sp>
      <p:sp>
        <p:nvSpPr>
          <p:cNvPr id="13" name="SimpleLightSectionLabel">
            <a:extLst>
              <a:ext uri="{FF2B5EF4-FFF2-40B4-BE49-F238E27FC236}">
                <a16:creationId xmlns:a16="http://schemas.microsoft.com/office/drawing/2014/main" id="{75ACC20C-A4DC-4FB9-82F3-E3C752A49FB5}"/>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Distraction and Outside Commitments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22</a:t>
            </a:r>
          </a:p>
        </p:txBody>
      </p:sp>
      <p:sp>
        <p:nvSpPr>
          <p:cNvPr id="7" name="TextBox 6"/>
          <p:cNvSpPr txBox="1"/>
          <p:nvPr/>
        </p:nvSpPr>
        <p:spPr>
          <a:xfrm>
            <a:off x="548640"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Phone / gaming / social media took study time</a:t>
            </a:r>
          </a:p>
        </p:txBody>
      </p:sp>
      <p:pic>
        <p:nvPicPr>
          <p:cNvPr id="8" name="Picture 7" descr="rc_distraction_frequency.png"/>
          <p:cNvPicPr>
            <a:picLocks noChangeAspect="1"/>
          </p:cNvPicPr>
          <p:nvPr/>
        </p:nvPicPr>
        <p:blipFill>
          <a:blip r:embed="rId3"/>
          <a:stretch>
            <a:fillRect/>
          </a:stretch>
        </p:blipFill>
        <p:spPr>
          <a:xfrm>
            <a:off x="665275" y="1783080"/>
            <a:ext cx="5161689" cy="3611880"/>
          </a:xfrm>
          <a:prstGeom prst="rect">
            <a:avLst/>
          </a:prstGeom>
        </p:spPr>
      </p:pic>
      <p:sp>
        <p:nvSpPr>
          <p:cNvPr id="9" name="Rounded Rectangle 8"/>
          <p:cNvSpPr/>
          <p:nvPr/>
        </p:nvSpPr>
        <p:spPr>
          <a:xfrm>
            <a:off x="548640"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Often + almost every day: 448 (48.7%)</a:t>
            </a:r>
          </a:p>
        </p:txBody>
      </p:sp>
      <p:sp>
        <p:nvSpPr>
          <p:cNvPr id="10" name="TextBox 9"/>
          <p:cNvSpPr txBox="1"/>
          <p:nvPr/>
        </p:nvSpPr>
        <p:spPr>
          <a:xfrm>
            <a:off x="6217919" y="1325880"/>
            <a:ext cx="5394959"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Outside commitments: tuition, job, club hours</a:t>
            </a:r>
          </a:p>
        </p:txBody>
      </p:sp>
      <p:pic>
        <p:nvPicPr>
          <p:cNvPr id="11" name="Picture 10" descr="rc_weekly_responsibilities.png"/>
          <p:cNvPicPr>
            <a:picLocks noChangeAspect="1"/>
          </p:cNvPicPr>
          <p:nvPr/>
        </p:nvPicPr>
        <p:blipFill>
          <a:blip r:embed="rId4"/>
          <a:stretch>
            <a:fillRect/>
          </a:stretch>
        </p:blipFill>
        <p:spPr>
          <a:xfrm>
            <a:off x="6323702" y="1783080"/>
            <a:ext cx="5183395" cy="3611880"/>
          </a:xfrm>
          <a:prstGeom prst="rect">
            <a:avLst/>
          </a:prstGeom>
        </p:spPr>
      </p:pic>
      <p:sp>
        <p:nvSpPr>
          <p:cNvPr id="12" name="Rounded Rectangle 11"/>
          <p:cNvSpPr/>
          <p:nvPr/>
        </p:nvSpPr>
        <p:spPr>
          <a:xfrm>
            <a:off x="6217919" y="5532120"/>
            <a:ext cx="5394959"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1">
                <a:solidFill>
                  <a:srgbClr val="1F3B5C"/>
                </a:solidFill>
                <a:latin typeface="Helvetica Neue"/>
              </a:rPr>
              <a:t>6 hours or more: 455 (49.5%)</a:t>
            </a:r>
          </a:p>
        </p:txBody>
      </p:sp>
      <p:sp>
        <p:nvSpPr>
          <p:cNvPr id="13" name="SimpleLightSectionLabel">
            <a:extLst>
              <a:ext uri="{FF2B5EF4-FFF2-40B4-BE49-F238E27FC236}">
                <a16:creationId xmlns:a16="http://schemas.microsoft.com/office/drawing/2014/main" id="{52D458FE-4F09-4454-ABF2-D85A1D91A22A}"/>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WHAT STUDENTS ANSWERED</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Motivation, Support and Study Environment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23</a:t>
            </a:r>
          </a:p>
        </p:txBody>
      </p:sp>
      <p:sp>
        <p:nvSpPr>
          <p:cNvPr id="7" name="TextBox 6"/>
          <p:cNvSpPr txBox="1"/>
          <p:nvPr/>
        </p:nvSpPr>
        <p:spPr>
          <a:xfrm>
            <a:off x="548640" y="1325880"/>
            <a:ext cx="3505200"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Got desired department</a:t>
            </a:r>
          </a:p>
        </p:txBody>
      </p:sp>
      <p:pic>
        <p:nvPicPr>
          <p:cNvPr id="8" name="Picture 7" descr="rc_desired_department_match_small.png"/>
          <p:cNvPicPr>
            <a:picLocks noChangeAspect="1"/>
          </p:cNvPicPr>
          <p:nvPr/>
        </p:nvPicPr>
        <p:blipFill>
          <a:blip r:embed="rId3"/>
          <a:stretch>
            <a:fillRect/>
          </a:stretch>
        </p:blipFill>
        <p:spPr>
          <a:xfrm>
            <a:off x="548640" y="1937631"/>
            <a:ext cx="3505200" cy="3348496"/>
          </a:xfrm>
          <a:prstGeom prst="rect">
            <a:avLst/>
          </a:prstGeom>
        </p:spPr>
      </p:pic>
      <p:sp>
        <p:nvSpPr>
          <p:cNvPr id="9" name="Rounded Rectangle 8"/>
          <p:cNvSpPr/>
          <p:nvPr/>
        </p:nvSpPr>
        <p:spPr>
          <a:xfrm>
            <a:off x="548640" y="5532120"/>
            <a:ext cx="350520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Exactly what I wanted: 359 (39.0%)</a:t>
            </a:r>
          </a:p>
        </p:txBody>
      </p:sp>
      <p:sp>
        <p:nvSpPr>
          <p:cNvPr id="10" name="TextBox 9"/>
          <p:cNvSpPr txBox="1"/>
          <p:nvPr/>
        </p:nvSpPr>
        <p:spPr>
          <a:xfrm>
            <a:off x="4328160" y="1325880"/>
            <a:ext cx="3505200"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Family / friend support</a:t>
            </a:r>
          </a:p>
        </p:txBody>
      </p:sp>
      <p:pic>
        <p:nvPicPr>
          <p:cNvPr id="11" name="Picture 10" descr="rc_support_level_small.png"/>
          <p:cNvPicPr>
            <a:picLocks noChangeAspect="1"/>
          </p:cNvPicPr>
          <p:nvPr/>
        </p:nvPicPr>
        <p:blipFill>
          <a:blip r:embed="rId4"/>
          <a:stretch>
            <a:fillRect/>
          </a:stretch>
        </p:blipFill>
        <p:spPr>
          <a:xfrm>
            <a:off x="4328160" y="1945473"/>
            <a:ext cx="3505200" cy="3332813"/>
          </a:xfrm>
          <a:prstGeom prst="rect">
            <a:avLst/>
          </a:prstGeom>
        </p:spPr>
      </p:pic>
      <p:sp>
        <p:nvSpPr>
          <p:cNvPr id="12" name="Rounded Rectangle 11"/>
          <p:cNvSpPr/>
          <p:nvPr/>
        </p:nvSpPr>
        <p:spPr>
          <a:xfrm>
            <a:off x="4328160" y="5532120"/>
            <a:ext cx="350520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Good + strong: 443 (48.2%)</a:t>
            </a:r>
          </a:p>
        </p:txBody>
      </p:sp>
      <p:sp>
        <p:nvSpPr>
          <p:cNvPr id="13" name="TextBox 12"/>
          <p:cNvSpPr txBox="1"/>
          <p:nvPr/>
        </p:nvSpPr>
        <p:spPr>
          <a:xfrm>
            <a:off x="8107680" y="1325880"/>
            <a:ext cx="3505200" cy="411480"/>
          </a:xfrm>
          <a:prstGeom prst="rect">
            <a:avLst/>
          </a:prstGeom>
          <a:noFill/>
        </p:spPr>
        <p:txBody>
          <a:bodyPr wrap="square" lIns="27432" tIns="27432" rIns="27432" bIns="27432" anchor="t">
            <a:noAutofit/>
          </a:bodyPr>
          <a:lstStyle/>
          <a:p>
            <a:pPr algn="l">
              <a:lnSpc>
                <a:spcPct val="105000"/>
              </a:lnSpc>
            </a:pPr>
            <a:r>
              <a:rPr sz="1900" b="1">
                <a:solidFill>
                  <a:srgbClr val="0B0B0B"/>
                </a:solidFill>
                <a:latin typeface="Helvetica Neue"/>
              </a:rPr>
              <a:t>Study-friendly living place</a:t>
            </a:r>
          </a:p>
        </p:txBody>
      </p:sp>
      <p:pic>
        <p:nvPicPr>
          <p:cNvPr id="14" name="Picture 13" descr="rc_study_environment_small.png"/>
          <p:cNvPicPr>
            <a:picLocks noChangeAspect="1"/>
          </p:cNvPicPr>
          <p:nvPr/>
        </p:nvPicPr>
        <p:blipFill>
          <a:blip r:embed="rId5"/>
          <a:stretch>
            <a:fillRect/>
          </a:stretch>
        </p:blipFill>
        <p:spPr>
          <a:xfrm>
            <a:off x="8107680" y="1939598"/>
            <a:ext cx="3505200" cy="3344562"/>
          </a:xfrm>
          <a:prstGeom prst="rect">
            <a:avLst/>
          </a:prstGeom>
        </p:spPr>
      </p:pic>
      <p:sp>
        <p:nvSpPr>
          <p:cNvPr id="15" name="Rounded Rectangle 14"/>
          <p:cNvSpPr/>
          <p:nvPr/>
        </p:nvSpPr>
        <p:spPr>
          <a:xfrm>
            <a:off x="8107680" y="5532120"/>
            <a:ext cx="350520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1F3B5C"/>
                </a:solidFill>
                <a:latin typeface="Helvetica Neue"/>
              </a:rPr>
              <a:t>Mostly suitable + excellent: 442 (48.0%)</a:t>
            </a:r>
          </a:p>
        </p:txBody>
      </p:sp>
      <p:sp>
        <p:nvSpPr>
          <p:cNvPr id="16" name="SimpleLightSectionLabel">
            <a:extLst>
              <a:ext uri="{FF2B5EF4-FFF2-40B4-BE49-F238E27FC236}">
                <a16:creationId xmlns:a16="http://schemas.microsoft.com/office/drawing/2014/main" id="{4C6B15F4-19A2-4FB3-BCA6-480AC9BD502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OBSERVED PATTERNS</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Which Student Features Move With CGPA?</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24</a:t>
            </a:r>
          </a:p>
        </p:txBody>
      </p:sp>
      <p:pic>
        <p:nvPicPr>
          <p:cNvPr id="7" name="Picture 6" descr="association_strength.png"/>
          <p:cNvPicPr>
            <a:picLocks noChangeAspect="1"/>
          </p:cNvPicPr>
          <p:nvPr/>
        </p:nvPicPr>
        <p:blipFill>
          <a:blip r:embed="rId3"/>
          <a:stretch>
            <a:fillRect/>
          </a:stretch>
        </p:blipFill>
        <p:spPr>
          <a:xfrm>
            <a:off x="789940" y="1280160"/>
            <a:ext cx="6924040" cy="4297680"/>
          </a:xfrm>
          <a:prstGeom prst="rect">
            <a:avLst/>
          </a:prstGeom>
        </p:spPr>
      </p:pic>
      <p:sp>
        <p:nvSpPr>
          <p:cNvPr id="8" name="Rounded Rectangle 7"/>
          <p:cNvSpPr/>
          <p:nvPr/>
        </p:nvSpPr>
        <p:spPr>
          <a:xfrm>
            <a:off x="8229600" y="1371600"/>
            <a:ext cx="3383280" cy="11887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1508760"/>
            <a:ext cx="594360" cy="914400"/>
          </a:xfrm>
          <a:prstGeom prst="rect">
            <a:avLst/>
          </a:prstGeom>
          <a:noFill/>
        </p:spPr>
        <p:txBody>
          <a:bodyPr wrap="square" lIns="27432" tIns="27432" rIns="27432" bIns="27432" anchor="ctr">
            <a:noAutofit/>
          </a:bodyPr>
          <a:lstStyle/>
          <a:p>
            <a:pPr algn="l">
              <a:lnSpc>
                <a:spcPct val="105000"/>
              </a:lnSpc>
            </a:pPr>
            <a:r>
              <a:rPr sz="3600" b="1">
                <a:solidFill>
                  <a:srgbClr val="2A78D6"/>
                </a:solidFill>
                <a:latin typeface="Helvetica Neue"/>
              </a:rPr>
              <a:t>⬆</a:t>
            </a:r>
          </a:p>
        </p:txBody>
      </p:sp>
      <p:sp>
        <p:nvSpPr>
          <p:cNvPr id="10" name="TextBox 9"/>
          <p:cNvSpPr txBox="1"/>
          <p:nvPr/>
        </p:nvSpPr>
        <p:spPr>
          <a:xfrm>
            <a:off x="8915400" y="1481328"/>
            <a:ext cx="2651760" cy="50292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Got desired department</a:t>
            </a:r>
          </a:p>
        </p:txBody>
      </p:sp>
      <p:sp>
        <p:nvSpPr>
          <p:cNvPr id="11" name="TextBox 10"/>
          <p:cNvSpPr txBox="1"/>
          <p:nvPr/>
        </p:nvSpPr>
        <p:spPr>
          <a:xfrm>
            <a:off x="8915400" y="1993392"/>
            <a:ext cx="2651760" cy="50292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small positive pattern (+0.13)</a:t>
            </a:r>
          </a:p>
        </p:txBody>
      </p:sp>
      <p:sp>
        <p:nvSpPr>
          <p:cNvPr id="12" name="Rounded Rectangle 11"/>
          <p:cNvSpPr/>
          <p:nvPr/>
        </p:nvSpPr>
        <p:spPr>
          <a:xfrm>
            <a:off x="8229600" y="2743200"/>
            <a:ext cx="3383280" cy="11887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880360"/>
            <a:ext cx="594360" cy="914400"/>
          </a:xfrm>
          <a:prstGeom prst="rect">
            <a:avLst/>
          </a:prstGeom>
          <a:noFill/>
        </p:spPr>
        <p:txBody>
          <a:bodyPr wrap="square" lIns="27432" tIns="27432" rIns="27432" bIns="27432" anchor="ctr">
            <a:noAutofit/>
          </a:bodyPr>
          <a:lstStyle/>
          <a:p>
            <a:pPr algn="l">
              <a:lnSpc>
                <a:spcPct val="105000"/>
              </a:lnSpc>
            </a:pPr>
            <a:r>
              <a:rPr sz="3600" b="1">
                <a:solidFill>
                  <a:srgbClr val="2A78D6"/>
                </a:solidFill>
                <a:latin typeface="Helvetica Neue"/>
              </a:rPr>
              <a:t>⬆</a:t>
            </a:r>
          </a:p>
        </p:txBody>
      </p:sp>
      <p:sp>
        <p:nvSpPr>
          <p:cNvPr id="14" name="TextBox 13"/>
          <p:cNvSpPr txBox="1"/>
          <p:nvPr/>
        </p:nvSpPr>
        <p:spPr>
          <a:xfrm>
            <a:off x="8915400" y="2852928"/>
            <a:ext cx="2651760" cy="50292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Class attendance</a:t>
            </a:r>
          </a:p>
        </p:txBody>
      </p:sp>
      <p:sp>
        <p:nvSpPr>
          <p:cNvPr id="15" name="TextBox 14"/>
          <p:cNvSpPr txBox="1"/>
          <p:nvPr/>
        </p:nvSpPr>
        <p:spPr>
          <a:xfrm>
            <a:off x="8915400" y="3364992"/>
            <a:ext cx="2651760" cy="50292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small positive pattern (+0.09)</a:t>
            </a:r>
          </a:p>
        </p:txBody>
      </p:sp>
      <p:sp>
        <p:nvSpPr>
          <p:cNvPr id="16" name="Rounded Rectangle 15"/>
          <p:cNvSpPr/>
          <p:nvPr/>
        </p:nvSpPr>
        <p:spPr>
          <a:xfrm>
            <a:off x="8229600" y="4114800"/>
            <a:ext cx="3383280" cy="11887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4251960"/>
            <a:ext cx="594360" cy="914400"/>
          </a:xfrm>
          <a:prstGeom prst="rect">
            <a:avLst/>
          </a:prstGeom>
          <a:noFill/>
        </p:spPr>
        <p:txBody>
          <a:bodyPr wrap="square" lIns="27432" tIns="27432" rIns="27432" bIns="27432" anchor="ctr">
            <a:noAutofit/>
          </a:bodyPr>
          <a:lstStyle/>
          <a:p>
            <a:pPr algn="l">
              <a:lnSpc>
                <a:spcPct val="105000"/>
              </a:lnSpc>
            </a:pPr>
            <a:r>
              <a:rPr sz="3600" b="1">
                <a:solidFill>
                  <a:srgbClr val="A83A3A"/>
                </a:solidFill>
                <a:latin typeface="Helvetica Neue"/>
              </a:rPr>
              <a:t>⬇</a:t>
            </a:r>
          </a:p>
        </p:txBody>
      </p:sp>
      <p:sp>
        <p:nvSpPr>
          <p:cNvPr id="18" name="TextBox 17"/>
          <p:cNvSpPr txBox="1"/>
          <p:nvPr/>
        </p:nvSpPr>
        <p:spPr>
          <a:xfrm>
            <a:off x="8915400" y="4224528"/>
            <a:ext cx="2651760" cy="50292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Outside commitments</a:t>
            </a:r>
          </a:p>
        </p:txBody>
      </p:sp>
      <p:sp>
        <p:nvSpPr>
          <p:cNvPr id="19" name="TextBox 18"/>
          <p:cNvSpPr txBox="1"/>
          <p:nvPr/>
        </p:nvSpPr>
        <p:spPr>
          <a:xfrm>
            <a:off x="8915400" y="4736592"/>
            <a:ext cx="2651760" cy="502920"/>
          </a:xfrm>
          <a:prstGeom prst="rect">
            <a:avLst/>
          </a:prstGeom>
          <a:noFill/>
        </p:spPr>
        <p:txBody>
          <a:bodyPr wrap="square" lIns="27432" tIns="27432" rIns="27432" bIns="27432" anchor="t">
            <a:noAutofit/>
          </a:bodyPr>
          <a:lstStyle/>
          <a:p>
            <a:pPr algn="l">
              <a:lnSpc>
                <a:spcPct val="105000"/>
              </a:lnSpc>
            </a:pPr>
            <a:r>
              <a:rPr sz="1300" b="0">
                <a:solidFill>
                  <a:srgbClr val="52514E"/>
                </a:solidFill>
                <a:latin typeface="Helvetica Neue"/>
              </a:rPr>
              <a:t>small negative pattern (-0.09)</a:t>
            </a:r>
          </a:p>
        </p:txBody>
      </p:sp>
      <p:sp>
        <p:nvSpPr>
          <p:cNvPr id="20" name="Rounded Rectangle 19"/>
          <p:cNvSpPr/>
          <p:nvPr/>
        </p:nvSpPr>
        <p:spPr>
          <a:xfrm>
            <a:off x="548640" y="5669280"/>
            <a:ext cx="11064240" cy="594360"/>
          </a:xfrm>
          <a:prstGeom prst="roundRect">
            <a:avLst>
              <a:gd name="adj" fmla="val 8000"/>
            </a:avLst>
          </a:prstGeom>
          <a:solidFill>
            <a:srgbClr val="FFF1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8A5A00"/>
                </a:solidFill>
                <a:latin typeface="Helvetica Neue"/>
              </a:rPr>
              <a:t>Larger number = stronger pattern, and all are small. Associations, not causes. Blue = reliable after checking.</a:t>
            </a:r>
          </a:p>
        </p:txBody>
      </p:sp>
      <p:sp>
        <p:nvSpPr>
          <p:cNvPr id="21" name="SimpleLightSectionLabel">
            <a:extLst>
              <a:ext uri="{FF2B5EF4-FFF2-40B4-BE49-F238E27FC236}">
                <a16:creationId xmlns:a16="http://schemas.microsoft.com/office/drawing/2014/main" id="{1A50A1A1-1282-459D-AEF6-2F413F44966D}"/>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OBSERVED PATTERNS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lang="en-US" sz="1200" b="1">
                <a:solidFill>
                  <a:srgbClr val="2A78D6"/>
                </a:solidFill>
                <a:latin typeface="Helvetica Neue"/>
              </a:rPr>
              <a:t>SGPA + CGPA PATTERNS</a:t>
            </a:r>
            <a:endParaRPr sz="1200" b="1">
              <a:solidFill>
                <a:srgbClr val="2A78D6"/>
              </a:solidFill>
              <a:latin typeface="Helvetica Neue"/>
            </a:endParaRP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Do SGPA and CGPA Show the Same Patterns?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38</a:t>
            </a:r>
          </a:p>
        </p:txBody>
      </p:sp>
      <p:pic>
        <p:nvPicPr>
          <p:cNvPr id="7" name="Picture 6" descr="sgpa_vs_cgpa_pattern.png"/>
          <p:cNvPicPr>
            <a:picLocks noChangeAspect="1"/>
          </p:cNvPicPr>
          <p:nvPr/>
        </p:nvPicPr>
        <p:blipFill>
          <a:blip r:embed="rId3"/>
          <a:stretch>
            <a:fillRect/>
          </a:stretch>
        </p:blipFill>
        <p:spPr>
          <a:xfrm>
            <a:off x="557038" y="1280160"/>
            <a:ext cx="7481282" cy="4983480"/>
          </a:xfrm>
          <a:prstGeom prst="rect">
            <a:avLst/>
          </a:prstGeom>
        </p:spPr>
      </p:pic>
      <p:sp>
        <p:nvSpPr>
          <p:cNvPr id="8" name="Rounded Rectangle 7"/>
          <p:cNvSpPr/>
          <p:nvPr/>
        </p:nvSpPr>
        <p:spPr>
          <a:xfrm>
            <a:off x="8321040" y="1417320"/>
            <a:ext cx="3291840" cy="1234440"/>
          </a:xfrm>
          <a:prstGeom prst="roundRect">
            <a:avLst>
              <a:gd name="adj" fmla="val 8000"/>
            </a:avLst>
          </a:prstGeom>
          <a:solidFill>
            <a:srgbClr val="E3F4E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700" b="1">
                <a:solidFill>
                  <a:srgbClr val="0B6B0B"/>
                </a:solidFill>
                <a:latin typeface="Helvetica Neue"/>
              </a:rPr>
              <a:t>Class attendance</a:t>
            </a:r>
          </a:p>
          <a:p>
            <a:pPr algn="l">
              <a:lnSpc>
                <a:spcPct val="105000"/>
              </a:lnSpc>
            </a:pPr>
            <a:r>
              <a:rPr sz="1300" b="0">
                <a:solidFill>
                  <a:srgbClr val="0B6B0B"/>
                </a:solidFill>
                <a:latin typeface="Helvetica Neue"/>
              </a:rPr>
              <a:t>same direction: SGPA +0.11, CGPA +0.09</a:t>
            </a:r>
          </a:p>
        </p:txBody>
      </p:sp>
      <p:sp>
        <p:nvSpPr>
          <p:cNvPr id="9" name="Rounded Rectangle 8"/>
          <p:cNvSpPr/>
          <p:nvPr/>
        </p:nvSpPr>
        <p:spPr>
          <a:xfrm>
            <a:off x="8321040" y="2788920"/>
            <a:ext cx="3291840" cy="1234440"/>
          </a:xfrm>
          <a:prstGeom prst="roundRect">
            <a:avLst>
              <a:gd name="adj" fmla="val 8000"/>
            </a:avLst>
          </a:prstGeom>
          <a:solidFill>
            <a:srgbClr val="E3F4E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700" b="1">
                <a:solidFill>
                  <a:srgbClr val="0B6B0B"/>
                </a:solidFill>
                <a:latin typeface="Helvetica Neue"/>
              </a:rPr>
              <a:t>Got desired department</a:t>
            </a:r>
          </a:p>
          <a:p>
            <a:pPr algn="l">
              <a:lnSpc>
                <a:spcPct val="105000"/>
              </a:lnSpc>
            </a:pPr>
            <a:r>
              <a:rPr sz="1300" b="0">
                <a:solidFill>
                  <a:srgbClr val="0B6B0B"/>
                </a:solidFill>
                <a:latin typeface="Helvetica Neue"/>
              </a:rPr>
              <a:t>same direction: SGPA +0.14, CGPA +0.13</a:t>
            </a:r>
          </a:p>
        </p:txBody>
      </p:sp>
      <p:sp>
        <p:nvSpPr>
          <p:cNvPr id="10" name="Rounded Rectangle 9"/>
          <p:cNvSpPr/>
          <p:nvPr/>
        </p:nvSpPr>
        <p:spPr>
          <a:xfrm>
            <a:off x="8321040" y="4160520"/>
            <a:ext cx="329184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l">
              <a:lnSpc>
                <a:spcPct val="105000"/>
              </a:lnSpc>
            </a:pPr>
            <a:r>
              <a:rPr sz="1700" b="1">
                <a:solidFill>
                  <a:srgbClr val="52514E"/>
                </a:solidFill>
                <a:latin typeface="Helvetica Neue"/>
              </a:rPr>
              <a:t>10 other questions</a:t>
            </a:r>
          </a:p>
          <a:p>
            <a:pPr algn="l">
              <a:lnSpc>
                <a:spcPct val="105000"/>
              </a:lnSpc>
            </a:pPr>
            <a:r>
              <a:rPr sz="1300" b="0">
                <a:solidFill>
                  <a:srgbClr val="52514E"/>
                </a:solidFill>
                <a:latin typeface="Helvetica Neue"/>
              </a:rPr>
              <a:t>too weak to claim a matching pattern</a:t>
            </a:r>
          </a:p>
        </p:txBody>
      </p:sp>
      <p:sp>
        <p:nvSpPr>
          <p:cNvPr id="11" name="SimpleLightSectionLabel">
            <a:extLst>
              <a:ext uri="{FF2B5EF4-FFF2-40B4-BE49-F238E27FC236}">
                <a16:creationId xmlns:a16="http://schemas.microsoft.com/office/drawing/2014/main" id="{DBE8BBAD-64AA-49D7-BC63-F36D449C72CB}"/>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SGPA + CGPA PATTERNS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Attendance and CGPA</a:t>
            </a:r>
          </a:p>
        </p:txBody>
      </p:sp>
      <p:sp>
        <p:nvSpPr>
          <p:cNvPr id="534" name="Less than 40%">
            <a:extLst>
              <a:ext uri="{FF2B5EF4-FFF2-40B4-BE49-F238E27FC236}">
                <a16:creationId xmlns:a16="http://schemas.microsoft.com/office/drawing/2014/main" id="{AE12E83A-60EE-432B-A6AD-369AC8EA2273}"/>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dirty="0">
                <a:solidFill>
                  <a:srgbClr val="121212"/>
                </a:solidFill>
                <a:latin typeface="Times New Roman"/>
                <a:ea typeface="Times New Roman"/>
                <a:cs typeface="Times New Roman"/>
              </a:rPr>
              <a:t>Less than 40%</a:t>
            </a:r>
          </a:p>
        </p:txBody>
      </p:sp>
      <p:sp>
        <p:nvSpPr>
          <p:cNvPr id="535" name="Rectangle 534">
            <a:extLst>
              <a:ext uri="{FF2B5EF4-FFF2-40B4-BE49-F238E27FC236}">
                <a16:creationId xmlns:a16="http://schemas.microsoft.com/office/drawing/2014/main" id="{8F2FEFD5-83A7-4939-999B-500A9B776B79}"/>
              </a:ext>
            </a:extLst>
          </p:cNvPr>
          <p:cNvSpPr>
            <a:spLocks noGrp="1"/>
          </p:cNvSpPr>
          <p:nvPr/>
        </p:nvSpPr>
        <p:spPr>
          <a:xfrm>
            <a:off x="3667125" y="1905000"/>
            <a:ext cx="2294572" cy="447675"/>
          </a:xfrm>
          <a:prstGeom prst="rect">
            <a:avLst/>
          </a:prstGeom>
          <a:solidFill>
            <a:srgbClr val="A83A3A"/>
          </a:solidFill>
          <a:ln w="0">
            <a:noFill/>
          </a:ln>
        </p:spPr>
        <p:txBody>
          <a:bodyPr/>
          <a:lstStyle/>
          <a:p>
            <a:endParaRPr lang="en-US"/>
          </a:p>
        </p:txBody>
      </p:sp>
      <p:sp>
        <p:nvSpPr>
          <p:cNvPr id="536" name="30%">
            <a:extLst>
              <a:ext uri="{FF2B5EF4-FFF2-40B4-BE49-F238E27FC236}">
                <a16:creationId xmlns:a16="http://schemas.microsoft.com/office/drawing/2014/main" id="{02404CD3-9935-487A-901F-BB3FCD5C461F}"/>
              </a:ext>
            </a:extLst>
          </p:cNvPr>
          <p:cNvSpPr>
            <a:spLocks noGrp="1"/>
          </p:cNvSpPr>
          <p:nvPr/>
        </p:nvSpPr>
        <p:spPr>
          <a:xfrm>
            <a:off x="3705225" y="2009775"/>
            <a:ext cx="22374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dirty="0">
                <a:solidFill>
                  <a:srgbClr val="FFFFFF"/>
                </a:solidFill>
                <a:latin typeface="Times New Roman"/>
                <a:ea typeface="Times New Roman"/>
                <a:cs typeface="Times New Roman"/>
              </a:rPr>
              <a:t>33%</a:t>
            </a:r>
          </a:p>
        </p:txBody>
      </p:sp>
      <p:sp>
        <p:nvSpPr>
          <p:cNvPr id="537" name="Rectangle 536">
            <a:extLst>
              <a:ext uri="{FF2B5EF4-FFF2-40B4-BE49-F238E27FC236}">
                <a16:creationId xmlns:a16="http://schemas.microsoft.com/office/drawing/2014/main" id="{B662595F-20C4-4BCE-9429-F0AFE1C9A088}"/>
              </a:ext>
            </a:extLst>
          </p:cNvPr>
          <p:cNvSpPr>
            <a:spLocks noGrp="1"/>
          </p:cNvSpPr>
          <p:nvPr/>
        </p:nvSpPr>
        <p:spPr>
          <a:xfrm>
            <a:off x="5961697" y="1905000"/>
            <a:ext cx="1182052" cy="447675"/>
          </a:xfrm>
          <a:prstGeom prst="rect">
            <a:avLst/>
          </a:prstGeom>
          <a:solidFill>
            <a:srgbClr val="DC713D"/>
          </a:solidFill>
          <a:ln w="0">
            <a:noFill/>
          </a:ln>
        </p:spPr>
        <p:txBody>
          <a:bodyPr/>
          <a:lstStyle/>
          <a:p>
            <a:endParaRPr lang="en-US"/>
          </a:p>
        </p:txBody>
      </p:sp>
      <p:sp>
        <p:nvSpPr>
          <p:cNvPr id="538" name="20%">
            <a:extLst>
              <a:ext uri="{FF2B5EF4-FFF2-40B4-BE49-F238E27FC236}">
                <a16:creationId xmlns:a16="http://schemas.microsoft.com/office/drawing/2014/main" id="{75B88EF2-8FF8-458B-BF9C-166768F7924E}"/>
              </a:ext>
            </a:extLst>
          </p:cNvPr>
          <p:cNvSpPr>
            <a:spLocks noGrp="1"/>
          </p:cNvSpPr>
          <p:nvPr/>
        </p:nvSpPr>
        <p:spPr>
          <a:xfrm>
            <a:off x="5999797" y="2009775"/>
            <a:ext cx="11249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39" name="Rectangle 538">
            <a:extLst>
              <a:ext uri="{FF2B5EF4-FFF2-40B4-BE49-F238E27FC236}">
                <a16:creationId xmlns:a16="http://schemas.microsoft.com/office/drawing/2014/main" id="{5F086FEB-2EBC-4970-850F-961FD67172CF}"/>
              </a:ext>
            </a:extLst>
          </p:cNvPr>
          <p:cNvSpPr>
            <a:spLocks noGrp="1"/>
          </p:cNvSpPr>
          <p:nvPr/>
        </p:nvSpPr>
        <p:spPr>
          <a:xfrm>
            <a:off x="7143749" y="1905000"/>
            <a:ext cx="2294572" cy="447675"/>
          </a:xfrm>
          <a:prstGeom prst="rect">
            <a:avLst/>
          </a:prstGeom>
          <a:solidFill>
            <a:srgbClr val="4C91D8"/>
          </a:solidFill>
          <a:ln w="0">
            <a:noFill/>
          </a:ln>
        </p:spPr>
        <p:txBody>
          <a:bodyPr/>
          <a:lstStyle/>
          <a:p>
            <a:endParaRPr lang="en-US"/>
          </a:p>
        </p:txBody>
      </p:sp>
      <p:sp>
        <p:nvSpPr>
          <p:cNvPr id="540" name="20%">
            <a:extLst>
              <a:ext uri="{FF2B5EF4-FFF2-40B4-BE49-F238E27FC236}">
                <a16:creationId xmlns:a16="http://schemas.microsoft.com/office/drawing/2014/main" id="{220F01EB-1750-42AD-B2FF-3CBF36DB46A7}"/>
              </a:ext>
            </a:extLst>
          </p:cNvPr>
          <p:cNvSpPr>
            <a:spLocks noGrp="1"/>
          </p:cNvSpPr>
          <p:nvPr/>
        </p:nvSpPr>
        <p:spPr>
          <a:xfrm>
            <a:off x="7181849" y="2009775"/>
            <a:ext cx="22374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41" name="Rectangle 540">
            <a:extLst>
              <a:ext uri="{FF2B5EF4-FFF2-40B4-BE49-F238E27FC236}">
                <a16:creationId xmlns:a16="http://schemas.microsoft.com/office/drawing/2014/main" id="{D22B8B00-D0E1-4AB3-A3AA-DCCF11EE88DA}"/>
              </a:ext>
            </a:extLst>
          </p:cNvPr>
          <p:cNvSpPr>
            <a:spLocks noGrp="1"/>
          </p:cNvSpPr>
          <p:nvPr/>
        </p:nvSpPr>
        <p:spPr>
          <a:xfrm>
            <a:off x="9438321" y="1905000"/>
            <a:ext cx="1182054" cy="447675"/>
          </a:xfrm>
          <a:prstGeom prst="rect">
            <a:avLst/>
          </a:prstGeom>
          <a:solidFill>
            <a:srgbClr val="285B9F"/>
          </a:solidFill>
          <a:ln w="0">
            <a:noFill/>
          </a:ln>
        </p:spPr>
        <p:txBody>
          <a:bodyPr/>
          <a:lstStyle/>
          <a:p>
            <a:endParaRPr lang="en-US"/>
          </a:p>
        </p:txBody>
      </p:sp>
      <p:sp>
        <p:nvSpPr>
          <p:cNvPr id="542" name="30%">
            <a:extLst>
              <a:ext uri="{FF2B5EF4-FFF2-40B4-BE49-F238E27FC236}">
                <a16:creationId xmlns:a16="http://schemas.microsoft.com/office/drawing/2014/main" id="{BD883531-2ED1-46C4-B734-4583340AD188}"/>
              </a:ext>
            </a:extLst>
          </p:cNvPr>
          <p:cNvSpPr>
            <a:spLocks noGrp="1"/>
          </p:cNvSpPr>
          <p:nvPr/>
        </p:nvSpPr>
        <p:spPr>
          <a:xfrm>
            <a:off x="9476421" y="2009775"/>
            <a:ext cx="112490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43" name="n=10">
            <a:extLst>
              <a:ext uri="{FF2B5EF4-FFF2-40B4-BE49-F238E27FC236}">
                <a16:creationId xmlns:a16="http://schemas.microsoft.com/office/drawing/2014/main" id="{D8D0B816-35F4-4467-BABB-BDB563541156}"/>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n=6</a:t>
            </a:r>
          </a:p>
        </p:txBody>
      </p:sp>
      <p:sp>
        <p:nvSpPr>
          <p:cNvPr id="544" name="40-59%">
            <a:extLst>
              <a:ext uri="{FF2B5EF4-FFF2-40B4-BE49-F238E27FC236}">
                <a16:creationId xmlns:a16="http://schemas.microsoft.com/office/drawing/2014/main" id="{C7AA33CF-FF4A-40DD-A5B1-64C10B548782}"/>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40-59%</a:t>
            </a:r>
          </a:p>
        </p:txBody>
      </p:sp>
      <p:sp>
        <p:nvSpPr>
          <p:cNvPr id="545" name="Rectangle 544">
            <a:extLst>
              <a:ext uri="{FF2B5EF4-FFF2-40B4-BE49-F238E27FC236}">
                <a16:creationId xmlns:a16="http://schemas.microsoft.com/office/drawing/2014/main" id="{12EA070F-42F7-4033-9E9F-1B5BFA15182D}"/>
              </a:ext>
            </a:extLst>
          </p:cNvPr>
          <p:cNvSpPr>
            <a:spLocks noGrp="1"/>
          </p:cNvSpPr>
          <p:nvPr/>
        </p:nvSpPr>
        <p:spPr>
          <a:xfrm>
            <a:off x="3667125" y="2628900"/>
            <a:ext cx="1460182" cy="447675"/>
          </a:xfrm>
          <a:prstGeom prst="rect">
            <a:avLst/>
          </a:prstGeom>
          <a:solidFill>
            <a:srgbClr val="A83A3A"/>
          </a:solidFill>
          <a:ln w="0">
            <a:noFill/>
          </a:ln>
        </p:spPr>
        <p:txBody>
          <a:bodyPr/>
          <a:lstStyle/>
          <a:p>
            <a:endParaRPr lang="en-US"/>
          </a:p>
        </p:txBody>
      </p:sp>
      <p:sp>
        <p:nvSpPr>
          <p:cNvPr id="546" name="26%">
            <a:extLst>
              <a:ext uri="{FF2B5EF4-FFF2-40B4-BE49-F238E27FC236}">
                <a16:creationId xmlns:a16="http://schemas.microsoft.com/office/drawing/2014/main" id="{C811AA8E-A500-4C21-8E06-F54A4D25E810}"/>
              </a:ext>
            </a:extLst>
          </p:cNvPr>
          <p:cNvSpPr>
            <a:spLocks noGrp="1"/>
          </p:cNvSpPr>
          <p:nvPr/>
        </p:nvSpPr>
        <p:spPr>
          <a:xfrm>
            <a:off x="3705225" y="27336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72D8DB3D-B440-4FE3-9965-A8AEA2B0ADE2}"/>
              </a:ext>
            </a:extLst>
          </p:cNvPr>
          <p:cNvSpPr>
            <a:spLocks noGrp="1"/>
          </p:cNvSpPr>
          <p:nvPr/>
        </p:nvSpPr>
        <p:spPr>
          <a:xfrm>
            <a:off x="5127307" y="2628900"/>
            <a:ext cx="2572702" cy="447675"/>
          </a:xfrm>
          <a:prstGeom prst="rect">
            <a:avLst/>
          </a:prstGeom>
          <a:solidFill>
            <a:srgbClr val="DC713D"/>
          </a:solidFill>
          <a:ln w="0">
            <a:noFill/>
          </a:ln>
        </p:spPr>
        <p:txBody>
          <a:bodyPr/>
          <a:lstStyle/>
          <a:p>
            <a:endParaRPr lang="en-US"/>
          </a:p>
        </p:txBody>
      </p:sp>
      <p:sp>
        <p:nvSpPr>
          <p:cNvPr id="548" name="30%">
            <a:extLst>
              <a:ext uri="{FF2B5EF4-FFF2-40B4-BE49-F238E27FC236}">
                <a16:creationId xmlns:a16="http://schemas.microsoft.com/office/drawing/2014/main" id="{52337BFD-6AB4-469E-9FEA-D9F8749B1250}"/>
              </a:ext>
            </a:extLst>
          </p:cNvPr>
          <p:cNvSpPr>
            <a:spLocks noGrp="1"/>
          </p:cNvSpPr>
          <p:nvPr/>
        </p:nvSpPr>
        <p:spPr>
          <a:xfrm>
            <a:off x="5165407" y="2733675"/>
            <a:ext cx="251555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37%</a:t>
            </a:r>
          </a:p>
        </p:txBody>
      </p:sp>
      <p:sp>
        <p:nvSpPr>
          <p:cNvPr id="549" name="Rectangle 548">
            <a:extLst>
              <a:ext uri="{FF2B5EF4-FFF2-40B4-BE49-F238E27FC236}">
                <a16:creationId xmlns:a16="http://schemas.microsoft.com/office/drawing/2014/main" id="{887ADC16-D06E-49E0-9497-9E74E3E85AB4}"/>
              </a:ext>
            </a:extLst>
          </p:cNvPr>
          <p:cNvSpPr>
            <a:spLocks noGrp="1"/>
          </p:cNvSpPr>
          <p:nvPr/>
        </p:nvSpPr>
        <p:spPr>
          <a:xfrm>
            <a:off x="7700009" y="2628900"/>
            <a:ext cx="1807845" cy="447675"/>
          </a:xfrm>
          <a:prstGeom prst="rect">
            <a:avLst/>
          </a:prstGeom>
          <a:solidFill>
            <a:srgbClr val="4C91D8"/>
          </a:solidFill>
          <a:ln w="0">
            <a:noFill/>
          </a:ln>
        </p:spPr>
        <p:txBody>
          <a:bodyPr/>
          <a:lstStyle/>
          <a:p>
            <a:endParaRPr lang="en-US"/>
          </a:p>
        </p:txBody>
      </p:sp>
      <p:sp>
        <p:nvSpPr>
          <p:cNvPr id="550" name="26%">
            <a:extLst>
              <a:ext uri="{FF2B5EF4-FFF2-40B4-BE49-F238E27FC236}">
                <a16:creationId xmlns:a16="http://schemas.microsoft.com/office/drawing/2014/main" id="{F962FD4C-E2C9-48A8-BE18-957074F4437D}"/>
              </a:ext>
            </a:extLst>
          </p:cNvPr>
          <p:cNvSpPr>
            <a:spLocks noGrp="1"/>
          </p:cNvSpPr>
          <p:nvPr/>
        </p:nvSpPr>
        <p:spPr>
          <a:xfrm>
            <a:off x="7738109" y="27336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51" name="Rectangle 550">
            <a:extLst>
              <a:ext uri="{FF2B5EF4-FFF2-40B4-BE49-F238E27FC236}">
                <a16:creationId xmlns:a16="http://schemas.microsoft.com/office/drawing/2014/main" id="{0A8237A8-780B-41E6-ABFD-319054E65535}"/>
              </a:ext>
            </a:extLst>
          </p:cNvPr>
          <p:cNvSpPr>
            <a:spLocks noGrp="1"/>
          </p:cNvSpPr>
          <p:nvPr/>
        </p:nvSpPr>
        <p:spPr>
          <a:xfrm>
            <a:off x="9507854" y="2628900"/>
            <a:ext cx="1112521" cy="447675"/>
          </a:xfrm>
          <a:prstGeom prst="rect">
            <a:avLst/>
          </a:prstGeom>
          <a:solidFill>
            <a:srgbClr val="285B9F"/>
          </a:solidFill>
          <a:ln w="0">
            <a:noFill/>
          </a:ln>
        </p:spPr>
        <p:txBody>
          <a:bodyPr/>
          <a:lstStyle/>
          <a:p>
            <a:endParaRPr lang="en-US"/>
          </a:p>
        </p:txBody>
      </p:sp>
      <p:sp>
        <p:nvSpPr>
          <p:cNvPr id="552" name="17%">
            <a:extLst>
              <a:ext uri="{FF2B5EF4-FFF2-40B4-BE49-F238E27FC236}">
                <a16:creationId xmlns:a16="http://schemas.microsoft.com/office/drawing/2014/main" id="{C97ED008-598C-4DEA-AE83-3EE7DD222286}"/>
              </a:ext>
            </a:extLst>
          </p:cNvPr>
          <p:cNvSpPr>
            <a:spLocks noGrp="1"/>
          </p:cNvSpPr>
          <p:nvPr/>
        </p:nvSpPr>
        <p:spPr>
          <a:xfrm>
            <a:off x="9545954" y="2733675"/>
            <a:ext cx="105537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3" name="n=23">
            <a:extLst>
              <a:ext uri="{FF2B5EF4-FFF2-40B4-BE49-F238E27FC236}">
                <a16:creationId xmlns:a16="http://schemas.microsoft.com/office/drawing/2014/main" id="{60B59414-BFBD-49E2-959F-ABD19705D3E3}"/>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a:t>
            </a:r>
          </a:p>
        </p:txBody>
      </p:sp>
      <p:sp>
        <p:nvSpPr>
          <p:cNvPr id="554" name="60-74%">
            <a:extLst>
              <a:ext uri="{FF2B5EF4-FFF2-40B4-BE49-F238E27FC236}">
                <a16:creationId xmlns:a16="http://schemas.microsoft.com/office/drawing/2014/main" id="{F42C6B45-8864-4E88-8B34-6F528F8F94CD}"/>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60-74%</a:t>
            </a:r>
          </a:p>
        </p:txBody>
      </p:sp>
      <p:sp>
        <p:nvSpPr>
          <p:cNvPr id="555" name="Rectangle 554">
            <a:extLst>
              <a:ext uri="{FF2B5EF4-FFF2-40B4-BE49-F238E27FC236}">
                <a16:creationId xmlns:a16="http://schemas.microsoft.com/office/drawing/2014/main" id="{4EECE117-11A0-4FEA-9906-D5F0F1957E50}"/>
              </a:ext>
            </a:extLst>
          </p:cNvPr>
          <p:cNvSpPr>
            <a:spLocks noGrp="1"/>
          </p:cNvSpPr>
          <p:nvPr/>
        </p:nvSpPr>
        <p:spPr>
          <a:xfrm>
            <a:off x="3667125" y="3352800"/>
            <a:ext cx="1529715" cy="447675"/>
          </a:xfrm>
          <a:prstGeom prst="rect">
            <a:avLst/>
          </a:prstGeom>
          <a:solidFill>
            <a:srgbClr val="A83A3A"/>
          </a:solidFill>
          <a:ln w="0">
            <a:noFill/>
          </a:ln>
        </p:spPr>
        <p:txBody>
          <a:bodyPr/>
          <a:lstStyle/>
          <a:p>
            <a:endParaRPr lang="en-US"/>
          </a:p>
        </p:txBody>
      </p:sp>
      <p:sp>
        <p:nvSpPr>
          <p:cNvPr id="556" name="25%">
            <a:extLst>
              <a:ext uri="{FF2B5EF4-FFF2-40B4-BE49-F238E27FC236}">
                <a16:creationId xmlns:a16="http://schemas.microsoft.com/office/drawing/2014/main" id="{A849D535-7E2F-406D-834F-03BD403D5250}"/>
              </a:ext>
            </a:extLst>
          </p:cNvPr>
          <p:cNvSpPr>
            <a:spLocks noGrp="1"/>
          </p:cNvSpPr>
          <p:nvPr/>
        </p:nvSpPr>
        <p:spPr>
          <a:xfrm>
            <a:off x="3705225" y="34575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57" name="Rectangle 556">
            <a:extLst>
              <a:ext uri="{FF2B5EF4-FFF2-40B4-BE49-F238E27FC236}">
                <a16:creationId xmlns:a16="http://schemas.microsoft.com/office/drawing/2014/main" id="{BB061EAA-9F57-4CA3-8354-D525E0314143}"/>
              </a:ext>
            </a:extLst>
          </p:cNvPr>
          <p:cNvSpPr>
            <a:spLocks noGrp="1"/>
          </p:cNvSpPr>
          <p:nvPr/>
        </p:nvSpPr>
        <p:spPr>
          <a:xfrm>
            <a:off x="5196840" y="3352800"/>
            <a:ext cx="2155508" cy="447675"/>
          </a:xfrm>
          <a:prstGeom prst="rect">
            <a:avLst/>
          </a:prstGeom>
          <a:solidFill>
            <a:srgbClr val="DC713D"/>
          </a:solidFill>
          <a:ln w="0">
            <a:noFill/>
          </a:ln>
        </p:spPr>
        <p:txBody>
          <a:bodyPr/>
          <a:lstStyle/>
          <a:p>
            <a:endParaRPr lang="en-US"/>
          </a:p>
        </p:txBody>
      </p:sp>
      <p:sp>
        <p:nvSpPr>
          <p:cNvPr id="558" name="29%">
            <a:extLst>
              <a:ext uri="{FF2B5EF4-FFF2-40B4-BE49-F238E27FC236}">
                <a16:creationId xmlns:a16="http://schemas.microsoft.com/office/drawing/2014/main" id="{953F70AB-BA9E-4C94-BEAC-40169BB9E651}"/>
              </a:ext>
            </a:extLst>
          </p:cNvPr>
          <p:cNvSpPr>
            <a:spLocks noGrp="1"/>
          </p:cNvSpPr>
          <p:nvPr/>
        </p:nvSpPr>
        <p:spPr>
          <a:xfrm>
            <a:off x="5234940" y="34575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59" name="Rectangle 558">
            <a:extLst>
              <a:ext uri="{FF2B5EF4-FFF2-40B4-BE49-F238E27FC236}">
                <a16:creationId xmlns:a16="http://schemas.microsoft.com/office/drawing/2014/main" id="{C2BE6111-AC4B-4E17-B072-E3B354F6426B}"/>
              </a:ext>
            </a:extLst>
          </p:cNvPr>
          <p:cNvSpPr>
            <a:spLocks noGrp="1"/>
          </p:cNvSpPr>
          <p:nvPr/>
        </p:nvSpPr>
        <p:spPr>
          <a:xfrm>
            <a:off x="7352348" y="3352800"/>
            <a:ext cx="2085975" cy="447675"/>
          </a:xfrm>
          <a:prstGeom prst="rect">
            <a:avLst/>
          </a:prstGeom>
          <a:solidFill>
            <a:srgbClr val="4C91D8"/>
          </a:solidFill>
          <a:ln w="0">
            <a:noFill/>
          </a:ln>
        </p:spPr>
        <p:txBody>
          <a:bodyPr/>
          <a:lstStyle/>
          <a:p>
            <a:endParaRPr lang="en-US"/>
          </a:p>
        </p:txBody>
      </p:sp>
      <p:sp>
        <p:nvSpPr>
          <p:cNvPr id="560" name="29%">
            <a:extLst>
              <a:ext uri="{FF2B5EF4-FFF2-40B4-BE49-F238E27FC236}">
                <a16:creationId xmlns:a16="http://schemas.microsoft.com/office/drawing/2014/main" id="{86309F7F-E36D-437D-ACA9-4DFAC7DED7AD}"/>
              </a:ext>
            </a:extLst>
          </p:cNvPr>
          <p:cNvSpPr>
            <a:spLocks noGrp="1"/>
          </p:cNvSpPr>
          <p:nvPr/>
        </p:nvSpPr>
        <p:spPr>
          <a:xfrm>
            <a:off x="7390448" y="34575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61" name="Rectangle 560">
            <a:extLst>
              <a:ext uri="{FF2B5EF4-FFF2-40B4-BE49-F238E27FC236}">
                <a16:creationId xmlns:a16="http://schemas.microsoft.com/office/drawing/2014/main" id="{359550D8-3716-412A-B12F-8306E8D6BF45}"/>
              </a:ext>
            </a:extLst>
          </p:cNvPr>
          <p:cNvSpPr>
            <a:spLocks noGrp="1"/>
          </p:cNvSpPr>
          <p:nvPr/>
        </p:nvSpPr>
        <p:spPr>
          <a:xfrm>
            <a:off x="9438323" y="3352800"/>
            <a:ext cx="1182052" cy="447675"/>
          </a:xfrm>
          <a:prstGeom prst="rect">
            <a:avLst/>
          </a:prstGeom>
          <a:solidFill>
            <a:srgbClr val="285B9F"/>
          </a:solidFill>
          <a:ln w="0">
            <a:noFill/>
          </a:ln>
        </p:spPr>
        <p:txBody>
          <a:bodyPr/>
          <a:lstStyle/>
          <a:p>
            <a:endParaRPr lang="en-US"/>
          </a:p>
        </p:txBody>
      </p:sp>
      <p:sp>
        <p:nvSpPr>
          <p:cNvPr id="562" name="17%">
            <a:extLst>
              <a:ext uri="{FF2B5EF4-FFF2-40B4-BE49-F238E27FC236}">
                <a16:creationId xmlns:a16="http://schemas.microsoft.com/office/drawing/2014/main" id="{4195C0A2-C00D-4D75-8B60-37BEE670294E}"/>
              </a:ext>
            </a:extLst>
          </p:cNvPr>
          <p:cNvSpPr>
            <a:spLocks noGrp="1"/>
          </p:cNvSpPr>
          <p:nvPr/>
        </p:nvSpPr>
        <p:spPr>
          <a:xfrm>
            <a:off x="9476423" y="3457575"/>
            <a:ext cx="11249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63" name="n=276">
            <a:extLst>
              <a:ext uri="{FF2B5EF4-FFF2-40B4-BE49-F238E27FC236}">
                <a16:creationId xmlns:a16="http://schemas.microsoft.com/office/drawing/2014/main" id="{1213A360-34B3-4821-8C78-4C118DD5389F}"/>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n=223</a:t>
            </a:r>
          </a:p>
        </p:txBody>
      </p:sp>
      <p:sp>
        <p:nvSpPr>
          <p:cNvPr id="564" name="75-89%">
            <a:extLst>
              <a:ext uri="{FF2B5EF4-FFF2-40B4-BE49-F238E27FC236}">
                <a16:creationId xmlns:a16="http://schemas.microsoft.com/office/drawing/2014/main" id="{06ABAAEB-E573-418C-8280-4748922B999A}"/>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75-89%</a:t>
            </a:r>
          </a:p>
        </p:txBody>
      </p:sp>
      <p:sp>
        <p:nvSpPr>
          <p:cNvPr id="565" name="Rectangle 564">
            <a:extLst>
              <a:ext uri="{FF2B5EF4-FFF2-40B4-BE49-F238E27FC236}">
                <a16:creationId xmlns:a16="http://schemas.microsoft.com/office/drawing/2014/main" id="{616C7541-83A7-4F6D-A104-6B50EBC7EE6F}"/>
              </a:ext>
            </a:extLst>
          </p:cNvPr>
          <p:cNvSpPr>
            <a:spLocks noGrp="1"/>
          </p:cNvSpPr>
          <p:nvPr/>
        </p:nvSpPr>
        <p:spPr>
          <a:xfrm>
            <a:off x="3667125" y="4076700"/>
            <a:ext cx="1376881" cy="447675"/>
          </a:xfrm>
          <a:prstGeom prst="rect">
            <a:avLst/>
          </a:prstGeom>
          <a:solidFill>
            <a:srgbClr val="A83A3A"/>
          </a:solidFill>
          <a:ln w="0">
            <a:noFill/>
          </a:ln>
        </p:spPr>
        <p:txBody>
          <a:bodyPr/>
          <a:lstStyle/>
          <a:p>
            <a:endParaRPr lang="en-US"/>
          </a:p>
        </p:txBody>
      </p:sp>
      <p:sp>
        <p:nvSpPr>
          <p:cNvPr id="566" name="21%">
            <a:extLst>
              <a:ext uri="{FF2B5EF4-FFF2-40B4-BE49-F238E27FC236}">
                <a16:creationId xmlns:a16="http://schemas.microsoft.com/office/drawing/2014/main" id="{68A9922F-0927-4306-B67B-AF037B4D645A}"/>
              </a:ext>
            </a:extLst>
          </p:cNvPr>
          <p:cNvSpPr>
            <a:spLocks noGrp="1"/>
          </p:cNvSpPr>
          <p:nvPr/>
        </p:nvSpPr>
        <p:spPr>
          <a:xfrm>
            <a:off x="3705225" y="4181475"/>
            <a:ext cx="131973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7" name="Rectangle 566">
            <a:extLst>
              <a:ext uri="{FF2B5EF4-FFF2-40B4-BE49-F238E27FC236}">
                <a16:creationId xmlns:a16="http://schemas.microsoft.com/office/drawing/2014/main" id="{4C064842-F186-41FD-B8A9-70FDB9B3B6D3}"/>
              </a:ext>
            </a:extLst>
          </p:cNvPr>
          <p:cNvSpPr>
            <a:spLocks noGrp="1"/>
          </p:cNvSpPr>
          <p:nvPr/>
        </p:nvSpPr>
        <p:spPr>
          <a:xfrm>
            <a:off x="5044006" y="4076700"/>
            <a:ext cx="2340698" cy="447675"/>
          </a:xfrm>
          <a:prstGeom prst="rect">
            <a:avLst/>
          </a:prstGeom>
          <a:solidFill>
            <a:srgbClr val="DC713D"/>
          </a:solidFill>
          <a:ln w="0">
            <a:noFill/>
          </a:ln>
        </p:spPr>
        <p:txBody>
          <a:bodyPr/>
          <a:lstStyle/>
          <a:p>
            <a:endParaRPr lang="en-US"/>
          </a:p>
        </p:txBody>
      </p:sp>
      <p:sp>
        <p:nvSpPr>
          <p:cNvPr id="568" name="31%">
            <a:extLst>
              <a:ext uri="{FF2B5EF4-FFF2-40B4-BE49-F238E27FC236}">
                <a16:creationId xmlns:a16="http://schemas.microsoft.com/office/drawing/2014/main" id="{8246D488-4AEE-4D5F-B9BB-35C7FC9A4818}"/>
              </a:ext>
            </a:extLst>
          </p:cNvPr>
          <p:cNvSpPr>
            <a:spLocks noGrp="1"/>
          </p:cNvSpPr>
          <p:nvPr/>
        </p:nvSpPr>
        <p:spPr>
          <a:xfrm>
            <a:off x="5082106" y="4181475"/>
            <a:ext cx="22835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69" name="Rectangle 568">
            <a:extLst>
              <a:ext uri="{FF2B5EF4-FFF2-40B4-BE49-F238E27FC236}">
                <a16:creationId xmlns:a16="http://schemas.microsoft.com/office/drawing/2014/main" id="{AB480511-06DE-4030-8591-BCA9CF5004F8}"/>
              </a:ext>
            </a:extLst>
          </p:cNvPr>
          <p:cNvSpPr>
            <a:spLocks noGrp="1"/>
          </p:cNvSpPr>
          <p:nvPr/>
        </p:nvSpPr>
        <p:spPr>
          <a:xfrm>
            <a:off x="7384704" y="4076700"/>
            <a:ext cx="1927634" cy="447675"/>
          </a:xfrm>
          <a:prstGeom prst="rect">
            <a:avLst/>
          </a:prstGeom>
          <a:solidFill>
            <a:srgbClr val="4C91D8"/>
          </a:solidFill>
          <a:ln w="0">
            <a:noFill/>
          </a:ln>
        </p:spPr>
        <p:txBody>
          <a:bodyPr/>
          <a:lstStyle/>
          <a:p>
            <a:endParaRPr lang="en-US"/>
          </a:p>
        </p:txBody>
      </p:sp>
      <p:sp>
        <p:nvSpPr>
          <p:cNvPr id="570" name="25%">
            <a:extLst>
              <a:ext uri="{FF2B5EF4-FFF2-40B4-BE49-F238E27FC236}">
                <a16:creationId xmlns:a16="http://schemas.microsoft.com/office/drawing/2014/main" id="{141A2321-E553-4D9C-8051-383D6D69EA77}"/>
              </a:ext>
            </a:extLst>
          </p:cNvPr>
          <p:cNvSpPr>
            <a:spLocks noGrp="1"/>
          </p:cNvSpPr>
          <p:nvPr/>
        </p:nvSpPr>
        <p:spPr>
          <a:xfrm>
            <a:off x="7422804" y="4181475"/>
            <a:ext cx="18704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1" name="Rectangle 570">
            <a:extLst>
              <a:ext uri="{FF2B5EF4-FFF2-40B4-BE49-F238E27FC236}">
                <a16:creationId xmlns:a16="http://schemas.microsoft.com/office/drawing/2014/main" id="{12F7EA68-B272-4F7B-835B-8F553702EAA3}"/>
              </a:ext>
            </a:extLst>
          </p:cNvPr>
          <p:cNvSpPr>
            <a:spLocks noGrp="1"/>
          </p:cNvSpPr>
          <p:nvPr/>
        </p:nvSpPr>
        <p:spPr>
          <a:xfrm>
            <a:off x="9312338" y="4076700"/>
            <a:ext cx="1308037"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E25B7881-6BAA-4439-BB57-44CED5C3CEA2}"/>
              </a:ext>
            </a:extLst>
          </p:cNvPr>
          <p:cNvSpPr>
            <a:spLocks noGrp="1"/>
          </p:cNvSpPr>
          <p:nvPr/>
        </p:nvSpPr>
        <p:spPr>
          <a:xfrm>
            <a:off x="9350438" y="4181475"/>
            <a:ext cx="125088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73" name="n=381">
            <a:extLst>
              <a:ext uri="{FF2B5EF4-FFF2-40B4-BE49-F238E27FC236}">
                <a16:creationId xmlns:a16="http://schemas.microsoft.com/office/drawing/2014/main" id="{0465DDAD-F33A-4CE9-ACAA-629F7B2DC168}"/>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n=323</a:t>
            </a:r>
          </a:p>
        </p:txBody>
      </p:sp>
      <p:sp>
        <p:nvSpPr>
          <p:cNvPr id="574" name="90% or more">
            <a:extLst>
              <a:ext uri="{FF2B5EF4-FFF2-40B4-BE49-F238E27FC236}">
                <a16:creationId xmlns:a16="http://schemas.microsoft.com/office/drawing/2014/main" id="{F5411FAE-A15F-4452-80E6-DB1199CF1A42}"/>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90% or more</a:t>
            </a:r>
          </a:p>
        </p:txBody>
      </p:sp>
      <p:sp>
        <p:nvSpPr>
          <p:cNvPr id="575" name="Rectangle 574">
            <a:extLst>
              <a:ext uri="{FF2B5EF4-FFF2-40B4-BE49-F238E27FC236}">
                <a16:creationId xmlns:a16="http://schemas.microsoft.com/office/drawing/2014/main" id="{5C93551C-D5B1-4C8C-9C8D-9B0734874F3B}"/>
              </a:ext>
            </a:extLst>
          </p:cNvPr>
          <p:cNvSpPr>
            <a:spLocks noGrp="1"/>
          </p:cNvSpPr>
          <p:nvPr/>
        </p:nvSpPr>
        <p:spPr>
          <a:xfrm>
            <a:off x="3667125" y="4800600"/>
            <a:ext cx="1182052" cy="447675"/>
          </a:xfrm>
          <a:prstGeom prst="rect">
            <a:avLst/>
          </a:prstGeom>
          <a:solidFill>
            <a:srgbClr val="A83A3A"/>
          </a:solidFill>
          <a:ln w="0">
            <a:noFill/>
          </a:ln>
        </p:spPr>
        <p:txBody>
          <a:bodyPr/>
          <a:lstStyle/>
          <a:p>
            <a:endParaRPr lang="en-US"/>
          </a:p>
        </p:txBody>
      </p:sp>
      <p:sp>
        <p:nvSpPr>
          <p:cNvPr id="576" name="19%">
            <a:extLst>
              <a:ext uri="{FF2B5EF4-FFF2-40B4-BE49-F238E27FC236}">
                <a16:creationId xmlns:a16="http://schemas.microsoft.com/office/drawing/2014/main" id="{AC4EC6DF-5C03-4B2E-95FD-4C8B94E8339D}"/>
              </a:ext>
            </a:extLst>
          </p:cNvPr>
          <p:cNvSpPr>
            <a:spLocks noGrp="1"/>
          </p:cNvSpPr>
          <p:nvPr/>
        </p:nvSpPr>
        <p:spPr>
          <a:xfrm>
            <a:off x="3705225" y="4905375"/>
            <a:ext cx="11249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77" name="Rectangle 576">
            <a:extLst>
              <a:ext uri="{FF2B5EF4-FFF2-40B4-BE49-F238E27FC236}">
                <a16:creationId xmlns:a16="http://schemas.microsoft.com/office/drawing/2014/main" id="{A27C66C0-686A-43D2-A478-48545E11682F}"/>
              </a:ext>
            </a:extLst>
          </p:cNvPr>
          <p:cNvSpPr>
            <a:spLocks noGrp="1"/>
          </p:cNvSpPr>
          <p:nvPr/>
        </p:nvSpPr>
        <p:spPr>
          <a:xfrm>
            <a:off x="4849177" y="4800600"/>
            <a:ext cx="1946910" cy="447675"/>
          </a:xfrm>
          <a:prstGeom prst="rect">
            <a:avLst/>
          </a:prstGeom>
          <a:solidFill>
            <a:srgbClr val="DC713D"/>
          </a:solidFill>
          <a:ln w="0">
            <a:noFill/>
          </a:ln>
        </p:spPr>
        <p:txBody>
          <a:bodyPr/>
          <a:lstStyle/>
          <a:p>
            <a:endParaRPr lang="en-US"/>
          </a:p>
        </p:txBody>
      </p:sp>
      <p:sp>
        <p:nvSpPr>
          <p:cNvPr id="578" name="27%">
            <a:extLst>
              <a:ext uri="{FF2B5EF4-FFF2-40B4-BE49-F238E27FC236}">
                <a16:creationId xmlns:a16="http://schemas.microsoft.com/office/drawing/2014/main" id="{A8D71486-BD82-400E-A2E9-7AE926D0B442}"/>
              </a:ext>
            </a:extLst>
          </p:cNvPr>
          <p:cNvSpPr>
            <a:spLocks noGrp="1"/>
          </p:cNvSpPr>
          <p:nvPr/>
        </p:nvSpPr>
        <p:spPr>
          <a:xfrm>
            <a:off x="4887277" y="4905375"/>
            <a:ext cx="18897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9" name="Rectangle 578">
            <a:extLst>
              <a:ext uri="{FF2B5EF4-FFF2-40B4-BE49-F238E27FC236}">
                <a16:creationId xmlns:a16="http://schemas.microsoft.com/office/drawing/2014/main" id="{4D7E2659-29DA-47FF-81A3-D9C54017D23C}"/>
              </a:ext>
            </a:extLst>
          </p:cNvPr>
          <p:cNvSpPr>
            <a:spLocks noGrp="1"/>
          </p:cNvSpPr>
          <p:nvPr/>
        </p:nvSpPr>
        <p:spPr>
          <a:xfrm>
            <a:off x="6796087" y="4800600"/>
            <a:ext cx="2016442" cy="447675"/>
          </a:xfrm>
          <a:prstGeom prst="rect">
            <a:avLst/>
          </a:prstGeom>
          <a:solidFill>
            <a:srgbClr val="4C91D8"/>
          </a:solidFill>
          <a:ln w="0">
            <a:noFill/>
          </a:ln>
        </p:spPr>
        <p:txBody>
          <a:bodyPr/>
          <a:lstStyle/>
          <a:p>
            <a:endParaRPr lang="en-US"/>
          </a:p>
        </p:txBody>
      </p:sp>
      <p:sp>
        <p:nvSpPr>
          <p:cNvPr id="580" name="28%">
            <a:extLst>
              <a:ext uri="{FF2B5EF4-FFF2-40B4-BE49-F238E27FC236}">
                <a16:creationId xmlns:a16="http://schemas.microsoft.com/office/drawing/2014/main" id="{AF42DE66-547E-48CC-917A-8A133A15C046}"/>
              </a:ext>
            </a:extLst>
          </p:cNvPr>
          <p:cNvSpPr>
            <a:spLocks noGrp="1"/>
          </p:cNvSpPr>
          <p:nvPr/>
        </p:nvSpPr>
        <p:spPr>
          <a:xfrm>
            <a:off x="6834187" y="49053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81" name="Rectangle 580">
            <a:extLst>
              <a:ext uri="{FF2B5EF4-FFF2-40B4-BE49-F238E27FC236}">
                <a16:creationId xmlns:a16="http://schemas.microsoft.com/office/drawing/2014/main" id="{783F3CD6-D639-447A-A735-5C15E94DDD19}"/>
              </a:ext>
            </a:extLst>
          </p:cNvPr>
          <p:cNvSpPr>
            <a:spLocks noGrp="1"/>
          </p:cNvSpPr>
          <p:nvPr/>
        </p:nvSpPr>
        <p:spPr>
          <a:xfrm>
            <a:off x="8812529" y="4800600"/>
            <a:ext cx="1807846" cy="447675"/>
          </a:xfrm>
          <a:prstGeom prst="rect">
            <a:avLst/>
          </a:prstGeom>
          <a:solidFill>
            <a:srgbClr val="285B9F"/>
          </a:solidFill>
          <a:ln w="0">
            <a:noFill/>
          </a:ln>
        </p:spPr>
        <p:txBody>
          <a:bodyPr/>
          <a:lstStyle/>
          <a:p>
            <a:endParaRPr lang="en-US"/>
          </a:p>
        </p:txBody>
      </p:sp>
      <p:sp>
        <p:nvSpPr>
          <p:cNvPr id="582" name="26%">
            <a:extLst>
              <a:ext uri="{FF2B5EF4-FFF2-40B4-BE49-F238E27FC236}">
                <a16:creationId xmlns:a16="http://schemas.microsoft.com/office/drawing/2014/main" id="{FC827F02-5966-4002-AA9E-9F8FF77618FF}"/>
              </a:ext>
            </a:extLst>
          </p:cNvPr>
          <p:cNvSpPr>
            <a:spLocks noGrp="1"/>
          </p:cNvSpPr>
          <p:nvPr/>
        </p:nvSpPr>
        <p:spPr>
          <a:xfrm>
            <a:off x="8850629" y="4905375"/>
            <a:ext cx="17506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3" name="n=418">
            <a:extLst>
              <a:ext uri="{FF2B5EF4-FFF2-40B4-BE49-F238E27FC236}">
                <a16:creationId xmlns:a16="http://schemas.microsoft.com/office/drawing/2014/main" id="{51DE1F61-3779-4D5B-99DB-A08CC2EE173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n=349</a:t>
            </a:r>
          </a:p>
        </p:txBody>
      </p:sp>
      <p:sp>
        <p:nvSpPr>
          <p:cNvPr id="584" name="Rectangle 583">
            <a:extLst>
              <a:ext uri="{FF2B5EF4-FFF2-40B4-BE49-F238E27FC236}">
                <a16:creationId xmlns:a16="http://schemas.microsoft.com/office/drawing/2014/main" id="{8E61EA85-6D73-4892-99C1-DF37B1ECAB69}"/>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0A74C96B-5166-4C72-B600-E6CC730BF67C}"/>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650B9770-DFBA-4FA3-9455-50BA2E76EF8A}"/>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39687255-2F25-4C7D-8EA8-AA594C397AE8}"/>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0A0860D4-B323-4017-BCDF-FEDE7313D387}"/>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1BE2B5E4-C7B3-432D-A6A5-C5E92BDDDFEC}"/>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AFACCF0D-0B10-4F36-9556-EC81C65BFF93}"/>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17BF479C-AEBD-47FE-B9B6-FC4D08118380}"/>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3" name="Straight Arrow Connector 2">
            <a:extLst>
              <a:ext uri="{FF2B5EF4-FFF2-40B4-BE49-F238E27FC236}">
                <a16:creationId xmlns:a16="http://schemas.microsoft.com/office/drawing/2014/main" id="{9A1C4D91-DFFF-DE55-0038-74206E0960FF}"/>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7370C7B-D38B-4D8A-0A2F-4319423D0E32}"/>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56809DF-2BB9-8D46-F09E-A1FFB0A7DE02}"/>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12" name="TextBox 11">
            <a:extLst>
              <a:ext uri="{FF2B5EF4-FFF2-40B4-BE49-F238E27FC236}">
                <a16:creationId xmlns:a16="http://schemas.microsoft.com/office/drawing/2014/main" id="{79E311A4-ECB6-FE8F-E074-5FC9C156B4A0}"/>
              </a:ext>
            </a:extLst>
          </p:cNvPr>
          <p:cNvSpPr txBox="1"/>
          <p:nvPr/>
        </p:nvSpPr>
        <p:spPr>
          <a:xfrm rot="16200000">
            <a:off x="-460441" y="2715997"/>
            <a:ext cx="1351652" cy="369332"/>
          </a:xfrm>
          <a:prstGeom prst="rect">
            <a:avLst/>
          </a:prstGeom>
          <a:noFill/>
        </p:spPr>
        <p:txBody>
          <a:bodyPr wrap="none" rtlCol="0">
            <a:spAutoFit/>
          </a:bodyPr>
          <a:lstStyle/>
          <a:p>
            <a:r>
              <a:rPr lang="en-US" dirty="0"/>
              <a:t>Attendance</a:t>
            </a:r>
          </a:p>
        </p:txBody>
      </p:sp>
    </p:spTree>
    <p:extLst>
      <p:ext uri="{BB962C8B-B14F-4D97-AF65-F5344CB8AC3E}">
        <p14:creationId xmlns:p14="http://schemas.microsoft.com/office/powerpoint/2010/main" val="546221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Weekly study time and CGPA</a:t>
            </a:r>
          </a:p>
        </p:txBody>
      </p:sp>
      <p:sp>
        <p:nvSpPr>
          <p:cNvPr id="534" name="Less than 3 hrs">
            <a:extLst>
              <a:ext uri="{FF2B5EF4-FFF2-40B4-BE49-F238E27FC236}">
                <a16:creationId xmlns:a16="http://schemas.microsoft.com/office/drawing/2014/main" id="{70778BCB-E655-437B-9DD3-E03E58F3C925}"/>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Less than 3 hrs</a:t>
            </a:r>
          </a:p>
        </p:txBody>
      </p:sp>
      <p:sp>
        <p:nvSpPr>
          <p:cNvPr id="535" name="Rectangle 534">
            <a:extLst>
              <a:ext uri="{FF2B5EF4-FFF2-40B4-BE49-F238E27FC236}">
                <a16:creationId xmlns:a16="http://schemas.microsoft.com/office/drawing/2014/main" id="{590C2AEA-6F7A-4912-BDF6-4509D1E7DC8F}"/>
              </a:ext>
            </a:extLst>
          </p:cNvPr>
          <p:cNvSpPr>
            <a:spLocks noGrp="1"/>
          </p:cNvSpPr>
          <p:nvPr/>
        </p:nvSpPr>
        <p:spPr>
          <a:xfrm>
            <a:off x="3667125" y="1905000"/>
            <a:ext cx="1599248" cy="447675"/>
          </a:xfrm>
          <a:prstGeom prst="rect">
            <a:avLst/>
          </a:prstGeom>
          <a:solidFill>
            <a:srgbClr val="A83A3A"/>
          </a:solidFill>
          <a:ln w="0">
            <a:noFill/>
          </a:ln>
        </p:spPr>
        <p:txBody>
          <a:bodyPr/>
          <a:lstStyle/>
          <a:p>
            <a:endParaRPr lang="en-US"/>
          </a:p>
        </p:txBody>
      </p:sp>
      <p:sp>
        <p:nvSpPr>
          <p:cNvPr id="536" name="24%">
            <a:extLst>
              <a:ext uri="{FF2B5EF4-FFF2-40B4-BE49-F238E27FC236}">
                <a16:creationId xmlns:a16="http://schemas.microsoft.com/office/drawing/2014/main" id="{F2769B4C-70EF-445C-8DB1-516CE7274BF8}"/>
              </a:ext>
            </a:extLst>
          </p:cNvPr>
          <p:cNvSpPr>
            <a:spLocks noGrp="1"/>
          </p:cNvSpPr>
          <p:nvPr/>
        </p:nvSpPr>
        <p:spPr>
          <a:xfrm>
            <a:off x="3705225" y="2009775"/>
            <a:ext cx="154209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37" name="Rectangle 536">
            <a:extLst>
              <a:ext uri="{FF2B5EF4-FFF2-40B4-BE49-F238E27FC236}">
                <a16:creationId xmlns:a16="http://schemas.microsoft.com/office/drawing/2014/main" id="{1CA4B648-03DB-4FF2-8994-34D50CC193EE}"/>
              </a:ext>
            </a:extLst>
          </p:cNvPr>
          <p:cNvSpPr>
            <a:spLocks noGrp="1"/>
          </p:cNvSpPr>
          <p:nvPr/>
        </p:nvSpPr>
        <p:spPr>
          <a:xfrm>
            <a:off x="5266373" y="1905000"/>
            <a:ext cx="2016442" cy="447675"/>
          </a:xfrm>
          <a:prstGeom prst="rect">
            <a:avLst/>
          </a:prstGeom>
          <a:solidFill>
            <a:srgbClr val="DC713D"/>
          </a:solidFill>
          <a:ln w="0">
            <a:noFill/>
          </a:ln>
        </p:spPr>
        <p:txBody>
          <a:bodyPr/>
          <a:lstStyle/>
          <a:p>
            <a:endParaRPr lang="en-US"/>
          </a:p>
        </p:txBody>
      </p:sp>
      <p:sp>
        <p:nvSpPr>
          <p:cNvPr id="538" name="28%">
            <a:extLst>
              <a:ext uri="{FF2B5EF4-FFF2-40B4-BE49-F238E27FC236}">
                <a16:creationId xmlns:a16="http://schemas.microsoft.com/office/drawing/2014/main" id="{CF8C6C7E-A8E8-4854-BEF4-0BCDBFC9D9FC}"/>
              </a:ext>
            </a:extLst>
          </p:cNvPr>
          <p:cNvSpPr>
            <a:spLocks noGrp="1"/>
          </p:cNvSpPr>
          <p:nvPr/>
        </p:nvSpPr>
        <p:spPr>
          <a:xfrm>
            <a:off x="5304473" y="20097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39" name="Rectangle 538">
            <a:extLst>
              <a:ext uri="{FF2B5EF4-FFF2-40B4-BE49-F238E27FC236}">
                <a16:creationId xmlns:a16="http://schemas.microsoft.com/office/drawing/2014/main" id="{8FE69750-DEE1-46F4-BEB7-18B27FBCC9C7}"/>
              </a:ext>
            </a:extLst>
          </p:cNvPr>
          <p:cNvSpPr>
            <a:spLocks noGrp="1"/>
          </p:cNvSpPr>
          <p:nvPr/>
        </p:nvSpPr>
        <p:spPr>
          <a:xfrm>
            <a:off x="7282815" y="1905000"/>
            <a:ext cx="2155508" cy="447675"/>
          </a:xfrm>
          <a:prstGeom prst="rect">
            <a:avLst/>
          </a:prstGeom>
          <a:solidFill>
            <a:srgbClr val="4C91D8"/>
          </a:solidFill>
          <a:ln w="0">
            <a:noFill/>
          </a:ln>
        </p:spPr>
        <p:txBody>
          <a:bodyPr/>
          <a:lstStyle/>
          <a:p>
            <a:endParaRPr lang="en-US"/>
          </a:p>
        </p:txBody>
      </p:sp>
      <p:sp>
        <p:nvSpPr>
          <p:cNvPr id="540" name="29%">
            <a:extLst>
              <a:ext uri="{FF2B5EF4-FFF2-40B4-BE49-F238E27FC236}">
                <a16:creationId xmlns:a16="http://schemas.microsoft.com/office/drawing/2014/main" id="{20ADEF86-D466-4878-B7E8-1E8E089CFF10}"/>
              </a:ext>
            </a:extLst>
          </p:cNvPr>
          <p:cNvSpPr>
            <a:spLocks noGrp="1"/>
          </p:cNvSpPr>
          <p:nvPr/>
        </p:nvSpPr>
        <p:spPr>
          <a:xfrm>
            <a:off x="7320915" y="20097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41" name="Rectangle 540">
            <a:extLst>
              <a:ext uri="{FF2B5EF4-FFF2-40B4-BE49-F238E27FC236}">
                <a16:creationId xmlns:a16="http://schemas.microsoft.com/office/drawing/2014/main" id="{07BC572C-CF0C-4BF0-9CF1-D279D9D2BDF5}"/>
              </a:ext>
            </a:extLst>
          </p:cNvPr>
          <p:cNvSpPr>
            <a:spLocks noGrp="1"/>
          </p:cNvSpPr>
          <p:nvPr/>
        </p:nvSpPr>
        <p:spPr>
          <a:xfrm>
            <a:off x="9438323" y="1905000"/>
            <a:ext cx="1182052" cy="447675"/>
          </a:xfrm>
          <a:prstGeom prst="rect">
            <a:avLst/>
          </a:prstGeom>
          <a:solidFill>
            <a:srgbClr val="285B9F"/>
          </a:solidFill>
          <a:ln w="0">
            <a:noFill/>
          </a:ln>
        </p:spPr>
        <p:txBody>
          <a:bodyPr/>
          <a:lstStyle/>
          <a:p>
            <a:endParaRPr lang="en-US"/>
          </a:p>
        </p:txBody>
      </p:sp>
      <p:sp>
        <p:nvSpPr>
          <p:cNvPr id="542" name="19%">
            <a:extLst>
              <a:ext uri="{FF2B5EF4-FFF2-40B4-BE49-F238E27FC236}">
                <a16:creationId xmlns:a16="http://schemas.microsoft.com/office/drawing/2014/main" id="{90D7E1D5-D057-46E2-8C35-9C7988D5F133}"/>
              </a:ext>
            </a:extLst>
          </p:cNvPr>
          <p:cNvSpPr>
            <a:spLocks noGrp="1"/>
          </p:cNvSpPr>
          <p:nvPr/>
        </p:nvSpPr>
        <p:spPr>
          <a:xfrm>
            <a:off x="9476423" y="2009775"/>
            <a:ext cx="11249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43" name="n=235">
            <a:extLst>
              <a:ext uri="{FF2B5EF4-FFF2-40B4-BE49-F238E27FC236}">
                <a16:creationId xmlns:a16="http://schemas.microsoft.com/office/drawing/2014/main" id="{27CC9F38-B2FF-406A-A1A7-AA36ECBF9F11}"/>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n=194</a:t>
            </a:r>
          </a:p>
        </p:txBody>
      </p:sp>
      <p:sp>
        <p:nvSpPr>
          <p:cNvPr id="544" name="3-6 hrs">
            <a:extLst>
              <a:ext uri="{FF2B5EF4-FFF2-40B4-BE49-F238E27FC236}">
                <a16:creationId xmlns:a16="http://schemas.microsoft.com/office/drawing/2014/main" id="{D07F0436-65F3-4ED3-AFC1-0CD33ACB6CDD}"/>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3-6 hrs</a:t>
            </a:r>
          </a:p>
        </p:txBody>
      </p:sp>
      <p:sp>
        <p:nvSpPr>
          <p:cNvPr id="545" name="Rectangle 544">
            <a:extLst>
              <a:ext uri="{FF2B5EF4-FFF2-40B4-BE49-F238E27FC236}">
                <a16:creationId xmlns:a16="http://schemas.microsoft.com/office/drawing/2014/main" id="{0664C06E-B518-4B5E-BD1F-2CFD392BE599}"/>
              </a:ext>
            </a:extLst>
          </p:cNvPr>
          <p:cNvSpPr>
            <a:spLocks noGrp="1"/>
          </p:cNvSpPr>
          <p:nvPr/>
        </p:nvSpPr>
        <p:spPr>
          <a:xfrm>
            <a:off x="3667125" y="2628900"/>
            <a:ext cx="1668780" cy="447675"/>
          </a:xfrm>
          <a:prstGeom prst="rect">
            <a:avLst/>
          </a:prstGeom>
          <a:solidFill>
            <a:srgbClr val="A83A3A"/>
          </a:solidFill>
          <a:ln w="0">
            <a:noFill/>
          </a:ln>
        </p:spPr>
        <p:txBody>
          <a:bodyPr/>
          <a:lstStyle/>
          <a:p>
            <a:endParaRPr lang="en-US"/>
          </a:p>
        </p:txBody>
      </p:sp>
      <p:sp>
        <p:nvSpPr>
          <p:cNvPr id="546" name="26%">
            <a:extLst>
              <a:ext uri="{FF2B5EF4-FFF2-40B4-BE49-F238E27FC236}">
                <a16:creationId xmlns:a16="http://schemas.microsoft.com/office/drawing/2014/main" id="{DA377271-797E-4E31-B89A-53E5ED1497B7}"/>
              </a:ext>
            </a:extLst>
          </p:cNvPr>
          <p:cNvSpPr>
            <a:spLocks noGrp="1"/>
          </p:cNvSpPr>
          <p:nvPr/>
        </p:nvSpPr>
        <p:spPr>
          <a:xfrm>
            <a:off x="3705225" y="2733675"/>
            <a:ext cx="16116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47" name="Rectangle 546">
            <a:extLst>
              <a:ext uri="{FF2B5EF4-FFF2-40B4-BE49-F238E27FC236}">
                <a16:creationId xmlns:a16="http://schemas.microsoft.com/office/drawing/2014/main" id="{324D13B8-6A30-4990-8220-1441E41E9F03}"/>
              </a:ext>
            </a:extLst>
          </p:cNvPr>
          <p:cNvSpPr>
            <a:spLocks noGrp="1"/>
          </p:cNvSpPr>
          <p:nvPr/>
        </p:nvSpPr>
        <p:spPr>
          <a:xfrm>
            <a:off x="5335905" y="2628900"/>
            <a:ext cx="2085975" cy="447675"/>
          </a:xfrm>
          <a:prstGeom prst="rect">
            <a:avLst/>
          </a:prstGeom>
          <a:solidFill>
            <a:srgbClr val="DC713D"/>
          </a:solidFill>
          <a:ln w="0">
            <a:noFill/>
          </a:ln>
        </p:spPr>
        <p:txBody>
          <a:bodyPr/>
          <a:lstStyle/>
          <a:p>
            <a:endParaRPr lang="en-US"/>
          </a:p>
        </p:txBody>
      </p:sp>
      <p:sp>
        <p:nvSpPr>
          <p:cNvPr id="548" name="29%">
            <a:extLst>
              <a:ext uri="{FF2B5EF4-FFF2-40B4-BE49-F238E27FC236}">
                <a16:creationId xmlns:a16="http://schemas.microsoft.com/office/drawing/2014/main" id="{597691AB-36B4-44E4-9DF8-D75FAB641BFE}"/>
              </a:ext>
            </a:extLst>
          </p:cNvPr>
          <p:cNvSpPr>
            <a:spLocks noGrp="1"/>
          </p:cNvSpPr>
          <p:nvPr/>
        </p:nvSpPr>
        <p:spPr>
          <a:xfrm>
            <a:off x="5374005" y="27336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49" name="Rectangle 548">
            <a:extLst>
              <a:ext uri="{FF2B5EF4-FFF2-40B4-BE49-F238E27FC236}">
                <a16:creationId xmlns:a16="http://schemas.microsoft.com/office/drawing/2014/main" id="{4CA30C58-AB23-411F-90C2-10430F2DE73D}"/>
              </a:ext>
            </a:extLst>
          </p:cNvPr>
          <p:cNvSpPr>
            <a:spLocks noGrp="1"/>
          </p:cNvSpPr>
          <p:nvPr/>
        </p:nvSpPr>
        <p:spPr>
          <a:xfrm>
            <a:off x="7421880" y="2628900"/>
            <a:ext cx="2016442" cy="447675"/>
          </a:xfrm>
          <a:prstGeom prst="rect">
            <a:avLst/>
          </a:prstGeom>
          <a:solidFill>
            <a:srgbClr val="4C91D8"/>
          </a:solidFill>
          <a:ln w="0">
            <a:noFill/>
          </a:ln>
        </p:spPr>
        <p:txBody>
          <a:bodyPr/>
          <a:lstStyle/>
          <a:p>
            <a:endParaRPr lang="en-US"/>
          </a:p>
        </p:txBody>
      </p:sp>
      <p:sp>
        <p:nvSpPr>
          <p:cNvPr id="550" name="27%">
            <a:extLst>
              <a:ext uri="{FF2B5EF4-FFF2-40B4-BE49-F238E27FC236}">
                <a16:creationId xmlns:a16="http://schemas.microsoft.com/office/drawing/2014/main" id="{593DA408-8A1A-4913-8B4E-086E805E984C}"/>
              </a:ext>
            </a:extLst>
          </p:cNvPr>
          <p:cNvSpPr>
            <a:spLocks noGrp="1"/>
          </p:cNvSpPr>
          <p:nvPr/>
        </p:nvSpPr>
        <p:spPr>
          <a:xfrm>
            <a:off x="7459980" y="27336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51" name="Rectangle 550">
            <a:extLst>
              <a:ext uri="{FF2B5EF4-FFF2-40B4-BE49-F238E27FC236}">
                <a16:creationId xmlns:a16="http://schemas.microsoft.com/office/drawing/2014/main" id="{9BA655DE-8304-4EA0-BB9C-71D807F5329E}"/>
              </a:ext>
            </a:extLst>
          </p:cNvPr>
          <p:cNvSpPr>
            <a:spLocks noGrp="1"/>
          </p:cNvSpPr>
          <p:nvPr/>
        </p:nvSpPr>
        <p:spPr>
          <a:xfrm>
            <a:off x="9438322" y="2628900"/>
            <a:ext cx="1182053" cy="447675"/>
          </a:xfrm>
          <a:prstGeom prst="rect">
            <a:avLst/>
          </a:prstGeom>
          <a:solidFill>
            <a:srgbClr val="285B9F"/>
          </a:solidFill>
          <a:ln w="0">
            <a:noFill/>
          </a:ln>
        </p:spPr>
        <p:txBody>
          <a:bodyPr/>
          <a:lstStyle/>
          <a:p>
            <a:endParaRPr lang="en-US"/>
          </a:p>
        </p:txBody>
      </p:sp>
      <p:sp>
        <p:nvSpPr>
          <p:cNvPr id="552" name="19%">
            <a:extLst>
              <a:ext uri="{FF2B5EF4-FFF2-40B4-BE49-F238E27FC236}">
                <a16:creationId xmlns:a16="http://schemas.microsoft.com/office/drawing/2014/main" id="{E05CFD60-315B-4EDF-A286-4608BA761D49}"/>
              </a:ext>
            </a:extLst>
          </p:cNvPr>
          <p:cNvSpPr>
            <a:spLocks noGrp="1"/>
          </p:cNvSpPr>
          <p:nvPr/>
        </p:nvSpPr>
        <p:spPr>
          <a:xfrm>
            <a:off x="9476422" y="2733675"/>
            <a:ext cx="112490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53" name="n=281">
            <a:extLst>
              <a:ext uri="{FF2B5EF4-FFF2-40B4-BE49-F238E27FC236}">
                <a16:creationId xmlns:a16="http://schemas.microsoft.com/office/drawing/2014/main" id="{9CFDA46E-1F09-4D69-B6DD-DBFE9176CEC7}"/>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n=237</a:t>
            </a:r>
          </a:p>
        </p:txBody>
      </p:sp>
      <p:sp>
        <p:nvSpPr>
          <p:cNvPr id="554" name="7-10 hrs">
            <a:extLst>
              <a:ext uri="{FF2B5EF4-FFF2-40B4-BE49-F238E27FC236}">
                <a16:creationId xmlns:a16="http://schemas.microsoft.com/office/drawing/2014/main" id="{8B20D5B9-52AD-47A8-B86B-D18FD006039D}"/>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7-10 hrs</a:t>
            </a:r>
          </a:p>
        </p:txBody>
      </p:sp>
      <p:sp>
        <p:nvSpPr>
          <p:cNvPr id="555" name="Rectangle 554">
            <a:extLst>
              <a:ext uri="{FF2B5EF4-FFF2-40B4-BE49-F238E27FC236}">
                <a16:creationId xmlns:a16="http://schemas.microsoft.com/office/drawing/2014/main" id="{2C0B80F8-0C93-4498-BEDA-96866B71E28C}"/>
              </a:ext>
            </a:extLst>
          </p:cNvPr>
          <p:cNvSpPr>
            <a:spLocks noGrp="1"/>
          </p:cNvSpPr>
          <p:nvPr/>
        </p:nvSpPr>
        <p:spPr>
          <a:xfrm>
            <a:off x="3667125" y="3352800"/>
            <a:ext cx="973455" cy="447675"/>
          </a:xfrm>
          <a:prstGeom prst="rect">
            <a:avLst/>
          </a:prstGeom>
          <a:solidFill>
            <a:srgbClr val="A83A3A"/>
          </a:solidFill>
          <a:ln w="0">
            <a:noFill/>
          </a:ln>
        </p:spPr>
        <p:txBody>
          <a:bodyPr/>
          <a:lstStyle/>
          <a:p>
            <a:endParaRPr lang="en-US"/>
          </a:p>
        </p:txBody>
      </p:sp>
      <p:sp>
        <p:nvSpPr>
          <p:cNvPr id="556" name="16%">
            <a:extLst>
              <a:ext uri="{FF2B5EF4-FFF2-40B4-BE49-F238E27FC236}">
                <a16:creationId xmlns:a16="http://schemas.microsoft.com/office/drawing/2014/main" id="{E0FDE422-EE85-4091-84A4-42EAA6D985AD}"/>
              </a:ext>
            </a:extLst>
          </p:cNvPr>
          <p:cNvSpPr>
            <a:spLocks noGrp="1"/>
          </p:cNvSpPr>
          <p:nvPr/>
        </p:nvSpPr>
        <p:spPr>
          <a:xfrm>
            <a:off x="3705225" y="3457575"/>
            <a:ext cx="91630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14%</a:t>
            </a:r>
          </a:p>
        </p:txBody>
      </p:sp>
      <p:sp>
        <p:nvSpPr>
          <p:cNvPr id="557" name="Rectangle 556">
            <a:extLst>
              <a:ext uri="{FF2B5EF4-FFF2-40B4-BE49-F238E27FC236}">
                <a16:creationId xmlns:a16="http://schemas.microsoft.com/office/drawing/2014/main" id="{8CE00508-D597-4FD2-BEAF-76E6794B3809}"/>
              </a:ext>
            </a:extLst>
          </p:cNvPr>
          <p:cNvSpPr>
            <a:spLocks noGrp="1"/>
          </p:cNvSpPr>
          <p:nvPr/>
        </p:nvSpPr>
        <p:spPr>
          <a:xfrm>
            <a:off x="4640580" y="3352800"/>
            <a:ext cx="2225040" cy="447675"/>
          </a:xfrm>
          <a:prstGeom prst="rect">
            <a:avLst/>
          </a:prstGeom>
          <a:solidFill>
            <a:srgbClr val="DC713D"/>
          </a:solidFill>
          <a:ln w="0">
            <a:noFill/>
          </a:ln>
        </p:spPr>
        <p:txBody>
          <a:bodyPr/>
          <a:lstStyle/>
          <a:p>
            <a:endParaRPr lang="en-US"/>
          </a:p>
        </p:txBody>
      </p:sp>
      <p:sp>
        <p:nvSpPr>
          <p:cNvPr id="558" name="30%">
            <a:extLst>
              <a:ext uri="{FF2B5EF4-FFF2-40B4-BE49-F238E27FC236}">
                <a16:creationId xmlns:a16="http://schemas.microsoft.com/office/drawing/2014/main" id="{E834BA59-4962-4D1E-A1D8-E441EE560A1F}"/>
              </a:ext>
            </a:extLst>
          </p:cNvPr>
          <p:cNvSpPr>
            <a:spLocks noGrp="1"/>
          </p:cNvSpPr>
          <p:nvPr/>
        </p:nvSpPr>
        <p:spPr>
          <a:xfrm>
            <a:off x="4678680" y="34575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59" name="Rectangle 558">
            <a:extLst>
              <a:ext uri="{FF2B5EF4-FFF2-40B4-BE49-F238E27FC236}">
                <a16:creationId xmlns:a16="http://schemas.microsoft.com/office/drawing/2014/main" id="{EB8240C7-15D9-4850-89CE-5E70B3D8B77B}"/>
              </a:ext>
            </a:extLst>
          </p:cNvPr>
          <p:cNvSpPr>
            <a:spLocks noGrp="1"/>
          </p:cNvSpPr>
          <p:nvPr/>
        </p:nvSpPr>
        <p:spPr>
          <a:xfrm>
            <a:off x="6865620" y="3352800"/>
            <a:ext cx="2085975" cy="447675"/>
          </a:xfrm>
          <a:prstGeom prst="rect">
            <a:avLst/>
          </a:prstGeom>
          <a:solidFill>
            <a:srgbClr val="4C91D8"/>
          </a:solidFill>
          <a:ln w="0">
            <a:noFill/>
          </a:ln>
        </p:spPr>
        <p:txBody>
          <a:bodyPr/>
          <a:lstStyle/>
          <a:p>
            <a:endParaRPr lang="en-US"/>
          </a:p>
        </p:txBody>
      </p:sp>
      <p:sp>
        <p:nvSpPr>
          <p:cNvPr id="560" name="30%">
            <a:extLst>
              <a:ext uri="{FF2B5EF4-FFF2-40B4-BE49-F238E27FC236}">
                <a16:creationId xmlns:a16="http://schemas.microsoft.com/office/drawing/2014/main" id="{29B81990-F961-49EB-8FCC-693E440F2F42}"/>
              </a:ext>
            </a:extLst>
          </p:cNvPr>
          <p:cNvSpPr>
            <a:spLocks noGrp="1"/>
          </p:cNvSpPr>
          <p:nvPr/>
        </p:nvSpPr>
        <p:spPr>
          <a:xfrm>
            <a:off x="6903720" y="34575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61" name="Rectangle 560">
            <a:extLst>
              <a:ext uri="{FF2B5EF4-FFF2-40B4-BE49-F238E27FC236}">
                <a16:creationId xmlns:a16="http://schemas.microsoft.com/office/drawing/2014/main" id="{CCC73F04-DC4C-4339-900E-073548342F63}"/>
              </a:ext>
            </a:extLst>
          </p:cNvPr>
          <p:cNvSpPr>
            <a:spLocks noGrp="1"/>
          </p:cNvSpPr>
          <p:nvPr/>
        </p:nvSpPr>
        <p:spPr>
          <a:xfrm>
            <a:off x="8951595" y="3352800"/>
            <a:ext cx="1668780" cy="447675"/>
          </a:xfrm>
          <a:prstGeom prst="rect">
            <a:avLst/>
          </a:prstGeom>
          <a:solidFill>
            <a:srgbClr val="285B9F"/>
          </a:solidFill>
          <a:ln w="0">
            <a:noFill/>
          </a:ln>
        </p:spPr>
        <p:txBody>
          <a:bodyPr/>
          <a:lstStyle/>
          <a:p>
            <a:endParaRPr lang="en-US"/>
          </a:p>
        </p:txBody>
      </p:sp>
      <p:sp>
        <p:nvSpPr>
          <p:cNvPr id="562" name="24%">
            <a:extLst>
              <a:ext uri="{FF2B5EF4-FFF2-40B4-BE49-F238E27FC236}">
                <a16:creationId xmlns:a16="http://schemas.microsoft.com/office/drawing/2014/main" id="{00524BD5-60CE-4C5F-BC10-DD220CFAB322}"/>
              </a:ext>
            </a:extLst>
          </p:cNvPr>
          <p:cNvSpPr>
            <a:spLocks noGrp="1"/>
          </p:cNvSpPr>
          <p:nvPr/>
        </p:nvSpPr>
        <p:spPr>
          <a:xfrm>
            <a:off x="8989695" y="3457575"/>
            <a:ext cx="16116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63" name="n=251">
            <a:extLst>
              <a:ext uri="{FF2B5EF4-FFF2-40B4-BE49-F238E27FC236}">
                <a16:creationId xmlns:a16="http://schemas.microsoft.com/office/drawing/2014/main" id="{0CECC818-499B-449F-ABF8-F8F6550B918C}"/>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n=217</a:t>
            </a:r>
          </a:p>
        </p:txBody>
      </p:sp>
      <p:sp>
        <p:nvSpPr>
          <p:cNvPr id="564" name="11-15 hrs">
            <a:extLst>
              <a:ext uri="{FF2B5EF4-FFF2-40B4-BE49-F238E27FC236}">
                <a16:creationId xmlns:a16="http://schemas.microsoft.com/office/drawing/2014/main" id="{56656A85-AB22-4768-92FB-0F83A58A4B52}"/>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11-15 hrs</a:t>
            </a:r>
          </a:p>
        </p:txBody>
      </p:sp>
      <p:sp>
        <p:nvSpPr>
          <p:cNvPr id="565" name="Rectangle 564">
            <a:extLst>
              <a:ext uri="{FF2B5EF4-FFF2-40B4-BE49-F238E27FC236}">
                <a16:creationId xmlns:a16="http://schemas.microsoft.com/office/drawing/2014/main" id="{42E4A8BB-0FA4-409E-9728-FF592BB73463}"/>
              </a:ext>
            </a:extLst>
          </p:cNvPr>
          <p:cNvSpPr>
            <a:spLocks noGrp="1"/>
          </p:cNvSpPr>
          <p:nvPr/>
        </p:nvSpPr>
        <p:spPr>
          <a:xfrm>
            <a:off x="3667125" y="4076700"/>
            <a:ext cx="1251585"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C36043BA-31A3-4AD5-8E4F-BD8E83F0C4F5}"/>
              </a:ext>
            </a:extLst>
          </p:cNvPr>
          <p:cNvSpPr>
            <a:spLocks noGrp="1"/>
          </p:cNvSpPr>
          <p:nvPr/>
        </p:nvSpPr>
        <p:spPr>
          <a:xfrm>
            <a:off x="3705225" y="4181475"/>
            <a:ext cx="11944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A07D8E76-D99A-4E8E-8664-DC58FD97EB50}"/>
              </a:ext>
            </a:extLst>
          </p:cNvPr>
          <p:cNvSpPr>
            <a:spLocks noGrp="1"/>
          </p:cNvSpPr>
          <p:nvPr/>
        </p:nvSpPr>
        <p:spPr>
          <a:xfrm>
            <a:off x="4918710" y="4076700"/>
            <a:ext cx="2433638" cy="447675"/>
          </a:xfrm>
          <a:prstGeom prst="rect">
            <a:avLst/>
          </a:prstGeom>
          <a:solidFill>
            <a:srgbClr val="DC713D"/>
          </a:solidFill>
          <a:ln w="0">
            <a:noFill/>
          </a:ln>
        </p:spPr>
        <p:txBody>
          <a:bodyPr/>
          <a:lstStyle/>
          <a:p>
            <a:endParaRPr lang="en-US"/>
          </a:p>
        </p:txBody>
      </p:sp>
      <p:sp>
        <p:nvSpPr>
          <p:cNvPr id="568" name="31%">
            <a:extLst>
              <a:ext uri="{FF2B5EF4-FFF2-40B4-BE49-F238E27FC236}">
                <a16:creationId xmlns:a16="http://schemas.microsoft.com/office/drawing/2014/main" id="{F4ADD8D5-4CF4-4B25-8ABB-550F01BEF16D}"/>
              </a:ext>
            </a:extLst>
          </p:cNvPr>
          <p:cNvSpPr>
            <a:spLocks noGrp="1"/>
          </p:cNvSpPr>
          <p:nvPr/>
        </p:nvSpPr>
        <p:spPr>
          <a:xfrm>
            <a:off x="4956810" y="4181475"/>
            <a:ext cx="23764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69" name="Rectangle 568">
            <a:extLst>
              <a:ext uri="{FF2B5EF4-FFF2-40B4-BE49-F238E27FC236}">
                <a16:creationId xmlns:a16="http://schemas.microsoft.com/office/drawing/2014/main" id="{20CEC772-ED85-42E8-B357-F7944AB37A33}"/>
              </a:ext>
            </a:extLst>
          </p:cNvPr>
          <p:cNvSpPr>
            <a:spLocks noGrp="1"/>
          </p:cNvSpPr>
          <p:nvPr/>
        </p:nvSpPr>
        <p:spPr>
          <a:xfrm>
            <a:off x="7352348" y="4076700"/>
            <a:ext cx="1738312" cy="447675"/>
          </a:xfrm>
          <a:prstGeom prst="rect">
            <a:avLst/>
          </a:prstGeom>
          <a:solidFill>
            <a:srgbClr val="4C91D8"/>
          </a:solidFill>
          <a:ln w="0">
            <a:noFill/>
          </a:ln>
        </p:spPr>
        <p:txBody>
          <a:bodyPr/>
          <a:lstStyle/>
          <a:p>
            <a:endParaRPr lang="en-US"/>
          </a:p>
        </p:txBody>
      </p:sp>
      <p:sp>
        <p:nvSpPr>
          <p:cNvPr id="570" name="24%">
            <a:extLst>
              <a:ext uri="{FF2B5EF4-FFF2-40B4-BE49-F238E27FC236}">
                <a16:creationId xmlns:a16="http://schemas.microsoft.com/office/drawing/2014/main" id="{D43F9CC3-EBDC-4D6B-87D8-D0F6A903063D}"/>
              </a:ext>
            </a:extLst>
          </p:cNvPr>
          <p:cNvSpPr>
            <a:spLocks noGrp="1"/>
          </p:cNvSpPr>
          <p:nvPr/>
        </p:nvSpPr>
        <p:spPr>
          <a:xfrm>
            <a:off x="7390448" y="4181475"/>
            <a:ext cx="168116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1" name="Rectangle 570">
            <a:extLst>
              <a:ext uri="{FF2B5EF4-FFF2-40B4-BE49-F238E27FC236}">
                <a16:creationId xmlns:a16="http://schemas.microsoft.com/office/drawing/2014/main" id="{F7FCF0AA-C2A2-45E3-8964-4177B237004D}"/>
              </a:ext>
            </a:extLst>
          </p:cNvPr>
          <p:cNvSpPr>
            <a:spLocks noGrp="1"/>
          </p:cNvSpPr>
          <p:nvPr/>
        </p:nvSpPr>
        <p:spPr>
          <a:xfrm>
            <a:off x="9090660" y="4076700"/>
            <a:ext cx="1529715" cy="447675"/>
          </a:xfrm>
          <a:prstGeom prst="rect">
            <a:avLst/>
          </a:prstGeom>
          <a:solidFill>
            <a:srgbClr val="285B9F"/>
          </a:solidFill>
          <a:ln w="0">
            <a:noFill/>
          </a:ln>
        </p:spPr>
        <p:txBody>
          <a:bodyPr/>
          <a:lstStyle/>
          <a:p>
            <a:endParaRPr lang="en-US"/>
          </a:p>
        </p:txBody>
      </p:sp>
      <p:sp>
        <p:nvSpPr>
          <p:cNvPr id="572" name="26%">
            <a:extLst>
              <a:ext uri="{FF2B5EF4-FFF2-40B4-BE49-F238E27FC236}">
                <a16:creationId xmlns:a16="http://schemas.microsoft.com/office/drawing/2014/main" id="{C7E82EC8-05A1-485A-BF99-6A85701429F6}"/>
              </a:ext>
            </a:extLst>
          </p:cNvPr>
          <p:cNvSpPr>
            <a:spLocks noGrp="1"/>
          </p:cNvSpPr>
          <p:nvPr/>
        </p:nvSpPr>
        <p:spPr>
          <a:xfrm>
            <a:off x="9128760" y="41814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185">
            <a:extLst>
              <a:ext uri="{FF2B5EF4-FFF2-40B4-BE49-F238E27FC236}">
                <a16:creationId xmlns:a16="http://schemas.microsoft.com/office/drawing/2014/main" id="{D98DC9E8-FE24-4CEF-A3DA-C7C9BAEC2088}"/>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n=142</a:t>
            </a:r>
          </a:p>
        </p:txBody>
      </p:sp>
      <p:sp>
        <p:nvSpPr>
          <p:cNvPr id="574" name="More than 15 hrs">
            <a:extLst>
              <a:ext uri="{FF2B5EF4-FFF2-40B4-BE49-F238E27FC236}">
                <a16:creationId xmlns:a16="http://schemas.microsoft.com/office/drawing/2014/main" id="{C7D50BD3-902C-4904-A403-5A7FD467DA4E}"/>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More than 15 hrs</a:t>
            </a:r>
          </a:p>
        </p:txBody>
      </p:sp>
      <p:sp>
        <p:nvSpPr>
          <p:cNvPr id="575" name="Rectangle 574">
            <a:extLst>
              <a:ext uri="{FF2B5EF4-FFF2-40B4-BE49-F238E27FC236}">
                <a16:creationId xmlns:a16="http://schemas.microsoft.com/office/drawing/2014/main" id="{7383586B-3BE6-4360-A770-B700347FCB79}"/>
              </a:ext>
            </a:extLst>
          </p:cNvPr>
          <p:cNvSpPr>
            <a:spLocks noGrp="1"/>
          </p:cNvSpPr>
          <p:nvPr/>
        </p:nvSpPr>
        <p:spPr>
          <a:xfrm>
            <a:off x="3667125" y="4800600"/>
            <a:ext cx="1334462" cy="447675"/>
          </a:xfrm>
          <a:prstGeom prst="rect">
            <a:avLst/>
          </a:prstGeom>
          <a:solidFill>
            <a:srgbClr val="A83A3A"/>
          </a:solidFill>
          <a:ln w="0">
            <a:noFill/>
          </a:ln>
        </p:spPr>
        <p:txBody>
          <a:bodyPr/>
          <a:lstStyle/>
          <a:p>
            <a:endParaRPr lang="en-US"/>
          </a:p>
        </p:txBody>
      </p:sp>
      <p:sp>
        <p:nvSpPr>
          <p:cNvPr id="576" name="21%">
            <a:extLst>
              <a:ext uri="{FF2B5EF4-FFF2-40B4-BE49-F238E27FC236}">
                <a16:creationId xmlns:a16="http://schemas.microsoft.com/office/drawing/2014/main" id="{903FBD5A-BD65-4844-A549-D10A303799D7}"/>
              </a:ext>
            </a:extLst>
          </p:cNvPr>
          <p:cNvSpPr>
            <a:spLocks noGrp="1"/>
          </p:cNvSpPr>
          <p:nvPr/>
        </p:nvSpPr>
        <p:spPr>
          <a:xfrm>
            <a:off x="3705225" y="4905375"/>
            <a:ext cx="127731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77" name="Rectangle 576">
            <a:extLst>
              <a:ext uri="{FF2B5EF4-FFF2-40B4-BE49-F238E27FC236}">
                <a16:creationId xmlns:a16="http://schemas.microsoft.com/office/drawing/2014/main" id="{DA5AF128-524E-4342-A77A-0E462F17ED9A}"/>
              </a:ext>
            </a:extLst>
          </p:cNvPr>
          <p:cNvSpPr>
            <a:spLocks noGrp="1"/>
          </p:cNvSpPr>
          <p:nvPr/>
        </p:nvSpPr>
        <p:spPr>
          <a:xfrm>
            <a:off x="5001587" y="4800600"/>
            <a:ext cx="1966576"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02115BFF-614B-4CAB-92EA-87CF00EA4946}"/>
              </a:ext>
            </a:extLst>
          </p:cNvPr>
          <p:cNvSpPr>
            <a:spLocks noGrp="1"/>
          </p:cNvSpPr>
          <p:nvPr/>
        </p:nvSpPr>
        <p:spPr>
          <a:xfrm>
            <a:off x="5039687" y="4905375"/>
            <a:ext cx="190942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9" name="Rectangle 578">
            <a:extLst>
              <a:ext uri="{FF2B5EF4-FFF2-40B4-BE49-F238E27FC236}">
                <a16:creationId xmlns:a16="http://schemas.microsoft.com/office/drawing/2014/main" id="{49602A28-92A3-4853-9BF4-76EAE0D6ACC1}"/>
              </a:ext>
            </a:extLst>
          </p:cNvPr>
          <p:cNvSpPr>
            <a:spLocks noGrp="1"/>
          </p:cNvSpPr>
          <p:nvPr/>
        </p:nvSpPr>
        <p:spPr>
          <a:xfrm>
            <a:off x="6968163" y="4800600"/>
            <a:ext cx="1826106" cy="447675"/>
          </a:xfrm>
          <a:prstGeom prst="rect">
            <a:avLst/>
          </a:prstGeom>
          <a:solidFill>
            <a:srgbClr val="4C91D8"/>
          </a:solidFill>
          <a:ln w="0">
            <a:noFill/>
          </a:ln>
        </p:spPr>
        <p:txBody>
          <a:bodyPr/>
          <a:lstStyle/>
          <a:p>
            <a:endParaRPr lang="en-US"/>
          </a:p>
        </p:txBody>
      </p:sp>
      <p:sp>
        <p:nvSpPr>
          <p:cNvPr id="580" name="26%">
            <a:extLst>
              <a:ext uri="{FF2B5EF4-FFF2-40B4-BE49-F238E27FC236}">
                <a16:creationId xmlns:a16="http://schemas.microsoft.com/office/drawing/2014/main" id="{A1205194-473D-43F5-9456-BE4D0E30C2B5}"/>
              </a:ext>
            </a:extLst>
          </p:cNvPr>
          <p:cNvSpPr>
            <a:spLocks noGrp="1"/>
          </p:cNvSpPr>
          <p:nvPr/>
        </p:nvSpPr>
        <p:spPr>
          <a:xfrm>
            <a:off x="7006263" y="4905375"/>
            <a:ext cx="176895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1" name="Rectangle 580">
            <a:extLst>
              <a:ext uri="{FF2B5EF4-FFF2-40B4-BE49-F238E27FC236}">
                <a16:creationId xmlns:a16="http://schemas.microsoft.com/office/drawing/2014/main" id="{24537B98-ABC4-4F7C-A74E-AB91F77420C3}"/>
              </a:ext>
            </a:extLst>
          </p:cNvPr>
          <p:cNvSpPr>
            <a:spLocks noGrp="1"/>
          </p:cNvSpPr>
          <p:nvPr/>
        </p:nvSpPr>
        <p:spPr>
          <a:xfrm>
            <a:off x="8794269" y="4800600"/>
            <a:ext cx="1826106" cy="447675"/>
          </a:xfrm>
          <a:prstGeom prst="rect">
            <a:avLst/>
          </a:prstGeom>
          <a:solidFill>
            <a:srgbClr val="285B9F"/>
          </a:solidFill>
          <a:ln w="0">
            <a:noFill/>
          </a:ln>
        </p:spPr>
        <p:txBody>
          <a:bodyPr/>
          <a:lstStyle/>
          <a:p>
            <a:endParaRPr lang="en-US"/>
          </a:p>
        </p:txBody>
      </p:sp>
      <p:sp>
        <p:nvSpPr>
          <p:cNvPr id="582" name="27%">
            <a:extLst>
              <a:ext uri="{FF2B5EF4-FFF2-40B4-BE49-F238E27FC236}">
                <a16:creationId xmlns:a16="http://schemas.microsoft.com/office/drawing/2014/main" id="{49D09081-BEC5-4E8F-A4F7-06810AE30DA0}"/>
              </a:ext>
            </a:extLst>
          </p:cNvPr>
          <p:cNvSpPr>
            <a:spLocks noGrp="1"/>
          </p:cNvSpPr>
          <p:nvPr/>
        </p:nvSpPr>
        <p:spPr>
          <a:xfrm>
            <a:off x="8832369" y="4905375"/>
            <a:ext cx="176895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3" name="n=156">
            <a:extLst>
              <a:ext uri="{FF2B5EF4-FFF2-40B4-BE49-F238E27FC236}">
                <a16:creationId xmlns:a16="http://schemas.microsoft.com/office/drawing/2014/main" id="{6EFC19D9-E0A7-433C-AD1B-10E0EE861BB4}"/>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n=130</a:t>
            </a:r>
          </a:p>
        </p:txBody>
      </p:sp>
      <p:sp>
        <p:nvSpPr>
          <p:cNvPr id="584" name="Rectangle 583">
            <a:extLst>
              <a:ext uri="{FF2B5EF4-FFF2-40B4-BE49-F238E27FC236}">
                <a16:creationId xmlns:a16="http://schemas.microsoft.com/office/drawing/2014/main" id="{8A570E08-7050-447E-9D07-4E00BF3120D7}"/>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09738630-722E-4A07-83DA-6F1945EE29E3}"/>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5082B37C-6266-4982-A8AB-3A8D9488DC99}"/>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D2668A20-CC25-4A0B-827B-3A5347FBE1D1}"/>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748C4BD5-DE4C-44E2-BFAD-AB5C6D689AE0}"/>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BACB4EF2-F521-4C1B-89D7-FA3FE0D0106B}"/>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D40D1489-0AB1-470E-9891-8BEB7DE6D3AE}"/>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5DB3B506-DD0D-4DB7-87E0-E357AEC894AD}"/>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ADFA3D6B-541E-E5FF-6DF3-3FBECEC836FC}"/>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08F1EA31-2E89-84CD-BF93-FC6F2912B28C}"/>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42AA4D3-B08C-BC38-73F0-925900DE4E80}"/>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DD7C0EC1-480D-98E6-80DD-A0E71978286E}"/>
              </a:ext>
            </a:extLst>
          </p:cNvPr>
          <p:cNvSpPr txBox="1"/>
          <p:nvPr/>
        </p:nvSpPr>
        <p:spPr>
          <a:xfrm rot="16200000">
            <a:off x="-468604" y="2715997"/>
            <a:ext cx="1351652" cy="369332"/>
          </a:xfrm>
          <a:prstGeom prst="rect">
            <a:avLst/>
          </a:prstGeom>
          <a:noFill/>
        </p:spPr>
        <p:txBody>
          <a:bodyPr wrap="none" rtlCol="0">
            <a:spAutoFit/>
          </a:bodyPr>
          <a:lstStyle/>
          <a:p>
            <a:r>
              <a:rPr lang="en-US" dirty="0"/>
              <a:t>Study Time</a:t>
            </a:r>
          </a:p>
        </p:txBody>
      </p:sp>
    </p:spTree>
    <p:extLst>
      <p:ext uri="{BB962C8B-B14F-4D97-AF65-F5344CB8AC3E}">
        <p14:creationId xmlns:p14="http://schemas.microsoft.com/office/powerpoint/2010/main" val="2897892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18</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Study style and CGPA</a:t>
            </a:r>
          </a:p>
        </p:txBody>
      </p:sp>
      <p:sp>
        <p:nvSpPr>
          <p:cNvPr id="534" name="Occasionally when necessary">
            <a:extLst>
              <a:ext uri="{FF2B5EF4-FFF2-40B4-BE49-F238E27FC236}">
                <a16:creationId xmlns:a16="http://schemas.microsoft.com/office/drawing/2014/main" id="{54D3D74A-FE82-4D75-A882-3997F3EAAC82}"/>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Occasionally when necessary</a:t>
            </a:r>
          </a:p>
        </p:txBody>
      </p:sp>
      <p:sp>
        <p:nvSpPr>
          <p:cNvPr id="535" name="Rectangle 534">
            <a:extLst>
              <a:ext uri="{FF2B5EF4-FFF2-40B4-BE49-F238E27FC236}">
                <a16:creationId xmlns:a16="http://schemas.microsoft.com/office/drawing/2014/main" id="{6A873BA4-D3DB-4757-988C-8DF037435643}"/>
              </a:ext>
            </a:extLst>
          </p:cNvPr>
          <p:cNvSpPr>
            <a:spLocks noGrp="1"/>
          </p:cNvSpPr>
          <p:nvPr/>
        </p:nvSpPr>
        <p:spPr>
          <a:xfrm>
            <a:off x="3667125" y="1905000"/>
            <a:ext cx="1390650" cy="447675"/>
          </a:xfrm>
          <a:prstGeom prst="rect">
            <a:avLst/>
          </a:prstGeom>
          <a:solidFill>
            <a:srgbClr val="A83A3A"/>
          </a:solidFill>
          <a:ln w="0">
            <a:noFill/>
          </a:ln>
        </p:spPr>
        <p:txBody>
          <a:bodyPr/>
          <a:lstStyle/>
          <a:p>
            <a:endParaRPr lang="en-US"/>
          </a:p>
        </p:txBody>
      </p:sp>
      <p:sp>
        <p:nvSpPr>
          <p:cNvPr id="536" name="20%">
            <a:extLst>
              <a:ext uri="{FF2B5EF4-FFF2-40B4-BE49-F238E27FC236}">
                <a16:creationId xmlns:a16="http://schemas.microsoft.com/office/drawing/2014/main" id="{95F5E801-6034-42E1-AEF0-DE45F6D122A0}"/>
              </a:ext>
            </a:extLst>
          </p:cNvPr>
          <p:cNvSpPr>
            <a:spLocks noGrp="1"/>
          </p:cNvSpPr>
          <p:nvPr/>
        </p:nvSpPr>
        <p:spPr>
          <a:xfrm>
            <a:off x="3705225" y="2009775"/>
            <a:ext cx="13335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37" name="Rectangle 536">
            <a:extLst>
              <a:ext uri="{FF2B5EF4-FFF2-40B4-BE49-F238E27FC236}">
                <a16:creationId xmlns:a16="http://schemas.microsoft.com/office/drawing/2014/main" id="{D16EA419-C318-4A4F-9DBF-316CEC290588}"/>
              </a:ext>
            </a:extLst>
          </p:cNvPr>
          <p:cNvSpPr>
            <a:spLocks noGrp="1"/>
          </p:cNvSpPr>
          <p:nvPr/>
        </p:nvSpPr>
        <p:spPr>
          <a:xfrm>
            <a:off x="5057775" y="1905000"/>
            <a:ext cx="1668780" cy="447675"/>
          </a:xfrm>
          <a:prstGeom prst="rect">
            <a:avLst/>
          </a:prstGeom>
          <a:solidFill>
            <a:srgbClr val="DC713D"/>
          </a:solidFill>
          <a:ln w="0">
            <a:noFill/>
          </a:ln>
        </p:spPr>
        <p:txBody>
          <a:bodyPr/>
          <a:lstStyle/>
          <a:p>
            <a:endParaRPr lang="en-US"/>
          </a:p>
        </p:txBody>
      </p:sp>
      <p:sp>
        <p:nvSpPr>
          <p:cNvPr id="538" name="24%">
            <a:extLst>
              <a:ext uri="{FF2B5EF4-FFF2-40B4-BE49-F238E27FC236}">
                <a16:creationId xmlns:a16="http://schemas.microsoft.com/office/drawing/2014/main" id="{10519A91-2437-454B-AC1E-5A2A413F9A62}"/>
              </a:ext>
            </a:extLst>
          </p:cNvPr>
          <p:cNvSpPr>
            <a:spLocks noGrp="1"/>
          </p:cNvSpPr>
          <p:nvPr/>
        </p:nvSpPr>
        <p:spPr>
          <a:xfrm>
            <a:off x="5095875" y="2009775"/>
            <a:ext cx="16116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9" name="Rectangle 538">
            <a:extLst>
              <a:ext uri="{FF2B5EF4-FFF2-40B4-BE49-F238E27FC236}">
                <a16:creationId xmlns:a16="http://schemas.microsoft.com/office/drawing/2014/main" id="{4B234988-F963-4665-B8AA-85AB081DEDFE}"/>
              </a:ext>
            </a:extLst>
          </p:cNvPr>
          <p:cNvSpPr>
            <a:spLocks noGrp="1"/>
          </p:cNvSpPr>
          <p:nvPr/>
        </p:nvSpPr>
        <p:spPr>
          <a:xfrm>
            <a:off x="6726555" y="1905000"/>
            <a:ext cx="2155508" cy="447675"/>
          </a:xfrm>
          <a:prstGeom prst="rect">
            <a:avLst/>
          </a:prstGeom>
          <a:solidFill>
            <a:srgbClr val="4C91D8"/>
          </a:solidFill>
          <a:ln w="0">
            <a:noFill/>
          </a:ln>
        </p:spPr>
        <p:txBody>
          <a:bodyPr/>
          <a:lstStyle/>
          <a:p>
            <a:endParaRPr lang="en-US"/>
          </a:p>
        </p:txBody>
      </p:sp>
      <p:sp>
        <p:nvSpPr>
          <p:cNvPr id="540" name="30%">
            <a:extLst>
              <a:ext uri="{FF2B5EF4-FFF2-40B4-BE49-F238E27FC236}">
                <a16:creationId xmlns:a16="http://schemas.microsoft.com/office/drawing/2014/main" id="{97519FA0-CA60-44CB-9CCB-E9838F73AA31}"/>
              </a:ext>
            </a:extLst>
          </p:cNvPr>
          <p:cNvSpPr>
            <a:spLocks noGrp="1"/>
          </p:cNvSpPr>
          <p:nvPr/>
        </p:nvSpPr>
        <p:spPr>
          <a:xfrm>
            <a:off x="6764655" y="20097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41" name="Rectangle 540">
            <a:extLst>
              <a:ext uri="{FF2B5EF4-FFF2-40B4-BE49-F238E27FC236}">
                <a16:creationId xmlns:a16="http://schemas.microsoft.com/office/drawing/2014/main" id="{372B23EF-7FB6-4A9A-A044-B1557B95F850}"/>
              </a:ext>
            </a:extLst>
          </p:cNvPr>
          <p:cNvSpPr>
            <a:spLocks noGrp="1"/>
          </p:cNvSpPr>
          <p:nvPr/>
        </p:nvSpPr>
        <p:spPr>
          <a:xfrm>
            <a:off x="8882063" y="1905000"/>
            <a:ext cx="1738312" cy="447675"/>
          </a:xfrm>
          <a:prstGeom prst="rect">
            <a:avLst/>
          </a:prstGeom>
          <a:solidFill>
            <a:srgbClr val="285B9F"/>
          </a:solidFill>
          <a:ln w="0">
            <a:noFill/>
          </a:ln>
        </p:spPr>
        <p:txBody>
          <a:bodyPr/>
          <a:lstStyle/>
          <a:p>
            <a:endParaRPr lang="en-US"/>
          </a:p>
        </p:txBody>
      </p:sp>
      <p:sp>
        <p:nvSpPr>
          <p:cNvPr id="542" name="26%">
            <a:extLst>
              <a:ext uri="{FF2B5EF4-FFF2-40B4-BE49-F238E27FC236}">
                <a16:creationId xmlns:a16="http://schemas.microsoft.com/office/drawing/2014/main" id="{B7EBD41E-8C09-4AF3-8E65-E3FFC7E4F473}"/>
              </a:ext>
            </a:extLst>
          </p:cNvPr>
          <p:cNvSpPr>
            <a:spLocks noGrp="1"/>
          </p:cNvSpPr>
          <p:nvPr/>
        </p:nvSpPr>
        <p:spPr>
          <a:xfrm>
            <a:off x="8920163" y="2009775"/>
            <a:ext cx="168116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3" name="n=267">
            <a:extLst>
              <a:ext uri="{FF2B5EF4-FFF2-40B4-BE49-F238E27FC236}">
                <a16:creationId xmlns:a16="http://schemas.microsoft.com/office/drawing/2014/main" id="{AC4877B9-9121-4520-AED8-EDDA772694CB}"/>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n=240</a:t>
            </a:r>
          </a:p>
        </p:txBody>
      </p:sp>
      <p:sp>
        <p:nvSpPr>
          <p:cNvPr id="544" name="Mostly just before exams">
            <a:extLst>
              <a:ext uri="{FF2B5EF4-FFF2-40B4-BE49-F238E27FC236}">
                <a16:creationId xmlns:a16="http://schemas.microsoft.com/office/drawing/2014/main" id="{A5D29BD6-9532-4800-A5E5-52D895720111}"/>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just before exams</a:t>
            </a:r>
          </a:p>
        </p:txBody>
      </p:sp>
      <p:sp>
        <p:nvSpPr>
          <p:cNvPr id="545" name="Rectangle 544">
            <a:extLst>
              <a:ext uri="{FF2B5EF4-FFF2-40B4-BE49-F238E27FC236}">
                <a16:creationId xmlns:a16="http://schemas.microsoft.com/office/drawing/2014/main" id="{BC1F8AA0-2143-4F06-8B80-BF144CD0A7E0}"/>
              </a:ext>
            </a:extLst>
          </p:cNvPr>
          <p:cNvSpPr>
            <a:spLocks noGrp="1"/>
          </p:cNvSpPr>
          <p:nvPr/>
        </p:nvSpPr>
        <p:spPr>
          <a:xfrm>
            <a:off x="3667125" y="2628900"/>
            <a:ext cx="1721101" cy="447675"/>
          </a:xfrm>
          <a:prstGeom prst="rect">
            <a:avLst/>
          </a:prstGeom>
          <a:solidFill>
            <a:srgbClr val="A83A3A"/>
          </a:solidFill>
          <a:ln w="0">
            <a:noFill/>
          </a:ln>
        </p:spPr>
        <p:txBody>
          <a:bodyPr/>
          <a:lstStyle/>
          <a:p>
            <a:endParaRPr lang="en-US"/>
          </a:p>
        </p:txBody>
      </p:sp>
      <p:sp>
        <p:nvSpPr>
          <p:cNvPr id="546" name="24%">
            <a:extLst>
              <a:ext uri="{FF2B5EF4-FFF2-40B4-BE49-F238E27FC236}">
                <a16:creationId xmlns:a16="http://schemas.microsoft.com/office/drawing/2014/main" id="{16D2FF0D-871C-4762-8C9E-CA2073A63D69}"/>
              </a:ext>
            </a:extLst>
          </p:cNvPr>
          <p:cNvSpPr>
            <a:spLocks noGrp="1"/>
          </p:cNvSpPr>
          <p:nvPr/>
        </p:nvSpPr>
        <p:spPr>
          <a:xfrm>
            <a:off x="3705225" y="2733675"/>
            <a:ext cx="166395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7" name="Rectangle 546">
            <a:extLst>
              <a:ext uri="{FF2B5EF4-FFF2-40B4-BE49-F238E27FC236}">
                <a16:creationId xmlns:a16="http://schemas.microsoft.com/office/drawing/2014/main" id="{CFBAE124-F6F5-423E-AA03-FEA3B6B68785}"/>
              </a:ext>
            </a:extLst>
          </p:cNvPr>
          <p:cNvSpPr>
            <a:spLocks noGrp="1"/>
          </p:cNvSpPr>
          <p:nvPr/>
        </p:nvSpPr>
        <p:spPr>
          <a:xfrm>
            <a:off x="5388226" y="2628900"/>
            <a:ext cx="2340698" cy="447675"/>
          </a:xfrm>
          <a:prstGeom prst="rect">
            <a:avLst/>
          </a:prstGeom>
          <a:solidFill>
            <a:srgbClr val="DC713D"/>
          </a:solidFill>
          <a:ln w="0">
            <a:noFill/>
          </a:ln>
        </p:spPr>
        <p:txBody>
          <a:bodyPr/>
          <a:lstStyle/>
          <a:p>
            <a:endParaRPr lang="en-US"/>
          </a:p>
        </p:txBody>
      </p:sp>
      <p:sp>
        <p:nvSpPr>
          <p:cNvPr id="548" name="32%">
            <a:extLst>
              <a:ext uri="{FF2B5EF4-FFF2-40B4-BE49-F238E27FC236}">
                <a16:creationId xmlns:a16="http://schemas.microsoft.com/office/drawing/2014/main" id="{55DDB69B-5C81-4B20-BC6B-88CDC294F5C4}"/>
              </a:ext>
            </a:extLst>
          </p:cNvPr>
          <p:cNvSpPr>
            <a:spLocks noGrp="1"/>
          </p:cNvSpPr>
          <p:nvPr/>
        </p:nvSpPr>
        <p:spPr>
          <a:xfrm>
            <a:off x="5426326" y="2733675"/>
            <a:ext cx="22835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49" name="Rectangle 548">
            <a:extLst>
              <a:ext uri="{FF2B5EF4-FFF2-40B4-BE49-F238E27FC236}">
                <a16:creationId xmlns:a16="http://schemas.microsoft.com/office/drawing/2014/main" id="{D74DCB4C-A399-4AB8-ADE7-A255A181CEFB}"/>
              </a:ext>
            </a:extLst>
          </p:cNvPr>
          <p:cNvSpPr>
            <a:spLocks noGrp="1"/>
          </p:cNvSpPr>
          <p:nvPr/>
        </p:nvSpPr>
        <p:spPr>
          <a:xfrm>
            <a:off x="7728924" y="2628900"/>
            <a:ext cx="1789946" cy="447675"/>
          </a:xfrm>
          <a:prstGeom prst="rect">
            <a:avLst/>
          </a:prstGeom>
          <a:solidFill>
            <a:srgbClr val="4C91D8"/>
          </a:solidFill>
          <a:ln w="0">
            <a:noFill/>
          </a:ln>
        </p:spPr>
        <p:txBody>
          <a:bodyPr/>
          <a:lstStyle/>
          <a:p>
            <a:endParaRPr lang="en-US"/>
          </a:p>
        </p:txBody>
      </p:sp>
      <p:sp>
        <p:nvSpPr>
          <p:cNvPr id="550" name="26%">
            <a:extLst>
              <a:ext uri="{FF2B5EF4-FFF2-40B4-BE49-F238E27FC236}">
                <a16:creationId xmlns:a16="http://schemas.microsoft.com/office/drawing/2014/main" id="{0D0B3765-7D4D-47EA-A65E-8455D5B6408B}"/>
              </a:ext>
            </a:extLst>
          </p:cNvPr>
          <p:cNvSpPr>
            <a:spLocks noGrp="1"/>
          </p:cNvSpPr>
          <p:nvPr/>
        </p:nvSpPr>
        <p:spPr>
          <a:xfrm>
            <a:off x="7767024" y="2733675"/>
            <a:ext cx="17327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51" name="Rectangle 550">
            <a:extLst>
              <a:ext uri="{FF2B5EF4-FFF2-40B4-BE49-F238E27FC236}">
                <a16:creationId xmlns:a16="http://schemas.microsoft.com/office/drawing/2014/main" id="{72B00EEE-9BDE-4860-9EBB-B1165F8BFF0E}"/>
              </a:ext>
            </a:extLst>
          </p:cNvPr>
          <p:cNvSpPr>
            <a:spLocks noGrp="1"/>
          </p:cNvSpPr>
          <p:nvPr/>
        </p:nvSpPr>
        <p:spPr>
          <a:xfrm>
            <a:off x="9518870" y="2628900"/>
            <a:ext cx="1101505" cy="447675"/>
          </a:xfrm>
          <a:prstGeom prst="rect">
            <a:avLst/>
          </a:prstGeom>
          <a:solidFill>
            <a:srgbClr val="285B9F"/>
          </a:solidFill>
          <a:ln w="0">
            <a:noFill/>
          </a:ln>
        </p:spPr>
        <p:txBody>
          <a:bodyPr/>
          <a:lstStyle/>
          <a:p>
            <a:endParaRPr lang="en-US"/>
          </a:p>
        </p:txBody>
      </p:sp>
      <p:sp>
        <p:nvSpPr>
          <p:cNvPr id="552" name="18%">
            <a:extLst>
              <a:ext uri="{FF2B5EF4-FFF2-40B4-BE49-F238E27FC236}">
                <a16:creationId xmlns:a16="http://schemas.microsoft.com/office/drawing/2014/main" id="{7B116D11-3A6F-4370-AA5D-7BCECC845CF9}"/>
              </a:ext>
            </a:extLst>
          </p:cNvPr>
          <p:cNvSpPr>
            <a:spLocks noGrp="1"/>
          </p:cNvSpPr>
          <p:nvPr/>
        </p:nvSpPr>
        <p:spPr>
          <a:xfrm>
            <a:off x="9556970" y="2733675"/>
            <a:ext cx="104435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3" name="n=296">
            <a:extLst>
              <a:ext uri="{FF2B5EF4-FFF2-40B4-BE49-F238E27FC236}">
                <a16:creationId xmlns:a16="http://schemas.microsoft.com/office/drawing/2014/main" id="{2B8A6883-EE4D-4356-98B1-9D86EABA866E}"/>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n=257</a:t>
            </a:r>
          </a:p>
        </p:txBody>
      </p:sp>
      <p:sp>
        <p:nvSpPr>
          <p:cNvPr id="554" name="Regularly but not every day">
            <a:extLst>
              <a:ext uri="{FF2B5EF4-FFF2-40B4-BE49-F238E27FC236}">
                <a16:creationId xmlns:a16="http://schemas.microsoft.com/office/drawing/2014/main" id="{A2B5D3B8-F809-481A-BE65-D8144C60811C}"/>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Regularly but not every day</a:t>
            </a:r>
          </a:p>
        </p:txBody>
      </p:sp>
      <p:sp>
        <p:nvSpPr>
          <p:cNvPr id="555" name="Rectangle 554">
            <a:extLst>
              <a:ext uri="{FF2B5EF4-FFF2-40B4-BE49-F238E27FC236}">
                <a16:creationId xmlns:a16="http://schemas.microsoft.com/office/drawing/2014/main" id="{DDC39C02-DF5D-49AD-B474-CE82027A0985}"/>
              </a:ext>
            </a:extLst>
          </p:cNvPr>
          <p:cNvSpPr>
            <a:spLocks noGrp="1"/>
          </p:cNvSpPr>
          <p:nvPr/>
        </p:nvSpPr>
        <p:spPr>
          <a:xfrm>
            <a:off x="3667125" y="3352800"/>
            <a:ext cx="1112520"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159A3473-B2BA-4D7C-9375-4D4D4ED8A0B0}"/>
              </a:ext>
            </a:extLst>
          </p:cNvPr>
          <p:cNvSpPr>
            <a:spLocks noGrp="1"/>
          </p:cNvSpPr>
          <p:nvPr/>
        </p:nvSpPr>
        <p:spPr>
          <a:xfrm>
            <a:off x="3705225" y="3457575"/>
            <a:ext cx="10553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7" name="Rectangle 556">
            <a:extLst>
              <a:ext uri="{FF2B5EF4-FFF2-40B4-BE49-F238E27FC236}">
                <a16:creationId xmlns:a16="http://schemas.microsoft.com/office/drawing/2014/main" id="{8AD9CB36-48B3-46BF-A102-7E2DAD0C429F}"/>
              </a:ext>
            </a:extLst>
          </p:cNvPr>
          <p:cNvSpPr>
            <a:spLocks noGrp="1"/>
          </p:cNvSpPr>
          <p:nvPr/>
        </p:nvSpPr>
        <p:spPr>
          <a:xfrm>
            <a:off x="4779645" y="3352800"/>
            <a:ext cx="2642235" cy="447675"/>
          </a:xfrm>
          <a:prstGeom prst="rect">
            <a:avLst/>
          </a:prstGeom>
          <a:solidFill>
            <a:srgbClr val="DC713D"/>
          </a:solidFill>
          <a:ln w="0">
            <a:noFill/>
          </a:ln>
        </p:spPr>
        <p:txBody>
          <a:bodyPr/>
          <a:lstStyle/>
          <a:p>
            <a:endParaRPr lang="en-US"/>
          </a:p>
        </p:txBody>
      </p:sp>
      <p:sp>
        <p:nvSpPr>
          <p:cNvPr id="558" name="35%">
            <a:extLst>
              <a:ext uri="{FF2B5EF4-FFF2-40B4-BE49-F238E27FC236}">
                <a16:creationId xmlns:a16="http://schemas.microsoft.com/office/drawing/2014/main" id="{242DDA1B-7E75-44FC-BEF4-19AF5C2718E0}"/>
              </a:ext>
            </a:extLst>
          </p:cNvPr>
          <p:cNvSpPr>
            <a:spLocks noGrp="1"/>
          </p:cNvSpPr>
          <p:nvPr/>
        </p:nvSpPr>
        <p:spPr>
          <a:xfrm>
            <a:off x="4817745" y="3457575"/>
            <a:ext cx="258508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38%</a:t>
            </a:r>
          </a:p>
        </p:txBody>
      </p:sp>
      <p:sp>
        <p:nvSpPr>
          <p:cNvPr id="559" name="Rectangle 558">
            <a:extLst>
              <a:ext uri="{FF2B5EF4-FFF2-40B4-BE49-F238E27FC236}">
                <a16:creationId xmlns:a16="http://schemas.microsoft.com/office/drawing/2014/main" id="{DF581EDB-6F0E-4675-8F40-CBD85803D6D0}"/>
              </a:ext>
            </a:extLst>
          </p:cNvPr>
          <p:cNvSpPr>
            <a:spLocks noGrp="1"/>
          </p:cNvSpPr>
          <p:nvPr/>
        </p:nvSpPr>
        <p:spPr>
          <a:xfrm>
            <a:off x="7421880" y="3352800"/>
            <a:ext cx="1946910"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A5FA72EB-65B3-4C9F-867F-16A015C26F8B}"/>
              </a:ext>
            </a:extLst>
          </p:cNvPr>
          <p:cNvSpPr>
            <a:spLocks noGrp="1"/>
          </p:cNvSpPr>
          <p:nvPr/>
        </p:nvSpPr>
        <p:spPr>
          <a:xfrm>
            <a:off x="7459980" y="3457575"/>
            <a:ext cx="18897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1" name="Rectangle 560">
            <a:extLst>
              <a:ext uri="{FF2B5EF4-FFF2-40B4-BE49-F238E27FC236}">
                <a16:creationId xmlns:a16="http://schemas.microsoft.com/office/drawing/2014/main" id="{4B88A009-A024-45F7-87B5-4EF3D2F477E1}"/>
              </a:ext>
            </a:extLst>
          </p:cNvPr>
          <p:cNvSpPr>
            <a:spLocks noGrp="1"/>
          </p:cNvSpPr>
          <p:nvPr/>
        </p:nvSpPr>
        <p:spPr>
          <a:xfrm>
            <a:off x="9368790" y="3352800"/>
            <a:ext cx="1251585" cy="447675"/>
          </a:xfrm>
          <a:prstGeom prst="rect">
            <a:avLst/>
          </a:prstGeom>
          <a:solidFill>
            <a:srgbClr val="285B9F"/>
          </a:solidFill>
          <a:ln w="0">
            <a:noFill/>
          </a:ln>
        </p:spPr>
        <p:txBody>
          <a:bodyPr/>
          <a:lstStyle/>
          <a:p>
            <a:endParaRPr lang="en-US"/>
          </a:p>
        </p:txBody>
      </p:sp>
      <p:sp>
        <p:nvSpPr>
          <p:cNvPr id="562" name="19%">
            <a:extLst>
              <a:ext uri="{FF2B5EF4-FFF2-40B4-BE49-F238E27FC236}">
                <a16:creationId xmlns:a16="http://schemas.microsoft.com/office/drawing/2014/main" id="{6F5FC641-51B4-46F5-8772-042E9938B3CF}"/>
              </a:ext>
            </a:extLst>
          </p:cNvPr>
          <p:cNvSpPr>
            <a:spLocks noGrp="1"/>
          </p:cNvSpPr>
          <p:nvPr/>
        </p:nvSpPr>
        <p:spPr>
          <a:xfrm>
            <a:off x="9406890" y="3457575"/>
            <a:ext cx="11944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3" name="n=257">
            <a:extLst>
              <a:ext uri="{FF2B5EF4-FFF2-40B4-BE49-F238E27FC236}">
                <a16:creationId xmlns:a16="http://schemas.microsoft.com/office/drawing/2014/main" id="{8F5CC149-FB9D-4FE7-AE5C-B08CB4EAF174}"/>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n=218</a:t>
            </a:r>
          </a:p>
        </p:txBody>
      </p:sp>
      <p:sp>
        <p:nvSpPr>
          <p:cNvPr id="564" name="Mostly consistent routine">
            <a:extLst>
              <a:ext uri="{FF2B5EF4-FFF2-40B4-BE49-F238E27FC236}">
                <a16:creationId xmlns:a16="http://schemas.microsoft.com/office/drawing/2014/main" id="{D252252E-42F5-4F3B-90ED-D2FB26CA04DB}"/>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consistent routine</a:t>
            </a:r>
          </a:p>
        </p:txBody>
      </p:sp>
      <p:sp>
        <p:nvSpPr>
          <p:cNvPr id="565" name="Rectangle 564">
            <a:extLst>
              <a:ext uri="{FF2B5EF4-FFF2-40B4-BE49-F238E27FC236}">
                <a16:creationId xmlns:a16="http://schemas.microsoft.com/office/drawing/2014/main" id="{5FAF3D3E-EA52-4E85-B6FF-2F2B23479C43}"/>
              </a:ext>
            </a:extLst>
          </p:cNvPr>
          <p:cNvSpPr>
            <a:spLocks noGrp="1"/>
          </p:cNvSpPr>
          <p:nvPr/>
        </p:nvSpPr>
        <p:spPr>
          <a:xfrm>
            <a:off x="3667125" y="4076700"/>
            <a:ext cx="1321118" cy="447675"/>
          </a:xfrm>
          <a:prstGeom prst="rect">
            <a:avLst/>
          </a:prstGeom>
          <a:solidFill>
            <a:srgbClr val="A83A3A"/>
          </a:solidFill>
          <a:ln w="0">
            <a:noFill/>
          </a:ln>
        </p:spPr>
        <p:txBody>
          <a:bodyPr/>
          <a:lstStyle/>
          <a:p>
            <a:endParaRPr lang="en-US"/>
          </a:p>
        </p:txBody>
      </p:sp>
      <p:sp>
        <p:nvSpPr>
          <p:cNvPr id="566" name="24%">
            <a:extLst>
              <a:ext uri="{FF2B5EF4-FFF2-40B4-BE49-F238E27FC236}">
                <a16:creationId xmlns:a16="http://schemas.microsoft.com/office/drawing/2014/main" id="{7D2A7AD0-CB91-49C4-96A9-0655C8FEF8FA}"/>
              </a:ext>
            </a:extLst>
          </p:cNvPr>
          <p:cNvSpPr>
            <a:spLocks noGrp="1"/>
          </p:cNvSpPr>
          <p:nvPr/>
        </p:nvSpPr>
        <p:spPr>
          <a:xfrm>
            <a:off x="3705225" y="4181475"/>
            <a:ext cx="126396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67" name="Rectangle 566">
            <a:extLst>
              <a:ext uri="{FF2B5EF4-FFF2-40B4-BE49-F238E27FC236}">
                <a16:creationId xmlns:a16="http://schemas.microsoft.com/office/drawing/2014/main" id="{D09CDF4A-CB50-4159-A0F7-48ABF044380B}"/>
              </a:ext>
            </a:extLst>
          </p:cNvPr>
          <p:cNvSpPr>
            <a:spLocks noGrp="1"/>
          </p:cNvSpPr>
          <p:nvPr/>
        </p:nvSpPr>
        <p:spPr>
          <a:xfrm>
            <a:off x="4988243" y="4076700"/>
            <a:ext cx="2016442" cy="447675"/>
          </a:xfrm>
          <a:prstGeom prst="rect">
            <a:avLst/>
          </a:prstGeom>
          <a:solidFill>
            <a:srgbClr val="DC713D"/>
          </a:solidFill>
          <a:ln w="0">
            <a:noFill/>
          </a:ln>
        </p:spPr>
        <p:txBody>
          <a:bodyPr/>
          <a:lstStyle/>
          <a:p>
            <a:endParaRPr lang="en-US"/>
          </a:p>
        </p:txBody>
      </p:sp>
      <p:sp>
        <p:nvSpPr>
          <p:cNvPr id="568" name="27%">
            <a:extLst>
              <a:ext uri="{FF2B5EF4-FFF2-40B4-BE49-F238E27FC236}">
                <a16:creationId xmlns:a16="http://schemas.microsoft.com/office/drawing/2014/main" id="{428292C7-887B-44DE-B51D-E9E47E37EFE1}"/>
              </a:ext>
            </a:extLst>
          </p:cNvPr>
          <p:cNvSpPr>
            <a:spLocks noGrp="1"/>
          </p:cNvSpPr>
          <p:nvPr/>
        </p:nvSpPr>
        <p:spPr>
          <a:xfrm>
            <a:off x="5026343" y="41814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F970D7F4-FEE8-4474-B8A2-6F875684459A}"/>
              </a:ext>
            </a:extLst>
          </p:cNvPr>
          <p:cNvSpPr>
            <a:spLocks noGrp="1"/>
          </p:cNvSpPr>
          <p:nvPr/>
        </p:nvSpPr>
        <p:spPr>
          <a:xfrm>
            <a:off x="7004685" y="4076700"/>
            <a:ext cx="2085975" cy="447675"/>
          </a:xfrm>
          <a:prstGeom prst="rect">
            <a:avLst/>
          </a:prstGeom>
          <a:solidFill>
            <a:srgbClr val="4C91D8"/>
          </a:solidFill>
          <a:ln w="0">
            <a:noFill/>
          </a:ln>
        </p:spPr>
        <p:txBody>
          <a:bodyPr/>
          <a:lstStyle/>
          <a:p>
            <a:endParaRPr lang="en-US"/>
          </a:p>
        </p:txBody>
      </p:sp>
      <p:sp>
        <p:nvSpPr>
          <p:cNvPr id="570" name="25%">
            <a:extLst>
              <a:ext uri="{FF2B5EF4-FFF2-40B4-BE49-F238E27FC236}">
                <a16:creationId xmlns:a16="http://schemas.microsoft.com/office/drawing/2014/main" id="{A094B96C-C21D-4F9D-979B-C17BF1C87196}"/>
              </a:ext>
            </a:extLst>
          </p:cNvPr>
          <p:cNvSpPr>
            <a:spLocks noGrp="1"/>
          </p:cNvSpPr>
          <p:nvPr/>
        </p:nvSpPr>
        <p:spPr>
          <a:xfrm>
            <a:off x="7042785" y="41814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71" name="Rectangle 570">
            <a:extLst>
              <a:ext uri="{FF2B5EF4-FFF2-40B4-BE49-F238E27FC236}">
                <a16:creationId xmlns:a16="http://schemas.microsoft.com/office/drawing/2014/main" id="{902AB6B9-6D31-4019-B1D0-E7F8C249A26A}"/>
              </a:ext>
            </a:extLst>
          </p:cNvPr>
          <p:cNvSpPr>
            <a:spLocks noGrp="1"/>
          </p:cNvSpPr>
          <p:nvPr/>
        </p:nvSpPr>
        <p:spPr>
          <a:xfrm>
            <a:off x="9090660" y="4076700"/>
            <a:ext cx="1529715" cy="447675"/>
          </a:xfrm>
          <a:prstGeom prst="rect">
            <a:avLst/>
          </a:prstGeom>
          <a:solidFill>
            <a:srgbClr val="285B9F"/>
          </a:solidFill>
          <a:ln w="0">
            <a:noFill/>
          </a:ln>
        </p:spPr>
        <p:txBody>
          <a:bodyPr/>
          <a:lstStyle/>
          <a:p>
            <a:endParaRPr lang="en-US"/>
          </a:p>
        </p:txBody>
      </p:sp>
      <p:sp>
        <p:nvSpPr>
          <p:cNvPr id="572" name="24%">
            <a:extLst>
              <a:ext uri="{FF2B5EF4-FFF2-40B4-BE49-F238E27FC236}">
                <a16:creationId xmlns:a16="http://schemas.microsoft.com/office/drawing/2014/main" id="{A69C0D18-8924-4571-B774-04B2E8746B90}"/>
              </a:ext>
            </a:extLst>
          </p:cNvPr>
          <p:cNvSpPr>
            <a:spLocks noGrp="1"/>
          </p:cNvSpPr>
          <p:nvPr/>
        </p:nvSpPr>
        <p:spPr>
          <a:xfrm>
            <a:off x="9128760" y="41814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157">
            <a:extLst>
              <a:ext uri="{FF2B5EF4-FFF2-40B4-BE49-F238E27FC236}">
                <a16:creationId xmlns:a16="http://schemas.microsoft.com/office/drawing/2014/main" id="{949B9123-25D8-4794-942B-788BAE8B48AD}"/>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n=110</a:t>
            </a:r>
          </a:p>
        </p:txBody>
      </p:sp>
      <p:sp>
        <p:nvSpPr>
          <p:cNvPr id="574" name="Consistent throughout the semester">
            <a:extLst>
              <a:ext uri="{FF2B5EF4-FFF2-40B4-BE49-F238E27FC236}">
                <a16:creationId xmlns:a16="http://schemas.microsoft.com/office/drawing/2014/main" id="{5C96F9EF-FB20-4F21-BF5F-FF681CB5BDAA}"/>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Consistent throughout the semester</a:t>
            </a:r>
          </a:p>
        </p:txBody>
      </p:sp>
      <p:sp>
        <p:nvSpPr>
          <p:cNvPr id="575" name="Rectangle 574">
            <a:extLst>
              <a:ext uri="{FF2B5EF4-FFF2-40B4-BE49-F238E27FC236}">
                <a16:creationId xmlns:a16="http://schemas.microsoft.com/office/drawing/2014/main" id="{A234D04A-9FEE-418F-BF8E-A7112DC84A1D}"/>
              </a:ext>
            </a:extLst>
          </p:cNvPr>
          <p:cNvSpPr>
            <a:spLocks noGrp="1"/>
          </p:cNvSpPr>
          <p:nvPr/>
        </p:nvSpPr>
        <p:spPr>
          <a:xfrm>
            <a:off x="3667125" y="4800600"/>
            <a:ext cx="1112520" cy="447675"/>
          </a:xfrm>
          <a:prstGeom prst="rect">
            <a:avLst/>
          </a:prstGeom>
          <a:solidFill>
            <a:srgbClr val="A83A3A"/>
          </a:solidFill>
          <a:ln w="0">
            <a:noFill/>
          </a:ln>
        </p:spPr>
        <p:txBody>
          <a:bodyPr/>
          <a:lstStyle/>
          <a:p>
            <a:endParaRPr lang="en-US"/>
          </a:p>
        </p:txBody>
      </p:sp>
      <p:sp>
        <p:nvSpPr>
          <p:cNvPr id="576" name="20%">
            <a:extLst>
              <a:ext uri="{FF2B5EF4-FFF2-40B4-BE49-F238E27FC236}">
                <a16:creationId xmlns:a16="http://schemas.microsoft.com/office/drawing/2014/main" id="{8BC4011F-F4AB-4BE0-A349-1822C4C18AF4}"/>
              </a:ext>
            </a:extLst>
          </p:cNvPr>
          <p:cNvSpPr>
            <a:spLocks noGrp="1"/>
          </p:cNvSpPr>
          <p:nvPr/>
        </p:nvSpPr>
        <p:spPr>
          <a:xfrm>
            <a:off x="3705225" y="4905375"/>
            <a:ext cx="10553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77" name="Rectangle 576">
            <a:extLst>
              <a:ext uri="{FF2B5EF4-FFF2-40B4-BE49-F238E27FC236}">
                <a16:creationId xmlns:a16="http://schemas.microsoft.com/office/drawing/2014/main" id="{1F4A64E7-CCAB-4B87-B7DE-30E1EF5A4024}"/>
              </a:ext>
            </a:extLst>
          </p:cNvPr>
          <p:cNvSpPr>
            <a:spLocks noGrp="1"/>
          </p:cNvSpPr>
          <p:nvPr/>
        </p:nvSpPr>
        <p:spPr>
          <a:xfrm>
            <a:off x="4779645" y="4800600"/>
            <a:ext cx="1738312" cy="447675"/>
          </a:xfrm>
          <a:prstGeom prst="rect">
            <a:avLst/>
          </a:prstGeom>
          <a:solidFill>
            <a:srgbClr val="DC713D"/>
          </a:solidFill>
          <a:ln w="0">
            <a:noFill/>
          </a:ln>
        </p:spPr>
        <p:txBody>
          <a:bodyPr/>
          <a:lstStyle/>
          <a:p>
            <a:endParaRPr lang="en-US"/>
          </a:p>
        </p:txBody>
      </p:sp>
      <p:sp>
        <p:nvSpPr>
          <p:cNvPr id="578" name="24%">
            <a:extLst>
              <a:ext uri="{FF2B5EF4-FFF2-40B4-BE49-F238E27FC236}">
                <a16:creationId xmlns:a16="http://schemas.microsoft.com/office/drawing/2014/main" id="{E34B7E70-80C3-4B20-AAA9-A5D0E88E71C5}"/>
              </a:ext>
            </a:extLst>
          </p:cNvPr>
          <p:cNvSpPr>
            <a:spLocks noGrp="1"/>
          </p:cNvSpPr>
          <p:nvPr/>
        </p:nvSpPr>
        <p:spPr>
          <a:xfrm>
            <a:off x="4817745" y="4905375"/>
            <a:ext cx="168116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9" name="Rectangle 578">
            <a:extLst>
              <a:ext uri="{FF2B5EF4-FFF2-40B4-BE49-F238E27FC236}">
                <a16:creationId xmlns:a16="http://schemas.microsoft.com/office/drawing/2014/main" id="{2A3B2B2D-3674-4836-B6CC-EEAAFDAF6D45}"/>
              </a:ext>
            </a:extLst>
          </p:cNvPr>
          <p:cNvSpPr>
            <a:spLocks noGrp="1"/>
          </p:cNvSpPr>
          <p:nvPr/>
        </p:nvSpPr>
        <p:spPr>
          <a:xfrm>
            <a:off x="6517957" y="4800600"/>
            <a:ext cx="2225040" cy="447675"/>
          </a:xfrm>
          <a:prstGeom prst="rect">
            <a:avLst/>
          </a:prstGeom>
          <a:solidFill>
            <a:srgbClr val="4C91D8"/>
          </a:solidFill>
          <a:ln w="0">
            <a:noFill/>
          </a:ln>
        </p:spPr>
        <p:txBody>
          <a:bodyPr/>
          <a:lstStyle/>
          <a:p>
            <a:endParaRPr lang="en-US"/>
          </a:p>
        </p:txBody>
      </p:sp>
      <p:sp>
        <p:nvSpPr>
          <p:cNvPr id="580" name="27%">
            <a:extLst>
              <a:ext uri="{FF2B5EF4-FFF2-40B4-BE49-F238E27FC236}">
                <a16:creationId xmlns:a16="http://schemas.microsoft.com/office/drawing/2014/main" id="{13284156-6768-4D11-A057-FCB01AC640C7}"/>
              </a:ext>
            </a:extLst>
          </p:cNvPr>
          <p:cNvSpPr>
            <a:spLocks noGrp="1"/>
          </p:cNvSpPr>
          <p:nvPr/>
        </p:nvSpPr>
        <p:spPr>
          <a:xfrm>
            <a:off x="6556057" y="49053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81" name="Rectangle 580">
            <a:extLst>
              <a:ext uri="{FF2B5EF4-FFF2-40B4-BE49-F238E27FC236}">
                <a16:creationId xmlns:a16="http://schemas.microsoft.com/office/drawing/2014/main" id="{4756183A-AE0C-41B4-A2B8-4C989447E623}"/>
              </a:ext>
            </a:extLst>
          </p:cNvPr>
          <p:cNvSpPr>
            <a:spLocks noGrp="1"/>
          </p:cNvSpPr>
          <p:nvPr/>
        </p:nvSpPr>
        <p:spPr>
          <a:xfrm>
            <a:off x="8742997" y="4800600"/>
            <a:ext cx="1877378" cy="447675"/>
          </a:xfrm>
          <a:prstGeom prst="rect">
            <a:avLst/>
          </a:prstGeom>
          <a:solidFill>
            <a:srgbClr val="285B9F"/>
          </a:solidFill>
          <a:ln w="0">
            <a:noFill/>
          </a:ln>
        </p:spPr>
        <p:txBody>
          <a:bodyPr/>
          <a:lstStyle/>
          <a:p>
            <a:endParaRPr lang="en-US"/>
          </a:p>
        </p:txBody>
      </p:sp>
      <p:sp>
        <p:nvSpPr>
          <p:cNvPr id="582" name="28%">
            <a:extLst>
              <a:ext uri="{FF2B5EF4-FFF2-40B4-BE49-F238E27FC236}">
                <a16:creationId xmlns:a16="http://schemas.microsoft.com/office/drawing/2014/main" id="{F789F10D-B47F-488B-BFFC-DFB3E4C4B3B8}"/>
              </a:ext>
            </a:extLst>
          </p:cNvPr>
          <p:cNvSpPr>
            <a:spLocks noGrp="1"/>
          </p:cNvSpPr>
          <p:nvPr/>
        </p:nvSpPr>
        <p:spPr>
          <a:xfrm>
            <a:off x="8781097" y="49053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83" name="n=131">
            <a:extLst>
              <a:ext uri="{FF2B5EF4-FFF2-40B4-BE49-F238E27FC236}">
                <a16:creationId xmlns:a16="http://schemas.microsoft.com/office/drawing/2014/main" id="{F99591CD-D969-4E8E-A8F5-09B5641C9F6B}"/>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n=95</a:t>
            </a:r>
          </a:p>
        </p:txBody>
      </p:sp>
      <p:sp>
        <p:nvSpPr>
          <p:cNvPr id="584" name="Rectangle 583">
            <a:extLst>
              <a:ext uri="{FF2B5EF4-FFF2-40B4-BE49-F238E27FC236}">
                <a16:creationId xmlns:a16="http://schemas.microsoft.com/office/drawing/2014/main" id="{86BD05C8-4C53-4DC1-BA2D-D0F6C2821311}"/>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3CECFDAE-1B7B-4854-A84E-9F7104C69828}"/>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23B3A29E-579B-4385-BBF7-9E86215E4C4F}"/>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EA3EBBF0-9483-46BA-AD23-B9AE12684DA9}"/>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2614B997-0652-4246-9926-4851ADC0D0FD}"/>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F31DD538-6FBB-4F13-AF6A-5686FECC28A3}"/>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C10C7523-9D0D-4C17-B662-C22A38E694A2}"/>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6E315968-A477-4DA0-A5BB-0B828AFBDA04}"/>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F3691A7B-179E-DF51-4A05-5596A3367835}"/>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01BD39BD-57CE-DB79-17BE-8C49E63DFBEE}"/>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E6715EA-6DB1-8DE6-9AFC-51409F51B8CF}"/>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E3827BA-1997-00D7-076A-8531F048D392}"/>
              </a:ext>
            </a:extLst>
          </p:cNvPr>
          <p:cNvSpPr txBox="1"/>
          <p:nvPr/>
        </p:nvSpPr>
        <p:spPr>
          <a:xfrm rot="16200000">
            <a:off x="-460440" y="2715997"/>
            <a:ext cx="1351652" cy="369332"/>
          </a:xfrm>
          <a:prstGeom prst="rect">
            <a:avLst/>
          </a:prstGeom>
          <a:noFill/>
        </p:spPr>
        <p:txBody>
          <a:bodyPr wrap="none" rtlCol="0">
            <a:spAutoFit/>
          </a:bodyPr>
          <a:lstStyle/>
          <a:p>
            <a:r>
              <a:rPr lang="en-US" dirty="0"/>
              <a:t>Study Style</a:t>
            </a:r>
          </a:p>
        </p:txBody>
      </p:sp>
    </p:spTree>
    <p:extLst>
      <p:ext uri="{BB962C8B-B14F-4D97-AF65-F5344CB8AC3E}">
        <p14:creationId xmlns:p14="http://schemas.microsoft.com/office/powerpoint/2010/main" val="2346131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19</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Topic clarity and CGPA</a:t>
            </a:r>
          </a:p>
        </p:txBody>
      </p:sp>
      <p:sp>
        <p:nvSpPr>
          <p:cNvPr id="534" name="Almost nothing">
            <a:extLst>
              <a:ext uri="{FF2B5EF4-FFF2-40B4-BE49-F238E27FC236}">
                <a16:creationId xmlns:a16="http://schemas.microsoft.com/office/drawing/2014/main" id="{728DD5F2-D936-49AF-8C99-480AA72BD719}"/>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nothing</a:t>
            </a:r>
          </a:p>
        </p:txBody>
      </p:sp>
      <p:sp>
        <p:nvSpPr>
          <p:cNvPr id="535" name="Rectangle 534">
            <a:extLst>
              <a:ext uri="{FF2B5EF4-FFF2-40B4-BE49-F238E27FC236}">
                <a16:creationId xmlns:a16="http://schemas.microsoft.com/office/drawing/2014/main" id="{AF3105BC-0124-42C4-8081-CF8696382845}"/>
              </a:ext>
            </a:extLst>
          </p:cNvPr>
          <p:cNvSpPr>
            <a:spLocks noGrp="1"/>
          </p:cNvSpPr>
          <p:nvPr/>
        </p:nvSpPr>
        <p:spPr>
          <a:xfrm>
            <a:off x="3667125" y="1905000"/>
            <a:ext cx="1460182" cy="447675"/>
          </a:xfrm>
          <a:prstGeom prst="rect">
            <a:avLst/>
          </a:prstGeom>
          <a:solidFill>
            <a:srgbClr val="A83A3A"/>
          </a:solidFill>
          <a:ln w="0">
            <a:noFill/>
          </a:ln>
        </p:spPr>
        <p:txBody>
          <a:bodyPr/>
          <a:lstStyle/>
          <a:p>
            <a:endParaRPr lang="en-US"/>
          </a:p>
        </p:txBody>
      </p:sp>
      <p:sp>
        <p:nvSpPr>
          <p:cNvPr id="536" name="24%">
            <a:extLst>
              <a:ext uri="{FF2B5EF4-FFF2-40B4-BE49-F238E27FC236}">
                <a16:creationId xmlns:a16="http://schemas.microsoft.com/office/drawing/2014/main" id="{3DD396A3-2BB9-4118-9E51-FAB7432A5FAB}"/>
              </a:ext>
            </a:extLst>
          </p:cNvPr>
          <p:cNvSpPr>
            <a:spLocks noGrp="1"/>
          </p:cNvSpPr>
          <p:nvPr/>
        </p:nvSpPr>
        <p:spPr>
          <a:xfrm>
            <a:off x="3705225" y="20097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37" name="Rectangle 536">
            <a:extLst>
              <a:ext uri="{FF2B5EF4-FFF2-40B4-BE49-F238E27FC236}">
                <a16:creationId xmlns:a16="http://schemas.microsoft.com/office/drawing/2014/main" id="{5CA9C875-3208-4796-B07B-DC64B61FCEC5}"/>
              </a:ext>
            </a:extLst>
          </p:cNvPr>
          <p:cNvSpPr>
            <a:spLocks noGrp="1"/>
          </p:cNvSpPr>
          <p:nvPr/>
        </p:nvSpPr>
        <p:spPr>
          <a:xfrm>
            <a:off x="5127307" y="1905000"/>
            <a:ext cx="2364105" cy="447675"/>
          </a:xfrm>
          <a:prstGeom prst="rect">
            <a:avLst/>
          </a:prstGeom>
          <a:solidFill>
            <a:srgbClr val="DC713D"/>
          </a:solidFill>
          <a:ln w="0">
            <a:noFill/>
          </a:ln>
        </p:spPr>
        <p:txBody>
          <a:bodyPr/>
          <a:lstStyle/>
          <a:p>
            <a:endParaRPr lang="en-US"/>
          </a:p>
        </p:txBody>
      </p:sp>
      <p:sp>
        <p:nvSpPr>
          <p:cNvPr id="538" name="31%">
            <a:extLst>
              <a:ext uri="{FF2B5EF4-FFF2-40B4-BE49-F238E27FC236}">
                <a16:creationId xmlns:a16="http://schemas.microsoft.com/office/drawing/2014/main" id="{688E1CBF-891E-4070-8FE0-7A7371336139}"/>
              </a:ext>
            </a:extLst>
          </p:cNvPr>
          <p:cNvSpPr>
            <a:spLocks noGrp="1"/>
          </p:cNvSpPr>
          <p:nvPr/>
        </p:nvSpPr>
        <p:spPr>
          <a:xfrm>
            <a:off x="5165407" y="2009775"/>
            <a:ext cx="230695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39" name="Rectangle 538">
            <a:extLst>
              <a:ext uri="{FF2B5EF4-FFF2-40B4-BE49-F238E27FC236}">
                <a16:creationId xmlns:a16="http://schemas.microsoft.com/office/drawing/2014/main" id="{D5E2570C-C6FE-45B7-900C-31EE0867ED92}"/>
              </a:ext>
            </a:extLst>
          </p:cNvPr>
          <p:cNvSpPr>
            <a:spLocks noGrp="1"/>
          </p:cNvSpPr>
          <p:nvPr/>
        </p:nvSpPr>
        <p:spPr>
          <a:xfrm>
            <a:off x="7491412" y="1905000"/>
            <a:ext cx="1877378" cy="447675"/>
          </a:xfrm>
          <a:prstGeom prst="rect">
            <a:avLst/>
          </a:prstGeom>
          <a:solidFill>
            <a:srgbClr val="4C91D8"/>
          </a:solidFill>
          <a:ln w="0">
            <a:noFill/>
          </a:ln>
        </p:spPr>
        <p:txBody>
          <a:bodyPr/>
          <a:lstStyle/>
          <a:p>
            <a:endParaRPr lang="en-US"/>
          </a:p>
        </p:txBody>
      </p:sp>
      <p:sp>
        <p:nvSpPr>
          <p:cNvPr id="540" name="25%">
            <a:extLst>
              <a:ext uri="{FF2B5EF4-FFF2-40B4-BE49-F238E27FC236}">
                <a16:creationId xmlns:a16="http://schemas.microsoft.com/office/drawing/2014/main" id="{535EFA1F-6C2D-4AAE-8146-D5E512D04886}"/>
              </a:ext>
            </a:extLst>
          </p:cNvPr>
          <p:cNvSpPr>
            <a:spLocks noGrp="1"/>
          </p:cNvSpPr>
          <p:nvPr/>
        </p:nvSpPr>
        <p:spPr>
          <a:xfrm>
            <a:off x="7529512" y="20097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1" name="Rectangle 540">
            <a:extLst>
              <a:ext uri="{FF2B5EF4-FFF2-40B4-BE49-F238E27FC236}">
                <a16:creationId xmlns:a16="http://schemas.microsoft.com/office/drawing/2014/main" id="{DD7095CB-703F-43A0-8C86-CD65782504AE}"/>
              </a:ext>
            </a:extLst>
          </p:cNvPr>
          <p:cNvSpPr>
            <a:spLocks noGrp="1"/>
          </p:cNvSpPr>
          <p:nvPr/>
        </p:nvSpPr>
        <p:spPr>
          <a:xfrm>
            <a:off x="9368790" y="1905000"/>
            <a:ext cx="1251585" cy="447675"/>
          </a:xfrm>
          <a:prstGeom prst="rect">
            <a:avLst/>
          </a:prstGeom>
          <a:solidFill>
            <a:srgbClr val="285B9F"/>
          </a:solidFill>
          <a:ln w="0">
            <a:noFill/>
          </a:ln>
        </p:spPr>
        <p:txBody>
          <a:bodyPr/>
          <a:lstStyle/>
          <a:p>
            <a:endParaRPr lang="en-US"/>
          </a:p>
        </p:txBody>
      </p:sp>
      <p:sp>
        <p:nvSpPr>
          <p:cNvPr id="542" name="20%">
            <a:extLst>
              <a:ext uri="{FF2B5EF4-FFF2-40B4-BE49-F238E27FC236}">
                <a16:creationId xmlns:a16="http://schemas.microsoft.com/office/drawing/2014/main" id="{64BDE92A-ABB1-48DB-B76F-E31EAA20D15F}"/>
              </a:ext>
            </a:extLst>
          </p:cNvPr>
          <p:cNvSpPr>
            <a:spLocks noGrp="1"/>
          </p:cNvSpPr>
          <p:nvPr/>
        </p:nvSpPr>
        <p:spPr>
          <a:xfrm>
            <a:off x="9406890" y="2009775"/>
            <a:ext cx="11944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43" name="n=181">
            <a:extLst>
              <a:ext uri="{FF2B5EF4-FFF2-40B4-BE49-F238E27FC236}">
                <a16:creationId xmlns:a16="http://schemas.microsoft.com/office/drawing/2014/main" id="{A02A6DDB-8B68-4D5D-AF92-B712FCF5E963}"/>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n=149</a:t>
            </a:r>
          </a:p>
        </p:txBody>
      </p:sp>
      <p:sp>
        <p:nvSpPr>
          <p:cNvPr id="544" name="A little">
            <a:extLst>
              <a:ext uri="{FF2B5EF4-FFF2-40B4-BE49-F238E27FC236}">
                <a16:creationId xmlns:a16="http://schemas.microsoft.com/office/drawing/2014/main" id="{FE270BC4-CAFD-43E5-8E7E-BF8FFD597C4F}"/>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 little</a:t>
            </a:r>
          </a:p>
        </p:txBody>
      </p:sp>
      <p:sp>
        <p:nvSpPr>
          <p:cNvPr id="545" name="Rectangle 544">
            <a:extLst>
              <a:ext uri="{FF2B5EF4-FFF2-40B4-BE49-F238E27FC236}">
                <a16:creationId xmlns:a16="http://schemas.microsoft.com/office/drawing/2014/main" id="{52C114DC-5356-44FA-87FE-9041B172D1C7}"/>
              </a:ext>
            </a:extLst>
          </p:cNvPr>
          <p:cNvSpPr>
            <a:spLocks noGrp="1"/>
          </p:cNvSpPr>
          <p:nvPr/>
        </p:nvSpPr>
        <p:spPr>
          <a:xfrm>
            <a:off x="3667125" y="2628900"/>
            <a:ext cx="1460182" cy="447675"/>
          </a:xfrm>
          <a:prstGeom prst="rect">
            <a:avLst/>
          </a:prstGeom>
          <a:solidFill>
            <a:srgbClr val="A83A3A"/>
          </a:solidFill>
          <a:ln w="0">
            <a:noFill/>
          </a:ln>
        </p:spPr>
        <p:txBody>
          <a:bodyPr/>
          <a:lstStyle/>
          <a:p>
            <a:endParaRPr lang="en-US"/>
          </a:p>
        </p:txBody>
      </p:sp>
      <p:sp>
        <p:nvSpPr>
          <p:cNvPr id="546" name="23%">
            <a:extLst>
              <a:ext uri="{FF2B5EF4-FFF2-40B4-BE49-F238E27FC236}">
                <a16:creationId xmlns:a16="http://schemas.microsoft.com/office/drawing/2014/main" id="{E71A5F7B-45A0-42E6-BA77-C450ABD463D4}"/>
              </a:ext>
            </a:extLst>
          </p:cNvPr>
          <p:cNvSpPr>
            <a:spLocks noGrp="1"/>
          </p:cNvSpPr>
          <p:nvPr/>
        </p:nvSpPr>
        <p:spPr>
          <a:xfrm>
            <a:off x="3705225" y="27336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5411A477-E296-4DFC-BD29-E3B5A4D2242F}"/>
              </a:ext>
            </a:extLst>
          </p:cNvPr>
          <p:cNvSpPr>
            <a:spLocks noGrp="1"/>
          </p:cNvSpPr>
          <p:nvPr/>
        </p:nvSpPr>
        <p:spPr>
          <a:xfrm>
            <a:off x="5127307" y="2628900"/>
            <a:ext cx="2016442" cy="447675"/>
          </a:xfrm>
          <a:prstGeom prst="rect">
            <a:avLst/>
          </a:prstGeom>
          <a:solidFill>
            <a:srgbClr val="DC713D"/>
          </a:solidFill>
          <a:ln w="0">
            <a:noFill/>
          </a:ln>
        </p:spPr>
        <p:txBody>
          <a:bodyPr/>
          <a:lstStyle/>
          <a:p>
            <a:endParaRPr lang="en-US"/>
          </a:p>
        </p:txBody>
      </p:sp>
      <p:sp>
        <p:nvSpPr>
          <p:cNvPr id="548" name="26%">
            <a:extLst>
              <a:ext uri="{FF2B5EF4-FFF2-40B4-BE49-F238E27FC236}">
                <a16:creationId xmlns:a16="http://schemas.microsoft.com/office/drawing/2014/main" id="{7392D2ED-0E80-41FB-B071-273EA5D14AFB}"/>
              </a:ext>
            </a:extLst>
          </p:cNvPr>
          <p:cNvSpPr>
            <a:spLocks noGrp="1"/>
          </p:cNvSpPr>
          <p:nvPr/>
        </p:nvSpPr>
        <p:spPr>
          <a:xfrm>
            <a:off x="5165407" y="27336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49" name="Rectangle 548">
            <a:extLst>
              <a:ext uri="{FF2B5EF4-FFF2-40B4-BE49-F238E27FC236}">
                <a16:creationId xmlns:a16="http://schemas.microsoft.com/office/drawing/2014/main" id="{671845DA-9AE8-4F2F-823B-9422686FC321}"/>
              </a:ext>
            </a:extLst>
          </p:cNvPr>
          <p:cNvSpPr>
            <a:spLocks noGrp="1"/>
          </p:cNvSpPr>
          <p:nvPr/>
        </p:nvSpPr>
        <p:spPr>
          <a:xfrm>
            <a:off x="7143749" y="2628900"/>
            <a:ext cx="1807845" cy="447675"/>
          </a:xfrm>
          <a:prstGeom prst="rect">
            <a:avLst/>
          </a:prstGeom>
          <a:solidFill>
            <a:srgbClr val="4C91D8"/>
          </a:solidFill>
          <a:ln w="0">
            <a:noFill/>
          </a:ln>
        </p:spPr>
        <p:txBody>
          <a:bodyPr/>
          <a:lstStyle/>
          <a:p>
            <a:endParaRPr lang="en-US"/>
          </a:p>
        </p:txBody>
      </p:sp>
      <p:sp>
        <p:nvSpPr>
          <p:cNvPr id="550" name="26%">
            <a:extLst>
              <a:ext uri="{FF2B5EF4-FFF2-40B4-BE49-F238E27FC236}">
                <a16:creationId xmlns:a16="http://schemas.microsoft.com/office/drawing/2014/main" id="{E2617B2E-4948-4CB4-A9CA-D7114785F377}"/>
              </a:ext>
            </a:extLst>
          </p:cNvPr>
          <p:cNvSpPr>
            <a:spLocks noGrp="1"/>
          </p:cNvSpPr>
          <p:nvPr/>
        </p:nvSpPr>
        <p:spPr>
          <a:xfrm>
            <a:off x="7181849" y="27336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51" name="Rectangle 550">
            <a:extLst>
              <a:ext uri="{FF2B5EF4-FFF2-40B4-BE49-F238E27FC236}">
                <a16:creationId xmlns:a16="http://schemas.microsoft.com/office/drawing/2014/main" id="{B1292710-161E-4662-B0BF-3B3849B041C1}"/>
              </a:ext>
            </a:extLst>
          </p:cNvPr>
          <p:cNvSpPr>
            <a:spLocks noGrp="1"/>
          </p:cNvSpPr>
          <p:nvPr/>
        </p:nvSpPr>
        <p:spPr>
          <a:xfrm>
            <a:off x="8951594" y="2628900"/>
            <a:ext cx="1668781" cy="447675"/>
          </a:xfrm>
          <a:prstGeom prst="rect">
            <a:avLst/>
          </a:prstGeom>
          <a:solidFill>
            <a:srgbClr val="285B9F"/>
          </a:solidFill>
          <a:ln w="0">
            <a:noFill/>
          </a:ln>
        </p:spPr>
        <p:txBody>
          <a:bodyPr/>
          <a:lstStyle/>
          <a:p>
            <a:endParaRPr lang="en-US"/>
          </a:p>
        </p:txBody>
      </p:sp>
      <p:sp>
        <p:nvSpPr>
          <p:cNvPr id="552" name="24%">
            <a:extLst>
              <a:ext uri="{FF2B5EF4-FFF2-40B4-BE49-F238E27FC236}">
                <a16:creationId xmlns:a16="http://schemas.microsoft.com/office/drawing/2014/main" id="{55D4EEF8-6816-4174-B372-B31B763140A2}"/>
              </a:ext>
            </a:extLst>
          </p:cNvPr>
          <p:cNvSpPr>
            <a:spLocks noGrp="1"/>
          </p:cNvSpPr>
          <p:nvPr/>
        </p:nvSpPr>
        <p:spPr>
          <a:xfrm>
            <a:off x="8989694" y="2733675"/>
            <a:ext cx="161163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3" name="n=265">
            <a:extLst>
              <a:ext uri="{FF2B5EF4-FFF2-40B4-BE49-F238E27FC236}">
                <a16:creationId xmlns:a16="http://schemas.microsoft.com/office/drawing/2014/main" id="{66AA2194-760B-41C4-B303-F74839B1F335}"/>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n=220</a:t>
            </a:r>
          </a:p>
        </p:txBody>
      </p:sp>
      <p:sp>
        <p:nvSpPr>
          <p:cNvPr id="554" name="About half">
            <a:extLst>
              <a:ext uri="{FF2B5EF4-FFF2-40B4-BE49-F238E27FC236}">
                <a16:creationId xmlns:a16="http://schemas.microsoft.com/office/drawing/2014/main" id="{48D24B51-1FCD-4D51-8D2B-B6F80AF0FFEA}"/>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About half</a:t>
            </a:r>
          </a:p>
        </p:txBody>
      </p:sp>
      <p:sp>
        <p:nvSpPr>
          <p:cNvPr id="555" name="Rectangle 554">
            <a:extLst>
              <a:ext uri="{FF2B5EF4-FFF2-40B4-BE49-F238E27FC236}">
                <a16:creationId xmlns:a16="http://schemas.microsoft.com/office/drawing/2014/main" id="{6DE3E3A9-7D0C-4AB0-ADA0-E883A9E5DAE9}"/>
              </a:ext>
            </a:extLst>
          </p:cNvPr>
          <p:cNvSpPr>
            <a:spLocks noGrp="1"/>
          </p:cNvSpPr>
          <p:nvPr/>
        </p:nvSpPr>
        <p:spPr>
          <a:xfrm>
            <a:off x="3667125" y="3352800"/>
            <a:ext cx="1264227" cy="447675"/>
          </a:xfrm>
          <a:prstGeom prst="rect">
            <a:avLst/>
          </a:prstGeom>
          <a:solidFill>
            <a:srgbClr val="A83A3A"/>
          </a:solidFill>
          <a:ln w="0">
            <a:noFill/>
          </a:ln>
        </p:spPr>
        <p:txBody>
          <a:bodyPr/>
          <a:lstStyle/>
          <a:p>
            <a:endParaRPr lang="en-US"/>
          </a:p>
        </p:txBody>
      </p:sp>
      <p:sp>
        <p:nvSpPr>
          <p:cNvPr id="556" name="19%">
            <a:extLst>
              <a:ext uri="{FF2B5EF4-FFF2-40B4-BE49-F238E27FC236}">
                <a16:creationId xmlns:a16="http://schemas.microsoft.com/office/drawing/2014/main" id="{C769C505-2143-4BC4-A3AC-BB7B2C0B5DAC}"/>
              </a:ext>
            </a:extLst>
          </p:cNvPr>
          <p:cNvSpPr>
            <a:spLocks noGrp="1"/>
          </p:cNvSpPr>
          <p:nvPr/>
        </p:nvSpPr>
        <p:spPr>
          <a:xfrm>
            <a:off x="3705225" y="3457575"/>
            <a:ext cx="120707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7" name="Rectangle 556">
            <a:extLst>
              <a:ext uri="{FF2B5EF4-FFF2-40B4-BE49-F238E27FC236}">
                <a16:creationId xmlns:a16="http://schemas.microsoft.com/office/drawing/2014/main" id="{58F2DC11-6A8E-4A06-A09A-88B78F02E19D}"/>
              </a:ext>
            </a:extLst>
          </p:cNvPr>
          <p:cNvSpPr>
            <a:spLocks noGrp="1"/>
          </p:cNvSpPr>
          <p:nvPr/>
        </p:nvSpPr>
        <p:spPr>
          <a:xfrm>
            <a:off x="4931352" y="3352800"/>
            <a:ext cx="2317750" cy="447675"/>
          </a:xfrm>
          <a:prstGeom prst="rect">
            <a:avLst/>
          </a:prstGeom>
          <a:solidFill>
            <a:srgbClr val="DC713D"/>
          </a:solidFill>
          <a:ln w="0">
            <a:noFill/>
          </a:ln>
        </p:spPr>
        <p:txBody>
          <a:bodyPr/>
          <a:lstStyle/>
          <a:p>
            <a:endParaRPr lang="en-US"/>
          </a:p>
        </p:txBody>
      </p:sp>
      <p:sp>
        <p:nvSpPr>
          <p:cNvPr id="558" name="32%">
            <a:extLst>
              <a:ext uri="{FF2B5EF4-FFF2-40B4-BE49-F238E27FC236}">
                <a16:creationId xmlns:a16="http://schemas.microsoft.com/office/drawing/2014/main" id="{C0861014-8E3E-4FB0-89EE-C7CF3987D979}"/>
              </a:ext>
            </a:extLst>
          </p:cNvPr>
          <p:cNvSpPr>
            <a:spLocks noGrp="1"/>
          </p:cNvSpPr>
          <p:nvPr/>
        </p:nvSpPr>
        <p:spPr>
          <a:xfrm>
            <a:off x="4969452" y="3457575"/>
            <a:ext cx="22606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59" name="Rectangle 558">
            <a:extLst>
              <a:ext uri="{FF2B5EF4-FFF2-40B4-BE49-F238E27FC236}">
                <a16:creationId xmlns:a16="http://schemas.microsoft.com/office/drawing/2014/main" id="{A837C6F1-EC54-47CF-8840-B93836621CD2}"/>
              </a:ext>
            </a:extLst>
          </p:cNvPr>
          <p:cNvSpPr>
            <a:spLocks noGrp="1"/>
          </p:cNvSpPr>
          <p:nvPr/>
        </p:nvSpPr>
        <p:spPr>
          <a:xfrm>
            <a:off x="7249102" y="3352800"/>
            <a:ext cx="2177280" cy="447675"/>
          </a:xfrm>
          <a:prstGeom prst="rect">
            <a:avLst/>
          </a:prstGeom>
          <a:solidFill>
            <a:srgbClr val="4C91D8"/>
          </a:solidFill>
          <a:ln w="0">
            <a:noFill/>
          </a:ln>
        </p:spPr>
        <p:txBody>
          <a:bodyPr/>
          <a:lstStyle/>
          <a:p>
            <a:endParaRPr lang="en-US"/>
          </a:p>
        </p:txBody>
      </p:sp>
      <p:sp>
        <p:nvSpPr>
          <p:cNvPr id="560" name="29%">
            <a:extLst>
              <a:ext uri="{FF2B5EF4-FFF2-40B4-BE49-F238E27FC236}">
                <a16:creationId xmlns:a16="http://schemas.microsoft.com/office/drawing/2014/main" id="{FD120E4F-E370-469C-A14E-359BCC8A22A9}"/>
              </a:ext>
            </a:extLst>
          </p:cNvPr>
          <p:cNvSpPr>
            <a:spLocks noGrp="1"/>
          </p:cNvSpPr>
          <p:nvPr/>
        </p:nvSpPr>
        <p:spPr>
          <a:xfrm>
            <a:off x="7287202" y="3457575"/>
            <a:ext cx="21201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1" name="Rectangle 560">
            <a:extLst>
              <a:ext uri="{FF2B5EF4-FFF2-40B4-BE49-F238E27FC236}">
                <a16:creationId xmlns:a16="http://schemas.microsoft.com/office/drawing/2014/main" id="{EC392B0F-9ADF-4413-91BD-5E90BC416D2B}"/>
              </a:ext>
            </a:extLst>
          </p:cNvPr>
          <p:cNvSpPr>
            <a:spLocks noGrp="1"/>
          </p:cNvSpPr>
          <p:nvPr/>
        </p:nvSpPr>
        <p:spPr>
          <a:xfrm>
            <a:off x="9426382" y="3352800"/>
            <a:ext cx="1193993" cy="447675"/>
          </a:xfrm>
          <a:prstGeom prst="rect">
            <a:avLst/>
          </a:prstGeom>
          <a:solidFill>
            <a:srgbClr val="285B9F"/>
          </a:solidFill>
          <a:ln w="0">
            <a:noFill/>
          </a:ln>
        </p:spPr>
        <p:txBody>
          <a:bodyPr/>
          <a:lstStyle/>
          <a:p>
            <a:endParaRPr lang="en-US"/>
          </a:p>
        </p:txBody>
      </p:sp>
      <p:sp>
        <p:nvSpPr>
          <p:cNvPr id="562" name="20%">
            <a:extLst>
              <a:ext uri="{FF2B5EF4-FFF2-40B4-BE49-F238E27FC236}">
                <a16:creationId xmlns:a16="http://schemas.microsoft.com/office/drawing/2014/main" id="{E5D18BE6-4548-4959-A7B8-B45D6B32CFA6}"/>
              </a:ext>
            </a:extLst>
          </p:cNvPr>
          <p:cNvSpPr>
            <a:spLocks noGrp="1"/>
          </p:cNvSpPr>
          <p:nvPr/>
        </p:nvSpPr>
        <p:spPr>
          <a:xfrm>
            <a:off x="9464482" y="3457575"/>
            <a:ext cx="11368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63" name="n=312">
            <a:extLst>
              <a:ext uri="{FF2B5EF4-FFF2-40B4-BE49-F238E27FC236}">
                <a16:creationId xmlns:a16="http://schemas.microsoft.com/office/drawing/2014/main" id="{68D06ACE-1C90-4F40-A2EF-81CD6D98FC7C}"/>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n=267</a:t>
            </a:r>
          </a:p>
        </p:txBody>
      </p:sp>
      <p:sp>
        <p:nvSpPr>
          <p:cNvPr id="564" name="Most of it">
            <a:extLst>
              <a:ext uri="{FF2B5EF4-FFF2-40B4-BE49-F238E27FC236}">
                <a16:creationId xmlns:a16="http://schemas.microsoft.com/office/drawing/2014/main" id="{6421512E-D70F-4393-8BBD-D890064CB3F6}"/>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 of it</a:t>
            </a:r>
          </a:p>
        </p:txBody>
      </p:sp>
      <p:sp>
        <p:nvSpPr>
          <p:cNvPr id="565" name="Rectangle 564">
            <a:extLst>
              <a:ext uri="{FF2B5EF4-FFF2-40B4-BE49-F238E27FC236}">
                <a16:creationId xmlns:a16="http://schemas.microsoft.com/office/drawing/2014/main" id="{4471D58F-BDC4-4D3D-8B79-AF484ABFD17B}"/>
              </a:ext>
            </a:extLst>
          </p:cNvPr>
          <p:cNvSpPr>
            <a:spLocks noGrp="1"/>
          </p:cNvSpPr>
          <p:nvPr/>
        </p:nvSpPr>
        <p:spPr>
          <a:xfrm>
            <a:off x="3667125" y="4076700"/>
            <a:ext cx="1251585"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D769472D-1A58-486C-81AC-4F8EB22BE05B}"/>
              </a:ext>
            </a:extLst>
          </p:cNvPr>
          <p:cNvSpPr>
            <a:spLocks noGrp="1"/>
          </p:cNvSpPr>
          <p:nvPr/>
        </p:nvSpPr>
        <p:spPr>
          <a:xfrm>
            <a:off x="3705225" y="4181475"/>
            <a:ext cx="11944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E8CA0FAB-59A0-49EA-8423-9172FE4F888F}"/>
              </a:ext>
            </a:extLst>
          </p:cNvPr>
          <p:cNvSpPr>
            <a:spLocks noGrp="1"/>
          </p:cNvSpPr>
          <p:nvPr/>
        </p:nvSpPr>
        <p:spPr>
          <a:xfrm>
            <a:off x="4918710" y="4076700"/>
            <a:ext cx="2016442"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B49D83DC-CA92-4CC3-9272-E8B4638D9A82}"/>
              </a:ext>
            </a:extLst>
          </p:cNvPr>
          <p:cNvSpPr>
            <a:spLocks noGrp="1"/>
          </p:cNvSpPr>
          <p:nvPr/>
        </p:nvSpPr>
        <p:spPr>
          <a:xfrm>
            <a:off x="4956810" y="41814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110F1807-FA4D-4D42-B518-3557C24A6A22}"/>
              </a:ext>
            </a:extLst>
          </p:cNvPr>
          <p:cNvSpPr>
            <a:spLocks noGrp="1"/>
          </p:cNvSpPr>
          <p:nvPr/>
        </p:nvSpPr>
        <p:spPr>
          <a:xfrm>
            <a:off x="6935152" y="4076700"/>
            <a:ext cx="2225040" cy="447675"/>
          </a:xfrm>
          <a:prstGeom prst="rect">
            <a:avLst/>
          </a:prstGeom>
          <a:solidFill>
            <a:srgbClr val="4C91D8"/>
          </a:solidFill>
          <a:ln w="0">
            <a:noFill/>
          </a:ln>
        </p:spPr>
        <p:txBody>
          <a:bodyPr/>
          <a:lstStyle/>
          <a:p>
            <a:endParaRPr lang="en-US"/>
          </a:p>
        </p:txBody>
      </p:sp>
      <p:sp>
        <p:nvSpPr>
          <p:cNvPr id="570" name="32%">
            <a:extLst>
              <a:ext uri="{FF2B5EF4-FFF2-40B4-BE49-F238E27FC236}">
                <a16:creationId xmlns:a16="http://schemas.microsoft.com/office/drawing/2014/main" id="{12060D8C-384C-4D66-9B5C-B2C4D1209F97}"/>
              </a:ext>
            </a:extLst>
          </p:cNvPr>
          <p:cNvSpPr>
            <a:spLocks noGrp="1"/>
          </p:cNvSpPr>
          <p:nvPr/>
        </p:nvSpPr>
        <p:spPr>
          <a:xfrm>
            <a:off x="6973252" y="41814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71" name="Rectangle 570">
            <a:extLst>
              <a:ext uri="{FF2B5EF4-FFF2-40B4-BE49-F238E27FC236}">
                <a16:creationId xmlns:a16="http://schemas.microsoft.com/office/drawing/2014/main" id="{B2461F02-D6BA-4DCF-A2BE-444E840ED40D}"/>
              </a:ext>
            </a:extLst>
          </p:cNvPr>
          <p:cNvSpPr>
            <a:spLocks noGrp="1"/>
          </p:cNvSpPr>
          <p:nvPr/>
        </p:nvSpPr>
        <p:spPr>
          <a:xfrm>
            <a:off x="9160192" y="4076700"/>
            <a:ext cx="1460183"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53012205-65C8-43C1-BC6E-E242801FDF1A}"/>
              </a:ext>
            </a:extLst>
          </p:cNvPr>
          <p:cNvSpPr>
            <a:spLocks noGrp="1"/>
          </p:cNvSpPr>
          <p:nvPr/>
        </p:nvSpPr>
        <p:spPr>
          <a:xfrm>
            <a:off x="9198292" y="4181475"/>
            <a:ext cx="140303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73" name="n=217">
            <a:extLst>
              <a:ext uri="{FF2B5EF4-FFF2-40B4-BE49-F238E27FC236}">
                <a16:creationId xmlns:a16="http://schemas.microsoft.com/office/drawing/2014/main" id="{38FECF88-E59B-4669-9E46-F562DB215586}"/>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n=191</a:t>
            </a:r>
          </a:p>
        </p:txBody>
      </p:sp>
      <p:sp>
        <p:nvSpPr>
          <p:cNvPr id="574" name="Almost everything">
            <a:extLst>
              <a:ext uri="{FF2B5EF4-FFF2-40B4-BE49-F238E27FC236}">
                <a16:creationId xmlns:a16="http://schemas.microsoft.com/office/drawing/2014/main" id="{3A552C76-C9F2-49AA-B5CE-1F64570A7018}"/>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everything</a:t>
            </a:r>
          </a:p>
        </p:txBody>
      </p:sp>
      <p:sp>
        <p:nvSpPr>
          <p:cNvPr id="575" name="Rectangle 574">
            <a:extLst>
              <a:ext uri="{FF2B5EF4-FFF2-40B4-BE49-F238E27FC236}">
                <a16:creationId xmlns:a16="http://schemas.microsoft.com/office/drawing/2014/main" id="{1F6F189E-42E7-46E7-B9D6-9E86571F61FE}"/>
              </a:ext>
            </a:extLst>
          </p:cNvPr>
          <p:cNvSpPr>
            <a:spLocks noGrp="1"/>
          </p:cNvSpPr>
          <p:nvPr/>
        </p:nvSpPr>
        <p:spPr>
          <a:xfrm>
            <a:off x="3667125" y="4800600"/>
            <a:ext cx="1583413" cy="447675"/>
          </a:xfrm>
          <a:prstGeom prst="rect">
            <a:avLst/>
          </a:prstGeom>
          <a:solidFill>
            <a:srgbClr val="A83A3A"/>
          </a:solidFill>
          <a:ln w="0">
            <a:noFill/>
          </a:ln>
        </p:spPr>
        <p:txBody>
          <a:bodyPr/>
          <a:lstStyle/>
          <a:p>
            <a:endParaRPr lang="en-US"/>
          </a:p>
        </p:txBody>
      </p:sp>
      <p:sp>
        <p:nvSpPr>
          <p:cNvPr id="576" name="25%">
            <a:extLst>
              <a:ext uri="{FF2B5EF4-FFF2-40B4-BE49-F238E27FC236}">
                <a16:creationId xmlns:a16="http://schemas.microsoft.com/office/drawing/2014/main" id="{65805CDC-8AFC-4AF1-A20B-AEC20A74D73B}"/>
              </a:ext>
            </a:extLst>
          </p:cNvPr>
          <p:cNvSpPr>
            <a:spLocks noGrp="1"/>
          </p:cNvSpPr>
          <p:nvPr/>
        </p:nvSpPr>
        <p:spPr>
          <a:xfrm>
            <a:off x="3705225" y="4905375"/>
            <a:ext cx="1526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77" name="Rectangle 576">
            <a:extLst>
              <a:ext uri="{FF2B5EF4-FFF2-40B4-BE49-F238E27FC236}">
                <a16:creationId xmlns:a16="http://schemas.microsoft.com/office/drawing/2014/main" id="{0238FF5D-DF2B-47DD-B729-E06FBDB3F15C}"/>
              </a:ext>
            </a:extLst>
          </p:cNvPr>
          <p:cNvSpPr>
            <a:spLocks noGrp="1"/>
          </p:cNvSpPr>
          <p:nvPr/>
        </p:nvSpPr>
        <p:spPr>
          <a:xfrm>
            <a:off x="5250538" y="4800600"/>
            <a:ext cx="1927634"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AF2930B4-605C-42C7-A2A6-5086C164563B}"/>
              </a:ext>
            </a:extLst>
          </p:cNvPr>
          <p:cNvSpPr>
            <a:spLocks noGrp="1"/>
          </p:cNvSpPr>
          <p:nvPr/>
        </p:nvSpPr>
        <p:spPr>
          <a:xfrm>
            <a:off x="5288638" y="4905375"/>
            <a:ext cx="18704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9" name="Rectangle 578">
            <a:extLst>
              <a:ext uri="{FF2B5EF4-FFF2-40B4-BE49-F238E27FC236}">
                <a16:creationId xmlns:a16="http://schemas.microsoft.com/office/drawing/2014/main" id="{C2F23FC6-8456-4ED7-A895-E6C21E569DD6}"/>
              </a:ext>
            </a:extLst>
          </p:cNvPr>
          <p:cNvSpPr>
            <a:spLocks noGrp="1"/>
          </p:cNvSpPr>
          <p:nvPr/>
        </p:nvSpPr>
        <p:spPr>
          <a:xfrm>
            <a:off x="7178172" y="4800600"/>
            <a:ext cx="1583413" cy="447675"/>
          </a:xfrm>
          <a:prstGeom prst="rect">
            <a:avLst/>
          </a:prstGeom>
          <a:solidFill>
            <a:srgbClr val="4C91D8"/>
          </a:solidFill>
          <a:ln w="0">
            <a:noFill/>
          </a:ln>
        </p:spPr>
        <p:txBody>
          <a:bodyPr/>
          <a:lstStyle/>
          <a:p>
            <a:endParaRPr lang="en-US"/>
          </a:p>
        </p:txBody>
      </p:sp>
      <p:sp>
        <p:nvSpPr>
          <p:cNvPr id="580" name="21%">
            <a:extLst>
              <a:ext uri="{FF2B5EF4-FFF2-40B4-BE49-F238E27FC236}">
                <a16:creationId xmlns:a16="http://schemas.microsoft.com/office/drawing/2014/main" id="{54037535-A91E-44C6-9E73-E03369D6996D}"/>
              </a:ext>
            </a:extLst>
          </p:cNvPr>
          <p:cNvSpPr>
            <a:spLocks noGrp="1"/>
          </p:cNvSpPr>
          <p:nvPr/>
        </p:nvSpPr>
        <p:spPr>
          <a:xfrm>
            <a:off x="7216272" y="4905375"/>
            <a:ext cx="1526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81" name="Rectangle 580">
            <a:extLst>
              <a:ext uri="{FF2B5EF4-FFF2-40B4-BE49-F238E27FC236}">
                <a16:creationId xmlns:a16="http://schemas.microsoft.com/office/drawing/2014/main" id="{6FF74CF7-5BC9-4E14-897C-E8BE237EA514}"/>
              </a:ext>
            </a:extLst>
          </p:cNvPr>
          <p:cNvSpPr>
            <a:spLocks noGrp="1"/>
          </p:cNvSpPr>
          <p:nvPr/>
        </p:nvSpPr>
        <p:spPr>
          <a:xfrm>
            <a:off x="8761585" y="4800600"/>
            <a:ext cx="1858790" cy="447675"/>
          </a:xfrm>
          <a:prstGeom prst="rect">
            <a:avLst/>
          </a:prstGeom>
          <a:solidFill>
            <a:srgbClr val="285B9F"/>
          </a:solidFill>
          <a:ln w="0">
            <a:noFill/>
          </a:ln>
        </p:spPr>
        <p:txBody>
          <a:bodyPr/>
          <a:lstStyle/>
          <a:p>
            <a:endParaRPr lang="en-US"/>
          </a:p>
        </p:txBody>
      </p:sp>
      <p:sp>
        <p:nvSpPr>
          <p:cNvPr id="582" name="29%">
            <a:extLst>
              <a:ext uri="{FF2B5EF4-FFF2-40B4-BE49-F238E27FC236}">
                <a16:creationId xmlns:a16="http://schemas.microsoft.com/office/drawing/2014/main" id="{79F526A3-E265-4B72-8E56-98E790739D35}"/>
              </a:ext>
            </a:extLst>
          </p:cNvPr>
          <p:cNvSpPr>
            <a:spLocks noGrp="1"/>
          </p:cNvSpPr>
          <p:nvPr/>
        </p:nvSpPr>
        <p:spPr>
          <a:xfrm>
            <a:off x="8799685" y="4905375"/>
            <a:ext cx="180164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83" name="n=133">
            <a:extLst>
              <a:ext uri="{FF2B5EF4-FFF2-40B4-BE49-F238E27FC236}">
                <a16:creationId xmlns:a16="http://schemas.microsoft.com/office/drawing/2014/main" id="{FC44BEA1-5B99-4662-88D0-0FD3DD1C32A3}"/>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n=93</a:t>
            </a:r>
          </a:p>
        </p:txBody>
      </p:sp>
      <p:sp>
        <p:nvSpPr>
          <p:cNvPr id="584" name="Rectangle 583">
            <a:extLst>
              <a:ext uri="{FF2B5EF4-FFF2-40B4-BE49-F238E27FC236}">
                <a16:creationId xmlns:a16="http://schemas.microsoft.com/office/drawing/2014/main" id="{AF2E17A2-15AF-4C80-B797-C101DE914AC8}"/>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154D55A6-5488-44D6-8B2A-91176F2537CC}"/>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F5DE9467-6CB5-499F-92BF-34DDB612788A}"/>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E6DB8F5E-B53F-4F14-830C-F09C2CCCB205}"/>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AB31E7A5-A0F2-44B5-BF01-312E2B592032}"/>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D7B2DA2A-72C3-4B1B-AF86-FAC4E6A7C86F}"/>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6E8BAF0F-F548-4A29-A222-A6CB42057E95}"/>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F60A1E47-562A-4EF0-9496-D02B0364F97E}"/>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718A55AA-820B-E53E-751B-1DFE828241BD}"/>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4908FF0-7172-2B37-8D95-1DD5598B2DE8}"/>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3A4D126-B348-324A-B399-4CDFF7C1507D}"/>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A960FC45-D15A-FBB0-D0D4-8642BC4DF5D5}"/>
              </a:ext>
            </a:extLst>
          </p:cNvPr>
          <p:cNvSpPr txBox="1"/>
          <p:nvPr/>
        </p:nvSpPr>
        <p:spPr>
          <a:xfrm rot="16200000">
            <a:off x="-534476" y="2715997"/>
            <a:ext cx="1467068" cy="369332"/>
          </a:xfrm>
          <a:prstGeom prst="rect">
            <a:avLst/>
          </a:prstGeom>
          <a:noFill/>
        </p:spPr>
        <p:txBody>
          <a:bodyPr wrap="none" rtlCol="0">
            <a:spAutoFit/>
          </a:bodyPr>
          <a:lstStyle/>
          <a:p>
            <a:r>
              <a:rPr lang="en-US" dirty="0"/>
              <a:t>Topic Clarity</a:t>
            </a:r>
          </a:p>
        </p:txBody>
      </p:sp>
    </p:spTree>
    <p:extLst>
      <p:ext uri="{BB962C8B-B14F-4D97-AF65-F5344CB8AC3E}">
        <p14:creationId xmlns:p14="http://schemas.microsoft.com/office/powerpoint/2010/main" val="3939777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20</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Sleep and CGPA</a:t>
            </a:r>
          </a:p>
        </p:txBody>
      </p:sp>
      <p:sp>
        <p:nvSpPr>
          <p:cNvPr id="534" name="Less than 5 hrs">
            <a:extLst>
              <a:ext uri="{FF2B5EF4-FFF2-40B4-BE49-F238E27FC236}">
                <a16:creationId xmlns:a16="http://schemas.microsoft.com/office/drawing/2014/main" id="{F3DF7095-85D8-4006-B332-2A75FB545611}"/>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Less than 5 hrs</a:t>
            </a:r>
          </a:p>
        </p:txBody>
      </p:sp>
      <p:sp>
        <p:nvSpPr>
          <p:cNvPr id="535" name="Rectangle 534">
            <a:extLst>
              <a:ext uri="{FF2B5EF4-FFF2-40B4-BE49-F238E27FC236}">
                <a16:creationId xmlns:a16="http://schemas.microsoft.com/office/drawing/2014/main" id="{FD06A6E2-3D79-4516-8749-43ECF98996DF}"/>
              </a:ext>
            </a:extLst>
          </p:cNvPr>
          <p:cNvSpPr>
            <a:spLocks noGrp="1"/>
          </p:cNvSpPr>
          <p:nvPr/>
        </p:nvSpPr>
        <p:spPr>
          <a:xfrm>
            <a:off x="3667125" y="1905000"/>
            <a:ext cx="1264227" cy="447675"/>
          </a:xfrm>
          <a:prstGeom prst="rect">
            <a:avLst/>
          </a:prstGeom>
          <a:solidFill>
            <a:srgbClr val="A83A3A"/>
          </a:solidFill>
          <a:ln w="0">
            <a:noFill/>
          </a:ln>
        </p:spPr>
        <p:txBody>
          <a:bodyPr/>
          <a:lstStyle/>
          <a:p>
            <a:endParaRPr lang="en-US"/>
          </a:p>
        </p:txBody>
      </p:sp>
      <p:sp>
        <p:nvSpPr>
          <p:cNvPr id="536" name="22%">
            <a:extLst>
              <a:ext uri="{FF2B5EF4-FFF2-40B4-BE49-F238E27FC236}">
                <a16:creationId xmlns:a16="http://schemas.microsoft.com/office/drawing/2014/main" id="{EFFA381E-B597-4939-B957-0C57D363AC8B}"/>
              </a:ext>
            </a:extLst>
          </p:cNvPr>
          <p:cNvSpPr>
            <a:spLocks noGrp="1"/>
          </p:cNvSpPr>
          <p:nvPr/>
        </p:nvSpPr>
        <p:spPr>
          <a:xfrm>
            <a:off x="3705225" y="2009775"/>
            <a:ext cx="120707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37" name="Rectangle 536">
            <a:extLst>
              <a:ext uri="{FF2B5EF4-FFF2-40B4-BE49-F238E27FC236}">
                <a16:creationId xmlns:a16="http://schemas.microsoft.com/office/drawing/2014/main" id="{8B383FC1-3504-4F02-A1F7-0B0D72ABE8BD}"/>
              </a:ext>
            </a:extLst>
          </p:cNvPr>
          <p:cNvSpPr>
            <a:spLocks noGrp="1"/>
          </p:cNvSpPr>
          <p:nvPr/>
        </p:nvSpPr>
        <p:spPr>
          <a:xfrm>
            <a:off x="4931352" y="1905000"/>
            <a:ext cx="2668924" cy="447675"/>
          </a:xfrm>
          <a:prstGeom prst="rect">
            <a:avLst/>
          </a:prstGeom>
          <a:solidFill>
            <a:srgbClr val="DC713D"/>
          </a:solidFill>
          <a:ln w="0">
            <a:noFill/>
          </a:ln>
        </p:spPr>
        <p:txBody>
          <a:bodyPr/>
          <a:lstStyle/>
          <a:p>
            <a:endParaRPr lang="en-US"/>
          </a:p>
        </p:txBody>
      </p:sp>
      <p:sp>
        <p:nvSpPr>
          <p:cNvPr id="538" name="35%">
            <a:extLst>
              <a:ext uri="{FF2B5EF4-FFF2-40B4-BE49-F238E27FC236}">
                <a16:creationId xmlns:a16="http://schemas.microsoft.com/office/drawing/2014/main" id="{3B670E97-AA2F-4A82-BD9E-28FA882CE331}"/>
              </a:ext>
            </a:extLst>
          </p:cNvPr>
          <p:cNvSpPr>
            <a:spLocks noGrp="1"/>
          </p:cNvSpPr>
          <p:nvPr/>
        </p:nvSpPr>
        <p:spPr>
          <a:xfrm>
            <a:off x="4969452" y="2009775"/>
            <a:ext cx="26117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38%</a:t>
            </a:r>
          </a:p>
        </p:txBody>
      </p:sp>
      <p:sp>
        <p:nvSpPr>
          <p:cNvPr id="539" name="Rectangle 538">
            <a:extLst>
              <a:ext uri="{FF2B5EF4-FFF2-40B4-BE49-F238E27FC236}">
                <a16:creationId xmlns:a16="http://schemas.microsoft.com/office/drawing/2014/main" id="{581934B2-7891-4D1F-A20C-90F73C6B4BF0}"/>
              </a:ext>
            </a:extLst>
          </p:cNvPr>
          <p:cNvSpPr>
            <a:spLocks noGrp="1"/>
          </p:cNvSpPr>
          <p:nvPr/>
        </p:nvSpPr>
        <p:spPr>
          <a:xfrm>
            <a:off x="7600276" y="1905000"/>
            <a:ext cx="1755871" cy="447675"/>
          </a:xfrm>
          <a:prstGeom prst="rect">
            <a:avLst/>
          </a:prstGeom>
          <a:solidFill>
            <a:srgbClr val="4C91D8"/>
          </a:solidFill>
          <a:ln w="0">
            <a:noFill/>
          </a:ln>
        </p:spPr>
        <p:txBody>
          <a:bodyPr/>
          <a:lstStyle/>
          <a:p>
            <a:endParaRPr lang="en-US"/>
          </a:p>
        </p:txBody>
      </p:sp>
      <p:sp>
        <p:nvSpPr>
          <p:cNvPr id="540" name="24%">
            <a:extLst>
              <a:ext uri="{FF2B5EF4-FFF2-40B4-BE49-F238E27FC236}">
                <a16:creationId xmlns:a16="http://schemas.microsoft.com/office/drawing/2014/main" id="{8A08817D-4633-4F4C-9F33-CCEF3BC31492}"/>
              </a:ext>
            </a:extLst>
          </p:cNvPr>
          <p:cNvSpPr>
            <a:spLocks noGrp="1"/>
          </p:cNvSpPr>
          <p:nvPr/>
        </p:nvSpPr>
        <p:spPr>
          <a:xfrm>
            <a:off x="7638376" y="2009775"/>
            <a:ext cx="169872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1" name="Rectangle 540">
            <a:extLst>
              <a:ext uri="{FF2B5EF4-FFF2-40B4-BE49-F238E27FC236}">
                <a16:creationId xmlns:a16="http://schemas.microsoft.com/office/drawing/2014/main" id="{9C8683B5-29C0-415B-8DE5-9FA435ECEB54}"/>
              </a:ext>
            </a:extLst>
          </p:cNvPr>
          <p:cNvSpPr>
            <a:spLocks noGrp="1"/>
          </p:cNvSpPr>
          <p:nvPr/>
        </p:nvSpPr>
        <p:spPr>
          <a:xfrm>
            <a:off x="9356147" y="1905000"/>
            <a:ext cx="1264228" cy="447675"/>
          </a:xfrm>
          <a:prstGeom prst="rect">
            <a:avLst/>
          </a:prstGeom>
          <a:solidFill>
            <a:srgbClr val="285B9F"/>
          </a:solidFill>
          <a:ln w="0">
            <a:noFill/>
          </a:ln>
        </p:spPr>
        <p:txBody>
          <a:bodyPr/>
          <a:lstStyle/>
          <a:p>
            <a:endParaRPr lang="en-US"/>
          </a:p>
        </p:txBody>
      </p:sp>
      <p:sp>
        <p:nvSpPr>
          <p:cNvPr id="542" name="19%">
            <a:extLst>
              <a:ext uri="{FF2B5EF4-FFF2-40B4-BE49-F238E27FC236}">
                <a16:creationId xmlns:a16="http://schemas.microsoft.com/office/drawing/2014/main" id="{D46F16EF-DE05-4D79-94DE-340468CFD4CA}"/>
              </a:ext>
            </a:extLst>
          </p:cNvPr>
          <p:cNvSpPr>
            <a:spLocks noGrp="1"/>
          </p:cNvSpPr>
          <p:nvPr/>
        </p:nvSpPr>
        <p:spPr>
          <a:xfrm>
            <a:off x="9394247" y="2009775"/>
            <a:ext cx="120707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43" name="n=181">
            <a:extLst>
              <a:ext uri="{FF2B5EF4-FFF2-40B4-BE49-F238E27FC236}">
                <a16:creationId xmlns:a16="http://schemas.microsoft.com/office/drawing/2014/main" id="{02952132-C799-4B3E-A115-D928C94FF737}"/>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n=146</a:t>
            </a:r>
          </a:p>
        </p:txBody>
      </p:sp>
      <p:sp>
        <p:nvSpPr>
          <p:cNvPr id="544" name="5-6 hrs">
            <a:extLst>
              <a:ext uri="{FF2B5EF4-FFF2-40B4-BE49-F238E27FC236}">
                <a16:creationId xmlns:a16="http://schemas.microsoft.com/office/drawing/2014/main" id="{E07C1FCB-36A7-4409-9E21-99CA59113A83}"/>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5-6 hrs</a:t>
            </a:r>
          </a:p>
        </p:txBody>
      </p:sp>
      <p:sp>
        <p:nvSpPr>
          <p:cNvPr id="545" name="Rectangle 544">
            <a:extLst>
              <a:ext uri="{FF2B5EF4-FFF2-40B4-BE49-F238E27FC236}">
                <a16:creationId xmlns:a16="http://schemas.microsoft.com/office/drawing/2014/main" id="{510C40D5-AD58-40A9-9470-AFE26A173175}"/>
              </a:ext>
            </a:extLst>
          </p:cNvPr>
          <p:cNvSpPr>
            <a:spLocks noGrp="1"/>
          </p:cNvSpPr>
          <p:nvPr/>
        </p:nvSpPr>
        <p:spPr>
          <a:xfrm>
            <a:off x="3667125" y="2628900"/>
            <a:ext cx="1404697" cy="447675"/>
          </a:xfrm>
          <a:prstGeom prst="rect">
            <a:avLst/>
          </a:prstGeom>
          <a:solidFill>
            <a:srgbClr val="A83A3A"/>
          </a:solidFill>
          <a:ln w="0">
            <a:noFill/>
          </a:ln>
        </p:spPr>
        <p:txBody>
          <a:bodyPr/>
          <a:lstStyle/>
          <a:p>
            <a:endParaRPr lang="en-US"/>
          </a:p>
        </p:txBody>
      </p:sp>
      <p:sp>
        <p:nvSpPr>
          <p:cNvPr id="546" name="21%">
            <a:extLst>
              <a:ext uri="{FF2B5EF4-FFF2-40B4-BE49-F238E27FC236}">
                <a16:creationId xmlns:a16="http://schemas.microsoft.com/office/drawing/2014/main" id="{8994B669-DF78-4892-ABB3-07F29443EC9F}"/>
              </a:ext>
            </a:extLst>
          </p:cNvPr>
          <p:cNvSpPr>
            <a:spLocks noGrp="1"/>
          </p:cNvSpPr>
          <p:nvPr/>
        </p:nvSpPr>
        <p:spPr>
          <a:xfrm>
            <a:off x="3705225" y="2733675"/>
            <a:ext cx="134754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47" name="Rectangle 546">
            <a:extLst>
              <a:ext uri="{FF2B5EF4-FFF2-40B4-BE49-F238E27FC236}">
                <a16:creationId xmlns:a16="http://schemas.microsoft.com/office/drawing/2014/main" id="{C1DCD715-BD65-4375-979A-C59B6E9ED91D}"/>
              </a:ext>
            </a:extLst>
          </p:cNvPr>
          <p:cNvSpPr>
            <a:spLocks noGrp="1"/>
          </p:cNvSpPr>
          <p:nvPr/>
        </p:nvSpPr>
        <p:spPr>
          <a:xfrm>
            <a:off x="5071822" y="2628900"/>
            <a:ext cx="1896341" cy="447675"/>
          </a:xfrm>
          <a:prstGeom prst="rect">
            <a:avLst/>
          </a:prstGeom>
          <a:solidFill>
            <a:srgbClr val="DC713D"/>
          </a:solidFill>
          <a:ln w="0">
            <a:noFill/>
          </a:ln>
        </p:spPr>
        <p:txBody>
          <a:bodyPr/>
          <a:lstStyle/>
          <a:p>
            <a:endParaRPr lang="en-US"/>
          </a:p>
        </p:txBody>
      </p:sp>
      <p:sp>
        <p:nvSpPr>
          <p:cNvPr id="548" name="26%">
            <a:extLst>
              <a:ext uri="{FF2B5EF4-FFF2-40B4-BE49-F238E27FC236}">
                <a16:creationId xmlns:a16="http://schemas.microsoft.com/office/drawing/2014/main" id="{EA00C5A4-C2FF-4111-9F96-E9F08357262E}"/>
              </a:ext>
            </a:extLst>
          </p:cNvPr>
          <p:cNvSpPr>
            <a:spLocks noGrp="1"/>
          </p:cNvSpPr>
          <p:nvPr/>
        </p:nvSpPr>
        <p:spPr>
          <a:xfrm>
            <a:off x="5109922" y="2733675"/>
            <a:ext cx="183919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9" name="Rectangle 548">
            <a:extLst>
              <a:ext uri="{FF2B5EF4-FFF2-40B4-BE49-F238E27FC236}">
                <a16:creationId xmlns:a16="http://schemas.microsoft.com/office/drawing/2014/main" id="{ABCB1226-7961-4076-B9E0-1AB3E3E2DE2D}"/>
              </a:ext>
            </a:extLst>
          </p:cNvPr>
          <p:cNvSpPr>
            <a:spLocks noGrp="1"/>
          </p:cNvSpPr>
          <p:nvPr/>
        </p:nvSpPr>
        <p:spPr>
          <a:xfrm>
            <a:off x="6968163" y="2628900"/>
            <a:ext cx="2247515" cy="447675"/>
          </a:xfrm>
          <a:prstGeom prst="rect">
            <a:avLst/>
          </a:prstGeom>
          <a:solidFill>
            <a:srgbClr val="4C91D8"/>
          </a:solidFill>
          <a:ln w="0">
            <a:noFill/>
          </a:ln>
        </p:spPr>
        <p:txBody>
          <a:bodyPr/>
          <a:lstStyle/>
          <a:p>
            <a:endParaRPr lang="en-US"/>
          </a:p>
        </p:txBody>
      </p:sp>
      <p:sp>
        <p:nvSpPr>
          <p:cNvPr id="550" name="31%">
            <a:extLst>
              <a:ext uri="{FF2B5EF4-FFF2-40B4-BE49-F238E27FC236}">
                <a16:creationId xmlns:a16="http://schemas.microsoft.com/office/drawing/2014/main" id="{70932471-6AB1-4EB5-9988-E2858E67D25B}"/>
              </a:ext>
            </a:extLst>
          </p:cNvPr>
          <p:cNvSpPr>
            <a:spLocks noGrp="1"/>
          </p:cNvSpPr>
          <p:nvPr/>
        </p:nvSpPr>
        <p:spPr>
          <a:xfrm>
            <a:off x="7006263" y="2733675"/>
            <a:ext cx="21903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51" name="Rectangle 550">
            <a:extLst>
              <a:ext uri="{FF2B5EF4-FFF2-40B4-BE49-F238E27FC236}">
                <a16:creationId xmlns:a16="http://schemas.microsoft.com/office/drawing/2014/main" id="{ABE01831-6636-4F32-9C94-48C438DEA99C}"/>
              </a:ext>
            </a:extLst>
          </p:cNvPr>
          <p:cNvSpPr>
            <a:spLocks noGrp="1"/>
          </p:cNvSpPr>
          <p:nvPr/>
        </p:nvSpPr>
        <p:spPr>
          <a:xfrm>
            <a:off x="9215678" y="2628900"/>
            <a:ext cx="1404697" cy="447675"/>
          </a:xfrm>
          <a:prstGeom prst="rect">
            <a:avLst/>
          </a:prstGeom>
          <a:solidFill>
            <a:srgbClr val="285B9F"/>
          </a:solidFill>
          <a:ln w="0">
            <a:noFill/>
          </a:ln>
        </p:spPr>
        <p:txBody>
          <a:bodyPr/>
          <a:lstStyle/>
          <a:p>
            <a:endParaRPr lang="en-US"/>
          </a:p>
        </p:txBody>
      </p:sp>
      <p:sp>
        <p:nvSpPr>
          <p:cNvPr id="552" name="22%">
            <a:extLst>
              <a:ext uri="{FF2B5EF4-FFF2-40B4-BE49-F238E27FC236}">
                <a16:creationId xmlns:a16="http://schemas.microsoft.com/office/drawing/2014/main" id="{B0E65ADD-1946-488F-9F3E-412F74F27CF6}"/>
              </a:ext>
            </a:extLst>
          </p:cNvPr>
          <p:cNvSpPr>
            <a:spLocks noGrp="1"/>
          </p:cNvSpPr>
          <p:nvPr/>
        </p:nvSpPr>
        <p:spPr>
          <a:xfrm>
            <a:off x="9253778" y="2733675"/>
            <a:ext cx="134754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53" name="n=310">
            <a:extLst>
              <a:ext uri="{FF2B5EF4-FFF2-40B4-BE49-F238E27FC236}">
                <a16:creationId xmlns:a16="http://schemas.microsoft.com/office/drawing/2014/main" id="{A789972D-D81F-4274-AD95-7909A2EB0D2C}"/>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n=262</a:t>
            </a:r>
          </a:p>
        </p:txBody>
      </p:sp>
      <p:sp>
        <p:nvSpPr>
          <p:cNvPr id="554" name="6-7 hrs">
            <a:extLst>
              <a:ext uri="{FF2B5EF4-FFF2-40B4-BE49-F238E27FC236}">
                <a16:creationId xmlns:a16="http://schemas.microsoft.com/office/drawing/2014/main" id="{995572E7-6EC7-45BF-B550-C5AF42266428}"/>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6-7 hrs</a:t>
            </a:r>
          </a:p>
        </p:txBody>
      </p:sp>
      <p:sp>
        <p:nvSpPr>
          <p:cNvPr id="555" name="Rectangle 554">
            <a:extLst>
              <a:ext uri="{FF2B5EF4-FFF2-40B4-BE49-F238E27FC236}">
                <a16:creationId xmlns:a16="http://schemas.microsoft.com/office/drawing/2014/main" id="{AC916197-F7D3-4EF1-9241-B453C19D49DF}"/>
              </a:ext>
            </a:extLst>
          </p:cNvPr>
          <p:cNvSpPr>
            <a:spLocks noGrp="1"/>
          </p:cNvSpPr>
          <p:nvPr/>
        </p:nvSpPr>
        <p:spPr>
          <a:xfrm>
            <a:off x="3667125" y="3352800"/>
            <a:ext cx="1334462" cy="447675"/>
          </a:xfrm>
          <a:prstGeom prst="rect">
            <a:avLst/>
          </a:prstGeom>
          <a:solidFill>
            <a:srgbClr val="A83A3A"/>
          </a:solidFill>
          <a:ln w="0">
            <a:noFill/>
          </a:ln>
        </p:spPr>
        <p:txBody>
          <a:bodyPr/>
          <a:lstStyle/>
          <a:p>
            <a:endParaRPr lang="en-US"/>
          </a:p>
        </p:txBody>
      </p:sp>
      <p:sp>
        <p:nvSpPr>
          <p:cNvPr id="556" name="20%">
            <a:extLst>
              <a:ext uri="{FF2B5EF4-FFF2-40B4-BE49-F238E27FC236}">
                <a16:creationId xmlns:a16="http://schemas.microsoft.com/office/drawing/2014/main" id="{26384405-E510-4392-BE28-CFFCC2191883}"/>
              </a:ext>
            </a:extLst>
          </p:cNvPr>
          <p:cNvSpPr>
            <a:spLocks noGrp="1"/>
          </p:cNvSpPr>
          <p:nvPr/>
        </p:nvSpPr>
        <p:spPr>
          <a:xfrm>
            <a:off x="3705225" y="3457575"/>
            <a:ext cx="127731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57" name="Rectangle 556">
            <a:extLst>
              <a:ext uri="{FF2B5EF4-FFF2-40B4-BE49-F238E27FC236}">
                <a16:creationId xmlns:a16="http://schemas.microsoft.com/office/drawing/2014/main" id="{30806C5A-6FF6-4D67-B266-E7C7AE8D69A5}"/>
              </a:ext>
            </a:extLst>
          </p:cNvPr>
          <p:cNvSpPr>
            <a:spLocks noGrp="1"/>
          </p:cNvSpPr>
          <p:nvPr/>
        </p:nvSpPr>
        <p:spPr>
          <a:xfrm>
            <a:off x="5001587" y="3352800"/>
            <a:ext cx="2387985" cy="447675"/>
          </a:xfrm>
          <a:prstGeom prst="rect">
            <a:avLst/>
          </a:prstGeom>
          <a:solidFill>
            <a:srgbClr val="DC713D"/>
          </a:solidFill>
          <a:ln w="0">
            <a:noFill/>
          </a:ln>
        </p:spPr>
        <p:txBody>
          <a:bodyPr/>
          <a:lstStyle/>
          <a:p>
            <a:endParaRPr lang="en-US"/>
          </a:p>
        </p:txBody>
      </p:sp>
      <p:sp>
        <p:nvSpPr>
          <p:cNvPr id="558" name="32%">
            <a:extLst>
              <a:ext uri="{FF2B5EF4-FFF2-40B4-BE49-F238E27FC236}">
                <a16:creationId xmlns:a16="http://schemas.microsoft.com/office/drawing/2014/main" id="{8E540F2E-C603-4BE2-A077-74BA404AE181}"/>
              </a:ext>
            </a:extLst>
          </p:cNvPr>
          <p:cNvSpPr>
            <a:spLocks noGrp="1"/>
          </p:cNvSpPr>
          <p:nvPr/>
        </p:nvSpPr>
        <p:spPr>
          <a:xfrm>
            <a:off x="5039687" y="3457575"/>
            <a:ext cx="23308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59" name="Rectangle 558">
            <a:extLst>
              <a:ext uri="{FF2B5EF4-FFF2-40B4-BE49-F238E27FC236}">
                <a16:creationId xmlns:a16="http://schemas.microsoft.com/office/drawing/2014/main" id="{585CB4A7-4F2E-4A9E-92E5-D3BE6E2A26B5}"/>
              </a:ext>
            </a:extLst>
          </p:cNvPr>
          <p:cNvSpPr>
            <a:spLocks noGrp="1"/>
          </p:cNvSpPr>
          <p:nvPr/>
        </p:nvSpPr>
        <p:spPr>
          <a:xfrm>
            <a:off x="7389572" y="3352800"/>
            <a:ext cx="1896341" cy="447675"/>
          </a:xfrm>
          <a:prstGeom prst="rect">
            <a:avLst/>
          </a:prstGeom>
          <a:solidFill>
            <a:srgbClr val="4C91D8"/>
          </a:solidFill>
          <a:ln w="0">
            <a:noFill/>
          </a:ln>
        </p:spPr>
        <p:txBody>
          <a:bodyPr/>
          <a:lstStyle/>
          <a:p>
            <a:endParaRPr lang="en-US"/>
          </a:p>
        </p:txBody>
      </p:sp>
      <p:sp>
        <p:nvSpPr>
          <p:cNvPr id="560" name="26%">
            <a:extLst>
              <a:ext uri="{FF2B5EF4-FFF2-40B4-BE49-F238E27FC236}">
                <a16:creationId xmlns:a16="http://schemas.microsoft.com/office/drawing/2014/main" id="{933DA2DC-AF1F-4EA7-BDFA-236C38444802}"/>
              </a:ext>
            </a:extLst>
          </p:cNvPr>
          <p:cNvSpPr>
            <a:spLocks noGrp="1"/>
          </p:cNvSpPr>
          <p:nvPr/>
        </p:nvSpPr>
        <p:spPr>
          <a:xfrm>
            <a:off x="7427672" y="3457575"/>
            <a:ext cx="183919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61" name="Rectangle 560">
            <a:extLst>
              <a:ext uri="{FF2B5EF4-FFF2-40B4-BE49-F238E27FC236}">
                <a16:creationId xmlns:a16="http://schemas.microsoft.com/office/drawing/2014/main" id="{C41F3676-7703-47D5-BD2E-7CD3949D0588}"/>
              </a:ext>
            </a:extLst>
          </p:cNvPr>
          <p:cNvSpPr>
            <a:spLocks noGrp="1"/>
          </p:cNvSpPr>
          <p:nvPr/>
        </p:nvSpPr>
        <p:spPr>
          <a:xfrm>
            <a:off x="9285913" y="3352800"/>
            <a:ext cx="1334462" cy="447675"/>
          </a:xfrm>
          <a:prstGeom prst="rect">
            <a:avLst/>
          </a:prstGeom>
          <a:solidFill>
            <a:srgbClr val="285B9F"/>
          </a:solidFill>
          <a:ln w="0">
            <a:noFill/>
          </a:ln>
        </p:spPr>
        <p:txBody>
          <a:bodyPr/>
          <a:lstStyle/>
          <a:p>
            <a:endParaRPr lang="en-US"/>
          </a:p>
        </p:txBody>
      </p:sp>
      <p:sp>
        <p:nvSpPr>
          <p:cNvPr id="562" name="22%">
            <a:extLst>
              <a:ext uri="{FF2B5EF4-FFF2-40B4-BE49-F238E27FC236}">
                <a16:creationId xmlns:a16="http://schemas.microsoft.com/office/drawing/2014/main" id="{E53E8D33-676F-4224-8408-99E21DB1CAB6}"/>
              </a:ext>
            </a:extLst>
          </p:cNvPr>
          <p:cNvSpPr>
            <a:spLocks noGrp="1"/>
          </p:cNvSpPr>
          <p:nvPr/>
        </p:nvSpPr>
        <p:spPr>
          <a:xfrm>
            <a:off x="9324013" y="3457575"/>
            <a:ext cx="127731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63" name="n=286">
            <a:extLst>
              <a:ext uri="{FF2B5EF4-FFF2-40B4-BE49-F238E27FC236}">
                <a16:creationId xmlns:a16="http://schemas.microsoft.com/office/drawing/2014/main" id="{D9A9414A-C747-4354-B6F6-06C2CB938463}"/>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n=255</a:t>
            </a:r>
          </a:p>
        </p:txBody>
      </p:sp>
      <p:sp>
        <p:nvSpPr>
          <p:cNvPr id="564" name="7-8 hrs">
            <a:extLst>
              <a:ext uri="{FF2B5EF4-FFF2-40B4-BE49-F238E27FC236}">
                <a16:creationId xmlns:a16="http://schemas.microsoft.com/office/drawing/2014/main" id="{145558ED-7500-4D2B-AE1E-A3D133F814DF}"/>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7-8 hrs</a:t>
            </a:r>
          </a:p>
        </p:txBody>
      </p:sp>
      <p:sp>
        <p:nvSpPr>
          <p:cNvPr id="565" name="Rectangle 564">
            <a:extLst>
              <a:ext uri="{FF2B5EF4-FFF2-40B4-BE49-F238E27FC236}">
                <a16:creationId xmlns:a16="http://schemas.microsoft.com/office/drawing/2014/main" id="{EA24939C-50C5-4632-A235-DEB65AC2D3FC}"/>
              </a:ext>
            </a:extLst>
          </p:cNvPr>
          <p:cNvSpPr>
            <a:spLocks noGrp="1"/>
          </p:cNvSpPr>
          <p:nvPr/>
        </p:nvSpPr>
        <p:spPr>
          <a:xfrm>
            <a:off x="3667125" y="4076700"/>
            <a:ext cx="1251585"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CBC1E457-BA1D-44F6-B252-92394D9DFA4D}"/>
              </a:ext>
            </a:extLst>
          </p:cNvPr>
          <p:cNvSpPr>
            <a:spLocks noGrp="1"/>
          </p:cNvSpPr>
          <p:nvPr/>
        </p:nvSpPr>
        <p:spPr>
          <a:xfrm>
            <a:off x="3705225" y="4181475"/>
            <a:ext cx="11944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885F5512-97CC-4089-8B41-511ABB611332}"/>
              </a:ext>
            </a:extLst>
          </p:cNvPr>
          <p:cNvSpPr>
            <a:spLocks noGrp="1"/>
          </p:cNvSpPr>
          <p:nvPr/>
        </p:nvSpPr>
        <p:spPr>
          <a:xfrm>
            <a:off x="4918710" y="4076700"/>
            <a:ext cx="1946910"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61063409-B905-4BCC-A7C4-E70A2C485123}"/>
              </a:ext>
            </a:extLst>
          </p:cNvPr>
          <p:cNvSpPr>
            <a:spLocks noGrp="1"/>
          </p:cNvSpPr>
          <p:nvPr/>
        </p:nvSpPr>
        <p:spPr>
          <a:xfrm>
            <a:off x="4956810" y="4181475"/>
            <a:ext cx="18897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69" name="Rectangle 568">
            <a:extLst>
              <a:ext uri="{FF2B5EF4-FFF2-40B4-BE49-F238E27FC236}">
                <a16:creationId xmlns:a16="http://schemas.microsoft.com/office/drawing/2014/main" id="{B07F84D0-33EB-48F7-B237-DA7A43FAD16E}"/>
              </a:ext>
            </a:extLst>
          </p:cNvPr>
          <p:cNvSpPr>
            <a:spLocks noGrp="1"/>
          </p:cNvSpPr>
          <p:nvPr/>
        </p:nvSpPr>
        <p:spPr>
          <a:xfrm>
            <a:off x="6865620" y="4076700"/>
            <a:ext cx="1946910" cy="447675"/>
          </a:xfrm>
          <a:prstGeom prst="rect">
            <a:avLst/>
          </a:prstGeom>
          <a:solidFill>
            <a:srgbClr val="4C91D8"/>
          </a:solidFill>
          <a:ln w="0">
            <a:noFill/>
          </a:ln>
        </p:spPr>
        <p:txBody>
          <a:bodyPr/>
          <a:lstStyle/>
          <a:p>
            <a:endParaRPr lang="en-US"/>
          </a:p>
        </p:txBody>
      </p:sp>
      <p:sp>
        <p:nvSpPr>
          <p:cNvPr id="570" name="25%">
            <a:extLst>
              <a:ext uri="{FF2B5EF4-FFF2-40B4-BE49-F238E27FC236}">
                <a16:creationId xmlns:a16="http://schemas.microsoft.com/office/drawing/2014/main" id="{5D27EACF-D3CD-4DFC-8111-F51DC4B1C474}"/>
              </a:ext>
            </a:extLst>
          </p:cNvPr>
          <p:cNvSpPr>
            <a:spLocks noGrp="1"/>
          </p:cNvSpPr>
          <p:nvPr/>
        </p:nvSpPr>
        <p:spPr>
          <a:xfrm>
            <a:off x="6903720" y="4181475"/>
            <a:ext cx="18897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1" name="Rectangle 570">
            <a:extLst>
              <a:ext uri="{FF2B5EF4-FFF2-40B4-BE49-F238E27FC236}">
                <a16:creationId xmlns:a16="http://schemas.microsoft.com/office/drawing/2014/main" id="{151ED6C2-DB0C-448E-A59B-842E00B7485B}"/>
              </a:ext>
            </a:extLst>
          </p:cNvPr>
          <p:cNvSpPr>
            <a:spLocks noGrp="1"/>
          </p:cNvSpPr>
          <p:nvPr/>
        </p:nvSpPr>
        <p:spPr>
          <a:xfrm>
            <a:off x="8812530" y="4076700"/>
            <a:ext cx="1807845" cy="447675"/>
          </a:xfrm>
          <a:prstGeom prst="rect">
            <a:avLst/>
          </a:prstGeom>
          <a:solidFill>
            <a:srgbClr val="285B9F"/>
          </a:solidFill>
          <a:ln w="0">
            <a:noFill/>
          </a:ln>
        </p:spPr>
        <p:txBody>
          <a:bodyPr/>
          <a:lstStyle/>
          <a:p>
            <a:endParaRPr lang="en-US"/>
          </a:p>
        </p:txBody>
      </p:sp>
      <p:sp>
        <p:nvSpPr>
          <p:cNvPr id="572" name="26%">
            <a:extLst>
              <a:ext uri="{FF2B5EF4-FFF2-40B4-BE49-F238E27FC236}">
                <a16:creationId xmlns:a16="http://schemas.microsoft.com/office/drawing/2014/main" id="{4632412D-E888-484E-A395-C407075E24D3}"/>
              </a:ext>
            </a:extLst>
          </p:cNvPr>
          <p:cNvSpPr>
            <a:spLocks noGrp="1"/>
          </p:cNvSpPr>
          <p:nvPr/>
        </p:nvSpPr>
        <p:spPr>
          <a:xfrm>
            <a:off x="8850630" y="41814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3" name="n=216">
            <a:extLst>
              <a:ext uri="{FF2B5EF4-FFF2-40B4-BE49-F238E27FC236}">
                <a16:creationId xmlns:a16="http://schemas.microsoft.com/office/drawing/2014/main" id="{1AC0477C-EC21-4A6E-BD6D-842A8A3AFF17}"/>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n=177</a:t>
            </a:r>
          </a:p>
        </p:txBody>
      </p:sp>
      <p:sp>
        <p:nvSpPr>
          <p:cNvPr id="574" name="More than 8 hrs">
            <a:extLst>
              <a:ext uri="{FF2B5EF4-FFF2-40B4-BE49-F238E27FC236}">
                <a16:creationId xmlns:a16="http://schemas.microsoft.com/office/drawing/2014/main" id="{68A4EAED-0189-48F7-AD7C-795745ABCC71}"/>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More than 8 hrs</a:t>
            </a:r>
          </a:p>
        </p:txBody>
      </p:sp>
      <p:sp>
        <p:nvSpPr>
          <p:cNvPr id="575" name="Rectangle 574">
            <a:extLst>
              <a:ext uri="{FF2B5EF4-FFF2-40B4-BE49-F238E27FC236}">
                <a16:creationId xmlns:a16="http://schemas.microsoft.com/office/drawing/2014/main" id="{4DCD466A-B09E-4C1D-887A-1574581E5858}"/>
              </a:ext>
            </a:extLst>
          </p:cNvPr>
          <p:cNvSpPr>
            <a:spLocks noGrp="1"/>
          </p:cNvSpPr>
          <p:nvPr/>
        </p:nvSpPr>
        <p:spPr>
          <a:xfrm>
            <a:off x="3667125" y="4800600"/>
            <a:ext cx="1807845" cy="447675"/>
          </a:xfrm>
          <a:prstGeom prst="rect">
            <a:avLst/>
          </a:prstGeom>
          <a:solidFill>
            <a:srgbClr val="A83A3A"/>
          </a:solidFill>
          <a:ln w="0">
            <a:noFill/>
          </a:ln>
        </p:spPr>
        <p:txBody>
          <a:bodyPr/>
          <a:lstStyle/>
          <a:p>
            <a:endParaRPr lang="en-US"/>
          </a:p>
        </p:txBody>
      </p:sp>
      <p:sp>
        <p:nvSpPr>
          <p:cNvPr id="576" name="28%">
            <a:extLst>
              <a:ext uri="{FF2B5EF4-FFF2-40B4-BE49-F238E27FC236}">
                <a16:creationId xmlns:a16="http://schemas.microsoft.com/office/drawing/2014/main" id="{9691B53D-D313-47D1-9FE5-1C9386B08E41}"/>
              </a:ext>
            </a:extLst>
          </p:cNvPr>
          <p:cNvSpPr>
            <a:spLocks noGrp="1"/>
          </p:cNvSpPr>
          <p:nvPr/>
        </p:nvSpPr>
        <p:spPr>
          <a:xfrm>
            <a:off x="3705225" y="49053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7" name="Rectangle 576">
            <a:extLst>
              <a:ext uri="{FF2B5EF4-FFF2-40B4-BE49-F238E27FC236}">
                <a16:creationId xmlns:a16="http://schemas.microsoft.com/office/drawing/2014/main" id="{BBF95E5D-9704-4A28-BCE7-635FB42E22AA}"/>
              </a:ext>
            </a:extLst>
          </p:cNvPr>
          <p:cNvSpPr>
            <a:spLocks noGrp="1"/>
          </p:cNvSpPr>
          <p:nvPr/>
        </p:nvSpPr>
        <p:spPr>
          <a:xfrm>
            <a:off x="5474970" y="4800600"/>
            <a:ext cx="1738312" cy="447675"/>
          </a:xfrm>
          <a:prstGeom prst="rect">
            <a:avLst/>
          </a:prstGeom>
          <a:solidFill>
            <a:srgbClr val="DC713D"/>
          </a:solidFill>
          <a:ln w="0">
            <a:noFill/>
          </a:ln>
        </p:spPr>
        <p:txBody>
          <a:bodyPr/>
          <a:lstStyle/>
          <a:p>
            <a:endParaRPr lang="en-US"/>
          </a:p>
        </p:txBody>
      </p:sp>
      <p:sp>
        <p:nvSpPr>
          <p:cNvPr id="578" name="19%">
            <a:extLst>
              <a:ext uri="{FF2B5EF4-FFF2-40B4-BE49-F238E27FC236}">
                <a16:creationId xmlns:a16="http://schemas.microsoft.com/office/drawing/2014/main" id="{DAE50840-C72B-43AF-BD72-955F2739F910}"/>
              </a:ext>
            </a:extLst>
          </p:cNvPr>
          <p:cNvSpPr>
            <a:spLocks noGrp="1"/>
          </p:cNvSpPr>
          <p:nvPr/>
        </p:nvSpPr>
        <p:spPr>
          <a:xfrm>
            <a:off x="5513070" y="4905375"/>
            <a:ext cx="168116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9" name="Rectangle 578">
            <a:extLst>
              <a:ext uri="{FF2B5EF4-FFF2-40B4-BE49-F238E27FC236}">
                <a16:creationId xmlns:a16="http://schemas.microsoft.com/office/drawing/2014/main" id="{7DC172DB-AF2A-462E-B0E2-782DCE325E88}"/>
              </a:ext>
            </a:extLst>
          </p:cNvPr>
          <p:cNvSpPr>
            <a:spLocks noGrp="1"/>
          </p:cNvSpPr>
          <p:nvPr/>
        </p:nvSpPr>
        <p:spPr>
          <a:xfrm>
            <a:off x="7213282" y="4800600"/>
            <a:ext cx="2016442" cy="447675"/>
          </a:xfrm>
          <a:prstGeom prst="rect">
            <a:avLst/>
          </a:prstGeom>
          <a:solidFill>
            <a:srgbClr val="4C91D8"/>
          </a:solidFill>
          <a:ln w="0">
            <a:noFill/>
          </a:ln>
        </p:spPr>
        <p:txBody>
          <a:bodyPr/>
          <a:lstStyle/>
          <a:p>
            <a:endParaRPr lang="en-US"/>
          </a:p>
        </p:txBody>
      </p:sp>
      <p:sp>
        <p:nvSpPr>
          <p:cNvPr id="580" name="30%">
            <a:extLst>
              <a:ext uri="{FF2B5EF4-FFF2-40B4-BE49-F238E27FC236}">
                <a16:creationId xmlns:a16="http://schemas.microsoft.com/office/drawing/2014/main" id="{766572DC-5F32-41AA-8A40-A4EC2EF271BF}"/>
              </a:ext>
            </a:extLst>
          </p:cNvPr>
          <p:cNvSpPr>
            <a:spLocks noGrp="1"/>
          </p:cNvSpPr>
          <p:nvPr/>
        </p:nvSpPr>
        <p:spPr>
          <a:xfrm>
            <a:off x="7251382" y="49053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81" name="Rectangle 580">
            <a:extLst>
              <a:ext uri="{FF2B5EF4-FFF2-40B4-BE49-F238E27FC236}">
                <a16:creationId xmlns:a16="http://schemas.microsoft.com/office/drawing/2014/main" id="{C7E421DB-DEEC-40BB-B09C-9C0812A2DEB5}"/>
              </a:ext>
            </a:extLst>
          </p:cNvPr>
          <p:cNvSpPr>
            <a:spLocks noGrp="1"/>
          </p:cNvSpPr>
          <p:nvPr/>
        </p:nvSpPr>
        <p:spPr>
          <a:xfrm>
            <a:off x="9229724" y="4800600"/>
            <a:ext cx="1390651" cy="447675"/>
          </a:xfrm>
          <a:prstGeom prst="rect">
            <a:avLst/>
          </a:prstGeom>
          <a:solidFill>
            <a:srgbClr val="285B9F"/>
          </a:solidFill>
          <a:ln w="0">
            <a:noFill/>
          </a:ln>
        </p:spPr>
        <p:txBody>
          <a:bodyPr/>
          <a:lstStyle/>
          <a:p>
            <a:endParaRPr lang="en-US"/>
          </a:p>
        </p:txBody>
      </p:sp>
      <p:sp>
        <p:nvSpPr>
          <p:cNvPr id="582" name="23%">
            <a:extLst>
              <a:ext uri="{FF2B5EF4-FFF2-40B4-BE49-F238E27FC236}">
                <a16:creationId xmlns:a16="http://schemas.microsoft.com/office/drawing/2014/main" id="{BF9E844A-7E3A-4E10-962D-78B6E2FEE871}"/>
              </a:ext>
            </a:extLst>
          </p:cNvPr>
          <p:cNvSpPr>
            <a:spLocks noGrp="1"/>
          </p:cNvSpPr>
          <p:nvPr/>
        </p:nvSpPr>
        <p:spPr>
          <a:xfrm>
            <a:off x="9267824" y="4905375"/>
            <a:ext cx="133350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83" name="n=115">
            <a:extLst>
              <a:ext uri="{FF2B5EF4-FFF2-40B4-BE49-F238E27FC236}">
                <a16:creationId xmlns:a16="http://schemas.microsoft.com/office/drawing/2014/main" id="{935A2D00-0E09-4B4D-82B2-DD89F81B46AA}"/>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n=80</a:t>
            </a:r>
          </a:p>
        </p:txBody>
      </p:sp>
      <p:sp>
        <p:nvSpPr>
          <p:cNvPr id="584" name="Rectangle 583">
            <a:extLst>
              <a:ext uri="{FF2B5EF4-FFF2-40B4-BE49-F238E27FC236}">
                <a16:creationId xmlns:a16="http://schemas.microsoft.com/office/drawing/2014/main" id="{41BABA3E-8044-4E0C-8412-2575F1C25848}"/>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0E1D5672-34C0-4869-B27C-F3304042ED17}"/>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518A434A-83D4-43EE-B82F-89281B7511A9}"/>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65CF8668-CFAC-4A84-938B-8B13BBDFC590}"/>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9F86DF02-905C-4686-97AB-E0D5B970B3AB}"/>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1EAAA1FF-2AE4-4BA3-B345-DFD255A2723A}"/>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D7F1D0C3-FC03-4C29-80BC-B194E593D132}"/>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8EE1ADA1-CD9A-4662-A4B8-70B84E5DB563}"/>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B5DCFF11-EC79-AEB1-1EAC-89E4A2FB56C4}"/>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8EACC69A-08E5-0EC2-23E1-B9C4BEDD517B}"/>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5B9396E-E5BF-1ADD-ADB5-FA2033A85575}"/>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222C401-4996-E9B7-03A8-8D9D15B7B490}"/>
              </a:ext>
            </a:extLst>
          </p:cNvPr>
          <p:cNvSpPr txBox="1"/>
          <p:nvPr/>
        </p:nvSpPr>
        <p:spPr>
          <a:xfrm rot="16200000">
            <a:off x="-171900" y="2715997"/>
            <a:ext cx="774571" cy="369332"/>
          </a:xfrm>
          <a:prstGeom prst="rect">
            <a:avLst/>
          </a:prstGeom>
          <a:noFill/>
        </p:spPr>
        <p:txBody>
          <a:bodyPr wrap="none" rtlCol="0">
            <a:spAutoFit/>
          </a:bodyPr>
          <a:lstStyle/>
          <a:p>
            <a:r>
              <a:rPr lang="en-US" dirty="0"/>
              <a:t>Sleep</a:t>
            </a:r>
          </a:p>
        </p:txBody>
      </p:sp>
    </p:spTree>
    <p:extLst>
      <p:ext uri="{BB962C8B-B14F-4D97-AF65-F5344CB8AC3E}">
        <p14:creationId xmlns:p14="http://schemas.microsoft.com/office/powerpoint/2010/main" val="3257868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21</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Stress and CGPA</a:t>
            </a:r>
          </a:p>
        </p:txBody>
      </p:sp>
      <p:sp>
        <p:nvSpPr>
          <p:cNvPr id="534" name="Never">
            <a:extLst>
              <a:ext uri="{FF2B5EF4-FFF2-40B4-BE49-F238E27FC236}">
                <a16:creationId xmlns:a16="http://schemas.microsoft.com/office/drawing/2014/main" id="{B180C138-1091-4A3A-B5BB-518E3DE1F03A}"/>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Never</a:t>
            </a:r>
          </a:p>
        </p:txBody>
      </p:sp>
      <p:sp>
        <p:nvSpPr>
          <p:cNvPr id="535" name="Rectangle 534">
            <a:extLst>
              <a:ext uri="{FF2B5EF4-FFF2-40B4-BE49-F238E27FC236}">
                <a16:creationId xmlns:a16="http://schemas.microsoft.com/office/drawing/2014/main" id="{5BF87C44-0FEC-489E-B01A-25406C9E39E2}"/>
              </a:ext>
            </a:extLst>
          </p:cNvPr>
          <p:cNvSpPr>
            <a:spLocks noGrp="1"/>
          </p:cNvSpPr>
          <p:nvPr/>
        </p:nvSpPr>
        <p:spPr>
          <a:xfrm>
            <a:off x="3667125" y="1905000"/>
            <a:ext cx="1445725" cy="447675"/>
          </a:xfrm>
          <a:prstGeom prst="rect">
            <a:avLst/>
          </a:prstGeom>
          <a:solidFill>
            <a:srgbClr val="A83A3A"/>
          </a:solidFill>
          <a:ln w="0">
            <a:noFill/>
          </a:ln>
        </p:spPr>
        <p:txBody>
          <a:bodyPr/>
          <a:lstStyle/>
          <a:p>
            <a:endParaRPr lang="en-US"/>
          </a:p>
        </p:txBody>
      </p:sp>
      <p:sp>
        <p:nvSpPr>
          <p:cNvPr id="536" name="24%">
            <a:extLst>
              <a:ext uri="{FF2B5EF4-FFF2-40B4-BE49-F238E27FC236}">
                <a16:creationId xmlns:a16="http://schemas.microsoft.com/office/drawing/2014/main" id="{73EE8629-D994-475E-BC8D-0BB4CDA00E2D}"/>
              </a:ext>
            </a:extLst>
          </p:cNvPr>
          <p:cNvSpPr>
            <a:spLocks noGrp="1"/>
          </p:cNvSpPr>
          <p:nvPr/>
        </p:nvSpPr>
        <p:spPr>
          <a:xfrm>
            <a:off x="3705225" y="2009775"/>
            <a:ext cx="13885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37" name="Rectangle 536">
            <a:extLst>
              <a:ext uri="{FF2B5EF4-FFF2-40B4-BE49-F238E27FC236}">
                <a16:creationId xmlns:a16="http://schemas.microsoft.com/office/drawing/2014/main" id="{D64EB400-A0D1-4638-ACEE-6A76FE11A829}"/>
              </a:ext>
            </a:extLst>
          </p:cNvPr>
          <p:cNvSpPr>
            <a:spLocks noGrp="1"/>
          </p:cNvSpPr>
          <p:nvPr/>
        </p:nvSpPr>
        <p:spPr>
          <a:xfrm>
            <a:off x="5112850" y="1905000"/>
            <a:ext cx="2271854" cy="447675"/>
          </a:xfrm>
          <a:prstGeom prst="rect">
            <a:avLst/>
          </a:prstGeom>
          <a:solidFill>
            <a:srgbClr val="DC713D"/>
          </a:solidFill>
          <a:ln w="0">
            <a:noFill/>
          </a:ln>
        </p:spPr>
        <p:txBody>
          <a:bodyPr/>
          <a:lstStyle/>
          <a:p>
            <a:endParaRPr lang="en-US"/>
          </a:p>
        </p:txBody>
      </p:sp>
      <p:sp>
        <p:nvSpPr>
          <p:cNvPr id="538" name="29%">
            <a:extLst>
              <a:ext uri="{FF2B5EF4-FFF2-40B4-BE49-F238E27FC236}">
                <a16:creationId xmlns:a16="http://schemas.microsoft.com/office/drawing/2014/main" id="{83877F0A-478A-4A7F-9778-09C067F18F21}"/>
              </a:ext>
            </a:extLst>
          </p:cNvPr>
          <p:cNvSpPr>
            <a:spLocks noGrp="1"/>
          </p:cNvSpPr>
          <p:nvPr/>
        </p:nvSpPr>
        <p:spPr>
          <a:xfrm>
            <a:off x="5150950" y="2009775"/>
            <a:ext cx="221470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39" name="Rectangle 538">
            <a:extLst>
              <a:ext uri="{FF2B5EF4-FFF2-40B4-BE49-F238E27FC236}">
                <a16:creationId xmlns:a16="http://schemas.microsoft.com/office/drawing/2014/main" id="{A3C83AD7-2FF6-43EB-9365-798F57FFC378}"/>
              </a:ext>
            </a:extLst>
          </p:cNvPr>
          <p:cNvSpPr>
            <a:spLocks noGrp="1"/>
          </p:cNvSpPr>
          <p:nvPr/>
        </p:nvSpPr>
        <p:spPr>
          <a:xfrm>
            <a:off x="7384704" y="1905000"/>
            <a:ext cx="1721101" cy="447675"/>
          </a:xfrm>
          <a:prstGeom prst="rect">
            <a:avLst/>
          </a:prstGeom>
          <a:solidFill>
            <a:srgbClr val="4C91D8"/>
          </a:solidFill>
          <a:ln w="0">
            <a:noFill/>
          </a:ln>
        </p:spPr>
        <p:txBody>
          <a:bodyPr/>
          <a:lstStyle/>
          <a:p>
            <a:endParaRPr lang="en-US"/>
          </a:p>
        </p:txBody>
      </p:sp>
      <p:sp>
        <p:nvSpPr>
          <p:cNvPr id="540" name="25%">
            <a:extLst>
              <a:ext uri="{FF2B5EF4-FFF2-40B4-BE49-F238E27FC236}">
                <a16:creationId xmlns:a16="http://schemas.microsoft.com/office/drawing/2014/main" id="{609D6585-367D-4807-8EDA-0FAB21B464FC}"/>
              </a:ext>
            </a:extLst>
          </p:cNvPr>
          <p:cNvSpPr>
            <a:spLocks noGrp="1"/>
          </p:cNvSpPr>
          <p:nvPr/>
        </p:nvSpPr>
        <p:spPr>
          <a:xfrm>
            <a:off x="7422804" y="2009775"/>
            <a:ext cx="166395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1" name="Rectangle 540">
            <a:extLst>
              <a:ext uri="{FF2B5EF4-FFF2-40B4-BE49-F238E27FC236}">
                <a16:creationId xmlns:a16="http://schemas.microsoft.com/office/drawing/2014/main" id="{FF861B48-AE84-4CBE-A60C-B58EB2D1C9C3}"/>
              </a:ext>
            </a:extLst>
          </p:cNvPr>
          <p:cNvSpPr>
            <a:spLocks noGrp="1"/>
          </p:cNvSpPr>
          <p:nvPr/>
        </p:nvSpPr>
        <p:spPr>
          <a:xfrm>
            <a:off x="9105805" y="1905000"/>
            <a:ext cx="1514570" cy="447675"/>
          </a:xfrm>
          <a:prstGeom prst="rect">
            <a:avLst/>
          </a:prstGeom>
          <a:solidFill>
            <a:srgbClr val="285B9F"/>
          </a:solidFill>
          <a:ln w="0">
            <a:noFill/>
          </a:ln>
        </p:spPr>
        <p:txBody>
          <a:bodyPr/>
          <a:lstStyle/>
          <a:p>
            <a:endParaRPr lang="en-US"/>
          </a:p>
        </p:txBody>
      </p:sp>
      <p:sp>
        <p:nvSpPr>
          <p:cNvPr id="542" name="22%">
            <a:extLst>
              <a:ext uri="{FF2B5EF4-FFF2-40B4-BE49-F238E27FC236}">
                <a16:creationId xmlns:a16="http://schemas.microsoft.com/office/drawing/2014/main" id="{E305BCF2-5B20-4EFF-BAFA-61F3D8B6E3B9}"/>
              </a:ext>
            </a:extLst>
          </p:cNvPr>
          <p:cNvSpPr>
            <a:spLocks noGrp="1"/>
          </p:cNvSpPr>
          <p:nvPr/>
        </p:nvSpPr>
        <p:spPr>
          <a:xfrm>
            <a:off x="9143905" y="2009775"/>
            <a:ext cx="145742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43" name="n=129">
            <a:extLst>
              <a:ext uri="{FF2B5EF4-FFF2-40B4-BE49-F238E27FC236}">
                <a16:creationId xmlns:a16="http://schemas.microsoft.com/office/drawing/2014/main" id="{33A8C08B-7FB1-47AD-862D-D99BE0A6F89F}"/>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n=101</a:t>
            </a:r>
          </a:p>
        </p:txBody>
      </p:sp>
      <p:sp>
        <p:nvSpPr>
          <p:cNvPr id="544" name="Rarely">
            <a:extLst>
              <a:ext uri="{FF2B5EF4-FFF2-40B4-BE49-F238E27FC236}">
                <a16:creationId xmlns:a16="http://schemas.microsoft.com/office/drawing/2014/main" id="{8695E0D0-6D14-4F14-9F8F-6593A9B1C65C}"/>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Rarely</a:t>
            </a:r>
          </a:p>
        </p:txBody>
      </p:sp>
      <p:sp>
        <p:nvSpPr>
          <p:cNvPr id="545" name="Rectangle 544">
            <a:extLst>
              <a:ext uri="{FF2B5EF4-FFF2-40B4-BE49-F238E27FC236}">
                <a16:creationId xmlns:a16="http://schemas.microsoft.com/office/drawing/2014/main" id="{7F378D2F-04BE-4F05-BAF5-08CB6DBE53DA}"/>
              </a:ext>
            </a:extLst>
          </p:cNvPr>
          <p:cNvSpPr>
            <a:spLocks noGrp="1"/>
          </p:cNvSpPr>
          <p:nvPr/>
        </p:nvSpPr>
        <p:spPr>
          <a:xfrm>
            <a:off x="3667125" y="2628900"/>
            <a:ext cx="1239193" cy="447675"/>
          </a:xfrm>
          <a:prstGeom prst="rect">
            <a:avLst/>
          </a:prstGeom>
          <a:solidFill>
            <a:srgbClr val="A83A3A"/>
          </a:solidFill>
          <a:ln w="0">
            <a:noFill/>
          </a:ln>
        </p:spPr>
        <p:txBody>
          <a:bodyPr/>
          <a:lstStyle/>
          <a:p>
            <a:endParaRPr lang="en-US"/>
          </a:p>
        </p:txBody>
      </p:sp>
      <p:sp>
        <p:nvSpPr>
          <p:cNvPr id="546" name="23%">
            <a:extLst>
              <a:ext uri="{FF2B5EF4-FFF2-40B4-BE49-F238E27FC236}">
                <a16:creationId xmlns:a16="http://schemas.microsoft.com/office/drawing/2014/main" id="{B6295E0B-9AE4-4C36-B9E4-EFFF32266E82}"/>
              </a:ext>
            </a:extLst>
          </p:cNvPr>
          <p:cNvSpPr>
            <a:spLocks noGrp="1"/>
          </p:cNvSpPr>
          <p:nvPr/>
        </p:nvSpPr>
        <p:spPr>
          <a:xfrm>
            <a:off x="3705225" y="2733675"/>
            <a:ext cx="11820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47" name="Rectangle 546">
            <a:extLst>
              <a:ext uri="{FF2B5EF4-FFF2-40B4-BE49-F238E27FC236}">
                <a16:creationId xmlns:a16="http://schemas.microsoft.com/office/drawing/2014/main" id="{4BA95F61-D409-420F-82AD-3C444F628D81}"/>
              </a:ext>
            </a:extLst>
          </p:cNvPr>
          <p:cNvSpPr>
            <a:spLocks noGrp="1"/>
          </p:cNvSpPr>
          <p:nvPr/>
        </p:nvSpPr>
        <p:spPr>
          <a:xfrm>
            <a:off x="4906318" y="2628900"/>
            <a:ext cx="1927634" cy="447675"/>
          </a:xfrm>
          <a:prstGeom prst="rect">
            <a:avLst/>
          </a:prstGeom>
          <a:solidFill>
            <a:srgbClr val="DC713D"/>
          </a:solidFill>
          <a:ln w="0">
            <a:noFill/>
          </a:ln>
        </p:spPr>
        <p:txBody>
          <a:bodyPr/>
          <a:lstStyle/>
          <a:p>
            <a:endParaRPr lang="en-US"/>
          </a:p>
        </p:txBody>
      </p:sp>
      <p:sp>
        <p:nvSpPr>
          <p:cNvPr id="548" name="24%">
            <a:extLst>
              <a:ext uri="{FF2B5EF4-FFF2-40B4-BE49-F238E27FC236}">
                <a16:creationId xmlns:a16="http://schemas.microsoft.com/office/drawing/2014/main" id="{D660CBCF-0B8A-4D64-9012-8D78ED181155}"/>
              </a:ext>
            </a:extLst>
          </p:cNvPr>
          <p:cNvSpPr>
            <a:spLocks noGrp="1"/>
          </p:cNvSpPr>
          <p:nvPr/>
        </p:nvSpPr>
        <p:spPr>
          <a:xfrm>
            <a:off x="4944418" y="2733675"/>
            <a:ext cx="18704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49" name="Rectangle 548">
            <a:extLst>
              <a:ext uri="{FF2B5EF4-FFF2-40B4-BE49-F238E27FC236}">
                <a16:creationId xmlns:a16="http://schemas.microsoft.com/office/drawing/2014/main" id="{E9B8DEA1-225B-4D8C-B980-93E72ABF75CC}"/>
              </a:ext>
            </a:extLst>
          </p:cNvPr>
          <p:cNvSpPr>
            <a:spLocks noGrp="1"/>
          </p:cNvSpPr>
          <p:nvPr/>
        </p:nvSpPr>
        <p:spPr>
          <a:xfrm>
            <a:off x="6833952" y="2628900"/>
            <a:ext cx="2616074" cy="447675"/>
          </a:xfrm>
          <a:prstGeom prst="rect">
            <a:avLst/>
          </a:prstGeom>
          <a:solidFill>
            <a:srgbClr val="4C91D8"/>
          </a:solidFill>
          <a:ln w="0">
            <a:noFill/>
          </a:ln>
        </p:spPr>
        <p:txBody>
          <a:bodyPr/>
          <a:lstStyle/>
          <a:p>
            <a:endParaRPr lang="en-US"/>
          </a:p>
        </p:txBody>
      </p:sp>
      <p:sp>
        <p:nvSpPr>
          <p:cNvPr id="550" name="34%">
            <a:extLst>
              <a:ext uri="{FF2B5EF4-FFF2-40B4-BE49-F238E27FC236}">
                <a16:creationId xmlns:a16="http://schemas.microsoft.com/office/drawing/2014/main" id="{58B74E3E-13BD-401E-A26D-0FC64F469473}"/>
              </a:ext>
            </a:extLst>
          </p:cNvPr>
          <p:cNvSpPr>
            <a:spLocks noGrp="1"/>
          </p:cNvSpPr>
          <p:nvPr/>
        </p:nvSpPr>
        <p:spPr>
          <a:xfrm>
            <a:off x="6872052" y="2733675"/>
            <a:ext cx="255892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38%</a:t>
            </a:r>
          </a:p>
        </p:txBody>
      </p:sp>
      <p:sp>
        <p:nvSpPr>
          <p:cNvPr id="551" name="Rectangle 550">
            <a:extLst>
              <a:ext uri="{FF2B5EF4-FFF2-40B4-BE49-F238E27FC236}">
                <a16:creationId xmlns:a16="http://schemas.microsoft.com/office/drawing/2014/main" id="{A9EE9641-EFCA-4BB8-8E39-59919F3CDA77}"/>
              </a:ext>
            </a:extLst>
          </p:cNvPr>
          <p:cNvSpPr>
            <a:spLocks noGrp="1"/>
          </p:cNvSpPr>
          <p:nvPr/>
        </p:nvSpPr>
        <p:spPr>
          <a:xfrm>
            <a:off x="9450026" y="2628900"/>
            <a:ext cx="1170349" cy="447675"/>
          </a:xfrm>
          <a:prstGeom prst="rect">
            <a:avLst/>
          </a:prstGeom>
          <a:solidFill>
            <a:srgbClr val="285B9F"/>
          </a:solidFill>
          <a:ln w="0">
            <a:noFill/>
          </a:ln>
        </p:spPr>
        <p:txBody>
          <a:bodyPr/>
          <a:lstStyle/>
          <a:p>
            <a:endParaRPr lang="en-US"/>
          </a:p>
        </p:txBody>
      </p:sp>
      <p:sp>
        <p:nvSpPr>
          <p:cNvPr id="552" name="19%">
            <a:extLst>
              <a:ext uri="{FF2B5EF4-FFF2-40B4-BE49-F238E27FC236}">
                <a16:creationId xmlns:a16="http://schemas.microsoft.com/office/drawing/2014/main" id="{B2241433-4BB6-4655-81D2-A65E78167A1A}"/>
              </a:ext>
            </a:extLst>
          </p:cNvPr>
          <p:cNvSpPr>
            <a:spLocks noGrp="1"/>
          </p:cNvSpPr>
          <p:nvPr/>
        </p:nvSpPr>
        <p:spPr>
          <a:xfrm>
            <a:off x="9488126" y="2733675"/>
            <a:ext cx="111319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53" name="n=236">
            <a:extLst>
              <a:ext uri="{FF2B5EF4-FFF2-40B4-BE49-F238E27FC236}">
                <a16:creationId xmlns:a16="http://schemas.microsoft.com/office/drawing/2014/main" id="{4C7BEBCF-C893-496B-A10E-F2BCDCE3F8BB}"/>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n=184</a:t>
            </a:r>
          </a:p>
        </p:txBody>
      </p:sp>
      <p:sp>
        <p:nvSpPr>
          <p:cNvPr id="554" name="Sometimes">
            <a:extLst>
              <a:ext uri="{FF2B5EF4-FFF2-40B4-BE49-F238E27FC236}">
                <a16:creationId xmlns:a16="http://schemas.microsoft.com/office/drawing/2014/main" id="{500FF9F7-AFF4-41EC-8559-B5BFB65CB30B}"/>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Sometimes</a:t>
            </a:r>
          </a:p>
        </p:txBody>
      </p:sp>
      <p:sp>
        <p:nvSpPr>
          <p:cNvPr id="555" name="Rectangle 554">
            <a:extLst>
              <a:ext uri="{FF2B5EF4-FFF2-40B4-BE49-F238E27FC236}">
                <a16:creationId xmlns:a16="http://schemas.microsoft.com/office/drawing/2014/main" id="{50D07462-E611-4DD0-917B-F8D2B3EDCD30}"/>
              </a:ext>
            </a:extLst>
          </p:cNvPr>
          <p:cNvSpPr>
            <a:spLocks noGrp="1"/>
          </p:cNvSpPr>
          <p:nvPr/>
        </p:nvSpPr>
        <p:spPr>
          <a:xfrm>
            <a:off x="3667125" y="3352800"/>
            <a:ext cx="1112520" cy="447675"/>
          </a:xfrm>
          <a:prstGeom prst="rect">
            <a:avLst/>
          </a:prstGeom>
          <a:solidFill>
            <a:srgbClr val="A83A3A"/>
          </a:solidFill>
          <a:ln w="0">
            <a:noFill/>
          </a:ln>
        </p:spPr>
        <p:txBody>
          <a:bodyPr/>
          <a:lstStyle/>
          <a:p>
            <a:endParaRPr lang="en-US"/>
          </a:p>
        </p:txBody>
      </p:sp>
      <p:sp>
        <p:nvSpPr>
          <p:cNvPr id="556" name="17%">
            <a:extLst>
              <a:ext uri="{FF2B5EF4-FFF2-40B4-BE49-F238E27FC236}">
                <a16:creationId xmlns:a16="http://schemas.microsoft.com/office/drawing/2014/main" id="{43518822-8E84-43E0-AA73-B623896ADB8A}"/>
              </a:ext>
            </a:extLst>
          </p:cNvPr>
          <p:cNvSpPr>
            <a:spLocks noGrp="1"/>
          </p:cNvSpPr>
          <p:nvPr/>
        </p:nvSpPr>
        <p:spPr>
          <a:xfrm>
            <a:off x="3705225" y="3457575"/>
            <a:ext cx="10553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7" name="Rectangle 556">
            <a:extLst>
              <a:ext uri="{FF2B5EF4-FFF2-40B4-BE49-F238E27FC236}">
                <a16:creationId xmlns:a16="http://schemas.microsoft.com/office/drawing/2014/main" id="{AB458823-423B-43AE-AB91-D8E4F9EB5B14}"/>
              </a:ext>
            </a:extLst>
          </p:cNvPr>
          <p:cNvSpPr>
            <a:spLocks noGrp="1"/>
          </p:cNvSpPr>
          <p:nvPr/>
        </p:nvSpPr>
        <p:spPr>
          <a:xfrm>
            <a:off x="4779645" y="3352800"/>
            <a:ext cx="2364105"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D8ACBC79-EA75-4126-9B22-7C0E144F7B3F}"/>
              </a:ext>
            </a:extLst>
          </p:cNvPr>
          <p:cNvSpPr>
            <a:spLocks noGrp="1"/>
          </p:cNvSpPr>
          <p:nvPr/>
        </p:nvSpPr>
        <p:spPr>
          <a:xfrm>
            <a:off x="4817745" y="3457575"/>
            <a:ext cx="230695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59" name="Rectangle 558">
            <a:extLst>
              <a:ext uri="{FF2B5EF4-FFF2-40B4-BE49-F238E27FC236}">
                <a16:creationId xmlns:a16="http://schemas.microsoft.com/office/drawing/2014/main" id="{BC88CDFD-CA1C-48DA-A970-BCFAD80534F0}"/>
              </a:ext>
            </a:extLst>
          </p:cNvPr>
          <p:cNvSpPr>
            <a:spLocks noGrp="1"/>
          </p:cNvSpPr>
          <p:nvPr/>
        </p:nvSpPr>
        <p:spPr>
          <a:xfrm>
            <a:off x="7143750" y="3352800"/>
            <a:ext cx="1877378" cy="447675"/>
          </a:xfrm>
          <a:prstGeom prst="rect">
            <a:avLst/>
          </a:prstGeom>
          <a:solidFill>
            <a:srgbClr val="4C91D8"/>
          </a:solidFill>
          <a:ln w="0">
            <a:noFill/>
          </a:ln>
        </p:spPr>
        <p:txBody>
          <a:bodyPr/>
          <a:lstStyle/>
          <a:p>
            <a:endParaRPr lang="en-US"/>
          </a:p>
        </p:txBody>
      </p:sp>
      <p:sp>
        <p:nvSpPr>
          <p:cNvPr id="560" name="25%">
            <a:extLst>
              <a:ext uri="{FF2B5EF4-FFF2-40B4-BE49-F238E27FC236}">
                <a16:creationId xmlns:a16="http://schemas.microsoft.com/office/drawing/2014/main" id="{E6F28B75-C9CA-482B-AD0A-763124340AC5}"/>
              </a:ext>
            </a:extLst>
          </p:cNvPr>
          <p:cNvSpPr>
            <a:spLocks noGrp="1"/>
          </p:cNvSpPr>
          <p:nvPr/>
        </p:nvSpPr>
        <p:spPr>
          <a:xfrm>
            <a:off x="7181850" y="34575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61" name="Rectangle 560">
            <a:extLst>
              <a:ext uri="{FF2B5EF4-FFF2-40B4-BE49-F238E27FC236}">
                <a16:creationId xmlns:a16="http://schemas.microsoft.com/office/drawing/2014/main" id="{44626A1A-74C7-4362-92CE-E3CADDAE651E}"/>
              </a:ext>
            </a:extLst>
          </p:cNvPr>
          <p:cNvSpPr>
            <a:spLocks noGrp="1"/>
          </p:cNvSpPr>
          <p:nvPr/>
        </p:nvSpPr>
        <p:spPr>
          <a:xfrm>
            <a:off x="9021128" y="3352800"/>
            <a:ext cx="1599247" cy="447675"/>
          </a:xfrm>
          <a:prstGeom prst="rect">
            <a:avLst/>
          </a:prstGeom>
          <a:solidFill>
            <a:srgbClr val="285B9F"/>
          </a:solidFill>
          <a:ln w="0">
            <a:noFill/>
          </a:ln>
        </p:spPr>
        <p:txBody>
          <a:bodyPr/>
          <a:lstStyle/>
          <a:p>
            <a:endParaRPr lang="en-US"/>
          </a:p>
        </p:txBody>
      </p:sp>
      <p:sp>
        <p:nvSpPr>
          <p:cNvPr id="562" name="26%">
            <a:extLst>
              <a:ext uri="{FF2B5EF4-FFF2-40B4-BE49-F238E27FC236}">
                <a16:creationId xmlns:a16="http://schemas.microsoft.com/office/drawing/2014/main" id="{3C8C6C0B-0FCB-4F1C-911D-0A1530AD1083}"/>
              </a:ext>
            </a:extLst>
          </p:cNvPr>
          <p:cNvSpPr>
            <a:spLocks noGrp="1"/>
          </p:cNvSpPr>
          <p:nvPr/>
        </p:nvSpPr>
        <p:spPr>
          <a:xfrm>
            <a:off x="9059228" y="3457575"/>
            <a:ext cx="154209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63" name="n=302">
            <a:extLst>
              <a:ext uri="{FF2B5EF4-FFF2-40B4-BE49-F238E27FC236}">
                <a16:creationId xmlns:a16="http://schemas.microsoft.com/office/drawing/2014/main" id="{338CF3AA-0C9E-4323-8760-0A62949AA25F}"/>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n=259</a:t>
            </a:r>
          </a:p>
        </p:txBody>
      </p:sp>
      <p:sp>
        <p:nvSpPr>
          <p:cNvPr id="564" name="Often">
            <a:extLst>
              <a:ext uri="{FF2B5EF4-FFF2-40B4-BE49-F238E27FC236}">
                <a16:creationId xmlns:a16="http://schemas.microsoft.com/office/drawing/2014/main" id="{DF5BE59F-58CA-40AF-9381-EF119B610FE6}"/>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Often</a:t>
            </a:r>
          </a:p>
        </p:txBody>
      </p:sp>
      <p:sp>
        <p:nvSpPr>
          <p:cNvPr id="565" name="Rectangle 564">
            <a:extLst>
              <a:ext uri="{FF2B5EF4-FFF2-40B4-BE49-F238E27FC236}">
                <a16:creationId xmlns:a16="http://schemas.microsoft.com/office/drawing/2014/main" id="{8FD74BBD-3A15-4D8B-9F3C-F35A2F9F72DE}"/>
              </a:ext>
            </a:extLst>
          </p:cNvPr>
          <p:cNvSpPr>
            <a:spLocks noGrp="1"/>
          </p:cNvSpPr>
          <p:nvPr/>
        </p:nvSpPr>
        <p:spPr>
          <a:xfrm>
            <a:off x="3667125" y="4076700"/>
            <a:ext cx="1404697"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284759EE-E2EE-46AC-9B36-8FDAA77C3619}"/>
              </a:ext>
            </a:extLst>
          </p:cNvPr>
          <p:cNvSpPr>
            <a:spLocks noGrp="1"/>
          </p:cNvSpPr>
          <p:nvPr/>
        </p:nvSpPr>
        <p:spPr>
          <a:xfrm>
            <a:off x="3705225" y="4181475"/>
            <a:ext cx="134754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67" name="Rectangle 566">
            <a:extLst>
              <a:ext uri="{FF2B5EF4-FFF2-40B4-BE49-F238E27FC236}">
                <a16:creationId xmlns:a16="http://schemas.microsoft.com/office/drawing/2014/main" id="{5894D387-F45E-427E-BB95-117B483AB895}"/>
              </a:ext>
            </a:extLst>
          </p:cNvPr>
          <p:cNvSpPr>
            <a:spLocks noGrp="1"/>
          </p:cNvSpPr>
          <p:nvPr/>
        </p:nvSpPr>
        <p:spPr>
          <a:xfrm>
            <a:off x="5071822" y="4076700"/>
            <a:ext cx="2458220" cy="447675"/>
          </a:xfrm>
          <a:prstGeom prst="rect">
            <a:avLst/>
          </a:prstGeom>
          <a:solidFill>
            <a:srgbClr val="DC713D"/>
          </a:solidFill>
          <a:ln w="0">
            <a:noFill/>
          </a:ln>
        </p:spPr>
        <p:txBody>
          <a:bodyPr/>
          <a:lstStyle/>
          <a:p>
            <a:endParaRPr lang="en-US"/>
          </a:p>
        </p:txBody>
      </p:sp>
      <p:sp>
        <p:nvSpPr>
          <p:cNvPr id="568" name="35%">
            <a:extLst>
              <a:ext uri="{FF2B5EF4-FFF2-40B4-BE49-F238E27FC236}">
                <a16:creationId xmlns:a16="http://schemas.microsoft.com/office/drawing/2014/main" id="{EF1BB90C-BDA4-40D6-A510-962CA507BD54}"/>
              </a:ext>
            </a:extLst>
          </p:cNvPr>
          <p:cNvSpPr>
            <a:spLocks noGrp="1"/>
          </p:cNvSpPr>
          <p:nvPr/>
        </p:nvSpPr>
        <p:spPr>
          <a:xfrm>
            <a:off x="5109922" y="4181475"/>
            <a:ext cx="24010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69" name="Rectangle 568">
            <a:extLst>
              <a:ext uri="{FF2B5EF4-FFF2-40B4-BE49-F238E27FC236}">
                <a16:creationId xmlns:a16="http://schemas.microsoft.com/office/drawing/2014/main" id="{E0483293-20B6-4BEC-9DBE-262DE8F11DD8}"/>
              </a:ext>
            </a:extLst>
          </p:cNvPr>
          <p:cNvSpPr>
            <a:spLocks noGrp="1"/>
          </p:cNvSpPr>
          <p:nvPr/>
        </p:nvSpPr>
        <p:spPr>
          <a:xfrm>
            <a:off x="7530042" y="4076700"/>
            <a:ext cx="1545167" cy="447675"/>
          </a:xfrm>
          <a:prstGeom prst="rect">
            <a:avLst/>
          </a:prstGeom>
          <a:solidFill>
            <a:srgbClr val="4C91D8"/>
          </a:solidFill>
          <a:ln w="0">
            <a:noFill/>
          </a:ln>
        </p:spPr>
        <p:txBody>
          <a:bodyPr/>
          <a:lstStyle/>
          <a:p>
            <a:endParaRPr lang="en-US"/>
          </a:p>
        </p:txBody>
      </p:sp>
      <p:sp>
        <p:nvSpPr>
          <p:cNvPr id="570" name="23%">
            <a:extLst>
              <a:ext uri="{FF2B5EF4-FFF2-40B4-BE49-F238E27FC236}">
                <a16:creationId xmlns:a16="http://schemas.microsoft.com/office/drawing/2014/main" id="{EECD7402-5BD1-4F31-BB19-1094985F4D78}"/>
              </a:ext>
            </a:extLst>
          </p:cNvPr>
          <p:cNvSpPr>
            <a:spLocks noGrp="1"/>
          </p:cNvSpPr>
          <p:nvPr/>
        </p:nvSpPr>
        <p:spPr>
          <a:xfrm>
            <a:off x="7568142" y="4181475"/>
            <a:ext cx="148801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1" name="Rectangle 570">
            <a:extLst>
              <a:ext uri="{FF2B5EF4-FFF2-40B4-BE49-F238E27FC236}">
                <a16:creationId xmlns:a16="http://schemas.microsoft.com/office/drawing/2014/main" id="{9D355CD4-7DD0-4422-B731-EE800B9929D8}"/>
              </a:ext>
            </a:extLst>
          </p:cNvPr>
          <p:cNvSpPr>
            <a:spLocks noGrp="1"/>
          </p:cNvSpPr>
          <p:nvPr/>
        </p:nvSpPr>
        <p:spPr>
          <a:xfrm>
            <a:off x="9075209" y="4076700"/>
            <a:ext cx="1545166"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E64772BC-BD7E-42E5-B97C-93859D3F0FEB}"/>
              </a:ext>
            </a:extLst>
          </p:cNvPr>
          <p:cNvSpPr>
            <a:spLocks noGrp="1"/>
          </p:cNvSpPr>
          <p:nvPr/>
        </p:nvSpPr>
        <p:spPr>
          <a:xfrm>
            <a:off x="9113309" y="4181475"/>
            <a:ext cx="148801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249">
            <a:extLst>
              <a:ext uri="{FF2B5EF4-FFF2-40B4-BE49-F238E27FC236}">
                <a16:creationId xmlns:a16="http://schemas.microsoft.com/office/drawing/2014/main" id="{0736DEEC-C7BB-401A-A921-42C08E989F31}"/>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n=218</a:t>
            </a:r>
          </a:p>
        </p:txBody>
      </p:sp>
      <p:sp>
        <p:nvSpPr>
          <p:cNvPr id="574" name="Almost always">
            <a:extLst>
              <a:ext uri="{FF2B5EF4-FFF2-40B4-BE49-F238E27FC236}">
                <a16:creationId xmlns:a16="http://schemas.microsoft.com/office/drawing/2014/main" id="{A545B364-40CB-48E6-BB41-2277AD655AF4}"/>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always</a:t>
            </a:r>
          </a:p>
        </p:txBody>
      </p:sp>
      <p:sp>
        <p:nvSpPr>
          <p:cNvPr id="575" name="Rectangle 574">
            <a:extLst>
              <a:ext uri="{FF2B5EF4-FFF2-40B4-BE49-F238E27FC236}">
                <a16:creationId xmlns:a16="http://schemas.microsoft.com/office/drawing/2014/main" id="{FDC3E031-5617-4F7D-9236-CAC4F36B90AD}"/>
              </a:ext>
            </a:extLst>
          </p:cNvPr>
          <p:cNvSpPr>
            <a:spLocks noGrp="1"/>
          </p:cNvSpPr>
          <p:nvPr/>
        </p:nvSpPr>
        <p:spPr>
          <a:xfrm>
            <a:off x="3667125" y="4800600"/>
            <a:ext cx="1877378" cy="447675"/>
          </a:xfrm>
          <a:prstGeom prst="rect">
            <a:avLst/>
          </a:prstGeom>
          <a:solidFill>
            <a:srgbClr val="A83A3A"/>
          </a:solidFill>
          <a:ln w="0">
            <a:noFill/>
          </a:ln>
        </p:spPr>
        <p:txBody>
          <a:bodyPr/>
          <a:lstStyle/>
          <a:p>
            <a:endParaRPr lang="en-US"/>
          </a:p>
        </p:txBody>
      </p:sp>
      <p:sp>
        <p:nvSpPr>
          <p:cNvPr id="576" name="26%">
            <a:extLst>
              <a:ext uri="{FF2B5EF4-FFF2-40B4-BE49-F238E27FC236}">
                <a16:creationId xmlns:a16="http://schemas.microsoft.com/office/drawing/2014/main" id="{7AB5FFC2-FF74-4F00-9810-4A1634B19186}"/>
              </a:ext>
            </a:extLst>
          </p:cNvPr>
          <p:cNvSpPr>
            <a:spLocks noGrp="1"/>
          </p:cNvSpPr>
          <p:nvPr/>
        </p:nvSpPr>
        <p:spPr>
          <a:xfrm>
            <a:off x="3705225" y="49053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7" name="Rectangle 576">
            <a:extLst>
              <a:ext uri="{FF2B5EF4-FFF2-40B4-BE49-F238E27FC236}">
                <a16:creationId xmlns:a16="http://schemas.microsoft.com/office/drawing/2014/main" id="{B01543B3-FB43-438C-929A-A432DAA45164}"/>
              </a:ext>
            </a:extLst>
          </p:cNvPr>
          <p:cNvSpPr>
            <a:spLocks noGrp="1"/>
          </p:cNvSpPr>
          <p:nvPr/>
        </p:nvSpPr>
        <p:spPr>
          <a:xfrm>
            <a:off x="5544503" y="4800600"/>
            <a:ext cx="1529715" cy="447675"/>
          </a:xfrm>
          <a:prstGeom prst="rect">
            <a:avLst/>
          </a:prstGeom>
          <a:solidFill>
            <a:srgbClr val="DC713D"/>
          </a:solidFill>
          <a:ln w="0">
            <a:noFill/>
          </a:ln>
        </p:spPr>
        <p:txBody>
          <a:bodyPr/>
          <a:lstStyle/>
          <a:p>
            <a:endParaRPr lang="en-US"/>
          </a:p>
        </p:txBody>
      </p:sp>
      <p:sp>
        <p:nvSpPr>
          <p:cNvPr id="578" name="22%">
            <a:extLst>
              <a:ext uri="{FF2B5EF4-FFF2-40B4-BE49-F238E27FC236}">
                <a16:creationId xmlns:a16="http://schemas.microsoft.com/office/drawing/2014/main" id="{B38A0195-200D-4437-9538-34AEAE2735CA}"/>
              </a:ext>
            </a:extLst>
          </p:cNvPr>
          <p:cNvSpPr>
            <a:spLocks noGrp="1"/>
          </p:cNvSpPr>
          <p:nvPr/>
        </p:nvSpPr>
        <p:spPr>
          <a:xfrm>
            <a:off x="5582603" y="49053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9" name="Rectangle 578">
            <a:extLst>
              <a:ext uri="{FF2B5EF4-FFF2-40B4-BE49-F238E27FC236}">
                <a16:creationId xmlns:a16="http://schemas.microsoft.com/office/drawing/2014/main" id="{74FA46FA-CC71-4CE0-8991-D563EEE866CF}"/>
              </a:ext>
            </a:extLst>
          </p:cNvPr>
          <p:cNvSpPr>
            <a:spLocks noGrp="1"/>
          </p:cNvSpPr>
          <p:nvPr/>
        </p:nvSpPr>
        <p:spPr>
          <a:xfrm>
            <a:off x="7074218" y="4800600"/>
            <a:ext cx="2294572" cy="447675"/>
          </a:xfrm>
          <a:prstGeom prst="rect">
            <a:avLst/>
          </a:prstGeom>
          <a:solidFill>
            <a:srgbClr val="4C91D8"/>
          </a:solidFill>
          <a:ln w="0">
            <a:noFill/>
          </a:ln>
        </p:spPr>
        <p:txBody>
          <a:bodyPr/>
          <a:lstStyle/>
          <a:p>
            <a:endParaRPr lang="en-US"/>
          </a:p>
        </p:txBody>
      </p:sp>
      <p:sp>
        <p:nvSpPr>
          <p:cNvPr id="580" name="31%">
            <a:extLst>
              <a:ext uri="{FF2B5EF4-FFF2-40B4-BE49-F238E27FC236}">
                <a16:creationId xmlns:a16="http://schemas.microsoft.com/office/drawing/2014/main" id="{46F3D874-9AEA-400D-A98D-97EBA310A1B7}"/>
              </a:ext>
            </a:extLst>
          </p:cNvPr>
          <p:cNvSpPr>
            <a:spLocks noGrp="1"/>
          </p:cNvSpPr>
          <p:nvPr/>
        </p:nvSpPr>
        <p:spPr>
          <a:xfrm>
            <a:off x="7112318" y="4905375"/>
            <a:ext cx="22374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81" name="Rectangle 580">
            <a:extLst>
              <a:ext uri="{FF2B5EF4-FFF2-40B4-BE49-F238E27FC236}">
                <a16:creationId xmlns:a16="http://schemas.microsoft.com/office/drawing/2014/main" id="{543DD36C-31B3-47FE-A02B-9D4116A22EC5}"/>
              </a:ext>
            </a:extLst>
          </p:cNvPr>
          <p:cNvSpPr>
            <a:spLocks noGrp="1"/>
          </p:cNvSpPr>
          <p:nvPr/>
        </p:nvSpPr>
        <p:spPr>
          <a:xfrm>
            <a:off x="9368790" y="4800600"/>
            <a:ext cx="1251585" cy="447675"/>
          </a:xfrm>
          <a:prstGeom prst="rect">
            <a:avLst/>
          </a:prstGeom>
          <a:solidFill>
            <a:srgbClr val="285B9F"/>
          </a:solidFill>
          <a:ln w="0">
            <a:noFill/>
          </a:ln>
        </p:spPr>
        <p:txBody>
          <a:bodyPr/>
          <a:lstStyle/>
          <a:p>
            <a:endParaRPr lang="en-US"/>
          </a:p>
        </p:txBody>
      </p:sp>
      <p:sp>
        <p:nvSpPr>
          <p:cNvPr id="582" name="21%">
            <a:extLst>
              <a:ext uri="{FF2B5EF4-FFF2-40B4-BE49-F238E27FC236}">
                <a16:creationId xmlns:a16="http://schemas.microsoft.com/office/drawing/2014/main" id="{D5515542-A20C-4FAE-9D37-F5BFECD6C783}"/>
              </a:ext>
            </a:extLst>
          </p:cNvPr>
          <p:cNvSpPr>
            <a:spLocks noGrp="1"/>
          </p:cNvSpPr>
          <p:nvPr/>
        </p:nvSpPr>
        <p:spPr>
          <a:xfrm>
            <a:off x="9406890" y="4905375"/>
            <a:ext cx="119443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83" name="n=192">
            <a:extLst>
              <a:ext uri="{FF2B5EF4-FFF2-40B4-BE49-F238E27FC236}">
                <a16:creationId xmlns:a16="http://schemas.microsoft.com/office/drawing/2014/main" id="{5EF1799B-0F23-43F6-9CDA-04F7E1F3D781}"/>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n=158</a:t>
            </a:r>
          </a:p>
        </p:txBody>
      </p:sp>
      <p:sp>
        <p:nvSpPr>
          <p:cNvPr id="584" name="Rectangle 583">
            <a:extLst>
              <a:ext uri="{FF2B5EF4-FFF2-40B4-BE49-F238E27FC236}">
                <a16:creationId xmlns:a16="http://schemas.microsoft.com/office/drawing/2014/main" id="{1DD43469-7158-4356-8749-8E02D2D3B537}"/>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2D85C876-4B3A-4C7F-BEDB-48AE3C73F089}"/>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E681E399-CBC3-4591-80FF-A1D6F1C312AA}"/>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2B93B68B-898E-4B4F-9A0E-9C334AE31E84}"/>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7AA853B8-BACE-4176-89C1-6E5031BAC0EC}"/>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6797C5EF-285B-4FEC-B78C-6405AE1F6632}"/>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55D77CD7-AC6C-4956-94B9-A0401AE85BB2}"/>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6FF864FE-F07A-48AD-879E-48A7112B0F8E}"/>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C3D36535-0E35-02CB-1897-9EE0E1466233}"/>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8E76A9D0-B92C-AE02-871D-E8AD19C2D4FA}"/>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877473B-EA48-2E6D-D944-AF3C77629A47}"/>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7A004FC3-A210-65EA-3AD3-266B0B5EC468}"/>
              </a:ext>
            </a:extLst>
          </p:cNvPr>
          <p:cNvSpPr txBox="1"/>
          <p:nvPr/>
        </p:nvSpPr>
        <p:spPr>
          <a:xfrm rot="16200000">
            <a:off x="-203960" y="2715997"/>
            <a:ext cx="838691" cy="369332"/>
          </a:xfrm>
          <a:prstGeom prst="rect">
            <a:avLst/>
          </a:prstGeom>
          <a:noFill/>
        </p:spPr>
        <p:txBody>
          <a:bodyPr wrap="none" rtlCol="0">
            <a:spAutoFit/>
          </a:bodyPr>
          <a:lstStyle/>
          <a:p>
            <a:r>
              <a:rPr lang="en-US" dirty="0"/>
              <a:t>Stress</a:t>
            </a:r>
          </a:p>
        </p:txBody>
      </p:sp>
    </p:spTree>
    <p:extLst>
      <p:ext uri="{BB962C8B-B14F-4D97-AF65-F5344CB8AC3E}">
        <p14:creationId xmlns:p14="http://schemas.microsoft.com/office/powerpoint/2010/main" val="1741068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22</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Phone distraction and CGPA</a:t>
            </a:r>
          </a:p>
        </p:txBody>
      </p:sp>
      <p:sp>
        <p:nvSpPr>
          <p:cNvPr id="534" name="Never">
            <a:extLst>
              <a:ext uri="{FF2B5EF4-FFF2-40B4-BE49-F238E27FC236}">
                <a16:creationId xmlns:a16="http://schemas.microsoft.com/office/drawing/2014/main" id="{51EC90A5-1DF9-4612-8391-70341B2FF5D8}"/>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Never</a:t>
            </a:r>
          </a:p>
        </p:txBody>
      </p:sp>
      <p:sp>
        <p:nvSpPr>
          <p:cNvPr id="535" name="Rectangle 534">
            <a:extLst>
              <a:ext uri="{FF2B5EF4-FFF2-40B4-BE49-F238E27FC236}">
                <a16:creationId xmlns:a16="http://schemas.microsoft.com/office/drawing/2014/main" id="{89861678-73E3-4F9C-9C12-3A55228E5D14}"/>
              </a:ext>
            </a:extLst>
          </p:cNvPr>
          <p:cNvSpPr>
            <a:spLocks noGrp="1"/>
          </p:cNvSpPr>
          <p:nvPr/>
        </p:nvSpPr>
        <p:spPr>
          <a:xfrm>
            <a:off x="3667125" y="1905000"/>
            <a:ext cx="1474932" cy="447675"/>
          </a:xfrm>
          <a:prstGeom prst="rect">
            <a:avLst/>
          </a:prstGeom>
          <a:solidFill>
            <a:srgbClr val="A83A3A"/>
          </a:solidFill>
          <a:ln w="0">
            <a:noFill/>
          </a:ln>
        </p:spPr>
        <p:txBody>
          <a:bodyPr/>
          <a:lstStyle/>
          <a:p>
            <a:endParaRPr lang="en-US"/>
          </a:p>
        </p:txBody>
      </p:sp>
      <p:sp>
        <p:nvSpPr>
          <p:cNvPr id="536" name="23%">
            <a:extLst>
              <a:ext uri="{FF2B5EF4-FFF2-40B4-BE49-F238E27FC236}">
                <a16:creationId xmlns:a16="http://schemas.microsoft.com/office/drawing/2014/main" id="{BA0B6792-9838-428C-9967-36AFEA4FDEAC}"/>
              </a:ext>
            </a:extLst>
          </p:cNvPr>
          <p:cNvSpPr>
            <a:spLocks noGrp="1"/>
          </p:cNvSpPr>
          <p:nvPr/>
        </p:nvSpPr>
        <p:spPr>
          <a:xfrm>
            <a:off x="3705225" y="2009775"/>
            <a:ext cx="141778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37" name="Rectangle 536">
            <a:extLst>
              <a:ext uri="{FF2B5EF4-FFF2-40B4-BE49-F238E27FC236}">
                <a16:creationId xmlns:a16="http://schemas.microsoft.com/office/drawing/2014/main" id="{247F012C-F7ED-4433-AB85-3ECF8BC54346}"/>
              </a:ext>
            </a:extLst>
          </p:cNvPr>
          <p:cNvSpPr>
            <a:spLocks noGrp="1"/>
          </p:cNvSpPr>
          <p:nvPr/>
        </p:nvSpPr>
        <p:spPr>
          <a:xfrm>
            <a:off x="5142057" y="1905000"/>
            <a:ext cx="1404697" cy="447675"/>
          </a:xfrm>
          <a:prstGeom prst="rect">
            <a:avLst/>
          </a:prstGeom>
          <a:solidFill>
            <a:srgbClr val="DC713D"/>
          </a:solidFill>
          <a:ln w="0">
            <a:noFill/>
          </a:ln>
        </p:spPr>
        <p:txBody>
          <a:bodyPr/>
          <a:lstStyle/>
          <a:p>
            <a:endParaRPr lang="en-US"/>
          </a:p>
        </p:txBody>
      </p:sp>
      <p:sp>
        <p:nvSpPr>
          <p:cNvPr id="538" name="19%">
            <a:extLst>
              <a:ext uri="{FF2B5EF4-FFF2-40B4-BE49-F238E27FC236}">
                <a16:creationId xmlns:a16="http://schemas.microsoft.com/office/drawing/2014/main" id="{F59E8521-D586-48C9-95EC-4391030D0A15}"/>
              </a:ext>
            </a:extLst>
          </p:cNvPr>
          <p:cNvSpPr>
            <a:spLocks noGrp="1"/>
          </p:cNvSpPr>
          <p:nvPr/>
        </p:nvSpPr>
        <p:spPr>
          <a:xfrm>
            <a:off x="5180157" y="2009775"/>
            <a:ext cx="134754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39" name="Rectangle 538">
            <a:extLst>
              <a:ext uri="{FF2B5EF4-FFF2-40B4-BE49-F238E27FC236}">
                <a16:creationId xmlns:a16="http://schemas.microsoft.com/office/drawing/2014/main" id="{F4007075-0209-46D9-9520-C5DB61C4E8EF}"/>
              </a:ext>
            </a:extLst>
          </p:cNvPr>
          <p:cNvSpPr>
            <a:spLocks noGrp="1"/>
          </p:cNvSpPr>
          <p:nvPr/>
        </p:nvSpPr>
        <p:spPr>
          <a:xfrm>
            <a:off x="6546754" y="1905000"/>
            <a:ext cx="2317750" cy="447675"/>
          </a:xfrm>
          <a:prstGeom prst="rect">
            <a:avLst/>
          </a:prstGeom>
          <a:solidFill>
            <a:srgbClr val="4C91D8"/>
          </a:solidFill>
          <a:ln w="0">
            <a:noFill/>
          </a:ln>
        </p:spPr>
        <p:txBody>
          <a:bodyPr/>
          <a:lstStyle/>
          <a:p>
            <a:endParaRPr lang="en-US"/>
          </a:p>
        </p:txBody>
      </p:sp>
      <p:sp>
        <p:nvSpPr>
          <p:cNvPr id="540" name="31%">
            <a:extLst>
              <a:ext uri="{FF2B5EF4-FFF2-40B4-BE49-F238E27FC236}">
                <a16:creationId xmlns:a16="http://schemas.microsoft.com/office/drawing/2014/main" id="{1BA2DDCA-8A77-4CAD-89CA-D1F66BC1C037}"/>
              </a:ext>
            </a:extLst>
          </p:cNvPr>
          <p:cNvSpPr>
            <a:spLocks noGrp="1"/>
          </p:cNvSpPr>
          <p:nvPr/>
        </p:nvSpPr>
        <p:spPr>
          <a:xfrm>
            <a:off x="6584854" y="2009775"/>
            <a:ext cx="226060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41" name="Rectangle 540">
            <a:extLst>
              <a:ext uri="{FF2B5EF4-FFF2-40B4-BE49-F238E27FC236}">
                <a16:creationId xmlns:a16="http://schemas.microsoft.com/office/drawing/2014/main" id="{14137148-F681-498A-9554-E73F20C47902}"/>
              </a:ext>
            </a:extLst>
          </p:cNvPr>
          <p:cNvSpPr>
            <a:spLocks noGrp="1"/>
          </p:cNvSpPr>
          <p:nvPr/>
        </p:nvSpPr>
        <p:spPr>
          <a:xfrm>
            <a:off x="8864504" y="1905000"/>
            <a:ext cx="1755871" cy="447675"/>
          </a:xfrm>
          <a:prstGeom prst="rect">
            <a:avLst/>
          </a:prstGeom>
          <a:solidFill>
            <a:srgbClr val="285B9F"/>
          </a:solidFill>
          <a:ln w="0">
            <a:noFill/>
          </a:ln>
        </p:spPr>
        <p:txBody>
          <a:bodyPr/>
          <a:lstStyle/>
          <a:p>
            <a:endParaRPr lang="en-US"/>
          </a:p>
        </p:txBody>
      </p:sp>
      <p:sp>
        <p:nvSpPr>
          <p:cNvPr id="542" name="27%">
            <a:extLst>
              <a:ext uri="{FF2B5EF4-FFF2-40B4-BE49-F238E27FC236}">
                <a16:creationId xmlns:a16="http://schemas.microsoft.com/office/drawing/2014/main" id="{38B9DB2B-1B04-41D6-805F-389AE9DA0502}"/>
              </a:ext>
            </a:extLst>
          </p:cNvPr>
          <p:cNvSpPr>
            <a:spLocks noGrp="1"/>
          </p:cNvSpPr>
          <p:nvPr/>
        </p:nvSpPr>
        <p:spPr>
          <a:xfrm>
            <a:off x="8902604" y="2009775"/>
            <a:ext cx="169872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43" name="n=118">
            <a:extLst>
              <a:ext uri="{FF2B5EF4-FFF2-40B4-BE49-F238E27FC236}">
                <a16:creationId xmlns:a16="http://schemas.microsoft.com/office/drawing/2014/main" id="{890BCD84-8EF1-4A42-8EA3-106A19CE2F04}"/>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n=84</a:t>
            </a:r>
          </a:p>
        </p:txBody>
      </p:sp>
      <p:sp>
        <p:nvSpPr>
          <p:cNvPr id="544" name="Rarely">
            <a:extLst>
              <a:ext uri="{FF2B5EF4-FFF2-40B4-BE49-F238E27FC236}">
                <a16:creationId xmlns:a16="http://schemas.microsoft.com/office/drawing/2014/main" id="{1FEF9248-3983-432E-BBB1-DABBDF405758}"/>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Rarely</a:t>
            </a:r>
          </a:p>
        </p:txBody>
      </p:sp>
      <p:sp>
        <p:nvSpPr>
          <p:cNvPr id="545" name="Rectangle 544">
            <a:extLst>
              <a:ext uri="{FF2B5EF4-FFF2-40B4-BE49-F238E27FC236}">
                <a16:creationId xmlns:a16="http://schemas.microsoft.com/office/drawing/2014/main" id="{694620A7-8050-412A-AC4E-37B4AF124167}"/>
              </a:ext>
            </a:extLst>
          </p:cNvPr>
          <p:cNvSpPr>
            <a:spLocks noGrp="1"/>
          </p:cNvSpPr>
          <p:nvPr/>
        </p:nvSpPr>
        <p:spPr>
          <a:xfrm>
            <a:off x="3667125" y="2628900"/>
            <a:ext cx="1460182" cy="447675"/>
          </a:xfrm>
          <a:prstGeom prst="rect">
            <a:avLst/>
          </a:prstGeom>
          <a:solidFill>
            <a:srgbClr val="A83A3A"/>
          </a:solidFill>
          <a:ln w="0">
            <a:noFill/>
          </a:ln>
        </p:spPr>
        <p:txBody>
          <a:bodyPr/>
          <a:lstStyle/>
          <a:p>
            <a:endParaRPr lang="en-US"/>
          </a:p>
        </p:txBody>
      </p:sp>
      <p:sp>
        <p:nvSpPr>
          <p:cNvPr id="546" name="22%">
            <a:extLst>
              <a:ext uri="{FF2B5EF4-FFF2-40B4-BE49-F238E27FC236}">
                <a16:creationId xmlns:a16="http://schemas.microsoft.com/office/drawing/2014/main" id="{12C1C337-35B3-43D8-B24C-8D033081D021}"/>
              </a:ext>
            </a:extLst>
          </p:cNvPr>
          <p:cNvSpPr>
            <a:spLocks noGrp="1"/>
          </p:cNvSpPr>
          <p:nvPr/>
        </p:nvSpPr>
        <p:spPr>
          <a:xfrm>
            <a:off x="3705225" y="27336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EF30A451-6664-4BB9-8688-B0A2FAE1BCB1}"/>
              </a:ext>
            </a:extLst>
          </p:cNvPr>
          <p:cNvSpPr>
            <a:spLocks noGrp="1"/>
          </p:cNvSpPr>
          <p:nvPr/>
        </p:nvSpPr>
        <p:spPr>
          <a:xfrm>
            <a:off x="5127307" y="2628900"/>
            <a:ext cx="1877378" cy="447675"/>
          </a:xfrm>
          <a:prstGeom prst="rect">
            <a:avLst/>
          </a:prstGeom>
          <a:solidFill>
            <a:srgbClr val="DC713D"/>
          </a:solidFill>
          <a:ln w="0">
            <a:noFill/>
          </a:ln>
        </p:spPr>
        <p:txBody>
          <a:bodyPr/>
          <a:lstStyle/>
          <a:p>
            <a:endParaRPr lang="en-US"/>
          </a:p>
        </p:txBody>
      </p:sp>
      <p:sp>
        <p:nvSpPr>
          <p:cNvPr id="548" name="27%">
            <a:extLst>
              <a:ext uri="{FF2B5EF4-FFF2-40B4-BE49-F238E27FC236}">
                <a16:creationId xmlns:a16="http://schemas.microsoft.com/office/drawing/2014/main" id="{36A97571-E14A-4192-A8F0-DCC5D4EFE8C0}"/>
              </a:ext>
            </a:extLst>
          </p:cNvPr>
          <p:cNvSpPr>
            <a:spLocks noGrp="1"/>
          </p:cNvSpPr>
          <p:nvPr/>
        </p:nvSpPr>
        <p:spPr>
          <a:xfrm>
            <a:off x="5165407" y="27336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9" name="Rectangle 548">
            <a:extLst>
              <a:ext uri="{FF2B5EF4-FFF2-40B4-BE49-F238E27FC236}">
                <a16:creationId xmlns:a16="http://schemas.microsoft.com/office/drawing/2014/main" id="{D8C02268-EA67-49C8-A487-E7BFE4527F30}"/>
              </a:ext>
            </a:extLst>
          </p:cNvPr>
          <p:cNvSpPr>
            <a:spLocks noGrp="1"/>
          </p:cNvSpPr>
          <p:nvPr/>
        </p:nvSpPr>
        <p:spPr>
          <a:xfrm>
            <a:off x="7004685" y="2628900"/>
            <a:ext cx="2433638" cy="447675"/>
          </a:xfrm>
          <a:prstGeom prst="rect">
            <a:avLst/>
          </a:prstGeom>
          <a:solidFill>
            <a:srgbClr val="4C91D8"/>
          </a:solidFill>
          <a:ln w="0">
            <a:noFill/>
          </a:ln>
        </p:spPr>
        <p:txBody>
          <a:bodyPr/>
          <a:lstStyle/>
          <a:p>
            <a:endParaRPr lang="en-US"/>
          </a:p>
        </p:txBody>
      </p:sp>
      <p:sp>
        <p:nvSpPr>
          <p:cNvPr id="550" name="31%">
            <a:extLst>
              <a:ext uri="{FF2B5EF4-FFF2-40B4-BE49-F238E27FC236}">
                <a16:creationId xmlns:a16="http://schemas.microsoft.com/office/drawing/2014/main" id="{253EAFC3-AD66-4B9D-B5FC-CF331D93A291}"/>
              </a:ext>
            </a:extLst>
          </p:cNvPr>
          <p:cNvSpPr>
            <a:spLocks noGrp="1"/>
          </p:cNvSpPr>
          <p:nvPr/>
        </p:nvSpPr>
        <p:spPr>
          <a:xfrm>
            <a:off x="7042785" y="2733675"/>
            <a:ext cx="23764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51" name="Rectangle 550">
            <a:extLst>
              <a:ext uri="{FF2B5EF4-FFF2-40B4-BE49-F238E27FC236}">
                <a16:creationId xmlns:a16="http://schemas.microsoft.com/office/drawing/2014/main" id="{2238E98C-7E79-4794-AD08-BA3BF0157DED}"/>
              </a:ext>
            </a:extLst>
          </p:cNvPr>
          <p:cNvSpPr>
            <a:spLocks noGrp="1"/>
          </p:cNvSpPr>
          <p:nvPr/>
        </p:nvSpPr>
        <p:spPr>
          <a:xfrm>
            <a:off x="9438323" y="2628900"/>
            <a:ext cx="1182052" cy="447675"/>
          </a:xfrm>
          <a:prstGeom prst="rect">
            <a:avLst/>
          </a:prstGeom>
          <a:solidFill>
            <a:srgbClr val="285B9F"/>
          </a:solidFill>
          <a:ln w="0">
            <a:noFill/>
          </a:ln>
        </p:spPr>
        <p:txBody>
          <a:bodyPr/>
          <a:lstStyle/>
          <a:p>
            <a:endParaRPr lang="en-US"/>
          </a:p>
        </p:txBody>
      </p:sp>
      <p:sp>
        <p:nvSpPr>
          <p:cNvPr id="552" name="19%">
            <a:extLst>
              <a:ext uri="{FF2B5EF4-FFF2-40B4-BE49-F238E27FC236}">
                <a16:creationId xmlns:a16="http://schemas.microsoft.com/office/drawing/2014/main" id="{4A751709-2020-424B-ABB1-016D7D8B03B5}"/>
              </a:ext>
            </a:extLst>
          </p:cNvPr>
          <p:cNvSpPr>
            <a:spLocks noGrp="1"/>
          </p:cNvSpPr>
          <p:nvPr/>
        </p:nvSpPr>
        <p:spPr>
          <a:xfrm>
            <a:off x="9476423" y="2733675"/>
            <a:ext cx="11249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53" name="n=162">
            <a:extLst>
              <a:ext uri="{FF2B5EF4-FFF2-40B4-BE49-F238E27FC236}">
                <a16:creationId xmlns:a16="http://schemas.microsoft.com/office/drawing/2014/main" id="{67F6CD3B-9FFA-4AF0-97C8-AC029A5F7C71}"/>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n=133</a:t>
            </a:r>
          </a:p>
        </p:txBody>
      </p:sp>
      <p:sp>
        <p:nvSpPr>
          <p:cNvPr id="554" name="Sometimes">
            <a:extLst>
              <a:ext uri="{FF2B5EF4-FFF2-40B4-BE49-F238E27FC236}">
                <a16:creationId xmlns:a16="http://schemas.microsoft.com/office/drawing/2014/main" id="{637C514F-02FB-4718-9B31-E063E6768192}"/>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Sometimes</a:t>
            </a:r>
          </a:p>
        </p:txBody>
      </p:sp>
      <p:sp>
        <p:nvSpPr>
          <p:cNvPr id="555" name="Rectangle 554">
            <a:extLst>
              <a:ext uri="{FF2B5EF4-FFF2-40B4-BE49-F238E27FC236}">
                <a16:creationId xmlns:a16="http://schemas.microsoft.com/office/drawing/2014/main" id="{51FB84BC-DAC6-45BD-B777-4C6EDCDF52F9}"/>
              </a:ext>
            </a:extLst>
          </p:cNvPr>
          <p:cNvSpPr>
            <a:spLocks noGrp="1"/>
          </p:cNvSpPr>
          <p:nvPr/>
        </p:nvSpPr>
        <p:spPr>
          <a:xfrm>
            <a:off x="3667125" y="3352800"/>
            <a:ext cx="1182052"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38FB3DD0-7A68-4203-92D5-64C3E7E6C7DB}"/>
              </a:ext>
            </a:extLst>
          </p:cNvPr>
          <p:cNvSpPr>
            <a:spLocks noGrp="1"/>
          </p:cNvSpPr>
          <p:nvPr/>
        </p:nvSpPr>
        <p:spPr>
          <a:xfrm>
            <a:off x="3705225" y="3457575"/>
            <a:ext cx="112490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57" name="Rectangle 556">
            <a:extLst>
              <a:ext uri="{FF2B5EF4-FFF2-40B4-BE49-F238E27FC236}">
                <a16:creationId xmlns:a16="http://schemas.microsoft.com/office/drawing/2014/main" id="{D03A5E37-AA18-47A0-B3E3-E8ADD7701D7E}"/>
              </a:ext>
            </a:extLst>
          </p:cNvPr>
          <p:cNvSpPr>
            <a:spLocks noGrp="1"/>
          </p:cNvSpPr>
          <p:nvPr/>
        </p:nvSpPr>
        <p:spPr>
          <a:xfrm>
            <a:off x="4849177" y="3352800"/>
            <a:ext cx="2503170"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C619F5FD-3F1C-4276-A578-AFD5C23E5525}"/>
              </a:ext>
            </a:extLst>
          </p:cNvPr>
          <p:cNvSpPr>
            <a:spLocks noGrp="1"/>
          </p:cNvSpPr>
          <p:nvPr/>
        </p:nvSpPr>
        <p:spPr>
          <a:xfrm>
            <a:off x="4887277" y="3457575"/>
            <a:ext cx="244602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36%</a:t>
            </a:r>
          </a:p>
        </p:txBody>
      </p:sp>
      <p:sp>
        <p:nvSpPr>
          <p:cNvPr id="559" name="Rectangle 558">
            <a:extLst>
              <a:ext uri="{FF2B5EF4-FFF2-40B4-BE49-F238E27FC236}">
                <a16:creationId xmlns:a16="http://schemas.microsoft.com/office/drawing/2014/main" id="{F29F9A2A-A0C9-40C2-886C-0BEA581898C5}"/>
              </a:ext>
            </a:extLst>
          </p:cNvPr>
          <p:cNvSpPr>
            <a:spLocks noGrp="1"/>
          </p:cNvSpPr>
          <p:nvPr/>
        </p:nvSpPr>
        <p:spPr>
          <a:xfrm>
            <a:off x="7352347" y="3352800"/>
            <a:ext cx="2016442"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F01E2228-1700-41A4-89FB-A8760F47A360}"/>
              </a:ext>
            </a:extLst>
          </p:cNvPr>
          <p:cNvSpPr>
            <a:spLocks noGrp="1"/>
          </p:cNvSpPr>
          <p:nvPr/>
        </p:nvSpPr>
        <p:spPr>
          <a:xfrm>
            <a:off x="7390447" y="34575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1" name="Rectangle 560">
            <a:extLst>
              <a:ext uri="{FF2B5EF4-FFF2-40B4-BE49-F238E27FC236}">
                <a16:creationId xmlns:a16="http://schemas.microsoft.com/office/drawing/2014/main" id="{AADEC357-5665-4A1C-9AB7-11D15729FBE5}"/>
              </a:ext>
            </a:extLst>
          </p:cNvPr>
          <p:cNvSpPr>
            <a:spLocks noGrp="1"/>
          </p:cNvSpPr>
          <p:nvPr/>
        </p:nvSpPr>
        <p:spPr>
          <a:xfrm>
            <a:off x="9368789" y="3352800"/>
            <a:ext cx="1251586" cy="447675"/>
          </a:xfrm>
          <a:prstGeom prst="rect">
            <a:avLst/>
          </a:prstGeom>
          <a:solidFill>
            <a:srgbClr val="285B9F"/>
          </a:solidFill>
          <a:ln w="0">
            <a:noFill/>
          </a:ln>
        </p:spPr>
        <p:txBody>
          <a:bodyPr/>
          <a:lstStyle/>
          <a:p>
            <a:endParaRPr lang="en-US"/>
          </a:p>
        </p:txBody>
      </p:sp>
      <p:sp>
        <p:nvSpPr>
          <p:cNvPr id="562" name="21%">
            <a:extLst>
              <a:ext uri="{FF2B5EF4-FFF2-40B4-BE49-F238E27FC236}">
                <a16:creationId xmlns:a16="http://schemas.microsoft.com/office/drawing/2014/main" id="{2547E506-2A17-4619-A70D-3BC03EB43345}"/>
              </a:ext>
            </a:extLst>
          </p:cNvPr>
          <p:cNvSpPr>
            <a:spLocks noGrp="1"/>
          </p:cNvSpPr>
          <p:nvPr/>
        </p:nvSpPr>
        <p:spPr>
          <a:xfrm>
            <a:off x="9406889" y="3457575"/>
            <a:ext cx="119443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3" name="n=300">
            <a:extLst>
              <a:ext uri="{FF2B5EF4-FFF2-40B4-BE49-F238E27FC236}">
                <a16:creationId xmlns:a16="http://schemas.microsoft.com/office/drawing/2014/main" id="{B4E17E6C-1758-4116-A565-10842200994D}"/>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n=255</a:t>
            </a:r>
          </a:p>
        </p:txBody>
      </p:sp>
      <p:sp>
        <p:nvSpPr>
          <p:cNvPr id="564" name="Often">
            <a:extLst>
              <a:ext uri="{FF2B5EF4-FFF2-40B4-BE49-F238E27FC236}">
                <a16:creationId xmlns:a16="http://schemas.microsoft.com/office/drawing/2014/main" id="{0594DB75-1338-45D1-B098-3DDBE405A997}"/>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Often</a:t>
            </a:r>
          </a:p>
        </p:txBody>
      </p:sp>
      <p:sp>
        <p:nvSpPr>
          <p:cNvPr id="565" name="Rectangle 564">
            <a:extLst>
              <a:ext uri="{FF2B5EF4-FFF2-40B4-BE49-F238E27FC236}">
                <a16:creationId xmlns:a16="http://schemas.microsoft.com/office/drawing/2014/main" id="{18B3E242-61F9-4338-9092-0E0909AEAB36}"/>
              </a:ext>
            </a:extLst>
          </p:cNvPr>
          <p:cNvSpPr>
            <a:spLocks noGrp="1"/>
          </p:cNvSpPr>
          <p:nvPr/>
        </p:nvSpPr>
        <p:spPr>
          <a:xfrm>
            <a:off x="3667125" y="4076700"/>
            <a:ext cx="1321118"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7D2F10D3-983B-4652-B4ED-DDFD0328DE4E}"/>
              </a:ext>
            </a:extLst>
          </p:cNvPr>
          <p:cNvSpPr>
            <a:spLocks noGrp="1"/>
          </p:cNvSpPr>
          <p:nvPr/>
        </p:nvSpPr>
        <p:spPr>
          <a:xfrm>
            <a:off x="3705225" y="4181475"/>
            <a:ext cx="126396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67" name="Rectangle 566">
            <a:extLst>
              <a:ext uri="{FF2B5EF4-FFF2-40B4-BE49-F238E27FC236}">
                <a16:creationId xmlns:a16="http://schemas.microsoft.com/office/drawing/2014/main" id="{BB79B03B-E89C-4111-83EC-34BBE1542444}"/>
              </a:ext>
            </a:extLst>
          </p:cNvPr>
          <p:cNvSpPr>
            <a:spLocks noGrp="1"/>
          </p:cNvSpPr>
          <p:nvPr/>
        </p:nvSpPr>
        <p:spPr>
          <a:xfrm>
            <a:off x="4988243" y="4076700"/>
            <a:ext cx="2294572" cy="447675"/>
          </a:xfrm>
          <a:prstGeom prst="rect">
            <a:avLst/>
          </a:prstGeom>
          <a:solidFill>
            <a:srgbClr val="DC713D"/>
          </a:solidFill>
          <a:ln w="0">
            <a:noFill/>
          </a:ln>
        </p:spPr>
        <p:txBody>
          <a:bodyPr/>
          <a:lstStyle/>
          <a:p>
            <a:endParaRPr lang="en-US"/>
          </a:p>
        </p:txBody>
      </p:sp>
      <p:sp>
        <p:nvSpPr>
          <p:cNvPr id="568" name="31%">
            <a:extLst>
              <a:ext uri="{FF2B5EF4-FFF2-40B4-BE49-F238E27FC236}">
                <a16:creationId xmlns:a16="http://schemas.microsoft.com/office/drawing/2014/main" id="{1147633D-DE12-49A1-91ED-F66329448679}"/>
              </a:ext>
            </a:extLst>
          </p:cNvPr>
          <p:cNvSpPr>
            <a:spLocks noGrp="1"/>
          </p:cNvSpPr>
          <p:nvPr/>
        </p:nvSpPr>
        <p:spPr>
          <a:xfrm>
            <a:off x="5026343" y="4181475"/>
            <a:ext cx="22374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69" name="Rectangle 568">
            <a:extLst>
              <a:ext uri="{FF2B5EF4-FFF2-40B4-BE49-F238E27FC236}">
                <a16:creationId xmlns:a16="http://schemas.microsoft.com/office/drawing/2014/main" id="{F5088481-6960-4F21-81A2-F35FD6EFB355}"/>
              </a:ext>
            </a:extLst>
          </p:cNvPr>
          <p:cNvSpPr>
            <a:spLocks noGrp="1"/>
          </p:cNvSpPr>
          <p:nvPr/>
        </p:nvSpPr>
        <p:spPr>
          <a:xfrm>
            <a:off x="7282815" y="4076700"/>
            <a:ext cx="1807845" cy="447675"/>
          </a:xfrm>
          <a:prstGeom prst="rect">
            <a:avLst/>
          </a:prstGeom>
          <a:solidFill>
            <a:srgbClr val="4C91D8"/>
          </a:solidFill>
          <a:ln w="0">
            <a:noFill/>
          </a:ln>
        </p:spPr>
        <p:txBody>
          <a:bodyPr/>
          <a:lstStyle/>
          <a:p>
            <a:endParaRPr lang="en-US"/>
          </a:p>
        </p:txBody>
      </p:sp>
      <p:sp>
        <p:nvSpPr>
          <p:cNvPr id="570" name="26%">
            <a:extLst>
              <a:ext uri="{FF2B5EF4-FFF2-40B4-BE49-F238E27FC236}">
                <a16:creationId xmlns:a16="http://schemas.microsoft.com/office/drawing/2014/main" id="{F246AAA2-48ED-4886-8D59-5C02BCBED049}"/>
              </a:ext>
            </a:extLst>
          </p:cNvPr>
          <p:cNvSpPr>
            <a:spLocks noGrp="1"/>
          </p:cNvSpPr>
          <p:nvPr/>
        </p:nvSpPr>
        <p:spPr>
          <a:xfrm>
            <a:off x="7320915" y="41814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71" name="Rectangle 570">
            <a:extLst>
              <a:ext uri="{FF2B5EF4-FFF2-40B4-BE49-F238E27FC236}">
                <a16:creationId xmlns:a16="http://schemas.microsoft.com/office/drawing/2014/main" id="{E771E050-B47D-4BD6-887A-1C7F0E1F6B55}"/>
              </a:ext>
            </a:extLst>
          </p:cNvPr>
          <p:cNvSpPr>
            <a:spLocks noGrp="1"/>
          </p:cNvSpPr>
          <p:nvPr/>
        </p:nvSpPr>
        <p:spPr>
          <a:xfrm>
            <a:off x="9090660" y="4076700"/>
            <a:ext cx="1529715" cy="447675"/>
          </a:xfrm>
          <a:prstGeom prst="rect">
            <a:avLst/>
          </a:prstGeom>
          <a:solidFill>
            <a:srgbClr val="285B9F"/>
          </a:solidFill>
          <a:ln w="0">
            <a:noFill/>
          </a:ln>
        </p:spPr>
        <p:txBody>
          <a:bodyPr/>
          <a:lstStyle/>
          <a:p>
            <a:endParaRPr lang="en-US"/>
          </a:p>
        </p:txBody>
      </p:sp>
      <p:sp>
        <p:nvSpPr>
          <p:cNvPr id="572" name="23%">
            <a:extLst>
              <a:ext uri="{FF2B5EF4-FFF2-40B4-BE49-F238E27FC236}">
                <a16:creationId xmlns:a16="http://schemas.microsoft.com/office/drawing/2014/main" id="{1336BB8D-3B27-4877-BE3D-02097978EE23}"/>
              </a:ext>
            </a:extLst>
          </p:cNvPr>
          <p:cNvSpPr>
            <a:spLocks noGrp="1"/>
          </p:cNvSpPr>
          <p:nvPr/>
        </p:nvSpPr>
        <p:spPr>
          <a:xfrm>
            <a:off x="9128760" y="41814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292">
            <a:extLst>
              <a:ext uri="{FF2B5EF4-FFF2-40B4-BE49-F238E27FC236}">
                <a16:creationId xmlns:a16="http://schemas.microsoft.com/office/drawing/2014/main" id="{FA16AB85-F9B6-417C-A997-77DA7FBB9A84}"/>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n=249</a:t>
            </a:r>
          </a:p>
        </p:txBody>
      </p:sp>
      <p:sp>
        <p:nvSpPr>
          <p:cNvPr id="574" name="Almost every day">
            <a:extLst>
              <a:ext uri="{FF2B5EF4-FFF2-40B4-BE49-F238E27FC236}">
                <a16:creationId xmlns:a16="http://schemas.microsoft.com/office/drawing/2014/main" id="{852654AD-2429-4AE4-9C5C-1EC7D3A01508}"/>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Almost every day</a:t>
            </a:r>
          </a:p>
        </p:txBody>
      </p:sp>
      <p:sp>
        <p:nvSpPr>
          <p:cNvPr id="575" name="Rectangle 574">
            <a:extLst>
              <a:ext uri="{FF2B5EF4-FFF2-40B4-BE49-F238E27FC236}">
                <a16:creationId xmlns:a16="http://schemas.microsoft.com/office/drawing/2014/main" id="{6393A1BE-0C69-4928-97C1-2480E76C25A9}"/>
              </a:ext>
            </a:extLst>
          </p:cNvPr>
          <p:cNvSpPr>
            <a:spLocks noGrp="1"/>
          </p:cNvSpPr>
          <p:nvPr/>
        </p:nvSpPr>
        <p:spPr>
          <a:xfrm>
            <a:off x="3667125" y="4800600"/>
            <a:ext cx="1583413" cy="447675"/>
          </a:xfrm>
          <a:prstGeom prst="rect">
            <a:avLst/>
          </a:prstGeom>
          <a:solidFill>
            <a:srgbClr val="A83A3A"/>
          </a:solidFill>
          <a:ln w="0">
            <a:noFill/>
          </a:ln>
        </p:spPr>
        <p:txBody>
          <a:bodyPr/>
          <a:lstStyle/>
          <a:p>
            <a:endParaRPr lang="en-US"/>
          </a:p>
        </p:txBody>
      </p:sp>
      <p:sp>
        <p:nvSpPr>
          <p:cNvPr id="576" name="25%">
            <a:extLst>
              <a:ext uri="{FF2B5EF4-FFF2-40B4-BE49-F238E27FC236}">
                <a16:creationId xmlns:a16="http://schemas.microsoft.com/office/drawing/2014/main" id="{6773BF48-828E-48F8-AE82-184E8A7CB857}"/>
              </a:ext>
            </a:extLst>
          </p:cNvPr>
          <p:cNvSpPr>
            <a:spLocks noGrp="1"/>
          </p:cNvSpPr>
          <p:nvPr/>
        </p:nvSpPr>
        <p:spPr>
          <a:xfrm>
            <a:off x="3705225" y="4905375"/>
            <a:ext cx="1526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77" name="Rectangle 576">
            <a:extLst>
              <a:ext uri="{FF2B5EF4-FFF2-40B4-BE49-F238E27FC236}">
                <a16:creationId xmlns:a16="http://schemas.microsoft.com/office/drawing/2014/main" id="{93B05832-2C90-4161-BE7C-8E19A5EF4C89}"/>
              </a:ext>
            </a:extLst>
          </p:cNvPr>
          <p:cNvSpPr>
            <a:spLocks noGrp="1"/>
          </p:cNvSpPr>
          <p:nvPr/>
        </p:nvSpPr>
        <p:spPr>
          <a:xfrm>
            <a:off x="5250538" y="4800600"/>
            <a:ext cx="1996478" cy="447675"/>
          </a:xfrm>
          <a:prstGeom prst="rect">
            <a:avLst/>
          </a:prstGeom>
          <a:solidFill>
            <a:srgbClr val="DC713D"/>
          </a:solidFill>
          <a:ln w="0">
            <a:noFill/>
          </a:ln>
        </p:spPr>
        <p:txBody>
          <a:bodyPr/>
          <a:lstStyle/>
          <a:p>
            <a:endParaRPr lang="en-US"/>
          </a:p>
        </p:txBody>
      </p:sp>
      <p:sp>
        <p:nvSpPr>
          <p:cNvPr id="578" name="28%">
            <a:extLst>
              <a:ext uri="{FF2B5EF4-FFF2-40B4-BE49-F238E27FC236}">
                <a16:creationId xmlns:a16="http://schemas.microsoft.com/office/drawing/2014/main" id="{BD68F51F-EB0E-421C-88A3-63A808DE6D1B}"/>
              </a:ext>
            </a:extLst>
          </p:cNvPr>
          <p:cNvSpPr>
            <a:spLocks noGrp="1"/>
          </p:cNvSpPr>
          <p:nvPr/>
        </p:nvSpPr>
        <p:spPr>
          <a:xfrm>
            <a:off x="5288638" y="4905375"/>
            <a:ext cx="19393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79" name="Rectangle 578">
            <a:extLst>
              <a:ext uri="{FF2B5EF4-FFF2-40B4-BE49-F238E27FC236}">
                <a16:creationId xmlns:a16="http://schemas.microsoft.com/office/drawing/2014/main" id="{2E61A240-900B-4D66-82F9-8144461A15E6}"/>
              </a:ext>
            </a:extLst>
          </p:cNvPr>
          <p:cNvSpPr>
            <a:spLocks noGrp="1"/>
          </p:cNvSpPr>
          <p:nvPr/>
        </p:nvSpPr>
        <p:spPr>
          <a:xfrm>
            <a:off x="7247016" y="4800600"/>
            <a:ext cx="1789946" cy="447675"/>
          </a:xfrm>
          <a:prstGeom prst="rect">
            <a:avLst/>
          </a:prstGeom>
          <a:solidFill>
            <a:srgbClr val="4C91D8"/>
          </a:solidFill>
          <a:ln w="0">
            <a:noFill/>
          </a:ln>
        </p:spPr>
        <p:txBody>
          <a:bodyPr/>
          <a:lstStyle/>
          <a:p>
            <a:endParaRPr lang="en-US"/>
          </a:p>
        </p:txBody>
      </p:sp>
      <p:sp>
        <p:nvSpPr>
          <p:cNvPr id="580" name="24%">
            <a:extLst>
              <a:ext uri="{FF2B5EF4-FFF2-40B4-BE49-F238E27FC236}">
                <a16:creationId xmlns:a16="http://schemas.microsoft.com/office/drawing/2014/main" id="{257F30A3-9026-457F-B34F-A44A58538EE1}"/>
              </a:ext>
            </a:extLst>
          </p:cNvPr>
          <p:cNvSpPr>
            <a:spLocks noGrp="1"/>
          </p:cNvSpPr>
          <p:nvPr/>
        </p:nvSpPr>
        <p:spPr>
          <a:xfrm>
            <a:off x="7285116" y="4905375"/>
            <a:ext cx="17327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81" name="Rectangle 580">
            <a:extLst>
              <a:ext uri="{FF2B5EF4-FFF2-40B4-BE49-F238E27FC236}">
                <a16:creationId xmlns:a16="http://schemas.microsoft.com/office/drawing/2014/main" id="{3464327D-BFF4-459E-9F85-E3BEBFED8499}"/>
              </a:ext>
            </a:extLst>
          </p:cNvPr>
          <p:cNvSpPr>
            <a:spLocks noGrp="1"/>
          </p:cNvSpPr>
          <p:nvPr/>
        </p:nvSpPr>
        <p:spPr>
          <a:xfrm>
            <a:off x="9036962" y="4800600"/>
            <a:ext cx="1583413"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9638882E-77B8-4B01-A7F6-248B2743B7B8}"/>
              </a:ext>
            </a:extLst>
          </p:cNvPr>
          <p:cNvSpPr>
            <a:spLocks noGrp="1"/>
          </p:cNvSpPr>
          <p:nvPr/>
        </p:nvSpPr>
        <p:spPr>
          <a:xfrm>
            <a:off x="9075062" y="4905375"/>
            <a:ext cx="1526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83" name="n=236">
            <a:extLst>
              <a:ext uri="{FF2B5EF4-FFF2-40B4-BE49-F238E27FC236}">
                <a16:creationId xmlns:a16="http://schemas.microsoft.com/office/drawing/2014/main" id="{5216C554-FC22-4464-97B7-D7C0F4911E28}"/>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n=199</a:t>
            </a:r>
          </a:p>
        </p:txBody>
      </p:sp>
      <p:sp>
        <p:nvSpPr>
          <p:cNvPr id="584" name="Rectangle 583">
            <a:extLst>
              <a:ext uri="{FF2B5EF4-FFF2-40B4-BE49-F238E27FC236}">
                <a16:creationId xmlns:a16="http://schemas.microsoft.com/office/drawing/2014/main" id="{7D213B97-6A03-4099-957A-DA7603390A7D}"/>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22DFB10E-BD2E-4C7E-A12D-1DFE3D8FED7A}"/>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66043DDC-E47F-41DA-9CDC-3CE21C3C69B6}"/>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FAD25904-9E7B-41ED-BD14-63BDD86F7F32}"/>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5C5AC57A-D5D1-4F0B-9AE5-7E5F1608FC07}"/>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EDB5EC64-3288-4DD9-9B00-E514B18F3B60}"/>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D7EF505B-BD78-4B21-BE2E-09D181F05DFA}"/>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8E1ED000-D5DC-48C5-AEC5-CC9CC9C31336}"/>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sp>
        <p:nvSpPr>
          <p:cNvPr id="592" name="Each bar = 100% of students choosing that answer. Descr">
            <a:extLst>
              <a:ext uri="{FF2B5EF4-FFF2-40B4-BE49-F238E27FC236}">
                <a16:creationId xmlns:a16="http://schemas.microsoft.com/office/drawing/2014/main" id="{E6B51464-5FA8-4872-994F-E68F20070F13}"/>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Each bar = 100% of students choosing that answer. Descriptive association, N = 920.</a:t>
            </a:r>
          </a:p>
        </p:txBody>
      </p:sp>
      <p:cxnSp>
        <p:nvCxnSpPr>
          <p:cNvPr id="2" name="Straight Arrow Connector 1">
            <a:extLst>
              <a:ext uri="{FF2B5EF4-FFF2-40B4-BE49-F238E27FC236}">
                <a16:creationId xmlns:a16="http://schemas.microsoft.com/office/drawing/2014/main" id="{ED70984D-D058-B8B3-9313-33D0A89130B5}"/>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CA6FA82A-02F2-E0C2-3D84-BA55C1E3B595}"/>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3844927-1DFB-A686-E115-BCF186E04BEC}"/>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A84DB131-FA70-8AE8-D9C2-9A8835A96EB3}"/>
              </a:ext>
            </a:extLst>
          </p:cNvPr>
          <p:cNvSpPr txBox="1"/>
          <p:nvPr/>
        </p:nvSpPr>
        <p:spPr>
          <a:xfrm rot="16200000">
            <a:off x="-460441" y="2715997"/>
            <a:ext cx="1351652" cy="369332"/>
          </a:xfrm>
          <a:prstGeom prst="rect">
            <a:avLst/>
          </a:prstGeom>
          <a:noFill/>
        </p:spPr>
        <p:txBody>
          <a:bodyPr wrap="none" rtlCol="0">
            <a:spAutoFit/>
          </a:bodyPr>
          <a:lstStyle/>
          <a:p>
            <a:r>
              <a:rPr lang="en-US" dirty="0"/>
              <a:t>Phone Distraction</a:t>
            </a:r>
          </a:p>
        </p:txBody>
      </p:sp>
    </p:spTree>
    <p:extLst>
      <p:ext uri="{BB962C8B-B14F-4D97-AF65-F5344CB8AC3E}">
        <p14:creationId xmlns:p14="http://schemas.microsoft.com/office/powerpoint/2010/main" val="18389581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23</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Outside commitments and CGPA</a:t>
            </a:r>
          </a:p>
        </p:txBody>
      </p:sp>
      <p:sp>
        <p:nvSpPr>
          <p:cNvPr id="534" name="None">
            <a:extLst>
              <a:ext uri="{FF2B5EF4-FFF2-40B4-BE49-F238E27FC236}">
                <a16:creationId xmlns:a16="http://schemas.microsoft.com/office/drawing/2014/main" id="{06F73B64-2A9A-44AE-B5B8-2E1DD35B3684}"/>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None</a:t>
            </a:r>
          </a:p>
        </p:txBody>
      </p:sp>
      <p:sp>
        <p:nvSpPr>
          <p:cNvPr id="535" name="Rectangle 534">
            <a:extLst>
              <a:ext uri="{FF2B5EF4-FFF2-40B4-BE49-F238E27FC236}">
                <a16:creationId xmlns:a16="http://schemas.microsoft.com/office/drawing/2014/main" id="{0533FF35-5E33-4C6D-A482-94241812BC77}"/>
              </a:ext>
            </a:extLst>
          </p:cNvPr>
          <p:cNvSpPr>
            <a:spLocks noGrp="1"/>
          </p:cNvSpPr>
          <p:nvPr/>
        </p:nvSpPr>
        <p:spPr>
          <a:xfrm>
            <a:off x="3667125" y="1905000"/>
            <a:ext cx="1376881" cy="447675"/>
          </a:xfrm>
          <a:prstGeom prst="rect">
            <a:avLst/>
          </a:prstGeom>
          <a:solidFill>
            <a:srgbClr val="A83A3A"/>
          </a:solidFill>
          <a:ln w="0">
            <a:noFill/>
          </a:ln>
        </p:spPr>
        <p:txBody>
          <a:bodyPr/>
          <a:lstStyle/>
          <a:p>
            <a:endParaRPr lang="en-US"/>
          </a:p>
        </p:txBody>
      </p:sp>
      <p:sp>
        <p:nvSpPr>
          <p:cNvPr id="536" name="20%">
            <a:extLst>
              <a:ext uri="{FF2B5EF4-FFF2-40B4-BE49-F238E27FC236}">
                <a16:creationId xmlns:a16="http://schemas.microsoft.com/office/drawing/2014/main" id="{A2E048ED-831E-4188-B98F-70C01D360B46}"/>
              </a:ext>
            </a:extLst>
          </p:cNvPr>
          <p:cNvSpPr>
            <a:spLocks noGrp="1"/>
          </p:cNvSpPr>
          <p:nvPr/>
        </p:nvSpPr>
        <p:spPr>
          <a:xfrm>
            <a:off x="3705225" y="2009775"/>
            <a:ext cx="131973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37" name="Rectangle 536">
            <a:extLst>
              <a:ext uri="{FF2B5EF4-FFF2-40B4-BE49-F238E27FC236}">
                <a16:creationId xmlns:a16="http://schemas.microsoft.com/office/drawing/2014/main" id="{58BA7B73-60B0-4DC9-BEAF-3A87948C91BF}"/>
              </a:ext>
            </a:extLst>
          </p:cNvPr>
          <p:cNvSpPr>
            <a:spLocks noGrp="1"/>
          </p:cNvSpPr>
          <p:nvPr/>
        </p:nvSpPr>
        <p:spPr>
          <a:xfrm>
            <a:off x="5044006" y="1905000"/>
            <a:ext cx="1789946" cy="447675"/>
          </a:xfrm>
          <a:prstGeom prst="rect">
            <a:avLst/>
          </a:prstGeom>
          <a:solidFill>
            <a:srgbClr val="DC713D"/>
          </a:solidFill>
          <a:ln w="0">
            <a:noFill/>
          </a:ln>
        </p:spPr>
        <p:txBody>
          <a:bodyPr/>
          <a:lstStyle/>
          <a:p>
            <a:endParaRPr lang="en-US"/>
          </a:p>
        </p:txBody>
      </p:sp>
      <p:sp>
        <p:nvSpPr>
          <p:cNvPr id="538" name="24%">
            <a:extLst>
              <a:ext uri="{FF2B5EF4-FFF2-40B4-BE49-F238E27FC236}">
                <a16:creationId xmlns:a16="http://schemas.microsoft.com/office/drawing/2014/main" id="{9684E1E3-D626-4FE0-A099-A90B4D8633CF}"/>
              </a:ext>
            </a:extLst>
          </p:cNvPr>
          <p:cNvSpPr>
            <a:spLocks noGrp="1"/>
          </p:cNvSpPr>
          <p:nvPr/>
        </p:nvSpPr>
        <p:spPr>
          <a:xfrm>
            <a:off x="5082106" y="2009775"/>
            <a:ext cx="173279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39" name="Rectangle 538">
            <a:extLst>
              <a:ext uri="{FF2B5EF4-FFF2-40B4-BE49-F238E27FC236}">
                <a16:creationId xmlns:a16="http://schemas.microsoft.com/office/drawing/2014/main" id="{B42106E5-2E2B-4C48-9B73-28D953B8DCE6}"/>
              </a:ext>
            </a:extLst>
          </p:cNvPr>
          <p:cNvSpPr>
            <a:spLocks noGrp="1"/>
          </p:cNvSpPr>
          <p:nvPr/>
        </p:nvSpPr>
        <p:spPr>
          <a:xfrm>
            <a:off x="6833952" y="1905000"/>
            <a:ext cx="1996478" cy="447675"/>
          </a:xfrm>
          <a:prstGeom prst="rect">
            <a:avLst/>
          </a:prstGeom>
          <a:solidFill>
            <a:srgbClr val="4C91D8"/>
          </a:solidFill>
          <a:ln w="0">
            <a:noFill/>
          </a:ln>
        </p:spPr>
        <p:txBody>
          <a:bodyPr/>
          <a:lstStyle/>
          <a:p>
            <a:endParaRPr lang="en-US"/>
          </a:p>
        </p:txBody>
      </p:sp>
      <p:sp>
        <p:nvSpPr>
          <p:cNvPr id="540" name="28%">
            <a:extLst>
              <a:ext uri="{FF2B5EF4-FFF2-40B4-BE49-F238E27FC236}">
                <a16:creationId xmlns:a16="http://schemas.microsoft.com/office/drawing/2014/main" id="{ACBAC976-DFB0-4F79-A3A5-AFD1D44D7812}"/>
              </a:ext>
            </a:extLst>
          </p:cNvPr>
          <p:cNvSpPr>
            <a:spLocks noGrp="1"/>
          </p:cNvSpPr>
          <p:nvPr/>
        </p:nvSpPr>
        <p:spPr>
          <a:xfrm>
            <a:off x="6872052" y="2009775"/>
            <a:ext cx="19393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41" name="Rectangle 540">
            <a:extLst>
              <a:ext uri="{FF2B5EF4-FFF2-40B4-BE49-F238E27FC236}">
                <a16:creationId xmlns:a16="http://schemas.microsoft.com/office/drawing/2014/main" id="{6199AB25-9023-40C8-AED9-8891FA07C6CF}"/>
              </a:ext>
            </a:extLst>
          </p:cNvPr>
          <p:cNvSpPr>
            <a:spLocks noGrp="1"/>
          </p:cNvSpPr>
          <p:nvPr/>
        </p:nvSpPr>
        <p:spPr>
          <a:xfrm>
            <a:off x="8830430" y="1905000"/>
            <a:ext cx="1789945" cy="447675"/>
          </a:xfrm>
          <a:prstGeom prst="rect">
            <a:avLst/>
          </a:prstGeom>
          <a:solidFill>
            <a:srgbClr val="285B9F"/>
          </a:solidFill>
          <a:ln w="0">
            <a:noFill/>
          </a:ln>
        </p:spPr>
        <p:txBody>
          <a:bodyPr/>
          <a:lstStyle/>
          <a:p>
            <a:endParaRPr lang="en-US"/>
          </a:p>
        </p:txBody>
      </p:sp>
      <p:sp>
        <p:nvSpPr>
          <p:cNvPr id="542" name="28%">
            <a:extLst>
              <a:ext uri="{FF2B5EF4-FFF2-40B4-BE49-F238E27FC236}">
                <a16:creationId xmlns:a16="http://schemas.microsoft.com/office/drawing/2014/main" id="{3934E198-843A-4DF2-9234-346483A6D42E}"/>
              </a:ext>
            </a:extLst>
          </p:cNvPr>
          <p:cNvSpPr>
            <a:spLocks noGrp="1"/>
          </p:cNvSpPr>
          <p:nvPr/>
        </p:nvSpPr>
        <p:spPr>
          <a:xfrm>
            <a:off x="8868530" y="2009775"/>
            <a:ext cx="17327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3" name="n=274">
            <a:extLst>
              <a:ext uri="{FF2B5EF4-FFF2-40B4-BE49-F238E27FC236}">
                <a16:creationId xmlns:a16="http://schemas.microsoft.com/office/drawing/2014/main" id="{0EB77608-C8CC-43D9-87DB-96DEDF4A8740}"/>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n=234</a:t>
            </a:r>
          </a:p>
        </p:txBody>
      </p:sp>
      <p:sp>
        <p:nvSpPr>
          <p:cNvPr id="544" name="1-5 hrs">
            <a:extLst>
              <a:ext uri="{FF2B5EF4-FFF2-40B4-BE49-F238E27FC236}">
                <a16:creationId xmlns:a16="http://schemas.microsoft.com/office/drawing/2014/main" id="{2BF9A136-326C-4564-9D4A-08F26E956CB8}"/>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1-5 hrs</a:t>
            </a:r>
          </a:p>
        </p:txBody>
      </p:sp>
      <p:sp>
        <p:nvSpPr>
          <p:cNvPr id="545" name="Rectangle 544">
            <a:extLst>
              <a:ext uri="{FF2B5EF4-FFF2-40B4-BE49-F238E27FC236}">
                <a16:creationId xmlns:a16="http://schemas.microsoft.com/office/drawing/2014/main" id="{3103342D-DADA-4D50-BB8F-3F2906179F74}"/>
              </a:ext>
            </a:extLst>
          </p:cNvPr>
          <p:cNvSpPr>
            <a:spLocks noGrp="1"/>
          </p:cNvSpPr>
          <p:nvPr/>
        </p:nvSpPr>
        <p:spPr>
          <a:xfrm>
            <a:off x="3667125" y="2628900"/>
            <a:ext cx="1376881" cy="447675"/>
          </a:xfrm>
          <a:prstGeom prst="rect">
            <a:avLst/>
          </a:prstGeom>
          <a:solidFill>
            <a:srgbClr val="A83A3A"/>
          </a:solidFill>
          <a:ln w="0">
            <a:noFill/>
          </a:ln>
        </p:spPr>
        <p:txBody>
          <a:bodyPr/>
          <a:lstStyle/>
          <a:p>
            <a:endParaRPr lang="en-US"/>
          </a:p>
        </p:txBody>
      </p:sp>
      <p:sp>
        <p:nvSpPr>
          <p:cNvPr id="546" name="20%">
            <a:extLst>
              <a:ext uri="{FF2B5EF4-FFF2-40B4-BE49-F238E27FC236}">
                <a16:creationId xmlns:a16="http://schemas.microsoft.com/office/drawing/2014/main" id="{D1221AC4-0867-4F35-B210-5CD437F7CFC2}"/>
              </a:ext>
            </a:extLst>
          </p:cNvPr>
          <p:cNvSpPr>
            <a:spLocks noGrp="1"/>
          </p:cNvSpPr>
          <p:nvPr/>
        </p:nvSpPr>
        <p:spPr>
          <a:xfrm>
            <a:off x="3705225" y="2733675"/>
            <a:ext cx="131973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47" name="Rectangle 546">
            <a:extLst>
              <a:ext uri="{FF2B5EF4-FFF2-40B4-BE49-F238E27FC236}">
                <a16:creationId xmlns:a16="http://schemas.microsoft.com/office/drawing/2014/main" id="{455AD0F1-C86A-4216-A7E5-0E94AEF22D25}"/>
              </a:ext>
            </a:extLst>
          </p:cNvPr>
          <p:cNvSpPr>
            <a:spLocks noGrp="1"/>
          </p:cNvSpPr>
          <p:nvPr/>
        </p:nvSpPr>
        <p:spPr>
          <a:xfrm>
            <a:off x="5044006" y="2628900"/>
            <a:ext cx="1996478" cy="447675"/>
          </a:xfrm>
          <a:prstGeom prst="rect">
            <a:avLst/>
          </a:prstGeom>
          <a:solidFill>
            <a:srgbClr val="DC713D"/>
          </a:solidFill>
          <a:ln w="0">
            <a:noFill/>
          </a:ln>
        </p:spPr>
        <p:txBody>
          <a:bodyPr/>
          <a:lstStyle/>
          <a:p>
            <a:endParaRPr lang="en-US"/>
          </a:p>
        </p:txBody>
      </p:sp>
      <p:sp>
        <p:nvSpPr>
          <p:cNvPr id="548" name="27%">
            <a:extLst>
              <a:ext uri="{FF2B5EF4-FFF2-40B4-BE49-F238E27FC236}">
                <a16:creationId xmlns:a16="http://schemas.microsoft.com/office/drawing/2014/main" id="{E3CB562C-C30B-4F35-9555-EEDD06AA3DF4}"/>
              </a:ext>
            </a:extLst>
          </p:cNvPr>
          <p:cNvSpPr>
            <a:spLocks noGrp="1"/>
          </p:cNvSpPr>
          <p:nvPr/>
        </p:nvSpPr>
        <p:spPr>
          <a:xfrm>
            <a:off x="5082106" y="2733675"/>
            <a:ext cx="19393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49" name="Rectangle 548">
            <a:extLst>
              <a:ext uri="{FF2B5EF4-FFF2-40B4-BE49-F238E27FC236}">
                <a16:creationId xmlns:a16="http://schemas.microsoft.com/office/drawing/2014/main" id="{FA6374F7-B994-4E84-900E-740EB0BCA3CA}"/>
              </a:ext>
            </a:extLst>
          </p:cNvPr>
          <p:cNvSpPr>
            <a:spLocks noGrp="1"/>
          </p:cNvSpPr>
          <p:nvPr/>
        </p:nvSpPr>
        <p:spPr>
          <a:xfrm>
            <a:off x="7040484" y="2628900"/>
            <a:ext cx="1927634" cy="447675"/>
          </a:xfrm>
          <a:prstGeom prst="rect">
            <a:avLst/>
          </a:prstGeom>
          <a:solidFill>
            <a:srgbClr val="4C91D8"/>
          </a:solidFill>
          <a:ln w="0">
            <a:noFill/>
          </a:ln>
        </p:spPr>
        <p:txBody>
          <a:bodyPr/>
          <a:lstStyle/>
          <a:p>
            <a:endParaRPr lang="en-US"/>
          </a:p>
        </p:txBody>
      </p:sp>
      <p:sp>
        <p:nvSpPr>
          <p:cNvPr id="550" name="27%">
            <a:extLst>
              <a:ext uri="{FF2B5EF4-FFF2-40B4-BE49-F238E27FC236}">
                <a16:creationId xmlns:a16="http://schemas.microsoft.com/office/drawing/2014/main" id="{1EE2E7AD-93D1-489D-A761-7E7096AEB4D1}"/>
              </a:ext>
            </a:extLst>
          </p:cNvPr>
          <p:cNvSpPr>
            <a:spLocks noGrp="1"/>
          </p:cNvSpPr>
          <p:nvPr/>
        </p:nvSpPr>
        <p:spPr>
          <a:xfrm>
            <a:off x="7078584" y="2733675"/>
            <a:ext cx="18704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51" name="Rectangle 550">
            <a:extLst>
              <a:ext uri="{FF2B5EF4-FFF2-40B4-BE49-F238E27FC236}">
                <a16:creationId xmlns:a16="http://schemas.microsoft.com/office/drawing/2014/main" id="{7CD6CAAF-D6FB-4015-914D-EE3764E64A4A}"/>
              </a:ext>
            </a:extLst>
          </p:cNvPr>
          <p:cNvSpPr>
            <a:spLocks noGrp="1"/>
          </p:cNvSpPr>
          <p:nvPr/>
        </p:nvSpPr>
        <p:spPr>
          <a:xfrm>
            <a:off x="8968118" y="2628900"/>
            <a:ext cx="1652257" cy="447675"/>
          </a:xfrm>
          <a:prstGeom prst="rect">
            <a:avLst/>
          </a:prstGeom>
          <a:solidFill>
            <a:srgbClr val="285B9F"/>
          </a:solidFill>
          <a:ln w="0">
            <a:noFill/>
          </a:ln>
        </p:spPr>
        <p:txBody>
          <a:bodyPr/>
          <a:lstStyle/>
          <a:p>
            <a:endParaRPr lang="en-US"/>
          </a:p>
        </p:txBody>
      </p:sp>
      <p:sp>
        <p:nvSpPr>
          <p:cNvPr id="552" name="25%">
            <a:extLst>
              <a:ext uri="{FF2B5EF4-FFF2-40B4-BE49-F238E27FC236}">
                <a16:creationId xmlns:a16="http://schemas.microsoft.com/office/drawing/2014/main" id="{4D15D9B5-8EBE-40A8-AB3A-BD5FA08EE01A}"/>
              </a:ext>
            </a:extLst>
          </p:cNvPr>
          <p:cNvSpPr>
            <a:spLocks noGrp="1"/>
          </p:cNvSpPr>
          <p:nvPr/>
        </p:nvSpPr>
        <p:spPr>
          <a:xfrm>
            <a:off x="9006218" y="2733675"/>
            <a:ext cx="159510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3" name="n=263">
            <a:extLst>
              <a:ext uri="{FF2B5EF4-FFF2-40B4-BE49-F238E27FC236}">
                <a16:creationId xmlns:a16="http://schemas.microsoft.com/office/drawing/2014/main" id="{F27A5FD8-E001-4E0A-93C5-C709308FB011}"/>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n=231</a:t>
            </a:r>
          </a:p>
        </p:txBody>
      </p:sp>
      <p:sp>
        <p:nvSpPr>
          <p:cNvPr id="554" name="6-10 hrs">
            <a:extLst>
              <a:ext uri="{FF2B5EF4-FFF2-40B4-BE49-F238E27FC236}">
                <a16:creationId xmlns:a16="http://schemas.microsoft.com/office/drawing/2014/main" id="{AE587873-1B78-46C6-9ED9-941EFBA5DB63}"/>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6-10 hrs</a:t>
            </a:r>
          </a:p>
        </p:txBody>
      </p:sp>
      <p:sp>
        <p:nvSpPr>
          <p:cNvPr id="555" name="Rectangle 554">
            <a:extLst>
              <a:ext uri="{FF2B5EF4-FFF2-40B4-BE49-F238E27FC236}">
                <a16:creationId xmlns:a16="http://schemas.microsoft.com/office/drawing/2014/main" id="{66055E24-EB83-435F-8430-12F038719890}"/>
              </a:ext>
            </a:extLst>
          </p:cNvPr>
          <p:cNvSpPr>
            <a:spLocks noGrp="1"/>
          </p:cNvSpPr>
          <p:nvPr/>
        </p:nvSpPr>
        <p:spPr>
          <a:xfrm>
            <a:off x="3667125" y="3352800"/>
            <a:ext cx="1123758" cy="447675"/>
          </a:xfrm>
          <a:prstGeom prst="rect">
            <a:avLst/>
          </a:prstGeom>
          <a:solidFill>
            <a:srgbClr val="A83A3A"/>
          </a:solidFill>
          <a:ln w="0">
            <a:noFill/>
          </a:ln>
        </p:spPr>
        <p:txBody>
          <a:bodyPr/>
          <a:lstStyle/>
          <a:p>
            <a:endParaRPr lang="en-US"/>
          </a:p>
        </p:txBody>
      </p:sp>
      <p:sp>
        <p:nvSpPr>
          <p:cNvPr id="556" name="20%">
            <a:extLst>
              <a:ext uri="{FF2B5EF4-FFF2-40B4-BE49-F238E27FC236}">
                <a16:creationId xmlns:a16="http://schemas.microsoft.com/office/drawing/2014/main" id="{BF5479A6-9D96-40A1-9EF1-CDEA2C6EA4A6}"/>
              </a:ext>
            </a:extLst>
          </p:cNvPr>
          <p:cNvSpPr>
            <a:spLocks noGrp="1"/>
          </p:cNvSpPr>
          <p:nvPr/>
        </p:nvSpPr>
        <p:spPr>
          <a:xfrm>
            <a:off x="3705225" y="3457575"/>
            <a:ext cx="106660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7" name="Rectangle 556">
            <a:extLst>
              <a:ext uri="{FF2B5EF4-FFF2-40B4-BE49-F238E27FC236}">
                <a16:creationId xmlns:a16="http://schemas.microsoft.com/office/drawing/2014/main" id="{EB3C9F75-1C4A-4CCA-86A8-D0ED3AF565FB}"/>
              </a:ext>
            </a:extLst>
          </p:cNvPr>
          <p:cNvSpPr>
            <a:spLocks noGrp="1"/>
          </p:cNvSpPr>
          <p:nvPr/>
        </p:nvSpPr>
        <p:spPr>
          <a:xfrm>
            <a:off x="4790883" y="3352800"/>
            <a:ext cx="2598689" cy="447675"/>
          </a:xfrm>
          <a:prstGeom prst="rect">
            <a:avLst/>
          </a:prstGeom>
          <a:solidFill>
            <a:srgbClr val="DC713D"/>
          </a:solidFill>
          <a:ln w="0">
            <a:noFill/>
          </a:ln>
        </p:spPr>
        <p:txBody>
          <a:bodyPr/>
          <a:lstStyle/>
          <a:p>
            <a:endParaRPr lang="en-US"/>
          </a:p>
        </p:txBody>
      </p:sp>
      <p:sp>
        <p:nvSpPr>
          <p:cNvPr id="558" name="34%">
            <a:extLst>
              <a:ext uri="{FF2B5EF4-FFF2-40B4-BE49-F238E27FC236}">
                <a16:creationId xmlns:a16="http://schemas.microsoft.com/office/drawing/2014/main" id="{7D463A22-BDCA-456B-9C48-6B6EB7000D39}"/>
              </a:ext>
            </a:extLst>
          </p:cNvPr>
          <p:cNvSpPr>
            <a:spLocks noGrp="1"/>
          </p:cNvSpPr>
          <p:nvPr/>
        </p:nvSpPr>
        <p:spPr>
          <a:xfrm>
            <a:off x="4828983" y="3457575"/>
            <a:ext cx="254153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37%</a:t>
            </a:r>
          </a:p>
        </p:txBody>
      </p:sp>
      <p:sp>
        <p:nvSpPr>
          <p:cNvPr id="559" name="Rectangle 558">
            <a:extLst>
              <a:ext uri="{FF2B5EF4-FFF2-40B4-BE49-F238E27FC236}">
                <a16:creationId xmlns:a16="http://schemas.microsoft.com/office/drawing/2014/main" id="{5DC6573E-B281-405F-91D7-58A9C7343C38}"/>
              </a:ext>
            </a:extLst>
          </p:cNvPr>
          <p:cNvSpPr>
            <a:spLocks noGrp="1"/>
          </p:cNvSpPr>
          <p:nvPr/>
        </p:nvSpPr>
        <p:spPr>
          <a:xfrm>
            <a:off x="7389572" y="3352800"/>
            <a:ext cx="2107045"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12171C3A-FFD1-4EB3-ACE7-310BF7AC76FD}"/>
              </a:ext>
            </a:extLst>
          </p:cNvPr>
          <p:cNvSpPr>
            <a:spLocks noGrp="1"/>
          </p:cNvSpPr>
          <p:nvPr/>
        </p:nvSpPr>
        <p:spPr>
          <a:xfrm>
            <a:off x="7427672" y="3457575"/>
            <a:ext cx="20498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61" name="Rectangle 560">
            <a:extLst>
              <a:ext uri="{FF2B5EF4-FFF2-40B4-BE49-F238E27FC236}">
                <a16:creationId xmlns:a16="http://schemas.microsoft.com/office/drawing/2014/main" id="{AABD8618-8E51-474B-ACD6-831CA7A4D733}"/>
              </a:ext>
            </a:extLst>
          </p:cNvPr>
          <p:cNvSpPr>
            <a:spLocks noGrp="1"/>
          </p:cNvSpPr>
          <p:nvPr/>
        </p:nvSpPr>
        <p:spPr>
          <a:xfrm>
            <a:off x="9496617" y="3352800"/>
            <a:ext cx="1123758" cy="447675"/>
          </a:xfrm>
          <a:prstGeom prst="rect">
            <a:avLst/>
          </a:prstGeom>
          <a:solidFill>
            <a:srgbClr val="285B9F"/>
          </a:solidFill>
          <a:ln w="0">
            <a:noFill/>
          </a:ln>
        </p:spPr>
        <p:txBody>
          <a:bodyPr/>
          <a:lstStyle/>
          <a:p>
            <a:endParaRPr lang="en-US"/>
          </a:p>
        </p:txBody>
      </p:sp>
      <p:sp>
        <p:nvSpPr>
          <p:cNvPr id="562" name="18%">
            <a:extLst>
              <a:ext uri="{FF2B5EF4-FFF2-40B4-BE49-F238E27FC236}">
                <a16:creationId xmlns:a16="http://schemas.microsoft.com/office/drawing/2014/main" id="{4AEE8657-0D1D-4377-AE1E-50BA3BA09558}"/>
              </a:ext>
            </a:extLst>
          </p:cNvPr>
          <p:cNvSpPr>
            <a:spLocks noGrp="1"/>
          </p:cNvSpPr>
          <p:nvPr/>
        </p:nvSpPr>
        <p:spPr>
          <a:xfrm>
            <a:off x="9534717" y="3457575"/>
            <a:ext cx="106660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63" name="n=232">
            <a:extLst>
              <a:ext uri="{FF2B5EF4-FFF2-40B4-BE49-F238E27FC236}">
                <a16:creationId xmlns:a16="http://schemas.microsoft.com/office/drawing/2014/main" id="{A8D2ADFC-18B9-487E-9868-7E153FF53B88}"/>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n=195</a:t>
            </a:r>
          </a:p>
        </p:txBody>
      </p:sp>
      <p:sp>
        <p:nvSpPr>
          <p:cNvPr id="564" name="11-15 hrs">
            <a:extLst>
              <a:ext uri="{FF2B5EF4-FFF2-40B4-BE49-F238E27FC236}">
                <a16:creationId xmlns:a16="http://schemas.microsoft.com/office/drawing/2014/main" id="{540113E8-EDF3-4CE5-8922-D16422B00E8D}"/>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11-15 hrs</a:t>
            </a:r>
          </a:p>
        </p:txBody>
      </p:sp>
      <p:sp>
        <p:nvSpPr>
          <p:cNvPr id="565" name="Rectangle 564">
            <a:extLst>
              <a:ext uri="{FF2B5EF4-FFF2-40B4-BE49-F238E27FC236}">
                <a16:creationId xmlns:a16="http://schemas.microsoft.com/office/drawing/2014/main" id="{49EF01FD-11E1-4FED-A5BF-73FF8AFFACDF}"/>
              </a:ext>
            </a:extLst>
          </p:cNvPr>
          <p:cNvSpPr>
            <a:spLocks noGrp="1"/>
          </p:cNvSpPr>
          <p:nvPr/>
        </p:nvSpPr>
        <p:spPr>
          <a:xfrm>
            <a:off x="3667125" y="4076700"/>
            <a:ext cx="1545167" cy="447675"/>
          </a:xfrm>
          <a:prstGeom prst="rect">
            <a:avLst/>
          </a:prstGeom>
          <a:solidFill>
            <a:srgbClr val="A83A3A"/>
          </a:solidFill>
          <a:ln w="0">
            <a:noFill/>
          </a:ln>
        </p:spPr>
        <p:txBody>
          <a:bodyPr/>
          <a:lstStyle/>
          <a:p>
            <a:endParaRPr lang="en-US"/>
          </a:p>
        </p:txBody>
      </p:sp>
      <p:sp>
        <p:nvSpPr>
          <p:cNvPr id="566" name="25%">
            <a:extLst>
              <a:ext uri="{FF2B5EF4-FFF2-40B4-BE49-F238E27FC236}">
                <a16:creationId xmlns:a16="http://schemas.microsoft.com/office/drawing/2014/main" id="{DA0C6208-6F09-4E38-88FD-0F8C0882D535}"/>
              </a:ext>
            </a:extLst>
          </p:cNvPr>
          <p:cNvSpPr>
            <a:spLocks noGrp="1"/>
          </p:cNvSpPr>
          <p:nvPr/>
        </p:nvSpPr>
        <p:spPr>
          <a:xfrm>
            <a:off x="3705225" y="4181475"/>
            <a:ext cx="148801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67" name="Rectangle 566">
            <a:extLst>
              <a:ext uri="{FF2B5EF4-FFF2-40B4-BE49-F238E27FC236}">
                <a16:creationId xmlns:a16="http://schemas.microsoft.com/office/drawing/2014/main" id="{4E7794F8-08C8-4743-A081-2A383B9EAD94}"/>
              </a:ext>
            </a:extLst>
          </p:cNvPr>
          <p:cNvSpPr>
            <a:spLocks noGrp="1"/>
          </p:cNvSpPr>
          <p:nvPr/>
        </p:nvSpPr>
        <p:spPr>
          <a:xfrm>
            <a:off x="5212292" y="4076700"/>
            <a:ext cx="2177280"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1697362B-47CC-4300-A13A-4321B444AD3A}"/>
              </a:ext>
            </a:extLst>
          </p:cNvPr>
          <p:cNvSpPr>
            <a:spLocks noGrp="1"/>
          </p:cNvSpPr>
          <p:nvPr/>
        </p:nvSpPr>
        <p:spPr>
          <a:xfrm>
            <a:off x="5250392" y="4181475"/>
            <a:ext cx="21201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9" name="Rectangle 568">
            <a:extLst>
              <a:ext uri="{FF2B5EF4-FFF2-40B4-BE49-F238E27FC236}">
                <a16:creationId xmlns:a16="http://schemas.microsoft.com/office/drawing/2014/main" id="{41E41954-CBDA-4147-88EA-17457D099289}"/>
              </a:ext>
            </a:extLst>
          </p:cNvPr>
          <p:cNvSpPr>
            <a:spLocks noGrp="1"/>
          </p:cNvSpPr>
          <p:nvPr/>
        </p:nvSpPr>
        <p:spPr>
          <a:xfrm>
            <a:off x="7389572" y="4076700"/>
            <a:ext cx="2107045" cy="447675"/>
          </a:xfrm>
          <a:prstGeom prst="rect">
            <a:avLst/>
          </a:prstGeom>
          <a:solidFill>
            <a:srgbClr val="4C91D8"/>
          </a:solidFill>
          <a:ln w="0">
            <a:noFill/>
          </a:ln>
        </p:spPr>
        <p:txBody>
          <a:bodyPr/>
          <a:lstStyle/>
          <a:p>
            <a:endParaRPr lang="en-US"/>
          </a:p>
        </p:txBody>
      </p:sp>
      <p:sp>
        <p:nvSpPr>
          <p:cNvPr id="570" name="27%">
            <a:extLst>
              <a:ext uri="{FF2B5EF4-FFF2-40B4-BE49-F238E27FC236}">
                <a16:creationId xmlns:a16="http://schemas.microsoft.com/office/drawing/2014/main" id="{FADA3301-091C-40F6-96CB-0FFC697D2F19}"/>
              </a:ext>
            </a:extLst>
          </p:cNvPr>
          <p:cNvSpPr>
            <a:spLocks noGrp="1"/>
          </p:cNvSpPr>
          <p:nvPr/>
        </p:nvSpPr>
        <p:spPr>
          <a:xfrm>
            <a:off x="7427672" y="4181475"/>
            <a:ext cx="20498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71" name="Rectangle 570">
            <a:extLst>
              <a:ext uri="{FF2B5EF4-FFF2-40B4-BE49-F238E27FC236}">
                <a16:creationId xmlns:a16="http://schemas.microsoft.com/office/drawing/2014/main" id="{2F54900E-7D4D-4571-B5F2-422543A7ACBC}"/>
              </a:ext>
            </a:extLst>
          </p:cNvPr>
          <p:cNvSpPr>
            <a:spLocks noGrp="1"/>
          </p:cNvSpPr>
          <p:nvPr/>
        </p:nvSpPr>
        <p:spPr>
          <a:xfrm>
            <a:off x="9496617" y="4076700"/>
            <a:ext cx="1123758" cy="447675"/>
          </a:xfrm>
          <a:prstGeom prst="rect">
            <a:avLst/>
          </a:prstGeom>
          <a:solidFill>
            <a:srgbClr val="285B9F"/>
          </a:solidFill>
          <a:ln w="0">
            <a:noFill/>
          </a:ln>
        </p:spPr>
        <p:txBody>
          <a:bodyPr/>
          <a:lstStyle/>
          <a:p>
            <a:endParaRPr lang="en-US"/>
          </a:p>
        </p:txBody>
      </p:sp>
      <p:sp>
        <p:nvSpPr>
          <p:cNvPr id="572" name="19%">
            <a:extLst>
              <a:ext uri="{FF2B5EF4-FFF2-40B4-BE49-F238E27FC236}">
                <a16:creationId xmlns:a16="http://schemas.microsoft.com/office/drawing/2014/main" id="{A181E119-AE8D-4E44-AFF7-55A201D78152}"/>
              </a:ext>
            </a:extLst>
          </p:cNvPr>
          <p:cNvSpPr>
            <a:spLocks noGrp="1"/>
          </p:cNvSpPr>
          <p:nvPr/>
        </p:nvSpPr>
        <p:spPr>
          <a:xfrm>
            <a:off x="9534717" y="4181475"/>
            <a:ext cx="106660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73" name="n=191">
            <a:extLst>
              <a:ext uri="{FF2B5EF4-FFF2-40B4-BE49-F238E27FC236}">
                <a16:creationId xmlns:a16="http://schemas.microsoft.com/office/drawing/2014/main" id="{CBEEAF55-4EB3-4E5C-AE9E-0C0B9978595D}"/>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n=147</a:t>
            </a:r>
          </a:p>
        </p:txBody>
      </p:sp>
      <p:sp>
        <p:nvSpPr>
          <p:cNvPr id="574" name="More than 15 hrs">
            <a:extLst>
              <a:ext uri="{FF2B5EF4-FFF2-40B4-BE49-F238E27FC236}">
                <a16:creationId xmlns:a16="http://schemas.microsoft.com/office/drawing/2014/main" id="{9D6BE75D-6DBB-49BF-A353-17BFEC4FD8FD}"/>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More than 15 hrs</a:t>
            </a:r>
          </a:p>
        </p:txBody>
      </p:sp>
      <p:sp>
        <p:nvSpPr>
          <p:cNvPr id="575" name="Rectangle 574">
            <a:extLst>
              <a:ext uri="{FF2B5EF4-FFF2-40B4-BE49-F238E27FC236}">
                <a16:creationId xmlns:a16="http://schemas.microsoft.com/office/drawing/2014/main" id="{56F9BEF3-33E3-4842-9CE5-FD4F96E47E47}"/>
              </a:ext>
            </a:extLst>
          </p:cNvPr>
          <p:cNvSpPr>
            <a:spLocks noGrp="1"/>
          </p:cNvSpPr>
          <p:nvPr/>
        </p:nvSpPr>
        <p:spPr>
          <a:xfrm>
            <a:off x="3667125" y="4800600"/>
            <a:ext cx="1529715" cy="447675"/>
          </a:xfrm>
          <a:prstGeom prst="rect">
            <a:avLst/>
          </a:prstGeom>
          <a:solidFill>
            <a:srgbClr val="A83A3A"/>
          </a:solidFill>
          <a:ln w="0">
            <a:noFill/>
          </a:ln>
        </p:spPr>
        <p:txBody>
          <a:bodyPr/>
          <a:lstStyle/>
          <a:p>
            <a:endParaRPr lang="en-US"/>
          </a:p>
        </p:txBody>
      </p:sp>
      <p:sp>
        <p:nvSpPr>
          <p:cNvPr id="576" name="23%">
            <a:extLst>
              <a:ext uri="{FF2B5EF4-FFF2-40B4-BE49-F238E27FC236}">
                <a16:creationId xmlns:a16="http://schemas.microsoft.com/office/drawing/2014/main" id="{A7887C4E-4D36-4BE2-B490-E472FFCD2EFD}"/>
              </a:ext>
            </a:extLst>
          </p:cNvPr>
          <p:cNvSpPr>
            <a:spLocks noGrp="1"/>
          </p:cNvSpPr>
          <p:nvPr/>
        </p:nvSpPr>
        <p:spPr>
          <a:xfrm>
            <a:off x="3705225" y="49053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7" name="Rectangle 576">
            <a:extLst>
              <a:ext uri="{FF2B5EF4-FFF2-40B4-BE49-F238E27FC236}">
                <a16:creationId xmlns:a16="http://schemas.microsoft.com/office/drawing/2014/main" id="{80DDF048-BC34-4895-B364-7C6CCFDBB0DE}"/>
              </a:ext>
            </a:extLst>
          </p:cNvPr>
          <p:cNvSpPr>
            <a:spLocks noGrp="1"/>
          </p:cNvSpPr>
          <p:nvPr/>
        </p:nvSpPr>
        <p:spPr>
          <a:xfrm>
            <a:off x="5196840" y="4800600"/>
            <a:ext cx="2433638" cy="447675"/>
          </a:xfrm>
          <a:prstGeom prst="rect">
            <a:avLst/>
          </a:prstGeom>
          <a:solidFill>
            <a:srgbClr val="DC713D"/>
          </a:solidFill>
          <a:ln w="0">
            <a:noFill/>
          </a:ln>
        </p:spPr>
        <p:txBody>
          <a:bodyPr/>
          <a:lstStyle/>
          <a:p>
            <a:endParaRPr lang="en-US"/>
          </a:p>
        </p:txBody>
      </p:sp>
      <p:sp>
        <p:nvSpPr>
          <p:cNvPr id="578" name="32%">
            <a:extLst>
              <a:ext uri="{FF2B5EF4-FFF2-40B4-BE49-F238E27FC236}">
                <a16:creationId xmlns:a16="http://schemas.microsoft.com/office/drawing/2014/main" id="{79CA9FA5-1A72-48CD-898A-7CC6347295B9}"/>
              </a:ext>
            </a:extLst>
          </p:cNvPr>
          <p:cNvSpPr>
            <a:spLocks noGrp="1"/>
          </p:cNvSpPr>
          <p:nvPr/>
        </p:nvSpPr>
        <p:spPr>
          <a:xfrm>
            <a:off x="5234940" y="4905375"/>
            <a:ext cx="23764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79" name="Rectangle 578">
            <a:extLst>
              <a:ext uri="{FF2B5EF4-FFF2-40B4-BE49-F238E27FC236}">
                <a16:creationId xmlns:a16="http://schemas.microsoft.com/office/drawing/2014/main" id="{71BF492F-8C6E-4879-8F52-89D1D3A2E5D1}"/>
              </a:ext>
            </a:extLst>
          </p:cNvPr>
          <p:cNvSpPr>
            <a:spLocks noGrp="1"/>
          </p:cNvSpPr>
          <p:nvPr/>
        </p:nvSpPr>
        <p:spPr>
          <a:xfrm>
            <a:off x="7630478" y="4800600"/>
            <a:ext cx="1877378" cy="447675"/>
          </a:xfrm>
          <a:prstGeom prst="rect">
            <a:avLst/>
          </a:prstGeom>
          <a:solidFill>
            <a:srgbClr val="4C91D8"/>
          </a:solidFill>
          <a:ln w="0">
            <a:noFill/>
          </a:ln>
        </p:spPr>
        <p:txBody>
          <a:bodyPr/>
          <a:lstStyle/>
          <a:p>
            <a:endParaRPr lang="en-US"/>
          </a:p>
        </p:txBody>
      </p:sp>
      <p:sp>
        <p:nvSpPr>
          <p:cNvPr id="580" name="25%">
            <a:extLst>
              <a:ext uri="{FF2B5EF4-FFF2-40B4-BE49-F238E27FC236}">
                <a16:creationId xmlns:a16="http://schemas.microsoft.com/office/drawing/2014/main" id="{988098A0-5280-4C72-84B9-3CFAAAD3F012}"/>
              </a:ext>
            </a:extLst>
          </p:cNvPr>
          <p:cNvSpPr>
            <a:spLocks noGrp="1"/>
          </p:cNvSpPr>
          <p:nvPr/>
        </p:nvSpPr>
        <p:spPr>
          <a:xfrm>
            <a:off x="7668578" y="49053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81" name="Rectangle 580">
            <a:extLst>
              <a:ext uri="{FF2B5EF4-FFF2-40B4-BE49-F238E27FC236}">
                <a16:creationId xmlns:a16="http://schemas.microsoft.com/office/drawing/2014/main" id="{6C89BD47-8D30-46BB-AF8C-9E8F67546147}"/>
              </a:ext>
            </a:extLst>
          </p:cNvPr>
          <p:cNvSpPr>
            <a:spLocks noGrp="1"/>
          </p:cNvSpPr>
          <p:nvPr/>
        </p:nvSpPr>
        <p:spPr>
          <a:xfrm>
            <a:off x="9507856" y="4800600"/>
            <a:ext cx="1112519" cy="447675"/>
          </a:xfrm>
          <a:prstGeom prst="rect">
            <a:avLst/>
          </a:prstGeom>
          <a:solidFill>
            <a:srgbClr val="285B9F"/>
          </a:solidFill>
          <a:ln w="0">
            <a:noFill/>
          </a:ln>
        </p:spPr>
        <p:txBody>
          <a:bodyPr/>
          <a:lstStyle/>
          <a:p>
            <a:endParaRPr lang="en-US"/>
          </a:p>
        </p:txBody>
      </p:sp>
      <p:sp>
        <p:nvSpPr>
          <p:cNvPr id="582" name="20%">
            <a:extLst>
              <a:ext uri="{FF2B5EF4-FFF2-40B4-BE49-F238E27FC236}">
                <a16:creationId xmlns:a16="http://schemas.microsoft.com/office/drawing/2014/main" id="{53766011-626B-4CE2-9353-7FDF56C0EFD6}"/>
              </a:ext>
            </a:extLst>
          </p:cNvPr>
          <p:cNvSpPr>
            <a:spLocks noGrp="1"/>
          </p:cNvSpPr>
          <p:nvPr/>
        </p:nvSpPr>
        <p:spPr>
          <a:xfrm>
            <a:off x="9545956" y="4905375"/>
            <a:ext cx="105536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83" name="n=148">
            <a:extLst>
              <a:ext uri="{FF2B5EF4-FFF2-40B4-BE49-F238E27FC236}">
                <a16:creationId xmlns:a16="http://schemas.microsoft.com/office/drawing/2014/main" id="{AEE1BA63-0A9C-4AF6-90C5-1027DB121F48}"/>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n=113</a:t>
            </a:r>
          </a:p>
        </p:txBody>
      </p:sp>
      <p:sp>
        <p:nvSpPr>
          <p:cNvPr id="584" name="Rectangle 583">
            <a:extLst>
              <a:ext uri="{FF2B5EF4-FFF2-40B4-BE49-F238E27FC236}">
                <a16:creationId xmlns:a16="http://schemas.microsoft.com/office/drawing/2014/main" id="{922ED1F0-CF14-4998-9ADA-1E739A6D3C10}"/>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CF3A29F5-E008-4AB0-974E-795047E8504F}"/>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C9266015-FE9E-433C-9399-F0FA1AB1FC34}"/>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A180E62E-1B54-4A06-B55E-C5F40D0848C6}"/>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FF770ABB-CBBE-4CD7-B5A5-263E034DE0C7}"/>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4179D3BE-519E-4319-B324-AD630D49D849}"/>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C79B2415-C853-4C02-B729-8CC6B39437E8}"/>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3CD76AEB-2410-4AD6-BAFC-6877A2939B07}"/>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5F3B55B8-BCD2-EAF0-C419-872CD991936C}"/>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E4F9009D-57AB-34D0-60DC-8AD95FBB6DBD}"/>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40AE33F-FD45-5104-DF03-8C70B72F6A1E}"/>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7750D1E8-53CB-7753-59BD-F5B3E8B74B9D}"/>
              </a:ext>
            </a:extLst>
          </p:cNvPr>
          <p:cNvSpPr txBox="1"/>
          <p:nvPr/>
        </p:nvSpPr>
        <p:spPr>
          <a:xfrm rot="16200000">
            <a:off x="-992636" y="2715997"/>
            <a:ext cx="2416046" cy="369332"/>
          </a:xfrm>
          <a:prstGeom prst="rect">
            <a:avLst/>
          </a:prstGeom>
          <a:noFill/>
        </p:spPr>
        <p:txBody>
          <a:bodyPr wrap="none" rtlCol="0">
            <a:spAutoFit/>
          </a:bodyPr>
          <a:lstStyle/>
          <a:p>
            <a:r>
              <a:rPr lang="en-US" dirty="0"/>
              <a:t>Outside commitments</a:t>
            </a:r>
          </a:p>
        </p:txBody>
      </p:sp>
    </p:spTree>
    <p:extLst>
      <p:ext uri="{BB962C8B-B14F-4D97-AF65-F5344CB8AC3E}">
        <p14:creationId xmlns:p14="http://schemas.microsoft.com/office/powerpoint/2010/main" val="1061230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24</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Desired department and CGPA</a:t>
            </a:r>
          </a:p>
        </p:txBody>
      </p:sp>
      <p:sp>
        <p:nvSpPr>
          <p:cNvPr id="534" name="Not at all what I wanted">
            <a:extLst>
              <a:ext uri="{FF2B5EF4-FFF2-40B4-BE49-F238E27FC236}">
                <a16:creationId xmlns:a16="http://schemas.microsoft.com/office/drawing/2014/main" id="{1F50F564-D3C8-487B-8BB3-4E920B47E3D5}"/>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Not at all what I wanted</a:t>
            </a:r>
          </a:p>
        </p:txBody>
      </p:sp>
      <p:sp>
        <p:nvSpPr>
          <p:cNvPr id="535" name="Rectangle 534">
            <a:extLst>
              <a:ext uri="{FF2B5EF4-FFF2-40B4-BE49-F238E27FC236}">
                <a16:creationId xmlns:a16="http://schemas.microsoft.com/office/drawing/2014/main" id="{BD4ABE00-6890-4E70-8F34-3D49F74821F8}"/>
              </a:ext>
            </a:extLst>
          </p:cNvPr>
          <p:cNvSpPr>
            <a:spLocks noGrp="1"/>
          </p:cNvSpPr>
          <p:nvPr/>
        </p:nvSpPr>
        <p:spPr>
          <a:xfrm>
            <a:off x="3667125" y="1905000"/>
            <a:ext cx="1807845" cy="447675"/>
          </a:xfrm>
          <a:prstGeom prst="rect">
            <a:avLst/>
          </a:prstGeom>
          <a:solidFill>
            <a:srgbClr val="A83A3A"/>
          </a:solidFill>
          <a:ln w="0">
            <a:noFill/>
          </a:ln>
        </p:spPr>
        <p:txBody>
          <a:bodyPr/>
          <a:lstStyle/>
          <a:p>
            <a:endParaRPr lang="en-US"/>
          </a:p>
        </p:txBody>
      </p:sp>
      <p:sp>
        <p:nvSpPr>
          <p:cNvPr id="536" name="28%">
            <a:extLst>
              <a:ext uri="{FF2B5EF4-FFF2-40B4-BE49-F238E27FC236}">
                <a16:creationId xmlns:a16="http://schemas.microsoft.com/office/drawing/2014/main" id="{E43DC5BF-F574-4B95-A051-20D00EA286C9}"/>
              </a:ext>
            </a:extLst>
          </p:cNvPr>
          <p:cNvSpPr>
            <a:spLocks noGrp="1"/>
          </p:cNvSpPr>
          <p:nvPr/>
        </p:nvSpPr>
        <p:spPr>
          <a:xfrm>
            <a:off x="3705225" y="20097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37" name="Rectangle 536">
            <a:extLst>
              <a:ext uri="{FF2B5EF4-FFF2-40B4-BE49-F238E27FC236}">
                <a16:creationId xmlns:a16="http://schemas.microsoft.com/office/drawing/2014/main" id="{4F40EB25-E1CC-4372-BBB8-3F885198EFD8}"/>
              </a:ext>
            </a:extLst>
          </p:cNvPr>
          <p:cNvSpPr>
            <a:spLocks noGrp="1"/>
          </p:cNvSpPr>
          <p:nvPr/>
        </p:nvSpPr>
        <p:spPr>
          <a:xfrm>
            <a:off x="5474970" y="1905000"/>
            <a:ext cx="2294572" cy="447675"/>
          </a:xfrm>
          <a:prstGeom prst="rect">
            <a:avLst/>
          </a:prstGeom>
          <a:solidFill>
            <a:srgbClr val="DC713D"/>
          </a:solidFill>
          <a:ln w="0">
            <a:noFill/>
          </a:ln>
        </p:spPr>
        <p:txBody>
          <a:bodyPr/>
          <a:lstStyle/>
          <a:p>
            <a:endParaRPr lang="en-US"/>
          </a:p>
        </p:txBody>
      </p:sp>
      <p:sp>
        <p:nvSpPr>
          <p:cNvPr id="538" name="31%">
            <a:extLst>
              <a:ext uri="{FF2B5EF4-FFF2-40B4-BE49-F238E27FC236}">
                <a16:creationId xmlns:a16="http://schemas.microsoft.com/office/drawing/2014/main" id="{EA51A354-775C-45BC-A9B6-A5811B086CF8}"/>
              </a:ext>
            </a:extLst>
          </p:cNvPr>
          <p:cNvSpPr>
            <a:spLocks noGrp="1"/>
          </p:cNvSpPr>
          <p:nvPr/>
        </p:nvSpPr>
        <p:spPr>
          <a:xfrm>
            <a:off x="5513070" y="2009775"/>
            <a:ext cx="22374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39" name="Rectangle 538">
            <a:extLst>
              <a:ext uri="{FF2B5EF4-FFF2-40B4-BE49-F238E27FC236}">
                <a16:creationId xmlns:a16="http://schemas.microsoft.com/office/drawing/2014/main" id="{C9F2B437-F675-4C03-B3D1-E1E4B0EA7D19}"/>
              </a:ext>
            </a:extLst>
          </p:cNvPr>
          <p:cNvSpPr>
            <a:spLocks noGrp="1"/>
          </p:cNvSpPr>
          <p:nvPr/>
        </p:nvSpPr>
        <p:spPr>
          <a:xfrm>
            <a:off x="7769542" y="1905000"/>
            <a:ext cx="1807845" cy="447675"/>
          </a:xfrm>
          <a:prstGeom prst="rect">
            <a:avLst/>
          </a:prstGeom>
          <a:solidFill>
            <a:srgbClr val="4C91D8"/>
          </a:solidFill>
          <a:ln w="0">
            <a:noFill/>
          </a:ln>
        </p:spPr>
        <p:txBody>
          <a:bodyPr/>
          <a:lstStyle/>
          <a:p>
            <a:endParaRPr lang="en-US"/>
          </a:p>
        </p:txBody>
      </p:sp>
      <p:sp>
        <p:nvSpPr>
          <p:cNvPr id="540" name="23%">
            <a:extLst>
              <a:ext uri="{FF2B5EF4-FFF2-40B4-BE49-F238E27FC236}">
                <a16:creationId xmlns:a16="http://schemas.microsoft.com/office/drawing/2014/main" id="{59D0EC28-B218-45F9-84B9-5194CCB6B21F}"/>
              </a:ext>
            </a:extLst>
          </p:cNvPr>
          <p:cNvSpPr>
            <a:spLocks noGrp="1"/>
          </p:cNvSpPr>
          <p:nvPr/>
        </p:nvSpPr>
        <p:spPr>
          <a:xfrm>
            <a:off x="7807642" y="20097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41" name="Rectangle 540">
            <a:extLst>
              <a:ext uri="{FF2B5EF4-FFF2-40B4-BE49-F238E27FC236}">
                <a16:creationId xmlns:a16="http://schemas.microsoft.com/office/drawing/2014/main" id="{6463D124-ABD5-49AA-B43B-DFEFE8C07156}"/>
              </a:ext>
            </a:extLst>
          </p:cNvPr>
          <p:cNvSpPr>
            <a:spLocks noGrp="1"/>
          </p:cNvSpPr>
          <p:nvPr/>
        </p:nvSpPr>
        <p:spPr>
          <a:xfrm>
            <a:off x="9577387" y="1905000"/>
            <a:ext cx="1042988" cy="447675"/>
          </a:xfrm>
          <a:prstGeom prst="rect">
            <a:avLst/>
          </a:prstGeom>
          <a:solidFill>
            <a:srgbClr val="285B9F"/>
          </a:solidFill>
          <a:ln w="0">
            <a:noFill/>
          </a:ln>
        </p:spPr>
        <p:txBody>
          <a:bodyPr/>
          <a:lstStyle/>
          <a:p>
            <a:endParaRPr lang="en-US"/>
          </a:p>
        </p:txBody>
      </p:sp>
      <p:sp>
        <p:nvSpPr>
          <p:cNvPr id="542" name="18%">
            <a:extLst>
              <a:ext uri="{FF2B5EF4-FFF2-40B4-BE49-F238E27FC236}">
                <a16:creationId xmlns:a16="http://schemas.microsoft.com/office/drawing/2014/main" id="{E25F6198-B4D4-4E87-9251-6B065D2B2ADE}"/>
              </a:ext>
            </a:extLst>
          </p:cNvPr>
          <p:cNvSpPr>
            <a:spLocks noGrp="1"/>
          </p:cNvSpPr>
          <p:nvPr/>
        </p:nvSpPr>
        <p:spPr>
          <a:xfrm>
            <a:off x="9615487" y="2009775"/>
            <a:ext cx="98583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15%</a:t>
            </a:r>
          </a:p>
        </p:txBody>
      </p:sp>
      <p:sp>
        <p:nvSpPr>
          <p:cNvPr id="543" name="n=144">
            <a:extLst>
              <a:ext uri="{FF2B5EF4-FFF2-40B4-BE49-F238E27FC236}">
                <a16:creationId xmlns:a16="http://schemas.microsoft.com/office/drawing/2014/main" id="{9424D5B4-F87D-4680-9615-6A7A095AF7F8}"/>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n=110</a:t>
            </a:r>
          </a:p>
        </p:txBody>
      </p:sp>
      <p:sp>
        <p:nvSpPr>
          <p:cNvPr id="544" name="Mostly different">
            <a:extLst>
              <a:ext uri="{FF2B5EF4-FFF2-40B4-BE49-F238E27FC236}">
                <a16:creationId xmlns:a16="http://schemas.microsoft.com/office/drawing/2014/main" id="{3718D5B7-61FC-402A-ACC8-10E365A90DE2}"/>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different</a:t>
            </a:r>
          </a:p>
        </p:txBody>
      </p:sp>
      <p:sp>
        <p:nvSpPr>
          <p:cNvPr id="545" name="Rectangle 544">
            <a:extLst>
              <a:ext uri="{FF2B5EF4-FFF2-40B4-BE49-F238E27FC236}">
                <a16:creationId xmlns:a16="http://schemas.microsoft.com/office/drawing/2014/main" id="{090FCFFA-3990-4B07-BB4E-464D59B0C868}"/>
              </a:ext>
            </a:extLst>
          </p:cNvPr>
          <p:cNvSpPr>
            <a:spLocks noGrp="1"/>
          </p:cNvSpPr>
          <p:nvPr/>
        </p:nvSpPr>
        <p:spPr>
          <a:xfrm>
            <a:off x="3667125" y="2628900"/>
            <a:ext cx="2340698" cy="447675"/>
          </a:xfrm>
          <a:prstGeom prst="rect">
            <a:avLst/>
          </a:prstGeom>
          <a:solidFill>
            <a:srgbClr val="A83A3A"/>
          </a:solidFill>
          <a:ln w="0">
            <a:noFill/>
          </a:ln>
        </p:spPr>
        <p:txBody>
          <a:bodyPr/>
          <a:lstStyle/>
          <a:p>
            <a:endParaRPr lang="en-US"/>
          </a:p>
        </p:txBody>
      </p:sp>
      <p:sp>
        <p:nvSpPr>
          <p:cNvPr id="546" name="33%">
            <a:extLst>
              <a:ext uri="{FF2B5EF4-FFF2-40B4-BE49-F238E27FC236}">
                <a16:creationId xmlns:a16="http://schemas.microsoft.com/office/drawing/2014/main" id="{5D7C3CF4-AFD9-474D-BFA0-018CD1C85BAD}"/>
              </a:ext>
            </a:extLst>
          </p:cNvPr>
          <p:cNvSpPr>
            <a:spLocks noGrp="1"/>
          </p:cNvSpPr>
          <p:nvPr/>
        </p:nvSpPr>
        <p:spPr>
          <a:xfrm>
            <a:off x="3705225" y="2733675"/>
            <a:ext cx="22835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47" name="Rectangle 546">
            <a:extLst>
              <a:ext uri="{FF2B5EF4-FFF2-40B4-BE49-F238E27FC236}">
                <a16:creationId xmlns:a16="http://schemas.microsoft.com/office/drawing/2014/main" id="{3108A24A-99A4-4300-A6B6-016DD7A03F60}"/>
              </a:ext>
            </a:extLst>
          </p:cNvPr>
          <p:cNvSpPr>
            <a:spLocks noGrp="1"/>
          </p:cNvSpPr>
          <p:nvPr/>
        </p:nvSpPr>
        <p:spPr>
          <a:xfrm>
            <a:off x="6007823" y="2628900"/>
            <a:ext cx="1583413" cy="447675"/>
          </a:xfrm>
          <a:prstGeom prst="rect">
            <a:avLst/>
          </a:prstGeom>
          <a:solidFill>
            <a:srgbClr val="DC713D"/>
          </a:solidFill>
          <a:ln w="0">
            <a:noFill/>
          </a:ln>
        </p:spPr>
        <p:txBody>
          <a:bodyPr/>
          <a:lstStyle/>
          <a:p>
            <a:endParaRPr lang="en-US"/>
          </a:p>
        </p:txBody>
      </p:sp>
      <p:sp>
        <p:nvSpPr>
          <p:cNvPr id="548" name="24%">
            <a:extLst>
              <a:ext uri="{FF2B5EF4-FFF2-40B4-BE49-F238E27FC236}">
                <a16:creationId xmlns:a16="http://schemas.microsoft.com/office/drawing/2014/main" id="{D880C110-517B-45A1-AD0C-3307361774F3}"/>
              </a:ext>
            </a:extLst>
          </p:cNvPr>
          <p:cNvSpPr>
            <a:spLocks noGrp="1"/>
          </p:cNvSpPr>
          <p:nvPr/>
        </p:nvSpPr>
        <p:spPr>
          <a:xfrm>
            <a:off x="6045923" y="2733675"/>
            <a:ext cx="1526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9" name="Rectangle 548">
            <a:extLst>
              <a:ext uri="{FF2B5EF4-FFF2-40B4-BE49-F238E27FC236}">
                <a16:creationId xmlns:a16="http://schemas.microsoft.com/office/drawing/2014/main" id="{854E0E9B-2775-447D-B7DF-E9E6E0E91CEC}"/>
              </a:ext>
            </a:extLst>
          </p:cNvPr>
          <p:cNvSpPr>
            <a:spLocks noGrp="1"/>
          </p:cNvSpPr>
          <p:nvPr/>
        </p:nvSpPr>
        <p:spPr>
          <a:xfrm>
            <a:off x="7591236" y="2628900"/>
            <a:ext cx="1652257" cy="447675"/>
          </a:xfrm>
          <a:prstGeom prst="rect">
            <a:avLst/>
          </a:prstGeom>
          <a:solidFill>
            <a:srgbClr val="4C91D8"/>
          </a:solidFill>
          <a:ln w="0">
            <a:noFill/>
          </a:ln>
        </p:spPr>
        <p:txBody>
          <a:bodyPr/>
          <a:lstStyle/>
          <a:p>
            <a:endParaRPr lang="en-US"/>
          </a:p>
        </p:txBody>
      </p:sp>
      <p:sp>
        <p:nvSpPr>
          <p:cNvPr id="550" name="22%">
            <a:extLst>
              <a:ext uri="{FF2B5EF4-FFF2-40B4-BE49-F238E27FC236}">
                <a16:creationId xmlns:a16="http://schemas.microsoft.com/office/drawing/2014/main" id="{CC078C4D-5E42-44CD-BA09-B8A70C2556DD}"/>
              </a:ext>
            </a:extLst>
          </p:cNvPr>
          <p:cNvSpPr>
            <a:spLocks noGrp="1"/>
          </p:cNvSpPr>
          <p:nvPr/>
        </p:nvSpPr>
        <p:spPr>
          <a:xfrm>
            <a:off x="7629336" y="2733675"/>
            <a:ext cx="159510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51" name="Rectangle 550">
            <a:extLst>
              <a:ext uri="{FF2B5EF4-FFF2-40B4-BE49-F238E27FC236}">
                <a16:creationId xmlns:a16="http://schemas.microsoft.com/office/drawing/2014/main" id="{02C69F7F-8BB2-41CB-A167-4388D3114C5A}"/>
              </a:ext>
            </a:extLst>
          </p:cNvPr>
          <p:cNvSpPr>
            <a:spLocks noGrp="1"/>
          </p:cNvSpPr>
          <p:nvPr/>
        </p:nvSpPr>
        <p:spPr>
          <a:xfrm>
            <a:off x="9243493" y="2628900"/>
            <a:ext cx="1376882" cy="447675"/>
          </a:xfrm>
          <a:prstGeom prst="rect">
            <a:avLst/>
          </a:prstGeom>
          <a:solidFill>
            <a:srgbClr val="285B9F"/>
          </a:solidFill>
          <a:ln w="0">
            <a:noFill/>
          </a:ln>
        </p:spPr>
        <p:txBody>
          <a:bodyPr/>
          <a:lstStyle/>
          <a:p>
            <a:endParaRPr lang="en-US"/>
          </a:p>
        </p:txBody>
      </p:sp>
      <p:sp>
        <p:nvSpPr>
          <p:cNvPr id="552" name="20%">
            <a:extLst>
              <a:ext uri="{FF2B5EF4-FFF2-40B4-BE49-F238E27FC236}">
                <a16:creationId xmlns:a16="http://schemas.microsoft.com/office/drawing/2014/main" id="{8CDD0D83-2FE2-474D-B9B1-939FA8935755}"/>
              </a:ext>
            </a:extLst>
          </p:cNvPr>
          <p:cNvSpPr>
            <a:spLocks noGrp="1"/>
          </p:cNvSpPr>
          <p:nvPr/>
        </p:nvSpPr>
        <p:spPr>
          <a:xfrm>
            <a:off x="9281593" y="2733675"/>
            <a:ext cx="13197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53" name="n=138">
            <a:extLst>
              <a:ext uri="{FF2B5EF4-FFF2-40B4-BE49-F238E27FC236}">
                <a16:creationId xmlns:a16="http://schemas.microsoft.com/office/drawing/2014/main" id="{22CE227A-168E-4680-B739-65E4305AF22B}"/>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n=101</a:t>
            </a:r>
          </a:p>
        </p:txBody>
      </p:sp>
      <p:sp>
        <p:nvSpPr>
          <p:cNvPr id="554" name="Somewhat different">
            <a:extLst>
              <a:ext uri="{FF2B5EF4-FFF2-40B4-BE49-F238E27FC236}">
                <a16:creationId xmlns:a16="http://schemas.microsoft.com/office/drawing/2014/main" id="{6F2E9840-8612-4BBB-8603-0F449190DC6D}"/>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Somewhat different</a:t>
            </a:r>
          </a:p>
        </p:txBody>
      </p:sp>
      <p:sp>
        <p:nvSpPr>
          <p:cNvPr id="555" name="Rectangle 554">
            <a:extLst>
              <a:ext uri="{FF2B5EF4-FFF2-40B4-BE49-F238E27FC236}">
                <a16:creationId xmlns:a16="http://schemas.microsoft.com/office/drawing/2014/main" id="{6D44FDAB-8872-4653-B23C-DE07D928707C}"/>
              </a:ext>
            </a:extLst>
          </p:cNvPr>
          <p:cNvSpPr>
            <a:spLocks noGrp="1"/>
          </p:cNvSpPr>
          <p:nvPr/>
        </p:nvSpPr>
        <p:spPr>
          <a:xfrm>
            <a:off x="3667125" y="3352800"/>
            <a:ext cx="1474932" cy="447675"/>
          </a:xfrm>
          <a:prstGeom prst="rect">
            <a:avLst/>
          </a:prstGeom>
          <a:solidFill>
            <a:srgbClr val="A83A3A"/>
          </a:solidFill>
          <a:ln w="0">
            <a:noFill/>
          </a:ln>
        </p:spPr>
        <p:txBody>
          <a:bodyPr/>
          <a:lstStyle/>
          <a:p>
            <a:endParaRPr lang="en-US"/>
          </a:p>
        </p:txBody>
      </p:sp>
      <p:sp>
        <p:nvSpPr>
          <p:cNvPr id="556" name="21%">
            <a:extLst>
              <a:ext uri="{FF2B5EF4-FFF2-40B4-BE49-F238E27FC236}">
                <a16:creationId xmlns:a16="http://schemas.microsoft.com/office/drawing/2014/main" id="{C02C37CC-A4F3-4DBC-B5BE-486A4A768B25}"/>
              </a:ext>
            </a:extLst>
          </p:cNvPr>
          <p:cNvSpPr>
            <a:spLocks noGrp="1"/>
          </p:cNvSpPr>
          <p:nvPr/>
        </p:nvSpPr>
        <p:spPr>
          <a:xfrm>
            <a:off x="3705225" y="3457575"/>
            <a:ext cx="141778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57" name="Rectangle 556">
            <a:extLst>
              <a:ext uri="{FF2B5EF4-FFF2-40B4-BE49-F238E27FC236}">
                <a16:creationId xmlns:a16="http://schemas.microsoft.com/office/drawing/2014/main" id="{97B6D807-9F22-47BD-944B-EBA0B0DA76A7}"/>
              </a:ext>
            </a:extLst>
          </p:cNvPr>
          <p:cNvSpPr>
            <a:spLocks noGrp="1"/>
          </p:cNvSpPr>
          <p:nvPr/>
        </p:nvSpPr>
        <p:spPr>
          <a:xfrm>
            <a:off x="5142057" y="3352800"/>
            <a:ext cx="2668924"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60A36C94-3EFE-43EE-AB10-D15C2B0F04C7}"/>
              </a:ext>
            </a:extLst>
          </p:cNvPr>
          <p:cNvSpPr>
            <a:spLocks noGrp="1"/>
          </p:cNvSpPr>
          <p:nvPr/>
        </p:nvSpPr>
        <p:spPr>
          <a:xfrm>
            <a:off x="5180157" y="3457575"/>
            <a:ext cx="26117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38%</a:t>
            </a:r>
          </a:p>
        </p:txBody>
      </p:sp>
      <p:sp>
        <p:nvSpPr>
          <p:cNvPr id="559" name="Rectangle 558">
            <a:extLst>
              <a:ext uri="{FF2B5EF4-FFF2-40B4-BE49-F238E27FC236}">
                <a16:creationId xmlns:a16="http://schemas.microsoft.com/office/drawing/2014/main" id="{54674443-474D-451D-A9B9-0E634EBC8924}"/>
              </a:ext>
            </a:extLst>
          </p:cNvPr>
          <p:cNvSpPr>
            <a:spLocks noGrp="1"/>
          </p:cNvSpPr>
          <p:nvPr/>
        </p:nvSpPr>
        <p:spPr>
          <a:xfrm>
            <a:off x="7810981" y="3352800"/>
            <a:ext cx="1826106" cy="447675"/>
          </a:xfrm>
          <a:prstGeom prst="rect">
            <a:avLst/>
          </a:prstGeom>
          <a:solidFill>
            <a:srgbClr val="4C91D8"/>
          </a:solidFill>
          <a:ln w="0">
            <a:noFill/>
          </a:ln>
        </p:spPr>
        <p:txBody>
          <a:bodyPr/>
          <a:lstStyle/>
          <a:p>
            <a:endParaRPr lang="en-US"/>
          </a:p>
        </p:txBody>
      </p:sp>
      <p:sp>
        <p:nvSpPr>
          <p:cNvPr id="560" name="28%">
            <a:extLst>
              <a:ext uri="{FF2B5EF4-FFF2-40B4-BE49-F238E27FC236}">
                <a16:creationId xmlns:a16="http://schemas.microsoft.com/office/drawing/2014/main" id="{D9FE81B1-1AEA-496A-A63A-08409DE89CE0}"/>
              </a:ext>
            </a:extLst>
          </p:cNvPr>
          <p:cNvSpPr>
            <a:spLocks noGrp="1"/>
          </p:cNvSpPr>
          <p:nvPr/>
        </p:nvSpPr>
        <p:spPr>
          <a:xfrm>
            <a:off x="7849081" y="3457575"/>
            <a:ext cx="176895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61" name="Rectangle 560">
            <a:extLst>
              <a:ext uri="{FF2B5EF4-FFF2-40B4-BE49-F238E27FC236}">
                <a16:creationId xmlns:a16="http://schemas.microsoft.com/office/drawing/2014/main" id="{8D7EEA3C-1AE0-4923-A697-02EEDA3A6B42}"/>
              </a:ext>
            </a:extLst>
          </p:cNvPr>
          <p:cNvSpPr>
            <a:spLocks noGrp="1"/>
          </p:cNvSpPr>
          <p:nvPr/>
        </p:nvSpPr>
        <p:spPr>
          <a:xfrm>
            <a:off x="9637087" y="3352800"/>
            <a:ext cx="983288" cy="447675"/>
          </a:xfrm>
          <a:prstGeom prst="rect">
            <a:avLst/>
          </a:prstGeom>
          <a:solidFill>
            <a:srgbClr val="285B9F"/>
          </a:solidFill>
          <a:ln w="0">
            <a:noFill/>
          </a:ln>
        </p:spPr>
        <p:txBody>
          <a:bodyPr/>
          <a:lstStyle/>
          <a:p>
            <a:endParaRPr lang="en-US"/>
          </a:p>
        </p:txBody>
      </p:sp>
      <p:sp>
        <p:nvSpPr>
          <p:cNvPr id="562" name="18%">
            <a:extLst>
              <a:ext uri="{FF2B5EF4-FFF2-40B4-BE49-F238E27FC236}">
                <a16:creationId xmlns:a16="http://schemas.microsoft.com/office/drawing/2014/main" id="{AB1F7F42-B041-4CA6-AADD-46728146297D}"/>
              </a:ext>
            </a:extLst>
          </p:cNvPr>
          <p:cNvSpPr>
            <a:spLocks noGrp="1"/>
          </p:cNvSpPr>
          <p:nvPr/>
        </p:nvSpPr>
        <p:spPr>
          <a:xfrm>
            <a:off x="9675187" y="3457575"/>
            <a:ext cx="92613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14%</a:t>
            </a:r>
          </a:p>
        </p:txBody>
      </p:sp>
      <p:sp>
        <p:nvSpPr>
          <p:cNvPr id="563" name="n=174">
            <a:extLst>
              <a:ext uri="{FF2B5EF4-FFF2-40B4-BE49-F238E27FC236}">
                <a16:creationId xmlns:a16="http://schemas.microsoft.com/office/drawing/2014/main" id="{236D3C60-1ED1-46B0-969A-49CD864D49F5}"/>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n=138</a:t>
            </a:r>
          </a:p>
        </p:txBody>
      </p:sp>
      <p:sp>
        <p:nvSpPr>
          <p:cNvPr id="564" name="Close to what I wanted">
            <a:extLst>
              <a:ext uri="{FF2B5EF4-FFF2-40B4-BE49-F238E27FC236}">
                <a16:creationId xmlns:a16="http://schemas.microsoft.com/office/drawing/2014/main" id="{821F7993-5330-467B-B031-AB6F7ABDD6DE}"/>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Close to what I wanted</a:t>
            </a:r>
          </a:p>
        </p:txBody>
      </p:sp>
      <p:sp>
        <p:nvSpPr>
          <p:cNvPr id="565" name="Rectangle 564">
            <a:extLst>
              <a:ext uri="{FF2B5EF4-FFF2-40B4-BE49-F238E27FC236}">
                <a16:creationId xmlns:a16="http://schemas.microsoft.com/office/drawing/2014/main" id="{68C45CA7-9530-4B34-968D-C6F0F94D1C0B}"/>
              </a:ext>
            </a:extLst>
          </p:cNvPr>
          <p:cNvSpPr>
            <a:spLocks noGrp="1"/>
          </p:cNvSpPr>
          <p:nvPr/>
        </p:nvSpPr>
        <p:spPr>
          <a:xfrm>
            <a:off x="3667125" y="4076700"/>
            <a:ext cx="1239193"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DE166358-509D-46FF-A1CE-E0E27D118E8A}"/>
              </a:ext>
            </a:extLst>
          </p:cNvPr>
          <p:cNvSpPr>
            <a:spLocks noGrp="1"/>
          </p:cNvSpPr>
          <p:nvPr/>
        </p:nvSpPr>
        <p:spPr>
          <a:xfrm>
            <a:off x="3705225" y="4181475"/>
            <a:ext cx="11820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67" name="Rectangle 566">
            <a:extLst>
              <a:ext uri="{FF2B5EF4-FFF2-40B4-BE49-F238E27FC236}">
                <a16:creationId xmlns:a16="http://schemas.microsoft.com/office/drawing/2014/main" id="{A2E1F0AE-B349-452B-99E8-CF750ED06C6F}"/>
              </a:ext>
            </a:extLst>
          </p:cNvPr>
          <p:cNvSpPr>
            <a:spLocks noGrp="1"/>
          </p:cNvSpPr>
          <p:nvPr/>
        </p:nvSpPr>
        <p:spPr>
          <a:xfrm>
            <a:off x="4906318" y="4076700"/>
            <a:ext cx="1996478" cy="447675"/>
          </a:xfrm>
          <a:prstGeom prst="rect">
            <a:avLst/>
          </a:prstGeom>
          <a:solidFill>
            <a:srgbClr val="DC713D"/>
          </a:solidFill>
          <a:ln w="0">
            <a:noFill/>
          </a:ln>
        </p:spPr>
        <p:txBody>
          <a:bodyPr/>
          <a:lstStyle/>
          <a:p>
            <a:endParaRPr lang="en-US"/>
          </a:p>
        </p:txBody>
      </p:sp>
      <p:sp>
        <p:nvSpPr>
          <p:cNvPr id="568" name="28%">
            <a:extLst>
              <a:ext uri="{FF2B5EF4-FFF2-40B4-BE49-F238E27FC236}">
                <a16:creationId xmlns:a16="http://schemas.microsoft.com/office/drawing/2014/main" id="{A7CFBDB7-75D5-4280-B7EB-E1955458A8FE}"/>
              </a:ext>
            </a:extLst>
          </p:cNvPr>
          <p:cNvSpPr>
            <a:spLocks noGrp="1"/>
          </p:cNvSpPr>
          <p:nvPr/>
        </p:nvSpPr>
        <p:spPr>
          <a:xfrm>
            <a:off x="4944418" y="4181475"/>
            <a:ext cx="19393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5EC45747-03BB-4773-9A51-89C7748AAF35}"/>
              </a:ext>
            </a:extLst>
          </p:cNvPr>
          <p:cNvSpPr>
            <a:spLocks noGrp="1"/>
          </p:cNvSpPr>
          <p:nvPr/>
        </p:nvSpPr>
        <p:spPr>
          <a:xfrm>
            <a:off x="6902796" y="4076700"/>
            <a:ext cx="1996478" cy="447675"/>
          </a:xfrm>
          <a:prstGeom prst="rect">
            <a:avLst/>
          </a:prstGeom>
          <a:solidFill>
            <a:srgbClr val="4C91D8"/>
          </a:solidFill>
          <a:ln w="0">
            <a:noFill/>
          </a:ln>
        </p:spPr>
        <p:txBody>
          <a:bodyPr/>
          <a:lstStyle/>
          <a:p>
            <a:endParaRPr lang="en-US"/>
          </a:p>
        </p:txBody>
      </p:sp>
      <p:sp>
        <p:nvSpPr>
          <p:cNvPr id="570" name="27%">
            <a:extLst>
              <a:ext uri="{FF2B5EF4-FFF2-40B4-BE49-F238E27FC236}">
                <a16:creationId xmlns:a16="http://schemas.microsoft.com/office/drawing/2014/main" id="{0753EC11-5217-4B35-8B9A-D7881BFEAEAF}"/>
              </a:ext>
            </a:extLst>
          </p:cNvPr>
          <p:cNvSpPr>
            <a:spLocks noGrp="1"/>
          </p:cNvSpPr>
          <p:nvPr/>
        </p:nvSpPr>
        <p:spPr>
          <a:xfrm>
            <a:off x="6940896" y="4181475"/>
            <a:ext cx="19393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71" name="Rectangle 570">
            <a:extLst>
              <a:ext uri="{FF2B5EF4-FFF2-40B4-BE49-F238E27FC236}">
                <a16:creationId xmlns:a16="http://schemas.microsoft.com/office/drawing/2014/main" id="{17B67E4D-2F33-492B-8C3C-ABB42C8184FC}"/>
              </a:ext>
            </a:extLst>
          </p:cNvPr>
          <p:cNvSpPr>
            <a:spLocks noGrp="1"/>
          </p:cNvSpPr>
          <p:nvPr/>
        </p:nvSpPr>
        <p:spPr>
          <a:xfrm>
            <a:off x="8899274" y="4076700"/>
            <a:ext cx="1721101" cy="447675"/>
          </a:xfrm>
          <a:prstGeom prst="rect">
            <a:avLst/>
          </a:prstGeom>
          <a:solidFill>
            <a:srgbClr val="285B9F"/>
          </a:solidFill>
          <a:ln w="0">
            <a:noFill/>
          </a:ln>
        </p:spPr>
        <p:txBody>
          <a:bodyPr/>
          <a:lstStyle/>
          <a:p>
            <a:endParaRPr lang="en-US"/>
          </a:p>
        </p:txBody>
      </p:sp>
      <p:sp>
        <p:nvSpPr>
          <p:cNvPr id="572" name="27%">
            <a:extLst>
              <a:ext uri="{FF2B5EF4-FFF2-40B4-BE49-F238E27FC236}">
                <a16:creationId xmlns:a16="http://schemas.microsoft.com/office/drawing/2014/main" id="{6E315094-8541-49BD-A729-EBDAFE8D16E3}"/>
              </a:ext>
            </a:extLst>
          </p:cNvPr>
          <p:cNvSpPr>
            <a:spLocks noGrp="1"/>
          </p:cNvSpPr>
          <p:nvPr/>
        </p:nvSpPr>
        <p:spPr>
          <a:xfrm>
            <a:off x="8937374" y="4181475"/>
            <a:ext cx="166395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73" name="n=244">
            <a:extLst>
              <a:ext uri="{FF2B5EF4-FFF2-40B4-BE49-F238E27FC236}">
                <a16:creationId xmlns:a16="http://schemas.microsoft.com/office/drawing/2014/main" id="{C2A30120-DD03-4CE5-B517-DECE4EA41912}"/>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n=212</a:t>
            </a:r>
          </a:p>
        </p:txBody>
      </p:sp>
      <p:sp>
        <p:nvSpPr>
          <p:cNvPr id="574" name="Yes, exactly what I wanted">
            <a:extLst>
              <a:ext uri="{FF2B5EF4-FFF2-40B4-BE49-F238E27FC236}">
                <a16:creationId xmlns:a16="http://schemas.microsoft.com/office/drawing/2014/main" id="{D36F2B64-533C-4B56-919E-987E797D978F}"/>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Yes, exactly what I wanted</a:t>
            </a:r>
          </a:p>
        </p:txBody>
      </p:sp>
      <p:sp>
        <p:nvSpPr>
          <p:cNvPr id="575" name="Rectangle 574">
            <a:extLst>
              <a:ext uri="{FF2B5EF4-FFF2-40B4-BE49-F238E27FC236}">
                <a16:creationId xmlns:a16="http://schemas.microsoft.com/office/drawing/2014/main" id="{0DD4F495-BBF5-4EB3-95C8-4E5CEE634E81}"/>
              </a:ext>
            </a:extLst>
          </p:cNvPr>
          <p:cNvSpPr>
            <a:spLocks noGrp="1"/>
          </p:cNvSpPr>
          <p:nvPr/>
        </p:nvSpPr>
        <p:spPr>
          <a:xfrm>
            <a:off x="3667125" y="4800600"/>
            <a:ext cx="973455" cy="447675"/>
          </a:xfrm>
          <a:prstGeom prst="rect">
            <a:avLst/>
          </a:prstGeom>
          <a:solidFill>
            <a:srgbClr val="A83A3A"/>
          </a:solidFill>
          <a:ln w="0">
            <a:noFill/>
          </a:ln>
        </p:spPr>
        <p:txBody>
          <a:bodyPr/>
          <a:lstStyle/>
          <a:p>
            <a:endParaRPr lang="en-US"/>
          </a:p>
        </p:txBody>
      </p:sp>
      <p:sp>
        <p:nvSpPr>
          <p:cNvPr id="576" name="17%">
            <a:extLst>
              <a:ext uri="{FF2B5EF4-FFF2-40B4-BE49-F238E27FC236}">
                <a16:creationId xmlns:a16="http://schemas.microsoft.com/office/drawing/2014/main" id="{B113C637-9D0F-4D24-BC87-E3E755E52245}"/>
              </a:ext>
            </a:extLst>
          </p:cNvPr>
          <p:cNvSpPr>
            <a:spLocks noGrp="1"/>
          </p:cNvSpPr>
          <p:nvPr/>
        </p:nvSpPr>
        <p:spPr>
          <a:xfrm>
            <a:off x="3705225" y="4905375"/>
            <a:ext cx="91630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14%</a:t>
            </a:r>
          </a:p>
        </p:txBody>
      </p:sp>
      <p:sp>
        <p:nvSpPr>
          <p:cNvPr id="577" name="Rectangle 576">
            <a:extLst>
              <a:ext uri="{FF2B5EF4-FFF2-40B4-BE49-F238E27FC236}">
                <a16:creationId xmlns:a16="http://schemas.microsoft.com/office/drawing/2014/main" id="{48A759BE-7919-4A75-B596-F2071B817B42}"/>
              </a:ext>
            </a:extLst>
          </p:cNvPr>
          <p:cNvSpPr>
            <a:spLocks noGrp="1"/>
          </p:cNvSpPr>
          <p:nvPr/>
        </p:nvSpPr>
        <p:spPr>
          <a:xfrm>
            <a:off x="4640580" y="4800600"/>
            <a:ext cx="2155508" cy="447675"/>
          </a:xfrm>
          <a:prstGeom prst="rect">
            <a:avLst/>
          </a:prstGeom>
          <a:solidFill>
            <a:srgbClr val="DC713D"/>
          </a:solidFill>
          <a:ln w="0">
            <a:noFill/>
          </a:ln>
        </p:spPr>
        <p:txBody>
          <a:bodyPr/>
          <a:lstStyle/>
          <a:p>
            <a:endParaRPr lang="en-US"/>
          </a:p>
        </p:txBody>
      </p:sp>
      <p:sp>
        <p:nvSpPr>
          <p:cNvPr id="578" name="29%">
            <a:extLst>
              <a:ext uri="{FF2B5EF4-FFF2-40B4-BE49-F238E27FC236}">
                <a16:creationId xmlns:a16="http://schemas.microsoft.com/office/drawing/2014/main" id="{00CB7921-B8E2-4BB7-83F8-E9CBD09FC45F}"/>
              </a:ext>
            </a:extLst>
          </p:cNvPr>
          <p:cNvSpPr>
            <a:spLocks noGrp="1"/>
          </p:cNvSpPr>
          <p:nvPr/>
        </p:nvSpPr>
        <p:spPr>
          <a:xfrm>
            <a:off x="4678680" y="49053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79" name="Rectangle 578">
            <a:extLst>
              <a:ext uri="{FF2B5EF4-FFF2-40B4-BE49-F238E27FC236}">
                <a16:creationId xmlns:a16="http://schemas.microsoft.com/office/drawing/2014/main" id="{42C36EFD-BCB5-4FC2-B6D2-2AE10CB771CD}"/>
              </a:ext>
            </a:extLst>
          </p:cNvPr>
          <p:cNvSpPr>
            <a:spLocks noGrp="1"/>
          </p:cNvSpPr>
          <p:nvPr/>
        </p:nvSpPr>
        <p:spPr>
          <a:xfrm>
            <a:off x="6796088" y="4800600"/>
            <a:ext cx="2225040" cy="447675"/>
          </a:xfrm>
          <a:prstGeom prst="rect">
            <a:avLst/>
          </a:prstGeom>
          <a:solidFill>
            <a:srgbClr val="4C91D8"/>
          </a:solidFill>
          <a:ln w="0">
            <a:noFill/>
          </a:ln>
        </p:spPr>
        <p:txBody>
          <a:bodyPr/>
          <a:lstStyle/>
          <a:p>
            <a:endParaRPr lang="en-US"/>
          </a:p>
        </p:txBody>
      </p:sp>
      <p:sp>
        <p:nvSpPr>
          <p:cNvPr id="580" name="31%">
            <a:extLst>
              <a:ext uri="{FF2B5EF4-FFF2-40B4-BE49-F238E27FC236}">
                <a16:creationId xmlns:a16="http://schemas.microsoft.com/office/drawing/2014/main" id="{E9B0B2BB-405D-44FB-B5FC-CF27F05D31D3}"/>
              </a:ext>
            </a:extLst>
          </p:cNvPr>
          <p:cNvSpPr>
            <a:spLocks noGrp="1"/>
          </p:cNvSpPr>
          <p:nvPr/>
        </p:nvSpPr>
        <p:spPr>
          <a:xfrm>
            <a:off x="6834188" y="49053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81" name="Rectangle 580">
            <a:extLst>
              <a:ext uri="{FF2B5EF4-FFF2-40B4-BE49-F238E27FC236}">
                <a16:creationId xmlns:a16="http://schemas.microsoft.com/office/drawing/2014/main" id="{F593C7DA-9BDA-43D4-A69B-623942EE4AD5}"/>
              </a:ext>
            </a:extLst>
          </p:cNvPr>
          <p:cNvSpPr>
            <a:spLocks noGrp="1"/>
          </p:cNvSpPr>
          <p:nvPr/>
        </p:nvSpPr>
        <p:spPr>
          <a:xfrm>
            <a:off x="9021128" y="4800600"/>
            <a:ext cx="1599247"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8FB37369-9759-49A2-AA5C-3EB62A1E58F9}"/>
              </a:ext>
            </a:extLst>
          </p:cNvPr>
          <p:cNvSpPr>
            <a:spLocks noGrp="1"/>
          </p:cNvSpPr>
          <p:nvPr/>
        </p:nvSpPr>
        <p:spPr>
          <a:xfrm>
            <a:off x="9059228" y="4905375"/>
            <a:ext cx="154209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83" name="n=408">
            <a:extLst>
              <a:ext uri="{FF2B5EF4-FFF2-40B4-BE49-F238E27FC236}">
                <a16:creationId xmlns:a16="http://schemas.microsoft.com/office/drawing/2014/main" id="{CB7939D6-C78B-45CF-94CB-4548E85F403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n=359</a:t>
            </a:r>
          </a:p>
        </p:txBody>
      </p:sp>
      <p:sp>
        <p:nvSpPr>
          <p:cNvPr id="584" name="Rectangle 583">
            <a:extLst>
              <a:ext uri="{FF2B5EF4-FFF2-40B4-BE49-F238E27FC236}">
                <a16:creationId xmlns:a16="http://schemas.microsoft.com/office/drawing/2014/main" id="{74D08ECF-D0E5-4CD8-9F53-4A23D580AD41}"/>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7D26BC27-9378-4915-A399-F0A7AA382978}"/>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D5474C4B-59A0-443B-BD04-1D21C6710CBB}"/>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011B52F7-C3BE-4439-8578-EECDC4AF5221}"/>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59786784-23B1-4DC3-AFE3-850ADB7AB105}"/>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E11F95B9-E3EB-4E4E-8798-78D6C13C648A}"/>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B9D36B1E-8514-4892-839E-909C9126D411}"/>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BA4D24B2-2775-4150-8BFA-56441621BC7E}"/>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5C3537C9-52E9-4EEA-D25F-6104A8F97FEE}"/>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C45820A-9ECB-3FB3-F472-2F0D262A4EB3}"/>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931C8C5-2E4B-B136-3EA7-116C0ABD0DBD}"/>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B88198EF-C9A3-A6AA-FF0B-A4B6098BC436}"/>
              </a:ext>
            </a:extLst>
          </p:cNvPr>
          <p:cNvSpPr txBox="1"/>
          <p:nvPr/>
        </p:nvSpPr>
        <p:spPr>
          <a:xfrm rot="16200000">
            <a:off x="-909280" y="2715997"/>
            <a:ext cx="2249334" cy="369332"/>
          </a:xfrm>
          <a:prstGeom prst="rect">
            <a:avLst/>
          </a:prstGeom>
          <a:noFill/>
        </p:spPr>
        <p:txBody>
          <a:bodyPr wrap="none" rtlCol="0">
            <a:spAutoFit/>
          </a:bodyPr>
          <a:lstStyle/>
          <a:p>
            <a:r>
              <a:rPr lang="en-US" dirty="0"/>
              <a:t>Desired Department</a:t>
            </a:r>
          </a:p>
        </p:txBody>
      </p:sp>
    </p:spTree>
    <p:extLst>
      <p:ext uri="{BB962C8B-B14F-4D97-AF65-F5344CB8AC3E}">
        <p14:creationId xmlns:p14="http://schemas.microsoft.com/office/powerpoint/2010/main" val="3513575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25</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Support and CGPA</a:t>
            </a:r>
          </a:p>
        </p:txBody>
      </p:sp>
      <p:sp>
        <p:nvSpPr>
          <p:cNvPr id="534" name="No support">
            <a:extLst>
              <a:ext uri="{FF2B5EF4-FFF2-40B4-BE49-F238E27FC236}">
                <a16:creationId xmlns:a16="http://schemas.microsoft.com/office/drawing/2014/main" id="{D1E0881A-FF0B-4C60-976E-53F5A3524696}"/>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No support</a:t>
            </a:r>
          </a:p>
        </p:txBody>
      </p:sp>
      <p:sp>
        <p:nvSpPr>
          <p:cNvPr id="535" name="Rectangle 534">
            <a:extLst>
              <a:ext uri="{FF2B5EF4-FFF2-40B4-BE49-F238E27FC236}">
                <a16:creationId xmlns:a16="http://schemas.microsoft.com/office/drawing/2014/main" id="{57B0AF86-F1D6-40F6-81D4-057AC0321FEE}"/>
              </a:ext>
            </a:extLst>
          </p:cNvPr>
          <p:cNvSpPr>
            <a:spLocks noGrp="1"/>
          </p:cNvSpPr>
          <p:nvPr/>
        </p:nvSpPr>
        <p:spPr>
          <a:xfrm>
            <a:off x="3667125" y="1905000"/>
            <a:ext cx="1599248" cy="447675"/>
          </a:xfrm>
          <a:prstGeom prst="rect">
            <a:avLst/>
          </a:prstGeom>
          <a:solidFill>
            <a:srgbClr val="A83A3A"/>
          </a:solidFill>
          <a:ln w="0">
            <a:noFill/>
          </a:ln>
        </p:spPr>
        <p:txBody>
          <a:bodyPr/>
          <a:lstStyle/>
          <a:p>
            <a:endParaRPr lang="en-US"/>
          </a:p>
        </p:txBody>
      </p:sp>
      <p:sp>
        <p:nvSpPr>
          <p:cNvPr id="536" name="25%">
            <a:extLst>
              <a:ext uri="{FF2B5EF4-FFF2-40B4-BE49-F238E27FC236}">
                <a16:creationId xmlns:a16="http://schemas.microsoft.com/office/drawing/2014/main" id="{85F701B8-3297-4C7F-89CA-674EEA88CE3B}"/>
              </a:ext>
            </a:extLst>
          </p:cNvPr>
          <p:cNvSpPr>
            <a:spLocks noGrp="1"/>
          </p:cNvSpPr>
          <p:nvPr/>
        </p:nvSpPr>
        <p:spPr>
          <a:xfrm>
            <a:off x="3705225" y="2009775"/>
            <a:ext cx="154209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37" name="Rectangle 536">
            <a:extLst>
              <a:ext uri="{FF2B5EF4-FFF2-40B4-BE49-F238E27FC236}">
                <a16:creationId xmlns:a16="http://schemas.microsoft.com/office/drawing/2014/main" id="{F71E70B5-20C8-4CA6-8B63-0AD86D5A8B7E}"/>
              </a:ext>
            </a:extLst>
          </p:cNvPr>
          <p:cNvSpPr>
            <a:spLocks noGrp="1"/>
          </p:cNvSpPr>
          <p:nvPr/>
        </p:nvSpPr>
        <p:spPr>
          <a:xfrm>
            <a:off x="5266373" y="1905000"/>
            <a:ext cx="1807845" cy="447675"/>
          </a:xfrm>
          <a:prstGeom prst="rect">
            <a:avLst/>
          </a:prstGeom>
          <a:solidFill>
            <a:srgbClr val="DC713D"/>
          </a:solidFill>
          <a:ln w="0">
            <a:noFill/>
          </a:ln>
        </p:spPr>
        <p:txBody>
          <a:bodyPr/>
          <a:lstStyle/>
          <a:p>
            <a:endParaRPr lang="en-US"/>
          </a:p>
        </p:txBody>
      </p:sp>
      <p:sp>
        <p:nvSpPr>
          <p:cNvPr id="538" name="26%">
            <a:extLst>
              <a:ext uri="{FF2B5EF4-FFF2-40B4-BE49-F238E27FC236}">
                <a16:creationId xmlns:a16="http://schemas.microsoft.com/office/drawing/2014/main" id="{94D1E499-4749-46EC-A3B1-27EC88F5C51E}"/>
              </a:ext>
            </a:extLst>
          </p:cNvPr>
          <p:cNvSpPr>
            <a:spLocks noGrp="1"/>
          </p:cNvSpPr>
          <p:nvPr/>
        </p:nvSpPr>
        <p:spPr>
          <a:xfrm>
            <a:off x="5304473" y="2009775"/>
            <a:ext cx="175069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26%</a:t>
            </a:r>
          </a:p>
        </p:txBody>
      </p:sp>
      <p:sp>
        <p:nvSpPr>
          <p:cNvPr id="539" name="Rectangle 538">
            <a:extLst>
              <a:ext uri="{FF2B5EF4-FFF2-40B4-BE49-F238E27FC236}">
                <a16:creationId xmlns:a16="http://schemas.microsoft.com/office/drawing/2014/main" id="{494465DC-282B-40A8-AAB6-3B8634FDA850}"/>
              </a:ext>
            </a:extLst>
          </p:cNvPr>
          <p:cNvSpPr>
            <a:spLocks noGrp="1"/>
          </p:cNvSpPr>
          <p:nvPr/>
        </p:nvSpPr>
        <p:spPr>
          <a:xfrm>
            <a:off x="7074218" y="1905000"/>
            <a:ext cx="2155508" cy="447675"/>
          </a:xfrm>
          <a:prstGeom prst="rect">
            <a:avLst/>
          </a:prstGeom>
          <a:solidFill>
            <a:srgbClr val="4C91D8"/>
          </a:solidFill>
          <a:ln w="0">
            <a:noFill/>
          </a:ln>
        </p:spPr>
        <p:txBody>
          <a:bodyPr/>
          <a:lstStyle/>
          <a:p>
            <a:endParaRPr lang="en-US"/>
          </a:p>
        </p:txBody>
      </p:sp>
      <p:sp>
        <p:nvSpPr>
          <p:cNvPr id="540" name="26%">
            <a:extLst>
              <a:ext uri="{FF2B5EF4-FFF2-40B4-BE49-F238E27FC236}">
                <a16:creationId xmlns:a16="http://schemas.microsoft.com/office/drawing/2014/main" id="{316CB0D3-2CB2-4A82-B612-F651BD3293C0}"/>
              </a:ext>
            </a:extLst>
          </p:cNvPr>
          <p:cNvSpPr>
            <a:spLocks noGrp="1"/>
          </p:cNvSpPr>
          <p:nvPr/>
        </p:nvSpPr>
        <p:spPr>
          <a:xfrm>
            <a:off x="7112318" y="20097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41" name="Rectangle 540">
            <a:extLst>
              <a:ext uri="{FF2B5EF4-FFF2-40B4-BE49-F238E27FC236}">
                <a16:creationId xmlns:a16="http://schemas.microsoft.com/office/drawing/2014/main" id="{622BE65A-DA39-436A-B2FE-6F7DBBFE8E1A}"/>
              </a:ext>
            </a:extLst>
          </p:cNvPr>
          <p:cNvSpPr>
            <a:spLocks noGrp="1"/>
          </p:cNvSpPr>
          <p:nvPr/>
        </p:nvSpPr>
        <p:spPr>
          <a:xfrm>
            <a:off x="9229726" y="1905000"/>
            <a:ext cx="1390649" cy="447675"/>
          </a:xfrm>
          <a:prstGeom prst="rect">
            <a:avLst/>
          </a:prstGeom>
          <a:solidFill>
            <a:srgbClr val="285B9F"/>
          </a:solidFill>
          <a:ln w="0">
            <a:noFill/>
          </a:ln>
        </p:spPr>
        <p:txBody>
          <a:bodyPr/>
          <a:lstStyle/>
          <a:p>
            <a:endParaRPr lang="en-US"/>
          </a:p>
        </p:txBody>
      </p:sp>
      <p:sp>
        <p:nvSpPr>
          <p:cNvPr id="542" name="23%">
            <a:extLst>
              <a:ext uri="{FF2B5EF4-FFF2-40B4-BE49-F238E27FC236}">
                <a16:creationId xmlns:a16="http://schemas.microsoft.com/office/drawing/2014/main" id="{67B000F3-616A-4A70-A485-45201F4B8D24}"/>
              </a:ext>
            </a:extLst>
          </p:cNvPr>
          <p:cNvSpPr>
            <a:spLocks noGrp="1"/>
          </p:cNvSpPr>
          <p:nvPr/>
        </p:nvSpPr>
        <p:spPr>
          <a:xfrm>
            <a:off x="9267826" y="2009775"/>
            <a:ext cx="133349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43" name="n=150">
            <a:extLst>
              <a:ext uri="{FF2B5EF4-FFF2-40B4-BE49-F238E27FC236}">
                <a16:creationId xmlns:a16="http://schemas.microsoft.com/office/drawing/2014/main" id="{1F7BD537-A4C5-44F2-9665-84B7763E6ADA}"/>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n=116</a:t>
            </a:r>
          </a:p>
        </p:txBody>
      </p:sp>
      <p:sp>
        <p:nvSpPr>
          <p:cNvPr id="544" name="Very little support">
            <a:extLst>
              <a:ext uri="{FF2B5EF4-FFF2-40B4-BE49-F238E27FC236}">
                <a16:creationId xmlns:a16="http://schemas.microsoft.com/office/drawing/2014/main" id="{CD4CE4CE-4EA7-4109-9734-E910A86B5058}"/>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Very little support</a:t>
            </a:r>
          </a:p>
        </p:txBody>
      </p:sp>
      <p:sp>
        <p:nvSpPr>
          <p:cNvPr id="545" name="Rectangle 544">
            <a:extLst>
              <a:ext uri="{FF2B5EF4-FFF2-40B4-BE49-F238E27FC236}">
                <a16:creationId xmlns:a16="http://schemas.microsoft.com/office/drawing/2014/main" id="{98110E0B-2E47-427C-B95B-75AE5522F1B7}"/>
              </a:ext>
            </a:extLst>
          </p:cNvPr>
          <p:cNvSpPr>
            <a:spLocks noGrp="1"/>
          </p:cNvSpPr>
          <p:nvPr/>
        </p:nvSpPr>
        <p:spPr>
          <a:xfrm>
            <a:off x="3667125" y="2628900"/>
            <a:ext cx="1858790" cy="447675"/>
          </a:xfrm>
          <a:prstGeom prst="rect">
            <a:avLst/>
          </a:prstGeom>
          <a:solidFill>
            <a:srgbClr val="A83A3A"/>
          </a:solidFill>
          <a:ln w="0">
            <a:noFill/>
          </a:ln>
        </p:spPr>
        <p:txBody>
          <a:bodyPr/>
          <a:lstStyle/>
          <a:p>
            <a:endParaRPr lang="en-US"/>
          </a:p>
        </p:txBody>
      </p:sp>
      <p:sp>
        <p:nvSpPr>
          <p:cNvPr id="546" name="28%">
            <a:extLst>
              <a:ext uri="{FF2B5EF4-FFF2-40B4-BE49-F238E27FC236}">
                <a16:creationId xmlns:a16="http://schemas.microsoft.com/office/drawing/2014/main" id="{4058CE26-E860-4463-A1D1-8E5E8298F65C}"/>
              </a:ext>
            </a:extLst>
          </p:cNvPr>
          <p:cNvSpPr>
            <a:spLocks noGrp="1"/>
          </p:cNvSpPr>
          <p:nvPr/>
        </p:nvSpPr>
        <p:spPr>
          <a:xfrm>
            <a:off x="3705225" y="2733675"/>
            <a:ext cx="180164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7" name="Rectangle 546">
            <a:extLst>
              <a:ext uri="{FF2B5EF4-FFF2-40B4-BE49-F238E27FC236}">
                <a16:creationId xmlns:a16="http://schemas.microsoft.com/office/drawing/2014/main" id="{A0D56D3E-70DC-4D70-B610-049CCA3BFBDC}"/>
              </a:ext>
            </a:extLst>
          </p:cNvPr>
          <p:cNvSpPr>
            <a:spLocks noGrp="1"/>
          </p:cNvSpPr>
          <p:nvPr/>
        </p:nvSpPr>
        <p:spPr>
          <a:xfrm>
            <a:off x="5525915" y="2628900"/>
            <a:ext cx="1858790" cy="447675"/>
          </a:xfrm>
          <a:prstGeom prst="rect">
            <a:avLst/>
          </a:prstGeom>
          <a:solidFill>
            <a:srgbClr val="DC713D"/>
          </a:solidFill>
          <a:ln w="0">
            <a:noFill/>
          </a:ln>
        </p:spPr>
        <p:txBody>
          <a:bodyPr/>
          <a:lstStyle/>
          <a:p>
            <a:endParaRPr lang="en-US"/>
          </a:p>
        </p:txBody>
      </p:sp>
      <p:sp>
        <p:nvSpPr>
          <p:cNvPr id="548" name="25%">
            <a:extLst>
              <a:ext uri="{FF2B5EF4-FFF2-40B4-BE49-F238E27FC236}">
                <a16:creationId xmlns:a16="http://schemas.microsoft.com/office/drawing/2014/main" id="{1D40E7A0-A045-4968-B2A7-052B475F87E3}"/>
              </a:ext>
            </a:extLst>
          </p:cNvPr>
          <p:cNvSpPr>
            <a:spLocks noGrp="1"/>
          </p:cNvSpPr>
          <p:nvPr/>
        </p:nvSpPr>
        <p:spPr>
          <a:xfrm>
            <a:off x="5564015" y="2733675"/>
            <a:ext cx="180164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49" name="Rectangle 548">
            <a:extLst>
              <a:ext uri="{FF2B5EF4-FFF2-40B4-BE49-F238E27FC236}">
                <a16:creationId xmlns:a16="http://schemas.microsoft.com/office/drawing/2014/main" id="{DABC3684-7076-4DF6-A5E3-37B05E4B4D25}"/>
              </a:ext>
            </a:extLst>
          </p:cNvPr>
          <p:cNvSpPr>
            <a:spLocks noGrp="1"/>
          </p:cNvSpPr>
          <p:nvPr/>
        </p:nvSpPr>
        <p:spPr>
          <a:xfrm>
            <a:off x="7384705" y="2628900"/>
            <a:ext cx="1858790" cy="447675"/>
          </a:xfrm>
          <a:prstGeom prst="rect">
            <a:avLst/>
          </a:prstGeom>
          <a:solidFill>
            <a:srgbClr val="4C91D8"/>
          </a:solidFill>
          <a:ln w="0">
            <a:noFill/>
          </a:ln>
        </p:spPr>
        <p:txBody>
          <a:bodyPr/>
          <a:lstStyle/>
          <a:p>
            <a:endParaRPr lang="en-US"/>
          </a:p>
        </p:txBody>
      </p:sp>
      <p:sp>
        <p:nvSpPr>
          <p:cNvPr id="550" name="24%">
            <a:extLst>
              <a:ext uri="{FF2B5EF4-FFF2-40B4-BE49-F238E27FC236}">
                <a16:creationId xmlns:a16="http://schemas.microsoft.com/office/drawing/2014/main" id="{23CA0931-A240-4A36-A329-AAE4E8CACA6E}"/>
              </a:ext>
            </a:extLst>
          </p:cNvPr>
          <p:cNvSpPr>
            <a:spLocks noGrp="1"/>
          </p:cNvSpPr>
          <p:nvPr/>
        </p:nvSpPr>
        <p:spPr>
          <a:xfrm>
            <a:off x="7422805" y="2733675"/>
            <a:ext cx="180164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51" name="Rectangle 550">
            <a:extLst>
              <a:ext uri="{FF2B5EF4-FFF2-40B4-BE49-F238E27FC236}">
                <a16:creationId xmlns:a16="http://schemas.microsoft.com/office/drawing/2014/main" id="{4DC8E9F8-445B-4822-9FC9-D6E3039FB06A}"/>
              </a:ext>
            </a:extLst>
          </p:cNvPr>
          <p:cNvSpPr>
            <a:spLocks noGrp="1"/>
          </p:cNvSpPr>
          <p:nvPr/>
        </p:nvSpPr>
        <p:spPr>
          <a:xfrm>
            <a:off x="9243495" y="2628900"/>
            <a:ext cx="1376880" cy="447675"/>
          </a:xfrm>
          <a:prstGeom prst="rect">
            <a:avLst/>
          </a:prstGeom>
          <a:solidFill>
            <a:srgbClr val="285B9F"/>
          </a:solidFill>
          <a:ln w="0">
            <a:noFill/>
          </a:ln>
        </p:spPr>
        <p:txBody>
          <a:bodyPr/>
          <a:lstStyle/>
          <a:p>
            <a:endParaRPr lang="en-US"/>
          </a:p>
        </p:txBody>
      </p:sp>
      <p:sp>
        <p:nvSpPr>
          <p:cNvPr id="552" name="22%">
            <a:extLst>
              <a:ext uri="{FF2B5EF4-FFF2-40B4-BE49-F238E27FC236}">
                <a16:creationId xmlns:a16="http://schemas.microsoft.com/office/drawing/2014/main" id="{1CDE1EB6-7BF1-4FEE-ACED-98014DF9FC9C}"/>
              </a:ext>
            </a:extLst>
          </p:cNvPr>
          <p:cNvSpPr>
            <a:spLocks noGrp="1"/>
          </p:cNvSpPr>
          <p:nvPr/>
        </p:nvSpPr>
        <p:spPr>
          <a:xfrm>
            <a:off x="9281595" y="2733675"/>
            <a:ext cx="13197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20%</a:t>
            </a:r>
          </a:p>
        </p:txBody>
      </p:sp>
      <p:sp>
        <p:nvSpPr>
          <p:cNvPr id="553" name="n=172">
            <a:extLst>
              <a:ext uri="{FF2B5EF4-FFF2-40B4-BE49-F238E27FC236}">
                <a16:creationId xmlns:a16="http://schemas.microsoft.com/office/drawing/2014/main" id="{B092F0A8-CD89-4608-90D8-E79E886073BE}"/>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n=128</a:t>
            </a:r>
          </a:p>
        </p:txBody>
      </p:sp>
      <p:sp>
        <p:nvSpPr>
          <p:cNvPr id="554" name="Some support">
            <a:extLst>
              <a:ext uri="{FF2B5EF4-FFF2-40B4-BE49-F238E27FC236}">
                <a16:creationId xmlns:a16="http://schemas.microsoft.com/office/drawing/2014/main" id="{B7E00B0F-6843-4F14-AE08-930521672D88}"/>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 support</a:t>
            </a:r>
          </a:p>
        </p:txBody>
      </p:sp>
      <p:sp>
        <p:nvSpPr>
          <p:cNvPr id="555" name="Rectangle 554">
            <a:extLst>
              <a:ext uri="{FF2B5EF4-FFF2-40B4-BE49-F238E27FC236}">
                <a16:creationId xmlns:a16="http://schemas.microsoft.com/office/drawing/2014/main" id="{B830FE8D-CAE5-4CE0-A502-BA51D16BF8EF}"/>
              </a:ext>
            </a:extLst>
          </p:cNvPr>
          <p:cNvSpPr>
            <a:spLocks noGrp="1"/>
          </p:cNvSpPr>
          <p:nvPr/>
        </p:nvSpPr>
        <p:spPr>
          <a:xfrm>
            <a:off x="3667125" y="3352800"/>
            <a:ext cx="1264227" cy="447675"/>
          </a:xfrm>
          <a:prstGeom prst="rect">
            <a:avLst/>
          </a:prstGeom>
          <a:solidFill>
            <a:srgbClr val="A83A3A"/>
          </a:solidFill>
          <a:ln w="0">
            <a:noFill/>
          </a:ln>
        </p:spPr>
        <p:txBody>
          <a:bodyPr/>
          <a:lstStyle/>
          <a:p>
            <a:endParaRPr lang="en-US"/>
          </a:p>
        </p:txBody>
      </p:sp>
      <p:sp>
        <p:nvSpPr>
          <p:cNvPr id="556" name="19%">
            <a:extLst>
              <a:ext uri="{FF2B5EF4-FFF2-40B4-BE49-F238E27FC236}">
                <a16:creationId xmlns:a16="http://schemas.microsoft.com/office/drawing/2014/main" id="{58091ECD-E5F7-4666-B3FD-1FA6BF2AC21E}"/>
              </a:ext>
            </a:extLst>
          </p:cNvPr>
          <p:cNvSpPr>
            <a:spLocks noGrp="1"/>
          </p:cNvSpPr>
          <p:nvPr/>
        </p:nvSpPr>
        <p:spPr>
          <a:xfrm>
            <a:off x="3705225" y="3457575"/>
            <a:ext cx="120707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18%</a:t>
            </a:r>
          </a:p>
        </p:txBody>
      </p:sp>
      <p:sp>
        <p:nvSpPr>
          <p:cNvPr id="557" name="Rectangle 556">
            <a:extLst>
              <a:ext uri="{FF2B5EF4-FFF2-40B4-BE49-F238E27FC236}">
                <a16:creationId xmlns:a16="http://schemas.microsoft.com/office/drawing/2014/main" id="{0C02A49D-45D1-46D3-8F2C-E69D502CB5AD}"/>
              </a:ext>
            </a:extLst>
          </p:cNvPr>
          <p:cNvSpPr>
            <a:spLocks noGrp="1"/>
          </p:cNvSpPr>
          <p:nvPr/>
        </p:nvSpPr>
        <p:spPr>
          <a:xfrm>
            <a:off x="4931352" y="3352800"/>
            <a:ext cx="2809394" cy="447675"/>
          </a:xfrm>
          <a:prstGeom prst="rect">
            <a:avLst/>
          </a:prstGeom>
          <a:solidFill>
            <a:srgbClr val="DC713D"/>
          </a:solidFill>
          <a:ln w="0">
            <a:noFill/>
          </a:ln>
        </p:spPr>
        <p:txBody>
          <a:bodyPr/>
          <a:lstStyle/>
          <a:p>
            <a:endParaRPr lang="en-US"/>
          </a:p>
        </p:txBody>
      </p:sp>
      <p:sp>
        <p:nvSpPr>
          <p:cNvPr id="558" name="37%">
            <a:extLst>
              <a:ext uri="{FF2B5EF4-FFF2-40B4-BE49-F238E27FC236}">
                <a16:creationId xmlns:a16="http://schemas.microsoft.com/office/drawing/2014/main" id="{15AEFED7-A8E5-4214-9AEC-F88FE03ECDAA}"/>
              </a:ext>
            </a:extLst>
          </p:cNvPr>
          <p:cNvSpPr>
            <a:spLocks noGrp="1"/>
          </p:cNvSpPr>
          <p:nvPr/>
        </p:nvSpPr>
        <p:spPr>
          <a:xfrm>
            <a:off x="4969452" y="3457575"/>
            <a:ext cx="275224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40%</a:t>
            </a:r>
          </a:p>
        </p:txBody>
      </p:sp>
      <p:sp>
        <p:nvSpPr>
          <p:cNvPr id="559" name="Rectangle 558">
            <a:extLst>
              <a:ext uri="{FF2B5EF4-FFF2-40B4-BE49-F238E27FC236}">
                <a16:creationId xmlns:a16="http://schemas.microsoft.com/office/drawing/2014/main" id="{585A4FDC-1DB4-450A-91B8-FD95584EE070}"/>
              </a:ext>
            </a:extLst>
          </p:cNvPr>
          <p:cNvSpPr>
            <a:spLocks noGrp="1"/>
          </p:cNvSpPr>
          <p:nvPr/>
        </p:nvSpPr>
        <p:spPr>
          <a:xfrm>
            <a:off x="7740746" y="3352800"/>
            <a:ext cx="1685636" cy="447675"/>
          </a:xfrm>
          <a:prstGeom prst="rect">
            <a:avLst/>
          </a:prstGeom>
          <a:solidFill>
            <a:srgbClr val="4C91D8"/>
          </a:solidFill>
          <a:ln w="0">
            <a:noFill/>
          </a:ln>
        </p:spPr>
        <p:txBody>
          <a:bodyPr/>
          <a:lstStyle/>
          <a:p>
            <a:endParaRPr lang="en-US"/>
          </a:p>
        </p:txBody>
      </p:sp>
      <p:sp>
        <p:nvSpPr>
          <p:cNvPr id="560" name="25%">
            <a:extLst>
              <a:ext uri="{FF2B5EF4-FFF2-40B4-BE49-F238E27FC236}">
                <a16:creationId xmlns:a16="http://schemas.microsoft.com/office/drawing/2014/main" id="{5581858B-8030-48E4-BE84-E25814135F67}"/>
              </a:ext>
            </a:extLst>
          </p:cNvPr>
          <p:cNvSpPr>
            <a:spLocks noGrp="1"/>
          </p:cNvSpPr>
          <p:nvPr/>
        </p:nvSpPr>
        <p:spPr>
          <a:xfrm>
            <a:off x="7778846" y="3457575"/>
            <a:ext cx="162848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61" name="Rectangle 560">
            <a:extLst>
              <a:ext uri="{FF2B5EF4-FFF2-40B4-BE49-F238E27FC236}">
                <a16:creationId xmlns:a16="http://schemas.microsoft.com/office/drawing/2014/main" id="{7517621A-017C-4E43-A52B-285AAD8B1588}"/>
              </a:ext>
            </a:extLst>
          </p:cNvPr>
          <p:cNvSpPr>
            <a:spLocks noGrp="1"/>
          </p:cNvSpPr>
          <p:nvPr/>
        </p:nvSpPr>
        <p:spPr>
          <a:xfrm>
            <a:off x="9426382" y="3352800"/>
            <a:ext cx="1193993" cy="447675"/>
          </a:xfrm>
          <a:prstGeom prst="rect">
            <a:avLst/>
          </a:prstGeom>
          <a:solidFill>
            <a:srgbClr val="285B9F"/>
          </a:solidFill>
          <a:ln w="0">
            <a:noFill/>
          </a:ln>
        </p:spPr>
        <p:txBody>
          <a:bodyPr/>
          <a:lstStyle/>
          <a:p>
            <a:endParaRPr lang="en-US"/>
          </a:p>
        </p:txBody>
      </p:sp>
      <p:sp>
        <p:nvSpPr>
          <p:cNvPr id="562" name="18%">
            <a:extLst>
              <a:ext uri="{FF2B5EF4-FFF2-40B4-BE49-F238E27FC236}">
                <a16:creationId xmlns:a16="http://schemas.microsoft.com/office/drawing/2014/main" id="{FD6AD43E-F2D2-4827-9C2F-2A407B979E8D}"/>
              </a:ext>
            </a:extLst>
          </p:cNvPr>
          <p:cNvSpPr>
            <a:spLocks noGrp="1"/>
          </p:cNvSpPr>
          <p:nvPr/>
        </p:nvSpPr>
        <p:spPr>
          <a:xfrm>
            <a:off x="9464482" y="3457575"/>
            <a:ext cx="113684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63" name="n=271">
            <a:extLst>
              <a:ext uri="{FF2B5EF4-FFF2-40B4-BE49-F238E27FC236}">
                <a16:creationId xmlns:a16="http://schemas.microsoft.com/office/drawing/2014/main" id="{6C58C922-2F3D-4EBF-BB43-85C3F1CF6059}"/>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n=233</a:t>
            </a:r>
          </a:p>
        </p:txBody>
      </p:sp>
      <p:sp>
        <p:nvSpPr>
          <p:cNvPr id="564" name="Good support">
            <a:extLst>
              <a:ext uri="{FF2B5EF4-FFF2-40B4-BE49-F238E27FC236}">
                <a16:creationId xmlns:a16="http://schemas.microsoft.com/office/drawing/2014/main" id="{7D8B9FEF-AD98-4819-A2A2-6C217508F7C1}"/>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Good support</a:t>
            </a:r>
          </a:p>
        </p:txBody>
      </p:sp>
      <p:sp>
        <p:nvSpPr>
          <p:cNvPr id="565" name="Rectangle 564">
            <a:extLst>
              <a:ext uri="{FF2B5EF4-FFF2-40B4-BE49-F238E27FC236}">
                <a16:creationId xmlns:a16="http://schemas.microsoft.com/office/drawing/2014/main" id="{BE15EE7F-69EF-4974-87E3-7CF063E27DFE}"/>
              </a:ext>
            </a:extLst>
          </p:cNvPr>
          <p:cNvSpPr>
            <a:spLocks noGrp="1"/>
          </p:cNvSpPr>
          <p:nvPr/>
        </p:nvSpPr>
        <p:spPr>
          <a:xfrm>
            <a:off x="3667125" y="4076700"/>
            <a:ext cx="1042988" cy="447675"/>
          </a:xfrm>
          <a:prstGeom prst="rect">
            <a:avLst/>
          </a:prstGeom>
          <a:solidFill>
            <a:srgbClr val="A83A3A"/>
          </a:solidFill>
          <a:ln w="0">
            <a:noFill/>
          </a:ln>
        </p:spPr>
        <p:txBody>
          <a:bodyPr/>
          <a:lstStyle/>
          <a:p>
            <a:endParaRPr lang="en-US"/>
          </a:p>
        </p:txBody>
      </p:sp>
      <p:sp>
        <p:nvSpPr>
          <p:cNvPr id="566" name="18%">
            <a:extLst>
              <a:ext uri="{FF2B5EF4-FFF2-40B4-BE49-F238E27FC236}">
                <a16:creationId xmlns:a16="http://schemas.microsoft.com/office/drawing/2014/main" id="{4E910F36-9AE7-4BA5-9557-9817B8199CD3}"/>
              </a:ext>
            </a:extLst>
          </p:cNvPr>
          <p:cNvSpPr>
            <a:spLocks noGrp="1"/>
          </p:cNvSpPr>
          <p:nvPr/>
        </p:nvSpPr>
        <p:spPr>
          <a:xfrm>
            <a:off x="3705225" y="4181475"/>
            <a:ext cx="98583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15%</a:t>
            </a:r>
          </a:p>
        </p:txBody>
      </p:sp>
      <p:sp>
        <p:nvSpPr>
          <p:cNvPr id="567" name="Rectangle 566">
            <a:extLst>
              <a:ext uri="{FF2B5EF4-FFF2-40B4-BE49-F238E27FC236}">
                <a16:creationId xmlns:a16="http://schemas.microsoft.com/office/drawing/2014/main" id="{B6A27BE1-BAE0-4E5E-911E-5FA9D65F2BF0}"/>
              </a:ext>
            </a:extLst>
          </p:cNvPr>
          <p:cNvSpPr>
            <a:spLocks noGrp="1"/>
          </p:cNvSpPr>
          <p:nvPr/>
        </p:nvSpPr>
        <p:spPr>
          <a:xfrm>
            <a:off x="4710113" y="4076700"/>
            <a:ext cx="2016442" cy="447675"/>
          </a:xfrm>
          <a:prstGeom prst="rect">
            <a:avLst/>
          </a:prstGeom>
          <a:solidFill>
            <a:srgbClr val="DC713D"/>
          </a:solidFill>
          <a:ln w="0">
            <a:noFill/>
          </a:ln>
        </p:spPr>
        <p:txBody>
          <a:bodyPr/>
          <a:lstStyle/>
          <a:p>
            <a:endParaRPr lang="en-US"/>
          </a:p>
        </p:txBody>
      </p:sp>
      <p:sp>
        <p:nvSpPr>
          <p:cNvPr id="568" name="27%">
            <a:extLst>
              <a:ext uri="{FF2B5EF4-FFF2-40B4-BE49-F238E27FC236}">
                <a16:creationId xmlns:a16="http://schemas.microsoft.com/office/drawing/2014/main" id="{21F55102-44E5-4370-A933-1FD88B4BA3E5}"/>
              </a:ext>
            </a:extLst>
          </p:cNvPr>
          <p:cNvSpPr>
            <a:spLocks noGrp="1"/>
          </p:cNvSpPr>
          <p:nvPr/>
        </p:nvSpPr>
        <p:spPr>
          <a:xfrm>
            <a:off x="4748213" y="4181475"/>
            <a:ext cx="195929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29%</a:t>
            </a:r>
          </a:p>
        </p:txBody>
      </p:sp>
      <p:sp>
        <p:nvSpPr>
          <p:cNvPr id="569" name="Rectangle 568">
            <a:extLst>
              <a:ext uri="{FF2B5EF4-FFF2-40B4-BE49-F238E27FC236}">
                <a16:creationId xmlns:a16="http://schemas.microsoft.com/office/drawing/2014/main" id="{F032DF45-E24A-498C-97E4-7C3C470B2D59}"/>
              </a:ext>
            </a:extLst>
          </p:cNvPr>
          <p:cNvSpPr>
            <a:spLocks noGrp="1"/>
          </p:cNvSpPr>
          <p:nvPr/>
        </p:nvSpPr>
        <p:spPr>
          <a:xfrm>
            <a:off x="6726555" y="4076700"/>
            <a:ext cx="2225040" cy="447675"/>
          </a:xfrm>
          <a:prstGeom prst="rect">
            <a:avLst/>
          </a:prstGeom>
          <a:solidFill>
            <a:srgbClr val="4C91D8"/>
          </a:solidFill>
          <a:ln w="0">
            <a:noFill/>
          </a:ln>
        </p:spPr>
        <p:txBody>
          <a:bodyPr/>
          <a:lstStyle/>
          <a:p>
            <a:endParaRPr lang="en-US"/>
          </a:p>
        </p:txBody>
      </p:sp>
      <p:sp>
        <p:nvSpPr>
          <p:cNvPr id="570" name="31%">
            <a:extLst>
              <a:ext uri="{FF2B5EF4-FFF2-40B4-BE49-F238E27FC236}">
                <a16:creationId xmlns:a16="http://schemas.microsoft.com/office/drawing/2014/main" id="{2FD8DAAF-236C-4637-B387-107E94D67DB2}"/>
              </a:ext>
            </a:extLst>
          </p:cNvPr>
          <p:cNvSpPr>
            <a:spLocks noGrp="1"/>
          </p:cNvSpPr>
          <p:nvPr/>
        </p:nvSpPr>
        <p:spPr>
          <a:xfrm>
            <a:off x="6764655" y="41814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71" name="Rectangle 570">
            <a:extLst>
              <a:ext uri="{FF2B5EF4-FFF2-40B4-BE49-F238E27FC236}">
                <a16:creationId xmlns:a16="http://schemas.microsoft.com/office/drawing/2014/main" id="{F46D1DA7-5C30-40E9-A4FB-707630FA6514}"/>
              </a:ext>
            </a:extLst>
          </p:cNvPr>
          <p:cNvSpPr>
            <a:spLocks noGrp="1"/>
          </p:cNvSpPr>
          <p:nvPr/>
        </p:nvSpPr>
        <p:spPr>
          <a:xfrm>
            <a:off x="8951595" y="4076700"/>
            <a:ext cx="1668780" cy="447675"/>
          </a:xfrm>
          <a:prstGeom prst="rect">
            <a:avLst/>
          </a:prstGeom>
          <a:solidFill>
            <a:srgbClr val="285B9F"/>
          </a:solidFill>
          <a:ln w="0">
            <a:noFill/>
          </a:ln>
        </p:spPr>
        <p:txBody>
          <a:bodyPr/>
          <a:lstStyle/>
          <a:p>
            <a:endParaRPr lang="en-US"/>
          </a:p>
        </p:txBody>
      </p:sp>
      <p:sp>
        <p:nvSpPr>
          <p:cNvPr id="572" name="25%">
            <a:extLst>
              <a:ext uri="{FF2B5EF4-FFF2-40B4-BE49-F238E27FC236}">
                <a16:creationId xmlns:a16="http://schemas.microsoft.com/office/drawing/2014/main" id="{36771207-707B-4529-8194-667225274A1A}"/>
              </a:ext>
            </a:extLst>
          </p:cNvPr>
          <p:cNvSpPr>
            <a:spLocks noGrp="1"/>
          </p:cNvSpPr>
          <p:nvPr/>
        </p:nvSpPr>
        <p:spPr>
          <a:xfrm>
            <a:off x="8989695" y="4181475"/>
            <a:ext cx="16116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73" name="n=314">
            <a:extLst>
              <a:ext uri="{FF2B5EF4-FFF2-40B4-BE49-F238E27FC236}">
                <a16:creationId xmlns:a16="http://schemas.microsoft.com/office/drawing/2014/main" id="{BCBB3716-5D89-4926-8B26-6E0588DD3E8C}"/>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n=278</a:t>
            </a:r>
          </a:p>
        </p:txBody>
      </p:sp>
      <p:sp>
        <p:nvSpPr>
          <p:cNvPr id="574" name="Strong support">
            <a:extLst>
              <a:ext uri="{FF2B5EF4-FFF2-40B4-BE49-F238E27FC236}">
                <a16:creationId xmlns:a16="http://schemas.microsoft.com/office/drawing/2014/main" id="{4DB1932D-042A-4760-8E39-8F7D94262594}"/>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Strong support</a:t>
            </a:r>
          </a:p>
        </p:txBody>
      </p:sp>
      <p:sp>
        <p:nvSpPr>
          <p:cNvPr id="575" name="Rectangle 574">
            <a:extLst>
              <a:ext uri="{FF2B5EF4-FFF2-40B4-BE49-F238E27FC236}">
                <a16:creationId xmlns:a16="http://schemas.microsoft.com/office/drawing/2014/main" id="{CE1D37DA-CA2F-4DA9-968D-26855310D7C2}"/>
              </a:ext>
            </a:extLst>
          </p:cNvPr>
          <p:cNvSpPr>
            <a:spLocks noGrp="1"/>
          </p:cNvSpPr>
          <p:nvPr/>
        </p:nvSpPr>
        <p:spPr>
          <a:xfrm>
            <a:off x="3667125" y="4800600"/>
            <a:ext cx="1514569" cy="447675"/>
          </a:xfrm>
          <a:prstGeom prst="rect">
            <a:avLst/>
          </a:prstGeom>
          <a:solidFill>
            <a:srgbClr val="A83A3A"/>
          </a:solidFill>
          <a:ln w="0">
            <a:noFill/>
          </a:ln>
        </p:spPr>
        <p:txBody>
          <a:bodyPr/>
          <a:lstStyle/>
          <a:p>
            <a:endParaRPr lang="en-US"/>
          </a:p>
        </p:txBody>
      </p:sp>
      <p:sp>
        <p:nvSpPr>
          <p:cNvPr id="576" name="22%">
            <a:extLst>
              <a:ext uri="{FF2B5EF4-FFF2-40B4-BE49-F238E27FC236}">
                <a16:creationId xmlns:a16="http://schemas.microsoft.com/office/drawing/2014/main" id="{C1B3CD1A-6567-42C2-8F01-DFB89988DEAA}"/>
              </a:ext>
            </a:extLst>
          </p:cNvPr>
          <p:cNvSpPr>
            <a:spLocks noGrp="1"/>
          </p:cNvSpPr>
          <p:nvPr/>
        </p:nvSpPr>
        <p:spPr>
          <a:xfrm>
            <a:off x="3705225" y="4905375"/>
            <a:ext cx="145741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7" name="Rectangle 576">
            <a:extLst>
              <a:ext uri="{FF2B5EF4-FFF2-40B4-BE49-F238E27FC236}">
                <a16:creationId xmlns:a16="http://schemas.microsoft.com/office/drawing/2014/main" id="{2FC0835B-691D-4614-B05F-12D4BFB986B1}"/>
              </a:ext>
            </a:extLst>
          </p:cNvPr>
          <p:cNvSpPr>
            <a:spLocks noGrp="1"/>
          </p:cNvSpPr>
          <p:nvPr/>
        </p:nvSpPr>
        <p:spPr>
          <a:xfrm>
            <a:off x="5181694" y="4800600"/>
            <a:ext cx="1927634"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72190EC2-871C-4840-A88D-E3E67F035880}"/>
              </a:ext>
            </a:extLst>
          </p:cNvPr>
          <p:cNvSpPr>
            <a:spLocks noGrp="1"/>
          </p:cNvSpPr>
          <p:nvPr/>
        </p:nvSpPr>
        <p:spPr>
          <a:xfrm>
            <a:off x="5219794" y="4905375"/>
            <a:ext cx="187048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9" name="Rectangle 578">
            <a:extLst>
              <a:ext uri="{FF2B5EF4-FFF2-40B4-BE49-F238E27FC236}">
                <a16:creationId xmlns:a16="http://schemas.microsoft.com/office/drawing/2014/main" id="{77D1342B-CD93-4725-BEA9-F0126DAC7680}"/>
              </a:ext>
            </a:extLst>
          </p:cNvPr>
          <p:cNvSpPr>
            <a:spLocks noGrp="1"/>
          </p:cNvSpPr>
          <p:nvPr/>
        </p:nvSpPr>
        <p:spPr>
          <a:xfrm>
            <a:off x="7109328" y="4800600"/>
            <a:ext cx="2065322" cy="447675"/>
          </a:xfrm>
          <a:prstGeom prst="rect">
            <a:avLst/>
          </a:prstGeom>
          <a:solidFill>
            <a:srgbClr val="4C91D8"/>
          </a:solidFill>
          <a:ln w="0">
            <a:noFill/>
          </a:ln>
        </p:spPr>
        <p:txBody>
          <a:bodyPr/>
          <a:lstStyle/>
          <a:p>
            <a:endParaRPr lang="en-US"/>
          </a:p>
        </p:txBody>
      </p:sp>
      <p:sp>
        <p:nvSpPr>
          <p:cNvPr id="580" name="28%">
            <a:extLst>
              <a:ext uri="{FF2B5EF4-FFF2-40B4-BE49-F238E27FC236}">
                <a16:creationId xmlns:a16="http://schemas.microsoft.com/office/drawing/2014/main" id="{30BE69D9-6C49-46FE-96D5-947CA01036FD}"/>
              </a:ext>
            </a:extLst>
          </p:cNvPr>
          <p:cNvSpPr>
            <a:spLocks noGrp="1"/>
          </p:cNvSpPr>
          <p:nvPr/>
        </p:nvSpPr>
        <p:spPr>
          <a:xfrm>
            <a:off x="7147428" y="4905375"/>
            <a:ext cx="200817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81" name="Rectangle 580">
            <a:extLst>
              <a:ext uri="{FF2B5EF4-FFF2-40B4-BE49-F238E27FC236}">
                <a16:creationId xmlns:a16="http://schemas.microsoft.com/office/drawing/2014/main" id="{276E5891-B529-4F5E-B493-045F152985C8}"/>
              </a:ext>
            </a:extLst>
          </p:cNvPr>
          <p:cNvSpPr>
            <a:spLocks noGrp="1"/>
          </p:cNvSpPr>
          <p:nvPr/>
        </p:nvSpPr>
        <p:spPr>
          <a:xfrm>
            <a:off x="9174650" y="4800600"/>
            <a:ext cx="1445725"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7162DF20-05E7-4364-8775-B8825EB8B9FB}"/>
              </a:ext>
            </a:extLst>
          </p:cNvPr>
          <p:cNvSpPr>
            <a:spLocks noGrp="1"/>
          </p:cNvSpPr>
          <p:nvPr/>
        </p:nvSpPr>
        <p:spPr>
          <a:xfrm>
            <a:off x="9212750" y="4905375"/>
            <a:ext cx="13885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83" name="n=201">
            <a:extLst>
              <a:ext uri="{FF2B5EF4-FFF2-40B4-BE49-F238E27FC236}">
                <a16:creationId xmlns:a16="http://schemas.microsoft.com/office/drawing/2014/main" id="{93100880-3DD4-4315-824E-0FA5CDA5AA9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n=165</a:t>
            </a:r>
          </a:p>
        </p:txBody>
      </p:sp>
      <p:sp>
        <p:nvSpPr>
          <p:cNvPr id="584" name="Rectangle 583">
            <a:extLst>
              <a:ext uri="{FF2B5EF4-FFF2-40B4-BE49-F238E27FC236}">
                <a16:creationId xmlns:a16="http://schemas.microsoft.com/office/drawing/2014/main" id="{FCF6C6EA-1BC6-47C0-BF48-303FF3DC4408}"/>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5A1EFBEB-384B-4DE6-9F93-87D0FED7DC2F}"/>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806F7266-9161-4B26-BBDF-D81D07010070}"/>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76B9B6C4-B86A-4234-A60F-C5E6302CFB7C}"/>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0B7E115B-C96E-4694-BEA7-FED612AD2B61}"/>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6E9DFA9E-3B16-43F8-B79D-E22189D40FAB}"/>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39E44298-AEA9-43FE-9D5A-D1BADF2224F3}"/>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9628939C-5E31-43EF-81BC-7A945B8974DD}"/>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EC9CC2F0-BB95-4644-2374-B7E59F7A76EB}"/>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9D2B13A4-70D4-F6D9-3879-0BB68DEC1C85}"/>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5DA3E04C-6E72-EA71-F413-E3FAB419103F}"/>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88E328D4-2A91-0362-7CCC-7C8C7F82F7B6}"/>
              </a:ext>
            </a:extLst>
          </p:cNvPr>
          <p:cNvSpPr txBox="1"/>
          <p:nvPr/>
        </p:nvSpPr>
        <p:spPr>
          <a:xfrm rot="16200000">
            <a:off x="-652800" y="2715997"/>
            <a:ext cx="1736373" cy="369332"/>
          </a:xfrm>
          <a:prstGeom prst="rect">
            <a:avLst/>
          </a:prstGeom>
          <a:noFill/>
        </p:spPr>
        <p:txBody>
          <a:bodyPr wrap="none" rtlCol="0">
            <a:spAutoFit/>
          </a:bodyPr>
          <a:lstStyle/>
          <a:p>
            <a:r>
              <a:rPr lang="en-US" dirty="0"/>
              <a:t>Family Support</a:t>
            </a:r>
          </a:p>
        </p:txBody>
      </p:sp>
    </p:spTree>
    <p:extLst>
      <p:ext uri="{BB962C8B-B14F-4D97-AF65-F5344CB8AC3E}">
        <p14:creationId xmlns:p14="http://schemas.microsoft.com/office/powerpoint/2010/main" val="1479542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Study environment and CGPA</a:t>
            </a:r>
          </a:p>
        </p:txBody>
      </p:sp>
      <p:sp>
        <p:nvSpPr>
          <p:cNvPr id="534" name="Very distracting">
            <a:extLst>
              <a:ext uri="{FF2B5EF4-FFF2-40B4-BE49-F238E27FC236}">
                <a16:creationId xmlns:a16="http://schemas.microsoft.com/office/drawing/2014/main" id="{3C6762E4-36B0-4625-ADF0-3420C9EA6070}"/>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Very distracting</a:t>
            </a:r>
          </a:p>
        </p:txBody>
      </p:sp>
      <p:sp>
        <p:nvSpPr>
          <p:cNvPr id="535" name="Rectangle 534">
            <a:extLst>
              <a:ext uri="{FF2B5EF4-FFF2-40B4-BE49-F238E27FC236}">
                <a16:creationId xmlns:a16="http://schemas.microsoft.com/office/drawing/2014/main" id="{12D9992D-F387-40DC-A966-5B6A25DBBF45}"/>
              </a:ext>
            </a:extLst>
          </p:cNvPr>
          <p:cNvSpPr>
            <a:spLocks noGrp="1"/>
          </p:cNvSpPr>
          <p:nvPr/>
        </p:nvSpPr>
        <p:spPr>
          <a:xfrm>
            <a:off x="3667125" y="1905000"/>
            <a:ext cx="2271854" cy="447675"/>
          </a:xfrm>
          <a:prstGeom prst="rect">
            <a:avLst/>
          </a:prstGeom>
          <a:solidFill>
            <a:srgbClr val="A83A3A"/>
          </a:solidFill>
          <a:ln w="0">
            <a:noFill/>
          </a:ln>
        </p:spPr>
        <p:txBody>
          <a:bodyPr/>
          <a:lstStyle/>
          <a:p>
            <a:endParaRPr lang="en-US"/>
          </a:p>
        </p:txBody>
      </p:sp>
      <p:sp>
        <p:nvSpPr>
          <p:cNvPr id="536" name="30%">
            <a:extLst>
              <a:ext uri="{FF2B5EF4-FFF2-40B4-BE49-F238E27FC236}">
                <a16:creationId xmlns:a16="http://schemas.microsoft.com/office/drawing/2014/main" id="{F769A0F2-11B7-45BE-B96A-0ED7E65B826B}"/>
              </a:ext>
            </a:extLst>
          </p:cNvPr>
          <p:cNvSpPr>
            <a:spLocks noGrp="1"/>
          </p:cNvSpPr>
          <p:nvPr/>
        </p:nvSpPr>
        <p:spPr>
          <a:xfrm>
            <a:off x="3705225" y="2009775"/>
            <a:ext cx="221470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37" name="Rectangle 536">
            <a:extLst>
              <a:ext uri="{FF2B5EF4-FFF2-40B4-BE49-F238E27FC236}">
                <a16:creationId xmlns:a16="http://schemas.microsoft.com/office/drawing/2014/main" id="{12E56304-C6A4-4349-8CEA-38190A68270E}"/>
              </a:ext>
            </a:extLst>
          </p:cNvPr>
          <p:cNvSpPr>
            <a:spLocks noGrp="1"/>
          </p:cNvSpPr>
          <p:nvPr/>
        </p:nvSpPr>
        <p:spPr>
          <a:xfrm>
            <a:off x="5938979" y="1905000"/>
            <a:ext cx="1652257" cy="447675"/>
          </a:xfrm>
          <a:prstGeom prst="rect">
            <a:avLst/>
          </a:prstGeom>
          <a:solidFill>
            <a:srgbClr val="DC713D"/>
          </a:solidFill>
          <a:ln w="0">
            <a:noFill/>
          </a:ln>
        </p:spPr>
        <p:txBody>
          <a:bodyPr/>
          <a:lstStyle/>
          <a:p>
            <a:endParaRPr lang="en-US"/>
          </a:p>
        </p:txBody>
      </p:sp>
      <p:sp>
        <p:nvSpPr>
          <p:cNvPr id="538" name="24%">
            <a:extLst>
              <a:ext uri="{FF2B5EF4-FFF2-40B4-BE49-F238E27FC236}">
                <a16:creationId xmlns:a16="http://schemas.microsoft.com/office/drawing/2014/main" id="{3FE33EB8-FC2B-4B0E-8DAF-62CE8E544D9A}"/>
              </a:ext>
            </a:extLst>
          </p:cNvPr>
          <p:cNvSpPr>
            <a:spLocks noGrp="1"/>
          </p:cNvSpPr>
          <p:nvPr/>
        </p:nvSpPr>
        <p:spPr>
          <a:xfrm>
            <a:off x="5977079" y="2009775"/>
            <a:ext cx="159510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39" name="Rectangle 538">
            <a:extLst>
              <a:ext uri="{FF2B5EF4-FFF2-40B4-BE49-F238E27FC236}">
                <a16:creationId xmlns:a16="http://schemas.microsoft.com/office/drawing/2014/main" id="{487D883A-8E25-4AF7-B2BE-2ACC198C23D9}"/>
              </a:ext>
            </a:extLst>
          </p:cNvPr>
          <p:cNvSpPr>
            <a:spLocks noGrp="1"/>
          </p:cNvSpPr>
          <p:nvPr/>
        </p:nvSpPr>
        <p:spPr>
          <a:xfrm>
            <a:off x="7591236" y="1905000"/>
            <a:ext cx="1583413" cy="447675"/>
          </a:xfrm>
          <a:prstGeom prst="rect">
            <a:avLst/>
          </a:prstGeom>
          <a:solidFill>
            <a:srgbClr val="4C91D8"/>
          </a:solidFill>
          <a:ln w="0">
            <a:noFill/>
          </a:ln>
        </p:spPr>
        <p:txBody>
          <a:bodyPr/>
          <a:lstStyle/>
          <a:p>
            <a:endParaRPr lang="en-US"/>
          </a:p>
        </p:txBody>
      </p:sp>
      <p:sp>
        <p:nvSpPr>
          <p:cNvPr id="540" name="23%">
            <a:extLst>
              <a:ext uri="{FF2B5EF4-FFF2-40B4-BE49-F238E27FC236}">
                <a16:creationId xmlns:a16="http://schemas.microsoft.com/office/drawing/2014/main" id="{A39A8C17-28E5-4970-AFF3-AD822EA23E9D}"/>
              </a:ext>
            </a:extLst>
          </p:cNvPr>
          <p:cNvSpPr>
            <a:spLocks noGrp="1"/>
          </p:cNvSpPr>
          <p:nvPr/>
        </p:nvSpPr>
        <p:spPr>
          <a:xfrm>
            <a:off x="7629336" y="2009775"/>
            <a:ext cx="1526263"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41" name="Rectangle 540">
            <a:extLst>
              <a:ext uri="{FF2B5EF4-FFF2-40B4-BE49-F238E27FC236}">
                <a16:creationId xmlns:a16="http://schemas.microsoft.com/office/drawing/2014/main" id="{F96780B4-8227-448A-B078-26851FE5C660}"/>
              </a:ext>
            </a:extLst>
          </p:cNvPr>
          <p:cNvSpPr>
            <a:spLocks noGrp="1"/>
          </p:cNvSpPr>
          <p:nvPr/>
        </p:nvSpPr>
        <p:spPr>
          <a:xfrm>
            <a:off x="9174649" y="1905000"/>
            <a:ext cx="1445726" cy="447675"/>
          </a:xfrm>
          <a:prstGeom prst="rect">
            <a:avLst/>
          </a:prstGeom>
          <a:solidFill>
            <a:srgbClr val="285B9F"/>
          </a:solidFill>
          <a:ln w="0">
            <a:noFill/>
          </a:ln>
        </p:spPr>
        <p:txBody>
          <a:bodyPr/>
          <a:lstStyle/>
          <a:p>
            <a:endParaRPr lang="en-US"/>
          </a:p>
        </p:txBody>
      </p:sp>
      <p:sp>
        <p:nvSpPr>
          <p:cNvPr id="542" name="24%">
            <a:extLst>
              <a:ext uri="{FF2B5EF4-FFF2-40B4-BE49-F238E27FC236}">
                <a16:creationId xmlns:a16="http://schemas.microsoft.com/office/drawing/2014/main" id="{60EE6C17-A886-46B8-95AF-F2BC2C2CCC86}"/>
              </a:ext>
            </a:extLst>
          </p:cNvPr>
          <p:cNvSpPr>
            <a:spLocks noGrp="1"/>
          </p:cNvSpPr>
          <p:nvPr/>
        </p:nvSpPr>
        <p:spPr>
          <a:xfrm>
            <a:off x="9212749" y="2009775"/>
            <a:ext cx="138857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3" name="n=153">
            <a:extLst>
              <a:ext uri="{FF2B5EF4-FFF2-40B4-BE49-F238E27FC236}">
                <a16:creationId xmlns:a16="http://schemas.microsoft.com/office/drawing/2014/main" id="{FF65287A-93A2-4C3C-B5AE-D3545BAF0579}"/>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n=106</a:t>
            </a:r>
          </a:p>
        </p:txBody>
      </p:sp>
      <p:sp>
        <p:nvSpPr>
          <p:cNvPr id="544" name="Somewhat distracting">
            <a:extLst>
              <a:ext uri="{FF2B5EF4-FFF2-40B4-BE49-F238E27FC236}">
                <a16:creationId xmlns:a16="http://schemas.microsoft.com/office/drawing/2014/main" id="{827FDE7C-ADA8-44CB-B33B-7AA09759391D}"/>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Somewhat distracting</a:t>
            </a:r>
          </a:p>
        </p:txBody>
      </p:sp>
      <p:sp>
        <p:nvSpPr>
          <p:cNvPr id="545" name="Rectangle 544">
            <a:extLst>
              <a:ext uri="{FF2B5EF4-FFF2-40B4-BE49-F238E27FC236}">
                <a16:creationId xmlns:a16="http://schemas.microsoft.com/office/drawing/2014/main" id="{BA27ADC3-99A7-4161-BD30-F390590A4914}"/>
              </a:ext>
            </a:extLst>
          </p:cNvPr>
          <p:cNvSpPr>
            <a:spLocks noGrp="1"/>
          </p:cNvSpPr>
          <p:nvPr/>
        </p:nvSpPr>
        <p:spPr>
          <a:xfrm>
            <a:off x="3667125" y="2628900"/>
            <a:ext cx="1460182" cy="447675"/>
          </a:xfrm>
          <a:prstGeom prst="rect">
            <a:avLst/>
          </a:prstGeom>
          <a:solidFill>
            <a:srgbClr val="A83A3A"/>
          </a:solidFill>
          <a:ln w="0">
            <a:noFill/>
          </a:ln>
        </p:spPr>
        <p:txBody>
          <a:bodyPr/>
          <a:lstStyle/>
          <a:p>
            <a:endParaRPr lang="en-US"/>
          </a:p>
        </p:txBody>
      </p:sp>
      <p:sp>
        <p:nvSpPr>
          <p:cNvPr id="546" name="21%">
            <a:extLst>
              <a:ext uri="{FF2B5EF4-FFF2-40B4-BE49-F238E27FC236}">
                <a16:creationId xmlns:a16="http://schemas.microsoft.com/office/drawing/2014/main" id="{9F073EE8-B3B4-497E-8107-2AADF38562B0}"/>
              </a:ext>
            </a:extLst>
          </p:cNvPr>
          <p:cNvSpPr>
            <a:spLocks noGrp="1"/>
          </p:cNvSpPr>
          <p:nvPr/>
        </p:nvSpPr>
        <p:spPr>
          <a:xfrm>
            <a:off x="3705225" y="27336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6F6C5BAE-BA07-406C-A3E4-465CF76C53EF}"/>
              </a:ext>
            </a:extLst>
          </p:cNvPr>
          <p:cNvSpPr>
            <a:spLocks noGrp="1"/>
          </p:cNvSpPr>
          <p:nvPr/>
        </p:nvSpPr>
        <p:spPr>
          <a:xfrm>
            <a:off x="5127307" y="2628900"/>
            <a:ext cx="2225040" cy="447675"/>
          </a:xfrm>
          <a:prstGeom prst="rect">
            <a:avLst/>
          </a:prstGeom>
          <a:solidFill>
            <a:srgbClr val="DC713D"/>
          </a:solidFill>
          <a:ln w="0">
            <a:noFill/>
          </a:ln>
        </p:spPr>
        <p:txBody>
          <a:bodyPr/>
          <a:lstStyle/>
          <a:p>
            <a:endParaRPr lang="en-US"/>
          </a:p>
        </p:txBody>
      </p:sp>
      <p:sp>
        <p:nvSpPr>
          <p:cNvPr id="548" name="31%">
            <a:extLst>
              <a:ext uri="{FF2B5EF4-FFF2-40B4-BE49-F238E27FC236}">
                <a16:creationId xmlns:a16="http://schemas.microsoft.com/office/drawing/2014/main" id="{EF8C5ABA-9F84-4568-BC2D-5F365A223D76}"/>
              </a:ext>
            </a:extLst>
          </p:cNvPr>
          <p:cNvSpPr>
            <a:spLocks noGrp="1"/>
          </p:cNvSpPr>
          <p:nvPr/>
        </p:nvSpPr>
        <p:spPr>
          <a:xfrm>
            <a:off x="5165407" y="27336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49" name="Rectangle 548">
            <a:extLst>
              <a:ext uri="{FF2B5EF4-FFF2-40B4-BE49-F238E27FC236}">
                <a16:creationId xmlns:a16="http://schemas.microsoft.com/office/drawing/2014/main" id="{FD25CC75-749A-4776-8BED-8C33E9C39F60}"/>
              </a:ext>
            </a:extLst>
          </p:cNvPr>
          <p:cNvSpPr>
            <a:spLocks noGrp="1"/>
          </p:cNvSpPr>
          <p:nvPr/>
        </p:nvSpPr>
        <p:spPr>
          <a:xfrm>
            <a:off x="7352347" y="2628900"/>
            <a:ext cx="1738312" cy="447675"/>
          </a:xfrm>
          <a:prstGeom prst="rect">
            <a:avLst/>
          </a:prstGeom>
          <a:solidFill>
            <a:srgbClr val="4C91D8"/>
          </a:solidFill>
          <a:ln w="0">
            <a:noFill/>
          </a:ln>
        </p:spPr>
        <p:txBody>
          <a:bodyPr/>
          <a:lstStyle/>
          <a:p>
            <a:endParaRPr lang="en-US"/>
          </a:p>
        </p:txBody>
      </p:sp>
      <p:sp>
        <p:nvSpPr>
          <p:cNvPr id="550" name="24%">
            <a:extLst>
              <a:ext uri="{FF2B5EF4-FFF2-40B4-BE49-F238E27FC236}">
                <a16:creationId xmlns:a16="http://schemas.microsoft.com/office/drawing/2014/main" id="{B6204180-D0AD-4E12-BDC8-265E032A92D7}"/>
              </a:ext>
            </a:extLst>
          </p:cNvPr>
          <p:cNvSpPr>
            <a:spLocks noGrp="1"/>
          </p:cNvSpPr>
          <p:nvPr/>
        </p:nvSpPr>
        <p:spPr>
          <a:xfrm>
            <a:off x="7390447" y="2733675"/>
            <a:ext cx="168116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25%</a:t>
            </a:r>
          </a:p>
        </p:txBody>
      </p:sp>
      <p:sp>
        <p:nvSpPr>
          <p:cNvPr id="551" name="Rectangle 550">
            <a:extLst>
              <a:ext uri="{FF2B5EF4-FFF2-40B4-BE49-F238E27FC236}">
                <a16:creationId xmlns:a16="http://schemas.microsoft.com/office/drawing/2014/main" id="{9AD147B4-4BAB-4269-903C-153B76FC0E77}"/>
              </a:ext>
            </a:extLst>
          </p:cNvPr>
          <p:cNvSpPr>
            <a:spLocks noGrp="1"/>
          </p:cNvSpPr>
          <p:nvPr/>
        </p:nvSpPr>
        <p:spPr>
          <a:xfrm>
            <a:off x="9090659" y="2628900"/>
            <a:ext cx="1529716" cy="447675"/>
          </a:xfrm>
          <a:prstGeom prst="rect">
            <a:avLst/>
          </a:prstGeom>
          <a:solidFill>
            <a:srgbClr val="285B9F"/>
          </a:solidFill>
          <a:ln w="0">
            <a:noFill/>
          </a:ln>
        </p:spPr>
        <p:txBody>
          <a:bodyPr/>
          <a:lstStyle/>
          <a:p>
            <a:endParaRPr lang="en-US"/>
          </a:p>
        </p:txBody>
      </p:sp>
      <p:sp>
        <p:nvSpPr>
          <p:cNvPr id="552" name="24%">
            <a:extLst>
              <a:ext uri="{FF2B5EF4-FFF2-40B4-BE49-F238E27FC236}">
                <a16:creationId xmlns:a16="http://schemas.microsoft.com/office/drawing/2014/main" id="{DB2DF94A-BB63-4115-9A35-72378E04DF2E}"/>
              </a:ext>
            </a:extLst>
          </p:cNvPr>
          <p:cNvSpPr>
            <a:spLocks noGrp="1"/>
          </p:cNvSpPr>
          <p:nvPr/>
        </p:nvSpPr>
        <p:spPr>
          <a:xfrm>
            <a:off x="9128759" y="2733675"/>
            <a:ext cx="147256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53" name="n=185">
            <a:extLst>
              <a:ext uri="{FF2B5EF4-FFF2-40B4-BE49-F238E27FC236}">
                <a16:creationId xmlns:a16="http://schemas.microsoft.com/office/drawing/2014/main" id="{273001DA-0323-404C-8EB8-A38E583B0F68}"/>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n=151</a:t>
            </a:r>
          </a:p>
        </p:txBody>
      </p:sp>
      <p:sp>
        <p:nvSpPr>
          <p:cNvPr id="554" name="Neither good nor bad">
            <a:extLst>
              <a:ext uri="{FF2B5EF4-FFF2-40B4-BE49-F238E27FC236}">
                <a16:creationId xmlns:a16="http://schemas.microsoft.com/office/drawing/2014/main" id="{A4673D16-A0D1-483B-9492-B36D6BAC3141}"/>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Neither good nor bad</a:t>
            </a:r>
          </a:p>
        </p:txBody>
      </p:sp>
      <p:sp>
        <p:nvSpPr>
          <p:cNvPr id="555" name="Rectangle 554">
            <a:extLst>
              <a:ext uri="{FF2B5EF4-FFF2-40B4-BE49-F238E27FC236}">
                <a16:creationId xmlns:a16="http://schemas.microsoft.com/office/drawing/2014/main" id="{46276AD3-C576-48CA-91E5-5290A5B0E839}"/>
              </a:ext>
            </a:extLst>
          </p:cNvPr>
          <p:cNvSpPr>
            <a:spLocks noGrp="1"/>
          </p:cNvSpPr>
          <p:nvPr/>
        </p:nvSpPr>
        <p:spPr>
          <a:xfrm>
            <a:off x="3667125" y="3352800"/>
            <a:ext cx="1042988"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D5D9D6AB-6647-4FB7-81AE-72E3884BAF47}"/>
              </a:ext>
            </a:extLst>
          </p:cNvPr>
          <p:cNvSpPr>
            <a:spLocks noGrp="1"/>
          </p:cNvSpPr>
          <p:nvPr/>
        </p:nvSpPr>
        <p:spPr>
          <a:xfrm>
            <a:off x="3705225" y="3457575"/>
            <a:ext cx="98583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15%</a:t>
            </a:r>
          </a:p>
        </p:txBody>
      </p:sp>
      <p:sp>
        <p:nvSpPr>
          <p:cNvPr id="557" name="Rectangle 556">
            <a:extLst>
              <a:ext uri="{FF2B5EF4-FFF2-40B4-BE49-F238E27FC236}">
                <a16:creationId xmlns:a16="http://schemas.microsoft.com/office/drawing/2014/main" id="{1FFAC337-5C31-4DF6-9D36-00EFB3956B16}"/>
              </a:ext>
            </a:extLst>
          </p:cNvPr>
          <p:cNvSpPr>
            <a:spLocks noGrp="1"/>
          </p:cNvSpPr>
          <p:nvPr/>
        </p:nvSpPr>
        <p:spPr>
          <a:xfrm>
            <a:off x="4710113" y="3352800"/>
            <a:ext cx="2433638" cy="447675"/>
          </a:xfrm>
          <a:prstGeom prst="rect">
            <a:avLst/>
          </a:prstGeom>
          <a:solidFill>
            <a:srgbClr val="DC713D"/>
          </a:solidFill>
          <a:ln w="0">
            <a:noFill/>
          </a:ln>
        </p:spPr>
        <p:txBody>
          <a:bodyPr/>
          <a:lstStyle/>
          <a:p>
            <a:endParaRPr lang="en-US"/>
          </a:p>
        </p:txBody>
      </p:sp>
      <p:sp>
        <p:nvSpPr>
          <p:cNvPr id="558" name="33%">
            <a:extLst>
              <a:ext uri="{FF2B5EF4-FFF2-40B4-BE49-F238E27FC236}">
                <a16:creationId xmlns:a16="http://schemas.microsoft.com/office/drawing/2014/main" id="{7B29B3D2-F8E5-4C06-8E66-A1845328D11B}"/>
              </a:ext>
            </a:extLst>
          </p:cNvPr>
          <p:cNvSpPr>
            <a:spLocks noGrp="1"/>
          </p:cNvSpPr>
          <p:nvPr/>
        </p:nvSpPr>
        <p:spPr>
          <a:xfrm>
            <a:off x="4748213" y="3457575"/>
            <a:ext cx="237648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35%</a:t>
            </a:r>
          </a:p>
        </p:txBody>
      </p:sp>
      <p:sp>
        <p:nvSpPr>
          <p:cNvPr id="559" name="Rectangle 558">
            <a:extLst>
              <a:ext uri="{FF2B5EF4-FFF2-40B4-BE49-F238E27FC236}">
                <a16:creationId xmlns:a16="http://schemas.microsoft.com/office/drawing/2014/main" id="{14B45D88-03DB-404B-A3FB-7966626E6887}"/>
              </a:ext>
            </a:extLst>
          </p:cNvPr>
          <p:cNvSpPr>
            <a:spLocks noGrp="1"/>
          </p:cNvSpPr>
          <p:nvPr/>
        </p:nvSpPr>
        <p:spPr>
          <a:xfrm>
            <a:off x="7143751" y="3352800"/>
            <a:ext cx="2155508" cy="447675"/>
          </a:xfrm>
          <a:prstGeom prst="rect">
            <a:avLst/>
          </a:prstGeom>
          <a:solidFill>
            <a:srgbClr val="4C91D8"/>
          </a:solidFill>
          <a:ln w="0">
            <a:noFill/>
          </a:ln>
        </p:spPr>
        <p:txBody>
          <a:bodyPr/>
          <a:lstStyle/>
          <a:p>
            <a:endParaRPr lang="en-US"/>
          </a:p>
        </p:txBody>
      </p:sp>
      <p:sp>
        <p:nvSpPr>
          <p:cNvPr id="560" name="29%">
            <a:extLst>
              <a:ext uri="{FF2B5EF4-FFF2-40B4-BE49-F238E27FC236}">
                <a16:creationId xmlns:a16="http://schemas.microsoft.com/office/drawing/2014/main" id="{13CDB6EE-7E1F-496F-BEEF-75A627043F41}"/>
              </a:ext>
            </a:extLst>
          </p:cNvPr>
          <p:cNvSpPr>
            <a:spLocks noGrp="1"/>
          </p:cNvSpPr>
          <p:nvPr/>
        </p:nvSpPr>
        <p:spPr>
          <a:xfrm>
            <a:off x="7181851" y="34575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1" name="Rectangle 560">
            <a:extLst>
              <a:ext uri="{FF2B5EF4-FFF2-40B4-BE49-F238E27FC236}">
                <a16:creationId xmlns:a16="http://schemas.microsoft.com/office/drawing/2014/main" id="{75D66631-B4B2-4E3E-A636-F026301BE3D2}"/>
              </a:ext>
            </a:extLst>
          </p:cNvPr>
          <p:cNvSpPr>
            <a:spLocks noGrp="1"/>
          </p:cNvSpPr>
          <p:nvPr/>
        </p:nvSpPr>
        <p:spPr>
          <a:xfrm>
            <a:off x="9299259" y="3352800"/>
            <a:ext cx="1321116" cy="447675"/>
          </a:xfrm>
          <a:prstGeom prst="rect">
            <a:avLst/>
          </a:prstGeom>
          <a:solidFill>
            <a:srgbClr val="285B9F"/>
          </a:solidFill>
          <a:ln w="0">
            <a:noFill/>
          </a:ln>
        </p:spPr>
        <p:txBody>
          <a:bodyPr/>
          <a:lstStyle/>
          <a:p>
            <a:endParaRPr lang="en-US"/>
          </a:p>
        </p:txBody>
      </p:sp>
      <p:sp>
        <p:nvSpPr>
          <p:cNvPr id="562" name="21%">
            <a:extLst>
              <a:ext uri="{FF2B5EF4-FFF2-40B4-BE49-F238E27FC236}">
                <a16:creationId xmlns:a16="http://schemas.microsoft.com/office/drawing/2014/main" id="{E958FFF8-E2D1-455C-90A7-18392BB0B850}"/>
              </a:ext>
            </a:extLst>
          </p:cNvPr>
          <p:cNvSpPr>
            <a:spLocks noGrp="1"/>
          </p:cNvSpPr>
          <p:nvPr/>
        </p:nvSpPr>
        <p:spPr>
          <a:xfrm>
            <a:off x="9337359" y="3457575"/>
            <a:ext cx="126396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63" name="n=266">
            <a:extLst>
              <a:ext uri="{FF2B5EF4-FFF2-40B4-BE49-F238E27FC236}">
                <a16:creationId xmlns:a16="http://schemas.microsoft.com/office/drawing/2014/main" id="{7DBB85C9-2683-4747-B5D0-D72B1192C287}"/>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n=221</a:t>
            </a:r>
          </a:p>
        </p:txBody>
      </p:sp>
      <p:sp>
        <p:nvSpPr>
          <p:cNvPr id="564" name="Mostly suitable">
            <a:extLst>
              <a:ext uri="{FF2B5EF4-FFF2-40B4-BE49-F238E27FC236}">
                <a16:creationId xmlns:a16="http://schemas.microsoft.com/office/drawing/2014/main" id="{38094381-B0E9-4BAD-9CD8-0BABEB986474}"/>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suitable</a:t>
            </a:r>
          </a:p>
        </p:txBody>
      </p:sp>
      <p:sp>
        <p:nvSpPr>
          <p:cNvPr id="565" name="Rectangle 564">
            <a:extLst>
              <a:ext uri="{FF2B5EF4-FFF2-40B4-BE49-F238E27FC236}">
                <a16:creationId xmlns:a16="http://schemas.microsoft.com/office/drawing/2014/main" id="{8C07C373-7D52-4334-8415-580951B4346C}"/>
              </a:ext>
            </a:extLst>
          </p:cNvPr>
          <p:cNvSpPr>
            <a:spLocks noGrp="1"/>
          </p:cNvSpPr>
          <p:nvPr/>
        </p:nvSpPr>
        <p:spPr>
          <a:xfrm>
            <a:off x="3667125" y="4076700"/>
            <a:ext cx="1032661" cy="447675"/>
          </a:xfrm>
          <a:prstGeom prst="rect">
            <a:avLst/>
          </a:prstGeom>
          <a:solidFill>
            <a:srgbClr val="A83A3A"/>
          </a:solidFill>
          <a:ln w="0">
            <a:noFill/>
          </a:ln>
        </p:spPr>
        <p:txBody>
          <a:bodyPr/>
          <a:lstStyle/>
          <a:p>
            <a:endParaRPr lang="en-US"/>
          </a:p>
        </p:txBody>
      </p:sp>
      <p:sp>
        <p:nvSpPr>
          <p:cNvPr id="566" name="17%">
            <a:extLst>
              <a:ext uri="{FF2B5EF4-FFF2-40B4-BE49-F238E27FC236}">
                <a16:creationId xmlns:a16="http://schemas.microsoft.com/office/drawing/2014/main" id="{49857BB4-98E3-420B-AC89-711E653D3967}"/>
              </a:ext>
            </a:extLst>
          </p:cNvPr>
          <p:cNvSpPr>
            <a:spLocks noGrp="1"/>
          </p:cNvSpPr>
          <p:nvPr/>
        </p:nvSpPr>
        <p:spPr>
          <a:xfrm>
            <a:off x="3705225" y="4181475"/>
            <a:ext cx="97551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15%</a:t>
            </a:r>
          </a:p>
        </p:txBody>
      </p:sp>
      <p:sp>
        <p:nvSpPr>
          <p:cNvPr id="567" name="Rectangle 566">
            <a:extLst>
              <a:ext uri="{FF2B5EF4-FFF2-40B4-BE49-F238E27FC236}">
                <a16:creationId xmlns:a16="http://schemas.microsoft.com/office/drawing/2014/main" id="{8BFBE54E-6D0C-4A64-AE0B-E26137A3DD4A}"/>
              </a:ext>
            </a:extLst>
          </p:cNvPr>
          <p:cNvSpPr>
            <a:spLocks noGrp="1"/>
          </p:cNvSpPr>
          <p:nvPr/>
        </p:nvSpPr>
        <p:spPr>
          <a:xfrm>
            <a:off x="4699786" y="4076700"/>
            <a:ext cx="2134166" cy="447675"/>
          </a:xfrm>
          <a:prstGeom prst="rect">
            <a:avLst/>
          </a:prstGeom>
          <a:solidFill>
            <a:srgbClr val="DC713D"/>
          </a:solidFill>
          <a:ln w="0">
            <a:noFill/>
          </a:ln>
        </p:spPr>
        <p:txBody>
          <a:bodyPr/>
          <a:lstStyle/>
          <a:p>
            <a:endParaRPr lang="en-US"/>
          </a:p>
        </p:txBody>
      </p:sp>
      <p:sp>
        <p:nvSpPr>
          <p:cNvPr id="568" name="29%">
            <a:extLst>
              <a:ext uri="{FF2B5EF4-FFF2-40B4-BE49-F238E27FC236}">
                <a16:creationId xmlns:a16="http://schemas.microsoft.com/office/drawing/2014/main" id="{09164897-6969-41EF-B58E-4F6CE49470AC}"/>
              </a:ext>
            </a:extLst>
          </p:cNvPr>
          <p:cNvSpPr>
            <a:spLocks noGrp="1"/>
          </p:cNvSpPr>
          <p:nvPr/>
        </p:nvSpPr>
        <p:spPr>
          <a:xfrm>
            <a:off x="4737886" y="4181475"/>
            <a:ext cx="2077016"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69" name="Rectangle 568">
            <a:extLst>
              <a:ext uri="{FF2B5EF4-FFF2-40B4-BE49-F238E27FC236}">
                <a16:creationId xmlns:a16="http://schemas.microsoft.com/office/drawing/2014/main" id="{CB2489A1-8FCE-4A0E-9C70-7D465239FBF7}"/>
              </a:ext>
            </a:extLst>
          </p:cNvPr>
          <p:cNvSpPr>
            <a:spLocks noGrp="1"/>
          </p:cNvSpPr>
          <p:nvPr/>
        </p:nvSpPr>
        <p:spPr>
          <a:xfrm>
            <a:off x="6833952" y="4076700"/>
            <a:ext cx="2340698" cy="447675"/>
          </a:xfrm>
          <a:prstGeom prst="rect">
            <a:avLst/>
          </a:prstGeom>
          <a:solidFill>
            <a:srgbClr val="4C91D8"/>
          </a:solidFill>
          <a:ln w="0">
            <a:noFill/>
          </a:ln>
        </p:spPr>
        <p:txBody>
          <a:bodyPr/>
          <a:lstStyle/>
          <a:p>
            <a:endParaRPr lang="en-US"/>
          </a:p>
        </p:txBody>
      </p:sp>
      <p:sp>
        <p:nvSpPr>
          <p:cNvPr id="570" name="33%">
            <a:extLst>
              <a:ext uri="{FF2B5EF4-FFF2-40B4-BE49-F238E27FC236}">
                <a16:creationId xmlns:a16="http://schemas.microsoft.com/office/drawing/2014/main" id="{CA89A13C-92EB-461B-B7CC-93C48C99A801}"/>
              </a:ext>
            </a:extLst>
          </p:cNvPr>
          <p:cNvSpPr>
            <a:spLocks noGrp="1"/>
          </p:cNvSpPr>
          <p:nvPr/>
        </p:nvSpPr>
        <p:spPr>
          <a:xfrm>
            <a:off x="6872052" y="4181475"/>
            <a:ext cx="228354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34%</a:t>
            </a:r>
          </a:p>
        </p:txBody>
      </p:sp>
      <p:sp>
        <p:nvSpPr>
          <p:cNvPr id="571" name="Rectangle 570">
            <a:extLst>
              <a:ext uri="{FF2B5EF4-FFF2-40B4-BE49-F238E27FC236}">
                <a16:creationId xmlns:a16="http://schemas.microsoft.com/office/drawing/2014/main" id="{F7F6082F-E860-4006-9CF4-FBC59A5FD1D3}"/>
              </a:ext>
            </a:extLst>
          </p:cNvPr>
          <p:cNvSpPr>
            <a:spLocks noGrp="1"/>
          </p:cNvSpPr>
          <p:nvPr/>
        </p:nvSpPr>
        <p:spPr>
          <a:xfrm>
            <a:off x="9174650" y="4076700"/>
            <a:ext cx="1445725" cy="447675"/>
          </a:xfrm>
          <a:prstGeom prst="rect">
            <a:avLst/>
          </a:prstGeom>
          <a:solidFill>
            <a:srgbClr val="285B9F"/>
          </a:solidFill>
          <a:ln w="0">
            <a:noFill/>
          </a:ln>
        </p:spPr>
        <p:txBody>
          <a:bodyPr/>
          <a:lstStyle/>
          <a:p>
            <a:endParaRPr lang="en-US"/>
          </a:p>
        </p:txBody>
      </p:sp>
      <p:sp>
        <p:nvSpPr>
          <p:cNvPr id="572" name="22%">
            <a:extLst>
              <a:ext uri="{FF2B5EF4-FFF2-40B4-BE49-F238E27FC236}">
                <a16:creationId xmlns:a16="http://schemas.microsoft.com/office/drawing/2014/main" id="{92BFE5EB-989A-4676-B7A3-8FA14230F6B5}"/>
              </a:ext>
            </a:extLst>
          </p:cNvPr>
          <p:cNvSpPr>
            <a:spLocks noGrp="1"/>
          </p:cNvSpPr>
          <p:nvPr/>
        </p:nvSpPr>
        <p:spPr>
          <a:xfrm>
            <a:off x="9212750" y="4181475"/>
            <a:ext cx="138857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73" name="n=341">
            <a:extLst>
              <a:ext uri="{FF2B5EF4-FFF2-40B4-BE49-F238E27FC236}">
                <a16:creationId xmlns:a16="http://schemas.microsoft.com/office/drawing/2014/main" id="{1DFDF717-2C45-472C-92B1-B162F07E7CBF}"/>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n=310</a:t>
            </a:r>
          </a:p>
        </p:txBody>
      </p:sp>
      <p:sp>
        <p:nvSpPr>
          <p:cNvPr id="574" name="Excellent for focused study">
            <a:extLst>
              <a:ext uri="{FF2B5EF4-FFF2-40B4-BE49-F238E27FC236}">
                <a16:creationId xmlns:a16="http://schemas.microsoft.com/office/drawing/2014/main" id="{2D344112-20C0-4D7D-8E64-8D0F91864DB1}"/>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Excellent for focused study</a:t>
            </a:r>
          </a:p>
        </p:txBody>
      </p:sp>
      <p:sp>
        <p:nvSpPr>
          <p:cNvPr id="575" name="Rectangle 574">
            <a:extLst>
              <a:ext uri="{FF2B5EF4-FFF2-40B4-BE49-F238E27FC236}">
                <a16:creationId xmlns:a16="http://schemas.microsoft.com/office/drawing/2014/main" id="{1F16E975-3270-47F8-8648-ECCD3C5B207B}"/>
              </a:ext>
            </a:extLst>
          </p:cNvPr>
          <p:cNvSpPr>
            <a:spLocks noGrp="1"/>
          </p:cNvSpPr>
          <p:nvPr/>
        </p:nvSpPr>
        <p:spPr>
          <a:xfrm>
            <a:off x="3667125" y="4800600"/>
            <a:ext cx="1877378" cy="447675"/>
          </a:xfrm>
          <a:prstGeom prst="rect">
            <a:avLst/>
          </a:prstGeom>
          <a:solidFill>
            <a:srgbClr val="A83A3A"/>
          </a:solidFill>
          <a:ln w="0">
            <a:noFill/>
          </a:ln>
        </p:spPr>
        <p:txBody>
          <a:bodyPr/>
          <a:lstStyle/>
          <a:p>
            <a:endParaRPr lang="en-US"/>
          </a:p>
        </p:txBody>
      </p:sp>
      <p:sp>
        <p:nvSpPr>
          <p:cNvPr id="576" name="28%">
            <a:extLst>
              <a:ext uri="{FF2B5EF4-FFF2-40B4-BE49-F238E27FC236}">
                <a16:creationId xmlns:a16="http://schemas.microsoft.com/office/drawing/2014/main" id="{70BCE0BF-C0A6-43CB-A797-93D6BC45373F}"/>
              </a:ext>
            </a:extLst>
          </p:cNvPr>
          <p:cNvSpPr>
            <a:spLocks noGrp="1"/>
          </p:cNvSpPr>
          <p:nvPr/>
        </p:nvSpPr>
        <p:spPr>
          <a:xfrm>
            <a:off x="3705225" y="49053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7" name="Rectangle 576">
            <a:extLst>
              <a:ext uri="{FF2B5EF4-FFF2-40B4-BE49-F238E27FC236}">
                <a16:creationId xmlns:a16="http://schemas.microsoft.com/office/drawing/2014/main" id="{AA0DFA16-4CB4-43A7-BDD1-4472BC8C9896}"/>
              </a:ext>
            </a:extLst>
          </p:cNvPr>
          <p:cNvSpPr>
            <a:spLocks noGrp="1"/>
          </p:cNvSpPr>
          <p:nvPr/>
        </p:nvSpPr>
        <p:spPr>
          <a:xfrm>
            <a:off x="5544503" y="4800600"/>
            <a:ext cx="1946910" cy="447675"/>
          </a:xfrm>
          <a:prstGeom prst="rect">
            <a:avLst/>
          </a:prstGeom>
          <a:solidFill>
            <a:srgbClr val="DC713D"/>
          </a:solidFill>
          <a:ln w="0">
            <a:noFill/>
          </a:ln>
        </p:spPr>
        <p:txBody>
          <a:bodyPr/>
          <a:lstStyle/>
          <a:p>
            <a:endParaRPr lang="en-US"/>
          </a:p>
        </p:txBody>
      </p:sp>
      <p:sp>
        <p:nvSpPr>
          <p:cNvPr id="578" name="26%">
            <a:extLst>
              <a:ext uri="{FF2B5EF4-FFF2-40B4-BE49-F238E27FC236}">
                <a16:creationId xmlns:a16="http://schemas.microsoft.com/office/drawing/2014/main" id="{35164519-DA78-495D-92A5-240F75F7FC27}"/>
              </a:ext>
            </a:extLst>
          </p:cNvPr>
          <p:cNvSpPr>
            <a:spLocks noGrp="1"/>
          </p:cNvSpPr>
          <p:nvPr/>
        </p:nvSpPr>
        <p:spPr>
          <a:xfrm>
            <a:off x="5582603" y="4905375"/>
            <a:ext cx="18897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79" name="Rectangle 578">
            <a:extLst>
              <a:ext uri="{FF2B5EF4-FFF2-40B4-BE49-F238E27FC236}">
                <a16:creationId xmlns:a16="http://schemas.microsoft.com/office/drawing/2014/main" id="{F73B20E5-19E6-4BE3-9965-64CB94675AFB}"/>
              </a:ext>
            </a:extLst>
          </p:cNvPr>
          <p:cNvSpPr>
            <a:spLocks noGrp="1"/>
          </p:cNvSpPr>
          <p:nvPr/>
        </p:nvSpPr>
        <p:spPr>
          <a:xfrm>
            <a:off x="7491413" y="4800600"/>
            <a:ext cx="1529715" cy="447675"/>
          </a:xfrm>
          <a:prstGeom prst="rect">
            <a:avLst/>
          </a:prstGeom>
          <a:solidFill>
            <a:srgbClr val="4C91D8"/>
          </a:solidFill>
          <a:ln w="0">
            <a:noFill/>
          </a:ln>
        </p:spPr>
        <p:txBody>
          <a:bodyPr/>
          <a:lstStyle/>
          <a:p>
            <a:endParaRPr lang="en-US"/>
          </a:p>
        </p:txBody>
      </p:sp>
      <p:sp>
        <p:nvSpPr>
          <p:cNvPr id="580" name="22%">
            <a:extLst>
              <a:ext uri="{FF2B5EF4-FFF2-40B4-BE49-F238E27FC236}">
                <a16:creationId xmlns:a16="http://schemas.microsoft.com/office/drawing/2014/main" id="{C6ADB859-DC8E-42E7-87CC-33337111FCCA}"/>
              </a:ext>
            </a:extLst>
          </p:cNvPr>
          <p:cNvSpPr>
            <a:spLocks noGrp="1"/>
          </p:cNvSpPr>
          <p:nvPr/>
        </p:nvSpPr>
        <p:spPr>
          <a:xfrm>
            <a:off x="7529513" y="4905375"/>
            <a:ext cx="147256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81" name="Rectangle 580">
            <a:extLst>
              <a:ext uri="{FF2B5EF4-FFF2-40B4-BE49-F238E27FC236}">
                <a16:creationId xmlns:a16="http://schemas.microsoft.com/office/drawing/2014/main" id="{04533AB1-5482-41B1-9A81-36CFD9FE7CAC}"/>
              </a:ext>
            </a:extLst>
          </p:cNvPr>
          <p:cNvSpPr>
            <a:spLocks noGrp="1"/>
          </p:cNvSpPr>
          <p:nvPr/>
        </p:nvSpPr>
        <p:spPr>
          <a:xfrm>
            <a:off x="9021128" y="4800600"/>
            <a:ext cx="1599247" cy="447675"/>
          </a:xfrm>
          <a:prstGeom prst="rect">
            <a:avLst/>
          </a:prstGeom>
          <a:solidFill>
            <a:srgbClr val="285B9F"/>
          </a:solidFill>
          <a:ln w="0">
            <a:noFill/>
          </a:ln>
        </p:spPr>
        <p:txBody>
          <a:bodyPr/>
          <a:lstStyle/>
          <a:p>
            <a:endParaRPr lang="en-US"/>
          </a:p>
        </p:txBody>
      </p:sp>
      <p:sp>
        <p:nvSpPr>
          <p:cNvPr id="582" name="23%">
            <a:extLst>
              <a:ext uri="{FF2B5EF4-FFF2-40B4-BE49-F238E27FC236}">
                <a16:creationId xmlns:a16="http://schemas.microsoft.com/office/drawing/2014/main" id="{C47F34B8-F288-420B-8050-CB083574086D}"/>
              </a:ext>
            </a:extLst>
          </p:cNvPr>
          <p:cNvSpPr>
            <a:spLocks noGrp="1"/>
          </p:cNvSpPr>
          <p:nvPr/>
        </p:nvSpPr>
        <p:spPr>
          <a:xfrm>
            <a:off x="9059228" y="4905375"/>
            <a:ext cx="1542097"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23%</a:t>
            </a:r>
          </a:p>
        </p:txBody>
      </p:sp>
      <p:sp>
        <p:nvSpPr>
          <p:cNvPr id="583" name="n=163">
            <a:extLst>
              <a:ext uri="{FF2B5EF4-FFF2-40B4-BE49-F238E27FC236}">
                <a16:creationId xmlns:a16="http://schemas.microsoft.com/office/drawing/2014/main" id="{67A25A3A-65A5-4E4D-8A65-046A1F8F4CBA}"/>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n=132</a:t>
            </a:r>
          </a:p>
        </p:txBody>
      </p:sp>
      <p:sp>
        <p:nvSpPr>
          <p:cNvPr id="584" name="Rectangle 583">
            <a:extLst>
              <a:ext uri="{FF2B5EF4-FFF2-40B4-BE49-F238E27FC236}">
                <a16:creationId xmlns:a16="http://schemas.microsoft.com/office/drawing/2014/main" id="{8C0C630E-33D3-4739-8E15-97E92E223AF1}"/>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DFBCD036-660D-4C00-8FC0-2E3621A85065}"/>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8B958EC1-9891-4330-AE17-DBBAF795A6F5}"/>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9DB36425-8C4B-4553-B317-1D935B8A7220}"/>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4086C98A-4651-483C-8D90-11F3C5D98F53}"/>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B733F10F-31F2-48A3-99F4-FBBEF9494838}"/>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FF756141-B772-4F84-86BC-E900EFC7EFFA}"/>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0C619846-4FC8-4E1B-9A8D-F7258CA6DB19}"/>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7BDEA0EB-0D83-5B48-88E3-BC10D3F527D9}"/>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9BA72B32-85D0-6658-D8A2-9DF5B4FBA7A2}"/>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DE257D2-4E4E-2EEB-AFAF-60CD2BB567DA}"/>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0DD057E-1EEB-CD3F-18EB-F29BB74DFB30}"/>
              </a:ext>
            </a:extLst>
          </p:cNvPr>
          <p:cNvSpPr txBox="1"/>
          <p:nvPr/>
        </p:nvSpPr>
        <p:spPr>
          <a:xfrm rot="16200000">
            <a:off x="-851572" y="2715997"/>
            <a:ext cx="2133918" cy="369332"/>
          </a:xfrm>
          <a:prstGeom prst="rect">
            <a:avLst/>
          </a:prstGeom>
          <a:noFill/>
        </p:spPr>
        <p:txBody>
          <a:bodyPr wrap="none" rtlCol="0">
            <a:spAutoFit/>
          </a:bodyPr>
          <a:lstStyle/>
          <a:p>
            <a:r>
              <a:rPr lang="en-US" dirty="0"/>
              <a:t>Study Environment</a:t>
            </a:r>
          </a:p>
        </p:txBody>
      </p:sp>
    </p:spTree>
    <p:extLst>
      <p:ext uri="{BB962C8B-B14F-4D97-AF65-F5344CB8AC3E}">
        <p14:creationId xmlns:p14="http://schemas.microsoft.com/office/powerpoint/2010/main" val="2169945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27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Routine manageability and CGPA</a:t>
            </a:r>
          </a:p>
        </p:txBody>
      </p:sp>
      <p:sp>
        <p:nvSpPr>
          <p:cNvPr id="534" name="Completely unmanageable">
            <a:extLst>
              <a:ext uri="{FF2B5EF4-FFF2-40B4-BE49-F238E27FC236}">
                <a16:creationId xmlns:a16="http://schemas.microsoft.com/office/drawing/2014/main" id="{3E7F35A0-98BC-4886-8A7F-980CBF22A2AD}"/>
              </a:ext>
            </a:extLst>
          </p:cNvPr>
          <p:cNvSpPr>
            <a:spLocks noGrp="1"/>
          </p:cNvSpPr>
          <p:nvPr/>
        </p:nvSpPr>
        <p:spPr>
          <a:xfrm>
            <a:off x="400050" y="19431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Completely unmanageable</a:t>
            </a:r>
          </a:p>
        </p:txBody>
      </p:sp>
      <p:sp>
        <p:nvSpPr>
          <p:cNvPr id="535" name="Rectangle 534">
            <a:extLst>
              <a:ext uri="{FF2B5EF4-FFF2-40B4-BE49-F238E27FC236}">
                <a16:creationId xmlns:a16="http://schemas.microsoft.com/office/drawing/2014/main" id="{76C2C2B2-A13E-49F1-8319-6F91051E0544}"/>
              </a:ext>
            </a:extLst>
          </p:cNvPr>
          <p:cNvSpPr>
            <a:spLocks noGrp="1"/>
          </p:cNvSpPr>
          <p:nvPr/>
        </p:nvSpPr>
        <p:spPr>
          <a:xfrm>
            <a:off x="3667125" y="1905000"/>
            <a:ext cx="1877378" cy="447675"/>
          </a:xfrm>
          <a:prstGeom prst="rect">
            <a:avLst/>
          </a:prstGeom>
          <a:solidFill>
            <a:srgbClr val="A83A3A"/>
          </a:solidFill>
          <a:ln w="0">
            <a:noFill/>
          </a:ln>
        </p:spPr>
        <p:txBody>
          <a:bodyPr/>
          <a:lstStyle/>
          <a:p>
            <a:endParaRPr lang="en-US"/>
          </a:p>
        </p:txBody>
      </p:sp>
      <p:sp>
        <p:nvSpPr>
          <p:cNvPr id="536" name="27%">
            <a:extLst>
              <a:ext uri="{FF2B5EF4-FFF2-40B4-BE49-F238E27FC236}">
                <a16:creationId xmlns:a16="http://schemas.microsoft.com/office/drawing/2014/main" id="{937228A8-928B-4680-ABB9-EF0C17409BA7}"/>
              </a:ext>
            </a:extLst>
          </p:cNvPr>
          <p:cNvSpPr>
            <a:spLocks noGrp="1"/>
          </p:cNvSpPr>
          <p:nvPr/>
        </p:nvSpPr>
        <p:spPr>
          <a:xfrm>
            <a:off x="3705225" y="20097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37" name="Rectangle 536">
            <a:extLst>
              <a:ext uri="{FF2B5EF4-FFF2-40B4-BE49-F238E27FC236}">
                <a16:creationId xmlns:a16="http://schemas.microsoft.com/office/drawing/2014/main" id="{1AFE1B95-1164-4978-A231-BC45C7509DCF}"/>
              </a:ext>
            </a:extLst>
          </p:cNvPr>
          <p:cNvSpPr>
            <a:spLocks noGrp="1"/>
          </p:cNvSpPr>
          <p:nvPr/>
        </p:nvSpPr>
        <p:spPr>
          <a:xfrm>
            <a:off x="5544503" y="1905000"/>
            <a:ext cx="2225040" cy="447675"/>
          </a:xfrm>
          <a:prstGeom prst="rect">
            <a:avLst/>
          </a:prstGeom>
          <a:solidFill>
            <a:srgbClr val="DC713D"/>
          </a:solidFill>
          <a:ln w="0">
            <a:noFill/>
          </a:ln>
        </p:spPr>
        <p:txBody>
          <a:bodyPr/>
          <a:lstStyle/>
          <a:p>
            <a:endParaRPr lang="en-US"/>
          </a:p>
        </p:txBody>
      </p:sp>
      <p:sp>
        <p:nvSpPr>
          <p:cNvPr id="538" name="27%">
            <a:extLst>
              <a:ext uri="{FF2B5EF4-FFF2-40B4-BE49-F238E27FC236}">
                <a16:creationId xmlns:a16="http://schemas.microsoft.com/office/drawing/2014/main" id="{8CC2207C-838E-446C-A3BD-FFD49218A38A}"/>
              </a:ext>
            </a:extLst>
          </p:cNvPr>
          <p:cNvSpPr>
            <a:spLocks noGrp="1"/>
          </p:cNvSpPr>
          <p:nvPr/>
        </p:nvSpPr>
        <p:spPr>
          <a:xfrm>
            <a:off x="5582603" y="20097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39" name="Rectangle 538">
            <a:extLst>
              <a:ext uri="{FF2B5EF4-FFF2-40B4-BE49-F238E27FC236}">
                <a16:creationId xmlns:a16="http://schemas.microsoft.com/office/drawing/2014/main" id="{D603BA1C-224E-46B1-AECD-71E3368FF55A}"/>
              </a:ext>
            </a:extLst>
          </p:cNvPr>
          <p:cNvSpPr>
            <a:spLocks noGrp="1"/>
          </p:cNvSpPr>
          <p:nvPr/>
        </p:nvSpPr>
        <p:spPr>
          <a:xfrm>
            <a:off x="7769543" y="1905000"/>
            <a:ext cx="2155508" cy="447675"/>
          </a:xfrm>
          <a:prstGeom prst="rect">
            <a:avLst/>
          </a:prstGeom>
          <a:solidFill>
            <a:srgbClr val="4C91D8"/>
          </a:solidFill>
          <a:ln w="0">
            <a:noFill/>
          </a:ln>
        </p:spPr>
        <p:txBody>
          <a:bodyPr/>
          <a:lstStyle/>
          <a:p>
            <a:endParaRPr lang="en-US"/>
          </a:p>
        </p:txBody>
      </p:sp>
      <p:sp>
        <p:nvSpPr>
          <p:cNvPr id="540" name="32%">
            <a:extLst>
              <a:ext uri="{FF2B5EF4-FFF2-40B4-BE49-F238E27FC236}">
                <a16:creationId xmlns:a16="http://schemas.microsoft.com/office/drawing/2014/main" id="{137C22D4-E8DC-4D85-AF7C-BB44506DD0F2}"/>
              </a:ext>
            </a:extLst>
          </p:cNvPr>
          <p:cNvSpPr>
            <a:spLocks noGrp="1"/>
          </p:cNvSpPr>
          <p:nvPr/>
        </p:nvSpPr>
        <p:spPr>
          <a:xfrm>
            <a:off x="7807643" y="2009775"/>
            <a:ext cx="209835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31%</a:t>
            </a:r>
          </a:p>
        </p:txBody>
      </p:sp>
      <p:sp>
        <p:nvSpPr>
          <p:cNvPr id="541" name="Rectangle 540">
            <a:extLst>
              <a:ext uri="{FF2B5EF4-FFF2-40B4-BE49-F238E27FC236}">
                <a16:creationId xmlns:a16="http://schemas.microsoft.com/office/drawing/2014/main" id="{9171EB80-CE86-4EE8-988D-CD85F3E9835E}"/>
              </a:ext>
            </a:extLst>
          </p:cNvPr>
          <p:cNvSpPr>
            <a:spLocks noGrp="1"/>
          </p:cNvSpPr>
          <p:nvPr/>
        </p:nvSpPr>
        <p:spPr>
          <a:xfrm>
            <a:off x="9925051" y="1905000"/>
            <a:ext cx="695324" cy="447675"/>
          </a:xfrm>
          <a:prstGeom prst="rect">
            <a:avLst/>
          </a:prstGeom>
          <a:solidFill>
            <a:srgbClr val="285B9F"/>
          </a:solidFill>
          <a:ln w="0">
            <a:noFill/>
          </a:ln>
        </p:spPr>
        <p:txBody>
          <a:bodyPr/>
          <a:lstStyle/>
          <a:p>
            <a:endParaRPr lang="en-US"/>
          </a:p>
        </p:txBody>
      </p:sp>
      <p:sp>
        <p:nvSpPr>
          <p:cNvPr id="542" name="14%">
            <a:extLst>
              <a:ext uri="{FF2B5EF4-FFF2-40B4-BE49-F238E27FC236}">
                <a16:creationId xmlns:a16="http://schemas.microsoft.com/office/drawing/2014/main" id="{22ECD036-73BB-46B3-9F53-5F386E4BD9F6}"/>
              </a:ext>
            </a:extLst>
          </p:cNvPr>
          <p:cNvSpPr>
            <a:spLocks noGrp="1"/>
          </p:cNvSpPr>
          <p:nvPr/>
        </p:nvSpPr>
        <p:spPr>
          <a:xfrm>
            <a:off x="9963151" y="2009775"/>
            <a:ext cx="638174"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10%</a:t>
            </a:r>
          </a:p>
        </p:txBody>
      </p:sp>
      <p:sp>
        <p:nvSpPr>
          <p:cNvPr id="543" name="n=165">
            <a:extLst>
              <a:ext uri="{FF2B5EF4-FFF2-40B4-BE49-F238E27FC236}">
                <a16:creationId xmlns:a16="http://schemas.microsoft.com/office/drawing/2014/main" id="{402DA344-57FF-4511-9FD6-89CCAF6B5CF5}"/>
              </a:ext>
            </a:extLst>
          </p:cNvPr>
          <p:cNvSpPr>
            <a:spLocks noGrp="1"/>
          </p:cNvSpPr>
          <p:nvPr/>
        </p:nvSpPr>
        <p:spPr>
          <a:xfrm>
            <a:off x="10782300" y="20002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n=127</a:t>
            </a:r>
          </a:p>
        </p:txBody>
      </p:sp>
      <p:sp>
        <p:nvSpPr>
          <p:cNvPr id="544" name="Difficult to manage">
            <a:extLst>
              <a:ext uri="{FF2B5EF4-FFF2-40B4-BE49-F238E27FC236}">
                <a16:creationId xmlns:a16="http://schemas.microsoft.com/office/drawing/2014/main" id="{5D315D28-CA58-4F6D-833D-5C3E5B7890E9}"/>
              </a:ext>
            </a:extLst>
          </p:cNvPr>
          <p:cNvSpPr>
            <a:spLocks noGrp="1"/>
          </p:cNvSpPr>
          <p:nvPr/>
        </p:nvSpPr>
        <p:spPr>
          <a:xfrm>
            <a:off x="400050" y="26670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Difficult to manage</a:t>
            </a:r>
          </a:p>
        </p:txBody>
      </p:sp>
      <p:sp>
        <p:nvSpPr>
          <p:cNvPr id="545" name="Rectangle 544">
            <a:extLst>
              <a:ext uri="{FF2B5EF4-FFF2-40B4-BE49-F238E27FC236}">
                <a16:creationId xmlns:a16="http://schemas.microsoft.com/office/drawing/2014/main" id="{3FBC8498-C278-4D16-941E-59FAB820A61D}"/>
              </a:ext>
            </a:extLst>
          </p:cNvPr>
          <p:cNvSpPr>
            <a:spLocks noGrp="1"/>
          </p:cNvSpPr>
          <p:nvPr/>
        </p:nvSpPr>
        <p:spPr>
          <a:xfrm>
            <a:off x="3667125" y="2628900"/>
            <a:ext cx="1460182" cy="447675"/>
          </a:xfrm>
          <a:prstGeom prst="rect">
            <a:avLst/>
          </a:prstGeom>
          <a:solidFill>
            <a:srgbClr val="A83A3A"/>
          </a:solidFill>
          <a:ln w="0">
            <a:noFill/>
          </a:ln>
        </p:spPr>
        <p:txBody>
          <a:bodyPr/>
          <a:lstStyle/>
          <a:p>
            <a:endParaRPr lang="en-US"/>
          </a:p>
        </p:txBody>
      </p:sp>
      <p:sp>
        <p:nvSpPr>
          <p:cNvPr id="546" name="21%">
            <a:extLst>
              <a:ext uri="{FF2B5EF4-FFF2-40B4-BE49-F238E27FC236}">
                <a16:creationId xmlns:a16="http://schemas.microsoft.com/office/drawing/2014/main" id="{85E9DD1E-CCF1-45EB-95C3-3DB1765CD396}"/>
              </a:ext>
            </a:extLst>
          </p:cNvPr>
          <p:cNvSpPr>
            <a:spLocks noGrp="1"/>
          </p:cNvSpPr>
          <p:nvPr/>
        </p:nvSpPr>
        <p:spPr>
          <a:xfrm>
            <a:off x="3705225" y="27336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47" name="Rectangle 546">
            <a:extLst>
              <a:ext uri="{FF2B5EF4-FFF2-40B4-BE49-F238E27FC236}">
                <a16:creationId xmlns:a16="http://schemas.microsoft.com/office/drawing/2014/main" id="{6C760118-E611-4BA4-99C3-1C6978924941}"/>
              </a:ext>
            </a:extLst>
          </p:cNvPr>
          <p:cNvSpPr>
            <a:spLocks noGrp="1"/>
          </p:cNvSpPr>
          <p:nvPr/>
        </p:nvSpPr>
        <p:spPr>
          <a:xfrm>
            <a:off x="5127307" y="2628900"/>
            <a:ext cx="2085975" cy="447675"/>
          </a:xfrm>
          <a:prstGeom prst="rect">
            <a:avLst/>
          </a:prstGeom>
          <a:solidFill>
            <a:srgbClr val="DC713D"/>
          </a:solidFill>
          <a:ln w="0">
            <a:noFill/>
          </a:ln>
        </p:spPr>
        <p:txBody>
          <a:bodyPr/>
          <a:lstStyle/>
          <a:p>
            <a:endParaRPr lang="en-US"/>
          </a:p>
        </p:txBody>
      </p:sp>
      <p:sp>
        <p:nvSpPr>
          <p:cNvPr id="548" name="30%">
            <a:extLst>
              <a:ext uri="{FF2B5EF4-FFF2-40B4-BE49-F238E27FC236}">
                <a16:creationId xmlns:a16="http://schemas.microsoft.com/office/drawing/2014/main" id="{F8FF8904-48D2-4210-9C53-D9B294F17F5F}"/>
              </a:ext>
            </a:extLst>
          </p:cNvPr>
          <p:cNvSpPr>
            <a:spLocks noGrp="1"/>
          </p:cNvSpPr>
          <p:nvPr/>
        </p:nvSpPr>
        <p:spPr>
          <a:xfrm>
            <a:off x="5165407" y="2733675"/>
            <a:ext cx="2028825"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49" name="Rectangle 548">
            <a:extLst>
              <a:ext uri="{FF2B5EF4-FFF2-40B4-BE49-F238E27FC236}">
                <a16:creationId xmlns:a16="http://schemas.microsoft.com/office/drawing/2014/main" id="{A1F64836-1FF4-438B-81A5-4FD072CB3BD8}"/>
              </a:ext>
            </a:extLst>
          </p:cNvPr>
          <p:cNvSpPr>
            <a:spLocks noGrp="1"/>
          </p:cNvSpPr>
          <p:nvPr/>
        </p:nvSpPr>
        <p:spPr>
          <a:xfrm>
            <a:off x="7213282" y="2628900"/>
            <a:ext cx="1460182" cy="447675"/>
          </a:xfrm>
          <a:prstGeom prst="rect">
            <a:avLst/>
          </a:prstGeom>
          <a:solidFill>
            <a:srgbClr val="4C91D8"/>
          </a:solidFill>
          <a:ln w="0">
            <a:noFill/>
          </a:ln>
        </p:spPr>
        <p:txBody>
          <a:bodyPr/>
          <a:lstStyle/>
          <a:p>
            <a:endParaRPr lang="en-US"/>
          </a:p>
        </p:txBody>
      </p:sp>
      <p:sp>
        <p:nvSpPr>
          <p:cNvPr id="550" name="19%">
            <a:extLst>
              <a:ext uri="{FF2B5EF4-FFF2-40B4-BE49-F238E27FC236}">
                <a16:creationId xmlns:a16="http://schemas.microsoft.com/office/drawing/2014/main" id="{CEA84195-8B0E-400D-BC48-352CC7782E5A}"/>
              </a:ext>
            </a:extLst>
          </p:cNvPr>
          <p:cNvSpPr>
            <a:spLocks noGrp="1"/>
          </p:cNvSpPr>
          <p:nvPr/>
        </p:nvSpPr>
        <p:spPr>
          <a:xfrm>
            <a:off x="7251382" y="27336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51" name="Rectangle 550">
            <a:extLst>
              <a:ext uri="{FF2B5EF4-FFF2-40B4-BE49-F238E27FC236}">
                <a16:creationId xmlns:a16="http://schemas.microsoft.com/office/drawing/2014/main" id="{7E915CF4-366C-4F3F-A3D1-C3DF4056761E}"/>
              </a:ext>
            </a:extLst>
          </p:cNvPr>
          <p:cNvSpPr>
            <a:spLocks noGrp="1"/>
          </p:cNvSpPr>
          <p:nvPr/>
        </p:nvSpPr>
        <p:spPr>
          <a:xfrm>
            <a:off x="8673464" y="2628900"/>
            <a:ext cx="1946911" cy="447675"/>
          </a:xfrm>
          <a:prstGeom prst="rect">
            <a:avLst/>
          </a:prstGeom>
          <a:solidFill>
            <a:srgbClr val="285B9F"/>
          </a:solidFill>
          <a:ln w="0">
            <a:noFill/>
          </a:ln>
        </p:spPr>
        <p:txBody>
          <a:bodyPr/>
          <a:lstStyle/>
          <a:p>
            <a:endParaRPr lang="en-US"/>
          </a:p>
        </p:txBody>
      </p:sp>
      <p:sp>
        <p:nvSpPr>
          <p:cNvPr id="552" name="29%">
            <a:extLst>
              <a:ext uri="{FF2B5EF4-FFF2-40B4-BE49-F238E27FC236}">
                <a16:creationId xmlns:a16="http://schemas.microsoft.com/office/drawing/2014/main" id="{48466A17-1747-458E-8236-1BD51271414D}"/>
              </a:ext>
            </a:extLst>
          </p:cNvPr>
          <p:cNvSpPr>
            <a:spLocks noGrp="1"/>
          </p:cNvSpPr>
          <p:nvPr/>
        </p:nvSpPr>
        <p:spPr>
          <a:xfrm>
            <a:off x="8711564" y="2733675"/>
            <a:ext cx="1889761"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53" name="n=263">
            <a:extLst>
              <a:ext uri="{FF2B5EF4-FFF2-40B4-BE49-F238E27FC236}">
                <a16:creationId xmlns:a16="http://schemas.microsoft.com/office/drawing/2014/main" id="{AA0A1423-802D-44D8-B75C-A73EB74E3E74}"/>
              </a:ext>
            </a:extLst>
          </p:cNvPr>
          <p:cNvSpPr>
            <a:spLocks noGrp="1"/>
          </p:cNvSpPr>
          <p:nvPr/>
        </p:nvSpPr>
        <p:spPr>
          <a:xfrm>
            <a:off x="10782300" y="27241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n=226</a:t>
            </a:r>
          </a:p>
        </p:txBody>
      </p:sp>
      <p:sp>
        <p:nvSpPr>
          <p:cNvPr id="554" name="Average">
            <a:extLst>
              <a:ext uri="{FF2B5EF4-FFF2-40B4-BE49-F238E27FC236}">
                <a16:creationId xmlns:a16="http://schemas.microsoft.com/office/drawing/2014/main" id="{A9A418D8-693C-4000-8BCA-F55535AD9D83}"/>
              </a:ext>
            </a:extLst>
          </p:cNvPr>
          <p:cNvSpPr>
            <a:spLocks noGrp="1"/>
          </p:cNvSpPr>
          <p:nvPr/>
        </p:nvSpPr>
        <p:spPr>
          <a:xfrm>
            <a:off x="400050" y="33909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Average</a:t>
            </a:r>
          </a:p>
        </p:txBody>
      </p:sp>
      <p:sp>
        <p:nvSpPr>
          <p:cNvPr id="555" name="Rectangle 554">
            <a:extLst>
              <a:ext uri="{FF2B5EF4-FFF2-40B4-BE49-F238E27FC236}">
                <a16:creationId xmlns:a16="http://schemas.microsoft.com/office/drawing/2014/main" id="{0E3BBCB2-7AA0-4578-A1BB-99F48D7194FA}"/>
              </a:ext>
            </a:extLst>
          </p:cNvPr>
          <p:cNvSpPr>
            <a:spLocks noGrp="1"/>
          </p:cNvSpPr>
          <p:nvPr/>
        </p:nvSpPr>
        <p:spPr>
          <a:xfrm>
            <a:off x="3667125" y="3352800"/>
            <a:ext cx="1112520" cy="447675"/>
          </a:xfrm>
          <a:prstGeom prst="rect">
            <a:avLst/>
          </a:prstGeom>
          <a:solidFill>
            <a:srgbClr val="A83A3A"/>
          </a:solidFill>
          <a:ln w="0">
            <a:noFill/>
          </a:ln>
        </p:spPr>
        <p:txBody>
          <a:bodyPr/>
          <a:lstStyle/>
          <a:p>
            <a:endParaRPr lang="en-US"/>
          </a:p>
        </p:txBody>
      </p:sp>
      <p:sp>
        <p:nvSpPr>
          <p:cNvPr id="556" name="18%">
            <a:extLst>
              <a:ext uri="{FF2B5EF4-FFF2-40B4-BE49-F238E27FC236}">
                <a16:creationId xmlns:a16="http://schemas.microsoft.com/office/drawing/2014/main" id="{046D4389-4F3F-491C-B2CC-4AFECC3E566A}"/>
              </a:ext>
            </a:extLst>
          </p:cNvPr>
          <p:cNvSpPr>
            <a:spLocks noGrp="1"/>
          </p:cNvSpPr>
          <p:nvPr/>
        </p:nvSpPr>
        <p:spPr>
          <a:xfrm>
            <a:off x="3705225" y="3457575"/>
            <a:ext cx="105537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16%</a:t>
            </a:r>
          </a:p>
        </p:txBody>
      </p:sp>
      <p:sp>
        <p:nvSpPr>
          <p:cNvPr id="557" name="Rectangle 556">
            <a:extLst>
              <a:ext uri="{FF2B5EF4-FFF2-40B4-BE49-F238E27FC236}">
                <a16:creationId xmlns:a16="http://schemas.microsoft.com/office/drawing/2014/main" id="{8FD43389-EB72-4DED-B124-199F66C8DE4F}"/>
              </a:ext>
            </a:extLst>
          </p:cNvPr>
          <p:cNvSpPr>
            <a:spLocks noGrp="1"/>
          </p:cNvSpPr>
          <p:nvPr/>
        </p:nvSpPr>
        <p:spPr>
          <a:xfrm>
            <a:off x="4779645" y="3352800"/>
            <a:ext cx="2294572" cy="447675"/>
          </a:xfrm>
          <a:prstGeom prst="rect">
            <a:avLst/>
          </a:prstGeom>
          <a:solidFill>
            <a:srgbClr val="DC713D"/>
          </a:solidFill>
          <a:ln w="0">
            <a:noFill/>
          </a:ln>
        </p:spPr>
        <p:txBody>
          <a:bodyPr/>
          <a:lstStyle/>
          <a:p>
            <a:endParaRPr lang="en-US"/>
          </a:p>
        </p:txBody>
      </p:sp>
      <p:sp>
        <p:nvSpPr>
          <p:cNvPr id="558" name="32%">
            <a:extLst>
              <a:ext uri="{FF2B5EF4-FFF2-40B4-BE49-F238E27FC236}">
                <a16:creationId xmlns:a16="http://schemas.microsoft.com/office/drawing/2014/main" id="{95B6A70C-353C-4F3F-AB98-2949B31CDBB5}"/>
              </a:ext>
            </a:extLst>
          </p:cNvPr>
          <p:cNvSpPr>
            <a:spLocks noGrp="1"/>
          </p:cNvSpPr>
          <p:nvPr/>
        </p:nvSpPr>
        <p:spPr>
          <a:xfrm>
            <a:off x="4817745" y="3457575"/>
            <a:ext cx="223742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33%</a:t>
            </a:r>
          </a:p>
        </p:txBody>
      </p:sp>
      <p:sp>
        <p:nvSpPr>
          <p:cNvPr id="559" name="Rectangle 558">
            <a:extLst>
              <a:ext uri="{FF2B5EF4-FFF2-40B4-BE49-F238E27FC236}">
                <a16:creationId xmlns:a16="http://schemas.microsoft.com/office/drawing/2014/main" id="{197B879D-E750-4B4F-90B5-EB6205414D76}"/>
              </a:ext>
            </a:extLst>
          </p:cNvPr>
          <p:cNvSpPr>
            <a:spLocks noGrp="1"/>
          </p:cNvSpPr>
          <p:nvPr/>
        </p:nvSpPr>
        <p:spPr>
          <a:xfrm>
            <a:off x="7074217" y="3352800"/>
            <a:ext cx="2225040" cy="447675"/>
          </a:xfrm>
          <a:prstGeom prst="rect">
            <a:avLst/>
          </a:prstGeom>
          <a:solidFill>
            <a:srgbClr val="4C91D8"/>
          </a:solidFill>
          <a:ln w="0">
            <a:noFill/>
          </a:ln>
        </p:spPr>
        <p:txBody>
          <a:bodyPr/>
          <a:lstStyle/>
          <a:p>
            <a:endParaRPr lang="en-US"/>
          </a:p>
        </p:txBody>
      </p:sp>
      <p:sp>
        <p:nvSpPr>
          <p:cNvPr id="560" name="30%">
            <a:extLst>
              <a:ext uri="{FF2B5EF4-FFF2-40B4-BE49-F238E27FC236}">
                <a16:creationId xmlns:a16="http://schemas.microsoft.com/office/drawing/2014/main" id="{78D1E63A-EE2C-435C-B041-8AD61C41A553}"/>
              </a:ext>
            </a:extLst>
          </p:cNvPr>
          <p:cNvSpPr>
            <a:spLocks noGrp="1"/>
          </p:cNvSpPr>
          <p:nvPr/>
        </p:nvSpPr>
        <p:spPr>
          <a:xfrm>
            <a:off x="7112317" y="3457575"/>
            <a:ext cx="216789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61" name="Rectangle 560">
            <a:extLst>
              <a:ext uri="{FF2B5EF4-FFF2-40B4-BE49-F238E27FC236}">
                <a16:creationId xmlns:a16="http://schemas.microsoft.com/office/drawing/2014/main" id="{36F4EC8C-8383-493E-805E-8B89FA18B9FC}"/>
              </a:ext>
            </a:extLst>
          </p:cNvPr>
          <p:cNvSpPr>
            <a:spLocks noGrp="1"/>
          </p:cNvSpPr>
          <p:nvPr/>
        </p:nvSpPr>
        <p:spPr>
          <a:xfrm>
            <a:off x="9299257" y="3352800"/>
            <a:ext cx="1321118" cy="447675"/>
          </a:xfrm>
          <a:prstGeom prst="rect">
            <a:avLst/>
          </a:prstGeom>
          <a:solidFill>
            <a:srgbClr val="285B9F"/>
          </a:solidFill>
          <a:ln w="0">
            <a:noFill/>
          </a:ln>
        </p:spPr>
        <p:txBody>
          <a:bodyPr/>
          <a:lstStyle/>
          <a:p>
            <a:endParaRPr lang="en-US"/>
          </a:p>
        </p:txBody>
      </p:sp>
      <p:sp>
        <p:nvSpPr>
          <p:cNvPr id="562" name="20%">
            <a:extLst>
              <a:ext uri="{FF2B5EF4-FFF2-40B4-BE49-F238E27FC236}">
                <a16:creationId xmlns:a16="http://schemas.microsoft.com/office/drawing/2014/main" id="{589E2576-FE19-462D-9BC2-8F8EA75D6E83}"/>
              </a:ext>
            </a:extLst>
          </p:cNvPr>
          <p:cNvSpPr>
            <a:spLocks noGrp="1"/>
          </p:cNvSpPr>
          <p:nvPr/>
        </p:nvSpPr>
        <p:spPr>
          <a:xfrm>
            <a:off x="9337357" y="3457575"/>
            <a:ext cx="126396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19%</a:t>
            </a:r>
          </a:p>
        </p:txBody>
      </p:sp>
      <p:sp>
        <p:nvSpPr>
          <p:cNvPr id="563" name="n=332">
            <a:extLst>
              <a:ext uri="{FF2B5EF4-FFF2-40B4-BE49-F238E27FC236}">
                <a16:creationId xmlns:a16="http://schemas.microsoft.com/office/drawing/2014/main" id="{F94B50DD-36E0-4A49-882F-C3A8A807C4B8}"/>
              </a:ext>
            </a:extLst>
          </p:cNvPr>
          <p:cNvSpPr>
            <a:spLocks noGrp="1"/>
          </p:cNvSpPr>
          <p:nvPr/>
        </p:nvSpPr>
        <p:spPr>
          <a:xfrm>
            <a:off x="10782300" y="34480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n=290</a:t>
            </a:r>
          </a:p>
        </p:txBody>
      </p:sp>
      <p:sp>
        <p:nvSpPr>
          <p:cNvPr id="564" name="Mostly manageable">
            <a:extLst>
              <a:ext uri="{FF2B5EF4-FFF2-40B4-BE49-F238E27FC236}">
                <a16:creationId xmlns:a16="http://schemas.microsoft.com/office/drawing/2014/main" id="{4D7A617E-413D-44FC-B445-9BE5CA2B44FA}"/>
              </a:ext>
            </a:extLst>
          </p:cNvPr>
          <p:cNvSpPr>
            <a:spLocks noGrp="1"/>
          </p:cNvSpPr>
          <p:nvPr/>
        </p:nvSpPr>
        <p:spPr>
          <a:xfrm>
            <a:off x="400050" y="41148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Mostly manageable</a:t>
            </a:r>
          </a:p>
        </p:txBody>
      </p:sp>
      <p:sp>
        <p:nvSpPr>
          <p:cNvPr id="565" name="Rectangle 564">
            <a:extLst>
              <a:ext uri="{FF2B5EF4-FFF2-40B4-BE49-F238E27FC236}">
                <a16:creationId xmlns:a16="http://schemas.microsoft.com/office/drawing/2014/main" id="{54E16F0D-20F3-4B42-8BD9-81FDE1AAC952}"/>
              </a:ext>
            </a:extLst>
          </p:cNvPr>
          <p:cNvSpPr>
            <a:spLocks noGrp="1"/>
          </p:cNvSpPr>
          <p:nvPr/>
        </p:nvSpPr>
        <p:spPr>
          <a:xfrm>
            <a:off x="3667125" y="4076700"/>
            <a:ext cx="1170349" cy="447675"/>
          </a:xfrm>
          <a:prstGeom prst="rect">
            <a:avLst/>
          </a:prstGeom>
          <a:solidFill>
            <a:srgbClr val="A83A3A"/>
          </a:solidFill>
          <a:ln w="0">
            <a:noFill/>
          </a:ln>
        </p:spPr>
        <p:txBody>
          <a:bodyPr/>
          <a:lstStyle/>
          <a:p>
            <a:endParaRPr lang="en-US"/>
          </a:p>
        </p:txBody>
      </p:sp>
      <p:sp>
        <p:nvSpPr>
          <p:cNvPr id="566" name="20%">
            <a:extLst>
              <a:ext uri="{FF2B5EF4-FFF2-40B4-BE49-F238E27FC236}">
                <a16:creationId xmlns:a16="http://schemas.microsoft.com/office/drawing/2014/main" id="{9192329C-F09F-4819-914E-73EC1F024EDF}"/>
              </a:ext>
            </a:extLst>
          </p:cNvPr>
          <p:cNvSpPr>
            <a:spLocks noGrp="1"/>
          </p:cNvSpPr>
          <p:nvPr/>
        </p:nvSpPr>
        <p:spPr>
          <a:xfrm>
            <a:off x="3705225" y="4181475"/>
            <a:ext cx="111319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17%</a:t>
            </a:r>
          </a:p>
        </p:txBody>
      </p:sp>
      <p:sp>
        <p:nvSpPr>
          <p:cNvPr id="567" name="Rectangle 566">
            <a:extLst>
              <a:ext uri="{FF2B5EF4-FFF2-40B4-BE49-F238E27FC236}">
                <a16:creationId xmlns:a16="http://schemas.microsoft.com/office/drawing/2014/main" id="{DF967116-C6AC-44E5-BB00-A066506099DF}"/>
              </a:ext>
            </a:extLst>
          </p:cNvPr>
          <p:cNvSpPr>
            <a:spLocks noGrp="1"/>
          </p:cNvSpPr>
          <p:nvPr/>
        </p:nvSpPr>
        <p:spPr>
          <a:xfrm>
            <a:off x="4837474" y="4076700"/>
            <a:ext cx="2065322" cy="447675"/>
          </a:xfrm>
          <a:prstGeom prst="rect">
            <a:avLst/>
          </a:prstGeom>
          <a:solidFill>
            <a:srgbClr val="DC713D"/>
          </a:solidFill>
          <a:ln w="0">
            <a:noFill/>
          </a:ln>
        </p:spPr>
        <p:txBody>
          <a:bodyPr/>
          <a:lstStyle/>
          <a:p>
            <a:endParaRPr lang="en-US"/>
          </a:p>
        </p:txBody>
      </p:sp>
      <p:sp>
        <p:nvSpPr>
          <p:cNvPr id="568" name="27%">
            <a:extLst>
              <a:ext uri="{FF2B5EF4-FFF2-40B4-BE49-F238E27FC236}">
                <a16:creationId xmlns:a16="http://schemas.microsoft.com/office/drawing/2014/main" id="{0663B37E-0065-42C0-827B-1A79195AD7ED}"/>
              </a:ext>
            </a:extLst>
          </p:cNvPr>
          <p:cNvSpPr>
            <a:spLocks noGrp="1"/>
          </p:cNvSpPr>
          <p:nvPr/>
        </p:nvSpPr>
        <p:spPr>
          <a:xfrm>
            <a:off x="4875574" y="4181475"/>
            <a:ext cx="200817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30%</a:t>
            </a:r>
          </a:p>
        </p:txBody>
      </p:sp>
      <p:sp>
        <p:nvSpPr>
          <p:cNvPr id="569" name="Rectangle 568">
            <a:extLst>
              <a:ext uri="{FF2B5EF4-FFF2-40B4-BE49-F238E27FC236}">
                <a16:creationId xmlns:a16="http://schemas.microsoft.com/office/drawing/2014/main" id="{A9FD31E1-7562-48FD-A3B6-237BA81ADBA3}"/>
              </a:ext>
            </a:extLst>
          </p:cNvPr>
          <p:cNvSpPr>
            <a:spLocks noGrp="1"/>
          </p:cNvSpPr>
          <p:nvPr/>
        </p:nvSpPr>
        <p:spPr>
          <a:xfrm>
            <a:off x="6902796" y="4076700"/>
            <a:ext cx="2203010" cy="447675"/>
          </a:xfrm>
          <a:prstGeom prst="rect">
            <a:avLst/>
          </a:prstGeom>
          <a:solidFill>
            <a:srgbClr val="4C91D8"/>
          </a:solidFill>
          <a:ln w="0">
            <a:noFill/>
          </a:ln>
        </p:spPr>
        <p:txBody>
          <a:bodyPr/>
          <a:lstStyle/>
          <a:p>
            <a:endParaRPr lang="en-US"/>
          </a:p>
        </p:txBody>
      </p:sp>
      <p:sp>
        <p:nvSpPr>
          <p:cNvPr id="570" name="30%">
            <a:extLst>
              <a:ext uri="{FF2B5EF4-FFF2-40B4-BE49-F238E27FC236}">
                <a16:creationId xmlns:a16="http://schemas.microsoft.com/office/drawing/2014/main" id="{90E5CD6A-F510-4D81-9FA5-5999AA186248}"/>
              </a:ext>
            </a:extLst>
          </p:cNvPr>
          <p:cNvSpPr>
            <a:spLocks noGrp="1"/>
          </p:cNvSpPr>
          <p:nvPr/>
        </p:nvSpPr>
        <p:spPr>
          <a:xfrm>
            <a:off x="6940896" y="4181475"/>
            <a:ext cx="21458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32%</a:t>
            </a:r>
          </a:p>
        </p:txBody>
      </p:sp>
      <p:sp>
        <p:nvSpPr>
          <p:cNvPr id="571" name="Rectangle 570">
            <a:extLst>
              <a:ext uri="{FF2B5EF4-FFF2-40B4-BE49-F238E27FC236}">
                <a16:creationId xmlns:a16="http://schemas.microsoft.com/office/drawing/2014/main" id="{F8EFAECF-242F-4C11-9482-C9792B9545BD}"/>
              </a:ext>
            </a:extLst>
          </p:cNvPr>
          <p:cNvSpPr>
            <a:spLocks noGrp="1"/>
          </p:cNvSpPr>
          <p:nvPr/>
        </p:nvSpPr>
        <p:spPr>
          <a:xfrm>
            <a:off x="9105806" y="4076700"/>
            <a:ext cx="1514569" cy="447675"/>
          </a:xfrm>
          <a:prstGeom prst="rect">
            <a:avLst/>
          </a:prstGeom>
          <a:solidFill>
            <a:srgbClr val="285B9F"/>
          </a:solidFill>
          <a:ln w="0">
            <a:noFill/>
          </a:ln>
        </p:spPr>
        <p:txBody>
          <a:bodyPr/>
          <a:lstStyle/>
          <a:p>
            <a:endParaRPr lang="en-US"/>
          </a:p>
        </p:txBody>
      </p:sp>
      <p:sp>
        <p:nvSpPr>
          <p:cNvPr id="572" name="23%">
            <a:extLst>
              <a:ext uri="{FF2B5EF4-FFF2-40B4-BE49-F238E27FC236}">
                <a16:creationId xmlns:a16="http://schemas.microsoft.com/office/drawing/2014/main" id="{0724A395-17D1-4342-9FB1-02B0935574B6}"/>
              </a:ext>
            </a:extLst>
          </p:cNvPr>
          <p:cNvSpPr>
            <a:spLocks noGrp="1"/>
          </p:cNvSpPr>
          <p:nvPr/>
        </p:nvSpPr>
        <p:spPr>
          <a:xfrm>
            <a:off x="9143906" y="4181475"/>
            <a:ext cx="1457419"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22%</a:t>
            </a:r>
          </a:p>
        </p:txBody>
      </p:sp>
      <p:sp>
        <p:nvSpPr>
          <p:cNvPr id="573" name="n=233">
            <a:extLst>
              <a:ext uri="{FF2B5EF4-FFF2-40B4-BE49-F238E27FC236}">
                <a16:creationId xmlns:a16="http://schemas.microsoft.com/office/drawing/2014/main" id="{1A81B232-22E8-4385-86F0-81D97F726BE2}"/>
              </a:ext>
            </a:extLst>
          </p:cNvPr>
          <p:cNvSpPr>
            <a:spLocks noGrp="1"/>
          </p:cNvSpPr>
          <p:nvPr/>
        </p:nvSpPr>
        <p:spPr>
          <a:xfrm>
            <a:off x="10782300" y="41719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n=195</a:t>
            </a:r>
          </a:p>
        </p:txBody>
      </p:sp>
      <p:sp>
        <p:nvSpPr>
          <p:cNvPr id="574" name="Very healthy and balanced">
            <a:extLst>
              <a:ext uri="{FF2B5EF4-FFF2-40B4-BE49-F238E27FC236}">
                <a16:creationId xmlns:a16="http://schemas.microsoft.com/office/drawing/2014/main" id="{01225E59-899E-4BD3-9C75-346C2A9C8B9B}"/>
              </a:ext>
            </a:extLst>
          </p:cNvPr>
          <p:cNvSpPr>
            <a:spLocks noGrp="1"/>
          </p:cNvSpPr>
          <p:nvPr/>
        </p:nvSpPr>
        <p:spPr>
          <a:xfrm>
            <a:off x="400050" y="4838700"/>
            <a:ext cx="3124200" cy="619125"/>
          </a:xfrm>
          <a:prstGeom prst="rect">
            <a:avLst/>
          </a:prstGeom>
          <a:noFill/>
          <a:ln w="0">
            <a:noFill/>
          </a:ln>
        </p:spPr>
        <p:txBody>
          <a:bodyPr anchor="t">
            <a:noAutofit/>
          </a:bodyPr>
          <a:lstStyle/>
          <a:p>
            <a:pPr>
              <a:defRPr sz="1800" b="0">
                <a:solidFill>
                  <a:srgbClr val="121212"/>
                </a:solidFill>
                <a:latin typeface="Times New Roman"/>
                <a:ea typeface="Times New Roman"/>
                <a:cs typeface="Times New Roman"/>
              </a:defRPr>
            </a:pPr>
            <a:r>
              <a:rPr sz="1800" b="0">
                <a:solidFill>
                  <a:srgbClr val="121212"/>
                </a:solidFill>
                <a:latin typeface="Times New Roman"/>
                <a:ea typeface="Times New Roman"/>
                <a:cs typeface="Times New Roman"/>
              </a:rPr>
              <a:t>Very healthy and balanced</a:t>
            </a:r>
          </a:p>
        </p:txBody>
      </p:sp>
      <p:sp>
        <p:nvSpPr>
          <p:cNvPr id="575" name="Rectangle 574">
            <a:extLst>
              <a:ext uri="{FF2B5EF4-FFF2-40B4-BE49-F238E27FC236}">
                <a16:creationId xmlns:a16="http://schemas.microsoft.com/office/drawing/2014/main" id="{0543B520-ADAF-4C76-98FF-DDD685EE21FF}"/>
              </a:ext>
            </a:extLst>
          </p:cNvPr>
          <p:cNvSpPr>
            <a:spLocks noGrp="1"/>
          </p:cNvSpPr>
          <p:nvPr/>
        </p:nvSpPr>
        <p:spPr>
          <a:xfrm>
            <a:off x="3667125" y="4800600"/>
            <a:ext cx="1668780" cy="447675"/>
          </a:xfrm>
          <a:prstGeom prst="rect">
            <a:avLst/>
          </a:prstGeom>
          <a:solidFill>
            <a:srgbClr val="A83A3A"/>
          </a:solidFill>
          <a:ln w="0">
            <a:noFill/>
          </a:ln>
        </p:spPr>
        <p:txBody>
          <a:bodyPr/>
          <a:lstStyle/>
          <a:p>
            <a:endParaRPr lang="en-US"/>
          </a:p>
        </p:txBody>
      </p:sp>
      <p:sp>
        <p:nvSpPr>
          <p:cNvPr id="576" name="25%">
            <a:extLst>
              <a:ext uri="{FF2B5EF4-FFF2-40B4-BE49-F238E27FC236}">
                <a16:creationId xmlns:a16="http://schemas.microsoft.com/office/drawing/2014/main" id="{C9D1D9F5-EE20-49F4-95DF-CAD543967C90}"/>
              </a:ext>
            </a:extLst>
          </p:cNvPr>
          <p:cNvSpPr>
            <a:spLocks noGrp="1"/>
          </p:cNvSpPr>
          <p:nvPr/>
        </p:nvSpPr>
        <p:spPr>
          <a:xfrm>
            <a:off x="3705225" y="4905375"/>
            <a:ext cx="161163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24%</a:t>
            </a:r>
          </a:p>
        </p:txBody>
      </p:sp>
      <p:sp>
        <p:nvSpPr>
          <p:cNvPr id="577" name="Rectangle 576">
            <a:extLst>
              <a:ext uri="{FF2B5EF4-FFF2-40B4-BE49-F238E27FC236}">
                <a16:creationId xmlns:a16="http://schemas.microsoft.com/office/drawing/2014/main" id="{7692E0F0-8BA1-46DB-868D-D5301DD75F11}"/>
              </a:ext>
            </a:extLst>
          </p:cNvPr>
          <p:cNvSpPr>
            <a:spLocks noGrp="1"/>
          </p:cNvSpPr>
          <p:nvPr/>
        </p:nvSpPr>
        <p:spPr>
          <a:xfrm>
            <a:off x="5335905" y="4800600"/>
            <a:ext cx="1877378" cy="447675"/>
          </a:xfrm>
          <a:prstGeom prst="rect">
            <a:avLst/>
          </a:prstGeom>
          <a:solidFill>
            <a:srgbClr val="DC713D"/>
          </a:solidFill>
          <a:ln w="0">
            <a:noFill/>
          </a:ln>
        </p:spPr>
        <p:txBody>
          <a:bodyPr/>
          <a:lstStyle/>
          <a:p>
            <a:endParaRPr lang="en-US"/>
          </a:p>
        </p:txBody>
      </p:sp>
      <p:sp>
        <p:nvSpPr>
          <p:cNvPr id="578" name="24%">
            <a:extLst>
              <a:ext uri="{FF2B5EF4-FFF2-40B4-BE49-F238E27FC236}">
                <a16:creationId xmlns:a16="http://schemas.microsoft.com/office/drawing/2014/main" id="{1AE690E4-9954-4D07-91D6-67454D014CB1}"/>
              </a:ext>
            </a:extLst>
          </p:cNvPr>
          <p:cNvSpPr>
            <a:spLocks noGrp="1"/>
          </p:cNvSpPr>
          <p:nvPr/>
        </p:nvSpPr>
        <p:spPr>
          <a:xfrm>
            <a:off x="5374005" y="4905375"/>
            <a:ext cx="1820228"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27%</a:t>
            </a:r>
          </a:p>
        </p:txBody>
      </p:sp>
      <p:sp>
        <p:nvSpPr>
          <p:cNvPr id="579" name="Rectangle 578">
            <a:extLst>
              <a:ext uri="{FF2B5EF4-FFF2-40B4-BE49-F238E27FC236}">
                <a16:creationId xmlns:a16="http://schemas.microsoft.com/office/drawing/2014/main" id="{24B975B4-B56B-4EA6-8AA8-23A109A46705}"/>
              </a:ext>
            </a:extLst>
          </p:cNvPr>
          <p:cNvSpPr>
            <a:spLocks noGrp="1"/>
          </p:cNvSpPr>
          <p:nvPr/>
        </p:nvSpPr>
        <p:spPr>
          <a:xfrm>
            <a:off x="7213283" y="4800600"/>
            <a:ext cx="1946910" cy="447675"/>
          </a:xfrm>
          <a:prstGeom prst="rect">
            <a:avLst/>
          </a:prstGeom>
          <a:solidFill>
            <a:srgbClr val="4C91D8"/>
          </a:solidFill>
          <a:ln w="0">
            <a:noFill/>
          </a:ln>
        </p:spPr>
        <p:txBody>
          <a:bodyPr/>
          <a:lstStyle/>
          <a:p>
            <a:endParaRPr lang="en-US"/>
          </a:p>
        </p:txBody>
      </p:sp>
      <p:sp>
        <p:nvSpPr>
          <p:cNvPr id="580" name="26%">
            <a:extLst>
              <a:ext uri="{FF2B5EF4-FFF2-40B4-BE49-F238E27FC236}">
                <a16:creationId xmlns:a16="http://schemas.microsoft.com/office/drawing/2014/main" id="{F451F49A-CB72-49A9-88F1-E6F244F552F3}"/>
              </a:ext>
            </a:extLst>
          </p:cNvPr>
          <p:cNvSpPr>
            <a:spLocks noGrp="1"/>
          </p:cNvSpPr>
          <p:nvPr/>
        </p:nvSpPr>
        <p:spPr>
          <a:xfrm>
            <a:off x="7251383" y="4905375"/>
            <a:ext cx="1889760"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28%</a:t>
            </a:r>
          </a:p>
        </p:txBody>
      </p:sp>
      <p:sp>
        <p:nvSpPr>
          <p:cNvPr id="581" name="Rectangle 580">
            <a:extLst>
              <a:ext uri="{FF2B5EF4-FFF2-40B4-BE49-F238E27FC236}">
                <a16:creationId xmlns:a16="http://schemas.microsoft.com/office/drawing/2014/main" id="{BBC6995C-6D83-41EA-9A0C-5830034EEC81}"/>
              </a:ext>
            </a:extLst>
          </p:cNvPr>
          <p:cNvSpPr>
            <a:spLocks noGrp="1"/>
          </p:cNvSpPr>
          <p:nvPr/>
        </p:nvSpPr>
        <p:spPr>
          <a:xfrm>
            <a:off x="9160193" y="4800600"/>
            <a:ext cx="1460182" cy="447675"/>
          </a:xfrm>
          <a:prstGeom prst="rect">
            <a:avLst/>
          </a:prstGeom>
          <a:solidFill>
            <a:srgbClr val="285B9F"/>
          </a:solidFill>
          <a:ln w="0">
            <a:noFill/>
          </a:ln>
        </p:spPr>
        <p:txBody>
          <a:bodyPr/>
          <a:lstStyle/>
          <a:p>
            <a:endParaRPr lang="en-US"/>
          </a:p>
        </p:txBody>
      </p:sp>
      <p:sp>
        <p:nvSpPr>
          <p:cNvPr id="582" name="24%">
            <a:extLst>
              <a:ext uri="{FF2B5EF4-FFF2-40B4-BE49-F238E27FC236}">
                <a16:creationId xmlns:a16="http://schemas.microsoft.com/office/drawing/2014/main" id="{E6213C9F-0162-47F5-B53B-A16709D3997D}"/>
              </a:ext>
            </a:extLst>
          </p:cNvPr>
          <p:cNvSpPr>
            <a:spLocks noGrp="1"/>
          </p:cNvSpPr>
          <p:nvPr/>
        </p:nvSpPr>
        <p:spPr>
          <a:xfrm>
            <a:off x="9198293" y="4905375"/>
            <a:ext cx="1403032" cy="285750"/>
          </a:xfrm>
          <a:prstGeom prst="rect">
            <a:avLst/>
          </a:prstGeom>
          <a:noFill/>
          <a:ln w="0">
            <a:noFill/>
          </a:ln>
        </p:spPr>
        <p:txBody>
          <a:bodyPr anchor="t">
            <a:noAutofit/>
          </a:bodyPr>
          <a:lstStyle/>
          <a:p>
            <a:pPr>
              <a:defRPr sz="1425" b="0">
                <a:solidFill>
                  <a:srgbClr val="FFFFFF"/>
                </a:solidFill>
                <a:latin typeface="Times New Roman"/>
                <a:ea typeface="Times New Roman"/>
                <a:cs typeface="Times New Roman"/>
              </a:defRPr>
            </a:pPr>
            <a:r>
              <a:rPr sz="1425" b="0">
                <a:solidFill>
                  <a:srgbClr val="FFFFFF"/>
                </a:solidFill>
                <a:latin typeface="Times New Roman"/>
                <a:ea typeface="Times New Roman"/>
                <a:cs typeface="Times New Roman"/>
              </a:rPr>
              <a:t>21%</a:t>
            </a:r>
          </a:p>
        </p:txBody>
      </p:sp>
      <p:sp>
        <p:nvSpPr>
          <p:cNvPr id="583" name="n=115">
            <a:extLst>
              <a:ext uri="{FF2B5EF4-FFF2-40B4-BE49-F238E27FC236}">
                <a16:creationId xmlns:a16="http://schemas.microsoft.com/office/drawing/2014/main" id="{DB4B7F31-1219-465C-82EB-8954BA14EE0F}"/>
              </a:ext>
            </a:extLst>
          </p:cNvPr>
          <p:cNvSpPr>
            <a:spLocks noGrp="1"/>
          </p:cNvSpPr>
          <p:nvPr/>
        </p:nvSpPr>
        <p:spPr>
          <a:xfrm>
            <a:off x="10782300" y="4895850"/>
            <a:ext cx="981075" cy="38100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n=82</a:t>
            </a:r>
          </a:p>
        </p:txBody>
      </p:sp>
      <p:sp>
        <p:nvSpPr>
          <p:cNvPr id="584" name="Rectangle 583">
            <a:extLst>
              <a:ext uri="{FF2B5EF4-FFF2-40B4-BE49-F238E27FC236}">
                <a16:creationId xmlns:a16="http://schemas.microsoft.com/office/drawing/2014/main" id="{D9441059-6148-4CAC-B5BC-6426A870FD6F}"/>
              </a:ext>
            </a:extLst>
          </p:cNvPr>
          <p:cNvSpPr>
            <a:spLocks noGrp="1"/>
          </p:cNvSpPr>
          <p:nvPr/>
        </p:nvSpPr>
        <p:spPr>
          <a:xfrm>
            <a:off x="3667125" y="1409700"/>
            <a:ext cx="190500" cy="190500"/>
          </a:xfrm>
          <a:prstGeom prst="rect">
            <a:avLst/>
          </a:prstGeom>
          <a:solidFill>
            <a:srgbClr val="A83A3A"/>
          </a:solidFill>
          <a:ln w="0">
            <a:noFill/>
          </a:ln>
        </p:spPr>
        <p:txBody>
          <a:bodyPr/>
          <a:lstStyle/>
          <a:p>
            <a:endParaRPr lang="en-US"/>
          </a:p>
        </p:txBody>
      </p:sp>
      <p:sp>
        <p:nvSpPr>
          <p:cNvPr id="585" name="C0  &lt; 3.20">
            <a:extLst>
              <a:ext uri="{FF2B5EF4-FFF2-40B4-BE49-F238E27FC236}">
                <a16:creationId xmlns:a16="http://schemas.microsoft.com/office/drawing/2014/main" id="{CA7820B6-AA00-4377-B75F-972F14C380C5}"/>
              </a:ext>
            </a:extLst>
          </p:cNvPr>
          <p:cNvSpPr>
            <a:spLocks noGrp="1"/>
          </p:cNvSpPr>
          <p:nvPr/>
        </p:nvSpPr>
        <p:spPr>
          <a:xfrm>
            <a:off x="39433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C0  &lt; 3.20</a:t>
            </a:r>
          </a:p>
        </p:txBody>
      </p:sp>
      <p:sp>
        <p:nvSpPr>
          <p:cNvPr id="586" name="Rectangle 585">
            <a:extLst>
              <a:ext uri="{FF2B5EF4-FFF2-40B4-BE49-F238E27FC236}">
                <a16:creationId xmlns:a16="http://schemas.microsoft.com/office/drawing/2014/main" id="{83D141F2-87DF-49FF-A075-C3216456BF05}"/>
              </a:ext>
            </a:extLst>
          </p:cNvPr>
          <p:cNvSpPr>
            <a:spLocks noGrp="1"/>
          </p:cNvSpPr>
          <p:nvPr/>
        </p:nvSpPr>
        <p:spPr>
          <a:xfrm>
            <a:off x="5476875" y="1409700"/>
            <a:ext cx="190500" cy="190500"/>
          </a:xfrm>
          <a:prstGeom prst="rect">
            <a:avLst/>
          </a:prstGeom>
          <a:solidFill>
            <a:srgbClr val="DC713D"/>
          </a:solidFill>
          <a:ln w="0">
            <a:noFill/>
          </a:ln>
        </p:spPr>
        <p:txBody>
          <a:bodyPr/>
          <a:lstStyle/>
          <a:p>
            <a:endParaRPr lang="en-US"/>
          </a:p>
        </p:txBody>
      </p:sp>
      <p:sp>
        <p:nvSpPr>
          <p:cNvPr id="587" name="C1  3.20–3.49">
            <a:extLst>
              <a:ext uri="{FF2B5EF4-FFF2-40B4-BE49-F238E27FC236}">
                <a16:creationId xmlns:a16="http://schemas.microsoft.com/office/drawing/2014/main" id="{214D1088-896D-4989-9D87-A78E4C47B17E}"/>
              </a:ext>
            </a:extLst>
          </p:cNvPr>
          <p:cNvSpPr>
            <a:spLocks noGrp="1"/>
          </p:cNvSpPr>
          <p:nvPr/>
        </p:nvSpPr>
        <p:spPr>
          <a:xfrm>
            <a:off x="57531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C1  3.20–3.49</a:t>
            </a:r>
          </a:p>
        </p:txBody>
      </p:sp>
      <p:sp>
        <p:nvSpPr>
          <p:cNvPr id="588" name="Rectangle 587">
            <a:extLst>
              <a:ext uri="{FF2B5EF4-FFF2-40B4-BE49-F238E27FC236}">
                <a16:creationId xmlns:a16="http://schemas.microsoft.com/office/drawing/2014/main" id="{516A69C6-371F-41D1-8789-00C2F3861583}"/>
              </a:ext>
            </a:extLst>
          </p:cNvPr>
          <p:cNvSpPr>
            <a:spLocks noGrp="1"/>
          </p:cNvSpPr>
          <p:nvPr/>
        </p:nvSpPr>
        <p:spPr>
          <a:xfrm>
            <a:off x="7286625" y="1409700"/>
            <a:ext cx="190500" cy="190500"/>
          </a:xfrm>
          <a:prstGeom prst="rect">
            <a:avLst/>
          </a:prstGeom>
          <a:solidFill>
            <a:srgbClr val="4C91D8"/>
          </a:solidFill>
          <a:ln w="0">
            <a:noFill/>
          </a:ln>
        </p:spPr>
        <p:txBody>
          <a:bodyPr/>
          <a:lstStyle/>
          <a:p>
            <a:endParaRPr lang="en-US"/>
          </a:p>
        </p:txBody>
      </p:sp>
      <p:sp>
        <p:nvSpPr>
          <p:cNvPr id="589" name="C2  3.50–3.74">
            <a:extLst>
              <a:ext uri="{FF2B5EF4-FFF2-40B4-BE49-F238E27FC236}">
                <a16:creationId xmlns:a16="http://schemas.microsoft.com/office/drawing/2014/main" id="{19DE4266-CE0D-4F1D-A478-582DA84A1A2F}"/>
              </a:ext>
            </a:extLst>
          </p:cNvPr>
          <p:cNvSpPr>
            <a:spLocks noGrp="1"/>
          </p:cNvSpPr>
          <p:nvPr/>
        </p:nvSpPr>
        <p:spPr>
          <a:xfrm>
            <a:off x="756285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C2  3.50–3.74</a:t>
            </a:r>
          </a:p>
        </p:txBody>
      </p:sp>
      <p:sp>
        <p:nvSpPr>
          <p:cNvPr id="590" name="Rectangle 589">
            <a:extLst>
              <a:ext uri="{FF2B5EF4-FFF2-40B4-BE49-F238E27FC236}">
                <a16:creationId xmlns:a16="http://schemas.microsoft.com/office/drawing/2014/main" id="{8A5329BA-B6CA-4368-BA1C-92863BC7D040}"/>
              </a:ext>
            </a:extLst>
          </p:cNvPr>
          <p:cNvSpPr>
            <a:spLocks noGrp="1"/>
          </p:cNvSpPr>
          <p:nvPr/>
        </p:nvSpPr>
        <p:spPr>
          <a:xfrm>
            <a:off x="9096375" y="1409700"/>
            <a:ext cx="190500" cy="190500"/>
          </a:xfrm>
          <a:prstGeom prst="rect">
            <a:avLst/>
          </a:prstGeom>
          <a:solidFill>
            <a:srgbClr val="285B9F"/>
          </a:solidFill>
          <a:ln w="0">
            <a:noFill/>
          </a:ln>
        </p:spPr>
        <p:txBody>
          <a:bodyPr/>
          <a:lstStyle/>
          <a:p>
            <a:endParaRPr lang="en-US"/>
          </a:p>
        </p:txBody>
      </p:sp>
      <p:sp>
        <p:nvSpPr>
          <p:cNvPr id="591" name="C3  ≥ 3.75">
            <a:extLst>
              <a:ext uri="{FF2B5EF4-FFF2-40B4-BE49-F238E27FC236}">
                <a16:creationId xmlns:a16="http://schemas.microsoft.com/office/drawing/2014/main" id="{AD089DC8-45FD-4109-ADB0-D45C40E5FD53}"/>
              </a:ext>
            </a:extLst>
          </p:cNvPr>
          <p:cNvSpPr>
            <a:spLocks noGrp="1"/>
          </p:cNvSpPr>
          <p:nvPr/>
        </p:nvSpPr>
        <p:spPr>
          <a:xfrm>
            <a:off x="9372600" y="1362075"/>
            <a:ext cx="1524000" cy="304800"/>
          </a:xfrm>
          <a:prstGeom prst="rect">
            <a:avLst/>
          </a:prstGeom>
          <a:noFill/>
          <a:ln w="0">
            <a:noFill/>
          </a:ln>
        </p:spPr>
        <p:txBody>
          <a:bodyPr anchor="t">
            <a:noAutofit/>
          </a:bodyPr>
          <a:lstStyle/>
          <a:p>
            <a:pPr>
              <a:defRPr sz="1350" b="0">
                <a:solidFill>
                  <a:srgbClr val="121212"/>
                </a:solidFill>
                <a:latin typeface="Times New Roman"/>
                <a:ea typeface="Times New Roman"/>
                <a:cs typeface="Times New Roman"/>
              </a:defRPr>
            </a:pPr>
            <a:r>
              <a:rPr sz="1350" b="0">
                <a:solidFill>
                  <a:srgbClr val="121212"/>
                </a:solidFill>
                <a:latin typeface="Times New Roman"/>
                <a:ea typeface="Times New Roman"/>
                <a:cs typeface="Times New Roman"/>
              </a:rPr>
              <a:t>C3  ≥ 3.75</a:t>
            </a:r>
          </a:p>
        </p:txBody>
      </p:sp>
      <p:cxnSp>
        <p:nvCxnSpPr>
          <p:cNvPr id="2" name="Straight Arrow Connector 1">
            <a:extLst>
              <a:ext uri="{FF2B5EF4-FFF2-40B4-BE49-F238E27FC236}">
                <a16:creationId xmlns:a16="http://schemas.microsoft.com/office/drawing/2014/main" id="{F69DCD1D-F3CE-3C89-BDDD-4A8311832CFB}"/>
              </a:ext>
            </a:extLst>
          </p:cNvPr>
          <p:cNvCxnSpPr>
            <a:cxnSpLocks/>
          </p:cNvCxnSpPr>
          <p:nvPr/>
        </p:nvCxnSpPr>
        <p:spPr>
          <a:xfrm>
            <a:off x="204107" y="5763986"/>
            <a:ext cx="105781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D8797FAF-0DD0-D81C-1434-A39C6BB22F69}"/>
              </a:ext>
            </a:extLst>
          </p:cNvPr>
          <p:cNvCxnSpPr>
            <a:cxnSpLocks/>
          </p:cNvCxnSpPr>
          <p:nvPr/>
        </p:nvCxnSpPr>
        <p:spPr>
          <a:xfrm flipV="1">
            <a:off x="356507" y="971550"/>
            <a:ext cx="0" cy="4944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CDA531B-5568-3EA8-1908-0B8B57DB1C3D}"/>
              </a:ext>
            </a:extLst>
          </p:cNvPr>
          <p:cNvSpPr txBox="1"/>
          <p:nvPr/>
        </p:nvSpPr>
        <p:spPr>
          <a:xfrm>
            <a:off x="5532723" y="5787509"/>
            <a:ext cx="821572" cy="369332"/>
          </a:xfrm>
          <a:prstGeom prst="rect">
            <a:avLst/>
          </a:prstGeom>
          <a:noFill/>
        </p:spPr>
        <p:txBody>
          <a:bodyPr wrap="none" rtlCol="0">
            <a:spAutoFit/>
          </a:bodyPr>
          <a:lstStyle/>
          <a:p>
            <a:r>
              <a:rPr lang="en-US" dirty="0"/>
              <a:t>CGPA</a:t>
            </a:r>
          </a:p>
        </p:txBody>
      </p:sp>
      <p:sp>
        <p:nvSpPr>
          <p:cNvPr id="5" name="TextBox 4">
            <a:extLst>
              <a:ext uri="{FF2B5EF4-FFF2-40B4-BE49-F238E27FC236}">
                <a16:creationId xmlns:a16="http://schemas.microsoft.com/office/drawing/2014/main" id="{C1E524B4-14BF-C25E-36E4-9531F63CF44A}"/>
              </a:ext>
            </a:extLst>
          </p:cNvPr>
          <p:cNvSpPr txBox="1"/>
          <p:nvPr/>
        </p:nvSpPr>
        <p:spPr>
          <a:xfrm rot="16200000">
            <a:off x="-1034613" y="2715997"/>
            <a:ext cx="2467342" cy="369332"/>
          </a:xfrm>
          <a:prstGeom prst="rect">
            <a:avLst/>
          </a:prstGeom>
          <a:noFill/>
        </p:spPr>
        <p:txBody>
          <a:bodyPr wrap="none" rtlCol="0">
            <a:spAutoFit/>
          </a:bodyPr>
          <a:lstStyle/>
          <a:p>
            <a:r>
              <a:rPr lang="en-US" dirty="0"/>
              <a:t>Routine manageability</a:t>
            </a:r>
          </a:p>
        </p:txBody>
      </p:sp>
    </p:spTree>
    <p:extLst>
      <p:ext uri="{BB962C8B-B14F-4D97-AF65-F5344CB8AC3E}">
        <p14:creationId xmlns:p14="http://schemas.microsoft.com/office/powerpoint/2010/main" val="18127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FRAMEWORK</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How the Model Learns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28</a:t>
            </a:r>
          </a:p>
        </p:txBody>
      </p:sp>
      <p:sp>
        <p:nvSpPr>
          <p:cNvPr id="7" name="Rounded Rectangle 6"/>
          <p:cNvSpPr/>
          <p:nvPr/>
        </p:nvSpPr>
        <p:spPr>
          <a:xfrm>
            <a:off x="548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24128"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1</a:t>
            </a:r>
          </a:p>
        </p:txBody>
      </p:sp>
      <p:sp>
        <p:nvSpPr>
          <p:cNvPr id="9" name="TextBox 8"/>
          <p:cNvSpPr txBox="1"/>
          <p:nvPr/>
        </p:nvSpPr>
        <p:spPr>
          <a:xfrm>
            <a:off x="640080"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Student answers</a:t>
            </a:r>
          </a:p>
        </p:txBody>
      </p:sp>
      <p:sp>
        <p:nvSpPr>
          <p:cNvPr id="10" name="TextBox 9"/>
          <p:cNvSpPr txBox="1"/>
          <p:nvPr/>
        </p:nvSpPr>
        <p:spPr>
          <a:xfrm>
            <a:off x="640080"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12 questions</a:t>
            </a:r>
          </a:p>
        </p:txBody>
      </p:sp>
      <p:sp>
        <p:nvSpPr>
          <p:cNvPr id="11" name="Right Arrow 10"/>
          <p:cNvSpPr/>
          <p:nvPr/>
        </p:nvSpPr>
        <p:spPr>
          <a:xfrm>
            <a:off x="2468880"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34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310128"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2</a:t>
            </a:r>
          </a:p>
        </p:txBody>
      </p:sp>
      <p:sp>
        <p:nvSpPr>
          <p:cNvPr id="14" name="TextBox 13"/>
          <p:cNvSpPr txBox="1"/>
          <p:nvPr/>
        </p:nvSpPr>
        <p:spPr>
          <a:xfrm>
            <a:off x="2926080"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Training students</a:t>
            </a:r>
          </a:p>
        </p:txBody>
      </p:sp>
      <p:sp>
        <p:nvSpPr>
          <p:cNvPr id="15" name="TextBox 14"/>
          <p:cNvSpPr txBox="1"/>
          <p:nvPr/>
        </p:nvSpPr>
        <p:spPr>
          <a:xfrm>
            <a:off x="2926080"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736 (80%)</a:t>
            </a:r>
          </a:p>
        </p:txBody>
      </p:sp>
      <p:sp>
        <p:nvSpPr>
          <p:cNvPr id="16" name="Right Arrow 15"/>
          <p:cNvSpPr/>
          <p:nvPr/>
        </p:nvSpPr>
        <p:spPr>
          <a:xfrm>
            <a:off x="4754880"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120640" y="1645920"/>
            <a:ext cx="1874519" cy="30175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596127"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3</a:t>
            </a:r>
          </a:p>
        </p:txBody>
      </p:sp>
      <p:sp>
        <p:nvSpPr>
          <p:cNvPr id="19" name="TextBox 18"/>
          <p:cNvSpPr txBox="1"/>
          <p:nvPr/>
        </p:nvSpPr>
        <p:spPr>
          <a:xfrm>
            <a:off x="5212079"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Decision Tree learns rules</a:t>
            </a:r>
          </a:p>
        </p:txBody>
      </p:sp>
      <p:sp>
        <p:nvSpPr>
          <p:cNvPr id="20" name="TextBox 19"/>
          <p:cNvSpPr txBox="1"/>
          <p:nvPr/>
        </p:nvSpPr>
        <p:spPr>
          <a:xfrm>
            <a:off x="5212079"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IF … AND … → group</a:t>
            </a:r>
          </a:p>
        </p:txBody>
      </p:sp>
      <p:sp>
        <p:nvSpPr>
          <p:cNvPr id="21" name="Right Arrow 20"/>
          <p:cNvSpPr/>
          <p:nvPr/>
        </p:nvSpPr>
        <p:spPr>
          <a:xfrm>
            <a:off x="7040879"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06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882127"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4</a:t>
            </a:r>
          </a:p>
        </p:txBody>
      </p:sp>
      <p:sp>
        <p:nvSpPr>
          <p:cNvPr id="24" name="TextBox 23"/>
          <p:cNvSpPr txBox="1"/>
          <p:nvPr/>
        </p:nvSpPr>
        <p:spPr>
          <a:xfrm>
            <a:off x="7498079"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New test student</a:t>
            </a:r>
          </a:p>
        </p:txBody>
      </p:sp>
      <p:sp>
        <p:nvSpPr>
          <p:cNvPr id="25" name="TextBox 24"/>
          <p:cNvSpPr txBox="1"/>
          <p:nvPr/>
        </p:nvSpPr>
        <p:spPr>
          <a:xfrm>
            <a:off x="7498079"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184 (20%)</a:t>
            </a:r>
          </a:p>
        </p:txBody>
      </p:sp>
      <p:sp>
        <p:nvSpPr>
          <p:cNvPr id="26" name="Right Arrow 25"/>
          <p:cNvSpPr/>
          <p:nvPr/>
        </p:nvSpPr>
        <p:spPr>
          <a:xfrm>
            <a:off x="9326880" y="3017520"/>
            <a:ext cx="329184" cy="310896"/>
          </a:xfrm>
          <a:prstGeom prst="rightArrow">
            <a:avLst/>
          </a:prstGeom>
          <a:solidFill>
            <a:srgbClr val="B8B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692640" y="1645920"/>
            <a:ext cx="1874519" cy="30175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168128" y="1874519"/>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600" b="0">
                <a:solidFill>
                  <a:srgbClr val="0B0B0B"/>
                </a:solidFill>
                <a:latin typeface="Helvetica Neue"/>
              </a:rPr>
              <a:t>5</a:t>
            </a:r>
          </a:p>
        </p:txBody>
      </p:sp>
      <p:sp>
        <p:nvSpPr>
          <p:cNvPr id="29" name="TextBox 28"/>
          <p:cNvSpPr txBox="1"/>
          <p:nvPr/>
        </p:nvSpPr>
        <p:spPr>
          <a:xfrm>
            <a:off x="9784080" y="2926080"/>
            <a:ext cx="1691640" cy="914400"/>
          </a:xfrm>
          <a:prstGeom prst="rect">
            <a:avLst/>
          </a:prstGeom>
          <a:noFill/>
        </p:spPr>
        <p:txBody>
          <a:bodyPr wrap="square" lIns="27432" tIns="27432" rIns="27432" bIns="27432" anchor="t">
            <a:noAutofit/>
          </a:bodyPr>
          <a:lstStyle/>
          <a:p>
            <a:pPr algn="ctr">
              <a:lnSpc>
                <a:spcPct val="105000"/>
              </a:lnSpc>
            </a:pPr>
            <a:r>
              <a:rPr sz="1800" b="1">
                <a:solidFill>
                  <a:srgbClr val="0B0B0B"/>
                </a:solidFill>
                <a:latin typeface="Helvetica Neue"/>
              </a:rPr>
              <a:t>Predicted group</a:t>
            </a:r>
          </a:p>
        </p:txBody>
      </p:sp>
      <p:sp>
        <p:nvSpPr>
          <p:cNvPr id="30" name="TextBox 29"/>
          <p:cNvSpPr txBox="1"/>
          <p:nvPr/>
        </p:nvSpPr>
        <p:spPr>
          <a:xfrm>
            <a:off x="9784080" y="3886200"/>
            <a:ext cx="1691640" cy="640080"/>
          </a:xfrm>
          <a:prstGeom prst="rect">
            <a:avLst/>
          </a:prstGeom>
          <a:noFill/>
        </p:spPr>
        <p:txBody>
          <a:bodyPr wrap="square" lIns="27432" tIns="27432" rIns="27432" bIns="27432" anchor="t">
            <a:noAutofit/>
          </a:bodyPr>
          <a:lstStyle/>
          <a:p>
            <a:pPr algn="ctr">
              <a:lnSpc>
                <a:spcPct val="105000"/>
              </a:lnSpc>
            </a:pPr>
            <a:r>
              <a:rPr sz="1500" b="0">
                <a:solidFill>
                  <a:srgbClr val="52514E"/>
                </a:solidFill>
                <a:latin typeface="Helvetica Neue"/>
              </a:rPr>
              <a:t>C0 · C1 · C2 · C3</a:t>
            </a:r>
          </a:p>
        </p:txBody>
      </p:sp>
      <p:sp>
        <p:nvSpPr>
          <p:cNvPr id="31" name="Rounded Rectangle 30"/>
          <p:cNvSpPr/>
          <p:nvPr/>
        </p:nvSpPr>
        <p:spPr>
          <a:xfrm>
            <a:off x="548640" y="5074920"/>
            <a:ext cx="11064240" cy="1005840"/>
          </a:xfrm>
          <a:prstGeom prst="roundRect">
            <a:avLst>
              <a:gd name="adj" fmla="val 8000"/>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2000" b="1">
                <a:solidFill>
                  <a:srgbClr val="FFFFFF"/>
                </a:solidFill>
                <a:latin typeface="Helvetica Neue"/>
              </a:rPr>
              <a:t>Training data teaches the rules. </a:t>
            </a:r>
            <a:r>
              <a:rPr sz="2000" b="0">
                <a:solidFill>
                  <a:srgbClr val="FFFFFF"/>
                </a:solidFill>
                <a:latin typeface="Helvetica Neue"/>
              </a:rPr>
              <a:t>Test data checks whether the rules work on students the model has never seen.</a:t>
            </a:r>
          </a:p>
        </p:txBody>
      </p:sp>
      <p:sp>
        <p:nvSpPr>
          <p:cNvPr id="32" name="SimpleLightSectionLabel">
            <a:extLst>
              <a:ext uri="{FF2B5EF4-FFF2-40B4-BE49-F238E27FC236}">
                <a16:creationId xmlns:a16="http://schemas.microsoft.com/office/drawing/2014/main" id="{EBFDC855-7C96-4D5F-A1C9-74702987ED99}"/>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SGPA PREDICTION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30</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target-specific model results</a:t>
            </a:r>
          </a:p>
        </p:txBody>
      </p:sp>
      <p:graphicFrame>
        <p:nvGraphicFramePr>
          <p:cNvPr id="540" name="Table 539"/>
          <p:cNvGraphicFramePr/>
          <p:nvPr/>
        </p:nvGraphicFramePr>
        <p:xfrm>
          <a:off x="400050" y="1952625"/>
          <a:ext cx="11391900" cy="3602082"/>
        </p:xfrm>
        <a:graphic>
          <a:graphicData uri="http://schemas.openxmlformats.org/drawingml/2006/table">
            <a:tbl>
              <a:tblPr/>
              <a:tblGrid>
                <a:gridCol w="28575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31051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489857">
                <a:tc>
                  <a:txBody>
                    <a:bodyPr/>
                    <a:lstStyle/>
                    <a:p>
                      <a:r>
                        <a:rPr sz="1875" b="1">
                          <a:solidFill>
                            <a:srgbClr val="121212"/>
                          </a:solidFill>
                          <a:latin typeface="Times New Roman"/>
                          <a:ea typeface="Times New Roman"/>
                          <a:cs typeface="Times New Roman"/>
                        </a:rPr>
                        <a:t>WEKA model</a:t>
                      </a:r>
                    </a:p>
                  </a:txBody>
                  <a:tcPr>
                    <a:solidFill>
                      <a:srgbClr val="EEEEEE"/>
                    </a:solidFill>
                  </a:tcPr>
                </a:tc>
                <a:tc>
                  <a:txBody>
                    <a:bodyPr/>
                    <a:lstStyle/>
                    <a:p>
                      <a:r>
                        <a:rPr lang="en-US" sz="1875" b="1" dirty="0">
                          <a:solidFill>
                            <a:srgbClr val="121212"/>
                          </a:solidFill>
                          <a:latin typeface="Times New Roman"/>
                          <a:ea typeface="Times New Roman"/>
                          <a:cs typeface="Times New Roman"/>
                        </a:rPr>
                        <a:t>QNA -&gt;</a:t>
                      </a:r>
                      <a:r>
                        <a:rPr sz="1875" b="1" dirty="0">
                          <a:solidFill>
                            <a:srgbClr val="121212"/>
                          </a:solidFill>
                          <a:latin typeface="Times New Roman"/>
                          <a:ea typeface="Times New Roman"/>
                          <a:cs typeface="Times New Roman"/>
                        </a:rPr>
                        <a:t> SGPA</a:t>
                      </a:r>
                      <a:r>
                        <a:rPr lang="en-US" sz="1875" b="1" dirty="0">
                          <a:solidFill>
                            <a:srgbClr val="121212"/>
                          </a:solidFill>
                          <a:latin typeface="Times New Roman"/>
                          <a:ea typeface="Times New Roman"/>
                          <a:cs typeface="Times New Roman"/>
                        </a:rPr>
                        <a:t> prediction</a:t>
                      </a:r>
                      <a:endParaRPr sz="1875" b="1" dirty="0">
                        <a:solidFill>
                          <a:srgbClr val="121212"/>
                        </a:solidFill>
                        <a:latin typeface="Times New Roman"/>
                        <a:ea typeface="Times New Roman"/>
                        <a:cs typeface="Times New Roman"/>
                      </a:endParaRPr>
                    </a:p>
                  </a:txBody>
                  <a:tcPr>
                    <a:solidFill>
                      <a:srgbClr val="EEEEEE"/>
                    </a:solidFill>
                  </a:tcPr>
                </a:tc>
                <a:tc>
                  <a:txBody>
                    <a:bodyPr/>
                    <a:lstStyle/>
                    <a:p>
                      <a:r>
                        <a:rPr lang="en-US" sz="1875" b="1" dirty="0">
                          <a:solidFill>
                            <a:srgbClr val="121212"/>
                          </a:solidFill>
                          <a:latin typeface="Times New Roman"/>
                          <a:ea typeface="Times New Roman"/>
                          <a:cs typeface="Times New Roman"/>
                        </a:rPr>
                        <a:t>QNA -&gt; </a:t>
                      </a:r>
                      <a:r>
                        <a:rPr sz="1875" b="1" dirty="0">
                          <a:solidFill>
                            <a:srgbClr val="121212"/>
                          </a:solidFill>
                          <a:latin typeface="Times New Roman"/>
                          <a:ea typeface="Times New Roman"/>
                          <a:cs typeface="Times New Roman"/>
                        </a:rPr>
                        <a:t>CGPA</a:t>
                      </a:r>
                      <a:r>
                        <a:rPr lang="en-US" sz="1875" b="1" dirty="0">
                          <a:solidFill>
                            <a:srgbClr val="121212"/>
                          </a:solidFill>
                          <a:latin typeface="Times New Roman"/>
                          <a:ea typeface="Times New Roman"/>
                          <a:cs typeface="Times New Roman"/>
                        </a:rPr>
                        <a:t> Prediction</a:t>
                      </a:r>
                      <a:endParaRPr sz="1875" b="1" dirty="0">
                        <a:solidFill>
                          <a:srgbClr val="121212"/>
                        </a:solidFill>
                        <a:latin typeface="Times New Roman"/>
                        <a:ea typeface="Times New Roman"/>
                        <a:cs typeface="Times New Roman"/>
                      </a:endParaRPr>
                    </a:p>
                  </a:txBody>
                  <a:tcPr>
                    <a:solidFill>
                      <a:srgbClr val="EEEEEE"/>
                    </a:solidFill>
                  </a:tcPr>
                </a:tc>
                <a:tc>
                  <a:txBody>
                    <a:bodyPr/>
                    <a:lstStyle/>
                    <a:p>
                      <a:r>
                        <a:rPr lang="en-US" sz="1875" b="1" dirty="0">
                          <a:solidFill>
                            <a:srgbClr val="121212"/>
                          </a:solidFill>
                          <a:latin typeface="Times New Roman"/>
                          <a:ea typeface="Times New Roman"/>
                          <a:cs typeface="Times New Roman"/>
                        </a:rPr>
                        <a:t>QNA + SGPA -&gt; </a:t>
                      </a:r>
                      <a:r>
                        <a:rPr sz="1875" b="1" dirty="0">
                          <a:solidFill>
                            <a:srgbClr val="121212"/>
                          </a:solidFill>
                          <a:latin typeface="Times New Roman"/>
                          <a:ea typeface="Times New Roman"/>
                          <a:cs typeface="Times New Roman"/>
                        </a:rPr>
                        <a:t>CGPA</a:t>
                      </a:r>
                      <a:r>
                        <a:rPr lang="en-US" sz="1875" b="1" dirty="0">
                          <a:solidFill>
                            <a:srgbClr val="121212"/>
                          </a:solidFill>
                          <a:latin typeface="Times New Roman"/>
                          <a:ea typeface="Times New Roman"/>
                          <a:cs typeface="Times New Roman"/>
                        </a:rPr>
                        <a:t> Prediction</a:t>
                      </a:r>
                      <a:endParaRPr sz="1875" b="1" dirty="0">
                        <a:solidFill>
                          <a:srgbClr val="121212"/>
                        </a:solidFill>
                        <a:latin typeface="Times New Roman"/>
                        <a:ea typeface="Times New Roman"/>
                        <a:cs typeface="Times New Roman"/>
                      </a:endParaRPr>
                    </a:p>
                  </a:txBody>
                  <a:tcPr>
                    <a:solidFill>
                      <a:srgbClr val="EEEEEE"/>
                    </a:solidFill>
                  </a:tcPr>
                </a:tc>
                <a:extLst>
                  <a:ext uri="{0D108BD9-81ED-4DB2-BD59-A6C34878D82A}">
                    <a16:rowId xmlns:a16="http://schemas.microsoft.com/office/drawing/2014/main" val="10000"/>
                  </a:ext>
                </a:extLst>
              </a:tr>
              <a:tr h="489857">
                <a:tc>
                  <a:txBody>
                    <a:bodyPr/>
                    <a:lstStyle/>
                    <a:p>
                      <a:r>
                        <a:rPr sz="1875" b="0">
                          <a:solidFill>
                            <a:srgbClr val="121212"/>
                          </a:solidFill>
                          <a:latin typeface="Times New Roman"/>
                          <a:ea typeface="Times New Roman"/>
                          <a:cs typeface="Times New Roman"/>
                        </a:rPr>
                        <a:t>J48</a:t>
                      </a:r>
                    </a:p>
                  </a:txBody>
                  <a:tcPr>
                    <a:solidFill>
                      <a:srgbClr val="FFFFFF"/>
                    </a:solidFill>
                  </a:tcPr>
                </a:tc>
                <a:tc>
                  <a:txBody>
                    <a:bodyPr/>
                    <a:lstStyle/>
                    <a:p>
                      <a:r>
                        <a:rPr sz="1875" b="0">
                          <a:solidFill>
                            <a:srgbClr val="121212"/>
                          </a:solidFill>
                          <a:latin typeface="Times New Roman"/>
                          <a:ea typeface="Times New Roman"/>
                          <a:cs typeface="Times New Roman"/>
                        </a:rPr>
                        <a:t>26.30%</a:t>
                      </a:r>
                    </a:p>
                  </a:txBody>
                  <a:tcPr>
                    <a:solidFill>
                      <a:srgbClr val="FFFFFF"/>
                    </a:solidFill>
                  </a:tcPr>
                </a:tc>
                <a:tc>
                  <a:txBody>
                    <a:bodyPr/>
                    <a:lstStyle/>
                    <a:p>
                      <a:r>
                        <a:rPr sz="1875" b="0">
                          <a:solidFill>
                            <a:srgbClr val="121212"/>
                          </a:solidFill>
                          <a:latin typeface="Times New Roman"/>
                          <a:ea typeface="Times New Roman"/>
                          <a:cs typeface="Times New Roman"/>
                        </a:rPr>
                        <a:t>27.83%</a:t>
                      </a:r>
                    </a:p>
                  </a:txBody>
                  <a:tcPr>
                    <a:solidFill>
                      <a:srgbClr val="FFFFFF"/>
                    </a:solidFill>
                  </a:tcPr>
                </a:tc>
                <a:tc>
                  <a:txBody>
                    <a:bodyPr/>
                    <a:lstStyle/>
                    <a:p>
                      <a:r>
                        <a:rPr sz="1875" b="0" dirty="0">
                          <a:solidFill>
                            <a:srgbClr val="121212"/>
                          </a:solidFill>
                          <a:latin typeface="Times New Roman"/>
                          <a:ea typeface="Times New Roman"/>
                          <a:cs typeface="Times New Roman"/>
                        </a:rPr>
                        <a:t>54.35%</a:t>
                      </a:r>
                    </a:p>
                  </a:txBody>
                  <a:tcPr>
                    <a:solidFill>
                      <a:srgbClr val="FFFFFF"/>
                    </a:solidFill>
                  </a:tcPr>
                </a:tc>
                <a:extLst>
                  <a:ext uri="{0D108BD9-81ED-4DB2-BD59-A6C34878D82A}">
                    <a16:rowId xmlns:a16="http://schemas.microsoft.com/office/drawing/2014/main" val="10001"/>
                  </a:ext>
                </a:extLst>
              </a:tr>
              <a:tr h="489857">
                <a:tc>
                  <a:txBody>
                    <a:bodyPr/>
                    <a:lstStyle/>
                    <a:p>
                      <a:r>
                        <a:rPr sz="1875" b="0">
                          <a:solidFill>
                            <a:srgbClr val="121212"/>
                          </a:solidFill>
                          <a:latin typeface="Times New Roman"/>
                          <a:ea typeface="Times New Roman"/>
                          <a:cs typeface="Times New Roman"/>
                        </a:rPr>
                        <a:t>Random Forest</a:t>
                      </a:r>
                    </a:p>
                  </a:txBody>
                  <a:tcPr>
                    <a:solidFill>
                      <a:srgbClr val="FFFFFF"/>
                    </a:solidFill>
                  </a:tcPr>
                </a:tc>
                <a:tc>
                  <a:txBody>
                    <a:bodyPr/>
                    <a:lstStyle/>
                    <a:p>
                      <a:r>
                        <a:rPr sz="1875" b="0">
                          <a:solidFill>
                            <a:srgbClr val="121212"/>
                          </a:solidFill>
                          <a:latin typeface="Times New Roman"/>
                          <a:ea typeface="Times New Roman"/>
                          <a:cs typeface="Times New Roman"/>
                        </a:rPr>
                        <a:t>32.39%</a:t>
                      </a:r>
                    </a:p>
                  </a:txBody>
                  <a:tcPr>
                    <a:solidFill>
                      <a:srgbClr val="FFFFFF"/>
                    </a:solidFill>
                  </a:tcPr>
                </a:tc>
                <a:tc>
                  <a:txBody>
                    <a:bodyPr/>
                    <a:lstStyle/>
                    <a:p>
                      <a:r>
                        <a:rPr sz="1875" b="0">
                          <a:solidFill>
                            <a:srgbClr val="121212"/>
                          </a:solidFill>
                          <a:latin typeface="Times New Roman"/>
                          <a:ea typeface="Times New Roman"/>
                          <a:cs typeface="Times New Roman"/>
                        </a:rPr>
                        <a:t>30.54%</a:t>
                      </a:r>
                    </a:p>
                  </a:txBody>
                  <a:tcPr>
                    <a:solidFill>
                      <a:srgbClr val="FFFFFF"/>
                    </a:solidFill>
                  </a:tcPr>
                </a:tc>
                <a:tc>
                  <a:txBody>
                    <a:bodyPr/>
                    <a:lstStyle/>
                    <a:p>
                      <a:r>
                        <a:rPr sz="1875" b="0">
                          <a:solidFill>
                            <a:srgbClr val="121212"/>
                          </a:solidFill>
                          <a:latin typeface="Times New Roman"/>
                          <a:ea typeface="Times New Roman"/>
                          <a:cs typeface="Times New Roman"/>
                        </a:rPr>
                        <a:t>54.24%</a:t>
                      </a:r>
                    </a:p>
                  </a:txBody>
                  <a:tcPr>
                    <a:solidFill>
                      <a:srgbClr val="FFFFFF"/>
                    </a:solidFill>
                  </a:tcPr>
                </a:tc>
                <a:extLst>
                  <a:ext uri="{0D108BD9-81ED-4DB2-BD59-A6C34878D82A}">
                    <a16:rowId xmlns:a16="http://schemas.microsoft.com/office/drawing/2014/main" val="10002"/>
                  </a:ext>
                </a:extLst>
              </a:tr>
              <a:tr h="489857">
                <a:tc>
                  <a:txBody>
                    <a:bodyPr/>
                    <a:lstStyle/>
                    <a:p>
                      <a:r>
                        <a:rPr sz="1875" b="0">
                          <a:solidFill>
                            <a:srgbClr val="121212"/>
                          </a:solidFill>
                          <a:latin typeface="Times New Roman"/>
                          <a:ea typeface="Times New Roman"/>
                          <a:cs typeface="Times New Roman"/>
                        </a:rPr>
                        <a:t>SMO</a:t>
                      </a:r>
                    </a:p>
                  </a:txBody>
                  <a:tcPr>
                    <a:solidFill>
                      <a:srgbClr val="FFFFFF"/>
                    </a:solidFill>
                  </a:tcPr>
                </a:tc>
                <a:tc>
                  <a:txBody>
                    <a:bodyPr/>
                    <a:lstStyle/>
                    <a:p>
                      <a:r>
                        <a:rPr sz="1875" b="0">
                          <a:solidFill>
                            <a:srgbClr val="121212"/>
                          </a:solidFill>
                          <a:latin typeface="Times New Roman"/>
                          <a:ea typeface="Times New Roman"/>
                          <a:cs typeface="Times New Roman"/>
                        </a:rPr>
                        <a:t>27.93%</a:t>
                      </a:r>
                    </a:p>
                  </a:txBody>
                  <a:tcPr>
                    <a:solidFill>
                      <a:srgbClr val="FFFFFF"/>
                    </a:solidFill>
                  </a:tcPr>
                </a:tc>
                <a:tc>
                  <a:txBody>
                    <a:bodyPr/>
                    <a:lstStyle/>
                    <a:p>
                      <a:r>
                        <a:rPr sz="1875" b="0">
                          <a:solidFill>
                            <a:srgbClr val="121212"/>
                          </a:solidFill>
                          <a:latin typeface="Times New Roman"/>
                          <a:ea typeface="Times New Roman"/>
                          <a:cs typeface="Times New Roman"/>
                        </a:rPr>
                        <a:t>28.15%</a:t>
                      </a:r>
                    </a:p>
                  </a:txBody>
                  <a:tcPr>
                    <a:solidFill>
                      <a:srgbClr val="FFFFFF"/>
                    </a:solidFill>
                  </a:tcPr>
                </a:tc>
                <a:tc>
                  <a:txBody>
                    <a:bodyPr/>
                    <a:lstStyle/>
                    <a:p>
                      <a:r>
                        <a:rPr sz="1875" b="0">
                          <a:solidFill>
                            <a:srgbClr val="121212"/>
                          </a:solidFill>
                          <a:latin typeface="Times New Roman"/>
                          <a:ea typeface="Times New Roman"/>
                          <a:cs typeface="Times New Roman"/>
                        </a:rPr>
                        <a:t>55.22%</a:t>
                      </a:r>
                    </a:p>
                  </a:txBody>
                  <a:tcPr>
                    <a:solidFill>
                      <a:srgbClr val="FFFFFF"/>
                    </a:solidFill>
                  </a:tcPr>
                </a:tc>
                <a:extLst>
                  <a:ext uri="{0D108BD9-81ED-4DB2-BD59-A6C34878D82A}">
                    <a16:rowId xmlns:a16="http://schemas.microsoft.com/office/drawing/2014/main" val="10003"/>
                  </a:ext>
                </a:extLst>
              </a:tr>
              <a:tr h="489857">
                <a:tc>
                  <a:txBody>
                    <a:bodyPr/>
                    <a:lstStyle/>
                    <a:p>
                      <a:r>
                        <a:rPr sz="1875" b="0">
                          <a:solidFill>
                            <a:srgbClr val="121212"/>
                          </a:solidFill>
                          <a:latin typeface="Times New Roman"/>
                          <a:ea typeface="Times New Roman"/>
                          <a:cs typeface="Times New Roman"/>
                        </a:rPr>
                        <a:t>Logistic</a:t>
                      </a:r>
                    </a:p>
                  </a:txBody>
                  <a:tcPr>
                    <a:solidFill>
                      <a:srgbClr val="FFFFFF"/>
                    </a:solidFill>
                  </a:tcPr>
                </a:tc>
                <a:tc>
                  <a:txBody>
                    <a:bodyPr/>
                    <a:lstStyle/>
                    <a:p>
                      <a:r>
                        <a:rPr sz="1875" b="0">
                          <a:solidFill>
                            <a:srgbClr val="121212"/>
                          </a:solidFill>
                          <a:latin typeface="Times New Roman"/>
                          <a:ea typeface="Times New Roman"/>
                          <a:cs typeface="Times New Roman"/>
                        </a:rPr>
                        <a:t>29.02%</a:t>
                      </a:r>
                    </a:p>
                  </a:txBody>
                  <a:tcPr>
                    <a:solidFill>
                      <a:srgbClr val="FFFFFF"/>
                    </a:solidFill>
                  </a:tcPr>
                </a:tc>
                <a:tc>
                  <a:txBody>
                    <a:bodyPr/>
                    <a:lstStyle/>
                    <a:p>
                      <a:r>
                        <a:rPr sz="1875" b="0">
                          <a:solidFill>
                            <a:srgbClr val="121212"/>
                          </a:solidFill>
                          <a:latin typeface="Times New Roman"/>
                          <a:ea typeface="Times New Roman"/>
                          <a:cs typeface="Times New Roman"/>
                        </a:rPr>
                        <a:t>30.11%</a:t>
                      </a:r>
                    </a:p>
                  </a:txBody>
                  <a:tcPr>
                    <a:solidFill>
                      <a:srgbClr val="FFFFFF"/>
                    </a:solidFill>
                  </a:tcPr>
                </a:tc>
                <a:tc>
                  <a:txBody>
                    <a:bodyPr/>
                    <a:lstStyle/>
                    <a:p>
                      <a:r>
                        <a:rPr sz="1875" b="0">
                          <a:solidFill>
                            <a:srgbClr val="121212"/>
                          </a:solidFill>
                          <a:latin typeface="Times New Roman"/>
                          <a:ea typeface="Times New Roman"/>
                          <a:cs typeface="Times New Roman"/>
                        </a:rPr>
                        <a:t>54.67%</a:t>
                      </a:r>
                    </a:p>
                  </a:txBody>
                  <a:tcPr>
                    <a:solidFill>
                      <a:srgbClr val="FFFFFF"/>
                    </a:solidFill>
                  </a:tcPr>
                </a:tc>
                <a:extLst>
                  <a:ext uri="{0D108BD9-81ED-4DB2-BD59-A6C34878D82A}">
                    <a16:rowId xmlns:a16="http://schemas.microsoft.com/office/drawing/2014/main" val="10004"/>
                  </a:ext>
                </a:extLst>
              </a:tr>
              <a:tr h="489857">
                <a:tc>
                  <a:txBody>
                    <a:bodyPr/>
                    <a:lstStyle/>
                    <a:p>
                      <a:r>
                        <a:rPr sz="1875" b="0">
                          <a:solidFill>
                            <a:srgbClr val="121212"/>
                          </a:solidFill>
                          <a:latin typeface="Times New Roman"/>
                          <a:ea typeface="Times New Roman"/>
                          <a:cs typeface="Times New Roman"/>
                        </a:rPr>
                        <a:t>Naive Bayes</a:t>
                      </a:r>
                    </a:p>
                  </a:txBody>
                  <a:tcPr>
                    <a:solidFill>
                      <a:srgbClr val="FFFFFF"/>
                    </a:solidFill>
                  </a:tcPr>
                </a:tc>
                <a:tc>
                  <a:txBody>
                    <a:bodyPr/>
                    <a:lstStyle/>
                    <a:p>
                      <a:r>
                        <a:rPr sz="1875" b="0">
                          <a:solidFill>
                            <a:srgbClr val="121212"/>
                          </a:solidFill>
                          <a:latin typeface="Times New Roman"/>
                          <a:ea typeface="Times New Roman"/>
                          <a:cs typeface="Times New Roman"/>
                        </a:rPr>
                        <a:t>30.00%</a:t>
                      </a:r>
                    </a:p>
                  </a:txBody>
                  <a:tcPr>
                    <a:solidFill>
                      <a:srgbClr val="FFFFFF"/>
                    </a:solidFill>
                  </a:tcPr>
                </a:tc>
                <a:tc>
                  <a:txBody>
                    <a:bodyPr/>
                    <a:lstStyle/>
                    <a:p>
                      <a:r>
                        <a:rPr sz="1875" b="0">
                          <a:solidFill>
                            <a:srgbClr val="121212"/>
                          </a:solidFill>
                          <a:latin typeface="Times New Roman"/>
                          <a:ea typeface="Times New Roman"/>
                          <a:cs typeface="Times New Roman"/>
                        </a:rPr>
                        <a:t>31.20%</a:t>
                      </a:r>
                    </a:p>
                  </a:txBody>
                  <a:tcPr>
                    <a:solidFill>
                      <a:srgbClr val="FFFFFF"/>
                    </a:solidFill>
                  </a:tcPr>
                </a:tc>
                <a:tc>
                  <a:txBody>
                    <a:bodyPr/>
                    <a:lstStyle/>
                    <a:p>
                      <a:r>
                        <a:rPr sz="1875" b="0">
                          <a:solidFill>
                            <a:srgbClr val="121212"/>
                          </a:solidFill>
                          <a:latin typeface="Times New Roman"/>
                          <a:ea typeface="Times New Roman"/>
                          <a:cs typeface="Times New Roman"/>
                        </a:rPr>
                        <a:t>54.46%</a:t>
                      </a:r>
                    </a:p>
                  </a:txBody>
                  <a:tcPr>
                    <a:solidFill>
                      <a:srgbClr val="FFFFFF"/>
                    </a:solidFill>
                  </a:tcPr>
                </a:tc>
                <a:extLst>
                  <a:ext uri="{0D108BD9-81ED-4DB2-BD59-A6C34878D82A}">
                    <a16:rowId xmlns:a16="http://schemas.microsoft.com/office/drawing/2014/main" val="10005"/>
                  </a:ext>
                </a:extLst>
              </a:tr>
              <a:tr h="489857">
                <a:tc>
                  <a:txBody>
                    <a:bodyPr/>
                    <a:lstStyle/>
                    <a:p>
                      <a:r>
                        <a:rPr sz="1875" b="0">
                          <a:solidFill>
                            <a:srgbClr val="121212"/>
                          </a:solidFill>
                          <a:latin typeface="Times New Roman"/>
                          <a:ea typeface="Times New Roman"/>
                          <a:cs typeface="Times New Roman"/>
                        </a:rPr>
                        <a:t>ZeroR</a:t>
                      </a:r>
                    </a:p>
                  </a:txBody>
                  <a:tcPr>
                    <a:solidFill>
                      <a:srgbClr val="FFFFFF"/>
                    </a:solidFill>
                  </a:tcPr>
                </a:tc>
                <a:tc>
                  <a:txBody>
                    <a:bodyPr/>
                    <a:lstStyle/>
                    <a:p>
                      <a:r>
                        <a:rPr sz="1875" b="0">
                          <a:solidFill>
                            <a:srgbClr val="121212"/>
                          </a:solidFill>
                          <a:latin typeface="Times New Roman"/>
                          <a:ea typeface="Times New Roman"/>
                          <a:cs typeface="Times New Roman"/>
                        </a:rPr>
                        <a:t>29.24%</a:t>
                      </a:r>
                    </a:p>
                  </a:txBody>
                  <a:tcPr>
                    <a:solidFill>
                      <a:srgbClr val="FFFFFF"/>
                    </a:solidFill>
                  </a:tcPr>
                </a:tc>
                <a:tc>
                  <a:txBody>
                    <a:bodyPr/>
                    <a:lstStyle/>
                    <a:p>
                      <a:r>
                        <a:rPr sz="1875" b="0">
                          <a:solidFill>
                            <a:srgbClr val="121212"/>
                          </a:solidFill>
                          <a:latin typeface="Times New Roman"/>
                          <a:ea typeface="Times New Roman"/>
                          <a:cs typeface="Times New Roman"/>
                        </a:rPr>
                        <a:t>30.87%</a:t>
                      </a:r>
                    </a:p>
                  </a:txBody>
                  <a:tcPr>
                    <a:solidFill>
                      <a:srgbClr val="FFFFFF"/>
                    </a:solidFill>
                  </a:tcPr>
                </a:tc>
                <a:tc>
                  <a:txBody>
                    <a:bodyPr/>
                    <a:lstStyle/>
                    <a:p>
                      <a:r>
                        <a:rPr sz="1875" b="0" dirty="0">
                          <a:solidFill>
                            <a:srgbClr val="121212"/>
                          </a:solidFill>
                          <a:latin typeface="Times New Roman"/>
                          <a:ea typeface="Times New Roman"/>
                          <a:cs typeface="Times New Roman"/>
                        </a:rPr>
                        <a:t>30.87%</a:t>
                      </a:r>
                    </a:p>
                  </a:txBody>
                  <a:tcPr>
                    <a:solidFill>
                      <a:srgbClr val="FFFFFF"/>
                    </a:solidFill>
                  </a:tcPr>
                </a:tc>
                <a:extLst>
                  <a:ext uri="{0D108BD9-81ED-4DB2-BD59-A6C34878D82A}">
                    <a16:rowId xmlns:a16="http://schemas.microsoft.com/office/drawing/2014/main" val="10006"/>
                  </a:ext>
                </a:extLst>
              </a:tr>
            </a:tbl>
          </a:graphicData>
        </a:graphic>
      </p:graphicFrame>
      <p:sp>
        <p:nvSpPr>
          <p:cNvPr id="535" name="Stratified 10-fold cross-validation, seed 1">
            <a:extLst>
              <a:ext uri="{FF2B5EF4-FFF2-40B4-BE49-F238E27FC236}">
                <a16:creationId xmlns:a16="http://schemas.microsoft.com/office/drawing/2014/main" id="{0537DC0A-7A21-405A-AF24-2B61CF92B394}"/>
              </a:ext>
            </a:extLst>
          </p:cNvPr>
          <p:cNvSpPr>
            <a:spLocks noGrp="1"/>
          </p:cNvSpPr>
          <p:nvPr/>
        </p:nvSpPr>
        <p:spPr>
          <a:xfrm>
            <a:off x="400050" y="1362075"/>
            <a:ext cx="10953750" cy="381000"/>
          </a:xfrm>
          <a:prstGeom prst="rect">
            <a:avLst/>
          </a:prstGeom>
          <a:noFill/>
          <a:ln w="0">
            <a:noFill/>
          </a:ln>
        </p:spPr>
        <p:txBody>
          <a:bodyPr anchor="t">
            <a:noAutofit/>
          </a:bodyPr>
          <a:lstStyle/>
          <a:p>
            <a:pPr>
              <a:defRPr sz="1950" b="0">
                <a:solidFill>
                  <a:srgbClr val="121212"/>
                </a:solidFill>
                <a:latin typeface="Times New Roman"/>
                <a:ea typeface="Times New Roman"/>
                <a:cs typeface="Times New Roman"/>
              </a:defRPr>
            </a:pPr>
            <a:r>
              <a:rPr sz="1950" b="0">
                <a:solidFill>
                  <a:srgbClr val="121212"/>
                </a:solidFill>
                <a:latin typeface="Times New Roman"/>
                <a:ea typeface="Times New Roman"/>
                <a:cs typeface="Times New Roman"/>
              </a:rPr>
              <a:t>Stratified 5-fold cross-validation, seed 1</a:t>
            </a:r>
          </a:p>
        </p:txBody>
      </p:sp>
      <p:sp>
        <p:nvSpPr>
          <p:cNvPr id="536" name="Same 1,102 records. Questionnaire: 12 inputs. Main CGPA">
            <a:extLst>
              <a:ext uri="{FF2B5EF4-FFF2-40B4-BE49-F238E27FC236}">
                <a16:creationId xmlns:a16="http://schemas.microsoft.com/office/drawing/2014/main" id="{67D35FFE-1E24-4572-832D-037749D4D1AD}"/>
              </a:ext>
            </a:extLst>
          </p:cNvPr>
          <p:cNvSpPr>
            <a:spLocks noGrp="1"/>
          </p:cNvSpPr>
          <p:nvPr/>
        </p:nvSpPr>
        <p:spPr>
          <a:xfrm>
            <a:off x="400050" y="5830083"/>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Same 920 students. Questionnaire: 12 inputs. Main CGPA: same inputs + recent SGPA.</a:t>
            </a:r>
          </a:p>
        </p:txBody>
      </p:sp>
    </p:spTree>
    <p:extLst>
      <p:ext uri="{BB962C8B-B14F-4D97-AF65-F5344CB8AC3E}">
        <p14:creationId xmlns:p14="http://schemas.microsoft.com/office/powerpoint/2010/main" val="2826174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32</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Recent SGPA</a:t>
            </a:r>
          </a:p>
        </p:txBody>
      </p:sp>
      <p:pic>
        <p:nvPicPr>
          <p:cNvPr id="539" name="Picture 538"/>
          <p:cNvPicPr>
            <a:picLocks noChangeAspect="1"/>
          </p:cNvPicPr>
          <p:nvPr/>
        </p:nvPicPr>
        <p:blipFill>
          <a:blip r:embed="rId3"/>
          <a:stretch/>
        </p:blipFill>
        <p:spPr>
          <a:xfrm>
            <a:off x="1809750" y="1381125"/>
            <a:ext cx="8572500" cy="4524375"/>
          </a:xfrm>
          <a:prstGeom prst="rect">
            <a:avLst/>
          </a:prstGeom>
        </p:spPr>
      </p:pic>
      <p:sp>
        <p:nvSpPr>
          <p:cNvPr id="535" name="WEKA J48 -C 0.25 -M 40. Recent SGPA. Test: 29.86%. Zero">
            <a:extLst>
              <a:ext uri="{FF2B5EF4-FFF2-40B4-BE49-F238E27FC236}">
                <a16:creationId xmlns:a16="http://schemas.microsoft.com/office/drawing/2014/main" id="{870F424A-6913-4706-BC51-202D4308CB91}"/>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J48 -C 0.25 -M 40, built on all 920 students. Recent SGPA. 5-fold CV: 26.30%. ZeroR: 29.24%.</a:t>
            </a:r>
          </a:p>
        </p:txBody>
      </p:sp>
    </p:spTree>
    <p:extLst>
      <p:ext uri="{BB962C8B-B14F-4D97-AF65-F5344CB8AC3E}">
        <p14:creationId xmlns:p14="http://schemas.microsoft.com/office/powerpoint/2010/main" val="4204537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33</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SGPA rules</a:t>
            </a:r>
          </a:p>
        </p:txBody>
      </p:sp>
      <p:sp>
        <p:nvSpPr>
          <p:cNvPr id="534" name="Rectangle 533">
            <a:extLst>
              <a:ext uri="{FF2B5EF4-FFF2-40B4-BE49-F238E27FC236}">
                <a16:creationId xmlns:a16="http://schemas.microsoft.com/office/drawing/2014/main" id="{10A5DB4B-BED9-4A8B-876C-6F51D1CD9A24}"/>
              </a:ext>
            </a:extLst>
          </p:cNvPr>
          <p:cNvSpPr>
            <a:spLocks noGrp="1"/>
          </p:cNvSpPr>
          <p:nvPr/>
        </p:nvSpPr>
        <p:spPr>
          <a:xfrm>
            <a:off x="400050" y="1743075"/>
            <a:ext cx="9715500" cy="1238250"/>
          </a:xfrm>
          <a:prstGeom prst="rect">
            <a:avLst/>
          </a:prstGeom>
          <a:solidFill>
            <a:srgbClr val="F1F1F1"/>
          </a:solidFill>
          <a:ln w="0">
            <a:noFill/>
          </a:ln>
        </p:spPr>
        <p:txBody>
          <a:bodyPr/>
          <a:lstStyle/>
          <a:p>
            <a:endParaRPr lang="en-US"/>
          </a:p>
        </p:txBody>
      </p:sp>
      <p:sp>
        <p:nvSpPr>
          <p:cNvPr id="535" name="IF routine is completely unmanageable">
            <a:extLst>
              <a:ext uri="{FF2B5EF4-FFF2-40B4-BE49-F238E27FC236}">
                <a16:creationId xmlns:a16="http://schemas.microsoft.com/office/drawing/2014/main" id="{08EF0E4B-75FE-4494-81AF-0DA4210D3251}"/>
              </a:ext>
            </a:extLst>
          </p:cNvPr>
          <p:cNvSpPr>
            <a:spLocks noGrp="1"/>
          </p:cNvSpPr>
          <p:nvPr/>
        </p:nvSpPr>
        <p:spPr>
          <a:xfrm>
            <a:off x="590550" y="19145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the student did not get the desired department</a:t>
            </a:r>
          </a:p>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AND phone does not take study time almost every day</a:t>
            </a:r>
          </a:p>
        </p:txBody>
      </p:sp>
      <p:sp>
        <p:nvSpPr>
          <p:cNvPr id="536" name="Arrow: Right 535">
            <a:extLst>
              <a:ext uri="{FF2B5EF4-FFF2-40B4-BE49-F238E27FC236}">
                <a16:creationId xmlns:a16="http://schemas.microsoft.com/office/drawing/2014/main" id="{6C1F8BB4-1613-441F-9C12-F97E4B8F3B65}"/>
              </a:ext>
            </a:extLst>
          </p:cNvPr>
          <p:cNvSpPr>
            <a:spLocks noGrp="1"/>
          </p:cNvSpPr>
          <p:nvPr/>
        </p:nvSpPr>
        <p:spPr>
          <a:xfrm>
            <a:off x="10287000" y="2066925"/>
            <a:ext cx="400050" cy="190500"/>
          </a:xfrm>
          <a:prstGeom prst="rightArrow">
            <a:avLst/>
          </a:prstGeom>
          <a:solidFill>
            <a:srgbClr val="AAAAAA"/>
          </a:solidFill>
          <a:ln w="0">
            <a:noFill/>
          </a:ln>
        </p:spPr>
        <p:txBody>
          <a:bodyPr/>
          <a:lstStyle/>
          <a:p>
            <a:endParaRPr lang="en-US"/>
          </a:p>
        </p:txBody>
      </p:sp>
      <p:sp>
        <p:nvSpPr>
          <p:cNvPr id="537" name="C1">
            <a:extLst>
              <a:ext uri="{FF2B5EF4-FFF2-40B4-BE49-F238E27FC236}">
                <a16:creationId xmlns:a16="http://schemas.microsoft.com/office/drawing/2014/main" id="{FB5E2785-F583-40B5-B3F4-FB65C53DA633}"/>
              </a:ext>
            </a:extLst>
          </p:cNvPr>
          <p:cNvSpPr>
            <a:spLocks noGrp="1"/>
          </p:cNvSpPr>
          <p:nvPr/>
        </p:nvSpPr>
        <p:spPr>
          <a:xfrm>
            <a:off x="10953750" y="1952625"/>
            <a:ext cx="857250" cy="571500"/>
          </a:xfrm>
          <a:prstGeom prst="rect">
            <a:avLst/>
          </a:prstGeom>
          <a:noFill/>
          <a:ln w="0">
            <a:noFill/>
          </a:ln>
        </p:spPr>
        <p:txBody>
          <a:bodyPr anchor="t">
            <a:noAutofit/>
          </a:bodyPr>
          <a:lstStyle/>
          <a:p>
            <a:pPr>
              <a:defRPr sz="2850" b="0">
                <a:solidFill>
                  <a:srgbClr val="DC713D"/>
                </a:solidFill>
                <a:latin typeface="Times New Roman"/>
                <a:ea typeface="Times New Roman"/>
                <a:cs typeface="Times New Roman"/>
              </a:defRPr>
            </a:pPr>
            <a:r>
              <a:rPr sz="2850" b="0">
                <a:solidFill>
                  <a:srgbClr val="DC713D"/>
                </a:solidFill>
                <a:latin typeface="Times New Roman"/>
                <a:ea typeface="Times New Roman"/>
                <a:cs typeface="Times New Roman"/>
              </a:rPr>
              <a:t>C1</a:t>
            </a:r>
          </a:p>
        </p:txBody>
      </p:sp>
      <p:sp>
        <p:nvSpPr>
          <p:cNvPr id="538" name="Rectangle 537">
            <a:extLst>
              <a:ext uri="{FF2B5EF4-FFF2-40B4-BE49-F238E27FC236}">
                <a16:creationId xmlns:a16="http://schemas.microsoft.com/office/drawing/2014/main" id="{16882513-7069-4EA2-9A2F-44BB9906EAED}"/>
              </a:ext>
            </a:extLst>
          </p:cNvPr>
          <p:cNvSpPr>
            <a:spLocks noGrp="1"/>
          </p:cNvSpPr>
          <p:nvPr/>
        </p:nvSpPr>
        <p:spPr>
          <a:xfrm>
            <a:off x="400050" y="3495675"/>
            <a:ext cx="9715500" cy="1238250"/>
          </a:xfrm>
          <a:prstGeom prst="rect">
            <a:avLst/>
          </a:prstGeom>
          <a:solidFill>
            <a:srgbClr val="F1F1F1"/>
          </a:solidFill>
          <a:ln w="0">
            <a:noFill/>
          </a:ln>
        </p:spPr>
        <p:txBody>
          <a:bodyPr/>
          <a:lstStyle/>
          <a:p>
            <a:endParaRPr lang="en-US"/>
          </a:p>
        </p:txBody>
      </p:sp>
      <p:sp>
        <p:nvSpPr>
          <p:cNvPr id="539" name="IF routine is above completely unmanageable&#10;AND almost ">
            <a:extLst>
              <a:ext uri="{FF2B5EF4-FFF2-40B4-BE49-F238E27FC236}">
                <a16:creationId xmlns:a16="http://schemas.microsoft.com/office/drawing/2014/main" id="{8556B067-BBE3-4AC8-BD48-2887ED3BBAEC}"/>
              </a:ext>
            </a:extLst>
          </p:cNvPr>
          <p:cNvSpPr>
            <a:spLocks noGrp="1"/>
          </p:cNvSpPr>
          <p:nvPr/>
        </p:nvSpPr>
        <p:spPr>
          <a:xfrm>
            <a:off x="590550" y="36671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got the desired department AND attendance 90% or more</a:t>
            </a:r>
          </a:p>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AND self-study is 7 or more hours a week</a:t>
            </a:r>
          </a:p>
        </p:txBody>
      </p:sp>
      <p:sp>
        <p:nvSpPr>
          <p:cNvPr id="540" name="Arrow: Right 539">
            <a:extLst>
              <a:ext uri="{FF2B5EF4-FFF2-40B4-BE49-F238E27FC236}">
                <a16:creationId xmlns:a16="http://schemas.microsoft.com/office/drawing/2014/main" id="{1D5ED54F-1B59-4F8F-8BBC-169D9E8DA029}"/>
              </a:ext>
            </a:extLst>
          </p:cNvPr>
          <p:cNvSpPr>
            <a:spLocks noGrp="1"/>
          </p:cNvSpPr>
          <p:nvPr/>
        </p:nvSpPr>
        <p:spPr>
          <a:xfrm>
            <a:off x="10287000" y="3819525"/>
            <a:ext cx="400050" cy="190500"/>
          </a:xfrm>
          <a:prstGeom prst="rightArrow">
            <a:avLst/>
          </a:prstGeom>
          <a:solidFill>
            <a:srgbClr val="AAAAAA"/>
          </a:solidFill>
          <a:ln w="0">
            <a:noFill/>
          </a:ln>
        </p:spPr>
        <p:txBody>
          <a:bodyPr/>
          <a:lstStyle/>
          <a:p>
            <a:endParaRPr lang="en-US"/>
          </a:p>
        </p:txBody>
      </p:sp>
      <p:sp>
        <p:nvSpPr>
          <p:cNvPr id="541" name="C0">
            <a:extLst>
              <a:ext uri="{FF2B5EF4-FFF2-40B4-BE49-F238E27FC236}">
                <a16:creationId xmlns:a16="http://schemas.microsoft.com/office/drawing/2014/main" id="{06149850-AEBD-4367-9457-27AE8BF0E945}"/>
              </a:ext>
            </a:extLst>
          </p:cNvPr>
          <p:cNvSpPr>
            <a:spLocks noGrp="1"/>
          </p:cNvSpPr>
          <p:nvPr/>
        </p:nvSpPr>
        <p:spPr>
          <a:xfrm>
            <a:off x="10953750" y="3705225"/>
            <a:ext cx="857250" cy="571500"/>
          </a:xfrm>
          <a:prstGeom prst="rect">
            <a:avLst/>
          </a:prstGeom>
          <a:noFill/>
          <a:ln w="0">
            <a:noFill/>
          </a:ln>
        </p:spPr>
        <p:txBody>
          <a:bodyPr anchor="t">
            <a:noAutofit/>
          </a:bodyPr>
          <a:lstStyle/>
          <a:p>
            <a:pPr>
              <a:defRPr sz="2850" b="0">
                <a:solidFill>
                  <a:srgbClr val="A83A3A"/>
                </a:solidFill>
                <a:latin typeface="Times New Roman"/>
                <a:ea typeface="Times New Roman"/>
                <a:cs typeface="Times New Roman"/>
              </a:defRPr>
            </a:pPr>
            <a:r>
              <a:rPr sz="2850" b="0">
                <a:solidFill>
                  <a:srgbClr val="285B9F"/>
                </a:solidFill>
                <a:latin typeface="Times New Roman"/>
                <a:ea typeface="Times New Roman"/>
                <a:cs typeface="Times New Roman"/>
              </a:rPr>
              <a:t>C3</a:t>
            </a:r>
          </a:p>
        </p:txBody>
      </p:sp>
      <p:sp>
        <p:nvSpPr>
          <p:cNvPr id="542" name="Selected branches from the preceding WEKA J48 tree. Ful">
            <a:extLst>
              <a:ext uri="{FF2B5EF4-FFF2-40B4-BE49-F238E27FC236}">
                <a16:creationId xmlns:a16="http://schemas.microsoft.com/office/drawing/2014/main" id="{1ADCFD7D-8343-49B0-81F4-9126B880A42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Selected branches from the preceding WEKA J48 tree. Full text and option codes in backup.</a:t>
            </a:r>
          </a:p>
        </p:txBody>
      </p:sp>
    </p:spTree>
    <p:extLst>
      <p:ext uri="{BB962C8B-B14F-4D97-AF65-F5344CB8AC3E}">
        <p14:creationId xmlns:p14="http://schemas.microsoft.com/office/powerpoint/2010/main" val="3063028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34</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CGPA from questionnaire variables</a:t>
            </a:r>
          </a:p>
        </p:txBody>
      </p:sp>
      <p:pic>
        <p:nvPicPr>
          <p:cNvPr id="539" name="Picture 538"/>
          <p:cNvPicPr>
            <a:picLocks noChangeAspect="1"/>
          </p:cNvPicPr>
          <p:nvPr/>
        </p:nvPicPr>
        <p:blipFill>
          <a:blip r:embed="rId3"/>
          <a:stretch/>
        </p:blipFill>
        <p:spPr>
          <a:xfrm>
            <a:off x="1809750" y="1381125"/>
            <a:ext cx="8572500" cy="4524375"/>
          </a:xfrm>
          <a:prstGeom prst="rect">
            <a:avLst/>
          </a:prstGeom>
        </p:spPr>
      </p:pic>
      <p:sp>
        <p:nvSpPr>
          <p:cNvPr id="535" name="WEKA J48 -C 0.25 -M 40. CGPA from questionnaire variabl">
            <a:extLst>
              <a:ext uri="{FF2B5EF4-FFF2-40B4-BE49-F238E27FC236}">
                <a16:creationId xmlns:a16="http://schemas.microsoft.com/office/drawing/2014/main" id="{8B7AE20C-ED04-4DA9-85ED-BB7012732B78}"/>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J48 -C 0.25 -M 40, built on all 920 students. CGPA from questionnaire variables. 5-fold CV: 27.83%. ZeroR: 30.87%.</a:t>
            </a:r>
          </a:p>
        </p:txBody>
      </p:sp>
    </p:spTree>
    <p:extLst>
      <p:ext uri="{BB962C8B-B14F-4D97-AF65-F5344CB8AC3E}">
        <p14:creationId xmlns:p14="http://schemas.microsoft.com/office/powerpoint/2010/main" val="2830495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35</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Questionnaire J48 rules</a:t>
            </a:r>
          </a:p>
        </p:txBody>
      </p:sp>
      <p:sp>
        <p:nvSpPr>
          <p:cNvPr id="534" name="Rectangle 533">
            <a:extLst>
              <a:ext uri="{FF2B5EF4-FFF2-40B4-BE49-F238E27FC236}">
                <a16:creationId xmlns:a16="http://schemas.microsoft.com/office/drawing/2014/main" id="{E1485ED6-186D-4363-B098-5A0772549701}"/>
              </a:ext>
            </a:extLst>
          </p:cNvPr>
          <p:cNvSpPr>
            <a:spLocks noGrp="1"/>
          </p:cNvSpPr>
          <p:nvPr/>
        </p:nvSpPr>
        <p:spPr>
          <a:xfrm>
            <a:off x="400050" y="1743075"/>
            <a:ext cx="9715500" cy="1238250"/>
          </a:xfrm>
          <a:prstGeom prst="rect">
            <a:avLst/>
          </a:prstGeom>
          <a:solidFill>
            <a:srgbClr val="F1F1F1"/>
          </a:solidFill>
          <a:ln w="0">
            <a:noFill/>
          </a:ln>
        </p:spPr>
        <p:txBody>
          <a:bodyPr/>
          <a:lstStyle/>
          <a:p>
            <a:endParaRPr lang="en-US"/>
          </a:p>
        </p:txBody>
      </p:sp>
      <p:sp>
        <p:nvSpPr>
          <p:cNvPr id="535" name="IF study environment is very distracting">
            <a:extLst>
              <a:ext uri="{FF2B5EF4-FFF2-40B4-BE49-F238E27FC236}">
                <a16:creationId xmlns:a16="http://schemas.microsoft.com/office/drawing/2014/main" id="{4E3E6202-DDE4-45D5-B952-39FDAFF25841}"/>
              </a:ext>
            </a:extLst>
          </p:cNvPr>
          <p:cNvSpPr>
            <a:spLocks noGrp="1"/>
          </p:cNvSpPr>
          <p:nvPr/>
        </p:nvSpPr>
        <p:spPr>
          <a:xfrm>
            <a:off x="590550" y="19145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the living place is very distracting</a:t>
            </a:r>
          </a:p>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AND the student did not get the desired department</a:t>
            </a:r>
          </a:p>
        </p:txBody>
      </p:sp>
      <p:sp>
        <p:nvSpPr>
          <p:cNvPr id="536" name="Arrow: Right 535">
            <a:extLst>
              <a:ext uri="{FF2B5EF4-FFF2-40B4-BE49-F238E27FC236}">
                <a16:creationId xmlns:a16="http://schemas.microsoft.com/office/drawing/2014/main" id="{69A359B7-8299-4D6B-A375-ADCB9019830E}"/>
              </a:ext>
            </a:extLst>
          </p:cNvPr>
          <p:cNvSpPr>
            <a:spLocks noGrp="1"/>
          </p:cNvSpPr>
          <p:nvPr/>
        </p:nvSpPr>
        <p:spPr>
          <a:xfrm>
            <a:off x="10287000" y="2066925"/>
            <a:ext cx="400050" cy="190500"/>
          </a:xfrm>
          <a:prstGeom prst="rightArrow">
            <a:avLst/>
          </a:prstGeom>
          <a:solidFill>
            <a:srgbClr val="AAAAAA"/>
          </a:solidFill>
          <a:ln w="0">
            <a:noFill/>
          </a:ln>
        </p:spPr>
        <p:txBody>
          <a:bodyPr/>
          <a:lstStyle/>
          <a:p>
            <a:endParaRPr lang="en-US"/>
          </a:p>
        </p:txBody>
      </p:sp>
      <p:sp>
        <p:nvSpPr>
          <p:cNvPr id="537" name="C0">
            <a:extLst>
              <a:ext uri="{FF2B5EF4-FFF2-40B4-BE49-F238E27FC236}">
                <a16:creationId xmlns:a16="http://schemas.microsoft.com/office/drawing/2014/main" id="{2BCE12CF-972C-441C-8628-F0F2D4AADDDF}"/>
              </a:ext>
            </a:extLst>
          </p:cNvPr>
          <p:cNvSpPr>
            <a:spLocks noGrp="1"/>
          </p:cNvSpPr>
          <p:nvPr/>
        </p:nvSpPr>
        <p:spPr>
          <a:xfrm>
            <a:off x="10953750" y="1952625"/>
            <a:ext cx="857250" cy="571500"/>
          </a:xfrm>
          <a:prstGeom prst="rect">
            <a:avLst/>
          </a:prstGeom>
          <a:noFill/>
          <a:ln w="0">
            <a:noFill/>
          </a:ln>
        </p:spPr>
        <p:txBody>
          <a:bodyPr anchor="t">
            <a:noAutofit/>
          </a:bodyPr>
          <a:lstStyle/>
          <a:p>
            <a:pPr>
              <a:defRPr sz="2850" b="0">
                <a:solidFill>
                  <a:srgbClr val="A83A3A"/>
                </a:solidFill>
                <a:latin typeface="Times New Roman"/>
                <a:ea typeface="Times New Roman"/>
                <a:cs typeface="Times New Roman"/>
              </a:defRPr>
            </a:pPr>
            <a:r>
              <a:rPr sz="2850" b="0">
                <a:solidFill>
                  <a:srgbClr val="A83A3A"/>
                </a:solidFill>
                <a:latin typeface="Times New Roman"/>
                <a:ea typeface="Times New Roman"/>
                <a:cs typeface="Times New Roman"/>
              </a:rPr>
              <a:t>C0</a:t>
            </a:r>
          </a:p>
        </p:txBody>
      </p:sp>
      <p:sp>
        <p:nvSpPr>
          <p:cNvPr id="538" name="Rectangle 537">
            <a:extLst>
              <a:ext uri="{FF2B5EF4-FFF2-40B4-BE49-F238E27FC236}">
                <a16:creationId xmlns:a16="http://schemas.microsoft.com/office/drawing/2014/main" id="{B7A5A759-28EF-4B55-92ED-7EDF7FC69FD2}"/>
              </a:ext>
            </a:extLst>
          </p:cNvPr>
          <p:cNvSpPr>
            <a:spLocks noGrp="1"/>
          </p:cNvSpPr>
          <p:nvPr/>
        </p:nvSpPr>
        <p:spPr>
          <a:xfrm>
            <a:off x="400050" y="3495675"/>
            <a:ext cx="9715500" cy="1238250"/>
          </a:xfrm>
          <a:prstGeom prst="rect">
            <a:avLst/>
          </a:prstGeom>
          <a:solidFill>
            <a:srgbClr val="F1F1F1"/>
          </a:solidFill>
          <a:ln w="0">
            <a:noFill/>
          </a:ln>
        </p:spPr>
        <p:txBody>
          <a:bodyPr/>
          <a:lstStyle/>
          <a:p>
            <a:endParaRPr lang="en-US"/>
          </a:p>
        </p:txBody>
      </p:sp>
      <p:sp>
        <p:nvSpPr>
          <p:cNvPr id="539" name="IF environment is excellent for focused study&#10;AND atten">
            <a:extLst>
              <a:ext uri="{FF2B5EF4-FFF2-40B4-BE49-F238E27FC236}">
                <a16:creationId xmlns:a16="http://schemas.microsoft.com/office/drawing/2014/main" id="{B3DA30AC-A96C-4AF4-A7CD-E8373B9CD8E3}"/>
              </a:ext>
            </a:extLst>
          </p:cNvPr>
          <p:cNvSpPr>
            <a:spLocks noGrp="1"/>
          </p:cNvSpPr>
          <p:nvPr/>
        </p:nvSpPr>
        <p:spPr>
          <a:xfrm>
            <a:off x="590550" y="3667125"/>
            <a:ext cx="9048750" cy="942975"/>
          </a:xfrm>
          <a:prstGeom prst="rect">
            <a:avLst/>
          </a:prstGeom>
          <a:noFill/>
          <a:ln w="0">
            <a:noFill/>
          </a:ln>
        </p:spPr>
        <p:txBody>
          <a:bodyPr anchor="t">
            <a:noAutofit/>
          </a:bodyPr>
          <a:lstStyle/>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IF the living place is not very distracting</a:t>
            </a:r>
          </a:p>
          <a:p>
            <a:pPr>
              <a:defRPr sz="2250" b="0">
                <a:solidFill>
                  <a:srgbClr val="121212"/>
                </a:solidFill>
                <a:latin typeface="Times New Roman"/>
                <a:ea typeface="Times New Roman"/>
                <a:cs typeface="Times New Roman"/>
              </a:defRPr>
            </a:pPr>
            <a:r>
              <a:rPr sz="2250" b="0">
                <a:solidFill>
                  <a:srgbClr val="121212"/>
                </a:solidFill>
                <a:latin typeface="Times New Roman"/>
                <a:ea typeface="Times New Roman"/>
                <a:cs typeface="Times New Roman"/>
              </a:rPr>
              <a:t>AND stress almost always made studying difficult</a:t>
            </a:r>
          </a:p>
        </p:txBody>
      </p:sp>
      <p:sp>
        <p:nvSpPr>
          <p:cNvPr id="540" name="Arrow: Right 539">
            <a:extLst>
              <a:ext uri="{FF2B5EF4-FFF2-40B4-BE49-F238E27FC236}">
                <a16:creationId xmlns:a16="http://schemas.microsoft.com/office/drawing/2014/main" id="{7B8198B3-717C-4D20-AA0E-BE8ACB3CBCF6}"/>
              </a:ext>
            </a:extLst>
          </p:cNvPr>
          <p:cNvSpPr>
            <a:spLocks noGrp="1"/>
          </p:cNvSpPr>
          <p:nvPr/>
        </p:nvSpPr>
        <p:spPr>
          <a:xfrm>
            <a:off x="10287000" y="3819525"/>
            <a:ext cx="400050" cy="190500"/>
          </a:xfrm>
          <a:prstGeom prst="rightArrow">
            <a:avLst/>
          </a:prstGeom>
          <a:solidFill>
            <a:srgbClr val="AAAAAA"/>
          </a:solidFill>
          <a:ln w="0">
            <a:noFill/>
          </a:ln>
        </p:spPr>
        <p:txBody>
          <a:bodyPr/>
          <a:lstStyle/>
          <a:p>
            <a:endParaRPr lang="en-US"/>
          </a:p>
        </p:txBody>
      </p:sp>
      <p:sp>
        <p:nvSpPr>
          <p:cNvPr id="541" name="C3">
            <a:extLst>
              <a:ext uri="{FF2B5EF4-FFF2-40B4-BE49-F238E27FC236}">
                <a16:creationId xmlns:a16="http://schemas.microsoft.com/office/drawing/2014/main" id="{F2AC624A-44AA-4706-B57E-C04A6B477945}"/>
              </a:ext>
            </a:extLst>
          </p:cNvPr>
          <p:cNvSpPr>
            <a:spLocks noGrp="1"/>
          </p:cNvSpPr>
          <p:nvPr/>
        </p:nvSpPr>
        <p:spPr>
          <a:xfrm>
            <a:off x="10953750" y="3705225"/>
            <a:ext cx="857250" cy="571500"/>
          </a:xfrm>
          <a:prstGeom prst="rect">
            <a:avLst/>
          </a:prstGeom>
          <a:noFill/>
          <a:ln w="0">
            <a:noFill/>
          </a:ln>
        </p:spPr>
        <p:txBody>
          <a:bodyPr anchor="t">
            <a:noAutofit/>
          </a:bodyPr>
          <a:lstStyle/>
          <a:p>
            <a:pPr>
              <a:defRPr sz="2850" b="0">
                <a:solidFill>
                  <a:srgbClr val="285B9F"/>
                </a:solidFill>
                <a:latin typeface="Times New Roman"/>
                <a:ea typeface="Times New Roman"/>
                <a:cs typeface="Times New Roman"/>
              </a:defRPr>
            </a:pPr>
            <a:r>
              <a:rPr sz="2850" b="0">
                <a:solidFill>
                  <a:srgbClr val="4C91D8"/>
                </a:solidFill>
                <a:latin typeface="Times New Roman"/>
                <a:ea typeface="Times New Roman"/>
                <a:cs typeface="Times New Roman"/>
              </a:rPr>
              <a:t>C2</a:t>
            </a:r>
          </a:p>
        </p:txBody>
      </p:sp>
      <p:sp>
        <p:nvSpPr>
          <p:cNvPr id="542" name="Selected branches from the preceding WEKA J48 tree. Ful">
            <a:extLst>
              <a:ext uri="{FF2B5EF4-FFF2-40B4-BE49-F238E27FC236}">
                <a16:creationId xmlns:a16="http://schemas.microsoft.com/office/drawing/2014/main" id="{0A027E74-81A3-4844-9D8D-1E0C1F0D717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Selected branches from the preceding WEKA J48 tree. Full text and option codes in backup.</a:t>
            </a:r>
          </a:p>
        </p:txBody>
      </p:sp>
    </p:spTree>
    <p:extLst>
      <p:ext uri="{BB962C8B-B14F-4D97-AF65-F5344CB8AC3E}">
        <p14:creationId xmlns:p14="http://schemas.microsoft.com/office/powerpoint/2010/main" val="2315243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Main CGPA prediction</a:t>
            </a:r>
          </a:p>
        </p:txBody>
      </p:sp>
      <p:pic>
        <p:nvPicPr>
          <p:cNvPr id="539" name="Picture 538"/>
          <p:cNvPicPr>
            <a:picLocks noChangeAspect="1"/>
          </p:cNvPicPr>
          <p:nvPr/>
        </p:nvPicPr>
        <p:blipFill>
          <a:blip r:embed="rId3"/>
          <a:stretch/>
        </p:blipFill>
        <p:spPr>
          <a:xfrm>
            <a:off x="1809750" y="1381125"/>
            <a:ext cx="8572500" cy="4524375"/>
          </a:xfrm>
          <a:prstGeom prst="rect">
            <a:avLst/>
          </a:prstGeom>
        </p:spPr>
      </p:pic>
      <p:sp>
        <p:nvSpPr>
          <p:cNvPr id="535" name="WEKA J48 -C 0.25 -M 40. Main CGPA prediction. Test: 49.">
            <a:extLst>
              <a:ext uri="{FF2B5EF4-FFF2-40B4-BE49-F238E27FC236}">
                <a16:creationId xmlns:a16="http://schemas.microsoft.com/office/drawing/2014/main" id="{9F675CF9-74AB-4FE8-81C8-F29481B09698}"/>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J48 -C 0.25 -M 40, built on all 920 students. Main CGPA prediction. 5-fold CV: 54.35%. ZeroR: 30.87%.</a:t>
            </a:r>
          </a:p>
        </p:txBody>
      </p:sp>
    </p:spTree>
    <p:extLst>
      <p:ext uri="{BB962C8B-B14F-4D97-AF65-F5344CB8AC3E}">
        <p14:creationId xmlns:p14="http://schemas.microsoft.com/office/powerpoint/2010/main" val="21998139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Main CGPA J48 rules</a:t>
            </a:r>
          </a:p>
        </p:txBody>
      </p:sp>
      <p:sp>
        <p:nvSpPr>
          <p:cNvPr id="534" name="Rectangle 533">
            <a:extLst>
              <a:ext uri="{FF2B5EF4-FFF2-40B4-BE49-F238E27FC236}">
                <a16:creationId xmlns:a16="http://schemas.microsoft.com/office/drawing/2014/main" id="{626E57E7-B428-4CB4-8BA3-C65191340C4B}"/>
              </a:ext>
            </a:extLst>
          </p:cNvPr>
          <p:cNvSpPr>
            <a:spLocks noGrp="1"/>
          </p:cNvSpPr>
          <p:nvPr/>
        </p:nvSpPr>
        <p:spPr>
          <a:xfrm>
            <a:off x="400050" y="1743075"/>
            <a:ext cx="9715500" cy="800100"/>
          </a:xfrm>
          <a:prstGeom prst="rect">
            <a:avLst/>
          </a:prstGeom>
          <a:solidFill>
            <a:srgbClr val="F1F1F1"/>
          </a:solidFill>
          <a:ln w="0">
            <a:noFill/>
          </a:ln>
        </p:spPr>
        <p:txBody>
          <a:bodyPr/>
          <a:lstStyle/>
          <a:p>
            <a:endParaRPr lang="en-US"/>
          </a:p>
        </p:txBody>
      </p:sp>
      <p:sp>
        <p:nvSpPr>
          <p:cNvPr id="535" name="IF recent SGPA is below 3.20">
            <a:extLst>
              <a:ext uri="{FF2B5EF4-FFF2-40B4-BE49-F238E27FC236}">
                <a16:creationId xmlns:a16="http://schemas.microsoft.com/office/drawing/2014/main" id="{E16C5B50-D028-4E43-94D7-EA8A1DA98A60}"/>
              </a:ext>
            </a:extLst>
          </p:cNvPr>
          <p:cNvSpPr>
            <a:spLocks noGrp="1"/>
          </p:cNvSpPr>
          <p:nvPr/>
        </p:nvSpPr>
        <p:spPr>
          <a:xfrm>
            <a:off x="590550" y="1914525"/>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below 3.20</a:t>
            </a:r>
          </a:p>
        </p:txBody>
      </p:sp>
      <p:sp>
        <p:nvSpPr>
          <p:cNvPr id="536" name="Arrow: Right 535">
            <a:extLst>
              <a:ext uri="{FF2B5EF4-FFF2-40B4-BE49-F238E27FC236}">
                <a16:creationId xmlns:a16="http://schemas.microsoft.com/office/drawing/2014/main" id="{52C872AC-A827-4521-9F23-E93147207DF1}"/>
              </a:ext>
            </a:extLst>
          </p:cNvPr>
          <p:cNvSpPr>
            <a:spLocks noGrp="1"/>
          </p:cNvSpPr>
          <p:nvPr/>
        </p:nvSpPr>
        <p:spPr>
          <a:xfrm>
            <a:off x="10287000" y="2066925"/>
            <a:ext cx="400050" cy="190500"/>
          </a:xfrm>
          <a:prstGeom prst="rightArrow">
            <a:avLst/>
          </a:prstGeom>
          <a:solidFill>
            <a:srgbClr val="AAAAAA"/>
          </a:solidFill>
          <a:ln w="0">
            <a:noFill/>
          </a:ln>
        </p:spPr>
        <p:txBody>
          <a:bodyPr/>
          <a:lstStyle/>
          <a:p>
            <a:endParaRPr lang="en-US"/>
          </a:p>
        </p:txBody>
      </p:sp>
      <p:sp>
        <p:nvSpPr>
          <p:cNvPr id="537" name="C0">
            <a:extLst>
              <a:ext uri="{FF2B5EF4-FFF2-40B4-BE49-F238E27FC236}">
                <a16:creationId xmlns:a16="http://schemas.microsoft.com/office/drawing/2014/main" id="{74C733A4-0A37-4116-8BED-44A9A7BFB6F3}"/>
              </a:ext>
            </a:extLst>
          </p:cNvPr>
          <p:cNvSpPr>
            <a:spLocks noGrp="1"/>
          </p:cNvSpPr>
          <p:nvPr/>
        </p:nvSpPr>
        <p:spPr>
          <a:xfrm>
            <a:off x="10953750" y="1952625"/>
            <a:ext cx="857250" cy="571500"/>
          </a:xfrm>
          <a:prstGeom prst="rect">
            <a:avLst/>
          </a:prstGeom>
          <a:noFill/>
          <a:ln w="0">
            <a:noFill/>
          </a:ln>
        </p:spPr>
        <p:txBody>
          <a:bodyPr anchor="t">
            <a:noAutofit/>
          </a:bodyPr>
          <a:lstStyle/>
          <a:p>
            <a:pPr>
              <a:defRPr sz="2850" b="0">
                <a:solidFill>
                  <a:srgbClr val="A83A3A"/>
                </a:solidFill>
                <a:latin typeface="Times New Roman"/>
                <a:ea typeface="Times New Roman"/>
                <a:cs typeface="Times New Roman"/>
              </a:defRPr>
            </a:pPr>
            <a:r>
              <a:rPr sz="2850" b="0">
                <a:solidFill>
                  <a:srgbClr val="A83A3A"/>
                </a:solidFill>
                <a:latin typeface="Times New Roman"/>
                <a:ea typeface="Times New Roman"/>
                <a:cs typeface="Times New Roman"/>
              </a:rPr>
              <a:t>C0</a:t>
            </a:r>
          </a:p>
        </p:txBody>
      </p:sp>
      <p:sp>
        <p:nvSpPr>
          <p:cNvPr id="538" name="Rectangle 537">
            <a:extLst>
              <a:ext uri="{FF2B5EF4-FFF2-40B4-BE49-F238E27FC236}">
                <a16:creationId xmlns:a16="http://schemas.microsoft.com/office/drawing/2014/main" id="{A14E96CB-3648-4FF2-B087-A94F2BB193EC}"/>
              </a:ext>
            </a:extLst>
          </p:cNvPr>
          <p:cNvSpPr>
            <a:spLocks noGrp="1"/>
          </p:cNvSpPr>
          <p:nvPr/>
        </p:nvSpPr>
        <p:spPr>
          <a:xfrm>
            <a:off x="400050" y="2705100"/>
            <a:ext cx="9715500" cy="800100"/>
          </a:xfrm>
          <a:prstGeom prst="rect">
            <a:avLst/>
          </a:prstGeom>
          <a:solidFill>
            <a:srgbClr val="F1F1F1"/>
          </a:solidFill>
          <a:ln w="0">
            <a:noFill/>
          </a:ln>
        </p:spPr>
        <p:txBody>
          <a:bodyPr/>
          <a:lstStyle/>
          <a:p>
            <a:endParaRPr lang="en-US"/>
          </a:p>
        </p:txBody>
      </p:sp>
      <p:sp>
        <p:nvSpPr>
          <p:cNvPr id="539" name="IF recent SGPA is 3.20–3.49">
            <a:extLst>
              <a:ext uri="{FF2B5EF4-FFF2-40B4-BE49-F238E27FC236}">
                <a16:creationId xmlns:a16="http://schemas.microsoft.com/office/drawing/2014/main" id="{1FA80B7A-C15B-42FB-9255-ABC557E9F192}"/>
              </a:ext>
            </a:extLst>
          </p:cNvPr>
          <p:cNvSpPr>
            <a:spLocks noGrp="1"/>
          </p:cNvSpPr>
          <p:nvPr/>
        </p:nvSpPr>
        <p:spPr>
          <a:xfrm>
            <a:off x="590550" y="2876550"/>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3.20–3.49</a:t>
            </a:r>
          </a:p>
        </p:txBody>
      </p:sp>
      <p:sp>
        <p:nvSpPr>
          <p:cNvPr id="540" name="Arrow: Right 539">
            <a:extLst>
              <a:ext uri="{FF2B5EF4-FFF2-40B4-BE49-F238E27FC236}">
                <a16:creationId xmlns:a16="http://schemas.microsoft.com/office/drawing/2014/main" id="{97C3D587-50F2-431B-8544-3060587F9C02}"/>
              </a:ext>
            </a:extLst>
          </p:cNvPr>
          <p:cNvSpPr>
            <a:spLocks noGrp="1"/>
          </p:cNvSpPr>
          <p:nvPr/>
        </p:nvSpPr>
        <p:spPr>
          <a:xfrm>
            <a:off x="10287000" y="3028950"/>
            <a:ext cx="400050" cy="190500"/>
          </a:xfrm>
          <a:prstGeom prst="rightArrow">
            <a:avLst/>
          </a:prstGeom>
          <a:solidFill>
            <a:srgbClr val="AAAAAA"/>
          </a:solidFill>
          <a:ln w="0">
            <a:noFill/>
          </a:ln>
        </p:spPr>
        <p:txBody>
          <a:bodyPr/>
          <a:lstStyle/>
          <a:p>
            <a:endParaRPr lang="en-US"/>
          </a:p>
        </p:txBody>
      </p:sp>
      <p:sp>
        <p:nvSpPr>
          <p:cNvPr id="541" name="C1">
            <a:extLst>
              <a:ext uri="{FF2B5EF4-FFF2-40B4-BE49-F238E27FC236}">
                <a16:creationId xmlns:a16="http://schemas.microsoft.com/office/drawing/2014/main" id="{B77E0ED3-E1F1-463C-BAEE-C5C4C49FC3D5}"/>
              </a:ext>
            </a:extLst>
          </p:cNvPr>
          <p:cNvSpPr>
            <a:spLocks noGrp="1"/>
          </p:cNvSpPr>
          <p:nvPr/>
        </p:nvSpPr>
        <p:spPr>
          <a:xfrm>
            <a:off x="10953750" y="2914650"/>
            <a:ext cx="857250" cy="571500"/>
          </a:xfrm>
          <a:prstGeom prst="rect">
            <a:avLst/>
          </a:prstGeom>
          <a:noFill/>
          <a:ln w="0">
            <a:noFill/>
          </a:ln>
        </p:spPr>
        <p:txBody>
          <a:bodyPr anchor="t">
            <a:noAutofit/>
          </a:bodyPr>
          <a:lstStyle/>
          <a:p>
            <a:pPr>
              <a:defRPr sz="2850" b="0">
                <a:solidFill>
                  <a:srgbClr val="DC713D"/>
                </a:solidFill>
                <a:latin typeface="Times New Roman"/>
                <a:ea typeface="Times New Roman"/>
                <a:cs typeface="Times New Roman"/>
              </a:defRPr>
            </a:pPr>
            <a:r>
              <a:rPr sz="2850" b="0">
                <a:solidFill>
                  <a:srgbClr val="DC713D"/>
                </a:solidFill>
                <a:latin typeface="Times New Roman"/>
                <a:ea typeface="Times New Roman"/>
                <a:cs typeface="Times New Roman"/>
              </a:rPr>
              <a:t>C1</a:t>
            </a:r>
          </a:p>
        </p:txBody>
      </p:sp>
      <p:sp>
        <p:nvSpPr>
          <p:cNvPr id="542" name="Rectangle 541">
            <a:extLst>
              <a:ext uri="{FF2B5EF4-FFF2-40B4-BE49-F238E27FC236}">
                <a16:creationId xmlns:a16="http://schemas.microsoft.com/office/drawing/2014/main" id="{8C1F263A-D6D2-4DF7-8582-339817333543}"/>
              </a:ext>
            </a:extLst>
          </p:cNvPr>
          <p:cNvSpPr>
            <a:spLocks noGrp="1"/>
          </p:cNvSpPr>
          <p:nvPr/>
        </p:nvSpPr>
        <p:spPr>
          <a:xfrm>
            <a:off x="400050" y="3667125"/>
            <a:ext cx="9715500" cy="800100"/>
          </a:xfrm>
          <a:prstGeom prst="rect">
            <a:avLst/>
          </a:prstGeom>
          <a:solidFill>
            <a:srgbClr val="F1F1F1"/>
          </a:solidFill>
          <a:ln w="0">
            <a:noFill/>
          </a:ln>
        </p:spPr>
        <p:txBody>
          <a:bodyPr/>
          <a:lstStyle/>
          <a:p>
            <a:endParaRPr lang="en-US"/>
          </a:p>
        </p:txBody>
      </p:sp>
      <p:sp>
        <p:nvSpPr>
          <p:cNvPr id="543" name="IF recent SGPA is 3.50–3.74">
            <a:extLst>
              <a:ext uri="{FF2B5EF4-FFF2-40B4-BE49-F238E27FC236}">
                <a16:creationId xmlns:a16="http://schemas.microsoft.com/office/drawing/2014/main" id="{A3AA4AE0-59FD-4836-9057-5A961D3488CC}"/>
              </a:ext>
            </a:extLst>
          </p:cNvPr>
          <p:cNvSpPr>
            <a:spLocks noGrp="1"/>
          </p:cNvSpPr>
          <p:nvPr/>
        </p:nvSpPr>
        <p:spPr>
          <a:xfrm>
            <a:off x="590550" y="3838575"/>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3.50–3.74</a:t>
            </a:r>
          </a:p>
        </p:txBody>
      </p:sp>
      <p:sp>
        <p:nvSpPr>
          <p:cNvPr id="544" name="Arrow: Right 543">
            <a:extLst>
              <a:ext uri="{FF2B5EF4-FFF2-40B4-BE49-F238E27FC236}">
                <a16:creationId xmlns:a16="http://schemas.microsoft.com/office/drawing/2014/main" id="{C64609CC-4502-497D-AB90-9A6708F7E226}"/>
              </a:ext>
            </a:extLst>
          </p:cNvPr>
          <p:cNvSpPr>
            <a:spLocks noGrp="1"/>
          </p:cNvSpPr>
          <p:nvPr/>
        </p:nvSpPr>
        <p:spPr>
          <a:xfrm>
            <a:off x="10287000" y="3990975"/>
            <a:ext cx="400050" cy="190500"/>
          </a:xfrm>
          <a:prstGeom prst="rightArrow">
            <a:avLst/>
          </a:prstGeom>
          <a:solidFill>
            <a:srgbClr val="AAAAAA"/>
          </a:solidFill>
          <a:ln w="0">
            <a:noFill/>
          </a:ln>
        </p:spPr>
        <p:txBody>
          <a:bodyPr/>
          <a:lstStyle/>
          <a:p>
            <a:endParaRPr lang="en-US"/>
          </a:p>
        </p:txBody>
      </p:sp>
      <p:sp>
        <p:nvSpPr>
          <p:cNvPr id="545" name="C2">
            <a:extLst>
              <a:ext uri="{FF2B5EF4-FFF2-40B4-BE49-F238E27FC236}">
                <a16:creationId xmlns:a16="http://schemas.microsoft.com/office/drawing/2014/main" id="{BB5BFC23-882B-444E-A98F-5D100883B08D}"/>
              </a:ext>
            </a:extLst>
          </p:cNvPr>
          <p:cNvSpPr>
            <a:spLocks noGrp="1"/>
          </p:cNvSpPr>
          <p:nvPr/>
        </p:nvSpPr>
        <p:spPr>
          <a:xfrm>
            <a:off x="10953750" y="3876675"/>
            <a:ext cx="857250" cy="571500"/>
          </a:xfrm>
          <a:prstGeom prst="rect">
            <a:avLst/>
          </a:prstGeom>
          <a:noFill/>
          <a:ln w="0">
            <a:noFill/>
          </a:ln>
        </p:spPr>
        <p:txBody>
          <a:bodyPr anchor="t">
            <a:noAutofit/>
          </a:bodyPr>
          <a:lstStyle/>
          <a:p>
            <a:pPr>
              <a:defRPr sz="2850" b="0">
                <a:solidFill>
                  <a:srgbClr val="4C91D8"/>
                </a:solidFill>
                <a:latin typeface="Times New Roman"/>
                <a:ea typeface="Times New Roman"/>
                <a:cs typeface="Times New Roman"/>
              </a:defRPr>
            </a:pPr>
            <a:r>
              <a:rPr sz="2850" b="0">
                <a:solidFill>
                  <a:srgbClr val="4C91D8"/>
                </a:solidFill>
                <a:latin typeface="Times New Roman"/>
                <a:ea typeface="Times New Roman"/>
                <a:cs typeface="Times New Roman"/>
              </a:rPr>
              <a:t>C2</a:t>
            </a:r>
          </a:p>
        </p:txBody>
      </p:sp>
      <p:sp>
        <p:nvSpPr>
          <p:cNvPr id="546" name="Rectangle 545">
            <a:extLst>
              <a:ext uri="{FF2B5EF4-FFF2-40B4-BE49-F238E27FC236}">
                <a16:creationId xmlns:a16="http://schemas.microsoft.com/office/drawing/2014/main" id="{379D4553-5A89-4AE8-A460-C1C15530F6BB}"/>
              </a:ext>
            </a:extLst>
          </p:cNvPr>
          <p:cNvSpPr>
            <a:spLocks noGrp="1"/>
          </p:cNvSpPr>
          <p:nvPr/>
        </p:nvSpPr>
        <p:spPr>
          <a:xfrm>
            <a:off x="400050" y="4629150"/>
            <a:ext cx="9715500" cy="800100"/>
          </a:xfrm>
          <a:prstGeom prst="rect">
            <a:avLst/>
          </a:prstGeom>
          <a:solidFill>
            <a:srgbClr val="F1F1F1"/>
          </a:solidFill>
          <a:ln w="0">
            <a:noFill/>
          </a:ln>
        </p:spPr>
        <p:txBody>
          <a:bodyPr/>
          <a:lstStyle/>
          <a:p>
            <a:endParaRPr lang="en-US"/>
          </a:p>
        </p:txBody>
      </p:sp>
      <p:sp>
        <p:nvSpPr>
          <p:cNvPr id="547" name="IF recent SGPA is 3.75 or higher&#10;AND outside commitment">
            <a:extLst>
              <a:ext uri="{FF2B5EF4-FFF2-40B4-BE49-F238E27FC236}">
                <a16:creationId xmlns:a16="http://schemas.microsoft.com/office/drawing/2014/main" id="{AF0C428E-C58D-4214-9E0C-10262A639EAB}"/>
              </a:ext>
            </a:extLst>
          </p:cNvPr>
          <p:cNvSpPr>
            <a:spLocks noGrp="1"/>
          </p:cNvSpPr>
          <p:nvPr/>
        </p:nvSpPr>
        <p:spPr>
          <a:xfrm>
            <a:off x="590550" y="4800600"/>
            <a:ext cx="9048750" cy="942975"/>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IF recent SGPA is 3.75 or higher</a:t>
            </a:r>
          </a:p>
        </p:txBody>
      </p:sp>
      <p:sp>
        <p:nvSpPr>
          <p:cNvPr id="548" name="Arrow: Right 547">
            <a:extLst>
              <a:ext uri="{FF2B5EF4-FFF2-40B4-BE49-F238E27FC236}">
                <a16:creationId xmlns:a16="http://schemas.microsoft.com/office/drawing/2014/main" id="{E7CD3025-A1BF-4AC9-88B7-D9F72A0A8152}"/>
              </a:ext>
            </a:extLst>
          </p:cNvPr>
          <p:cNvSpPr>
            <a:spLocks noGrp="1"/>
          </p:cNvSpPr>
          <p:nvPr/>
        </p:nvSpPr>
        <p:spPr>
          <a:xfrm>
            <a:off x="10287000" y="4953000"/>
            <a:ext cx="400050" cy="190500"/>
          </a:xfrm>
          <a:prstGeom prst="rightArrow">
            <a:avLst/>
          </a:prstGeom>
          <a:solidFill>
            <a:srgbClr val="AAAAAA"/>
          </a:solidFill>
          <a:ln w="0">
            <a:noFill/>
          </a:ln>
        </p:spPr>
        <p:txBody>
          <a:bodyPr/>
          <a:lstStyle/>
          <a:p>
            <a:endParaRPr lang="en-US"/>
          </a:p>
        </p:txBody>
      </p:sp>
      <p:sp>
        <p:nvSpPr>
          <p:cNvPr id="549" name="C3">
            <a:extLst>
              <a:ext uri="{FF2B5EF4-FFF2-40B4-BE49-F238E27FC236}">
                <a16:creationId xmlns:a16="http://schemas.microsoft.com/office/drawing/2014/main" id="{54E44013-C6E6-4446-845B-F183736104F1}"/>
              </a:ext>
            </a:extLst>
          </p:cNvPr>
          <p:cNvSpPr>
            <a:spLocks noGrp="1"/>
          </p:cNvSpPr>
          <p:nvPr/>
        </p:nvSpPr>
        <p:spPr>
          <a:xfrm>
            <a:off x="10953750" y="4838700"/>
            <a:ext cx="857250" cy="571500"/>
          </a:xfrm>
          <a:prstGeom prst="rect">
            <a:avLst/>
          </a:prstGeom>
          <a:noFill/>
          <a:ln w="0">
            <a:noFill/>
          </a:ln>
        </p:spPr>
        <p:txBody>
          <a:bodyPr anchor="t">
            <a:noAutofit/>
          </a:bodyPr>
          <a:lstStyle/>
          <a:p>
            <a:pPr>
              <a:defRPr sz="2850" b="0">
                <a:solidFill>
                  <a:srgbClr val="285B9F"/>
                </a:solidFill>
                <a:latin typeface="Times New Roman"/>
                <a:ea typeface="Times New Roman"/>
                <a:cs typeface="Times New Roman"/>
              </a:defRPr>
            </a:pPr>
            <a:r>
              <a:rPr sz="2850" b="0">
                <a:solidFill>
                  <a:srgbClr val="285B9F"/>
                </a:solidFill>
                <a:latin typeface="Times New Roman"/>
                <a:ea typeface="Times New Roman"/>
                <a:cs typeface="Times New Roman"/>
              </a:rPr>
              <a:t>C3</a:t>
            </a:r>
          </a:p>
        </p:txBody>
      </p:sp>
      <p:sp>
        <p:nvSpPr>
          <p:cNvPr id="550" name="Selected branches from the preceding WEKA J48 tree. Ful">
            <a:extLst>
              <a:ext uri="{FF2B5EF4-FFF2-40B4-BE49-F238E27FC236}">
                <a16:creationId xmlns:a16="http://schemas.microsoft.com/office/drawing/2014/main" id="{703BF492-3021-4A79-9223-484B6106BF9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The whole WEKA J48 tree: four rules, one for each recent SGPA group.</a:t>
            </a:r>
          </a:p>
        </p:txBody>
      </p:sp>
    </p:spTree>
    <p:extLst>
      <p:ext uri="{BB962C8B-B14F-4D97-AF65-F5344CB8AC3E}">
        <p14:creationId xmlns:p14="http://schemas.microsoft.com/office/powerpoint/2010/main" val="2156197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38</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cross-validation and 80/20 test accuracy</a:t>
            </a:r>
          </a:p>
        </p:txBody>
      </p:sp>
      <p:graphicFrame>
        <p:nvGraphicFramePr>
          <p:cNvPr id="539" name="Table 538"/>
          <p:cNvGraphicFramePr/>
          <p:nvPr/>
        </p:nvGraphicFramePr>
        <p:xfrm>
          <a:off x="400050" y="2133600"/>
          <a:ext cx="11391900" cy="2952752"/>
        </p:xfrm>
        <a:graphic>
          <a:graphicData uri="http://schemas.openxmlformats.org/drawingml/2006/table">
            <a:tbl>
              <a:tblPr/>
              <a:tblGrid>
                <a:gridCol w="36004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2600325">
                  <a:extLst>
                    <a:ext uri="{9D8B030D-6E8A-4147-A177-3AD203B41FA5}">
                      <a16:colId xmlns:a16="http://schemas.microsoft.com/office/drawing/2014/main" val="20003"/>
                    </a:ext>
                  </a:extLst>
                </a:gridCol>
              </a:tblGrid>
              <a:tr h="738188">
                <a:tc>
                  <a:txBody>
                    <a:bodyPr/>
                    <a:lstStyle/>
                    <a:p>
                      <a:r>
                        <a:rPr sz="2100" b="1">
                          <a:solidFill>
                            <a:srgbClr val="121212"/>
                          </a:solidFill>
                          <a:latin typeface="Times New Roman"/>
                          <a:ea typeface="Times New Roman"/>
                          <a:cs typeface="Times New Roman"/>
                        </a:rPr>
                        <a:t>Target</a:t>
                      </a:r>
                    </a:p>
                  </a:txBody>
                  <a:tcPr>
                    <a:solidFill>
                      <a:srgbClr val="EEEEEE"/>
                    </a:solidFill>
                  </a:tcPr>
                </a:tc>
                <a:tc>
                  <a:txBody>
                    <a:bodyPr/>
                    <a:lstStyle/>
                    <a:p>
                      <a:r>
                        <a:rPr sz="2100" b="1">
                          <a:solidFill>
                            <a:srgbClr val="121212"/>
                          </a:solidFill>
                          <a:latin typeface="Times New Roman"/>
                          <a:ea typeface="Times New Roman"/>
                          <a:cs typeface="Times New Roman"/>
                        </a:rPr>
                        <a:t>5-fold CV (920)</a:t>
                      </a:r>
                    </a:p>
                  </a:txBody>
                  <a:tcPr>
                    <a:solidFill>
                      <a:srgbClr val="EEEEEE"/>
                    </a:solidFill>
                  </a:tcPr>
                </a:tc>
                <a:tc>
                  <a:txBody>
                    <a:bodyPr/>
                    <a:lstStyle/>
                    <a:p>
                      <a:r>
                        <a:rPr sz="2100" b="1" dirty="0">
                          <a:solidFill>
                            <a:srgbClr val="121212"/>
                          </a:solidFill>
                          <a:latin typeface="Times New Roman"/>
                          <a:ea typeface="Times New Roman"/>
                          <a:cs typeface="Times New Roman"/>
                        </a:rPr>
                        <a:t>80/20 test (184)</a:t>
                      </a:r>
                    </a:p>
                  </a:txBody>
                  <a:tcPr>
                    <a:solidFill>
                      <a:srgbClr val="EEEEEE"/>
                    </a:solidFill>
                  </a:tcPr>
                </a:tc>
                <a:tc>
                  <a:txBody>
                    <a:bodyPr/>
                    <a:lstStyle/>
                    <a:p>
                      <a:r>
                        <a:rPr sz="2100" b="1">
                          <a:solidFill>
                            <a:srgbClr val="121212"/>
                          </a:solidFill>
                          <a:latin typeface="Times New Roman"/>
                          <a:ea typeface="Times New Roman"/>
                          <a:cs typeface="Times New Roman"/>
                        </a:rPr>
                        <a:t>ZeroR test</a:t>
                      </a:r>
                    </a:p>
                  </a:txBody>
                  <a:tcPr>
                    <a:solidFill>
                      <a:srgbClr val="EEEEEE"/>
                    </a:solidFill>
                  </a:tcPr>
                </a:tc>
                <a:extLst>
                  <a:ext uri="{0D108BD9-81ED-4DB2-BD59-A6C34878D82A}">
                    <a16:rowId xmlns:a16="http://schemas.microsoft.com/office/drawing/2014/main" val="10000"/>
                  </a:ext>
                </a:extLst>
              </a:tr>
              <a:tr h="738188">
                <a:tc>
                  <a:txBody>
                    <a:bodyPr/>
                    <a:lstStyle/>
                    <a:p>
                      <a:r>
                        <a:rPr sz="2100" b="0">
                          <a:solidFill>
                            <a:srgbClr val="121212"/>
                          </a:solidFill>
                          <a:latin typeface="Times New Roman"/>
                          <a:ea typeface="Times New Roman"/>
                          <a:cs typeface="Times New Roman"/>
                        </a:rPr>
                        <a:t>Recent SGPA</a:t>
                      </a:r>
                    </a:p>
                  </a:txBody>
                  <a:tcPr>
                    <a:solidFill>
                      <a:srgbClr val="FFFFFF"/>
                    </a:solidFill>
                  </a:tcPr>
                </a:tc>
                <a:tc>
                  <a:txBody>
                    <a:bodyPr/>
                    <a:lstStyle/>
                    <a:p>
                      <a:r>
                        <a:rPr sz="2100" b="0">
                          <a:solidFill>
                            <a:srgbClr val="121212"/>
                          </a:solidFill>
                          <a:latin typeface="Times New Roman"/>
                          <a:ea typeface="Times New Roman"/>
                          <a:cs typeface="Times New Roman"/>
                        </a:rPr>
                        <a:t>26.30%</a:t>
                      </a:r>
                    </a:p>
                  </a:txBody>
                  <a:tcPr>
                    <a:solidFill>
                      <a:srgbClr val="FFFFFF"/>
                    </a:solidFill>
                  </a:tcPr>
                </a:tc>
                <a:tc>
                  <a:txBody>
                    <a:bodyPr/>
                    <a:lstStyle/>
                    <a:p>
                      <a:r>
                        <a:rPr sz="2100" b="0" dirty="0">
                          <a:solidFill>
                            <a:srgbClr val="121212"/>
                          </a:solidFill>
                          <a:latin typeface="Times New Roman"/>
                          <a:ea typeface="Times New Roman"/>
                          <a:cs typeface="Times New Roman"/>
                        </a:rPr>
                        <a:t>27.17%</a:t>
                      </a:r>
                    </a:p>
                  </a:txBody>
                  <a:tcPr>
                    <a:solidFill>
                      <a:srgbClr val="FFFFFF"/>
                    </a:solidFill>
                  </a:tcPr>
                </a:tc>
                <a:tc>
                  <a:txBody>
                    <a:bodyPr/>
                    <a:lstStyle/>
                    <a:p>
                      <a:r>
                        <a:rPr sz="2100" b="0">
                          <a:solidFill>
                            <a:srgbClr val="121212"/>
                          </a:solidFill>
                          <a:latin typeface="Times New Roman"/>
                          <a:ea typeface="Times New Roman"/>
                          <a:cs typeface="Times New Roman"/>
                        </a:rPr>
                        <a:t>30.43%</a:t>
                      </a:r>
                    </a:p>
                  </a:txBody>
                  <a:tcPr>
                    <a:solidFill>
                      <a:srgbClr val="FFFFFF"/>
                    </a:solidFill>
                  </a:tcPr>
                </a:tc>
                <a:extLst>
                  <a:ext uri="{0D108BD9-81ED-4DB2-BD59-A6C34878D82A}">
                    <a16:rowId xmlns:a16="http://schemas.microsoft.com/office/drawing/2014/main" val="10001"/>
                  </a:ext>
                </a:extLst>
              </a:tr>
              <a:tr h="738188">
                <a:tc>
                  <a:txBody>
                    <a:bodyPr/>
                    <a:lstStyle/>
                    <a:p>
                      <a:r>
                        <a:rPr sz="2100" b="0">
                          <a:solidFill>
                            <a:srgbClr val="121212"/>
                          </a:solidFill>
                          <a:latin typeface="Times New Roman"/>
                          <a:ea typeface="Times New Roman"/>
                          <a:cs typeface="Times New Roman"/>
                        </a:rPr>
                        <a:t>CGPA questionnaire</a:t>
                      </a:r>
                    </a:p>
                  </a:txBody>
                  <a:tcPr>
                    <a:solidFill>
                      <a:srgbClr val="FFFFFF"/>
                    </a:solidFill>
                  </a:tcPr>
                </a:tc>
                <a:tc>
                  <a:txBody>
                    <a:bodyPr/>
                    <a:lstStyle/>
                    <a:p>
                      <a:r>
                        <a:rPr sz="2100" b="0">
                          <a:solidFill>
                            <a:srgbClr val="121212"/>
                          </a:solidFill>
                          <a:latin typeface="Times New Roman"/>
                          <a:ea typeface="Times New Roman"/>
                          <a:cs typeface="Times New Roman"/>
                        </a:rPr>
                        <a:t>27.83%</a:t>
                      </a:r>
                    </a:p>
                  </a:txBody>
                  <a:tcPr>
                    <a:solidFill>
                      <a:srgbClr val="FFFFFF"/>
                    </a:solidFill>
                  </a:tcPr>
                </a:tc>
                <a:tc>
                  <a:txBody>
                    <a:bodyPr/>
                    <a:lstStyle/>
                    <a:p>
                      <a:r>
                        <a:rPr sz="2100" b="0">
                          <a:solidFill>
                            <a:srgbClr val="121212"/>
                          </a:solidFill>
                          <a:latin typeface="Times New Roman"/>
                          <a:ea typeface="Times New Roman"/>
                          <a:cs typeface="Times New Roman"/>
                        </a:rPr>
                        <a:t>33.15%</a:t>
                      </a:r>
                    </a:p>
                  </a:txBody>
                  <a:tcPr>
                    <a:solidFill>
                      <a:srgbClr val="FFFFFF"/>
                    </a:solidFill>
                  </a:tcPr>
                </a:tc>
                <a:tc>
                  <a:txBody>
                    <a:bodyPr/>
                    <a:lstStyle/>
                    <a:p>
                      <a:r>
                        <a:rPr sz="2100" b="0">
                          <a:solidFill>
                            <a:srgbClr val="121212"/>
                          </a:solidFill>
                          <a:latin typeface="Times New Roman"/>
                          <a:ea typeface="Times New Roman"/>
                          <a:cs typeface="Times New Roman"/>
                        </a:rPr>
                        <a:t>35.87%</a:t>
                      </a:r>
                    </a:p>
                  </a:txBody>
                  <a:tcPr>
                    <a:solidFill>
                      <a:srgbClr val="FFFFFF"/>
                    </a:solidFill>
                  </a:tcPr>
                </a:tc>
                <a:extLst>
                  <a:ext uri="{0D108BD9-81ED-4DB2-BD59-A6C34878D82A}">
                    <a16:rowId xmlns:a16="http://schemas.microsoft.com/office/drawing/2014/main" val="10002"/>
                  </a:ext>
                </a:extLst>
              </a:tr>
              <a:tr h="738188">
                <a:tc>
                  <a:txBody>
                    <a:bodyPr/>
                    <a:lstStyle/>
                    <a:p>
                      <a:r>
                        <a:rPr sz="2100" b="0">
                          <a:solidFill>
                            <a:srgbClr val="121212"/>
                          </a:solidFill>
                          <a:latin typeface="Times New Roman"/>
                          <a:ea typeface="Times New Roman"/>
                          <a:cs typeface="Times New Roman"/>
                        </a:rPr>
                        <a:t>Main CGPA</a:t>
                      </a:r>
                    </a:p>
                  </a:txBody>
                  <a:tcPr>
                    <a:solidFill>
                      <a:srgbClr val="FFFFFF"/>
                    </a:solidFill>
                  </a:tcPr>
                </a:tc>
                <a:tc>
                  <a:txBody>
                    <a:bodyPr/>
                    <a:lstStyle/>
                    <a:p>
                      <a:r>
                        <a:rPr sz="2100" b="0">
                          <a:solidFill>
                            <a:srgbClr val="121212"/>
                          </a:solidFill>
                          <a:latin typeface="Times New Roman"/>
                          <a:ea typeface="Times New Roman"/>
                          <a:cs typeface="Times New Roman"/>
                        </a:rPr>
                        <a:t>54.35%</a:t>
                      </a:r>
                    </a:p>
                  </a:txBody>
                  <a:tcPr>
                    <a:solidFill>
                      <a:srgbClr val="FFFFFF"/>
                    </a:solidFill>
                  </a:tcPr>
                </a:tc>
                <a:tc>
                  <a:txBody>
                    <a:bodyPr/>
                    <a:lstStyle/>
                    <a:p>
                      <a:r>
                        <a:rPr sz="2100" b="0">
                          <a:solidFill>
                            <a:srgbClr val="121212"/>
                          </a:solidFill>
                          <a:latin typeface="Times New Roman"/>
                          <a:ea typeface="Times New Roman"/>
                          <a:cs typeface="Times New Roman"/>
                        </a:rPr>
                        <a:t>51.09%</a:t>
                      </a:r>
                    </a:p>
                  </a:txBody>
                  <a:tcPr>
                    <a:solidFill>
                      <a:srgbClr val="FFFFFF"/>
                    </a:solidFill>
                  </a:tcPr>
                </a:tc>
                <a:tc>
                  <a:txBody>
                    <a:bodyPr/>
                    <a:lstStyle/>
                    <a:p>
                      <a:r>
                        <a:rPr sz="2100" b="0" dirty="0">
                          <a:solidFill>
                            <a:srgbClr val="121212"/>
                          </a:solidFill>
                          <a:latin typeface="Times New Roman"/>
                          <a:ea typeface="Times New Roman"/>
                          <a:cs typeface="Times New Roman"/>
                        </a:rPr>
                        <a:t>35.87%</a:t>
                      </a:r>
                    </a:p>
                  </a:txBody>
                  <a:tcPr>
                    <a:solidFill>
                      <a:srgbClr val="FFFFFF"/>
                    </a:solidFill>
                  </a:tcPr>
                </a:tc>
                <a:extLst>
                  <a:ext uri="{0D108BD9-81ED-4DB2-BD59-A6C34878D82A}">
                    <a16:rowId xmlns:a16="http://schemas.microsoft.com/office/drawing/2014/main" val="10003"/>
                  </a:ext>
                </a:extLst>
              </a:tr>
            </a:tbl>
          </a:graphicData>
        </a:graphic>
      </p:graphicFrame>
      <p:sp>
        <p:nvSpPr>
          <p:cNvPr id="535" name="Each row evaluates the same fitted WEKA J48 on its trai">
            <a:extLst>
              <a:ext uri="{FF2B5EF4-FFF2-40B4-BE49-F238E27FC236}">
                <a16:creationId xmlns:a16="http://schemas.microsoft.com/office/drawing/2014/main" id="{F6DEFF97-0E0E-43D0-AC79-EE02F2625E09}"/>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J48 with minNumObj 40. 5-fold CV on all 920 students; 80/20 = WEKA percentage split, seed 1 (736 train, 184 test).</a:t>
            </a:r>
          </a:p>
        </p:txBody>
      </p:sp>
    </p:spTree>
    <p:extLst>
      <p:ext uri="{BB962C8B-B14F-4D97-AF65-F5344CB8AC3E}">
        <p14:creationId xmlns:p14="http://schemas.microsoft.com/office/powerpoint/2010/main" val="3241372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39</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J48: main CGPA test confusion matrix</a:t>
            </a:r>
          </a:p>
        </p:txBody>
      </p:sp>
      <p:sp>
        <p:nvSpPr>
          <p:cNvPr id="534" name="Fixed test set">
            <a:extLst>
              <a:ext uri="{FF2B5EF4-FFF2-40B4-BE49-F238E27FC236}">
                <a16:creationId xmlns:a16="http://schemas.microsoft.com/office/drawing/2014/main" id="{3739AA41-A84E-4DAC-A438-FE6F2908614F}"/>
              </a:ext>
            </a:extLst>
          </p:cNvPr>
          <p:cNvSpPr>
            <a:spLocks noGrp="1"/>
          </p:cNvSpPr>
          <p:nvPr/>
        </p:nvSpPr>
        <p:spPr>
          <a:xfrm>
            <a:off x="3810000" y="1238250"/>
            <a:ext cx="61912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80/20 split, 184 test students</a:t>
            </a:r>
          </a:p>
        </p:txBody>
      </p:sp>
      <p:sp>
        <p:nvSpPr>
          <p:cNvPr id="535" name="Predicted">
            <a:extLst>
              <a:ext uri="{FF2B5EF4-FFF2-40B4-BE49-F238E27FC236}">
                <a16:creationId xmlns:a16="http://schemas.microsoft.com/office/drawing/2014/main" id="{C1712C18-5E68-4CFC-B3F7-1461649C9EC4}"/>
              </a:ext>
            </a:extLst>
          </p:cNvPr>
          <p:cNvSpPr>
            <a:spLocks noGrp="1"/>
          </p:cNvSpPr>
          <p:nvPr/>
        </p:nvSpPr>
        <p:spPr>
          <a:xfrm>
            <a:off x="4762500" y="1685925"/>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7C6F7F92-7FF1-4303-81C8-0249E069181E}"/>
              </a:ext>
            </a:extLst>
          </p:cNvPr>
          <p:cNvSpPr>
            <a:spLocks noGrp="1"/>
          </p:cNvSpPr>
          <p:nvPr/>
        </p:nvSpPr>
        <p:spPr>
          <a:xfrm>
            <a:off x="4619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0BFA08BB-4965-4588-AE75-A5B3509F8BB9}"/>
              </a:ext>
            </a:extLst>
          </p:cNvPr>
          <p:cNvSpPr>
            <a:spLocks noGrp="1"/>
          </p:cNvSpPr>
          <p:nvPr/>
        </p:nvSpPr>
        <p:spPr>
          <a:xfrm>
            <a:off x="3905250" y="2495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68B9F007-3737-455C-BCE6-27DA0AAD7F0A}"/>
              </a:ext>
            </a:extLst>
          </p:cNvPr>
          <p:cNvSpPr>
            <a:spLocks noGrp="1"/>
          </p:cNvSpPr>
          <p:nvPr/>
        </p:nvSpPr>
        <p:spPr>
          <a:xfrm>
            <a:off x="5381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11AA9828-9357-40C6-B606-DA483A915C09}"/>
              </a:ext>
            </a:extLst>
          </p:cNvPr>
          <p:cNvSpPr>
            <a:spLocks noGrp="1"/>
          </p:cNvSpPr>
          <p:nvPr/>
        </p:nvSpPr>
        <p:spPr>
          <a:xfrm>
            <a:off x="3905250" y="3257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D4CAEEDD-C666-4CF9-86EB-DF9B971A624A}"/>
              </a:ext>
            </a:extLst>
          </p:cNvPr>
          <p:cNvSpPr>
            <a:spLocks noGrp="1"/>
          </p:cNvSpPr>
          <p:nvPr/>
        </p:nvSpPr>
        <p:spPr>
          <a:xfrm>
            <a:off x="6143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3633376E-A84D-4CA3-92A7-E9B40D2F7688}"/>
              </a:ext>
            </a:extLst>
          </p:cNvPr>
          <p:cNvSpPr>
            <a:spLocks noGrp="1"/>
          </p:cNvSpPr>
          <p:nvPr/>
        </p:nvSpPr>
        <p:spPr>
          <a:xfrm>
            <a:off x="3905250" y="4019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33BA2BE4-3B94-4104-955A-4DB8302C244E}"/>
              </a:ext>
            </a:extLst>
          </p:cNvPr>
          <p:cNvSpPr>
            <a:spLocks noGrp="1"/>
          </p:cNvSpPr>
          <p:nvPr/>
        </p:nvSpPr>
        <p:spPr>
          <a:xfrm>
            <a:off x="6905625" y="2047875"/>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02C74AD8-225B-4A0B-A877-0DAE203E93F9}"/>
              </a:ext>
            </a:extLst>
          </p:cNvPr>
          <p:cNvSpPr>
            <a:spLocks noGrp="1"/>
          </p:cNvSpPr>
          <p:nvPr/>
        </p:nvSpPr>
        <p:spPr>
          <a:xfrm>
            <a:off x="3905250" y="4781550"/>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3DEA5E1A-4613-49F7-B8A0-358E7FF7FCB9}"/>
              </a:ext>
            </a:extLst>
          </p:cNvPr>
          <p:cNvSpPr>
            <a:spLocks noGrp="1"/>
          </p:cNvSpPr>
          <p:nvPr/>
        </p:nvSpPr>
        <p:spPr>
          <a:xfrm>
            <a:off x="4524375" y="2419350"/>
            <a:ext cx="742950" cy="742950"/>
          </a:xfrm>
          <a:prstGeom prst="rect">
            <a:avLst/>
          </a:prstGeom>
          <a:solidFill>
            <a:srgbClr val="DBEAF7"/>
          </a:solidFill>
          <a:ln w="0">
            <a:noFill/>
          </a:ln>
        </p:spPr>
        <p:txBody>
          <a:bodyPr/>
          <a:lstStyle/>
          <a:p>
            <a:endParaRPr lang="en-US"/>
          </a:p>
        </p:txBody>
      </p:sp>
      <p:sp>
        <p:nvSpPr>
          <p:cNvPr id="545" name="22">
            <a:extLst>
              <a:ext uri="{FF2B5EF4-FFF2-40B4-BE49-F238E27FC236}">
                <a16:creationId xmlns:a16="http://schemas.microsoft.com/office/drawing/2014/main" id="{224B06EB-448B-4341-BD58-CC805A64390F}"/>
              </a:ext>
            </a:extLst>
          </p:cNvPr>
          <p:cNvSpPr>
            <a:spLocks noGrp="1"/>
          </p:cNvSpPr>
          <p:nvPr/>
        </p:nvSpPr>
        <p:spPr>
          <a:xfrm>
            <a:off x="4533900" y="2628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15</a:t>
            </a:r>
          </a:p>
        </p:txBody>
      </p:sp>
      <p:sp>
        <p:nvSpPr>
          <p:cNvPr id="546" name="Rectangle 545">
            <a:extLst>
              <a:ext uri="{FF2B5EF4-FFF2-40B4-BE49-F238E27FC236}">
                <a16:creationId xmlns:a16="http://schemas.microsoft.com/office/drawing/2014/main" id="{9A6CA628-2B6B-45F4-A1E1-EC12939C8BDA}"/>
              </a:ext>
            </a:extLst>
          </p:cNvPr>
          <p:cNvSpPr>
            <a:spLocks noGrp="1"/>
          </p:cNvSpPr>
          <p:nvPr/>
        </p:nvSpPr>
        <p:spPr>
          <a:xfrm>
            <a:off x="5286375" y="2419350"/>
            <a:ext cx="742950" cy="742950"/>
          </a:xfrm>
          <a:prstGeom prst="rect">
            <a:avLst/>
          </a:prstGeom>
          <a:solidFill>
            <a:srgbClr val="F2F2F2"/>
          </a:solidFill>
          <a:ln w="0">
            <a:noFill/>
          </a:ln>
        </p:spPr>
        <p:txBody>
          <a:bodyPr/>
          <a:lstStyle/>
          <a:p>
            <a:endParaRPr lang="en-US"/>
          </a:p>
        </p:txBody>
      </p:sp>
      <p:sp>
        <p:nvSpPr>
          <p:cNvPr id="547" name="15">
            <a:extLst>
              <a:ext uri="{FF2B5EF4-FFF2-40B4-BE49-F238E27FC236}">
                <a16:creationId xmlns:a16="http://schemas.microsoft.com/office/drawing/2014/main" id="{D82B291B-5ABB-45E2-995B-74DD4CE2AAFF}"/>
              </a:ext>
            </a:extLst>
          </p:cNvPr>
          <p:cNvSpPr>
            <a:spLocks noGrp="1"/>
          </p:cNvSpPr>
          <p:nvPr/>
        </p:nvSpPr>
        <p:spPr>
          <a:xfrm>
            <a:off x="5295900" y="2628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11</a:t>
            </a:r>
          </a:p>
        </p:txBody>
      </p:sp>
      <p:sp>
        <p:nvSpPr>
          <p:cNvPr id="548" name="Rectangle 547">
            <a:extLst>
              <a:ext uri="{FF2B5EF4-FFF2-40B4-BE49-F238E27FC236}">
                <a16:creationId xmlns:a16="http://schemas.microsoft.com/office/drawing/2014/main" id="{DC3CD02A-C4A1-48D5-90D8-2DDA5E452255}"/>
              </a:ext>
            </a:extLst>
          </p:cNvPr>
          <p:cNvSpPr>
            <a:spLocks noGrp="1"/>
          </p:cNvSpPr>
          <p:nvPr/>
        </p:nvSpPr>
        <p:spPr>
          <a:xfrm>
            <a:off x="6048375" y="2419350"/>
            <a:ext cx="742950" cy="742950"/>
          </a:xfrm>
          <a:prstGeom prst="rect">
            <a:avLst/>
          </a:prstGeom>
          <a:solidFill>
            <a:srgbClr val="F2F2F2"/>
          </a:solidFill>
          <a:ln w="0">
            <a:noFill/>
          </a:ln>
        </p:spPr>
        <p:txBody>
          <a:bodyPr/>
          <a:lstStyle/>
          <a:p>
            <a:endParaRPr lang="en-US"/>
          </a:p>
        </p:txBody>
      </p:sp>
      <p:sp>
        <p:nvSpPr>
          <p:cNvPr id="549" name="6">
            <a:extLst>
              <a:ext uri="{FF2B5EF4-FFF2-40B4-BE49-F238E27FC236}">
                <a16:creationId xmlns:a16="http://schemas.microsoft.com/office/drawing/2014/main" id="{661C2EBA-7689-4DAF-A81D-8E0138EF0410}"/>
              </a:ext>
            </a:extLst>
          </p:cNvPr>
          <p:cNvSpPr>
            <a:spLocks noGrp="1"/>
          </p:cNvSpPr>
          <p:nvPr/>
        </p:nvSpPr>
        <p:spPr>
          <a:xfrm>
            <a:off x="6057900" y="2628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a:t>
            </a:r>
          </a:p>
        </p:txBody>
      </p:sp>
      <p:sp>
        <p:nvSpPr>
          <p:cNvPr id="550" name="Rectangle 549">
            <a:extLst>
              <a:ext uri="{FF2B5EF4-FFF2-40B4-BE49-F238E27FC236}">
                <a16:creationId xmlns:a16="http://schemas.microsoft.com/office/drawing/2014/main" id="{AAE034E4-FD72-4F48-8A82-65F3E96F6671}"/>
              </a:ext>
            </a:extLst>
          </p:cNvPr>
          <p:cNvSpPr>
            <a:spLocks noGrp="1"/>
          </p:cNvSpPr>
          <p:nvPr/>
        </p:nvSpPr>
        <p:spPr>
          <a:xfrm>
            <a:off x="6810375" y="2419350"/>
            <a:ext cx="742950" cy="742950"/>
          </a:xfrm>
          <a:prstGeom prst="rect">
            <a:avLst/>
          </a:prstGeom>
          <a:solidFill>
            <a:srgbClr val="F2F2F2"/>
          </a:solidFill>
          <a:ln w="0">
            <a:noFill/>
          </a:ln>
        </p:spPr>
        <p:txBody>
          <a:bodyPr/>
          <a:lstStyle/>
          <a:p>
            <a:endParaRPr lang="en-US"/>
          </a:p>
        </p:txBody>
      </p:sp>
      <p:sp>
        <p:nvSpPr>
          <p:cNvPr id="551" name="4">
            <a:extLst>
              <a:ext uri="{FF2B5EF4-FFF2-40B4-BE49-F238E27FC236}">
                <a16:creationId xmlns:a16="http://schemas.microsoft.com/office/drawing/2014/main" id="{7DFA47BA-DC7C-42B2-BA91-1AE445931550}"/>
              </a:ext>
            </a:extLst>
          </p:cNvPr>
          <p:cNvSpPr>
            <a:spLocks noGrp="1"/>
          </p:cNvSpPr>
          <p:nvPr/>
        </p:nvSpPr>
        <p:spPr>
          <a:xfrm>
            <a:off x="6819900" y="2628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a:t>
            </a:r>
          </a:p>
        </p:txBody>
      </p:sp>
      <p:sp>
        <p:nvSpPr>
          <p:cNvPr id="552" name="Rectangle 551">
            <a:extLst>
              <a:ext uri="{FF2B5EF4-FFF2-40B4-BE49-F238E27FC236}">
                <a16:creationId xmlns:a16="http://schemas.microsoft.com/office/drawing/2014/main" id="{E91F08D7-84BF-4785-9CB0-6D994C5B2F53}"/>
              </a:ext>
            </a:extLst>
          </p:cNvPr>
          <p:cNvSpPr>
            <a:spLocks noGrp="1"/>
          </p:cNvSpPr>
          <p:nvPr/>
        </p:nvSpPr>
        <p:spPr>
          <a:xfrm>
            <a:off x="4524375" y="3181350"/>
            <a:ext cx="742950" cy="742950"/>
          </a:xfrm>
          <a:prstGeom prst="rect">
            <a:avLst/>
          </a:prstGeom>
          <a:solidFill>
            <a:srgbClr val="F2F2F2"/>
          </a:solidFill>
          <a:ln w="0">
            <a:noFill/>
          </a:ln>
        </p:spPr>
        <p:txBody>
          <a:bodyPr/>
          <a:lstStyle/>
          <a:p>
            <a:endParaRPr lang="en-US"/>
          </a:p>
        </p:txBody>
      </p:sp>
      <p:sp>
        <p:nvSpPr>
          <p:cNvPr id="553" name="8">
            <a:extLst>
              <a:ext uri="{FF2B5EF4-FFF2-40B4-BE49-F238E27FC236}">
                <a16:creationId xmlns:a16="http://schemas.microsoft.com/office/drawing/2014/main" id="{5BE679D5-7A28-4624-8432-A4A800E0B422}"/>
              </a:ext>
            </a:extLst>
          </p:cNvPr>
          <p:cNvSpPr>
            <a:spLocks noGrp="1"/>
          </p:cNvSpPr>
          <p:nvPr/>
        </p:nvSpPr>
        <p:spPr>
          <a:xfrm>
            <a:off x="4533900" y="3390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a:t>
            </a:r>
          </a:p>
        </p:txBody>
      </p:sp>
      <p:sp>
        <p:nvSpPr>
          <p:cNvPr id="554" name="Rectangle 553">
            <a:extLst>
              <a:ext uri="{FF2B5EF4-FFF2-40B4-BE49-F238E27FC236}">
                <a16:creationId xmlns:a16="http://schemas.microsoft.com/office/drawing/2014/main" id="{FE8647A3-E4D8-4653-B644-F1F8D45BB1A3}"/>
              </a:ext>
            </a:extLst>
          </p:cNvPr>
          <p:cNvSpPr>
            <a:spLocks noGrp="1"/>
          </p:cNvSpPr>
          <p:nvPr/>
        </p:nvSpPr>
        <p:spPr>
          <a:xfrm>
            <a:off x="5286375" y="3181350"/>
            <a:ext cx="742950" cy="742950"/>
          </a:xfrm>
          <a:prstGeom prst="rect">
            <a:avLst/>
          </a:prstGeom>
          <a:solidFill>
            <a:srgbClr val="DBEAF7"/>
          </a:solidFill>
          <a:ln w="0">
            <a:noFill/>
          </a:ln>
        </p:spPr>
        <p:txBody>
          <a:bodyPr/>
          <a:lstStyle/>
          <a:p>
            <a:endParaRPr lang="en-US"/>
          </a:p>
        </p:txBody>
      </p:sp>
      <p:sp>
        <p:nvSpPr>
          <p:cNvPr id="555" name="31">
            <a:extLst>
              <a:ext uri="{FF2B5EF4-FFF2-40B4-BE49-F238E27FC236}">
                <a16:creationId xmlns:a16="http://schemas.microsoft.com/office/drawing/2014/main" id="{B833342E-AD57-46FF-BE11-70D2A80EF902}"/>
              </a:ext>
            </a:extLst>
          </p:cNvPr>
          <p:cNvSpPr>
            <a:spLocks noGrp="1"/>
          </p:cNvSpPr>
          <p:nvPr/>
        </p:nvSpPr>
        <p:spPr>
          <a:xfrm>
            <a:off x="5295900" y="3390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35</a:t>
            </a:r>
          </a:p>
        </p:txBody>
      </p:sp>
      <p:sp>
        <p:nvSpPr>
          <p:cNvPr id="556" name="Rectangle 555">
            <a:extLst>
              <a:ext uri="{FF2B5EF4-FFF2-40B4-BE49-F238E27FC236}">
                <a16:creationId xmlns:a16="http://schemas.microsoft.com/office/drawing/2014/main" id="{C4D62EB5-3748-4BAF-85C2-CF4EE1D5F31A}"/>
              </a:ext>
            </a:extLst>
          </p:cNvPr>
          <p:cNvSpPr>
            <a:spLocks noGrp="1"/>
          </p:cNvSpPr>
          <p:nvPr/>
        </p:nvSpPr>
        <p:spPr>
          <a:xfrm>
            <a:off x="6048375" y="3181350"/>
            <a:ext cx="742950" cy="742950"/>
          </a:xfrm>
          <a:prstGeom prst="rect">
            <a:avLst/>
          </a:prstGeom>
          <a:solidFill>
            <a:srgbClr val="F2F2F2"/>
          </a:solidFill>
          <a:ln w="0">
            <a:noFill/>
          </a:ln>
        </p:spPr>
        <p:txBody>
          <a:bodyPr/>
          <a:lstStyle/>
          <a:p>
            <a:endParaRPr lang="en-US"/>
          </a:p>
        </p:txBody>
      </p:sp>
      <p:sp>
        <p:nvSpPr>
          <p:cNvPr id="557" name="15">
            <a:extLst>
              <a:ext uri="{FF2B5EF4-FFF2-40B4-BE49-F238E27FC236}">
                <a16:creationId xmlns:a16="http://schemas.microsoft.com/office/drawing/2014/main" id="{A822F886-B0D3-4B8B-B67D-457F7AE19F71}"/>
              </a:ext>
            </a:extLst>
          </p:cNvPr>
          <p:cNvSpPr>
            <a:spLocks noGrp="1"/>
          </p:cNvSpPr>
          <p:nvPr/>
        </p:nvSpPr>
        <p:spPr>
          <a:xfrm>
            <a:off x="6057900" y="3390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20</a:t>
            </a:r>
          </a:p>
        </p:txBody>
      </p:sp>
      <p:sp>
        <p:nvSpPr>
          <p:cNvPr id="558" name="Rectangle 557">
            <a:extLst>
              <a:ext uri="{FF2B5EF4-FFF2-40B4-BE49-F238E27FC236}">
                <a16:creationId xmlns:a16="http://schemas.microsoft.com/office/drawing/2014/main" id="{9F6E432E-87BC-4EB3-A695-CD36BC5A01CE}"/>
              </a:ext>
            </a:extLst>
          </p:cNvPr>
          <p:cNvSpPr>
            <a:spLocks noGrp="1"/>
          </p:cNvSpPr>
          <p:nvPr/>
        </p:nvSpPr>
        <p:spPr>
          <a:xfrm>
            <a:off x="6810375" y="3181350"/>
            <a:ext cx="742950" cy="742950"/>
          </a:xfrm>
          <a:prstGeom prst="rect">
            <a:avLst/>
          </a:prstGeom>
          <a:solidFill>
            <a:srgbClr val="F2F2F2"/>
          </a:solidFill>
          <a:ln w="0">
            <a:noFill/>
          </a:ln>
        </p:spPr>
        <p:txBody>
          <a:bodyPr/>
          <a:lstStyle/>
          <a:p>
            <a:endParaRPr lang="en-US"/>
          </a:p>
        </p:txBody>
      </p:sp>
      <p:sp>
        <p:nvSpPr>
          <p:cNvPr id="559" name="10">
            <a:extLst>
              <a:ext uri="{FF2B5EF4-FFF2-40B4-BE49-F238E27FC236}">
                <a16:creationId xmlns:a16="http://schemas.microsoft.com/office/drawing/2014/main" id="{9399365C-40D0-4885-A0C1-EE22ABB8AFBF}"/>
              </a:ext>
            </a:extLst>
          </p:cNvPr>
          <p:cNvSpPr>
            <a:spLocks noGrp="1"/>
          </p:cNvSpPr>
          <p:nvPr/>
        </p:nvSpPr>
        <p:spPr>
          <a:xfrm>
            <a:off x="6819900" y="3390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a:t>
            </a:r>
          </a:p>
        </p:txBody>
      </p:sp>
      <p:sp>
        <p:nvSpPr>
          <p:cNvPr id="560" name="Rectangle 559">
            <a:extLst>
              <a:ext uri="{FF2B5EF4-FFF2-40B4-BE49-F238E27FC236}">
                <a16:creationId xmlns:a16="http://schemas.microsoft.com/office/drawing/2014/main" id="{64F8F8F5-EB1B-4829-8AA3-6169D47DCC2E}"/>
              </a:ext>
            </a:extLst>
          </p:cNvPr>
          <p:cNvSpPr>
            <a:spLocks noGrp="1"/>
          </p:cNvSpPr>
          <p:nvPr/>
        </p:nvSpPr>
        <p:spPr>
          <a:xfrm>
            <a:off x="4524375" y="3943350"/>
            <a:ext cx="742950" cy="742950"/>
          </a:xfrm>
          <a:prstGeom prst="rect">
            <a:avLst/>
          </a:prstGeom>
          <a:solidFill>
            <a:srgbClr val="F2F2F2"/>
          </a:solidFill>
          <a:ln w="0">
            <a:noFill/>
          </a:ln>
        </p:spPr>
        <p:txBody>
          <a:bodyPr/>
          <a:lstStyle/>
          <a:p>
            <a:endParaRPr lang="en-US"/>
          </a:p>
        </p:txBody>
      </p:sp>
      <p:sp>
        <p:nvSpPr>
          <p:cNvPr id="561" name="7">
            <a:extLst>
              <a:ext uri="{FF2B5EF4-FFF2-40B4-BE49-F238E27FC236}">
                <a16:creationId xmlns:a16="http://schemas.microsoft.com/office/drawing/2014/main" id="{A2215DC9-9298-4EB4-A991-DFD936B68D4C}"/>
              </a:ext>
            </a:extLst>
          </p:cNvPr>
          <p:cNvSpPr>
            <a:spLocks noGrp="1"/>
          </p:cNvSpPr>
          <p:nvPr/>
        </p:nvSpPr>
        <p:spPr>
          <a:xfrm>
            <a:off x="4533900" y="4152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a:t>
            </a:r>
          </a:p>
        </p:txBody>
      </p:sp>
      <p:sp>
        <p:nvSpPr>
          <p:cNvPr id="562" name="Rectangle 561">
            <a:extLst>
              <a:ext uri="{FF2B5EF4-FFF2-40B4-BE49-F238E27FC236}">
                <a16:creationId xmlns:a16="http://schemas.microsoft.com/office/drawing/2014/main" id="{4011E8A7-D942-4B70-B71A-5F086E1E43AB}"/>
              </a:ext>
            </a:extLst>
          </p:cNvPr>
          <p:cNvSpPr>
            <a:spLocks noGrp="1"/>
          </p:cNvSpPr>
          <p:nvPr/>
        </p:nvSpPr>
        <p:spPr>
          <a:xfrm>
            <a:off x="5286375" y="3943350"/>
            <a:ext cx="742950" cy="742950"/>
          </a:xfrm>
          <a:prstGeom prst="rect">
            <a:avLst/>
          </a:prstGeom>
          <a:solidFill>
            <a:srgbClr val="F2F2F2"/>
          </a:solidFill>
          <a:ln w="0">
            <a:noFill/>
          </a:ln>
        </p:spPr>
        <p:txBody>
          <a:bodyPr/>
          <a:lstStyle/>
          <a:p>
            <a:endParaRPr lang="en-US"/>
          </a:p>
        </p:txBody>
      </p:sp>
      <p:sp>
        <p:nvSpPr>
          <p:cNvPr id="563" name="15">
            <a:extLst>
              <a:ext uri="{FF2B5EF4-FFF2-40B4-BE49-F238E27FC236}">
                <a16:creationId xmlns:a16="http://schemas.microsoft.com/office/drawing/2014/main" id="{B87AC660-6FAE-4489-BA03-63B04FD0F69A}"/>
              </a:ext>
            </a:extLst>
          </p:cNvPr>
          <p:cNvSpPr>
            <a:spLocks noGrp="1"/>
          </p:cNvSpPr>
          <p:nvPr/>
        </p:nvSpPr>
        <p:spPr>
          <a:xfrm>
            <a:off x="5295900" y="4152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a:t>
            </a:r>
          </a:p>
        </p:txBody>
      </p:sp>
      <p:sp>
        <p:nvSpPr>
          <p:cNvPr id="564" name="Rectangle 563">
            <a:extLst>
              <a:ext uri="{FF2B5EF4-FFF2-40B4-BE49-F238E27FC236}">
                <a16:creationId xmlns:a16="http://schemas.microsoft.com/office/drawing/2014/main" id="{E08700BC-EC30-4F22-8D0D-BC68EC300F95}"/>
              </a:ext>
            </a:extLst>
          </p:cNvPr>
          <p:cNvSpPr>
            <a:spLocks noGrp="1"/>
          </p:cNvSpPr>
          <p:nvPr/>
        </p:nvSpPr>
        <p:spPr>
          <a:xfrm>
            <a:off x="6048375" y="3943350"/>
            <a:ext cx="742950" cy="742950"/>
          </a:xfrm>
          <a:prstGeom prst="rect">
            <a:avLst/>
          </a:prstGeom>
          <a:solidFill>
            <a:srgbClr val="DBEAF7"/>
          </a:solidFill>
          <a:ln w="0">
            <a:noFill/>
          </a:ln>
        </p:spPr>
        <p:txBody>
          <a:bodyPr/>
          <a:lstStyle/>
          <a:p>
            <a:endParaRPr lang="en-US"/>
          </a:p>
        </p:txBody>
      </p:sp>
      <p:sp>
        <p:nvSpPr>
          <p:cNvPr id="565" name="29">
            <a:extLst>
              <a:ext uri="{FF2B5EF4-FFF2-40B4-BE49-F238E27FC236}">
                <a16:creationId xmlns:a16="http://schemas.microsoft.com/office/drawing/2014/main" id="{E055F965-D75C-4542-B28A-7517BB18657F}"/>
              </a:ext>
            </a:extLst>
          </p:cNvPr>
          <p:cNvSpPr>
            <a:spLocks noGrp="1"/>
          </p:cNvSpPr>
          <p:nvPr/>
        </p:nvSpPr>
        <p:spPr>
          <a:xfrm>
            <a:off x="6057900" y="4152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18</a:t>
            </a:r>
          </a:p>
        </p:txBody>
      </p:sp>
      <p:sp>
        <p:nvSpPr>
          <p:cNvPr id="566" name="Rectangle 565">
            <a:extLst>
              <a:ext uri="{FF2B5EF4-FFF2-40B4-BE49-F238E27FC236}">
                <a16:creationId xmlns:a16="http://schemas.microsoft.com/office/drawing/2014/main" id="{BEB89D73-8E57-4D8E-86DE-96113D03BA08}"/>
              </a:ext>
            </a:extLst>
          </p:cNvPr>
          <p:cNvSpPr>
            <a:spLocks noGrp="1"/>
          </p:cNvSpPr>
          <p:nvPr/>
        </p:nvSpPr>
        <p:spPr>
          <a:xfrm>
            <a:off x="6810375" y="3943350"/>
            <a:ext cx="742950" cy="742950"/>
          </a:xfrm>
          <a:prstGeom prst="rect">
            <a:avLst/>
          </a:prstGeom>
          <a:solidFill>
            <a:srgbClr val="F2F2F2"/>
          </a:solidFill>
          <a:ln w="0">
            <a:noFill/>
          </a:ln>
        </p:spPr>
        <p:txBody>
          <a:bodyPr/>
          <a:lstStyle/>
          <a:p>
            <a:endParaRPr lang="en-US"/>
          </a:p>
        </p:txBody>
      </p:sp>
      <p:sp>
        <p:nvSpPr>
          <p:cNvPr id="567" name="9">
            <a:extLst>
              <a:ext uri="{FF2B5EF4-FFF2-40B4-BE49-F238E27FC236}">
                <a16:creationId xmlns:a16="http://schemas.microsoft.com/office/drawing/2014/main" id="{4E8B27D2-C8F6-496C-B891-0B60C28A7BB1}"/>
              </a:ext>
            </a:extLst>
          </p:cNvPr>
          <p:cNvSpPr>
            <a:spLocks noGrp="1"/>
          </p:cNvSpPr>
          <p:nvPr/>
        </p:nvSpPr>
        <p:spPr>
          <a:xfrm>
            <a:off x="6819900" y="4152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17</a:t>
            </a:r>
          </a:p>
        </p:txBody>
      </p:sp>
      <p:sp>
        <p:nvSpPr>
          <p:cNvPr id="568" name="Rectangle 567">
            <a:extLst>
              <a:ext uri="{FF2B5EF4-FFF2-40B4-BE49-F238E27FC236}">
                <a16:creationId xmlns:a16="http://schemas.microsoft.com/office/drawing/2014/main" id="{1F29AC85-CEBB-43F3-8DD2-DCA69226707C}"/>
              </a:ext>
            </a:extLst>
          </p:cNvPr>
          <p:cNvSpPr>
            <a:spLocks noGrp="1"/>
          </p:cNvSpPr>
          <p:nvPr/>
        </p:nvSpPr>
        <p:spPr>
          <a:xfrm>
            <a:off x="4524375" y="4705350"/>
            <a:ext cx="742950" cy="742950"/>
          </a:xfrm>
          <a:prstGeom prst="rect">
            <a:avLst/>
          </a:prstGeom>
          <a:solidFill>
            <a:srgbClr val="F2F2F2"/>
          </a:solidFill>
          <a:ln w="0">
            <a:noFill/>
          </a:ln>
        </p:spPr>
        <p:txBody>
          <a:bodyPr/>
          <a:lstStyle/>
          <a:p>
            <a:endParaRPr lang="en-US"/>
          </a:p>
        </p:txBody>
      </p:sp>
      <p:sp>
        <p:nvSpPr>
          <p:cNvPr id="569" name="3">
            <a:extLst>
              <a:ext uri="{FF2B5EF4-FFF2-40B4-BE49-F238E27FC236}">
                <a16:creationId xmlns:a16="http://schemas.microsoft.com/office/drawing/2014/main" id="{FFA2081E-D0F7-4992-AE34-E350B10216D9}"/>
              </a:ext>
            </a:extLst>
          </p:cNvPr>
          <p:cNvSpPr>
            <a:spLocks noGrp="1"/>
          </p:cNvSpPr>
          <p:nvPr/>
        </p:nvSpPr>
        <p:spPr>
          <a:xfrm>
            <a:off x="4533900" y="4914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a:t>
            </a:r>
          </a:p>
        </p:txBody>
      </p:sp>
      <p:sp>
        <p:nvSpPr>
          <p:cNvPr id="570" name="Rectangle 569">
            <a:extLst>
              <a:ext uri="{FF2B5EF4-FFF2-40B4-BE49-F238E27FC236}">
                <a16:creationId xmlns:a16="http://schemas.microsoft.com/office/drawing/2014/main" id="{E8F86C4B-C122-4D3F-9C14-9E26C10611B3}"/>
              </a:ext>
            </a:extLst>
          </p:cNvPr>
          <p:cNvSpPr>
            <a:spLocks noGrp="1"/>
          </p:cNvSpPr>
          <p:nvPr/>
        </p:nvSpPr>
        <p:spPr>
          <a:xfrm>
            <a:off x="5286375" y="4705350"/>
            <a:ext cx="742950" cy="742950"/>
          </a:xfrm>
          <a:prstGeom prst="rect">
            <a:avLst/>
          </a:prstGeom>
          <a:solidFill>
            <a:srgbClr val="F2F2F2"/>
          </a:solidFill>
          <a:ln w="0">
            <a:noFill/>
          </a:ln>
        </p:spPr>
        <p:txBody>
          <a:bodyPr/>
          <a:lstStyle/>
          <a:p>
            <a:endParaRPr lang="en-US"/>
          </a:p>
        </p:txBody>
      </p:sp>
      <p:sp>
        <p:nvSpPr>
          <p:cNvPr id="571" name="11">
            <a:extLst>
              <a:ext uri="{FF2B5EF4-FFF2-40B4-BE49-F238E27FC236}">
                <a16:creationId xmlns:a16="http://schemas.microsoft.com/office/drawing/2014/main" id="{4BDAA861-5F1F-4ADD-8392-6EE98E1A018C}"/>
              </a:ext>
            </a:extLst>
          </p:cNvPr>
          <p:cNvSpPr>
            <a:spLocks noGrp="1"/>
          </p:cNvSpPr>
          <p:nvPr/>
        </p:nvSpPr>
        <p:spPr>
          <a:xfrm>
            <a:off x="5295900" y="4914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72" name="Rectangle 571">
            <a:extLst>
              <a:ext uri="{FF2B5EF4-FFF2-40B4-BE49-F238E27FC236}">
                <a16:creationId xmlns:a16="http://schemas.microsoft.com/office/drawing/2014/main" id="{30E8E8AF-CCAE-4C9C-8B73-8341C0462CFC}"/>
              </a:ext>
            </a:extLst>
          </p:cNvPr>
          <p:cNvSpPr>
            <a:spLocks noGrp="1"/>
          </p:cNvSpPr>
          <p:nvPr/>
        </p:nvSpPr>
        <p:spPr>
          <a:xfrm>
            <a:off x="6048375" y="4705350"/>
            <a:ext cx="742950" cy="742950"/>
          </a:xfrm>
          <a:prstGeom prst="rect">
            <a:avLst/>
          </a:prstGeom>
          <a:solidFill>
            <a:srgbClr val="F2F2F2"/>
          </a:solidFill>
          <a:ln w="0">
            <a:noFill/>
          </a:ln>
        </p:spPr>
        <p:txBody>
          <a:bodyPr/>
          <a:lstStyle/>
          <a:p>
            <a:endParaRPr lang="en-US"/>
          </a:p>
        </p:txBody>
      </p:sp>
      <p:sp>
        <p:nvSpPr>
          <p:cNvPr id="573" name="8">
            <a:extLst>
              <a:ext uri="{FF2B5EF4-FFF2-40B4-BE49-F238E27FC236}">
                <a16:creationId xmlns:a16="http://schemas.microsoft.com/office/drawing/2014/main" id="{E6D1C492-E574-4A52-837C-FFCEA1B0A847}"/>
              </a:ext>
            </a:extLst>
          </p:cNvPr>
          <p:cNvSpPr>
            <a:spLocks noGrp="1"/>
          </p:cNvSpPr>
          <p:nvPr/>
        </p:nvSpPr>
        <p:spPr>
          <a:xfrm>
            <a:off x="6057900" y="4914900"/>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9</a:t>
            </a:r>
          </a:p>
        </p:txBody>
      </p:sp>
      <p:sp>
        <p:nvSpPr>
          <p:cNvPr id="574" name="Rectangle 573">
            <a:extLst>
              <a:ext uri="{FF2B5EF4-FFF2-40B4-BE49-F238E27FC236}">
                <a16:creationId xmlns:a16="http://schemas.microsoft.com/office/drawing/2014/main" id="{A884B5B1-E26D-4A60-83F5-3CFA9D31F593}"/>
              </a:ext>
            </a:extLst>
          </p:cNvPr>
          <p:cNvSpPr>
            <a:spLocks noGrp="1"/>
          </p:cNvSpPr>
          <p:nvPr/>
        </p:nvSpPr>
        <p:spPr>
          <a:xfrm>
            <a:off x="6810375" y="4705350"/>
            <a:ext cx="742950" cy="742950"/>
          </a:xfrm>
          <a:prstGeom prst="rect">
            <a:avLst/>
          </a:prstGeom>
          <a:solidFill>
            <a:srgbClr val="DBEAF7"/>
          </a:solidFill>
          <a:ln w="0">
            <a:noFill/>
          </a:ln>
        </p:spPr>
        <p:txBody>
          <a:bodyPr/>
          <a:lstStyle/>
          <a:p>
            <a:endParaRPr lang="en-US"/>
          </a:p>
        </p:txBody>
      </p:sp>
      <p:sp>
        <p:nvSpPr>
          <p:cNvPr id="575" name="28">
            <a:extLst>
              <a:ext uri="{FF2B5EF4-FFF2-40B4-BE49-F238E27FC236}">
                <a16:creationId xmlns:a16="http://schemas.microsoft.com/office/drawing/2014/main" id="{C77C9DE1-EA68-4295-AB28-B83DF1AE7A34}"/>
              </a:ext>
            </a:extLst>
          </p:cNvPr>
          <p:cNvSpPr>
            <a:spLocks noGrp="1"/>
          </p:cNvSpPr>
          <p:nvPr/>
        </p:nvSpPr>
        <p:spPr>
          <a:xfrm>
            <a:off x="6819900" y="4914900"/>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26</a:t>
            </a:r>
          </a:p>
        </p:txBody>
      </p:sp>
      <p:sp>
        <p:nvSpPr>
          <p:cNvPr id="576" name="C0  &lt; 3.20&#10;C1  3.20–3.49&#10;C2  3.50–3.74&#10;C3  ≥ 3.75">
            <a:extLst>
              <a:ext uri="{FF2B5EF4-FFF2-40B4-BE49-F238E27FC236}">
                <a16:creationId xmlns:a16="http://schemas.microsoft.com/office/drawing/2014/main" id="{535EE8C2-4DFB-4CD7-B1AC-773F48E1187F}"/>
              </a:ext>
            </a:extLst>
          </p:cNvPr>
          <p:cNvSpPr>
            <a:spLocks noGrp="1"/>
          </p:cNvSpPr>
          <p:nvPr/>
        </p:nvSpPr>
        <p:spPr>
          <a:xfrm>
            <a:off x="400050" y="2438400"/>
            <a:ext cx="3143250" cy="21907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C0  &lt; 3.20</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C1  3.20–3.49</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C2  3.50–3.74</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C3  ≥ 3.75</a:t>
            </a:r>
          </a:p>
        </p:txBody>
      </p:sp>
      <p:sp>
        <p:nvSpPr>
          <p:cNvPr id="577" name="Rows = actual class. Columns = predicted class. Blue ce">
            <a:extLst>
              <a:ext uri="{FF2B5EF4-FFF2-40B4-BE49-F238E27FC236}">
                <a16:creationId xmlns:a16="http://schemas.microsoft.com/office/drawing/2014/main" id="{5C5F3199-13B0-4449-A726-1F31AE21599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Rows = actual class. Columns = predicted class. Blue cells are correct predictions.</a:t>
            </a:r>
          </a:p>
        </p:txBody>
      </p:sp>
    </p:spTree>
    <p:extLst>
      <p:ext uri="{BB962C8B-B14F-4D97-AF65-F5344CB8AC3E}">
        <p14:creationId xmlns:p14="http://schemas.microsoft.com/office/powerpoint/2010/main" val="12714283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24B9-BD3A-A586-FEC5-E85AC0E7E2F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070B9BC-05FD-5178-EB21-FB6A45DF6294}"/>
              </a:ext>
            </a:extLst>
          </p:cNvPr>
          <p:cNvPicPr>
            <a:picLocks noChangeAspect="1"/>
          </p:cNvPicPr>
          <p:nvPr/>
        </p:nvPicPr>
        <p:blipFill>
          <a:blip r:embed="rId3"/>
          <a:stretch>
            <a:fillRect/>
          </a:stretch>
        </p:blipFill>
        <p:spPr>
          <a:xfrm>
            <a:off x="4667250" y="0"/>
            <a:ext cx="7538677" cy="6858000"/>
          </a:xfrm>
          <a:prstGeom prst="rect">
            <a:avLst/>
          </a:prstGeom>
        </p:spPr>
      </p:pic>
      <p:sp>
        <p:nvSpPr>
          <p:cNvPr id="532" name="Google Shape;532;p58">
            <a:extLst>
              <a:ext uri="{FF2B5EF4-FFF2-40B4-BE49-F238E27FC236}">
                <a16:creationId xmlns:a16="http://schemas.microsoft.com/office/drawing/2014/main" id="{CDFBC4AD-E759-37B5-7CA7-3F46A91B1493}"/>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40</a:t>
            </a:r>
          </a:p>
        </p:txBody>
      </p:sp>
      <p:sp>
        <p:nvSpPr>
          <p:cNvPr id="533" name="Google Shape;533;p58">
            <a:extLst>
              <a:ext uri="{FF2B5EF4-FFF2-40B4-BE49-F238E27FC236}">
                <a16:creationId xmlns:a16="http://schemas.microsoft.com/office/drawing/2014/main" id="{06140CDF-1C3B-050F-C46B-D5305F348605}"/>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WEKA </a:t>
            </a:r>
            <a:r>
              <a:rPr lang="en-US" sz="3000" dirty="0">
                <a:latin typeface="Times New Roman"/>
                <a:ea typeface="Times New Roman"/>
                <a:cs typeface="Times New Roman"/>
              </a:rPr>
              <a:t>j48 matrix</a:t>
            </a:r>
            <a:endParaRPr sz="3000" dirty="0">
              <a:latin typeface="Times New Roman"/>
              <a:ea typeface="Times New Roman"/>
              <a:cs typeface="Times New Roman"/>
            </a:endParaRPr>
          </a:p>
        </p:txBody>
      </p:sp>
      <p:sp>
        <p:nvSpPr>
          <p:cNvPr id="534" name="Random Forest">
            <a:extLst>
              <a:ext uri="{FF2B5EF4-FFF2-40B4-BE49-F238E27FC236}">
                <a16:creationId xmlns:a16="http://schemas.microsoft.com/office/drawing/2014/main" id="{B27672C1-9CC1-AC42-C0E4-0A300198181A}"/>
              </a:ext>
            </a:extLst>
          </p:cNvPr>
          <p:cNvSpPr>
            <a:spLocks noGrp="1"/>
          </p:cNvSpPr>
          <p:nvPr/>
        </p:nvSpPr>
        <p:spPr>
          <a:xfrm>
            <a:off x="66675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lang="en-US" sz="1875" dirty="0">
                <a:solidFill>
                  <a:srgbClr val="121212"/>
                </a:solidFill>
                <a:latin typeface="Times New Roman"/>
                <a:ea typeface="Times New Roman"/>
                <a:cs typeface="Times New Roman"/>
              </a:rPr>
              <a:t>J48 5-fold</a:t>
            </a:r>
            <a:endParaRPr sz="1875" b="0" dirty="0">
              <a:solidFill>
                <a:srgbClr val="121212"/>
              </a:solidFill>
              <a:latin typeface="Times New Roman"/>
              <a:ea typeface="Times New Roman"/>
              <a:cs typeface="Times New Roman"/>
            </a:endParaRPr>
          </a:p>
        </p:txBody>
      </p:sp>
      <p:sp>
        <p:nvSpPr>
          <p:cNvPr id="535" name="Predicted">
            <a:extLst>
              <a:ext uri="{FF2B5EF4-FFF2-40B4-BE49-F238E27FC236}">
                <a16:creationId xmlns:a16="http://schemas.microsoft.com/office/drawing/2014/main" id="{D49295E7-FB43-EC04-AD9C-25089C4F9969}"/>
              </a:ext>
            </a:extLst>
          </p:cNvPr>
          <p:cNvSpPr>
            <a:spLocks noGrp="1"/>
          </p:cNvSpPr>
          <p:nvPr/>
        </p:nvSpPr>
        <p:spPr>
          <a:xfrm>
            <a:off x="161925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D0ABB885-7111-269D-1737-78475A7108E7}"/>
              </a:ext>
            </a:extLst>
          </p:cNvPr>
          <p:cNvSpPr>
            <a:spLocks noGrp="1"/>
          </p:cNvSpPr>
          <p:nvPr/>
        </p:nvSpPr>
        <p:spPr>
          <a:xfrm>
            <a:off x="1476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5D82E3B1-EEE5-68B2-DBD0-6AA5366AFC56}"/>
              </a:ext>
            </a:extLst>
          </p:cNvPr>
          <p:cNvSpPr>
            <a:spLocks noGrp="1"/>
          </p:cNvSpPr>
          <p:nvPr/>
        </p:nvSpPr>
        <p:spPr>
          <a:xfrm>
            <a:off x="76200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596B927A-C407-B25C-179F-163732CB12A2}"/>
              </a:ext>
            </a:extLst>
          </p:cNvPr>
          <p:cNvSpPr>
            <a:spLocks noGrp="1"/>
          </p:cNvSpPr>
          <p:nvPr/>
        </p:nvSpPr>
        <p:spPr>
          <a:xfrm>
            <a:off x="2238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E607764C-49B0-1971-E5C5-E4E19422BBD5}"/>
              </a:ext>
            </a:extLst>
          </p:cNvPr>
          <p:cNvSpPr>
            <a:spLocks noGrp="1"/>
          </p:cNvSpPr>
          <p:nvPr/>
        </p:nvSpPr>
        <p:spPr>
          <a:xfrm>
            <a:off x="76200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6A88644D-2E88-0D0E-1274-860DB7D347A6}"/>
              </a:ext>
            </a:extLst>
          </p:cNvPr>
          <p:cNvSpPr>
            <a:spLocks noGrp="1"/>
          </p:cNvSpPr>
          <p:nvPr/>
        </p:nvSpPr>
        <p:spPr>
          <a:xfrm>
            <a:off x="3000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269AC4DB-C322-1B94-DCB1-BE2E2ACDBFB0}"/>
              </a:ext>
            </a:extLst>
          </p:cNvPr>
          <p:cNvSpPr>
            <a:spLocks noGrp="1"/>
          </p:cNvSpPr>
          <p:nvPr/>
        </p:nvSpPr>
        <p:spPr>
          <a:xfrm>
            <a:off x="76200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FF80F44A-0D32-D469-5A77-A6E3D7949302}"/>
              </a:ext>
            </a:extLst>
          </p:cNvPr>
          <p:cNvSpPr>
            <a:spLocks noGrp="1"/>
          </p:cNvSpPr>
          <p:nvPr/>
        </p:nvSpPr>
        <p:spPr>
          <a:xfrm>
            <a:off x="3762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D590A210-3886-63DC-66B6-7654335A2F19}"/>
              </a:ext>
            </a:extLst>
          </p:cNvPr>
          <p:cNvSpPr>
            <a:spLocks noGrp="1"/>
          </p:cNvSpPr>
          <p:nvPr/>
        </p:nvSpPr>
        <p:spPr>
          <a:xfrm>
            <a:off x="76200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EA049DB9-1E0A-B723-8469-903123DB53CC}"/>
              </a:ext>
            </a:extLst>
          </p:cNvPr>
          <p:cNvSpPr>
            <a:spLocks noGrp="1"/>
          </p:cNvSpPr>
          <p:nvPr/>
        </p:nvSpPr>
        <p:spPr>
          <a:xfrm>
            <a:off x="1381125" y="2733675"/>
            <a:ext cx="742950" cy="742950"/>
          </a:xfrm>
          <a:prstGeom prst="rect">
            <a:avLst/>
          </a:prstGeom>
          <a:solidFill>
            <a:srgbClr val="DBEAF7"/>
          </a:solidFill>
          <a:ln w="0">
            <a:noFill/>
          </a:ln>
        </p:spPr>
        <p:txBody>
          <a:bodyPr/>
          <a:lstStyle/>
          <a:p>
            <a:endParaRPr lang="en-US"/>
          </a:p>
        </p:txBody>
      </p:sp>
      <p:sp>
        <p:nvSpPr>
          <p:cNvPr id="545" name="95">
            <a:extLst>
              <a:ext uri="{FF2B5EF4-FFF2-40B4-BE49-F238E27FC236}">
                <a16:creationId xmlns:a16="http://schemas.microsoft.com/office/drawing/2014/main" id="{7A668914-ECFB-5285-19CA-CEDDF6094EC9}"/>
              </a:ext>
            </a:extLst>
          </p:cNvPr>
          <p:cNvSpPr>
            <a:spLocks noGrp="1"/>
          </p:cNvSpPr>
          <p:nvPr/>
        </p:nvSpPr>
        <p:spPr>
          <a:xfrm>
            <a:off x="139065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dirty="0">
                <a:solidFill>
                  <a:srgbClr val="121212"/>
                </a:solidFill>
                <a:latin typeface="Times New Roman"/>
                <a:ea typeface="Times New Roman"/>
                <a:cs typeface="Times New Roman"/>
              </a:rPr>
              <a:t>10</a:t>
            </a:r>
            <a:r>
              <a:rPr lang="en-US" sz="1725" b="1" dirty="0">
                <a:solidFill>
                  <a:srgbClr val="121212"/>
                </a:solidFill>
                <a:latin typeface="Times New Roman"/>
                <a:ea typeface="Times New Roman"/>
                <a:cs typeface="Times New Roman"/>
              </a:rPr>
              <a:t>2</a:t>
            </a:r>
            <a:endParaRPr sz="1725" b="1" dirty="0">
              <a:solidFill>
                <a:srgbClr val="121212"/>
              </a:solidFill>
              <a:latin typeface="Times New Roman"/>
              <a:ea typeface="Times New Roman"/>
              <a:cs typeface="Times New Roman"/>
            </a:endParaRPr>
          </a:p>
        </p:txBody>
      </p:sp>
      <p:sp>
        <p:nvSpPr>
          <p:cNvPr id="546" name="Rectangle 545">
            <a:extLst>
              <a:ext uri="{FF2B5EF4-FFF2-40B4-BE49-F238E27FC236}">
                <a16:creationId xmlns:a16="http://schemas.microsoft.com/office/drawing/2014/main" id="{37ADF6D4-0D04-398F-72AC-A63B0E5CCDA0}"/>
              </a:ext>
            </a:extLst>
          </p:cNvPr>
          <p:cNvSpPr>
            <a:spLocks noGrp="1"/>
          </p:cNvSpPr>
          <p:nvPr/>
        </p:nvSpPr>
        <p:spPr>
          <a:xfrm>
            <a:off x="2143125" y="2733675"/>
            <a:ext cx="742950" cy="742950"/>
          </a:xfrm>
          <a:prstGeom prst="rect">
            <a:avLst/>
          </a:prstGeom>
          <a:solidFill>
            <a:srgbClr val="F2F2F2"/>
          </a:solidFill>
          <a:ln w="0">
            <a:noFill/>
          </a:ln>
        </p:spPr>
        <p:txBody>
          <a:bodyPr/>
          <a:lstStyle/>
          <a:p>
            <a:endParaRPr lang="en-US"/>
          </a:p>
        </p:txBody>
      </p:sp>
      <p:sp>
        <p:nvSpPr>
          <p:cNvPr id="547" name="81">
            <a:extLst>
              <a:ext uri="{FF2B5EF4-FFF2-40B4-BE49-F238E27FC236}">
                <a16:creationId xmlns:a16="http://schemas.microsoft.com/office/drawing/2014/main" id="{F5FBA3D8-AAF0-2879-D8F3-E9305761B822}"/>
              </a:ext>
            </a:extLst>
          </p:cNvPr>
          <p:cNvSpPr>
            <a:spLocks noGrp="1"/>
          </p:cNvSpPr>
          <p:nvPr/>
        </p:nvSpPr>
        <p:spPr>
          <a:xfrm>
            <a:off x="2152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dirty="0">
                <a:solidFill>
                  <a:srgbClr val="121212"/>
                </a:solidFill>
                <a:latin typeface="Times New Roman"/>
                <a:ea typeface="Times New Roman"/>
                <a:cs typeface="Times New Roman"/>
              </a:rPr>
              <a:t>5</a:t>
            </a:r>
            <a:r>
              <a:rPr lang="en-US" sz="1725" b="0" dirty="0">
                <a:solidFill>
                  <a:srgbClr val="121212"/>
                </a:solidFill>
                <a:latin typeface="Times New Roman"/>
                <a:ea typeface="Times New Roman"/>
                <a:cs typeface="Times New Roman"/>
              </a:rPr>
              <a:t>9</a:t>
            </a:r>
            <a:endParaRPr sz="1725" b="0" dirty="0">
              <a:solidFill>
                <a:srgbClr val="121212"/>
              </a:solidFill>
              <a:latin typeface="Times New Roman"/>
              <a:ea typeface="Times New Roman"/>
              <a:cs typeface="Times New Roman"/>
            </a:endParaRPr>
          </a:p>
        </p:txBody>
      </p:sp>
      <p:sp>
        <p:nvSpPr>
          <p:cNvPr id="548" name="Rectangle 547">
            <a:extLst>
              <a:ext uri="{FF2B5EF4-FFF2-40B4-BE49-F238E27FC236}">
                <a16:creationId xmlns:a16="http://schemas.microsoft.com/office/drawing/2014/main" id="{C23091AB-2711-8564-F081-C8895EA591E9}"/>
              </a:ext>
            </a:extLst>
          </p:cNvPr>
          <p:cNvSpPr>
            <a:spLocks noGrp="1"/>
          </p:cNvSpPr>
          <p:nvPr/>
        </p:nvSpPr>
        <p:spPr>
          <a:xfrm>
            <a:off x="2905125" y="2733675"/>
            <a:ext cx="742950" cy="742950"/>
          </a:xfrm>
          <a:prstGeom prst="rect">
            <a:avLst/>
          </a:prstGeom>
          <a:solidFill>
            <a:srgbClr val="F2F2F2"/>
          </a:solidFill>
          <a:ln w="0">
            <a:noFill/>
          </a:ln>
        </p:spPr>
        <p:txBody>
          <a:bodyPr/>
          <a:lstStyle/>
          <a:p>
            <a:endParaRPr lang="en-US" dirty="0"/>
          </a:p>
        </p:txBody>
      </p:sp>
      <p:sp>
        <p:nvSpPr>
          <p:cNvPr id="549" name="26">
            <a:extLst>
              <a:ext uri="{FF2B5EF4-FFF2-40B4-BE49-F238E27FC236}">
                <a16:creationId xmlns:a16="http://schemas.microsoft.com/office/drawing/2014/main" id="{FA6E5243-C2F8-5871-12D6-F9F75E59327A}"/>
              </a:ext>
            </a:extLst>
          </p:cNvPr>
          <p:cNvSpPr>
            <a:spLocks noGrp="1"/>
          </p:cNvSpPr>
          <p:nvPr/>
        </p:nvSpPr>
        <p:spPr>
          <a:xfrm>
            <a:off x="2914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dirty="0">
                <a:solidFill>
                  <a:srgbClr val="121212"/>
                </a:solidFill>
                <a:latin typeface="Times New Roman"/>
                <a:ea typeface="Times New Roman"/>
                <a:cs typeface="Times New Roman"/>
              </a:rPr>
              <a:t>11</a:t>
            </a:r>
            <a:endParaRPr sz="1725" b="0" dirty="0">
              <a:solidFill>
                <a:srgbClr val="121212"/>
              </a:solidFill>
              <a:latin typeface="Times New Roman"/>
              <a:ea typeface="Times New Roman"/>
              <a:cs typeface="Times New Roman"/>
            </a:endParaRPr>
          </a:p>
        </p:txBody>
      </p:sp>
      <p:sp>
        <p:nvSpPr>
          <p:cNvPr id="550" name="Rectangle 549">
            <a:extLst>
              <a:ext uri="{FF2B5EF4-FFF2-40B4-BE49-F238E27FC236}">
                <a16:creationId xmlns:a16="http://schemas.microsoft.com/office/drawing/2014/main" id="{6E3C3A03-6532-7D2E-6EA8-41640902D6C7}"/>
              </a:ext>
            </a:extLst>
          </p:cNvPr>
          <p:cNvSpPr>
            <a:spLocks noGrp="1"/>
          </p:cNvSpPr>
          <p:nvPr/>
        </p:nvSpPr>
        <p:spPr>
          <a:xfrm>
            <a:off x="3667125" y="2733675"/>
            <a:ext cx="742950" cy="742950"/>
          </a:xfrm>
          <a:prstGeom prst="rect">
            <a:avLst/>
          </a:prstGeom>
          <a:solidFill>
            <a:srgbClr val="F2F2F2"/>
          </a:solidFill>
          <a:ln w="0">
            <a:noFill/>
          </a:ln>
        </p:spPr>
        <p:txBody>
          <a:bodyPr/>
          <a:lstStyle/>
          <a:p>
            <a:endParaRPr lang="en-US" dirty="0"/>
          </a:p>
        </p:txBody>
      </p:sp>
      <p:sp>
        <p:nvSpPr>
          <p:cNvPr id="551" name="34">
            <a:extLst>
              <a:ext uri="{FF2B5EF4-FFF2-40B4-BE49-F238E27FC236}">
                <a16:creationId xmlns:a16="http://schemas.microsoft.com/office/drawing/2014/main" id="{66166DBE-A596-D406-CCC7-51DFB37B68CC}"/>
              </a:ext>
            </a:extLst>
          </p:cNvPr>
          <p:cNvSpPr>
            <a:spLocks noGrp="1"/>
          </p:cNvSpPr>
          <p:nvPr/>
        </p:nvSpPr>
        <p:spPr>
          <a:xfrm>
            <a:off x="3676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10</a:t>
            </a:r>
            <a:endParaRPr sz="1725" b="0" dirty="0">
              <a:solidFill>
                <a:srgbClr val="121212"/>
              </a:solidFill>
              <a:latin typeface="Times New Roman"/>
              <a:ea typeface="Times New Roman"/>
              <a:cs typeface="Times New Roman"/>
            </a:endParaRPr>
          </a:p>
        </p:txBody>
      </p:sp>
      <p:sp>
        <p:nvSpPr>
          <p:cNvPr id="552" name="Rectangle 551">
            <a:extLst>
              <a:ext uri="{FF2B5EF4-FFF2-40B4-BE49-F238E27FC236}">
                <a16:creationId xmlns:a16="http://schemas.microsoft.com/office/drawing/2014/main" id="{0A44E9AE-CD25-B529-CDE8-08F874EEB353}"/>
              </a:ext>
            </a:extLst>
          </p:cNvPr>
          <p:cNvSpPr>
            <a:spLocks noGrp="1"/>
          </p:cNvSpPr>
          <p:nvPr/>
        </p:nvSpPr>
        <p:spPr>
          <a:xfrm>
            <a:off x="1381125" y="3495675"/>
            <a:ext cx="742950" cy="742950"/>
          </a:xfrm>
          <a:prstGeom prst="rect">
            <a:avLst/>
          </a:prstGeom>
          <a:solidFill>
            <a:srgbClr val="F2F2F2"/>
          </a:solidFill>
          <a:ln w="0">
            <a:noFill/>
          </a:ln>
        </p:spPr>
        <p:txBody>
          <a:bodyPr/>
          <a:lstStyle/>
          <a:p>
            <a:endParaRPr lang="en-US"/>
          </a:p>
        </p:txBody>
      </p:sp>
      <p:sp>
        <p:nvSpPr>
          <p:cNvPr id="553" name="57">
            <a:extLst>
              <a:ext uri="{FF2B5EF4-FFF2-40B4-BE49-F238E27FC236}">
                <a16:creationId xmlns:a16="http://schemas.microsoft.com/office/drawing/2014/main" id="{07CA7396-972D-C9C5-5E25-0DDDA431DCF2}"/>
              </a:ext>
            </a:extLst>
          </p:cNvPr>
          <p:cNvSpPr>
            <a:spLocks noGrp="1"/>
          </p:cNvSpPr>
          <p:nvPr/>
        </p:nvSpPr>
        <p:spPr>
          <a:xfrm>
            <a:off x="1390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dirty="0">
                <a:solidFill>
                  <a:srgbClr val="121212"/>
                </a:solidFill>
                <a:latin typeface="Times New Roman"/>
                <a:ea typeface="Times New Roman"/>
                <a:cs typeface="Times New Roman"/>
              </a:rPr>
              <a:t>49</a:t>
            </a:r>
            <a:endParaRPr sz="1725" b="0" dirty="0">
              <a:solidFill>
                <a:srgbClr val="121212"/>
              </a:solidFill>
              <a:latin typeface="Times New Roman"/>
              <a:ea typeface="Times New Roman"/>
              <a:cs typeface="Times New Roman"/>
            </a:endParaRPr>
          </a:p>
        </p:txBody>
      </p:sp>
      <p:sp>
        <p:nvSpPr>
          <p:cNvPr id="554" name="Rectangle 553">
            <a:extLst>
              <a:ext uri="{FF2B5EF4-FFF2-40B4-BE49-F238E27FC236}">
                <a16:creationId xmlns:a16="http://schemas.microsoft.com/office/drawing/2014/main" id="{7A05F2EC-10DD-51E6-4A0B-AC0F5B785729}"/>
              </a:ext>
            </a:extLst>
          </p:cNvPr>
          <p:cNvSpPr>
            <a:spLocks noGrp="1"/>
          </p:cNvSpPr>
          <p:nvPr/>
        </p:nvSpPr>
        <p:spPr>
          <a:xfrm>
            <a:off x="2143125" y="3495675"/>
            <a:ext cx="742950" cy="742950"/>
          </a:xfrm>
          <a:prstGeom prst="rect">
            <a:avLst/>
          </a:prstGeom>
          <a:solidFill>
            <a:srgbClr val="DBEAF7"/>
          </a:solidFill>
          <a:ln w="0">
            <a:noFill/>
          </a:ln>
        </p:spPr>
        <p:txBody>
          <a:bodyPr/>
          <a:lstStyle/>
          <a:p>
            <a:endParaRPr lang="en-US" dirty="0"/>
          </a:p>
        </p:txBody>
      </p:sp>
      <p:sp>
        <p:nvSpPr>
          <p:cNvPr id="555" name="159">
            <a:extLst>
              <a:ext uri="{FF2B5EF4-FFF2-40B4-BE49-F238E27FC236}">
                <a16:creationId xmlns:a16="http://schemas.microsoft.com/office/drawing/2014/main" id="{B0318984-FC82-CDAB-7852-2767CFF8A44E}"/>
              </a:ext>
            </a:extLst>
          </p:cNvPr>
          <p:cNvSpPr>
            <a:spLocks noGrp="1"/>
          </p:cNvSpPr>
          <p:nvPr/>
        </p:nvSpPr>
        <p:spPr>
          <a:xfrm>
            <a:off x="215265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lang="en-US" sz="1725" b="1" dirty="0">
                <a:solidFill>
                  <a:srgbClr val="121212"/>
                </a:solidFill>
                <a:latin typeface="Times New Roman"/>
                <a:ea typeface="Times New Roman"/>
                <a:cs typeface="Times New Roman"/>
              </a:rPr>
              <a:t>155</a:t>
            </a:r>
            <a:endParaRPr sz="1725" b="1" dirty="0">
              <a:solidFill>
                <a:srgbClr val="121212"/>
              </a:solidFill>
              <a:latin typeface="Times New Roman"/>
              <a:ea typeface="Times New Roman"/>
              <a:cs typeface="Times New Roman"/>
            </a:endParaRPr>
          </a:p>
        </p:txBody>
      </p:sp>
      <p:sp>
        <p:nvSpPr>
          <p:cNvPr id="556" name="Rectangle 555">
            <a:extLst>
              <a:ext uri="{FF2B5EF4-FFF2-40B4-BE49-F238E27FC236}">
                <a16:creationId xmlns:a16="http://schemas.microsoft.com/office/drawing/2014/main" id="{CFD94703-A30F-9166-C549-6179BD96EEF8}"/>
              </a:ext>
            </a:extLst>
          </p:cNvPr>
          <p:cNvSpPr>
            <a:spLocks noGrp="1"/>
          </p:cNvSpPr>
          <p:nvPr/>
        </p:nvSpPr>
        <p:spPr>
          <a:xfrm>
            <a:off x="2905125" y="3495675"/>
            <a:ext cx="742950" cy="742950"/>
          </a:xfrm>
          <a:prstGeom prst="rect">
            <a:avLst/>
          </a:prstGeom>
          <a:solidFill>
            <a:srgbClr val="F2F2F2"/>
          </a:solidFill>
          <a:ln w="0">
            <a:noFill/>
          </a:ln>
        </p:spPr>
        <p:txBody>
          <a:bodyPr/>
          <a:lstStyle/>
          <a:p>
            <a:endParaRPr lang="en-US"/>
          </a:p>
        </p:txBody>
      </p:sp>
      <p:sp>
        <p:nvSpPr>
          <p:cNvPr id="557" name="71">
            <a:extLst>
              <a:ext uri="{FF2B5EF4-FFF2-40B4-BE49-F238E27FC236}">
                <a16:creationId xmlns:a16="http://schemas.microsoft.com/office/drawing/2014/main" id="{9B425384-ECBB-CA82-7B76-27563C01802B}"/>
              </a:ext>
            </a:extLst>
          </p:cNvPr>
          <p:cNvSpPr>
            <a:spLocks noGrp="1"/>
          </p:cNvSpPr>
          <p:nvPr/>
        </p:nvSpPr>
        <p:spPr>
          <a:xfrm>
            <a:off x="2914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66</a:t>
            </a:r>
            <a:endParaRPr sz="1725" b="0" dirty="0">
              <a:solidFill>
                <a:srgbClr val="121212"/>
              </a:solidFill>
              <a:latin typeface="Times New Roman"/>
              <a:ea typeface="Times New Roman"/>
              <a:cs typeface="Times New Roman"/>
            </a:endParaRPr>
          </a:p>
        </p:txBody>
      </p:sp>
      <p:sp>
        <p:nvSpPr>
          <p:cNvPr id="558" name="Rectangle 557">
            <a:extLst>
              <a:ext uri="{FF2B5EF4-FFF2-40B4-BE49-F238E27FC236}">
                <a16:creationId xmlns:a16="http://schemas.microsoft.com/office/drawing/2014/main" id="{33ADB4CB-ED36-58A9-DF33-87AA3799B042}"/>
              </a:ext>
            </a:extLst>
          </p:cNvPr>
          <p:cNvSpPr>
            <a:spLocks noGrp="1"/>
          </p:cNvSpPr>
          <p:nvPr/>
        </p:nvSpPr>
        <p:spPr>
          <a:xfrm>
            <a:off x="3667125" y="3495675"/>
            <a:ext cx="742950" cy="742950"/>
          </a:xfrm>
          <a:prstGeom prst="rect">
            <a:avLst/>
          </a:prstGeom>
          <a:solidFill>
            <a:srgbClr val="F2F2F2"/>
          </a:solidFill>
          <a:ln w="0">
            <a:noFill/>
          </a:ln>
        </p:spPr>
        <p:txBody>
          <a:bodyPr/>
          <a:lstStyle/>
          <a:p>
            <a:endParaRPr lang="en-US"/>
          </a:p>
        </p:txBody>
      </p:sp>
      <p:sp>
        <p:nvSpPr>
          <p:cNvPr id="559" name="33">
            <a:extLst>
              <a:ext uri="{FF2B5EF4-FFF2-40B4-BE49-F238E27FC236}">
                <a16:creationId xmlns:a16="http://schemas.microsoft.com/office/drawing/2014/main" id="{11FCCBDB-A5C9-C5C8-4B0F-73D9B4AC894E}"/>
              </a:ext>
            </a:extLst>
          </p:cNvPr>
          <p:cNvSpPr>
            <a:spLocks noGrp="1"/>
          </p:cNvSpPr>
          <p:nvPr/>
        </p:nvSpPr>
        <p:spPr>
          <a:xfrm>
            <a:off x="3676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14</a:t>
            </a:r>
            <a:endParaRPr sz="1725" b="0" dirty="0">
              <a:solidFill>
                <a:srgbClr val="121212"/>
              </a:solidFill>
              <a:latin typeface="Times New Roman"/>
              <a:ea typeface="Times New Roman"/>
              <a:cs typeface="Times New Roman"/>
            </a:endParaRPr>
          </a:p>
        </p:txBody>
      </p:sp>
      <p:sp>
        <p:nvSpPr>
          <p:cNvPr id="560" name="Rectangle 559">
            <a:extLst>
              <a:ext uri="{FF2B5EF4-FFF2-40B4-BE49-F238E27FC236}">
                <a16:creationId xmlns:a16="http://schemas.microsoft.com/office/drawing/2014/main" id="{6FC7C334-A0FA-1BE7-E000-58BF7C7E62A6}"/>
              </a:ext>
            </a:extLst>
          </p:cNvPr>
          <p:cNvSpPr>
            <a:spLocks noGrp="1"/>
          </p:cNvSpPr>
          <p:nvPr/>
        </p:nvSpPr>
        <p:spPr>
          <a:xfrm>
            <a:off x="1381125" y="4257675"/>
            <a:ext cx="742950" cy="742950"/>
          </a:xfrm>
          <a:prstGeom prst="rect">
            <a:avLst/>
          </a:prstGeom>
          <a:solidFill>
            <a:srgbClr val="F2F2F2"/>
          </a:solidFill>
          <a:ln w="0">
            <a:noFill/>
          </a:ln>
        </p:spPr>
        <p:txBody>
          <a:bodyPr/>
          <a:lstStyle/>
          <a:p>
            <a:endParaRPr lang="en-US"/>
          </a:p>
        </p:txBody>
      </p:sp>
      <p:sp>
        <p:nvSpPr>
          <p:cNvPr id="561" name="47">
            <a:extLst>
              <a:ext uri="{FF2B5EF4-FFF2-40B4-BE49-F238E27FC236}">
                <a16:creationId xmlns:a16="http://schemas.microsoft.com/office/drawing/2014/main" id="{538373E5-6992-5833-A9DC-FBCFE8529007}"/>
              </a:ext>
            </a:extLst>
          </p:cNvPr>
          <p:cNvSpPr>
            <a:spLocks noGrp="1"/>
          </p:cNvSpPr>
          <p:nvPr/>
        </p:nvSpPr>
        <p:spPr>
          <a:xfrm>
            <a:off x="1390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8</a:t>
            </a:r>
            <a:endParaRPr sz="1725" b="0" dirty="0">
              <a:solidFill>
                <a:srgbClr val="121212"/>
              </a:solidFill>
              <a:latin typeface="Times New Roman"/>
              <a:ea typeface="Times New Roman"/>
              <a:cs typeface="Times New Roman"/>
            </a:endParaRPr>
          </a:p>
        </p:txBody>
      </p:sp>
      <p:sp>
        <p:nvSpPr>
          <p:cNvPr id="562" name="Rectangle 561">
            <a:extLst>
              <a:ext uri="{FF2B5EF4-FFF2-40B4-BE49-F238E27FC236}">
                <a16:creationId xmlns:a16="http://schemas.microsoft.com/office/drawing/2014/main" id="{8E80ADEB-555A-4DA0-4028-58DFD3862209}"/>
              </a:ext>
            </a:extLst>
          </p:cNvPr>
          <p:cNvSpPr>
            <a:spLocks noGrp="1"/>
          </p:cNvSpPr>
          <p:nvPr/>
        </p:nvSpPr>
        <p:spPr>
          <a:xfrm>
            <a:off x="2143125" y="4257675"/>
            <a:ext cx="742950" cy="742950"/>
          </a:xfrm>
          <a:prstGeom prst="rect">
            <a:avLst/>
          </a:prstGeom>
          <a:solidFill>
            <a:srgbClr val="F2F2F2"/>
          </a:solidFill>
          <a:ln w="0">
            <a:noFill/>
          </a:ln>
        </p:spPr>
        <p:txBody>
          <a:bodyPr/>
          <a:lstStyle/>
          <a:p>
            <a:endParaRPr lang="en-US"/>
          </a:p>
        </p:txBody>
      </p:sp>
      <p:sp>
        <p:nvSpPr>
          <p:cNvPr id="563" name="79">
            <a:extLst>
              <a:ext uri="{FF2B5EF4-FFF2-40B4-BE49-F238E27FC236}">
                <a16:creationId xmlns:a16="http://schemas.microsoft.com/office/drawing/2014/main" id="{0EC5D3A4-4EF4-C5A6-2AA4-7E44D4F864EA}"/>
              </a:ext>
            </a:extLst>
          </p:cNvPr>
          <p:cNvSpPr>
            <a:spLocks noGrp="1"/>
          </p:cNvSpPr>
          <p:nvPr/>
        </p:nvSpPr>
        <p:spPr>
          <a:xfrm>
            <a:off x="2152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72</a:t>
            </a:r>
            <a:endParaRPr sz="1725" b="0" dirty="0">
              <a:solidFill>
                <a:srgbClr val="121212"/>
              </a:solidFill>
              <a:latin typeface="Times New Roman"/>
              <a:ea typeface="Times New Roman"/>
              <a:cs typeface="Times New Roman"/>
            </a:endParaRPr>
          </a:p>
        </p:txBody>
      </p:sp>
      <p:sp>
        <p:nvSpPr>
          <p:cNvPr id="564" name="Rectangle 563">
            <a:extLst>
              <a:ext uri="{FF2B5EF4-FFF2-40B4-BE49-F238E27FC236}">
                <a16:creationId xmlns:a16="http://schemas.microsoft.com/office/drawing/2014/main" id="{D3AC783D-0D9C-74F5-7E6A-D5169DE3419A}"/>
              </a:ext>
            </a:extLst>
          </p:cNvPr>
          <p:cNvSpPr>
            <a:spLocks noGrp="1"/>
          </p:cNvSpPr>
          <p:nvPr/>
        </p:nvSpPr>
        <p:spPr>
          <a:xfrm>
            <a:off x="2905125" y="4257675"/>
            <a:ext cx="742950" cy="742950"/>
          </a:xfrm>
          <a:prstGeom prst="rect">
            <a:avLst/>
          </a:prstGeom>
          <a:solidFill>
            <a:srgbClr val="DBEAF7"/>
          </a:solidFill>
          <a:ln w="0">
            <a:noFill/>
          </a:ln>
        </p:spPr>
        <p:txBody>
          <a:bodyPr/>
          <a:lstStyle/>
          <a:p>
            <a:endParaRPr lang="en-US"/>
          </a:p>
        </p:txBody>
      </p:sp>
      <p:sp>
        <p:nvSpPr>
          <p:cNvPr id="565" name="126">
            <a:extLst>
              <a:ext uri="{FF2B5EF4-FFF2-40B4-BE49-F238E27FC236}">
                <a16:creationId xmlns:a16="http://schemas.microsoft.com/office/drawing/2014/main" id="{C6487109-0596-DD40-8FED-1071BEEC54AD}"/>
              </a:ext>
            </a:extLst>
          </p:cNvPr>
          <p:cNvSpPr>
            <a:spLocks noGrp="1"/>
          </p:cNvSpPr>
          <p:nvPr/>
        </p:nvSpPr>
        <p:spPr>
          <a:xfrm>
            <a:off x="291465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lang="en-US" sz="1725" b="1" dirty="0">
                <a:solidFill>
                  <a:srgbClr val="121212"/>
                </a:solidFill>
                <a:latin typeface="Times New Roman"/>
                <a:ea typeface="Times New Roman"/>
                <a:cs typeface="Times New Roman"/>
              </a:rPr>
              <a:t>119</a:t>
            </a:r>
            <a:endParaRPr sz="1725" b="1" dirty="0">
              <a:solidFill>
                <a:srgbClr val="121212"/>
              </a:solidFill>
              <a:latin typeface="Times New Roman"/>
              <a:ea typeface="Times New Roman"/>
              <a:cs typeface="Times New Roman"/>
            </a:endParaRPr>
          </a:p>
        </p:txBody>
      </p:sp>
      <p:sp>
        <p:nvSpPr>
          <p:cNvPr id="566" name="Rectangle 565">
            <a:extLst>
              <a:ext uri="{FF2B5EF4-FFF2-40B4-BE49-F238E27FC236}">
                <a16:creationId xmlns:a16="http://schemas.microsoft.com/office/drawing/2014/main" id="{1D8C67CC-0D54-9562-FB88-8F19DB57A51A}"/>
              </a:ext>
            </a:extLst>
          </p:cNvPr>
          <p:cNvSpPr>
            <a:spLocks noGrp="1"/>
          </p:cNvSpPr>
          <p:nvPr/>
        </p:nvSpPr>
        <p:spPr>
          <a:xfrm>
            <a:off x="3667125" y="4257675"/>
            <a:ext cx="742950" cy="742950"/>
          </a:xfrm>
          <a:prstGeom prst="rect">
            <a:avLst/>
          </a:prstGeom>
          <a:solidFill>
            <a:srgbClr val="F2F2F2"/>
          </a:solidFill>
          <a:ln w="0">
            <a:noFill/>
          </a:ln>
        </p:spPr>
        <p:txBody>
          <a:bodyPr/>
          <a:lstStyle/>
          <a:p>
            <a:endParaRPr lang="en-US"/>
          </a:p>
        </p:txBody>
      </p:sp>
      <p:sp>
        <p:nvSpPr>
          <p:cNvPr id="567" name="48">
            <a:extLst>
              <a:ext uri="{FF2B5EF4-FFF2-40B4-BE49-F238E27FC236}">
                <a16:creationId xmlns:a16="http://schemas.microsoft.com/office/drawing/2014/main" id="{0BA07BF7-DD59-70A3-9F06-323118063471}"/>
              </a:ext>
            </a:extLst>
          </p:cNvPr>
          <p:cNvSpPr>
            <a:spLocks noGrp="1"/>
          </p:cNvSpPr>
          <p:nvPr/>
        </p:nvSpPr>
        <p:spPr>
          <a:xfrm>
            <a:off x="3676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65</a:t>
            </a:r>
            <a:endParaRPr sz="1725" b="0" dirty="0">
              <a:solidFill>
                <a:srgbClr val="121212"/>
              </a:solidFill>
              <a:latin typeface="Times New Roman"/>
              <a:ea typeface="Times New Roman"/>
              <a:cs typeface="Times New Roman"/>
            </a:endParaRPr>
          </a:p>
        </p:txBody>
      </p:sp>
      <p:sp>
        <p:nvSpPr>
          <p:cNvPr id="568" name="Rectangle 567">
            <a:extLst>
              <a:ext uri="{FF2B5EF4-FFF2-40B4-BE49-F238E27FC236}">
                <a16:creationId xmlns:a16="http://schemas.microsoft.com/office/drawing/2014/main" id="{DA3BD65A-BDAF-A3EC-60BD-B85B20267048}"/>
              </a:ext>
            </a:extLst>
          </p:cNvPr>
          <p:cNvSpPr>
            <a:spLocks noGrp="1"/>
          </p:cNvSpPr>
          <p:nvPr/>
        </p:nvSpPr>
        <p:spPr>
          <a:xfrm>
            <a:off x="1381125" y="5019675"/>
            <a:ext cx="742950" cy="742950"/>
          </a:xfrm>
          <a:prstGeom prst="rect">
            <a:avLst/>
          </a:prstGeom>
          <a:solidFill>
            <a:srgbClr val="F2F2F2"/>
          </a:solidFill>
          <a:ln w="0">
            <a:noFill/>
          </a:ln>
        </p:spPr>
        <p:txBody>
          <a:bodyPr/>
          <a:lstStyle/>
          <a:p>
            <a:endParaRPr lang="en-US"/>
          </a:p>
        </p:txBody>
      </p:sp>
      <p:sp>
        <p:nvSpPr>
          <p:cNvPr id="569" name="43">
            <a:extLst>
              <a:ext uri="{FF2B5EF4-FFF2-40B4-BE49-F238E27FC236}">
                <a16:creationId xmlns:a16="http://schemas.microsoft.com/office/drawing/2014/main" id="{651ED710-952B-3D80-672F-CEFE30225DF0}"/>
              </a:ext>
            </a:extLst>
          </p:cNvPr>
          <p:cNvSpPr>
            <a:spLocks noGrp="1"/>
          </p:cNvSpPr>
          <p:nvPr/>
        </p:nvSpPr>
        <p:spPr>
          <a:xfrm>
            <a:off x="1390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lang="en-US" sz="1725" b="0" dirty="0">
                <a:solidFill>
                  <a:srgbClr val="121212"/>
                </a:solidFill>
                <a:latin typeface="Times New Roman"/>
                <a:ea typeface="Times New Roman"/>
                <a:cs typeface="Times New Roman"/>
              </a:rPr>
              <a:t>12</a:t>
            </a:r>
            <a:endParaRPr sz="1725" b="0" dirty="0">
              <a:solidFill>
                <a:srgbClr val="121212"/>
              </a:solidFill>
              <a:latin typeface="Times New Roman"/>
              <a:ea typeface="Times New Roman"/>
              <a:cs typeface="Times New Roman"/>
            </a:endParaRPr>
          </a:p>
        </p:txBody>
      </p:sp>
      <p:sp>
        <p:nvSpPr>
          <p:cNvPr id="570" name="Rectangle 569">
            <a:extLst>
              <a:ext uri="{FF2B5EF4-FFF2-40B4-BE49-F238E27FC236}">
                <a16:creationId xmlns:a16="http://schemas.microsoft.com/office/drawing/2014/main" id="{E11968CF-8E0C-D022-062B-69BA1B7DCF39}"/>
              </a:ext>
            </a:extLst>
          </p:cNvPr>
          <p:cNvSpPr>
            <a:spLocks noGrp="1"/>
          </p:cNvSpPr>
          <p:nvPr/>
        </p:nvSpPr>
        <p:spPr>
          <a:xfrm>
            <a:off x="2143125" y="5019675"/>
            <a:ext cx="742950" cy="742950"/>
          </a:xfrm>
          <a:prstGeom prst="rect">
            <a:avLst/>
          </a:prstGeom>
          <a:solidFill>
            <a:srgbClr val="F2F2F2"/>
          </a:solidFill>
          <a:ln w="0">
            <a:noFill/>
          </a:ln>
        </p:spPr>
        <p:txBody>
          <a:bodyPr/>
          <a:lstStyle/>
          <a:p>
            <a:endParaRPr lang="en-US"/>
          </a:p>
        </p:txBody>
      </p:sp>
      <p:sp>
        <p:nvSpPr>
          <p:cNvPr id="571" name="50">
            <a:extLst>
              <a:ext uri="{FF2B5EF4-FFF2-40B4-BE49-F238E27FC236}">
                <a16:creationId xmlns:a16="http://schemas.microsoft.com/office/drawing/2014/main" id="{E15DDD5A-F2C3-E4AA-CBA1-6808D63F5614}"/>
              </a:ext>
            </a:extLst>
          </p:cNvPr>
          <p:cNvSpPr>
            <a:spLocks noGrp="1"/>
          </p:cNvSpPr>
          <p:nvPr/>
        </p:nvSpPr>
        <p:spPr>
          <a:xfrm>
            <a:off x="2152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dirty="0">
                <a:solidFill>
                  <a:srgbClr val="121212"/>
                </a:solidFill>
                <a:latin typeface="Times New Roman"/>
                <a:ea typeface="Times New Roman"/>
                <a:cs typeface="Times New Roman"/>
              </a:rPr>
              <a:t>1</a:t>
            </a:r>
            <a:r>
              <a:rPr lang="en-US" sz="1725" b="0" dirty="0">
                <a:solidFill>
                  <a:srgbClr val="121212"/>
                </a:solidFill>
                <a:latin typeface="Times New Roman"/>
                <a:ea typeface="Times New Roman"/>
                <a:cs typeface="Times New Roman"/>
              </a:rPr>
              <a:t>4</a:t>
            </a:r>
            <a:endParaRPr sz="1725" b="0" dirty="0">
              <a:solidFill>
                <a:srgbClr val="121212"/>
              </a:solidFill>
              <a:latin typeface="Times New Roman"/>
              <a:ea typeface="Times New Roman"/>
              <a:cs typeface="Times New Roman"/>
            </a:endParaRPr>
          </a:p>
        </p:txBody>
      </p:sp>
      <p:sp>
        <p:nvSpPr>
          <p:cNvPr id="572" name="Rectangle 571">
            <a:extLst>
              <a:ext uri="{FF2B5EF4-FFF2-40B4-BE49-F238E27FC236}">
                <a16:creationId xmlns:a16="http://schemas.microsoft.com/office/drawing/2014/main" id="{4F66F7E6-3BDA-0D64-38CB-8A17E44D0460}"/>
              </a:ext>
            </a:extLst>
          </p:cNvPr>
          <p:cNvSpPr>
            <a:spLocks noGrp="1"/>
          </p:cNvSpPr>
          <p:nvPr/>
        </p:nvSpPr>
        <p:spPr>
          <a:xfrm>
            <a:off x="2905125" y="5019675"/>
            <a:ext cx="742950" cy="742950"/>
          </a:xfrm>
          <a:prstGeom prst="rect">
            <a:avLst/>
          </a:prstGeom>
          <a:solidFill>
            <a:srgbClr val="F2F2F2"/>
          </a:solidFill>
          <a:ln w="0">
            <a:noFill/>
          </a:ln>
        </p:spPr>
        <p:txBody>
          <a:bodyPr/>
          <a:lstStyle/>
          <a:p>
            <a:endParaRPr lang="en-US"/>
          </a:p>
        </p:txBody>
      </p:sp>
      <p:sp>
        <p:nvSpPr>
          <p:cNvPr id="573" name="49">
            <a:extLst>
              <a:ext uri="{FF2B5EF4-FFF2-40B4-BE49-F238E27FC236}">
                <a16:creationId xmlns:a16="http://schemas.microsoft.com/office/drawing/2014/main" id="{D5372930-8E94-6DB5-4DF2-27F12E11A64E}"/>
              </a:ext>
            </a:extLst>
          </p:cNvPr>
          <p:cNvSpPr>
            <a:spLocks noGrp="1"/>
          </p:cNvSpPr>
          <p:nvPr/>
        </p:nvSpPr>
        <p:spPr>
          <a:xfrm>
            <a:off x="2914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dirty="0">
                <a:solidFill>
                  <a:srgbClr val="121212"/>
                </a:solidFill>
                <a:latin typeface="Times New Roman"/>
                <a:ea typeface="Times New Roman"/>
                <a:cs typeface="Times New Roman"/>
              </a:rPr>
              <a:t>4</a:t>
            </a:r>
            <a:r>
              <a:rPr lang="en-US" sz="1725" b="0" dirty="0">
                <a:solidFill>
                  <a:srgbClr val="121212"/>
                </a:solidFill>
                <a:latin typeface="Times New Roman"/>
                <a:ea typeface="Times New Roman"/>
                <a:cs typeface="Times New Roman"/>
              </a:rPr>
              <a:t>0</a:t>
            </a:r>
            <a:endParaRPr sz="1725" b="0" dirty="0">
              <a:solidFill>
                <a:srgbClr val="121212"/>
              </a:solidFill>
              <a:latin typeface="Times New Roman"/>
              <a:ea typeface="Times New Roman"/>
              <a:cs typeface="Times New Roman"/>
            </a:endParaRPr>
          </a:p>
        </p:txBody>
      </p:sp>
      <p:sp>
        <p:nvSpPr>
          <p:cNvPr id="574" name="Rectangle 573">
            <a:extLst>
              <a:ext uri="{FF2B5EF4-FFF2-40B4-BE49-F238E27FC236}">
                <a16:creationId xmlns:a16="http://schemas.microsoft.com/office/drawing/2014/main" id="{D28E53E9-D12D-F3CE-3C30-4A59A52B7F0A}"/>
              </a:ext>
            </a:extLst>
          </p:cNvPr>
          <p:cNvSpPr>
            <a:spLocks noGrp="1"/>
          </p:cNvSpPr>
          <p:nvPr/>
        </p:nvSpPr>
        <p:spPr>
          <a:xfrm>
            <a:off x="3667125" y="5019675"/>
            <a:ext cx="742950" cy="742950"/>
          </a:xfrm>
          <a:prstGeom prst="rect">
            <a:avLst/>
          </a:prstGeom>
          <a:solidFill>
            <a:srgbClr val="DBEAF7"/>
          </a:solidFill>
          <a:ln w="0">
            <a:noFill/>
          </a:ln>
        </p:spPr>
        <p:txBody>
          <a:bodyPr/>
          <a:lstStyle/>
          <a:p>
            <a:endParaRPr lang="en-US"/>
          </a:p>
        </p:txBody>
      </p:sp>
      <p:sp>
        <p:nvSpPr>
          <p:cNvPr id="575" name="104">
            <a:extLst>
              <a:ext uri="{FF2B5EF4-FFF2-40B4-BE49-F238E27FC236}">
                <a16:creationId xmlns:a16="http://schemas.microsoft.com/office/drawing/2014/main" id="{D2BCE802-213B-D561-5CFB-6772C8AA74EF}"/>
              </a:ext>
            </a:extLst>
          </p:cNvPr>
          <p:cNvSpPr>
            <a:spLocks noGrp="1"/>
          </p:cNvSpPr>
          <p:nvPr/>
        </p:nvSpPr>
        <p:spPr>
          <a:xfrm>
            <a:off x="367665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lang="en-US" sz="1725" b="1" dirty="0">
                <a:solidFill>
                  <a:srgbClr val="121212"/>
                </a:solidFill>
                <a:latin typeface="Times New Roman"/>
                <a:ea typeface="Times New Roman"/>
                <a:cs typeface="Times New Roman"/>
              </a:rPr>
              <a:t>124</a:t>
            </a:r>
            <a:endParaRPr sz="1725" b="1" dirty="0">
              <a:solidFill>
                <a:srgbClr val="121212"/>
              </a:solidFill>
              <a:latin typeface="Times New Roman"/>
              <a:ea typeface="Times New Roman"/>
              <a:cs typeface="Times New Roman"/>
            </a:endParaRPr>
          </a:p>
        </p:txBody>
      </p:sp>
      <p:sp>
        <p:nvSpPr>
          <p:cNvPr id="618" name="Main CGPA, stratified 10-fold cross-validation, N = 1,1">
            <a:extLst>
              <a:ext uri="{FF2B5EF4-FFF2-40B4-BE49-F238E27FC236}">
                <a16:creationId xmlns:a16="http://schemas.microsoft.com/office/drawing/2014/main" id="{49F4DC53-30CD-5113-0AE8-B59EB974A83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Main CGPA, stratified 5-fold cross-validation, N = 920. </a:t>
            </a:r>
            <a:endParaRPr lang="en-US" sz="1275" b="0" dirty="0">
              <a:solidFill>
                <a:srgbClr val="585858"/>
              </a:solidFill>
              <a:latin typeface="Times New Roman"/>
              <a:ea typeface="Times New Roman"/>
              <a:cs typeface="Times New Roman"/>
            </a:endParaRPr>
          </a:p>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Rows actual, columns predicted.</a:t>
            </a:r>
          </a:p>
        </p:txBody>
      </p:sp>
    </p:spTree>
    <p:extLst>
      <p:ext uri="{BB962C8B-B14F-4D97-AF65-F5344CB8AC3E}">
        <p14:creationId xmlns:p14="http://schemas.microsoft.com/office/powerpoint/2010/main" val="539979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3E4FD-BE67-FC32-F7AA-5FF58C48B5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2F035A-9B60-399F-2063-866146FDA8A1}"/>
              </a:ext>
            </a:extLst>
          </p:cNvPr>
          <p:cNvPicPr>
            <a:picLocks noChangeAspect="1"/>
          </p:cNvPicPr>
          <p:nvPr/>
        </p:nvPicPr>
        <p:blipFill>
          <a:blip r:embed="rId3"/>
          <a:stretch>
            <a:fillRect/>
          </a:stretch>
        </p:blipFill>
        <p:spPr>
          <a:xfrm>
            <a:off x="4667250" y="0"/>
            <a:ext cx="7549816" cy="6858000"/>
          </a:xfrm>
          <a:prstGeom prst="rect">
            <a:avLst/>
          </a:prstGeom>
        </p:spPr>
      </p:pic>
      <p:sp>
        <p:nvSpPr>
          <p:cNvPr id="532" name="Google Shape;532;p58">
            <a:extLst>
              <a:ext uri="{FF2B5EF4-FFF2-40B4-BE49-F238E27FC236}">
                <a16:creationId xmlns:a16="http://schemas.microsoft.com/office/drawing/2014/main" id="{2D009D00-5D45-9FF1-FFC2-0C94A3927EBA}"/>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40</a:t>
            </a:r>
          </a:p>
        </p:txBody>
      </p:sp>
      <p:sp>
        <p:nvSpPr>
          <p:cNvPr id="533" name="Google Shape;533;p58">
            <a:extLst>
              <a:ext uri="{FF2B5EF4-FFF2-40B4-BE49-F238E27FC236}">
                <a16:creationId xmlns:a16="http://schemas.microsoft.com/office/drawing/2014/main" id="{682FF9D4-E93B-B430-7D19-83659FFEB499}"/>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WEKA Random Forest</a:t>
            </a:r>
            <a:br>
              <a:rPr lang="en-US" sz="3000" dirty="0">
                <a:latin typeface="Times New Roman"/>
                <a:ea typeface="Times New Roman"/>
                <a:cs typeface="Times New Roman"/>
              </a:rPr>
            </a:br>
            <a:r>
              <a:rPr lang="en-US" sz="3000" dirty="0">
                <a:latin typeface="Times New Roman"/>
                <a:ea typeface="Times New Roman"/>
                <a:cs typeface="Times New Roman"/>
              </a:rPr>
              <a:t>matrix</a:t>
            </a:r>
            <a:endParaRPr sz="3000" dirty="0">
              <a:latin typeface="Times New Roman"/>
              <a:ea typeface="Times New Roman"/>
              <a:cs typeface="Times New Roman"/>
            </a:endParaRPr>
          </a:p>
        </p:txBody>
      </p:sp>
      <p:sp>
        <p:nvSpPr>
          <p:cNvPr id="534" name="Random Forest">
            <a:extLst>
              <a:ext uri="{FF2B5EF4-FFF2-40B4-BE49-F238E27FC236}">
                <a16:creationId xmlns:a16="http://schemas.microsoft.com/office/drawing/2014/main" id="{E7956764-2BDC-C495-4F31-3D4CC7CA0B35}"/>
              </a:ext>
            </a:extLst>
          </p:cNvPr>
          <p:cNvSpPr>
            <a:spLocks noGrp="1"/>
          </p:cNvSpPr>
          <p:nvPr/>
        </p:nvSpPr>
        <p:spPr>
          <a:xfrm>
            <a:off x="66675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dirty="0">
                <a:solidFill>
                  <a:srgbClr val="121212"/>
                </a:solidFill>
                <a:latin typeface="Times New Roman"/>
                <a:ea typeface="Times New Roman"/>
                <a:cs typeface="Times New Roman"/>
              </a:rPr>
              <a:t>Random Forest</a:t>
            </a:r>
            <a:r>
              <a:rPr lang="en-US" sz="1875" b="0" dirty="0">
                <a:solidFill>
                  <a:srgbClr val="121212"/>
                </a:solidFill>
                <a:latin typeface="Times New Roman"/>
                <a:ea typeface="Times New Roman"/>
                <a:cs typeface="Times New Roman"/>
              </a:rPr>
              <a:t> 5-fold</a:t>
            </a:r>
            <a:endParaRPr sz="1875" b="0" dirty="0">
              <a:solidFill>
                <a:srgbClr val="121212"/>
              </a:solidFill>
              <a:latin typeface="Times New Roman"/>
              <a:ea typeface="Times New Roman"/>
              <a:cs typeface="Times New Roman"/>
            </a:endParaRPr>
          </a:p>
        </p:txBody>
      </p:sp>
      <p:sp>
        <p:nvSpPr>
          <p:cNvPr id="535" name="Predicted">
            <a:extLst>
              <a:ext uri="{FF2B5EF4-FFF2-40B4-BE49-F238E27FC236}">
                <a16:creationId xmlns:a16="http://schemas.microsoft.com/office/drawing/2014/main" id="{06434E18-F05C-8C6A-519A-2EBF4908971B}"/>
              </a:ext>
            </a:extLst>
          </p:cNvPr>
          <p:cNvSpPr>
            <a:spLocks noGrp="1"/>
          </p:cNvSpPr>
          <p:nvPr/>
        </p:nvSpPr>
        <p:spPr>
          <a:xfrm>
            <a:off x="161925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FC991658-85B3-ECB3-0B79-B0D682111D7A}"/>
              </a:ext>
            </a:extLst>
          </p:cNvPr>
          <p:cNvSpPr>
            <a:spLocks noGrp="1"/>
          </p:cNvSpPr>
          <p:nvPr/>
        </p:nvSpPr>
        <p:spPr>
          <a:xfrm>
            <a:off x="1476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5ECEC852-5587-E1A8-33D5-3F41B40A4DBA}"/>
              </a:ext>
            </a:extLst>
          </p:cNvPr>
          <p:cNvSpPr>
            <a:spLocks noGrp="1"/>
          </p:cNvSpPr>
          <p:nvPr/>
        </p:nvSpPr>
        <p:spPr>
          <a:xfrm>
            <a:off x="76200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99FA1740-499B-9019-2B4E-E3AC96B55110}"/>
              </a:ext>
            </a:extLst>
          </p:cNvPr>
          <p:cNvSpPr>
            <a:spLocks noGrp="1"/>
          </p:cNvSpPr>
          <p:nvPr/>
        </p:nvSpPr>
        <p:spPr>
          <a:xfrm>
            <a:off x="2238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43B0538C-B58A-938A-2F31-2E495AA6F109}"/>
              </a:ext>
            </a:extLst>
          </p:cNvPr>
          <p:cNvSpPr>
            <a:spLocks noGrp="1"/>
          </p:cNvSpPr>
          <p:nvPr/>
        </p:nvSpPr>
        <p:spPr>
          <a:xfrm>
            <a:off x="76200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578EC9C3-E14F-362A-368E-73296590BF84}"/>
              </a:ext>
            </a:extLst>
          </p:cNvPr>
          <p:cNvSpPr>
            <a:spLocks noGrp="1"/>
          </p:cNvSpPr>
          <p:nvPr/>
        </p:nvSpPr>
        <p:spPr>
          <a:xfrm>
            <a:off x="3000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4EFD870F-9C33-7D7F-2EB2-20619CE1B45F}"/>
              </a:ext>
            </a:extLst>
          </p:cNvPr>
          <p:cNvSpPr>
            <a:spLocks noGrp="1"/>
          </p:cNvSpPr>
          <p:nvPr/>
        </p:nvSpPr>
        <p:spPr>
          <a:xfrm>
            <a:off x="76200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EEA42276-496E-11FC-B628-106F221A8763}"/>
              </a:ext>
            </a:extLst>
          </p:cNvPr>
          <p:cNvSpPr>
            <a:spLocks noGrp="1"/>
          </p:cNvSpPr>
          <p:nvPr/>
        </p:nvSpPr>
        <p:spPr>
          <a:xfrm>
            <a:off x="3762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73DF4491-3BC6-E74E-4CA1-337051D93222}"/>
              </a:ext>
            </a:extLst>
          </p:cNvPr>
          <p:cNvSpPr>
            <a:spLocks noGrp="1"/>
          </p:cNvSpPr>
          <p:nvPr/>
        </p:nvSpPr>
        <p:spPr>
          <a:xfrm>
            <a:off x="76200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0B5F5B7E-5599-67CC-FB17-D070C67A4086}"/>
              </a:ext>
            </a:extLst>
          </p:cNvPr>
          <p:cNvSpPr>
            <a:spLocks noGrp="1"/>
          </p:cNvSpPr>
          <p:nvPr/>
        </p:nvSpPr>
        <p:spPr>
          <a:xfrm>
            <a:off x="1381125" y="2733675"/>
            <a:ext cx="742950" cy="742950"/>
          </a:xfrm>
          <a:prstGeom prst="rect">
            <a:avLst/>
          </a:prstGeom>
          <a:solidFill>
            <a:srgbClr val="DBEAF7"/>
          </a:solidFill>
          <a:ln w="0">
            <a:noFill/>
          </a:ln>
        </p:spPr>
        <p:txBody>
          <a:bodyPr/>
          <a:lstStyle/>
          <a:p>
            <a:endParaRPr lang="en-US"/>
          </a:p>
        </p:txBody>
      </p:sp>
      <p:sp>
        <p:nvSpPr>
          <p:cNvPr id="545" name="95">
            <a:extLst>
              <a:ext uri="{FF2B5EF4-FFF2-40B4-BE49-F238E27FC236}">
                <a16:creationId xmlns:a16="http://schemas.microsoft.com/office/drawing/2014/main" id="{FD6374C6-449C-FB4C-4574-E92808FFD17D}"/>
              </a:ext>
            </a:extLst>
          </p:cNvPr>
          <p:cNvSpPr>
            <a:spLocks noGrp="1"/>
          </p:cNvSpPr>
          <p:nvPr/>
        </p:nvSpPr>
        <p:spPr>
          <a:xfrm>
            <a:off x="139065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101</a:t>
            </a:r>
          </a:p>
        </p:txBody>
      </p:sp>
      <p:sp>
        <p:nvSpPr>
          <p:cNvPr id="546" name="Rectangle 545">
            <a:extLst>
              <a:ext uri="{FF2B5EF4-FFF2-40B4-BE49-F238E27FC236}">
                <a16:creationId xmlns:a16="http://schemas.microsoft.com/office/drawing/2014/main" id="{E0DD3559-D49D-B325-5EB8-460D7E05938B}"/>
              </a:ext>
            </a:extLst>
          </p:cNvPr>
          <p:cNvSpPr>
            <a:spLocks noGrp="1"/>
          </p:cNvSpPr>
          <p:nvPr/>
        </p:nvSpPr>
        <p:spPr>
          <a:xfrm>
            <a:off x="2143125" y="2733675"/>
            <a:ext cx="742950" cy="742950"/>
          </a:xfrm>
          <a:prstGeom prst="rect">
            <a:avLst/>
          </a:prstGeom>
          <a:solidFill>
            <a:srgbClr val="F2F2F2"/>
          </a:solidFill>
          <a:ln w="0">
            <a:noFill/>
          </a:ln>
        </p:spPr>
        <p:txBody>
          <a:bodyPr/>
          <a:lstStyle/>
          <a:p>
            <a:endParaRPr lang="en-US"/>
          </a:p>
        </p:txBody>
      </p:sp>
      <p:sp>
        <p:nvSpPr>
          <p:cNvPr id="547" name="81">
            <a:extLst>
              <a:ext uri="{FF2B5EF4-FFF2-40B4-BE49-F238E27FC236}">
                <a16:creationId xmlns:a16="http://schemas.microsoft.com/office/drawing/2014/main" id="{D546968E-4C14-1040-585E-A2AE6F8BB1C0}"/>
              </a:ext>
            </a:extLst>
          </p:cNvPr>
          <p:cNvSpPr>
            <a:spLocks noGrp="1"/>
          </p:cNvSpPr>
          <p:nvPr/>
        </p:nvSpPr>
        <p:spPr>
          <a:xfrm>
            <a:off x="2152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53</a:t>
            </a:r>
          </a:p>
        </p:txBody>
      </p:sp>
      <p:sp>
        <p:nvSpPr>
          <p:cNvPr id="548" name="Rectangle 547">
            <a:extLst>
              <a:ext uri="{FF2B5EF4-FFF2-40B4-BE49-F238E27FC236}">
                <a16:creationId xmlns:a16="http://schemas.microsoft.com/office/drawing/2014/main" id="{89FE1709-9962-CF3B-62A0-EC6A678FFC99}"/>
              </a:ext>
            </a:extLst>
          </p:cNvPr>
          <p:cNvSpPr>
            <a:spLocks noGrp="1"/>
          </p:cNvSpPr>
          <p:nvPr/>
        </p:nvSpPr>
        <p:spPr>
          <a:xfrm>
            <a:off x="2905125" y="2733675"/>
            <a:ext cx="742950" cy="742950"/>
          </a:xfrm>
          <a:prstGeom prst="rect">
            <a:avLst/>
          </a:prstGeom>
          <a:solidFill>
            <a:srgbClr val="F2F2F2"/>
          </a:solidFill>
          <a:ln w="0">
            <a:noFill/>
          </a:ln>
        </p:spPr>
        <p:txBody>
          <a:bodyPr/>
          <a:lstStyle/>
          <a:p>
            <a:endParaRPr lang="en-US"/>
          </a:p>
        </p:txBody>
      </p:sp>
      <p:sp>
        <p:nvSpPr>
          <p:cNvPr id="549" name="26">
            <a:extLst>
              <a:ext uri="{FF2B5EF4-FFF2-40B4-BE49-F238E27FC236}">
                <a16:creationId xmlns:a16="http://schemas.microsoft.com/office/drawing/2014/main" id="{4855A4CA-A8CD-12CC-E2BC-5252CC9692D5}"/>
              </a:ext>
            </a:extLst>
          </p:cNvPr>
          <p:cNvSpPr>
            <a:spLocks noGrp="1"/>
          </p:cNvSpPr>
          <p:nvPr/>
        </p:nvSpPr>
        <p:spPr>
          <a:xfrm>
            <a:off x="2914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20</a:t>
            </a:r>
          </a:p>
        </p:txBody>
      </p:sp>
      <p:sp>
        <p:nvSpPr>
          <p:cNvPr id="550" name="Rectangle 549">
            <a:extLst>
              <a:ext uri="{FF2B5EF4-FFF2-40B4-BE49-F238E27FC236}">
                <a16:creationId xmlns:a16="http://schemas.microsoft.com/office/drawing/2014/main" id="{510BBA8D-420D-59CE-C8F8-76ED300939C4}"/>
              </a:ext>
            </a:extLst>
          </p:cNvPr>
          <p:cNvSpPr>
            <a:spLocks noGrp="1"/>
          </p:cNvSpPr>
          <p:nvPr/>
        </p:nvSpPr>
        <p:spPr>
          <a:xfrm>
            <a:off x="3667125" y="2733675"/>
            <a:ext cx="742950" cy="742950"/>
          </a:xfrm>
          <a:prstGeom prst="rect">
            <a:avLst/>
          </a:prstGeom>
          <a:solidFill>
            <a:srgbClr val="F2F2F2"/>
          </a:solidFill>
          <a:ln w="0">
            <a:noFill/>
          </a:ln>
        </p:spPr>
        <p:txBody>
          <a:bodyPr/>
          <a:lstStyle/>
          <a:p>
            <a:endParaRPr lang="en-US"/>
          </a:p>
        </p:txBody>
      </p:sp>
      <p:sp>
        <p:nvSpPr>
          <p:cNvPr id="551" name="34">
            <a:extLst>
              <a:ext uri="{FF2B5EF4-FFF2-40B4-BE49-F238E27FC236}">
                <a16:creationId xmlns:a16="http://schemas.microsoft.com/office/drawing/2014/main" id="{37A2DBAA-5F08-2F80-9507-16AA3265190B}"/>
              </a:ext>
            </a:extLst>
          </p:cNvPr>
          <p:cNvSpPr>
            <a:spLocks noGrp="1"/>
          </p:cNvSpPr>
          <p:nvPr/>
        </p:nvSpPr>
        <p:spPr>
          <a:xfrm>
            <a:off x="3676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a:t>
            </a:r>
          </a:p>
        </p:txBody>
      </p:sp>
      <p:sp>
        <p:nvSpPr>
          <p:cNvPr id="552" name="Rectangle 551">
            <a:extLst>
              <a:ext uri="{FF2B5EF4-FFF2-40B4-BE49-F238E27FC236}">
                <a16:creationId xmlns:a16="http://schemas.microsoft.com/office/drawing/2014/main" id="{DE56E7C9-92CB-86AD-5661-F788813C4B2B}"/>
              </a:ext>
            </a:extLst>
          </p:cNvPr>
          <p:cNvSpPr>
            <a:spLocks noGrp="1"/>
          </p:cNvSpPr>
          <p:nvPr/>
        </p:nvSpPr>
        <p:spPr>
          <a:xfrm>
            <a:off x="1381125" y="3495675"/>
            <a:ext cx="742950" cy="742950"/>
          </a:xfrm>
          <a:prstGeom prst="rect">
            <a:avLst/>
          </a:prstGeom>
          <a:solidFill>
            <a:srgbClr val="F2F2F2"/>
          </a:solidFill>
          <a:ln w="0">
            <a:noFill/>
          </a:ln>
        </p:spPr>
        <p:txBody>
          <a:bodyPr/>
          <a:lstStyle/>
          <a:p>
            <a:endParaRPr lang="en-US"/>
          </a:p>
        </p:txBody>
      </p:sp>
      <p:sp>
        <p:nvSpPr>
          <p:cNvPr id="553" name="57">
            <a:extLst>
              <a:ext uri="{FF2B5EF4-FFF2-40B4-BE49-F238E27FC236}">
                <a16:creationId xmlns:a16="http://schemas.microsoft.com/office/drawing/2014/main" id="{E5F000C4-DAF0-EAFC-BA1C-1EFC76F819C8}"/>
              </a:ext>
            </a:extLst>
          </p:cNvPr>
          <p:cNvSpPr>
            <a:spLocks noGrp="1"/>
          </p:cNvSpPr>
          <p:nvPr/>
        </p:nvSpPr>
        <p:spPr>
          <a:xfrm>
            <a:off x="1390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51</a:t>
            </a:r>
          </a:p>
        </p:txBody>
      </p:sp>
      <p:sp>
        <p:nvSpPr>
          <p:cNvPr id="554" name="Rectangle 553">
            <a:extLst>
              <a:ext uri="{FF2B5EF4-FFF2-40B4-BE49-F238E27FC236}">
                <a16:creationId xmlns:a16="http://schemas.microsoft.com/office/drawing/2014/main" id="{58BD85DB-0701-7DA7-4B93-6367935221BA}"/>
              </a:ext>
            </a:extLst>
          </p:cNvPr>
          <p:cNvSpPr>
            <a:spLocks noGrp="1"/>
          </p:cNvSpPr>
          <p:nvPr/>
        </p:nvSpPr>
        <p:spPr>
          <a:xfrm>
            <a:off x="2143125" y="3495675"/>
            <a:ext cx="742950" cy="742950"/>
          </a:xfrm>
          <a:prstGeom prst="rect">
            <a:avLst/>
          </a:prstGeom>
          <a:solidFill>
            <a:srgbClr val="DBEAF7"/>
          </a:solidFill>
          <a:ln w="0">
            <a:noFill/>
          </a:ln>
        </p:spPr>
        <p:txBody>
          <a:bodyPr/>
          <a:lstStyle/>
          <a:p>
            <a:endParaRPr lang="en-US"/>
          </a:p>
        </p:txBody>
      </p:sp>
      <p:sp>
        <p:nvSpPr>
          <p:cNvPr id="555" name="159">
            <a:extLst>
              <a:ext uri="{FF2B5EF4-FFF2-40B4-BE49-F238E27FC236}">
                <a16:creationId xmlns:a16="http://schemas.microsoft.com/office/drawing/2014/main" id="{B96859D9-62B3-FE34-9A29-C701209E89F7}"/>
              </a:ext>
            </a:extLst>
          </p:cNvPr>
          <p:cNvSpPr>
            <a:spLocks noGrp="1"/>
          </p:cNvSpPr>
          <p:nvPr/>
        </p:nvSpPr>
        <p:spPr>
          <a:xfrm>
            <a:off x="215265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148</a:t>
            </a:r>
          </a:p>
        </p:txBody>
      </p:sp>
      <p:sp>
        <p:nvSpPr>
          <p:cNvPr id="556" name="Rectangle 555">
            <a:extLst>
              <a:ext uri="{FF2B5EF4-FFF2-40B4-BE49-F238E27FC236}">
                <a16:creationId xmlns:a16="http://schemas.microsoft.com/office/drawing/2014/main" id="{440D0611-5A4D-53C4-2A2B-4A013998B975}"/>
              </a:ext>
            </a:extLst>
          </p:cNvPr>
          <p:cNvSpPr>
            <a:spLocks noGrp="1"/>
          </p:cNvSpPr>
          <p:nvPr/>
        </p:nvSpPr>
        <p:spPr>
          <a:xfrm>
            <a:off x="2905125" y="3495675"/>
            <a:ext cx="742950" cy="742950"/>
          </a:xfrm>
          <a:prstGeom prst="rect">
            <a:avLst/>
          </a:prstGeom>
          <a:solidFill>
            <a:srgbClr val="F2F2F2"/>
          </a:solidFill>
          <a:ln w="0">
            <a:noFill/>
          </a:ln>
        </p:spPr>
        <p:txBody>
          <a:bodyPr/>
          <a:lstStyle/>
          <a:p>
            <a:endParaRPr lang="en-US"/>
          </a:p>
        </p:txBody>
      </p:sp>
      <p:sp>
        <p:nvSpPr>
          <p:cNvPr id="557" name="71">
            <a:extLst>
              <a:ext uri="{FF2B5EF4-FFF2-40B4-BE49-F238E27FC236}">
                <a16:creationId xmlns:a16="http://schemas.microsoft.com/office/drawing/2014/main" id="{D6C65A8A-28F2-891C-83DA-EDF62C0B0372}"/>
              </a:ext>
            </a:extLst>
          </p:cNvPr>
          <p:cNvSpPr>
            <a:spLocks noGrp="1"/>
          </p:cNvSpPr>
          <p:nvPr/>
        </p:nvSpPr>
        <p:spPr>
          <a:xfrm>
            <a:off x="2914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72</a:t>
            </a:r>
          </a:p>
        </p:txBody>
      </p:sp>
      <p:sp>
        <p:nvSpPr>
          <p:cNvPr id="558" name="Rectangle 557">
            <a:extLst>
              <a:ext uri="{FF2B5EF4-FFF2-40B4-BE49-F238E27FC236}">
                <a16:creationId xmlns:a16="http://schemas.microsoft.com/office/drawing/2014/main" id="{71377A49-C7DC-D0A8-2713-82C32DD3266D}"/>
              </a:ext>
            </a:extLst>
          </p:cNvPr>
          <p:cNvSpPr>
            <a:spLocks noGrp="1"/>
          </p:cNvSpPr>
          <p:nvPr/>
        </p:nvSpPr>
        <p:spPr>
          <a:xfrm>
            <a:off x="3667125" y="3495675"/>
            <a:ext cx="742950" cy="742950"/>
          </a:xfrm>
          <a:prstGeom prst="rect">
            <a:avLst/>
          </a:prstGeom>
          <a:solidFill>
            <a:srgbClr val="F2F2F2"/>
          </a:solidFill>
          <a:ln w="0">
            <a:noFill/>
          </a:ln>
        </p:spPr>
        <p:txBody>
          <a:bodyPr/>
          <a:lstStyle/>
          <a:p>
            <a:endParaRPr lang="en-US"/>
          </a:p>
        </p:txBody>
      </p:sp>
      <p:sp>
        <p:nvSpPr>
          <p:cNvPr id="559" name="33">
            <a:extLst>
              <a:ext uri="{FF2B5EF4-FFF2-40B4-BE49-F238E27FC236}">
                <a16:creationId xmlns:a16="http://schemas.microsoft.com/office/drawing/2014/main" id="{45C047F3-37A1-EDF7-D070-CA55E006ED9B}"/>
              </a:ext>
            </a:extLst>
          </p:cNvPr>
          <p:cNvSpPr>
            <a:spLocks noGrp="1"/>
          </p:cNvSpPr>
          <p:nvPr/>
        </p:nvSpPr>
        <p:spPr>
          <a:xfrm>
            <a:off x="3676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13</a:t>
            </a:r>
          </a:p>
        </p:txBody>
      </p:sp>
      <p:sp>
        <p:nvSpPr>
          <p:cNvPr id="560" name="Rectangle 559">
            <a:extLst>
              <a:ext uri="{FF2B5EF4-FFF2-40B4-BE49-F238E27FC236}">
                <a16:creationId xmlns:a16="http://schemas.microsoft.com/office/drawing/2014/main" id="{1A327F99-E582-DD30-08C0-ADCBDEDCD681}"/>
              </a:ext>
            </a:extLst>
          </p:cNvPr>
          <p:cNvSpPr>
            <a:spLocks noGrp="1"/>
          </p:cNvSpPr>
          <p:nvPr/>
        </p:nvSpPr>
        <p:spPr>
          <a:xfrm>
            <a:off x="1381125" y="4257675"/>
            <a:ext cx="742950" cy="742950"/>
          </a:xfrm>
          <a:prstGeom prst="rect">
            <a:avLst/>
          </a:prstGeom>
          <a:solidFill>
            <a:srgbClr val="F2F2F2"/>
          </a:solidFill>
          <a:ln w="0">
            <a:noFill/>
          </a:ln>
        </p:spPr>
        <p:txBody>
          <a:bodyPr/>
          <a:lstStyle/>
          <a:p>
            <a:endParaRPr lang="en-US"/>
          </a:p>
        </p:txBody>
      </p:sp>
      <p:sp>
        <p:nvSpPr>
          <p:cNvPr id="561" name="47">
            <a:extLst>
              <a:ext uri="{FF2B5EF4-FFF2-40B4-BE49-F238E27FC236}">
                <a16:creationId xmlns:a16="http://schemas.microsoft.com/office/drawing/2014/main" id="{3CDC4F0B-8BF5-E194-92AC-5ABC5255BBBD}"/>
              </a:ext>
            </a:extLst>
          </p:cNvPr>
          <p:cNvSpPr>
            <a:spLocks noGrp="1"/>
          </p:cNvSpPr>
          <p:nvPr/>
        </p:nvSpPr>
        <p:spPr>
          <a:xfrm>
            <a:off x="1390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17</a:t>
            </a:r>
          </a:p>
        </p:txBody>
      </p:sp>
      <p:sp>
        <p:nvSpPr>
          <p:cNvPr id="562" name="Rectangle 561">
            <a:extLst>
              <a:ext uri="{FF2B5EF4-FFF2-40B4-BE49-F238E27FC236}">
                <a16:creationId xmlns:a16="http://schemas.microsoft.com/office/drawing/2014/main" id="{837DD084-3577-A2E5-DA0D-A486CB24D184}"/>
              </a:ext>
            </a:extLst>
          </p:cNvPr>
          <p:cNvSpPr>
            <a:spLocks noGrp="1"/>
          </p:cNvSpPr>
          <p:nvPr/>
        </p:nvSpPr>
        <p:spPr>
          <a:xfrm>
            <a:off x="2143125" y="4257675"/>
            <a:ext cx="742950" cy="742950"/>
          </a:xfrm>
          <a:prstGeom prst="rect">
            <a:avLst/>
          </a:prstGeom>
          <a:solidFill>
            <a:srgbClr val="F2F2F2"/>
          </a:solidFill>
          <a:ln w="0">
            <a:noFill/>
          </a:ln>
        </p:spPr>
        <p:txBody>
          <a:bodyPr/>
          <a:lstStyle/>
          <a:p>
            <a:endParaRPr lang="en-US"/>
          </a:p>
        </p:txBody>
      </p:sp>
      <p:sp>
        <p:nvSpPr>
          <p:cNvPr id="563" name="79">
            <a:extLst>
              <a:ext uri="{FF2B5EF4-FFF2-40B4-BE49-F238E27FC236}">
                <a16:creationId xmlns:a16="http://schemas.microsoft.com/office/drawing/2014/main" id="{117B1EED-8E58-6EA9-F170-455D64C881E9}"/>
              </a:ext>
            </a:extLst>
          </p:cNvPr>
          <p:cNvSpPr>
            <a:spLocks noGrp="1"/>
          </p:cNvSpPr>
          <p:nvPr/>
        </p:nvSpPr>
        <p:spPr>
          <a:xfrm>
            <a:off x="2152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59</a:t>
            </a:r>
          </a:p>
        </p:txBody>
      </p:sp>
      <p:sp>
        <p:nvSpPr>
          <p:cNvPr id="564" name="Rectangle 563">
            <a:extLst>
              <a:ext uri="{FF2B5EF4-FFF2-40B4-BE49-F238E27FC236}">
                <a16:creationId xmlns:a16="http://schemas.microsoft.com/office/drawing/2014/main" id="{A1FB4979-CFD6-B960-2992-9B428BE67752}"/>
              </a:ext>
            </a:extLst>
          </p:cNvPr>
          <p:cNvSpPr>
            <a:spLocks noGrp="1"/>
          </p:cNvSpPr>
          <p:nvPr/>
        </p:nvSpPr>
        <p:spPr>
          <a:xfrm>
            <a:off x="2905125" y="4257675"/>
            <a:ext cx="742950" cy="742950"/>
          </a:xfrm>
          <a:prstGeom prst="rect">
            <a:avLst/>
          </a:prstGeom>
          <a:solidFill>
            <a:srgbClr val="DBEAF7"/>
          </a:solidFill>
          <a:ln w="0">
            <a:noFill/>
          </a:ln>
        </p:spPr>
        <p:txBody>
          <a:bodyPr/>
          <a:lstStyle/>
          <a:p>
            <a:endParaRPr lang="en-US"/>
          </a:p>
        </p:txBody>
      </p:sp>
      <p:sp>
        <p:nvSpPr>
          <p:cNvPr id="565" name="126">
            <a:extLst>
              <a:ext uri="{FF2B5EF4-FFF2-40B4-BE49-F238E27FC236}">
                <a16:creationId xmlns:a16="http://schemas.microsoft.com/office/drawing/2014/main" id="{061DC0F4-AADD-C526-DA45-99E886D7E43F}"/>
              </a:ext>
            </a:extLst>
          </p:cNvPr>
          <p:cNvSpPr>
            <a:spLocks noGrp="1"/>
          </p:cNvSpPr>
          <p:nvPr/>
        </p:nvSpPr>
        <p:spPr>
          <a:xfrm>
            <a:off x="291465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132</a:t>
            </a:r>
          </a:p>
        </p:txBody>
      </p:sp>
      <p:sp>
        <p:nvSpPr>
          <p:cNvPr id="566" name="Rectangle 565">
            <a:extLst>
              <a:ext uri="{FF2B5EF4-FFF2-40B4-BE49-F238E27FC236}">
                <a16:creationId xmlns:a16="http://schemas.microsoft.com/office/drawing/2014/main" id="{2E300BEC-76A6-2091-2100-99C40858B2FB}"/>
              </a:ext>
            </a:extLst>
          </p:cNvPr>
          <p:cNvSpPr>
            <a:spLocks noGrp="1"/>
          </p:cNvSpPr>
          <p:nvPr/>
        </p:nvSpPr>
        <p:spPr>
          <a:xfrm>
            <a:off x="3667125" y="4257675"/>
            <a:ext cx="742950" cy="742950"/>
          </a:xfrm>
          <a:prstGeom prst="rect">
            <a:avLst/>
          </a:prstGeom>
          <a:solidFill>
            <a:srgbClr val="F2F2F2"/>
          </a:solidFill>
          <a:ln w="0">
            <a:noFill/>
          </a:ln>
        </p:spPr>
        <p:txBody>
          <a:bodyPr/>
          <a:lstStyle/>
          <a:p>
            <a:endParaRPr lang="en-US"/>
          </a:p>
        </p:txBody>
      </p:sp>
      <p:sp>
        <p:nvSpPr>
          <p:cNvPr id="567" name="48">
            <a:extLst>
              <a:ext uri="{FF2B5EF4-FFF2-40B4-BE49-F238E27FC236}">
                <a16:creationId xmlns:a16="http://schemas.microsoft.com/office/drawing/2014/main" id="{E2C12066-E62F-F31E-345E-FC6C83580A9E}"/>
              </a:ext>
            </a:extLst>
          </p:cNvPr>
          <p:cNvSpPr>
            <a:spLocks noGrp="1"/>
          </p:cNvSpPr>
          <p:nvPr/>
        </p:nvSpPr>
        <p:spPr>
          <a:xfrm>
            <a:off x="3676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56</a:t>
            </a:r>
          </a:p>
        </p:txBody>
      </p:sp>
      <p:sp>
        <p:nvSpPr>
          <p:cNvPr id="568" name="Rectangle 567">
            <a:extLst>
              <a:ext uri="{FF2B5EF4-FFF2-40B4-BE49-F238E27FC236}">
                <a16:creationId xmlns:a16="http://schemas.microsoft.com/office/drawing/2014/main" id="{9D72185F-B298-6F87-2755-C9C3CEE51399}"/>
              </a:ext>
            </a:extLst>
          </p:cNvPr>
          <p:cNvSpPr>
            <a:spLocks noGrp="1"/>
          </p:cNvSpPr>
          <p:nvPr/>
        </p:nvSpPr>
        <p:spPr>
          <a:xfrm>
            <a:off x="1381125" y="5019675"/>
            <a:ext cx="742950" cy="742950"/>
          </a:xfrm>
          <a:prstGeom prst="rect">
            <a:avLst/>
          </a:prstGeom>
          <a:solidFill>
            <a:srgbClr val="F2F2F2"/>
          </a:solidFill>
          <a:ln w="0">
            <a:noFill/>
          </a:ln>
        </p:spPr>
        <p:txBody>
          <a:bodyPr/>
          <a:lstStyle/>
          <a:p>
            <a:endParaRPr lang="en-US"/>
          </a:p>
        </p:txBody>
      </p:sp>
      <p:sp>
        <p:nvSpPr>
          <p:cNvPr id="569" name="43">
            <a:extLst>
              <a:ext uri="{FF2B5EF4-FFF2-40B4-BE49-F238E27FC236}">
                <a16:creationId xmlns:a16="http://schemas.microsoft.com/office/drawing/2014/main" id="{EEBD08F8-E18A-D1D6-DF09-65446188B9F4}"/>
              </a:ext>
            </a:extLst>
          </p:cNvPr>
          <p:cNvSpPr>
            <a:spLocks noGrp="1"/>
          </p:cNvSpPr>
          <p:nvPr/>
        </p:nvSpPr>
        <p:spPr>
          <a:xfrm>
            <a:off x="1390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13</a:t>
            </a:r>
          </a:p>
        </p:txBody>
      </p:sp>
      <p:sp>
        <p:nvSpPr>
          <p:cNvPr id="570" name="Rectangle 569">
            <a:extLst>
              <a:ext uri="{FF2B5EF4-FFF2-40B4-BE49-F238E27FC236}">
                <a16:creationId xmlns:a16="http://schemas.microsoft.com/office/drawing/2014/main" id="{2FA022A1-6FB6-E453-9D7C-56199550CF9C}"/>
              </a:ext>
            </a:extLst>
          </p:cNvPr>
          <p:cNvSpPr>
            <a:spLocks noGrp="1"/>
          </p:cNvSpPr>
          <p:nvPr/>
        </p:nvSpPr>
        <p:spPr>
          <a:xfrm>
            <a:off x="2143125" y="5019675"/>
            <a:ext cx="742950" cy="742950"/>
          </a:xfrm>
          <a:prstGeom prst="rect">
            <a:avLst/>
          </a:prstGeom>
          <a:solidFill>
            <a:srgbClr val="F2F2F2"/>
          </a:solidFill>
          <a:ln w="0">
            <a:noFill/>
          </a:ln>
        </p:spPr>
        <p:txBody>
          <a:bodyPr/>
          <a:lstStyle/>
          <a:p>
            <a:endParaRPr lang="en-US"/>
          </a:p>
        </p:txBody>
      </p:sp>
      <p:sp>
        <p:nvSpPr>
          <p:cNvPr id="571" name="50">
            <a:extLst>
              <a:ext uri="{FF2B5EF4-FFF2-40B4-BE49-F238E27FC236}">
                <a16:creationId xmlns:a16="http://schemas.microsoft.com/office/drawing/2014/main" id="{9DE98EAB-5975-F086-F8C5-2D97165D803D}"/>
              </a:ext>
            </a:extLst>
          </p:cNvPr>
          <p:cNvSpPr>
            <a:spLocks noGrp="1"/>
          </p:cNvSpPr>
          <p:nvPr/>
        </p:nvSpPr>
        <p:spPr>
          <a:xfrm>
            <a:off x="2152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16</a:t>
            </a:r>
          </a:p>
        </p:txBody>
      </p:sp>
      <p:sp>
        <p:nvSpPr>
          <p:cNvPr id="572" name="Rectangle 571">
            <a:extLst>
              <a:ext uri="{FF2B5EF4-FFF2-40B4-BE49-F238E27FC236}">
                <a16:creationId xmlns:a16="http://schemas.microsoft.com/office/drawing/2014/main" id="{41049EB5-916F-D89B-A8A1-FA640B823051}"/>
              </a:ext>
            </a:extLst>
          </p:cNvPr>
          <p:cNvSpPr>
            <a:spLocks noGrp="1"/>
          </p:cNvSpPr>
          <p:nvPr/>
        </p:nvSpPr>
        <p:spPr>
          <a:xfrm>
            <a:off x="2905125" y="5019675"/>
            <a:ext cx="742950" cy="742950"/>
          </a:xfrm>
          <a:prstGeom prst="rect">
            <a:avLst/>
          </a:prstGeom>
          <a:solidFill>
            <a:srgbClr val="F2F2F2"/>
          </a:solidFill>
          <a:ln w="0">
            <a:noFill/>
          </a:ln>
        </p:spPr>
        <p:txBody>
          <a:bodyPr/>
          <a:lstStyle/>
          <a:p>
            <a:endParaRPr lang="en-US"/>
          </a:p>
        </p:txBody>
      </p:sp>
      <p:sp>
        <p:nvSpPr>
          <p:cNvPr id="573" name="49">
            <a:extLst>
              <a:ext uri="{FF2B5EF4-FFF2-40B4-BE49-F238E27FC236}">
                <a16:creationId xmlns:a16="http://schemas.microsoft.com/office/drawing/2014/main" id="{0D05ADFF-458E-2B21-BBAC-32B96A9CA18C}"/>
              </a:ext>
            </a:extLst>
          </p:cNvPr>
          <p:cNvSpPr>
            <a:spLocks noGrp="1"/>
          </p:cNvSpPr>
          <p:nvPr/>
        </p:nvSpPr>
        <p:spPr>
          <a:xfrm>
            <a:off x="2914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43</a:t>
            </a:r>
          </a:p>
        </p:txBody>
      </p:sp>
      <p:sp>
        <p:nvSpPr>
          <p:cNvPr id="574" name="Rectangle 573">
            <a:extLst>
              <a:ext uri="{FF2B5EF4-FFF2-40B4-BE49-F238E27FC236}">
                <a16:creationId xmlns:a16="http://schemas.microsoft.com/office/drawing/2014/main" id="{4E0870BB-DEAF-8EEB-65D5-48377841C39F}"/>
              </a:ext>
            </a:extLst>
          </p:cNvPr>
          <p:cNvSpPr>
            <a:spLocks noGrp="1"/>
          </p:cNvSpPr>
          <p:nvPr/>
        </p:nvSpPr>
        <p:spPr>
          <a:xfrm>
            <a:off x="3667125" y="5019675"/>
            <a:ext cx="742950" cy="742950"/>
          </a:xfrm>
          <a:prstGeom prst="rect">
            <a:avLst/>
          </a:prstGeom>
          <a:solidFill>
            <a:srgbClr val="DBEAF7"/>
          </a:solidFill>
          <a:ln w="0">
            <a:noFill/>
          </a:ln>
        </p:spPr>
        <p:txBody>
          <a:bodyPr/>
          <a:lstStyle/>
          <a:p>
            <a:endParaRPr lang="en-US"/>
          </a:p>
        </p:txBody>
      </p:sp>
      <p:sp>
        <p:nvSpPr>
          <p:cNvPr id="575" name="104">
            <a:extLst>
              <a:ext uri="{FF2B5EF4-FFF2-40B4-BE49-F238E27FC236}">
                <a16:creationId xmlns:a16="http://schemas.microsoft.com/office/drawing/2014/main" id="{F76B0F42-DBED-B24D-686E-248B37BFB5FB}"/>
              </a:ext>
            </a:extLst>
          </p:cNvPr>
          <p:cNvSpPr>
            <a:spLocks noGrp="1"/>
          </p:cNvSpPr>
          <p:nvPr/>
        </p:nvSpPr>
        <p:spPr>
          <a:xfrm>
            <a:off x="367665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118</a:t>
            </a:r>
          </a:p>
        </p:txBody>
      </p:sp>
      <p:sp>
        <p:nvSpPr>
          <p:cNvPr id="618" name="Main CGPA, stratified 10-fold cross-validation, N = 1,1">
            <a:extLst>
              <a:ext uri="{FF2B5EF4-FFF2-40B4-BE49-F238E27FC236}">
                <a16:creationId xmlns:a16="http://schemas.microsoft.com/office/drawing/2014/main" id="{F5D76AA3-3BA0-99DA-EEC9-11CC2302C1CC}"/>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Main CGPA, stratified 5-fold cross-validation, N = 920. </a:t>
            </a:r>
            <a:endParaRPr lang="en-US" sz="1275" b="0" dirty="0">
              <a:solidFill>
                <a:srgbClr val="585858"/>
              </a:solidFill>
              <a:latin typeface="Times New Roman"/>
              <a:ea typeface="Times New Roman"/>
              <a:cs typeface="Times New Roman"/>
            </a:endParaRPr>
          </a:p>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Rows actual,</a:t>
            </a:r>
            <a:r>
              <a:rPr lang="en-US" sz="1275" dirty="0">
                <a:solidFill>
                  <a:srgbClr val="585858"/>
                </a:solidFill>
                <a:latin typeface="Times New Roman"/>
                <a:ea typeface="Times New Roman"/>
                <a:cs typeface="Times New Roman"/>
              </a:rPr>
              <a:t> </a:t>
            </a:r>
            <a:r>
              <a:rPr sz="1275" b="0" dirty="0">
                <a:solidFill>
                  <a:srgbClr val="585858"/>
                </a:solidFill>
                <a:latin typeface="Times New Roman"/>
                <a:ea typeface="Times New Roman"/>
                <a:cs typeface="Times New Roman"/>
              </a:rPr>
              <a:t>columns predicted.</a:t>
            </a:r>
          </a:p>
        </p:txBody>
      </p:sp>
    </p:spTree>
    <p:extLst>
      <p:ext uri="{BB962C8B-B14F-4D97-AF65-F5344CB8AC3E}">
        <p14:creationId xmlns:p14="http://schemas.microsoft.com/office/powerpoint/2010/main" val="2087497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D0D2E9-B4B1-CD99-87BF-B8184DC113E8}"/>
              </a:ext>
            </a:extLst>
          </p:cNvPr>
          <p:cNvPicPr>
            <a:picLocks noChangeAspect="1"/>
          </p:cNvPicPr>
          <p:nvPr/>
        </p:nvPicPr>
        <p:blipFill>
          <a:blip r:embed="rId3"/>
          <a:stretch>
            <a:fillRect/>
          </a:stretch>
        </p:blipFill>
        <p:spPr>
          <a:xfrm>
            <a:off x="4400550" y="11694"/>
            <a:ext cx="7817491" cy="6858000"/>
          </a:xfrm>
          <a:prstGeom prst="rect">
            <a:avLst/>
          </a:prstGeom>
        </p:spPr>
      </p:pic>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40</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WEKA SMO matri</a:t>
            </a:r>
            <a:r>
              <a:rPr lang="en-US" sz="3000" dirty="0">
                <a:latin typeface="Times New Roman"/>
                <a:ea typeface="Times New Roman"/>
                <a:cs typeface="Times New Roman"/>
              </a:rPr>
              <a:t>x</a:t>
            </a:r>
            <a:endParaRPr sz="3000" dirty="0">
              <a:latin typeface="Times New Roman"/>
              <a:ea typeface="Times New Roman"/>
              <a:cs typeface="Times New Roman"/>
            </a:endParaRPr>
          </a:p>
        </p:txBody>
      </p:sp>
      <p:sp>
        <p:nvSpPr>
          <p:cNvPr id="576" name="SMO">
            <a:extLst>
              <a:ext uri="{FF2B5EF4-FFF2-40B4-BE49-F238E27FC236}">
                <a16:creationId xmlns:a16="http://schemas.microsoft.com/office/drawing/2014/main" id="{3BABFCF0-35E7-4B6B-BD76-E9E1749E01F6}"/>
              </a:ext>
            </a:extLst>
          </p:cNvPr>
          <p:cNvSpPr>
            <a:spLocks noGrp="1"/>
          </p:cNvSpPr>
          <p:nvPr/>
        </p:nvSpPr>
        <p:spPr>
          <a:xfrm>
            <a:off x="400050" y="1377851"/>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dirty="0">
                <a:solidFill>
                  <a:srgbClr val="121212"/>
                </a:solidFill>
                <a:latin typeface="Times New Roman"/>
                <a:ea typeface="Times New Roman"/>
                <a:cs typeface="Times New Roman"/>
              </a:rPr>
              <a:t>SMO</a:t>
            </a:r>
            <a:r>
              <a:rPr lang="en-US" sz="1875" b="0" dirty="0">
                <a:solidFill>
                  <a:srgbClr val="121212"/>
                </a:solidFill>
                <a:latin typeface="Times New Roman"/>
                <a:ea typeface="Times New Roman"/>
                <a:cs typeface="Times New Roman"/>
              </a:rPr>
              <a:t> 5-fold</a:t>
            </a:r>
            <a:endParaRPr sz="1875" b="0" dirty="0">
              <a:solidFill>
                <a:srgbClr val="121212"/>
              </a:solidFill>
              <a:latin typeface="Times New Roman"/>
              <a:ea typeface="Times New Roman"/>
              <a:cs typeface="Times New Roman"/>
            </a:endParaRPr>
          </a:p>
        </p:txBody>
      </p:sp>
      <p:sp>
        <p:nvSpPr>
          <p:cNvPr id="577" name="Predicted">
            <a:extLst>
              <a:ext uri="{FF2B5EF4-FFF2-40B4-BE49-F238E27FC236}">
                <a16:creationId xmlns:a16="http://schemas.microsoft.com/office/drawing/2014/main" id="{F39808B3-1686-40FC-9FF6-9882CEF469DD}"/>
              </a:ext>
            </a:extLst>
          </p:cNvPr>
          <p:cNvSpPr>
            <a:spLocks noGrp="1"/>
          </p:cNvSpPr>
          <p:nvPr/>
        </p:nvSpPr>
        <p:spPr>
          <a:xfrm>
            <a:off x="1352550" y="1825526"/>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78" name="C0">
            <a:extLst>
              <a:ext uri="{FF2B5EF4-FFF2-40B4-BE49-F238E27FC236}">
                <a16:creationId xmlns:a16="http://schemas.microsoft.com/office/drawing/2014/main" id="{4EB0661E-038B-412B-B04C-C89876B83F41}"/>
              </a:ext>
            </a:extLst>
          </p:cNvPr>
          <p:cNvSpPr>
            <a:spLocks noGrp="1"/>
          </p:cNvSpPr>
          <p:nvPr/>
        </p:nvSpPr>
        <p:spPr>
          <a:xfrm>
            <a:off x="1209675" y="2187476"/>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79" name="C0">
            <a:extLst>
              <a:ext uri="{FF2B5EF4-FFF2-40B4-BE49-F238E27FC236}">
                <a16:creationId xmlns:a16="http://schemas.microsoft.com/office/drawing/2014/main" id="{1FBFAC63-9425-4534-A86B-E93E97CECCC8}"/>
              </a:ext>
            </a:extLst>
          </p:cNvPr>
          <p:cNvSpPr>
            <a:spLocks noGrp="1"/>
          </p:cNvSpPr>
          <p:nvPr/>
        </p:nvSpPr>
        <p:spPr>
          <a:xfrm>
            <a:off x="495300" y="2635151"/>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80" name="C1">
            <a:extLst>
              <a:ext uri="{FF2B5EF4-FFF2-40B4-BE49-F238E27FC236}">
                <a16:creationId xmlns:a16="http://schemas.microsoft.com/office/drawing/2014/main" id="{2FB66E8F-1044-41CB-AB46-F496C410AC6C}"/>
              </a:ext>
            </a:extLst>
          </p:cNvPr>
          <p:cNvSpPr>
            <a:spLocks noGrp="1"/>
          </p:cNvSpPr>
          <p:nvPr/>
        </p:nvSpPr>
        <p:spPr>
          <a:xfrm>
            <a:off x="1971675" y="2187476"/>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1" name="C1">
            <a:extLst>
              <a:ext uri="{FF2B5EF4-FFF2-40B4-BE49-F238E27FC236}">
                <a16:creationId xmlns:a16="http://schemas.microsoft.com/office/drawing/2014/main" id="{2B7D64CB-570B-4FF1-95F5-CE6AAB5A3528}"/>
              </a:ext>
            </a:extLst>
          </p:cNvPr>
          <p:cNvSpPr>
            <a:spLocks noGrp="1"/>
          </p:cNvSpPr>
          <p:nvPr/>
        </p:nvSpPr>
        <p:spPr>
          <a:xfrm>
            <a:off x="495300" y="3397151"/>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2" name="C2">
            <a:extLst>
              <a:ext uri="{FF2B5EF4-FFF2-40B4-BE49-F238E27FC236}">
                <a16:creationId xmlns:a16="http://schemas.microsoft.com/office/drawing/2014/main" id="{3BE742B8-E027-4F3E-AD75-E2A17CC55798}"/>
              </a:ext>
            </a:extLst>
          </p:cNvPr>
          <p:cNvSpPr>
            <a:spLocks noGrp="1"/>
          </p:cNvSpPr>
          <p:nvPr/>
        </p:nvSpPr>
        <p:spPr>
          <a:xfrm>
            <a:off x="2733675" y="2187476"/>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3" name="C2">
            <a:extLst>
              <a:ext uri="{FF2B5EF4-FFF2-40B4-BE49-F238E27FC236}">
                <a16:creationId xmlns:a16="http://schemas.microsoft.com/office/drawing/2014/main" id="{BD1096B7-232F-45BA-8E80-2A64AB3C7032}"/>
              </a:ext>
            </a:extLst>
          </p:cNvPr>
          <p:cNvSpPr>
            <a:spLocks noGrp="1"/>
          </p:cNvSpPr>
          <p:nvPr/>
        </p:nvSpPr>
        <p:spPr>
          <a:xfrm>
            <a:off x="495300" y="4159151"/>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4" name="C3">
            <a:extLst>
              <a:ext uri="{FF2B5EF4-FFF2-40B4-BE49-F238E27FC236}">
                <a16:creationId xmlns:a16="http://schemas.microsoft.com/office/drawing/2014/main" id="{C07A15B5-6060-4633-BFF7-D910DA3C3C56}"/>
              </a:ext>
            </a:extLst>
          </p:cNvPr>
          <p:cNvSpPr>
            <a:spLocks noGrp="1"/>
          </p:cNvSpPr>
          <p:nvPr/>
        </p:nvSpPr>
        <p:spPr>
          <a:xfrm>
            <a:off x="3495675" y="2187476"/>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5" name="C3">
            <a:extLst>
              <a:ext uri="{FF2B5EF4-FFF2-40B4-BE49-F238E27FC236}">
                <a16:creationId xmlns:a16="http://schemas.microsoft.com/office/drawing/2014/main" id="{50974A56-6CE3-4563-8B66-B25AB9972F32}"/>
              </a:ext>
            </a:extLst>
          </p:cNvPr>
          <p:cNvSpPr>
            <a:spLocks noGrp="1"/>
          </p:cNvSpPr>
          <p:nvPr/>
        </p:nvSpPr>
        <p:spPr>
          <a:xfrm>
            <a:off x="495300" y="4921151"/>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6" name="Rectangle 585">
            <a:extLst>
              <a:ext uri="{FF2B5EF4-FFF2-40B4-BE49-F238E27FC236}">
                <a16:creationId xmlns:a16="http://schemas.microsoft.com/office/drawing/2014/main" id="{0876E1C7-5B12-46B0-8C21-5D73DB3AD5A6}"/>
              </a:ext>
            </a:extLst>
          </p:cNvPr>
          <p:cNvSpPr>
            <a:spLocks noGrp="1"/>
          </p:cNvSpPr>
          <p:nvPr/>
        </p:nvSpPr>
        <p:spPr>
          <a:xfrm>
            <a:off x="1114425" y="2558951"/>
            <a:ext cx="742950" cy="742950"/>
          </a:xfrm>
          <a:prstGeom prst="rect">
            <a:avLst/>
          </a:prstGeom>
          <a:solidFill>
            <a:srgbClr val="DBEAF7"/>
          </a:solidFill>
          <a:ln w="0">
            <a:noFill/>
          </a:ln>
        </p:spPr>
        <p:txBody>
          <a:bodyPr/>
          <a:lstStyle/>
          <a:p>
            <a:endParaRPr lang="en-US"/>
          </a:p>
        </p:txBody>
      </p:sp>
      <p:sp>
        <p:nvSpPr>
          <p:cNvPr id="587" name="61">
            <a:extLst>
              <a:ext uri="{FF2B5EF4-FFF2-40B4-BE49-F238E27FC236}">
                <a16:creationId xmlns:a16="http://schemas.microsoft.com/office/drawing/2014/main" id="{95388BEB-8698-4CFB-92AD-E832C724421D}"/>
              </a:ext>
            </a:extLst>
          </p:cNvPr>
          <p:cNvSpPr>
            <a:spLocks noGrp="1"/>
          </p:cNvSpPr>
          <p:nvPr/>
        </p:nvSpPr>
        <p:spPr>
          <a:xfrm>
            <a:off x="1123950" y="2768501"/>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102</a:t>
            </a:r>
          </a:p>
        </p:txBody>
      </p:sp>
      <p:sp>
        <p:nvSpPr>
          <p:cNvPr id="588" name="Rectangle 587">
            <a:extLst>
              <a:ext uri="{FF2B5EF4-FFF2-40B4-BE49-F238E27FC236}">
                <a16:creationId xmlns:a16="http://schemas.microsoft.com/office/drawing/2014/main" id="{F960E39D-F991-4EAE-8F4E-3C9309B31D90}"/>
              </a:ext>
            </a:extLst>
          </p:cNvPr>
          <p:cNvSpPr>
            <a:spLocks noGrp="1"/>
          </p:cNvSpPr>
          <p:nvPr/>
        </p:nvSpPr>
        <p:spPr>
          <a:xfrm>
            <a:off x="1876425" y="2558951"/>
            <a:ext cx="742950" cy="742950"/>
          </a:xfrm>
          <a:prstGeom prst="rect">
            <a:avLst/>
          </a:prstGeom>
          <a:solidFill>
            <a:srgbClr val="F2F2F2"/>
          </a:solidFill>
          <a:ln w="0">
            <a:noFill/>
          </a:ln>
        </p:spPr>
        <p:txBody>
          <a:bodyPr/>
          <a:lstStyle/>
          <a:p>
            <a:endParaRPr lang="en-US"/>
          </a:p>
        </p:txBody>
      </p:sp>
      <p:sp>
        <p:nvSpPr>
          <p:cNvPr id="589" name="113">
            <a:extLst>
              <a:ext uri="{FF2B5EF4-FFF2-40B4-BE49-F238E27FC236}">
                <a16:creationId xmlns:a16="http://schemas.microsoft.com/office/drawing/2014/main" id="{DE78A59A-4956-4EF3-92A5-EE28E4426A09}"/>
              </a:ext>
            </a:extLst>
          </p:cNvPr>
          <p:cNvSpPr>
            <a:spLocks noGrp="1"/>
          </p:cNvSpPr>
          <p:nvPr/>
        </p:nvSpPr>
        <p:spPr>
          <a:xfrm>
            <a:off x="1885950" y="2768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59</a:t>
            </a:r>
          </a:p>
        </p:txBody>
      </p:sp>
      <p:sp>
        <p:nvSpPr>
          <p:cNvPr id="590" name="Rectangle 589">
            <a:extLst>
              <a:ext uri="{FF2B5EF4-FFF2-40B4-BE49-F238E27FC236}">
                <a16:creationId xmlns:a16="http://schemas.microsoft.com/office/drawing/2014/main" id="{6C051456-58AA-4EAF-85FF-83EDA544F921}"/>
              </a:ext>
            </a:extLst>
          </p:cNvPr>
          <p:cNvSpPr>
            <a:spLocks noGrp="1"/>
          </p:cNvSpPr>
          <p:nvPr/>
        </p:nvSpPr>
        <p:spPr>
          <a:xfrm>
            <a:off x="2638425" y="2558951"/>
            <a:ext cx="742950" cy="742950"/>
          </a:xfrm>
          <a:prstGeom prst="rect">
            <a:avLst/>
          </a:prstGeom>
          <a:solidFill>
            <a:srgbClr val="F2F2F2"/>
          </a:solidFill>
          <a:ln w="0">
            <a:noFill/>
          </a:ln>
        </p:spPr>
        <p:txBody>
          <a:bodyPr/>
          <a:lstStyle/>
          <a:p>
            <a:endParaRPr lang="en-US"/>
          </a:p>
        </p:txBody>
      </p:sp>
      <p:sp>
        <p:nvSpPr>
          <p:cNvPr id="591" name="34">
            <a:extLst>
              <a:ext uri="{FF2B5EF4-FFF2-40B4-BE49-F238E27FC236}">
                <a16:creationId xmlns:a16="http://schemas.microsoft.com/office/drawing/2014/main" id="{2A91F79E-832C-4644-BBDD-FA0CCB861C64}"/>
              </a:ext>
            </a:extLst>
          </p:cNvPr>
          <p:cNvSpPr>
            <a:spLocks noGrp="1"/>
          </p:cNvSpPr>
          <p:nvPr/>
        </p:nvSpPr>
        <p:spPr>
          <a:xfrm>
            <a:off x="2647950" y="2768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11</a:t>
            </a:r>
          </a:p>
        </p:txBody>
      </p:sp>
      <p:sp>
        <p:nvSpPr>
          <p:cNvPr id="592" name="Rectangle 591">
            <a:extLst>
              <a:ext uri="{FF2B5EF4-FFF2-40B4-BE49-F238E27FC236}">
                <a16:creationId xmlns:a16="http://schemas.microsoft.com/office/drawing/2014/main" id="{6B00BD00-CE11-4BFD-8FA9-9F85F3055E9D}"/>
              </a:ext>
            </a:extLst>
          </p:cNvPr>
          <p:cNvSpPr>
            <a:spLocks noGrp="1"/>
          </p:cNvSpPr>
          <p:nvPr/>
        </p:nvSpPr>
        <p:spPr>
          <a:xfrm>
            <a:off x="3400425" y="2558951"/>
            <a:ext cx="742950" cy="742950"/>
          </a:xfrm>
          <a:prstGeom prst="rect">
            <a:avLst/>
          </a:prstGeom>
          <a:solidFill>
            <a:srgbClr val="F2F2F2"/>
          </a:solidFill>
          <a:ln w="0">
            <a:noFill/>
          </a:ln>
        </p:spPr>
        <p:txBody>
          <a:bodyPr/>
          <a:lstStyle/>
          <a:p>
            <a:endParaRPr lang="en-US"/>
          </a:p>
        </p:txBody>
      </p:sp>
      <p:sp>
        <p:nvSpPr>
          <p:cNvPr id="593" name="28">
            <a:extLst>
              <a:ext uri="{FF2B5EF4-FFF2-40B4-BE49-F238E27FC236}">
                <a16:creationId xmlns:a16="http://schemas.microsoft.com/office/drawing/2014/main" id="{CBCBDA0B-45C0-436F-B0EE-2B4668769429}"/>
              </a:ext>
            </a:extLst>
          </p:cNvPr>
          <p:cNvSpPr>
            <a:spLocks noGrp="1"/>
          </p:cNvSpPr>
          <p:nvPr/>
        </p:nvSpPr>
        <p:spPr>
          <a:xfrm>
            <a:off x="3409950" y="2768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a:t>
            </a:r>
          </a:p>
        </p:txBody>
      </p:sp>
      <p:sp>
        <p:nvSpPr>
          <p:cNvPr id="594" name="Rectangle 593">
            <a:extLst>
              <a:ext uri="{FF2B5EF4-FFF2-40B4-BE49-F238E27FC236}">
                <a16:creationId xmlns:a16="http://schemas.microsoft.com/office/drawing/2014/main" id="{878B6431-D79A-41B0-BD2A-711BF2FBC1DA}"/>
              </a:ext>
            </a:extLst>
          </p:cNvPr>
          <p:cNvSpPr>
            <a:spLocks noGrp="1"/>
          </p:cNvSpPr>
          <p:nvPr/>
        </p:nvSpPr>
        <p:spPr>
          <a:xfrm>
            <a:off x="1114425" y="3320951"/>
            <a:ext cx="742950" cy="742950"/>
          </a:xfrm>
          <a:prstGeom prst="rect">
            <a:avLst/>
          </a:prstGeom>
          <a:solidFill>
            <a:srgbClr val="F2F2F2"/>
          </a:solidFill>
          <a:ln w="0">
            <a:noFill/>
          </a:ln>
        </p:spPr>
        <p:txBody>
          <a:bodyPr/>
          <a:lstStyle/>
          <a:p>
            <a:endParaRPr lang="en-US"/>
          </a:p>
        </p:txBody>
      </p:sp>
      <p:sp>
        <p:nvSpPr>
          <p:cNvPr id="595" name="51">
            <a:extLst>
              <a:ext uri="{FF2B5EF4-FFF2-40B4-BE49-F238E27FC236}">
                <a16:creationId xmlns:a16="http://schemas.microsoft.com/office/drawing/2014/main" id="{BB6EEC3F-CC83-426E-B5AD-E6A952D6011B}"/>
              </a:ext>
            </a:extLst>
          </p:cNvPr>
          <p:cNvSpPr>
            <a:spLocks noGrp="1"/>
          </p:cNvSpPr>
          <p:nvPr/>
        </p:nvSpPr>
        <p:spPr>
          <a:xfrm>
            <a:off x="1123950" y="3530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49</a:t>
            </a:r>
          </a:p>
        </p:txBody>
      </p:sp>
      <p:sp>
        <p:nvSpPr>
          <p:cNvPr id="596" name="Rectangle 595">
            <a:extLst>
              <a:ext uri="{FF2B5EF4-FFF2-40B4-BE49-F238E27FC236}">
                <a16:creationId xmlns:a16="http://schemas.microsoft.com/office/drawing/2014/main" id="{FA612206-D54A-4241-B32C-B32EE34F812F}"/>
              </a:ext>
            </a:extLst>
          </p:cNvPr>
          <p:cNvSpPr>
            <a:spLocks noGrp="1"/>
          </p:cNvSpPr>
          <p:nvPr/>
        </p:nvSpPr>
        <p:spPr>
          <a:xfrm>
            <a:off x="1876425" y="3320951"/>
            <a:ext cx="742950" cy="742950"/>
          </a:xfrm>
          <a:prstGeom prst="rect">
            <a:avLst/>
          </a:prstGeom>
          <a:solidFill>
            <a:srgbClr val="DBEAF7"/>
          </a:solidFill>
          <a:ln w="0">
            <a:noFill/>
          </a:ln>
        </p:spPr>
        <p:txBody>
          <a:bodyPr/>
          <a:lstStyle/>
          <a:p>
            <a:endParaRPr lang="en-US"/>
          </a:p>
        </p:txBody>
      </p:sp>
      <p:sp>
        <p:nvSpPr>
          <p:cNvPr id="597" name="154">
            <a:extLst>
              <a:ext uri="{FF2B5EF4-FFF2-40B4-BE49-F238E27FC236}">
                <a16:creationId xmlns:a16="http://schemas.microsoft.com/office/drawing/2014/main" id="{6524B158-CEDE-4927-A679-415745BD20CE}"/>
              </a:ext>
            </a:extLst>
          </p:cNvPr>
          <p:cNvSpPr>
            <a:spLocks noGrp="1"/>
          </p:cNvSpPr>
          <p:nvPr/>
        </p:nvSpPr>
        <p:spPr>
          <a:xfrm>
            <a:off x="1885950" y="3530501"/>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146</a:t>
            </a:r>
          </a:p>
        </p:txBody>
      </p:sp>
      <p:sp>
        <p:nvSpPr>
          <p:cNvPr id="598" name="Rectangle 597">
            <a:extLst>
              <a:ext uri="{FF2B5EF4-FFF2-40B4-BE49-F238E27FC236}">
                <a16:creationId xmlns:a16="http://schemas.microsoft.com/office/drawing/2014/main" id="{1741B065-A589-4A32-A6F3-749FF391B38E}"/>
              </a:ext>
            </a:extLst>
          </p:cNvPr>
          <p:cNvSpPr>
            <a:spLocks noGrp="1"/>
          </p:cNvSpPr>
          <p:nvPr/>
        </p:nvSpPr>
        <p:spPr>
          <a:xfrm>
            <a:off x="2638425" y="3320951"/>
            <a:ext cx="742950" cy="742950"/>
          </a:xfrm>
          <a:prstGeom prst="rect">
            <a:avLst/>
          </a:prstGeom>
          <a:solidFill>
            <a:srgbClr val="F2F2F2"/>
          </a:solidFill>
          <a:ln w="0">
            <a:noFill/>
          </a:ln>
        </p:spPr>
        <p:txBody>
          <a:bodyPr/>
          <a:lstStyle/>
          <a:p>
            <a:endParaRPr lang="en-US"/>
          </a:p>
        </p:txBody>
      </p:sp>
      <p:sp>
        <p:nvSpPr>
          <p:cNvPr id="599" name="75">
            <a:extLst>
              <a:ext uri="{FF2B5EF4-FFF2-40B4-BE49-F238E27FC236}">
                <a16:creationId xmlns:a16="http://schemas.microsoft.com/office/drawing/2014/main" id="{6E693FF2-9E95-4201-B4C8-A142A87DC967}"/>
              </a:ext>
            </a:extLst>
          </p:cNvPr>
          <p:cNvSpPr>
            <a:spLocks noGrp="1"/>
          </p:cNvSpPr>
          <p:nvPr/>
        </p:nvSpPr>
        <p:spPr>
          <a:xfrm>
            <a:off x="2647950" y="3530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75</a:t>
            </a:r>
          </a:p>
        </p:txBody>
      </p:sp>
      <p:sp>
        <p:nvSpPr>
          <p:cNvPr id="600" name="Rectangle 599">
            <a:extLst>
              <a:ext uri="{FF2B5EF4-FFF2-40B4-BE49-F238E27FC236}">
                <a16:creationId xmlns:a16="http://schemas.microsoft.com/office/drawing/2014/main" id="{EA89467E-4E91-43E3-86A4-9D4FC549557E}"/>
              </a:ext>
            </a:extLst>
          </p:cNvPr>
          <p:cNvSpPr>
            <a:spLocks noGrp="1"/>
          </p:cNvSpPr>
          <p:nvPr/>
        </p:nvSpPr>
        <p:spPr>
          <a:xfrm>
            <a:off x="3400425" y="3320951"/>
            <a:ext cx="742950" cy="742950"/>
          </a:xfrm>
          <a:prstGeom prst="rect">
            <a:avLst/>
          </a:prstGeom>
          <a:solidFill>
            <a:srgbClr val="F2F2F2"/>
          </a:solidFill>
          <a:ln w="0">
            <a:noFill/>
          </a:ln>
        </p:spPr>
        <p:txBody>
          <a:bodyPr/>
          <a:lstStyle/>
          <a:p>
            <a:endParaRPr lang="en-US"/>
          </a:p>
        </p:txBody>
      </p:sp>
      <p:sp>
        <p:nvSpPr>
          <p:cNvPr id="601" name="40">
            <a:extLst>
              <a:ext uri="{FF2B5EF4-FFF2-40B4-BE49-F238E27FC236}">
                <a16:creationId xmlns:a16="http://schemas.microsoft.com/office/drawing/2014/main" id="{65BBB772-4CBD-4A3D-8CF3-20104ADF6330}"/>
              </a:ext>
            </a:extLst>
          </p:cNvPr>
          <p:cNvSpPr>
            <a:spLocks noGrp="1"/>
          </p:cNvSpPr>
          <p:nvPr/>
        </p:nvSpPr>
        <p:spPr>
          <a:xfrm>
            <a:off x="3409950" y="3530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14</a:t>
            </a:r>
          </a:p>
        </p:txBody>
      </p:sp>
      <p:sp>
        <p:nvSpPr>
          <p:cNvPr id="602" name="Rectangle 601">
            <a:extLst>
              <a:ext uri="{FF2B5EF4-FFF2-40B4-BE49-F238E27FC236}">
                <a16:creationId xmlns:a16="http://schemas.microsoft.com/office/drawing/2014/main" id="{98264695-B981-4B60-A3B7-45AB5D197C5B}"/>
              </a:ext>
            </a:extLst>
          </p:cNvPr>
          <p:cNvSpPr>
            <a:spLocks noGrp="1"/>
          </p:cNvSpPr>
          <p:nvPr/>
        </p:nvSpPr>
        <p:spPr>
          <a:xfrm>
            <a:off x="1114425" y="4082951"/>
            <a:ext cx="742950" cy="742950"/>
          </a:xfrm>
          <a:prstGeom prst="rect">
            <a:avLst/>
          </a:prstGeom>
          <a:solidFill>
            <a:srgbClr val="F2F2F2"/>
          </a:solidFill>
          <a:ln w="0">
            <a:noFill/>
          </a:ln>
        </p:spPr>
        <p:txBody>
          <a:bodyPr/>
          <a:lstStyle/>
          <a:p>
            <a:endParaRPr lang="en-US"/>
          </a:p>
        </p:txBody>
      </p:sp>
      <p:sp>
        <p:nvSpPr>
          <p:cNvPr id="603" name="42">
            <a:extLst>
              <a:ext uri="{FF2B5EF4-FFF2-40B4-BE49-F238E27FC236}">
                <a16:creationId xmlns:a16="http://schemas.microsoft.com/office/drawing/2014/main" id="{4FBE7EBE-EC57-4791-A404-41BAEE31BE5C}"/>
              </a:ext>
            </a:extLst>
          </p:cNvPr>
          <p:cNvSpPr>
            <a:spLocks noGrp="1"/>
          </p:cNvSpPr>
          <p:nvPr/>
        </p:nvSpPr>
        <p:spPr>
          <a:xfrm>
            <a:off x="1123950" y="4292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a:t>
            </a:r>
          </a:p>
        </p:txBody>
      </p:sp>
      <p:sp>
        <p:nvSpPr>
          <p:cNvPr id="604" name="Rectangle 603">
            <a:extLst>
              <a:ext uri="{FF2B5EF4-FFF2-40B4-BE49-F238E27FC236}">
                <a16:creationId xmlns:a16="http://schemas.microsoft.com/office/drawing/2014/main" id="{4A2145E4-CACD-4F97-9067-D19FD95C84BC}"/>
              </a:ext>
            </a:extLst>
          </p:cNvPr>
          <p:cNvSpPr>
            <a:spLocks noGrp="1"/>
          </p:cNvSpPr>
          <p:nvPr/>
        </p:nvSpPr>
        <p:spPr>
          <a:xfrm>
            <a:off x="1876425" y="4082951"/>
            <a:ext cx="742950" cy="742950"/>
          </a:xfrm>
          <a:prstGeom prst="rect">
            <a:avLst/>
          </a:prstGeom>
          <a:solidFill>
            <a:srgbClr val="F2F2F2"/>
          </a:solidFill>
          <a:ln w="0">
            <a:noFill/>
          </a:ln>
        </p:spPr>
        <p:txBody>
          <a:bodyPr/>
          <a:lstStyle/>
          <a:p>
            <a:endParaRPr lang="en-US"/>
          </a:p>
        </p:txBody>
      </p:sp>
      <p:sp>
        <p:nvSpPr>
          <p:cNvPr id="605" name="93">
            <a:extLst>
              <a:ext uri="{FF2B5EF4-FFF2-40B4-BE49-F238E27FC236}">
                <a16:creationId xmlns:a16="http://schemas.microsoft.com/office/drawing/2014/main" id="{B33826F1-97EE-49FD-BF10-2B1CA3155D78}"/>
              </a:ext>
            </a:extLst>
          </p:cNvPr>
          <p:cNvSpPr>
            <a:spLocks noGrp="1"/>
          </p:cNvSpPr>
          <p:nvPr/>
        </p:nvSpPr>
        <p:spPr>
          <a:xfrm>
            <a:off x="1885950" y="4292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59</a:t>
            </a:r>
          </a:p>
        </p:txBody>
      </p:sp>
      <p:sp>
        <p:nvSpPr>
          <p:cNvPr id="606" name="Rectangle 605">
            <a:extLst>
              <a:ext uri="{FF2B5EF4-FFF2-40B4-BE49-F238E27FC236}">
                <a16:creationId xmlns:a16="http://schemas.microsoft.com/office/drawing/2014/main" id="{744B05F3-5989-4A6C-852E-958688C6F1D7}"/>
              </a:ext>
            </a:extLst>
          </p:cNvPr>
          <p:cNvSpPr>
            <a:spLocks noGrp="1"/>
          </p:cNvSpPr>
          <p:nvPr/>
        </p:nvSpPr>
        <p:spPr>
          <a:xfrm>
            <a:off x="2638425" y="4082951"/>
            <a:ext cx="742950" cy="742950"/>
          </a:xfrm>
          <a:prstGeom prst="rect">
            <a:avLst/>
          </a:prstGeom>
          <a:solidFill>
            <a:srgbClr val="DBEAF7"/>
          </a:solidFill>
          <a:ln w="0">
            <a:noFill/>
          </a:ln>
        </p:spPr>
        <p:txBody>
          <a:bodyPr/>
          <a:lstStyle/>
          <a:p>
            <a:endParaRPr lang="en-US"/>
          </a:p>
        </p:txBody>
      </p:sp>
      <p:sp>
        <p:nvSpPr>
          <p:cNvPr id="607" name="109">
            <a:extLst>
              <a:ext uri="{FF2B5EF4-FFF2-40B4-BE49-F238E27FC236}">
                <a16:creationId xmlns:a16="http://schemas.microsoft.com/office/drawing/2014/main" id="{69F449AD-3C64-4102-9C8C-2ABE1259890D}"/>
              </a:ext>
            </a:extLst>
          </p:cNvPr>
          <p:cNvSpPr>
            <a:spLocks noGrp="1"/>
          </p:cNvSpPr>
          <p:nvPr/>
        </p:nvSpPr>
        <p:spPr>
          <a:xfrm>
            <a:off x="2647950" y="4292501"/>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131</a:t>
            </a:r>
          </a:p>
        </p:txBody>
      </p:sp>
      <p:sp>
        <p:nvSpPr>
          <p:cNvPr id="608" name="Rectangle 607">
            <a:extLst>
              <a:ext uri="{FF2B5EF4-FFF2-40B4-BE49-F238E27FC236}">
                <a16:creationId xmlns:a16="http://schemas.microsoft.com/office/drawing/2014/main" id="{91D34F1E-D72B-402C-AF44-D52C25647404}"/>
              </a:ext>
            </a:extLst>
          </p:cNvPr>
          <p:cNvSpPr>
            <a:spLocks noGrp="1"/>
          </p:cNvSpPr>
          <p:nvPr/>
        </p:nvSpPr>
        <p:spPr>
          <a:xfrm>
            <a:off x="3400425" y="4082951"/>
            <a:ext cx="742950" cy="742950"/>
          </a:xfrm>
          <a:prstGeom prst="rect">
            <a:avLst/>
          </a:prstGeom>
          <a:solidFill>
            <a:srgbClr val="F2F2F2"/>
          </a:solidFill>
          <a:ln w="0">
            <a:noFill/>
          </a:ln>
        </p:spPr>
        <p:txBody>
          <a:bodyPr/>
          <a:lstStyle/>
          <a:p>
            <a:endParaRPr lang="en-US"/>
          </a:p>
        </p:txBody>
      </p:sp>
      <p:sp>
        <p:nvSpPr>
          <p:cNvPr id="609" name="56">
            <a:extLst>
              <a:ext uri="{FF2B5EF4-FFF2-40B4-BE49-F238E27FC236}">
                <a16:creationId xmlns:a16="http://schemas.microsoft.com/office/drawing/2014/main" id="{CC10493B-6C60-467F-9119-60E4E99AF875}"/>
              </a:ext>
            </a:extLst>
          </p:cNvPr>
          <p:cNvSpPr>
            <a:spLocks noGrp="1"/>
          </p:cNvSpPr>
          <p:nvPr/>
        </p:nvSpPr>
        <p:spPr>
          <a:xfrm>
            <a:off x="3409950" y="4292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66</a:t>
            </a:r>
          </a:p>
        </p:txBody>
      </p:sp>
      <p:sp>
        <p:nvSpPr>
          <p:cNvPr id="610" name="Rectangle 609">
            <a:extLst>
              <a:ext uri="{FF2B5EF4-FFF2-40B4-BE49-F238E27FC236}">
                <a16:creationId xmlns:a16="http://schemas.microsoft.com/office/drawing/2014/main" id="{F2C1BB96-9BE2-4381-9A73-7251356CCFA6}"/>
              </a:ext>
            </a:extLst>
          </p:cNvPr>
          <p:cNvSpPr>
            <a:spLocks noGrp="1"/>
          </p:cNvSpPr>
          <p:nvPr/>
        </p:nvSpPr>
        <p:spPr>
          <a:xfrm>
            <a:off x="1114425" y="4844951"/>
            <a:ext cx="742950" cy="742950"/>
          </a:xfrm>
          <a:prstGeom prst="rect">
            <a:avLst/>
          </a:prstGeom>
          <a:solidFill>
            <a:srgbClr val="F2F2F2"/>
          </a:solidFill>
          <a:ln w="0">
            <a:noFill/>
          </a:ln>
        </p:spPr>
        <p:txBody>
          <a:bodyPr/>
          <a:lstStyle/>
          <a:p>
            <a:endParaRPr lang="en-US"/>
          </a:p>
        </p:txBody>
      </p:sp>
      <p:sp>
        <p:nvSpPr>
          <p:cNvPr id="611" name="35">
            <a:extLst>
              <a:ext uri="{FF2B5EF4-FFF2-40B4-BE49-F238E27FC236}">
                <a16:creationId xmlns:a16="http://schemas.microsoft.com/office/drawing/2014/main" id="{3836D571-8D4C-4AE7-BE4D-7985478AFF2C}"/>
              </a:ext>
            </a:extLst>
          </p:cNvPr>
          <p:cNvSpPr>
            <a:spLocks noGrp="1"/>
          </p:cNvSpPr>
          <p:nvPr/>
        </p:nvSpPr>
        <p:spPr>
          <a:xfrm>
            <a:off x="1123950" y="5054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12</a:t>
            </a:r>
          </a:p>
        </p:txBody>
      </p:sp>
      <p:sp>
        <p:nvSpPr>
          <p:cNvPr id="612" name="Rectangle 611">
            <a:extLst>
              <a:ext uri="{FF2B5EF4-FFF2-40B4-BE49-F238E27FC236}">
                <a16:creationId xmlns:a16="http://schemas.microsoft.com/office/drawing/2014/main" id="{A974C435-DD44-4BF0-93FA-7CEF348920BD}"/>
              </a:ext>
            </a:extLst>
          </p:cNvPr>
          <p:cNvSpPr>
            <a:spLocks noGrp="1"/>
          </p:cNvSpPr>
          <p:nvPr/>
        </p:nvSpPr>
        <p:spPr>
          <a:xfrm>
            <a:off x="1876425" y="4844951"/>
            <a:ext cx="742950" cy="742950"/>
          </a:xfrm>
          <a:prstGeom prst="rect">
            <a:avLst/>
          </a:prstGeom>
          <a:solidFill>
            <a:srgbClr val="F2F2F2"/>
          </a:solidFill>
          <a:ln w="0">
            <a:noFill/>
          </a:ln>
        </p:spPr>
        <p:txBody>
          <a:bodyPr/>
          <a:lstStyle/>
          <a:p>
            <a:endParaRPr lang="en-US"/>
          </a:p>
        </p:txBody>
      </p:sp>
      <p:sp>
        <p:nvSpPr>
          <p:cNvPr id="613" name="56">
            <a:extLst>
              <a:ext uri="{FF2B5EF4-FFF2-40B4-BE49-F238E27FC236}">
                <a16:creationId xmlns:a16="http://schemas.microsoft.com/office/drawing/2014/main" id="{ACF3F70D-BB54-44D5-9F92-30F1A6029EF6}"/>
              </a:ext>
            </a:extLst>
          </p:cNvPr>
          <p:cNvSpPr>
            <a:spLocks noGrp="1"/>
          </p:cNvSpPr>
          <p:nvPr/>
        </p:nvSpPr>
        <p:spPr>
          <a:xfrm>
            <a:off x="1885950" y="5054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a:t>
            </a:r>
          </a:p>
        </p:txBody>
      </p:sp>
      <p:sp>
        <p:nvSpPr>
          <p:cNvPr id="614" name="Rectangle 613">
            <a:extLst>
              <a:ext uri="{FF2B5EF4-FFF2-40B4-BE49-F238E27FC236}">
                <a16:creationId xmlns:a16="http://schemas.microsoft.com/office/drawing/2014/main" id="{32CFB375-EE95-40D6-ABD5-ACB5FA461353}"/>
              </a:ext>
            </a:extLst>
          </p:cNvPr>
          <p:cNvSpPr>
            <a:spLocks noGrp="1"/>
          </p:cNvSpPr>
          <p:nvPr/>
        </p:nvSpPr>
        <p:spPr>
          <a:xfrm>
            <a:off x="2638425" y="4844951"/>
            <a:ext cx="742950" cy="742950"/>
          </a:xfrm>
          <a:prstGeom prst="rect">
            <a:avLst/>
          </a:prstGeom>
          <a:solidFill>
            <a:srgbClr val="F2F2F2"/>
          </a:solidFill>
          <a:ln w="0">
            <a:noFill/>
          </a:ln>
        </p:spPr>
        <p:txBody>
          <a:bodyPr/>
          <a:lstStyle/>
          <a:p>
            <a:endParaRPr lang="en-US"/>
          </a:p>
        </p:txBody>
      </p:sp>
      <p:sp>
        <p:nvSpPr>
          <p:cNvPr id="615" name="70">
            <a:extLst>
              <a:ext uri="{FF2B5EF4-FFF2-40B4-BE49-F238E27FC236}">
                <a16:creationId xmlns:a16="http://schemas.microsoft.com/office/drawing/2014/main" id="{46C2F5B0-9491-45E5-A00D-350B6F2D910F}"/>
              </a:ext>
            </a:extLst>
          </p:cNvPr>
          <p:cNvSpPr>
            <a:spLocks noGrp="1"/>
          </p:cNvSpPr>
          <p:nvPr/>
        </p:nvSpPr>
        <p:spPr>
          <a:xfrm>
            <a:off x="2647950" y="5054501"/>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44</a:t>
            </a:r>
          </a:p>
        </p:txBody>
      </p:sp>
      <p:sp>
        <p:nvSpPr>
          <p:cNvPr id="616" name="Rectangle 615">
            <a:extLst>
              <a:ext uri="{FF2B5EF4-FFF2-40B4-BE49-F238E27FC236}">
                <a16:creationId xmlns:a16="http://schemas.microsoft.com/office/drawing/2014/main" id="{7F01A60E-F14E-4487-909D-37D501A6EE68}"/>
              </a:ext>
            </a:extLst>
          </p:cNvPr>
          <p:cNvSpPr>
            <a:spLocks noGrp="1"/>
          </p:cNvSpPr>
          <p:nvPr/>
        </p:nvSpPr>
        <p:spPr>
          <a:xfrm>
            <a:off x="3400425" y="4844951"/>
            <a:ext cx="742950" cy="742950"/>
          </a:xfrm>
          <a:prstGeom prst="rect">
            <a:avLst/>
          </a:prstGeom>
          <a:solidFill>
            <a:srgbClr val="DBEAF7"/>
          </a:solidFill>
          <a:ln w="0">
            <a:noFill/>
          </a:ln>
        </p:spPr>
        <p:txBody>
          <a:bodyPr/>
          <a:lstStyle/>
          <a:p>
            <a:endParaRPr lang="en-US"/>
          </a:p>
        </p:txBody>
      </p:sp>
      <p:sp>
        <p:nvSpPr>
          <p:cNvPr id="617" name="85">
            <a:extLst>
              <a:ext uri="{FF2B5EF4-FFF2-40B4-BE49-F238E27FC236}">
                <a16:creationId xmlns:a16="http://schemas.microsoft.com/office/drawing/2014/main" id="{162A5730-C506-487B-942D-A1F5AFED878C}"/>
              </a:ext>
            </a:extLst>
          </p:cNvPr>
          <p:cNvSpPr>
            <a:spLocks noGrp="1"/>
          </p:cNvSpPr>
          <p:nvPr/>
        </p:nvSpPr>
        <p:spPr>
          <a:xfrm>
            <a:off x="3409950" y="5054501"/>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129</a:t>
            </a:r>
          </a:p>
        </p:txBody>
      </p:sp>
      <p:sp>
        <p:nvSpPr>
          <p:cNvPr id="618" name="Main CGPA, stratified 10-fold cross-validation, N = 1,1">
            <a:extLst>
              <a:ext uri="{FF2B5EF4-FFF2-40B4-BE49-F238E27FC236}">
                <a16:creationId xmlns:a16="http://schemas.microsoft.com/office/drawing/2014/main" id="{4C7AB07D-9877-4CF6-B55C-DAD590515C30}"/>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Main CGPA, stratified 5-fold cross-validation, N = 920. </a:t>
            </a:r>
            <a:endParaRPr lang="en-US" sz="1275" b="0" dirty="0">
              <a:solidFill>
                <a:srgbClr val="585858"/>
              </a:solidFill>
              <a:latin typeface="Times New Roman"/>
              <a:ea typeface="Times New Roman"/>
              <a:cs typeface="Times New Roman"/>
            </a:endParaRPr>
          </a:p>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Rows actual, columns predicted.</a:t>
            </a:r>
          </a:p>
        </p:txBody>
      </p:sp>
    </p:spTree>
    <p:extLst>
      <p:ext uri="{BB962C8B-B14F-4D97-AF65-F5344CB8AC3E}">
        <p14:creationId xmlns:p14="http://schemas.microsoft.com/office/powerpoint/2010/main" val="15247252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B01E2E-FB91-9FC7-A958-3EC781EFD201}"/>
              </a:ext>
            </a:extLst>
          </p:cNvPr>
          <p:cNvPicPr>
            <a:picLocks noChangeAspect="1"/>
          </p:cNvPicPr>
          <p:nvPr/>
        </p:nvPicPr>
        <p:blipFill>
          <a:blip r:embed="rId3"/>
          <a:stretch>
            <a:fillRect/>
          </a:stretch>
        </p:blipFill>
        <p:spPr>
          <a:xfrm>
            <a:off x="4845612" y="0"/>
            <a:ext cx="7358529" cy="6858000"/>
          </a:xfrm>
          <a:prstGeom prst="rect">
            <a:avLst/>
          </a:prstGeom>
        </p:spPr>
      </p:pic>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dirty="0">
                <a:latin typeface="Times New Roman"/>
                <a:ea typeface="Times New Roman"/>
                <a:cs typeface="Times New Roman"/>
              </a:rPr>
              <a:t>41</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WEKA Logistic matri</a:t>
            </a:r>
            <a:r>
              <a:rPr lang="en-US" sz="3000" dirty="0">
                <a:latin typeface="Times New Roman"/>
                <a:ea typeface="Times New Roman"/>
                <a:cs typeface="Times New Roman"/>
              </a:rPr>
              <a:t>x</a:t>
            </a:r>
            <a:endParaRPr sz="3000" dirty="0">
              <a:latin typeface="Times New Roman"/>
              <a:ea typeface="Times New Roman"/>
              <a:cs typeface="Times New Roman"/>
            </a:endParaRPr>
          </a:p>
        </p:txBody>
      </p:sp>
      <p:sp>
        <p:nvSpPr>
          <p:cNvPr id="534" name="Logistic">
            <a:extLst>
              <a:ext uri="{FF2B5EF4-FFF2-40B4-BE49-F238E27FC236}">
                <a16:creationId xmlns:a16="http://schemas.microsoft.com/office/drawing/2014/main" id="{71F8A36B-87E3-4D72-9BC7-3C6DEEDBF61D}"/>
              </a:ext>
            </a:extLst>
          </p:cNvPr>
          <p:cNvSpPr>
            <a:spLocks noGrp="1"/>
          </p:cNvSpPr>
          <p:nvPr/>
        </p:nvSpPr>
        <p:spPr>
          <a:xfrm>
            <a:off x="666750" y="1552575"/>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dirty="0">
                <a:solidFill>
                  <a:srgbClr val="121212"/>
                </a:solidFill>
                <a:latin typeface="Times New Roman"/>
                <a:ea typeface="Times New Roman"/>
                <a:cs typeface="Times New Roman"/>
              </a:rPr>
              <a:t>Logistic</a:t>
            </a:r>
            <a:r>
              <a:rPr lang="en-US" sz="1875" b="0" dirty="0">
                <a:solidFill>
                  <a:srgbClr val="121212"/>
                </a:solidFill>
                <a:latin typeface="Times New Roman"/>
                <a:ea typeface="Times New Roman"/>
                <a:cs typeface="Times New Roman"/>
              </a:rPr>
              <a:t> 5-fold</a:t>
            </a:r>
            <a:endParaRPr sz="1875" b="0" dirty="0">
              <a:solidFill>
                <a:srgbClr val="121212"/>
              </a:solidFill>
              <a:latin typeface="Times New Roman"/>
              <a:ea typeface="Times New Roman"/>
              <a:cs typeface="Times New Roman"/>
            </a:endParaRPr>
          </a:p>
        </p:txBody>
      </p:sp>
      <p:sp>
        <p:nvSpPr>
          <p:cNvPr id="535" name="Predicted">
            <a:extLst>
              <a:ext uri="{FF2B5EF4-FFF2-40B4-BE49-F238E27FC236}">
                <a16:creationId xmlns:a16="http://schemas.microsoft.com/office/drawing/2014/main" id="{5D2907A2-97A3-4833-87BD-62DE2730B7E1}"/>
              </a:ext>
            </a:extLst>
          </p:cNvPr>
          <p:cNvSpPr>
            <a:spLocks noGrp="1"/>
          </p:cNvSpPr>
          <p:nvPr/>
        </p:nvSpPr>
        <p:spPr>
          <a:xfrm>
            <a:off x="1619250" y="20002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D767E7CB-B82F-42C2-8D51-1FF586E3E2E8}"/>
              </a:ext>
            </a:extLst>
          </p:cNvPr>
          <p:cNvSpPr>
            <a:spLocks noGrp="1"/>
          </p:cNvSpPr>
          <p:nvPr/>
        </p:nvSpPr>
        <p:spPr>
          <a:xfrm>
            <a:off x="1476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B0EF0506-CBA4-49A2-BCFB-A7DF28548AD0}"/>
              </a:ext>
            </a:extLst>
          </p:cNvPr>
          <p:cNvSpPr>
            <a:spLocks noGrp="1"/>
          </p:cNvSpPr>
          <p:nvPr/>
        </p:nvSpPr>
        <p:spPr>
          <a:xfrm>
            <a:off x="762000" y="2809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0FCD3A40-E23A-447C-99BB-F16241013EA3}"/>
              </a:ext>
            </a:extLst>
          </p:cNvPr>
          <p:cNvSpPr>
            <a:spLocks noGrp="1"/>
          </p:cNvSpPr>
          <p:nvPr/>
        </p:nvSpPr>
        <p:spPr>
          <a:xfrm>
            <a:off x="2238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67E79395-5FED-47E2-BC08-5294D73F6B67}"/>
              </a:ext>
            </a:extLst>
          </p:cNvPr>
          <p:cNvSpPr>
            <a:spLocks noGrp="1"/>
          </p:cNvSpPr>
          <p:nvPr/>
        </p:nvSpPr>
        <p:spPr>
          <a:xfrm>
            <a:off x="762000" y="3571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437EEFDB-BC9C-4904-A8B3-630A2AE24863}"/>
              </a:ext>
            </a:extLst>
          </p:cNvPr>
          <p:cNvSpPr>
            <a:spLocks noGrp="1"/>
          </p:cNvSpPr>
          <p:nvPr/>
        </p:nvSpPr>
        <p:spPr>
          <a:xfrm>
            <a:off x="3000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F8840D07-918B-415C-A5BA-17023F5896EA}"/>
              </a:ext>
            </a:extLst>
          </p:cNvPr>
          <p:cNvSpPr>
            <a:spLocks noGrp="1"/>
          </p:cNvSpPr>
          <p:nvPr/>
        </p:nvSpPr>
        <p:spPr>
          <a:xfrm>
            <a:off x="762000" y="4333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0E9DD2B0-FB5C-4AB6-B187-E0C477AE883A}"/>
              </a:ext>
            </a:extLst>
          </p:cNvPr>
          <p:cNvSpPr>
            <a:spLocks noGrp="1"/>
          </p:cNvSpPr>
          <p:nvPr/>
        </p:nvSpPr>
        <p:spPr>
          <a:xfrm>
            <a:off x="3762375" y="23622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7DEAA965-78FB-4C97-BCB3-63225FA6E2B4}"/>
              </a:ext>
            </a:extLst>
          </p:cNvPr>
          <p:cNvSpPr>
            <a:spLocks noGrp="1"/>
          </p:cNvSpPr>
          <p:nvPr/>
        </p:nvSpPr>
        <p:spPr>
          <a:xfrm>
            <a:off x="762000" y="50958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BE45CE72-815A-4C4F-8F9C-C1949DB93A50}"/>
              </a:ext>
            </a:extLst>
          </p:cNvPr>
          <p:cNvSpPr>
            <a:spLocks noGrp="1"/>
          </p:cNvSpPr>
          <p:nvPr/>
        </p:nvSpPr>
        <p:spPr>
          <a:xfrm>
            <a:off x="1381125" y="2733675"/>
            <a:ext cx="742950" cy="742950"/>
          </a:xfrm>
          <a:prstGeom prst="rect">
            <a:avLst/>
          </a:prstGeom>
          <a:solidFill>
            <a:srgbClr val="DBEAF7"/>
          </a:solidFill>
          <a:ln w="0">
            <a:noFill/>
          </a:ln>
        </p:spPr>
        <p:txBody>
          <a:bodyPr/>
          <a:lstStyle/>
          <a:p>
            <a:endParaRPr lang="en-US"/>
          </a:p>
        </p:txBody>
      </p:sp>
      <p:sp>
        <p:nvSpPr>
          <p:cNvPr id="545" name="61">
            <a:extLst>
              <a:ext uri="{FF2B5EF4-FFF2-40B4-BE49-F238E27FC236}">
                <a16:creationId xmlns:a16="http://schemas.microsoft.com/office/drawing/2014/main" id="{4D93DA6B-4ADB-4934-A9F8-61A56E06ED2F}"/>
              </a:ext>
            </a:extLst>
          </p:cNvPr>
          <p:cNvSpPr>
            <a:spLocks noGrp="1"/>
          </p:cNvSpPr>
          <p:nvPr/>
        </p:nvSpPr>
        <p:spPr>
          <a:xfrm>
            <a:off x="1390650" y="2943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100</a:t>
            </a:r>
          </a:p>
        </p:txBody>
      </p:sp>
      <p:sp>
        <p:nvSpPr>
          <p:cNvPr id="546" name="Rectangle 545">
            <a:extLst>
              <a:ext uri="{FF2B5EF4-FFF2-40B4-BE49-F238E27FC236}">
                <a16:creationId xmlns:a16="http://schemas.microsoft.com/office/drawing/2014/main" id="{51AD29BD-3947-42BD-8806-56420D2B91B4}"/>
              </a:ext>
            </a:extLst>
          </p:cNvPr>
          <p:cNvSpPr>
            <a:spLocks noGrp="1"/>
          </p:cNvSpPr>
          <p:nvPr/>
        </p:nvSpPr>
        <p:spPr>
          <a:xfrm>
            <a:off x="2143125" y="2733675"/>
            <a:ext cx="742950" cy="742950"/>
          </a:xfrm>
          <a:prstGeom prst="rect">
            <a:avLst/>
          </a:prstGeom>
          <a:solidFill>
            <a:srgbClr val="F2F2F2"/>
          </a:solidFill>
          <a:ln w="0">
            <a:noFill/>
          </a:ln>
        </p:spPr>
        <p:txBody>
          <a:bodyPr/>
          <a:lstStyle/>
          <a:p>
            <a:endParaRPr lang="en-US"/>
          </a:p>
        </p:txBody>
      </p:sp>
      <p:sp>
        <p:nvSpPr>
          <p:cNvPr id="547" name="107">
            <a:extLst>
              <a:ext uri="{FF2B5EF4-FFF2-40B4-BE49-F238E27FC236}">
                <a16:creationId xmlns:a16="http://schemas.microsoft.com/office/drawing/2014/main" id="{68DE8935-CCBF-4003-9AB5-B61A5E4DEC34}"/>
              </a:ext>
            </a:extLst>
          </p:cNvPr>
          <p:cNvSpPr>
            <a:spLocks noGrp="1"/>
          </p:cNvSpPr>
          <p:nvPr/>
        </p:nvSpPr>
        <p:spPr>
          <a:xfrm>
            <a:off x="2152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60</a:t>
            </a:r>
          </a:p>
        </p:txBody>
      </p:sp>
      <p:sp>
        <p:nvSpPr>
          <p:cNvPr id="548" name="Rectangle 547">
            <a:extLst>
              <a:ext uri="{FF2B5EF4-FFF2-40B4-BE49-F238E27FC236}">
                <a16:creationId xmlns:a16="http://schemas.microsoft.com/office/drawing/2014/main" id="{FC206170-E419-4688-8761-ABB3F19152D3}"/>
              </a:ext>
            </a:extLst>
          </p:cNvPr>
          <p:cNvSpPr>
            <a:spLocks noGrp="1"/>
          </p:cNvSpPr>
          <p:nvPr/>
        </p:nvSpPr>
        <p:spPr>
          <a:xfrm>
            <a:off x="2905125" y="2733675"/>
            <a:ext cx="742950" cy="742950"/>
          </a:xfrm>
          <a:prstGeom prst="rect">
            <a:avLst/>
          </a:prstGeom>
          <a:solidFill>
            <a:srgbClr val="F2F2F2"/>
          </a:solidFill>
          <a:ln w="0">
            <a:noFill/>
          </a:ln>
        </p:spPr>
        <p:txBody>
          <a:bodyPr/>
          <a:lstStyle/>
          <a:p>
            <a:endParaRPr lang="en-US"/>
          </a:p>
        </p:txBody>
      </p:sp>
      <p:sp>
        <p:nvSpPr>
          <p:cNvPr id="549" name="38">
            <a:extLst>
              <a:ext uri="{FF2B5EF4-FFF2-40B4-BE49-F238E27FC236}">
                <a16:creationId xmlns:a16="http://schemas.microsoft.com/office/drawing/2014/main" id="{73F37CE0-F045-492A-AB98-E404B44489E4}"/>
              </a:ext>
            </a:extLst>
          </p:cNvPr>
          <p:cNvSpPr>
            <a:spLocks noGrp="1"/>
          </p:cNvSpPr>
          <p:nvPr/>
        </p:nvSpPr>
        <p:spPr>
          <a:xfrm>
            <a:off x="2914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14</a:t>
            </a:r>
          </a:p>
        </p:txBody>
      </p:sp>
      <p:sp>
        <p:nvSpPr>
          <p:cNvPr id="550" name="Rectangle 549">
            <a:extLst>
              <a:ext uri="{FF2B5EF4-FFF2-40B4-BE49-F238E27FC236}">
                <a16:creationId xmlns:a16="http://schemas.microsoft.com/office/drawing/2014/main" id="{A85DC6C7-C162-4941-A04A-D9AC991BCF28}"/>
              </a:ext>
            </a:extLst>
          </p:cNvPr>
          <p:cNvSpPr>
            <a:spLocks noGrp="1"/>
          </p:cNvSpPr>
          <p:nvPr/>
        </p:nvSpPr>
        <p:spPr>
          <a:xfrm>
            <a:off x="3667125" y="2733675"/>
            <a:ext cx="742950" cy="742950"/>
          </a:xfrm>
          <a:prstGeom prst="rect">
            <a:avLst/>
          </a:prstGeom>
          <a:solidFill>
            <a:srgbClr val="F2F2F2"/>
          </a:solidFill>
          <a:ln w="0">
            <a:noFill/>
          </a:ln>
        </p:spPr>
        <p:txBody>
          <a:bodyPr/>
          <a:lstStyle/>
          <a:p>
            <a:endParaRPr lang="en-US"/>
          </a:p>
        </p:txBody>
      </p:sp>
      <p:sp>
        <p:nvSpPr>
          <p:cNvPr id="551" name="30">
            <a:extLst>
              <a:ext uri="{FF2B5EF4-FFF2-40B4-BE49-F238E27FC236}">
                <a16:creationId xmlns:a16="http://schemas.microsoft.com/office/drawing/2014/main" id="{50FA316A-1E87-4C52-BA5A-B428848A76D7}"/>
              </a:ext>
            </a:extLst>
          </p:cNvPr>
          <p:cNvSpPr>
            <a:spLocks noGrp="1"/>
          </p:cNvSpPr>
          <p:nvPr/>
        </p:nvSpPr>
        <p:spPr>
          <a:xfrm>
            <a:off x="3676650" y="2943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a:t>
            </a:r>
          </a:p>
        </p:txBody>
      </p:sp>
      <p:sp>
        <p:nvSpPr>
          <p:cNvPr id="552" name="Rectangle 551">
            <a:extLst>
              <a:ext uri="{FF2B5EF4-FFF2-40B4-BE49-F238E27FC236}">
                <a16:creationId xmlns:a16="http://schemas.microsoft.com/office/drawing/2014/main" id="{1837818E-BE1D-45AB-AD19-430E8F54A6BE}"/>
              </a:ext>
            </a:extLst>
          </p:cNvPr>
          <p:cNvSpPr>
            <a:spLocks noGrp="1"/>
          </p:cNvSpPr>
          <p:nvPr/>
        </p:nvSpPr>
        <p:spPr>
          <a:xfrm>
            <a:off x="1381125" y="3495675"/>
            <a:ext cx="742950" cy="742950"/>
          </a:xfrm>
          <a:prstGeom prst="rect">
            <a:avLst/>
          </a:prstGeom>
          <a:solidFill>
            <a:srgbClr val="F2F2F2"/>
          </a:solidFill>
          <a:ln w="0">
            <a:noFill/>
          </a:ln>
        </p:spPr>
        <p:txBody>
          <a:bodyPr/>
          <a:lstStyle/>
          <a:p>
            <a:endParaRPr lang="en-US"/>
          </a:p>
        </p:txBody>
      </p:sp>
      <p:sp>
        <p:nvSpPr>
          <p:cNvPr id="553" name="49">
            <a:extLst>
              <a:ext uri="{FF2B5EF4-FFF2-40B4-BE49-F238E27FC236}">
                <a16:creationId xmlns:a16="http://schemas.microsoft.com/office/drawing/2014/main" id="{835B728D-9A5B-4183-AB9D-EFDCC6D3E246}"/>
              </a:ext>
            </a:extLst>
          </p:cNvPr>
          <p:cNvSpPr>
            <a:spLocks noGrp="1"/>
          </p:cNvSpPr>
          <p:nvPr/>
        </p:nvSpPr>
        <p:spPr>
          <a:xfrm>
            <a:off x="1390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49</a:t>
            </a:r>
          </a:p>
        </p:txBody>
      </p:sp>
      <p:sp>
        <p:nvSpPr>
          <p:cNvPr id="554" name="Rectangle 553">
            <a:extLst>
              <a:ext uri="{FF2B5EF4-FFF2-40B4-BE49-F238E27FC236}">
                <a16:creationId xmlns:a16="http://schemas.microsoft.com/office/drawing/2014/main" id="{D2ACE5B2-26BC-467D-B805-A01A8C4080E2}"/>
              </a:ext>
            </a:extLst>
          </p:cNvPr>
          <p:cNvSpPr>
            <a:spLocks noGrp="1"/>
          </p:cNvSpPr>
          <p:nvPr/>
        </p:nvSpPr>
        <p:spPr>
          <a:xfrm>
            <a:off x="2143125" y="3495675"/>
            <a:ext cx="742950" cy="742950"/>
          </a:xfrm>
          <a:prstGeom prst="rect">
            <a:avLst/>
          </a:prstGeom>
          <a:solidFill>
            <a:srgbClr val="DBEAF7"/>
          </a:solidFill>
          <a:ln w="0">
            <a:noFill/>
          </a:ln>
        </p:spPr>
        <p:txBody>
          <a:bodyPr/>
          <a:lstStyle/>
          <a:p>
            <a:endParaRPr lang="en-US"/>
          </a:p>
        </p:txBody>
      </p:sp>
      <p:sp>
        <p:nvSpPr>
          <p:cNvPr id="555" name="145">
            <a:extLst>
              <a:ext uri="{FF2B5EF4-FFF2-40B4-BE49-F238E27FC236}">
                <a16:creationId xmlns:a16="http://schemas.microsoft.com/office/drawing/2014/main" id="{796654AF-FFAE-4C6D-B669-27A27F07A419}"/>
              </a:ext>
            </a:extLst>
          </p:cNvPr>
          <p:cNvSpPr>
            <a:spLocks noGrp="1"/>
          </p:cNvSpPr>
          <p:nvPr/>
        </p:nvSpPr>
        <p:spPr>
          <a:xfrm>
            <a:off x="2152650" y="3705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151</a:t>
            </a:r>
          </a:p>
        </p:txBody>
      </p:sp>
      <p:sp>
        <p:nvSpPr>
          <p:cNvPr id="556" name="Rectangle 555">
            <a:extLst>
              <a:ext uri="{FF2B5EF4-FFF2-40B4-BE49-F238E27FC236}">
                <a16:creationId xmlns:a16="http://schemas.microsoft.com/office/drawing/2014/main" id="{C8A70F48-3AB3-476A-AF22-46C0AEF9F28F}"/>
              </a:ext>
            </a:extLst>
          </p:cNvPr>
          <p:cNvSpPr>
            <a:spLocks noGrp="1"/>
          </p:cNvSpPr>
          <p:nvPr/>
        </p:nvSpPr>
        <p:spPr>
          <a:xfrm>
            <a:off x="2905125" y="3495675"/>
            <a:ext cx="742950" cy="742950"/>
          </a:xfrm>
          <a:prstGeom prst="rect">
            <a:avLst/>
          </a:prstGeom>
          <a:solidFill>
            <a:srgbClr val="F2F2F2"/>
          </a:solidFill>
          <a:ln w="0">
            <a:noFill/>
          </a:ln>
        </p:spPr>
        <p:txBody>
          <a:bodyPr/>
          <a:lstStyle/>
          <a:p>
            <a:endParaRPr lang="en-US"/>
          </a:p>
        </p:txBody>
      </p:sp>
      <p:sp>
        <p:nvSpPr>
          <p:cNvPr id="557" name="83">
            <a:extLst>
              <a:ext uri="{FF2B5EF4-FFF2-40B4-BE49-F238E27FC236}">
                <a16:creationId xmlns:a16="http://schemas.microsoft.com/office/drawing/2014/main" id="{061E7EB3-A183-4165-9B6C-36C70DF6432B}"/>
              </a:ext>
            </a:extLst>
          </p:cNvPr>
          <p:cNvSpPr>
            <a:spLocks noGrp="1"/>
          </p:cNvSpPr>
          <p:nvPr/>
        </p:nvSpPr>
        <p:spPr>
          <a:xfrm>
            <a:off x="2914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71</a:t>
            </a:r>
          </a:p>
        </p:txBody>
      </p:sp>
      <p:sp>
        <p:nvSpPr>
          <p:cNvPr id="558" name="Rectangle 557">
            <a:extLst>
              <a:ext uri="{FF2B5EF4-FFF2-40B4-BE49-F238E27FC236}">
                <a16:creationId xmlns:a16="http://schemas.microsoft.com/office/drawing/2014/main" id="{7777C653-2955-4695-B6DD-22DC5F902E3E}"/>
              </a:ext>
            </a:extLst>
          </p:cNvPr>
          <p:cNvSpPr>
            <a:spLocks noGrp="1"/>
          </p:cNvSpPr>
          <p:nvPr/>
        </p:nvSpPr>
        <p:spPr>
          <a:xfrm>
            <a:off x="3667125" y="3495675"/>
            <a:ext cx="742950" cy="742950"/>
          </a:xfrm>
          <a:prstGeom prst="rect">
            <a:avLst/>
          </a:prstGeom>
          <a:solidFill>
            <a:srgbClr val="F2F2F2"/>
          </a:solidFill>
          <a:ln w="0">
            <a:noFill/>
          </a:ln>
        </p:spPr>
        <p:txBody>
          <a:bodyPr/>
          <a:lstStyle/>
          <a:p>
            <a:endParaRPr lang="en-US"/>
          </a:p>
        </p:txBody>
      </p:sp>
      <p:sp>
        <p:nvSpPr>
          <p:cNvPr id="559" name="43">
            <a:extLst>
              <a:ext uri="{FF2B5EF4-FFF2-40B4-BE49-F238E27FC236}">
                <a16:creationId xmlns:a16="http://schemas.microsoft.com/office/drawing/2014/main" id="{ED9195BC-1F38-4F4D-B27B-12302C574EFC}"/>
              </a:ext>
            </a:extLst>
          </p:cNvPr>
          <p:cNvSpPr>
            <a:spLocks noGrp="1"/>
          </p:cNvSpPr>
          <p:nvPr/>
        </p:nvSpPr>
        <p:spPr>
          <a:xfrm>
            <a:off x="3676650" y="3705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13</a:t>
            </a:r>
          </a:p>
        </p:txBody>
      </p:sp>
      <p:sp>
        <p:nvSpPr>
          <p:cNvPr id="560" name="Rectangle 559">
            <a:extLst>
              <a:ext uri="{FF2B5EF4-FFF2-40B4-BE49-F238E27FC236}">
                <a16:creationId xmlns:a16="http://schemas.microsoft.com/office/drawing/2014/main" id="{86039A85-E262-4A56-9146-CD782651E669}"/>
              </a:ext>
            </a:extLst>
          </p:cNvPr>
          <p:cNvSpPr>
            <a:spLocks noGrp="1"/>
          </p:cNvSpPr>
          <p:nvPr/>
        </p:nvSpPr>
        <p:spPr>
          <a:xfrm>
            <a:off x="1381125" y="4257675"/>
            <a:ext cx="742950" cy="742950"/>
          </a:xfrm>
          <a:prstGeom prst="rect">
            <a:avLst/>
          </a:prstGeom>
          <a:solidFill>
            <a:srgbClr val="F2F2F2"/>
          </a:solidFill>
          <a:ln w="0">
            <a:noFill/>
          </a:ln>
        </p:spPr>
        <p:txBody>
          <a:bodyPr/>
          <a:lstStyle/>
          <a:p>
            <a:endParaRPr lang="en-US"/>
          </a:p>
        </p:txBody>
      </p:sp>
      <p:sp>
        <p:nvSpPr>
          <p:cNvPr id="561" name="42">
            <a:extLst>
              <a:ext uri="{FF2B5EF4-FFF2-40B4-BE49-F238E27FC236}">
                <a16:creationId xmlns:a16="http://schemas.microsoft.com/office/drawing/2014/main" id="{1DC7406E-6854-4DDF-B194-3A1E9C590E44}"/>
              </a:ext>
            </a:extLst>
          </p:cNvPr>
          <p:cNvSpPr>
            <a:spLocks noGrp="1"/>
          </p:cNvSpPr>
          <p:nvPr/>
        </p:nvSpPr>
        <p:spPr>
          <a:xfrm>
            <a:off x="1390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9</a:t>
            </a:r>
          </a:p>
        </p:txBody>
      </p:sp>
      <p:sp>
        <p:nvSpPr>
          <p:cNvPr id="562" name="Rectangle 561">
            <a:extLst>
              <a:ext uri="{FF2B5EF4-FFF2-40B4-BE49-F238E27FC236}">
                <a16:creationId xmlns:a16="http://schemas.microsoft.com/office/drawing/2014/main" id="{4483C91D-4728-4415-83DB-482B575419DE}"/>
              </a:ext>
            </a:extLst>
          </p:cNvPr>
          <p:cNvSpPr>
            <a:spLocks noGrp="1"/>
          </p:cNvSpPr>
          <p:nvPr/>
        </p:nvSpPr>
        <p:spPr>
          <a:xfrm>
            <a:off x="2143125" y="4257675"/>
            <a:ext cx="742950" cy="742950"/>
          </a:xfrm>
          <a:prstGeom prst="rect">
            <a:avLst/>
          </a:prstGeom>
          <a:solidFill>
            <a:srgbClr val="F2F2F2"/>
          </a:solidFill>
          <a:ln w="0">
            <a:noFill/>
          </a:ln>
        </p:spPr>
        <p:txBody>
          <a:bodyPr/>
          <a:lstStyle/>
          <a:p>
            <a:endParaRPr lang="en-US"/>
          </a:p>
        </p:txBody>
      </p:sp>
      <p:sp>
        <p:nvSpPr>
          <p:cNvPr id="563" name="92">
            <a:extLst>
              <a:ext uri="{FF2B5EF4-FFF2-40B4-BE49-F238E27FC236}">
                <a16:creationId xmlns:a16="http://schemas.microsoft.com/office/drawing/2014/main" id="{11F7E7C7-5B46-4E28-8224-05CD280886B4}"/>
              </a:ext>
            </a:extLst>
          </p:cNvPr>
          <p:cNvSpPr>
            <a:spLocks noGrp="1"/>
          </p:cNvSpPr>
          <p:nvPr/>
        </p:nvSpPr>
        <p:spPr>
          <a:xfrm>
            <a:off x="2152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62</a:t>
            </a:r>
          </a:p>
        </p:txBody>
      </p:sp>
      <p:sp>
        <p:nvSpPr>
          <p:cNvPr id="564" name="Rectangle 563">
            <a:extLst>
              <a:ext uri="{FF2B5EF4-FFF2-40B4-BE49-F238E27FC236}">
                <a16:creationId xmlns:a16="http://schemas.microsoft.com/office/drawing/2014/main" id="{305BE54F-A0C3-45E1-979B-808ED4D7AEB9}"/>
              </a:ext>
            </a:extLst>
          </p:cNvPr>
          <p:cNvSpPr>
            <a:spLocks noGrp="1"/>
          </p:cNvSpPr>
          <p:nvPr/>
        </p:nvSpPr>
        <p:spPr>
          <a:xfrm>
            <a:off x="2905125" y="4257675"/>
            <a:ext cx="742950" cy="742950"/>
          </a:xfrm>
          <a:prstGeom prst="rect">
            <a:avLst/>
          </a:prstGeom>
          <a:solidFill>
            <a:srgbClr val="DBEAF7"/>
          </a:solidFill>
          <a:ln w="0">
            <a:noFill/>
          </a:ln>
        </p:spPr>
        <p:txBody>
          <a:bodyPr/>
          <a:lstStyle/>
          <a:p>
            <a:endParaRPr lang="en-US"/>
          </a:p>
        </p:txBody>
      </p:sp>
      <p:sp>
        <p:nvSpPr>
          <p:cNvPr id="565" name="101">
            <a:extLst>
              <a:ext uri="{FF2B5EF4-FFF2-40B4-BE49-F238E27FC236}">
                <a16:creationId xmlns:a16="http://schemas.microsoft.com/office/drawing/2014/main" id="{62150027-9A03-4968-B473-74337DCE72D3}"/>
              </a:ext>
            </a:extLst>
          </p:cNvPr>
          <p:cNvSpPr>
            <a:spLocks noGrp="1"/>
          </p:cNvSpPr>
          <p:nvPr/>
        </p:nvSpPr>
        <p:spPr>
          <a:xfrm>
            <a:off x="2914650" y="4467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130</a:t>
            </a:r>
          </a:p>
        </p:txBody>
      </p:sp>
      <p:sp>
        <p:nvSpPr>
          <p:cNvPr id="566" name="Rectangle 565">
            <a:extLst>
              <a:ext uri="{FF2B5EF4-FFF2-40B4-BE49-F238E27FC236}">
                <a16:creationId xmlns:a16="http://schemas.microsoft.com/office/drawing/2014/main" id="{3E8D3E96-345C-4895-8098-822F26D8AA4E}"/>
              </a:ext>
            </a:extLst>
          </p:cNvPr>
          <p:cNvSpPr>
            <a:spLocks noGrp="1"/>
          </p:cNvSpPr>
          <p:nvPr/>
        </p:nvSpPr>
        <p:spPr>
          <a:xfrm>
            <a:off x="3667125" y="4257675"/>
            <a:ext cx="742950" cy="742950"/>
          </a:xfrm>
          <a:prstGeom prst="rect">
            <a:avLst/>
          </a:prstGeom>
          <a:solidFill>
            <a:srgbClr val="F2F2F2"/>
          </a:solidFill>
          <a:ln w="0">
            <a:noFill/>
          </a:ln>
        </p:spPr>
        <p:txBody>
          <a:bodyPr/>
          <a:lstStyle/>
          <a:p>
            <a:endParaRPr lang="en-US"/>
          </a:p>
        </p:txBody>
      </p:sp>
      <p:sp>
        <p:nvSpPr>
          <p:cNvPr id="567" name="65">
            <a:extLst>
              <a:ext uri="{FF2B5EF4-FFF2-40B4-BE49-F238E27FC236}">
                <a16:creationId xmlns:a16="http://schemas.microsoft.com/office/drawing/2014/main" id="{07E9A74B-1785-462C-AC9C-6EDFC889728F}"/>
              </a:ext>
            </a:extLst>
          </p:cNvPr>
          <p:cNvSpPr>
            <a:spLocks noGrp="1"/>
          </p:cNvSpPr>
          <p:nvPr/>
        </p:nvSpPr>
        <p:spPr>
          <a:xfrm>
            <a:off x="3676650" y="4467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63</a:t>
            </a:r>
          </a:p>
        </p:txBody>
      </p:sp>
      <p:sp>
        <p:nvSpPr>
          <p:cNvPr id="568" name="Rectangle 567">
            <a:extLst>
              <a:ext uri="{FF2B5EF4-FFF2-40B4-BE49-F238E27FC236}">
                <a16:creationId xmlns:a16="http://schemas.microsoft.com/office/drawing/2014/main" id="{59B45E0D-360A-4D18-91F7-4B88C0F5A70A}"/>
              </a:ext>
            </a:extLst>
          </p:cNvPr>
          <p:cNvSpPr>
            <a:spLocks noGrp="1"/>
          </p:cNvSpPr>
          <p:nvPr/>
        </p:nvSpPr>
        <p:spPr>
          <a:xfrm>
            <a:off x="1381125" y="5019675"/>
            <a:ext cx="742950" cy="742950"/>
          </a:xfrm>
          <a:prstGeom prst="rect">
            <a:avLst/>
          </a:prstGeom>
          <a:solidFill>
            <a:srgbClr val="F2F2F2"/>
          </a:solidFill>
          <a:ln w="0">
            <a:noFill/>
          </a:ln>
        </p:spPr>
        <p:txBody>
          <a:bodyPr/>
          <a:lstStyle/>
          <a:p>
            <a:endParaRPr lang="en-US"/>
          </a:p>
        </p:txBody>
      </p:sp>
      <p:sp>
        <p:nvSpPr>
          <p:cNvPr id="569" name="31">
            <a:extLst>
              <a:ext uri="{FF2B5EF4-FFF2-40B4-BE49-F238E27FC236}">
                <a16:creationId xmlns:a16="http://schemas.microsoft.com/office/drawing/2014/main" id="{CFC2B8A2-3C72-4A74-8D96-1B03C6DED828}"/>
              </a:ext>
            </a:extLst>
          </p:cNvPr>
          <p:cNvSpPr>
            <a:spLocks noGrp="1"/>
          </p:cNvSpPr>
          <p:nvPr/>
        </p:nvSpPr>
        <p:spPr>
          <a:xfrm>
            <a:off x="1390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12</a:t>
            </a:r>
          </a:p>
        </p:txBody>
      </p:sp>
      <p:sp>
        <p:nvSpPr>
          <p:cNvPr id="570" name="Rectangle 569">
            <a:extLst>
              <a:ext uri="{FF2B5EF4-FFF2-40B4-BE49-F238E27FC236}">
                <a16:creationId xmlns:a16="http://schemas.microsoft.com/office/drawing/2014/main" id="{DDBBE969-4971-4804-A06C-CA8E9EA1CCA2}"/>
              </a:ext>
            </a:extLst>
          </p:cNvPr>
          <p:cNvSpPr>
            <a:spLocks noGrp="1"/>
          </p:cNvSpPr>
          <p:nvPr/>
        </p:nvSpPr>
        <p:spPr>
          <a:xfrm>
            <a:off x="2143125" y="5019675"/>
            <a:ext cx="742950" cy="742950"/>
          </a:xfrm>
          <a:prstGeom prst="rect">
            <a:avLst/>
          </a:prstGeom>
          <a:solidFill>
            <a:srgbClr val="F2F2F2"/>
          </a:solidFill>
          <a:ln w="0">
            <a:noFill/>
          </a:ln>
        </p:spPr>
        <p:txBody>
          <a:bodyPr/>
          <a:lstStyle/>
          <a:p>
            <a:endParaRPr lang="en-US"/>
          </a:p>
        </p:txBody>
      </p:sp>
      <p:sp>
        <p:nvSpPr>
          <p:cNvPr id="571" name="55">
            <a:extLst>
              <a:ext uri="{FF2B5EF4-FFF2-40B4-BE49-F238E27FC236}">
                <a16:creationId xmlns:a16="http://schemas.microsoft.com/office/drawing/2014/main" id="{465487D1-7DAB-4C19-91A7-92181219C209}"/>
              </a:ext>
            </a:extLst>
          </p:cNvPr>
          <p:cNvSpPr>
            <a:spLocks noGrp="1"/>
          </p:cNvSpPr>
          <p:nvPr/>
        </p:nvSpPr>
        <p:spPr>
          <a:xfrm>
            <a:off x="2152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10</a:t>
            </a:r>
          </a:p>
        </p:txBody>
      </p:sp>
      <p:sp>
        <p:nvSpPr>
          <p:cNvPr id="572" name="Rectangle 571">
            <a:extLst>
              <a:ext uri="{FF2B5EF4-FFF2-40B4-BE49-F238E27FC236}">
                <a16:creationId xmlns:a16="http://schemas.microsoft.com/office/drawing/2014/main" id="{17403ED2-DBEE-444A-9E7D-8BA3073BE59F}"/>
              </a:ext>
            </a:extLst>
          </p:cNvPr>
          <p:cNvSpPr>
            <a:spLocks noGrp="1"/>
          </p:cNvSpPr>
          <p:nvPr/>
        </p:nvSpPr>
        <p:spPr>
          <a:xfrm>
            <a:off x="2905125" y="5019675"/>
            <a:ext cx="742950" cy="742950"/>
          </a:xfrm>
          <a:prstGeom prst="rect">
            <a:avLst/>
          </a:prstGeom>
          <a:solidFill>
            <a:srgbClr val="F2F2F2"/>
          </a:solidFill>
          <a:ln w="0">
            <a:noFill/>
          </a:ln>
        </p:spPr>
        <p:txBody>
          <a:bodyPr/>
          <a:lstStyle/>
          <a:p>
            <a:endParaRPr lang="en-US"/>
          </a:p>
        </p:txBody>
      </p:sp>
      <p:sp>
        <p:nvSpPr>
          <p:cNvPr id="573" name="61">
            <a:extLst>
              <a:ext uri="{FF2B5EF4-FFF2-40B4-BE49-F238E27FC236}">
                <a16:creationId xmlns:a16="http://schemas.microsoft.com/office/drawing/2014/main" id="{8E7C3523-D867-4D8A-83B0-B19EEB2E04FB}"/>
              </a:ext>
            </a:extLst>
          </p:cNvPr>
          <p:cNvSpPr>
            <a:spLocks noGrp="1"/>
          </p:cNvSpPr>
          <p:nvPr/>
        </p:nvSpPr>
        <p:spPr>
          <a:xfrm>
            <a:off x="2914650" y="52292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46</a:t>
            </a:r>
          </a:p>
        </p:txBody>
      </p:sp>
      <p:sp>
        <p:nvSpPr>
          <p:cNvPr id="574" name="Rectangle 573">
            <a:extLst>
              <a:ext uri="{FF2B5EF4-FFF2-40B4-BE49-F238E27FC236}">
                <a16:creationId xmlns:a16="http://schemas.microsoft.com/office/drawing/2014/main" id="{58B31BAC-9241-489B-A3AC-59A6766D1BDD}"/>
              </a:ext>
            </a:extLst>
          </p:cNvPr>
          <p:cNvSpPr>
            <a:spLocks noGrp="1"/>
          </p:cNvSpPr>
          <p:nvPr/>
        </p:nvSpPr>
        <p:spPr>
          <a:xfrm>
            <a:off x="3667125" y="5019675"/>
            <a:ext cx="742950" cy="742950"/>
          </a:xfrm>
          <a:prstGeom prst="rect">
            <a:avLst/>
          </a:prstGeom>
          <a:solidFill>
            <a:srgbClr val="DBEAF7"/>
          </a:solidFill>
          <a:ln w="0">
            <a:noFill/>
          </a:ln>
        </p:spPr>
        <p:txBody>
          <a:bodyPr/>
          <a:lstStyle/>
          <a:p>
            <a:endParaRPr lang="en-US"/>
          </a:p>
        </p:txBody>
      </p:sp>
      <p:sp>
        <p:nvSpPr>
          <p:cNvPr id="575" name="99">
            <a:extLst>
              <a:ext uri="{FF2B5EF4-FFF2-40B4-BE49-F238E27FC236}">
                <a16:creationId xmlns:a16="http://schemas.microsoft.com/office/drawing/2014/main" id="{1F550A6E-496D-4073-9965-CC51EA95E2A9}"/>
              </a:ext>
            </a:extLst>
          </p:cNvPr>
          <p:cNvSpPr>
            <a:spLocks noGrp="1"/>
          </p:cNvSpPr>
          <p:nvPr/>
        </p:nvSpPr>
        <p:spPr>
          <a:xfrm>
            <a:off x="3676650" y="52292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122</a:t>
            </a:r>
          </a:p>
        </p:txBody>
      </p:sp>
      <p:sp>
        <p:nvSpPr>
          <p:cNvPr id="618" name="Main CGPA, stratified 10-fold cross-validation, N = 1,1">
            <a:extLst>
              <a:ext uri="{FF2B5EF4-FFF2-40B4-BE49-F238E27FC236}">
                <a16:creationId xmlns:a16="http://schemas.microsoft.com/office/drawing/2014/main" id="{DD324EAF-583B-4368-ADB3-50A181C8EE1F}"/>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Main CGPA, stratified 5-fold cross-validation, N = 920. Rows actual, columns predicted.</a:t>
            </a:r>
          </a:p>
        </p:txBody>
      </p:sp>
    </p:spTree>
    <p:extLst>
      <p:ext uri="{BB962C8B-B14F-4D97-AF65-F5344CB8AC3E}">
        <p14:creationId xmlns:p14="http://schemas.microsoft.com/office/powerpoint/2010/main" val="34806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61ECC-2C5D-26A4-B876-D526386421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0CC4901-BD56-B53A-1A2B-93059A5AF304}"/>
              </a:ext>
            </a:extLst>
          </p:cNvPr>
          <p:cNvPicPr>
            <a:picLocks noChangeAspect="1"/>
          </p:cNvPicPr>
          <p:nvPr/>
        </p:nvPicPr>
        <p:blipFill>
          <a:blip r:embed="rId3"/>
          <a:stretch>
            <a:fillRect/>
          </a:stretch>
        </p:blipFill>
        <p:spPr>
          <a:xfrm>
            <a:off x="4435572" y="19379"/>
            <a:ext cx="7756428" cy="6858000"/>
          </a:xfrm>
          <a:prstGeom prst="rect">
            <a:avLst/>
          </a:prstGeom>
        </p:spPr>
      </p:pic>
      <p:sp>
        <p:nvSpPr>
          <p:cNvPr id="532" name="Google Shape;532;p58">
            <a:extLst>
              <a:ext uri="{FF2B5EF4-FFF2-40B4-BE49-F238E27FC236}">
                <a16:creationId xmlns:a16="http://schemas.microsoft.com/office/drawing/2014/main" id="{56ACB802-3513-D3FA-F427-E3CB7AC57467}"/>
              </a:ext>
            </a:extLst>
          </p:cNvPr>
          <p:cNvSpPr>
            <a:spLocks noGrp="1"/>
          </p:cNvSpPr>
          <p:nvPr>
            <p:ph type="sldNum" idx="4"/>
          </p:nvPr>
        </p:nvSpPr>
        <p:spPr>
          <a:xfrm>
            <a:off x="4815032" y="5989111"/>
            <a:ext cx="518968" cy="241240"/>
          </a:xfrm>
        </p:spPr>
        <p:txBody>
          <a:bodyPr spcFirstLastPara="1" vert="horz" wrap="square" lIns="0" tIns="0" rIns="0" bIns="0" anchor="b">
            <a:noAutofit/>
          </a:bodyPr>
          <a:lstStyle/>
          <a:p>
            <a:r>
              <a:rPr sz="1000">
                <a:latin typeface="Times New Roman"/>
                <a:ea typeface="Times New Roman"/>
                <a:cs typeface="Times New Roman"/>
              </a:rPr>
              <a:t>41</a:t>
            </a:r>
          </a:p>
        </p:txBody>
      </p:sp>
      <p:sp>
        <p:nvSpPr>
          <p:cNvPr id="533" name="Google Shape;533;p58">
            <a:extLst>
              <a:ext uri="{FF2B5EF4-FFF2-40B4-BE49-F238E27FC236}">
                <a16:creationId xmlns:a16="http://schemas.microsoft.com/office/drawing/2014/main" id="{8EB5C6B9-2E7A-668E-C18B-2C500E069AFB}"/>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dirty="0">
                <a:latin typeface="Times New Roman"/>
                <a:ea typeface="Times New Roman"/>
                <a:cs typeface="Times New Roman"/>
              </a:rPr>
              <a:t>WEKA Naive Bayes </a:t>
            </a:r>
            <a:br>
              <a:rPr lang="en-US" sz="3000" dirty="0">
                <a:latin typeface="Times New Roman"/>
                <a:ea typeface="Times New Roman"/>
                <a:cs typeface="Times New Roman"/>
              </a:rPr>
            </a:br>
            <a:r>
              <a:rPr sz="3000" dirty="0">
                <a:latin typeface="Times New Roman"/>
                <a:ea typeface="Times New Roman"/>
                <a:cs typeface="Times New Roman"/>
              </a:rPr>
              <a:t>matri</a:t>
            </a:r>
            <a:r>
              <a:rPr lang="en-US" sz="3000" dirty="0">
                <a:latin typeface="Times New Roman"/>
                <a:ea typeface="Times New Roman"/>
                <a:cs typeface="Times New Roman"/>
              </a:rPr>
              <a:t>x</a:t>
            </a:r>
            <a:endParaRPr sz="3000" dirty="0">
              <a:latin typeface="Times New Roman"/>
              <a:ea typeface="Times New Roman"/>
              <a:cs typeface="Times New Roman"/>
            </a:endParaRPr>
          </a:p>
        </p:txBody>
      </p:sp>
      <p:sp>
        <p:nvSpPr>
          <p:cNvPr id="576" name="Naive Bayes">
            <a:extLst>
              <a:ext uri="{FF2B5EF4-FFF2-40B4-BE49-F238E27FC236}">
                <a16:creationId xmlns:a16="http://schemas.microsoft.com/office/drawing/2014/main" id="{DDECCBD3-4684-2DF8-08D9-0DCE386EF77B}"/>
              </a:ext>
            </a:extLst>
          </p:cNvPr>
          <p:cNvSpPr>
            <a:spLocks noGrp="1"/>
          </p:cNvSpPr>
          <p:nvPr/>
        </p:nvSpPr>
        <p:spPr>
          <a:xfrm>
            <a:off x="393700" y="1262392"/>
            <a:ext cx="523875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dirty="0">
                <a:solidFill>
                  <a:srgbClr val="121212"/>
                </a:solidFill>
                <a:latin typeface="Times New Roman"/>
                <a:ea typeface="Times New Roman"/>
                <a:cs typeface="Times New Roman"/>
              </a:rPr>
              <a:t>Naive Bayes</a:t>
            </a:r>
            <a:r>
              <a:rPr lang="en-US" sz="1875" b="0" dirty="0">
                <a:solidFill>
                  <a:srgbClr val="121212"/>
                </a:solidFill>
                <a:latin typeface="Times New Roman"/>
                <a:ea typeface="Times New Roman"/>
                <a:cs typeface="Times New Roman"/>
              </a:rPr>
              <a:t> 5-fold</a:t>
            </a:r>
            <a:endParaRPr sz="1875" b="0" dirty="0">
              <a:solidFill>
                <a:srgbClr val="121212"/>
              </a:solidFill>
              <a:latin typeface="Times New Roman"/>
              <a:ea typeface="Times New Roman"/>
              <a:cs typeface="Times New Roman"/>
            </a:endParaRPr>
          </a:p>
        </p:txBody>
      </p:sp>
      <p:sp>
        <p:nvSpPr>
          <p:cNvPr id="577" name="Predicted">
            <a:extLst>
              <a:ext uri="{FF2B5EF4-FFF2-40B4-BE49-F238E27FC236}">
                <a16:creationId xmlns:a16="http://schemas.microsoft.com/office/drawing/2014/main" id="{72E7E9BC-D173-2B6D-A5E6-0EF8A95BB6E9}"/>
              </a:ext>
            </a:extLst>
          </p:cNvPr>
          <p:cNvSpPr>
            <a:spLocks noGrp="1"/>
          </p:cNvSpPr>
          <p:nvPr/>
        </p:nvSpPr>
        <p:spPr>
          <a:xfrm>
            <a:off x="1346200" y="1710067"/>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78" name="C0">
            <a:extLst>
              <a:ext uri="{FF2B5EF4-FFF2-40B4-BE49-F238E27FC236}">
                <a16:creationId xmlns:a16="http://schemas.microsoft.com/office/drawing/2014/main" id="{D6EE06A4-27CD-ABA4-25AC-7AF9C62890D6}"/>
              </a:ext>
            </a:extLst>
          </p:cNvPr>
          <p:cNvSpPr>
            <a:spLocks noGrp="1"/>
          </p:cNvSpPr>
          <p:nvPr/>
        </p:nvSpPr>
        <p:spPr>
          <a:xfrm>
            <a:off x="1203325" y="2072017"/>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79" name="C0">
            <a:extLst>
              <a:ext uri="{FF2B5EF4-FFF2-40B4-BE49-F238E27FC236}">
                <a16:creationId xmlns:a16="http://schemas.microsoft.com/office/drawing/2014/main" id="{304747CD-86FF-1B5A-3C1C-EA691B4C6FE1}"/>
              </a:ext>
            </a:extLst>
          </p:cNvPr>
          <p:cNvSpPr>
            <a:spLocks noGrp="1"/>
          </p:cNvSpPr>
          <p:nvPr/>
        </p:nvSpPr>
        <p:spPr>
          <a:xfrm>
            <a:off x="488950" y="2519692"/>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80" name="C1">
            <a:extLst>
              <a:ext uri="{FF2B5EF4-FFF2-40B4-BE49-F238E27FC236}">
                <a16:creationId xmlns:a16="http://schemas.microsoft.com/office/drawing/2014/main" id="{850E0870-59CD-217E-DE7F-A41C79B28FF6}"/>
              </a:ext>
            </a:extLst>
          </p:cNvPr>
          <p:cNvSpPr>
            <a:spLocks noGrp="1"/>
          </p:cNvSpPr>
          <p:nvPr/>
        </p:nvSpPr>
        <p:spPr>
          <a:xfrm>
            <a:off x="1965325" y="2072017"/>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1" name="C1">
            <a:extLst>
              <a:ext uri="{FF2B5EF4-FFF2-40B4-BE49-F238E27FC236}">
                <a16:creationId xmlns:a16="http://schemas.microsoft.com/office/drawing/2014/main" id="{253DF2DD-58C9-4706-7FAB-D1203B7035B2}"/>
              </a:ext>
            </a:extLst>
          </p:cNvPr>
          <p:cNvSpPr>
            <a:spLocks noGrp="1"/>
          </p:cNvSpPr>
          <p:nvPr/>
        </p:nvSpPr>
        <p:spPr>
          <a:xfrm>
            <a:off x="488950" y="3281692"/>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82" name="C2">
            <a:extLst>
              <a:ext uri="{FF2B5EF4-FFF2-40B4-BE49-F238E27FC236}">
                <a16:creationId xmlns:a16="http://schemas.microsoft.com/office/drawing/2014/main" id="{01382D4B-A518-B570-EA20-719A24FAA955}"/>
              </a:ext>
            </a:extLst>
          </p:cNvPr>
          <p:cNvSpPr>
            <a:spLocks noGrp="1"/>
          </p:cNvSpPr>
          <p:nvPr/>
        </p:nvSpPr>
        <p:spPr>
          <a:xfrm>
            <a:off x="2727325" y="2072017"/>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3" name="C2">
            <a:extLst>
              <a:ext uri="{FF2B5EF4-FFF2-40B4-BE49-F238E27FC236}">
                <a16:creationId xmlns:a16="http://schemas.microsoft.com/office/drawing/2014/main" id="{E3462AA4-F7BF-1841-DF64-BA9FC8781A49}"/>
              </a:ext>
            </a:extLst>
          </p:cNvPr>
          <p:cNvSpPr>
            <a:spLocks noGrp="1"/>
          </p:cNvSpPr>
          <p:nvPr/>
        </p:nvSpPr>
        <p:spPr>
          <a:xfrm>
            <a:off x="488950" y="4043692"/>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84" name="C3">
            <a:extLst>
              <a:ext uri="{FF2B5EF4-FFF2-40B4-BE49-F238E27FC236}">
                <a16:creationId xmlns:a16="http://schemas.microsoft.com/office/drawing/2014/main" id="{DD7F5E55-A501-2223-7EA8-CC0337FA840B}"/>
              </a:ext>
            </a:extLst>
          </p:cNvPr>
          <p:cNvSpPr>
            <a:spLocks noGrp="1"/>
          </p:cNvSpPr>
          <p:nvPr/>
        </p:nvSpPr>
        <p:spPr>
          <a:xfrm>
            <a:off x="3489325" y="2072017"/>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5" name="C3">
            <a:extLst>
              <a:ext uri="{FF2B5EF4-FFF2-40B4-BE49-F238E27FC236}">
                <a16:creationId xmlns:a16="http://schemas.microsoft.com/office/drawing/2014/main" id="{AF244038-3FF2-A981-6D34-7AC75D8143EB}"/>
              </a:ext>
            </a:extLst>
          </p:cNvPr>
          <p:cNvSpPr>
            <a:spLocks noGrp="1"/>
          </p:cNvSpPr>
          <p:nvPr/>
        </p:nvSpPr>
        <p:spPr>
          <a:xfrm>
            <a:off x="488950" y="4805692"/>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86" name="Rectangle 585">
            <a:extLst>
              <a:ext uri="{FF2B5EF4-FFF2-40B4-BE49-F238E27FC236}">
                <a16:creationId xmlns:a16="http://schemas.microsoft.com/office/drawing/2014/main" id="{8DE210CF-6D66-0ADD-D32B-884FE3F83161}"/>
              </a:ext>
            </a:extLst>
          </p:cNvPr>
          <p:cNvSpPr>
            <a:spLocks noGrp="1"/>
          </p:cNvSpPr>
          <p:nvPr/>
        </p:nvSpPr>
        <p:spPr>
          <a:xfrm>
            <a:off x="1108075" y="2443492"/>
            <a:ext cx="742950" cy="742950"/>
          </a:xfrm>
          <a:prstGeom prst="rect">
            <a:avLst/>
          </a:prstGeom>
          <a:solidFill>
            <a:srgbClr val="DBEAF7"/>
          </a:solidFill>
          <a:ln w="0">
            <a:noFill/>
          </a:ln>
        </p:spPr>
        <p:txBody>
          <a:bodyPr/>
          <a:lstStyle/>
          <a:p>
            <a:endParaRPr lang="en-US"/>
          </a:p>
        </p:txBody>
      </p:sp>
      <p:sp>
        <p:nvSpPr>
          <p:cNvPr id="587" name="69">
            <a:extLst>
              <a:ext uri="{FF2B5EF4-FFF2-40B4-BE49-F238E27FC236}">
                <a16:creationId xmlns:a16="http://schemas.microsoft.com/office/drawing/2014/main" id="{4ACB64D6-7D04-E9D5-B789-B62426E7785C}"/>
              </a:ext>
            </a:extLst>
          </p:cNvPr>
          <p:cNvSpPr>
            <a:spLocks noGrp="1"/>
          </p:cNvSpPr>
          <p:nvPr/>
        </p:nvSpPr>
        <p:spPr>
          <a:xfrm>
            <a:off x="1117600" y="2653042"/>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102</a:t>
            </a:r>
          </a:p>
        </p:txBody>
      </p:sp>
      <p:sp>
        <p:nvSpPr>
          <p:cNvPr id="588" name="Rectangle 587">
            <a:extLst>
              <a:ext uri="{FF2B5EF4-FFF2-40B4-BE49-F238E27FC236}">
                <a16:creationId xmlns:a16="http://schemas.microsoft.com/office/drawing/2014/main" id="{FF509449-4837-DBDA-86AB-C3A4EA5D1DBD}"/>
              </a:ext>
            </a:extLst>
          </p:cNvPr>
          <p:cNvSpPr>
            <a:spLocks noGrp="1"/>
          </p:cNvSpPr>
          <p:nvPr/>
        </p:nvSpPr>
        <p:spPr>
          <a:xfrm>
            <a:off x="1870075" y="2443492"/>
            <a:ext cx="742950" cy="742950"/>
          </a:xfrm>
          <a:prstGeom prst="rect">
            <a:avLst/>
          </a:prstGeom>
          <a:solidFill>
            <a:srgbClr val="F2F2F2"/>
          </a:solidFill>
          <a:ln w="0">
            <a:noFill/>
          </a:ln>
        </p:spPr>
        <p:txBody>
          <a:bodyPr/>
          <a:lstStyle/>
          <a:p>
            <a:endParaRPr lang="en-US"/>
          </a:p>
        </p:txBody>
      </p:sp>
      <p:sp>
        <p:nvSpPr>
          <p:cNvPr id="589" name="101">
            <a:extLst>
              <a:ext uri="{FF2B5EF4-FFF2-40B4-BE49-F238E27FC236}">
                <a16:creationId xmlns:a16="http://schemas.microsoft.com/office/drawing/2014/main" id="{B4BEE87C-5C82-3E06-650A-DC2B781DB871}"/>
              </a:ext>
            </a:extLst>
          </p:cNvPr>
          <p:cNvSpPr>
            <a:spLocks noGrp="1"/>
          </p:cNvSpPr>
          <p:nvPr/>
        </p:nvSpPr>
        <p:spPr>
          <a:xfrm>
            <a:off x="1879600" y="2653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dirty="0">
                <a:solidFill>
                  <a:srgbClr val="121212"/>
                </a:solidFill>
                <a:latin typeface="Times New Roman"/>
                <a:ea typeface="Times New Roman"/>
                <a:cs typeface="Times New Roman"/>
              </a:rPr>
              <a:t>57</a:t>
            </a:r>
          </a:p>
        </p:txBody>
      </p:sp>
      <p:sp>
        <p:nvSpPr>
          <p:cNvPr id="590" name="Rectangle 589">
            <a:extLst>
              <a:ext uri="{FF2B5EF4-FFF2-40B4-BE49-F238E27FC236}">
                <a16:creationId xmlns:a16="http://schemas.microsoft.com/office/drawing/2014/main" id="{CE87B606-03BA-DEC7-AA70-644D7E7A9E1D}"/>
              </a:ext>
            </a:extLst>
          </p:cNvPr>
          <p:cNvSpPr>
            <a:spLocks noGrp="1"/>
          </p:cNvSpPr>
          <p:nvPr/>
        </p:nvSpPr>
        <p:spPr>
          <a:xfrm>
            <a:off x="2632075" y="2443492"/>
            <a:ext cx="742950" cy="742950"/>
          </a:xfrm>
          <a:prstGeom prst="rect">
            <a:avLst/>
          </a:prstGeom>
          <a:solidFill>
            <a:srgbClr val="F2F2F2"/>
          </a:solidFill>
          <a:ln w="0">
            <a:noFill/>
          </a:ln>
        </p:spPr>
        <p:txBody>
          <a:bodyPr/>
          <a:lstStyle/>
          <a:p>
            <a:endParaRPr lang="en-US"/>
          </a:p>
        </p:txBody>
      </p:sp>
      <p:sp>
        <p:nvSpPr>
          <p:cNvPr id="591" name="34">
            <a:extLst>
              <a:ext uri="{FF2B5EF4-FFF2-40B4-BE49-F238E27FC236}">
                <a16:creationId xmlns:a16="http://schemas.microsoft.com/office/drawing/2014/main" id="{5282DC56-0935-7CC2-A633-5CA8F8E896B5}"/>
              </a:ext>
            </a:extLst>
          </p:cNvPr>
          <p:cNvSpPr>
            <a:spLocks noGrp="1"/>
          </p:cNvSpPr>
          <p:nvPr/>
        </p:nvSpPr>
        <p:spPr>
          <a:xfrm>
            <a:off x="2641600" y="2653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15</a:t>
            </a:r>
          </a:p>
        </p:txBody>
      </p:sp>
      <p:sp>
        <p:nvSpPr>
          <p:cNvPr id="592" name="Rectangle 591">
            <a:extLst>
              <a:ext uri="{FF2B5EF4-FFF2-40B4-BE49-F238E27FC236}">
                <a16:creationId xmlns:a16="http://schemas.microsoft.com/office/drawing/2014/main" id="{34CB8F99-00C6-8BAF-7CEB-E89D72DC33C6}"/>
              </a:ext>
            </a:extLst>
          </p:cNvPr>
          <p:cNvSpPr>
            <a:spLocks noGrp="1"/>
          </p:cNvSpPr>
          <p:nvPr/>
        </p:nvSpPr>
        <p:spPr>
          <a:xfrm>
            <a:off x="3394075" y="2443492"/>
            <a:ext cx="742950" cy="742950"/>
          </a:xfrm>
          <a:prstGeom prst="rect">
            <a:avLst/>
          </a:prstGeom>
          <a:solidFill>
            <a:srgbClr val="F2F2F2"/>
          </a:solidFill>
          <a:ln w="0">
            <a:noFill/>
          </a:ln>
        </p:spPr>
        <p:txBody>
          <a:bodyPr/>
          <a:lstStyle/>
          <a:p>
            <a:endParaRPr lang="en-US"/>
          </a:p>
        </p:txBody>
      </p:sp>
      <p:sp>
        <p:nvSpPr>
          <p:cNvPr id="593" name="32">
            <a:extLst>
              <a:ext uri="{FF2B5EF4-FFF2-40B4-BE49-F238E27FC236}">
                <a16:creationId xmlns:a16="http://schemas.microsoft.com/office/drawing/2014/main" id="{28551541-5EFF-22BA-08B4-B52031FE2265}"/>
              </a:ext>
            </a:extLst>
          </p:cNvPr>
          <p:cNvSpPr>
            <a:spLocks noGrp="1"/>
          </p:cNvSpPr>
          <p:nvPr/>
        </p:nvSpPr>
        <p:spPr>
          <a:xfrm>
            <a:off x="3403600" y="2653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8</a:t>
            </a:r>
          </a:p>
        </p:txBody>
      </p:sp>
      <p:sp>
        <p:nvSpPr>
          <p:cNvPr id="594" name="Rectangle 593">
            <a:extLst>
              <a:ext uri="{FF2B5EF4-FFF2-40B4-BE49-F238E27FC236}">
                <a16:creationId xmlns:a16="http://schemas.microsoft.com/office/drawing/2014/main" id="{B54BD05D-040A-0B35-0071-F3D7D05DCA59}"/>
              </a:ext>
            </a:extLst>
          </p:cNvPr>
          <p:cNvSpPr>
            <a:spLocks noGrp="1"/>
          </p:cNvSpPr>
          <p:nvPr/>
        </p:nvSpPr>
        <p:spPr>
          <a:xfrm>
            <a:off x="1108075" y="3205492"/>
            <a:ext cx="742950" cy="742950"/>
          </a:xfrm>
          <a:prstGeom prst="rect">
            <a:avLst/>
          </a:prstGeom>
          <a:solidFill>
            <a:srgbClr val="F2F2F2"/>
          </a:solidFill>
          <a:ln w="0">
            <a:noFill/>
          </a:ln>
        </p:spPr>
        <p:txBody>
          <a:bodyPr/>
          <a:lstStyle/>
          <a:p>
            <a:endParaRPr lang="en-US"/>
          </a:p>
        </p:txBody>
      </p:sp>
      <p:sp>
        <p:nvSpPr>
          <p:cNvPr id="595" name="51">
            <a:extLst>
              <a:ext uri="{FF2B5EF4-FFF2-40B4-BE49-F238E27FC236}">
                <a16:creationId xmlns:a16="http://schemas.microsoft.com/office/drawing/2014/main" id="{D9AE2273-9CE3-844A-6F70-E3D19C4A5988}"/>
              </a:ext>
            </a:extLst>
          </p:cNvPr>
          <p:cNvSpPr>
            <a:spLocks noGrp="1"/>
          </p:cNvSpPr>
          <p:nvPr/>
        </p:nvSpPr>
        <p:spPr>
          <a:xfrm>
            <a:off x="1117600" y="3415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54</a:t>
            </a:r>
          </a:p>
        </p:txBody>
      </p:sp>
      <p:sp>
        <p:nvSpPr>
          <p:cNvPr id="596" name="Rectangle 595">
            <a:extLst>
              <a:ext uri="{FF2B5EF4-FFF2-40B4-BE49-F238E27FC236}">
                <a16:creationId xmlns:a16="http://schemas.microsoft.com/office/drawing/2014/main" id="{D39F35CE-9EDE-3F12-DD6D-FC9C0CE1D29D}"/>
              </a:ext>
            </a:extLst>
          </p:cNvPr>
          <p:cNvSpPr>
            <a:spLocks noGrp="1"/>
          </p:cNvSpPr>
          <p:nvPr/>
        </p:nvSpPr>
        <p:spPr>
          <a:xfrm>
            <a:off x="1870075" y="3205492"/>
            <a:ext cx="742950" cy="742950"/>
          </a:xfrm>
          <a:prstGeom prst="rect">
            <a:avLst/>
          </a:prstGeom>
          <a:solidFill>
            <a:srgbClr val="DBEAF7"/>
          </a:solidFill>
          <a:ln w="0">
            <a:noFill/>
          </a:ln>
        </p:spPr>
        <p:txBody>
          <a:bodyPr/>
          <a:lstStyle/>
          <a:p>
            <a:endParaRPr lang="en-US"/>
          </a:p>
        </p:txBody>
      </p:sp>
      <p:sp>
        <p:nvSpPr>
          <p:cNvPr id="597" name="169">
            <a:extLst>
              <a:ext uri="{FF2B5EF4-FFF2-40B4-BE49-F238E27FC236}">
                <a16:creationId xmlns:a16="http://schemas.microsoft.com/office/drawing/2014/main" id="{47DD29AF-05E4-D40F-CC6F-FBE4652887FF}"/>
              </a:ext>
            </a:extLst>
          </p:cNvPr>
          <p:cNvSpPr>
            <a:spLocks noGrp="1"/>
          </p:cNvSpPr>
          <p:nvPr/>
        </p:nvSpPr>
        <p:spPr>
          <a:xfrm>
            <a:off x="1879600" y="3415042"/>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143</a:t>
            </a:r>
          </a:p>
        </p:txBody>
      </p:sp>
      <p:sp>
        <p:nvSpPr>
          <p:cNvPr id="598" name="Rectangle 597">
            <a:extLst>
              <a:ext uri="{FF2B5EF4-FFF2-40B4-BE49-F238E27FC236}">
                <a16:creationId xmlns:a16="http://schemas.microsoft.com/office/drawing/2014/main" id="{5ADDE86B-3896-FC53-5FD4-65C491AA26FB}"/>
              </a:ext>
            </a:extLst>
          </p:cNvPr>
          <p:cNvSpPr>
            <a:spLocks noGrp="1"/>
          </p:cNvSpPr>
          <p:nvPr/>
        </p:nvSpPr>
        <p:spPr>
          <a:xfrm>
            <a:off x="2632075" y="3205492"/>
            <a:ext cx="742950" cy="742950"/>
          </a:xfrm>
          <a:prstGeom prst="rect">
            <a:avLst/>
          </a:prstGeom>
          <a:solidFill>
            <a:srgbClr val="F2F2F2"/>
          </a:solidFill>
          <a:ln w="0">
            <a:noFill/>
          </a:ln>
        </p:spPr>
        <p:txBody>
          <a:bodyPr/>
          <a:lstStyle/>
          <a:p>
            <a:endParaRPr lang="en-US"/>
          </a:p>
        </p:txBody>
      </p:sp>
      <p:sp>
        <p:nvSpPr>
          <p:cNvPr id="599" name="70">
            <a:extLst>
              <a:ext uri="{FF2B5EF4-FFF2-40B4-BE49-F238E27FC236}">
                <a16:creationId xmlns:a16="http://schemas.microsoft.com/office/drawing/2014/main" id="{095DBA6C-DBBF-50FD-8D59-3EDDE9363691}"/>
              </a:ext>
            </a:extLst>
          </p:cNvPr>
          <p:cNvSpPr>
            <a:spLocks noGrp="1"/>
          </p:cNvSpPr>
          <p:nvPr/>
        </p:nvSpPr>
        <p:spPr>
          <a:xfrm>
            <a:off x="2641600" y="3415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74</a:t>
            </a:r>
          </a:p>
        </p:txBody>
      </p:sp>
      <p:sp>
        <p:nvSpPr>
          <p:cNvPr id="600" name="Rectangle 599">
            <a:extLst>
              <a:ext uri="{FF2B5EF4-FFF2-40B4-BE49-F238E27FC236}">
                <a16:creationId xmlns:a16="http://schemas.microsoft.com/office/drawing/2014/main" id="{4AD5BE35-B04D-2C4F-07C6-EBEE3CEA6478}"/>
              </a:ext>
            </a:extLst>
          </p:cNvPr>
          <p:cNvSpPr>
            <a:spLocks noGrp="1"/>
          </p:cNvSpPr>
          <p:nvPr/>
        </p:nvSpPr>
        <p:spPr>
          <a:xfrm>
            <a:off x="3394075" y="3205492"/>
            <a:ext cx="742950" cy="742950"/>
          </a:xfrm>
          <a:prstGeom prst="rect">
            <a:avLst/>
          </a:prstGeom>
          <a:solidFill>
            <a:srgbClr val="F2F2F2"/>
          </a:solidFill>
          <a:ln w="0">
            <a:noFill/>
          </a:ln>
        </p:spPr>
        <p:txBody>
          <a:bodyPr/>
          <a:lstStyle/>
          <a:p>
            <a:endParaRPr lang="en-US"/>
          </a:p>
        </p:txBody>
      </p:sp>
      <p:sp>
        <p:nvSpPr>
          <p:cNvPr id="601" name="30">
            <a:extLst>
              <a:ext uri="{FF2B5EF4-FFF2-40B4-BE49-F238E27FC236}">
                <a16:creationId xmlns:a16="http://schemas.microsoft.com/office/drawing/2014/main" id="{F44CD414-18D9-7DCC-1C32-F5AB0D04C847}"/>
              </a:ext>
            </a:extLst>
          </p:cNvPr>
          <p:cNvSpPr>
            <a:spLocks noGrp="1"/>
          </p:cNvSpPr>
          <p:nvPr/>
        </p:nvSpPr>
        <p:spPr>
          <a:xfrm>
            <a:off x="3403600" y="3415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13</a:t>
            </a:r>
          </a:p>
        </p:txBody>
      </p:sp>
      <p:sp>
        <p:nvSpPr>
          <p:cNvPr id="602" name="Rectangle 601">
            <a:extLst>
              <a:ext uri="{FF2B5EF4-FFF2-40B4-BE49-F238E27FC236}">
                <a16:creationId xmlns:a16="http://schemas.microsoft.com/office/drawing/2014/main" id="{1B0958C5-F1D0-E766-FD36-0556B0E04A6A}"/>
              </a:ext>
            </a:extLst>
          </p:cNvPr>
          <p:cNvSpPr>
            <a:spLocks noGrp="1"/>
          </p:cNvSpPr>
          <p:nvPr/>
        </p:nvSpPr>
        <p:spPr>
          <a:xfrm>
            <a:off x="1108075" y="3967492"/>
            <a:ext cx="742950" cy="742950"/>
          </a:xfrm>
          <a:prstGeom prst="rect">
            <a:avLst/>
          </a:prstGeom>
          <a:solidFill>
            <a:srgbClr val="F2F2F2"/>
          </a:solidFill>
          <a:ln w="0">
            <a:noFill/>
          </a:ln>
        </p:spPr>
        <p:txBody>
          <a:bodyPr/>
          <a:lstStyle/>
          <a:p>
            <a:endParaRPr lang="en-US"/>
          </a:p>
        </p:txBody>
      </p:sp>
      <p:sp>
        <p:nvSpPr>
          <p:cNvPr id="603" name="54">
            <a:extLst>
              <a:ext uri="{FF2B5EF4-FFF2-40B4-BE49-F238E27FC236}">
                <a16:creationId xmlns:a16="http://schemas.microsoft.com/office/drawing/2014/main" id="{91551FF2-08B2-F769-F3A2-FDF0EE5477B5}"/>
              </a:ext>
            </a:extLst>
          </p:cNvPr>
          <p:cNvSpPr>
            <a:spLocks noGrp="1"/>
          </p:cNvSpPr>
          <p:nvPr/>
        </p:nvSpPr>
        <p:spPr>
          <a:xfrm>
            <a:off x="1117600" y="4177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12</a:t>
            </a:r>
          </a:p>
        </p:txBody>
      </p:sp>
      <p:sp>
        <p:nvSpPr>
          <p:cNvPr id="604" name="Rectangle 603">
            <a:extLst>
              <a:ext uri="{FF2B5EF4-FFF2-40B4-BE49-F238E27FC236}">
                <a16:creationId xmlns:a16="http://schemas.microsoft.com/office/drawing/2014/main" id="{4AAAD78B-FACA-4264-BE4E-ED5757ABD930}"/>
              </a:ext>
            </a:extLst>
          </p:cNvPr>
          <p:cNvSpPr>
            <a:spLocks noGrp="1"/>
          </p:cNvSpPr>
          <p:nvPr/>
        </p:nvSpPr>
        <p:spPr>
          <a:xfrm>
            <a:off x="1870075" y="3967492"/>
            <a:ext cx="742950" cy="742950"/>
          </a:xfrm>
          <a:prstGeom prst="rect">
            <a:avLst/>
          </a:prstGeom>
          <a:solidFill>
            <a:srgbClr val="F2F2F2"/>
          </a:solidFill>
          <a:ln w="0">
            <a:noFill/>
          </a:ln>
        </p:spPr>
        <p:txBody>
          <a:bodyPr/>
          <a:lstStyle/>
          <a:p>
            <a:endParaRPr lang="en-US"/>
          </a:p>
        </p:txBody>
      </p:sp>
      <p:sp>
        <p:nvSpPr>
          <p:cNvPr id="605" name="104">
            <a:extLst>
              <a:ext uri="{FF2B5EF4-FFF2-40B4-BE49-F238E27FC236}">
                <a16:creationId xmlns:a16="http://schemas.microsoft.com/office/drawing/2014/main" id="{0B08087C-824A-B421-1A4A-2C0206FF09D9}"/>
              </a:ext>
            </a:extLst>
          </p:cNvPr>
          <p:cNvSpPr>
            <a:spLocks noGrp="1"/>
          </p:cNvSpPr>
          <p:nvPr/>
        </p:nvSpPr>
        <p:spPr>
          <a:xfrm>
            <a:off x="1879600" y="4177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62</a:t>
            </a:r>
          </a:p>
        </p:txBody>
      </p:sp>
      <p:sp>
        <p:nvSpPr>
          <p:cNvPr id="606" name="Rectangle 605">
            <a:extLst>
              <a:ext uri="{FF2B5EF4-FFF2-40B4-BE49-F238E27FC236}">
                <a16:creationId xmlns:a16="http://schemas.microsoft.com/office/drawing/2014/main" id="{DA780875-6250-56DF-8ABB-A5BE33049931}"/>
              </a:ext>
            </a:extLst>
          </p:cNvPr>
          <p:cNvSpPr>
            <a:spLocks noGrp="1"/>
          </p:cNvSpPr>
          <p:nvPr/>
        </p:nvSpPr>
        <p:spPr>
          <a:xfrm>
            <a:off x="2632075" y="3967492"/>
            <a:ext cx="742950" cy="742950"/>
          </a:xfrm>
          <a:prstGeom prst="rect">
            <a:avLst/>
          </a:prstGeom>
          <a:solidFill>
            <a:srgbClr val="DBEAF7"/>
          </a:solidFill>
          <a:ln w="0">
            <a:noFill/>
          </a:ln>
        </p:spPr>
        <p:txBody>
          <a:bodyPr/>
          <a:lstStyle/>
          <a:p>
            <a:endParaRPr lang="en-US"/>
          </a:p>
        </p:txBody>
      </p:sp>
      <p:sp>
        <p:nvSpPr>
          <p:cNvPr id="607" name="96">
            <a:extLst>
              <a:ext uri="{FF2B5EF4-FFF2-40B4-BE49-F238E27FC236}">
                <a16:creationId xmlns:a16="http://schemas.microsoft.com/office/drawing/2014/main" id="{0BF6A5EF-75FB-0AE8-7BFE-DCD9E696F411}"/>
              </a:ext>
            </a:extLst>
          </p:cNvPr>
          <p:cNvSpPr>
            <a:spLocks noGrp="1"/>
          </p:cNvSpPr>
          <p:nvPr/>
        </p:nvSpPr>
        <p:spPr>
          <a:xfrm>
            <a:off x="2641600" y="4177042"/>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134</a:t>
            </a:r>
          </a:p>
        </p:txBody>
      </p:sp>
      <p:sp>
        <p:nvSpPr>
          <p:cNvPr id="608" name="Rectangle 607">
            <a:extLst>
              <a:ext uri="{FF2B5EF4-FFF2-40B4-BE49-F238E27FC236}">
                <a16:creationId xmlns:a16="http://schemas.microsoft.com/office/drawing/2014/main" id="{B124424D-0C1E-34C7-1866-9B5E8D567A55}"/>
              </a:ext>
            </a:extLst>
          </p:cNvPr>
          <p:cNvSpPr>
            <a:spLocks noGrp="1"/>
          </p:cNvSpPr>
          <p:nvPr/>
        </p:nvSpPr>
        <p:spPr>
          <a:xfrm>
            <a:off x="3394075" y="3967492"/>
            <a:ext cx="742950" cy="742950"/>
          </a:xfrm>
          <a:prstGeom prst="rect">
            <a:avLst/>
          </a:prstGeom>
          <a:solidFill>
            <a:srgbClr val="F2F2F2"/>
          </a:solidFill>
          <a:ln w="0">
            <a:noFill/>
          </a:ln>
        </p:spPr>
        <p:txBody>
          <a:bodyPr/>
          <a:lstStyle/>
          <a:p>
            <a:endParaRPr lang="en-US"/>
          </a:p>
        </p:txBody>
      </p:sp>
      <p:sp>
        <p:nvSpPr>
          <p:cNvPr id="609" name="46">
            <a:extLst>
              <a:ext uri="{FF2B5EF4-FFF2-40B4-BE49-F238E27FC236}">
                <a16:creationId xmlns:a16="http://schemas.microsoft.com/office/drawing/2014/main" id="{D539860F-8F29-5536-7575-6D0EBF59140F}"/>
              </a:ext>
            </a:extLst>
          </p:cNvPr>
          <p:cNvSpPr>
            <a:spLocks noGrp="1"/>
          </p:cNvSpPr>
          <p:nvPr/>
        </p:nvSpPr>
        <p:spPr>
          <a:xfrm>
            <a:off x="3403600" y="4177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56</a:t>
            </a:r>
          </a:p>
        </p:txBody>
      </p:sp>
      <p:sp>
        <p:nvSpPr>
          <p:cNvPr id="610" name="Rectangle 609">
            <a:extLst>
              <a:ext uri="{FF2B5EF4-FFF2-40B4-BE49-F238E27FC236}">
                <a16:creationId xmlns:a16="http://schemas.microsoft.com/office/drawing/2014/main" id="{CC0A25DF-8412-82E0-C919-964F356A20F3}"/>
              </a:ext>
            </a:extLst>
          </p:cNvPr>
          <p:cNvSpPr>
            <a:spLocks noGrp="1"/>
          </p:cNvSpPr>
          <p:nvPr/>
        </p:nvSpPr>
        <p:spPr>
          <a:xfrm>
            <a:off x="1108075" y="4729492"/>
            <a:ext cx="742950" cy="742950"/>
          </a:xfrm>
          <a:prstGeom prst="rect">
            <a:avLst/>
          </a:prstGeom>
          <a:solidFill>
            <a:srgbClr val="F2F2F2"/>
          </a:solidFill>
          <a:ln w="0">
            <a:noFill/>
          </a:ln>
        </p:spPr>
        <p:txBody>
          <a:bodyPr/>
          <a:lstStyle/>
          <a:p>
            <a:endParaRPr lang="en-US"/>
          </a:p>
        </p:txBody>
      </p:sp>
      <p:sp>
        <p:nvSpPr>
          <p:cNvPr id="611" name="39">
            <a:extLst>
              <a:ext uri="{FF2B5EF4-FFF2-40B4-BE49-F238E27FC236}">
                <a16:creationId xmlns:a16="http://schemas.microsoft.com/office/drawing/2014/main" id="{500F2874-9C63-8434-839E-B306AB724F0F}"/>
              </a:ext>
            </a:extLst>
          </p:cNvPr>
          <p:cNvSpPr>
            <a:spLocks noGrp="1"/>
          </p:cNvSpPr>
          <p:nvPr/>
        </p:nvSpPr>
        <p:spPr>
          <a:xfrm>
            <a:off x="1117600" y="4939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11</a:t>
            </a:r>
          </a:p>
        </p:txBody>
      </p:sp>
      <p:sp>
        <p:nvSpPr>
          <p:cNvPr id="612" name="Rectangle 611">
            <a:extLst>
              <a:ext uri="{FF2B5EF4-FFF2-40B4-BE49-F238E27FC236}">
                <a16:creationId xmlns:a16="http://schemas.microsoft.com/office/drawing/2014/main" id="{30FD2C3C-B252-7AE3-2AB7-64CB3082673C}"/>
              </a:ext>
            </a:extLst>
          </p:cNvPr>
          <p:cNvSpPr>
            <a:spLocks noGrp="1"/>
          </p:cNvSpPr>
          <p:nvPr/>
        </p:nvSpPr>
        <p:spPr>
          <a:xfrm>
            <a:off x="1870075" y="4729492"/>
            <a:ext cx="742950" cy="742950"/>
          </a:xfrm>
          <a:prstGeom prst="rect">
            <a:avLst/>
          </a:prstGeom>
          <a:solidFill>
            <a:srgbClr val="F2F2F2"/>
          </a:solidFill>
          <a:ln w="0">
            <a:noFill/>
          </a:ln>
        </p:spPr>
        <p:txBody>
          <a:bodyPr/>
          <a:lstStyle/>
          <a:p>
            <a:endParaRPr lang="en-US"/>
          </a:p>
        </p:txBody>
      </p:sp>
      <p:sp>
        <p:nvSpPr>
          <p:cNvPr id="613" name="49">
            <a:extLst>
              <a:ext uri="{FF2B5EF4-FFF2-40B4-BE49-F238E27FC236}">
                <a16:creationId xmlns:a16="http://schemas.microsoft.com/office/drawing/2014/main" id="{55E9EE16-AF5B-4465-5423-F92AD3AE1F41}"/>
              </a:ext>
            </a:extLst>
          </p:cNvPr>
          <p:cNvSpPr>
            <a:spLocks noGrp="1"/>
          </p:cNvSpPr>
          <p:nvPr/>
        </p:nvSpPr>
        <p:spPr>
          <a:xfrm>
            <a:off x="1879600" y="4939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9</a:t>
            </a:r>
          </a:p>
        </p:txBody>
      </p:sp>
      <p:sp>
        <p:nvSpPr>
          <p:cNvPr id="614" name="Rectangle 613">
            <a:extLst>
              <a:ext uri="{FF2B5EF4-FFF2-40B4-BE49-F238E27FC236}">
                <a16:creationId xmlns:a16="http://schemas.microsoft.com/office/drawing/2014/main" id="{66F90DF1-89B1-F991-CF26-3819642A97A7}"/>
              </a:ext>
            </a:extLst>
          </p:cNvPr>
          <p:cNvSpPr>
            <a:spLocks noGrp="1"/>
          </p:cNvSpPr>
          <p:nvPr/>
        </p:nvSpPr>
        <p:spPr>
          <a:xfrm>
            <a:off x="2632075" y="4729492"/>
            <a:ext cx="742950" cy="742950"/>
          </a:xfrm>
          <a:prstGeom prst="rect">
            <a:avLst/>
          </a:prstGeom>
          <a:solidFill>
            <a:srgbClr val="F2F2F2"/>
          </a:solidFill>
          <a:ln w="0">
            <a:noFill/>
          </a:ln>
        </p:spPr>
        <p:txBody>
          <a:bodyPr/>
          <a:lstStyle/>
          <a:p>
            <a:endParaRPr lang="en-US"/>
          </a:p>
        </p:txBody>
      </p:sp>
      <p:sp>
        <p:nvSpPr>
          <p:cNvPr id="615" name="72">
            <a:extLst>
              <a:ext uri="{FF2B5EF4-FFF2-40B4-BE49-F238E27FC236}">
                <a16:creationId xmlns:a16="http://schemas.microsoft.com/office/drawing/2014/main" id="{667BBFC0-B8F2-C845-558B-87B70D9887C2}"/>
              </a:ext>
            </a:extLst>
          </p:cNvPr>
          <p:cNvSpPr>
            <a:spLocks noGrp="1"/>
          </p:cNvSpPr>
          <p:nvPr/>
        </p:nvSpPr>
        <p:spPr>
          <a:xfrm>
            <a:off x="2641600" y="4939042"/>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48</a:t>
            </a:r>
          </a:p>
        </p:txBody>
      </p:sp>
      <p:sp>
        <p:nvSpPr>
          <p:cNvPr id="616" name="Rectangle 615">
            <a:extLst>
              <a:ext uri="{FF2B5EF4-FFF2-40B4-BE49-F238E27FC236}">
                <a16:creationId xmlns:a16="http://schemas.microsoft.com/office/drawing/2014/main" id="{7CD8DBD2-5480-8EDE-A913-E93A3AA48000}"/>
              </a:ext>
            </a:extLst>
          </p:cNvPr>
          <p:cNvSpPr>
            <a:spLocks noGrp="1"/>
          </p:cNvSpPr>
          <p:nvPr/>
        </p:nvSpPr>
        <p:spPr>
          <a:xfrm>
            <a:off x="3394075" y="4729492"/>
            <a:ext cx="742950" cy="742950"/>
          </a:xfrm>
          <a:prstGeom prst="rect">
            <a:avLst/>
          </a:prstGeom>
          <a:solidFill>
            <a:srgbClr val="DBEAF7"/>
          </a:solidFill>
          <a:ln w="0">
            <a:noFill/>
          </a:ln>
        </p:spPr>
        <p:txBody>
          <a:bodyPr/>
          <a:lstStyle/>
          <a:p>
            <a:endParaRPr lang="en-US"/>
          </a:p>
        </p:txBody>
      </p:sp>
      <p:sp>
        <p:nvSpPr>
          <p:cNvPr id="617" name="86">
            <a:extLst>
              <a:ext uri="{FF2B5EF4-FFF2-40B4-BE49-F238E27FC236}">
                <a16:creationId xmlns:a16="http://schemas.microsoft.com/office/drawing/2014/main" id="{C767E294-668B-2264-55CD-71E45BBA4AEF}"/>
              </a:ext>
            </a:extLst>
          </p:cNvPr>
          <p:cNvSpPr>
            <a:spLocks noGrp="1"/>
          </p:cNvSpPr>
          <p:nvPr/>
        </p:nvSpPr>
        <p:spPr>
          <a:xfrm>
            <a:off x="3403600" y="4939042"/>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122</a:t>
            </a:r>
          </a:p>
        </p:txBody>
      </p:sp>
      <p:sp>
        <p:nvSpPr>
          <p:cNvPr id="618" name="Main CGPA, stratified 10-fold cross-validation, N = 1,1">
            <a:extLst>
              <a:ext uri="{FF2B5EF4-FFF2-40B4-BE49-F238E27FC236}">
                <a16:creationId xmlns:a16="http://schemas.microsoft.com/office/drawing/2014/main" id="{C3A8E8D1-7586-E52A-5850-7792A7661DD3}"/>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Main CGPA, stratified 5-fold cross-validation, N = 920. </a:t>
            </a:r>
            <a:endParaRPr lang="en-US" sz="1275" b="0" dirty="0">
              <a:solidFill>
                <a:srgbClr val="585858"/>
              </a:solidFill>
              <a:latin typeface="Times New Roman"/>
              <a:ea typeface="Times New Roman"/>
              <a:cs typeface="Times New Roman"/>
            </a:endParaRPr>
          </a:p>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Rows actual, columns predicted.</a:t>
            </a:r>
          </a:p>
        </p:txBody>
      </p:sp>
      <p:sp>
        <p:nvSpPr>
          <p:cNvPr id="4" name="Google Shape;532;p58">
            <a:extLst>
              <a:ext uri="{FF2B5EF4-FFF2-40B4-BE49-F238E27FC236}">
                <a16:creationId xmlns:a16="http://schemas.microsoft.com/office/drawing/2014/main" id="{9095849D-75C6-8BF2-118D-4BCD82A0F091}"/>
              </a:ext>
            </a:extLst>
          </p:cNvPr>
          <p:cNvSpPr txBox="1">
            <a:spLocks/>
          </p:cNvSpPr>
          <p:nvPr/>
        </p:nvSpPr>
        <p:spPr>
          <a:xfrm>
            <a:off x="11279332" y="6279294"/>
            <a:ext cx="518968" cy="241240"/>
          </a:xfrm>
          <a:prstGeom prst="rect">
            <a:avLst/>
          </a:prstGeom>
        </p:spPr>
        <p:txBody>
          <a:bodyPr spcFirstLastPara="1" vert="horz" wrap="square" lIns="0" tIns="0" rIns="0" bIns="0" rtlCol="0" anchor="b">
            <a:noAutofit/>
          </a:bodyPr>
          <a:lstStyle>
            <a:defPPr>
              <a:defRPr lang="en-US"/>
            </a:defPPr>
            <a:lvl1pPr marL="0" algn="r" defTabSz="914400" rtl="0" eaLnBrk="1" latinLnBrk="0" hangingPunct="1">
              <a:defRPr lang="en-US" sz="10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a:ea typeface="Times New Roman"/>
                <a:cs typeface="Times New Roman"/>
              </a:rPr>
              <a:t>42</a:t>
            </a:r>
          </a:p>
        </p:txBody>
      </p:sp>
    </p:spTree>
    <p:extLst>
      <p:ext uri="{BB962C8B-B14F-4D97-AF65-F5344CB8AC3E}">
        <p14:creationId xmlns:p14="http://schemas.microsoft.com/office/powerpoint/2010/main" val="71190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42</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ZeroR baseline matrix</a:t>
            </a:r>
          </a:p>
        </p:txBody>
      </p:sp>
      <p:sp>
        <p:nvSpPr>
          <p:cNvPr id="534" name="Main CGPA, 10-fold CV">
            <a:extLst>
              <a:ext uri="{FF2B5EF4-FFF2-40B4-BE49-F238E27FC236}">
                <a16:creationId xmlns:a16="http://schemas.microsoft.com/office/drawing/2014/main" id="{E091C9E9-5D11-4220-819D-DCF08B6BE4B0}"/>
              </a:ext>
            </a:extLst>
          </p:cNvPr>
          <p:cNvSpPr>
            <a:spLocks noGrp="1"/>
          </p:cNvSpPr>
          <p:nvPr/>
        </p:nvSpPr>
        <p:spPr>
          <a:xfrm>
            <a:off x="4095750" y="1247775"/>
            <a:ext cx="6286500" cy="381000"/>
          </a:xfrm>
          <a:prstGeom prst="rect">
            <a:avLst/>
          </a:prstGeom>
          <a:noFill/>
          <a:ln w="0">
            <a:noFill/>
          </a:ln>
        </p:spPr>
        <p:txBody>
          <a:bodyPr anchor="t">
            <a:noAutofit/>
          </a:bodyPr>
          <a:lstStyle/>
          <a:p>
            <a:pPr>
              <a:defRPr sz="1875" b="0">
                <a:solidFill>
                  <a:srgbClr val="121212"/>
                </a:solidFill>
                <a:latin typeface="Times New Roman"/>
                <a:ea typeface="Times New Roman"/>
                <a:cs typeface="Times New Roman"/>
              </a:defRPr>
            </a:pPr>
            <a:r>
              <a:rPr sz="1875" b="0">
                <a:solidFill>
                  <a:srgbClr val="121212"/>
                </a:solidFill>
                <a:latin typeface="Times New Roman"/>
                <a:ea typeface="Times New Roman"/>
                <a:cs typeface="Times New Roman"/>
              </a:rPr>
              <a:t>Main CGPA, 5-fold CV</a:t>
            </a:r>
          </a:p>
        </p:txBody>
      </p:sp>
      <p:sp>
        <p:nvSpPr>
          <p:cNvPr id="535" name="Predicted">
            <a:extLst>
              <a:ext uri="{FF2B5EF4-FFF2-40B4-BE49-F238E27FC236}">
                <a16:creationId xmlns:a16="http://schemas.microsoft.com/office/drawing/2014/main" id="{2A18EB2C-6AD3-448E-AED3-54FA329A5667}"/>
              </a:ext>
            </a:extLst>
          </p:cNvPr>
          <p:cNvSpPr>
            <a:spLocks noGrp="1"/>
          </p:cNvSpPr>
          <p:nvPr/>
        </p:nvSpPr>
        <p:spPr>
          <a:xfrm>
            <a:off x="5048250" y="1695450"/>
            <a:ext cx="2952750" cy="304800"/>
          </a:xfrm>
          <a:prstGeom prst="rect">
            <a:avLst/>
          </a:prstGeom>
          <a:noFill/>
          <a:ln w="0">
            <a:noFill/>
          </a:ln>
        </p:spPr>
        <p:txBody>
          <a:bodyPr anchor="t">
            <a:noAutofit/>
          </a:bodyPr>
          <a:lstStyle/>
          <a:p>
            <a:pPr>
              <a:defRPr sz="1575" b="0">
                <a:solidFill>
                  <a:srgbClr val="585858"/>
                </a:solidFill>
                <a:latin typeface="Times New Roman"/>
                <a:ea typeface="Times New Roman"/>
                <a:cs typeface="Times New Roman"/>
              </a:defRPr>
            </a:pPr>
            <a:r>
              <a:rPr sz="1575" b="0">
                <a:solidFill>
                  <a:srgbClr val="585858"/>
                </a:solidFill>
                <a:latin typeface="Times New Roman"/>
                <a:ea typeface="Times New Roman"/>
                <a:cs typeface="Times New Roman"/>
              </a:rPr>
              <a:t>Predicted</a:t>
            </a:r>
          </a:p>
        </p:txBody>
      </p:sp>
      <p:sp>
        <p:nvSpPr>
          <p:cNvPr id="536" name="C0">
            <a:extLst>
              <a:ext uri="{FF2B5EF4-FFF2-40B4-BE49-F238E27FC236}">
                <a16:creationId xmlns:a16="http://schemas.microsoft.com/office/drawing/2014/main" id="{07246EBF-0104-4BDF-8DF9-11292B3AD2CC}"/>
              </a:ext>
            </a:extLst>
          </p:cNvPr>
          <p:cNvSpPr>
            <a:spLocks noGrp="1"/>
          </p:cNvSpPr>
          <p:nvPr/>
        </p:nvSpPr>
        <p:spPr>
          <a:xfrm>
            <a:off x="4905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7" name="C0">
            <a:extLst>
              <a:ext uri="{FF2B5EF4-FFF2-40B4-BE49-F238E27FC236}">
                <a16:creationId xmlns:a16="http://schemas.microsoft.com/office/drawing/2014/main" id="{B3C2D89F-FB6D-4B0C-9D31-7C7A8E4E40E8}"/>
              </a:ext>
            </a:extLst>
          </p:cNvPr>
          <p:cNvSpPr>
            <a:spLocks noGrp="1"/>
          </p:cNvSpPr>
          <p:nvPr/>
        </p:nvSpPr>
        <p:spPr>
          <a:xfrm>
            <a:off x="4191000" y="2505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C0</a:t>
            </a:r>
          </a:p>
        </p:txBody>
      </p:sp>
      <p:sp>
        <p:nvSpPr>
          <p:cNvPr id="538" name="C1">
            <a:extLst>
              <a:ext uri="{FF2B5EF4-FFF2-40B4-BE49-F238E27FC236}">
                <a16:creationId xmlns:a16="http://schemas.microsoft.com/office/drawing/2014/main" id="{1A8618B5-DC9C-4C64-BA37-E94DD3C5155C}"/>
              </a:ext>
            </a:extLst>
          </p:cNvPr>
          <p:cNvSpPr>
            <a:spLocks noGrp="1"/>
          </p:cNvSpPr>
          <p:nvPr/>
        </p:nvSpPr>
        <p:spPr>
          <a:xfrm>
            <a:off x="5667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39" name="C1">
            <a:extLst>
              <a:ext uri="{FF2B5EF4-FFF2-40B4-BE49-F238E27FC236}">
                <a16:creationId xmlns:a16="http://schemas.microsoft.com/office/drawing/2014/main" id="{31F065B0-2F03-4B1B-AEAB-C59EA9D68E9B}"/>
              </a:ext>
            </a:extLst>
          </p:cNvPr>
          <p:cNvSpPr>
            <a:spLocks noGrp="1"/>
          </p:cNvSpPr>
          <p:nvPr/>
        </p:nvSpPr>
        <p:spPr>
          <a:xfrm>
            <a:off x="4191000" y="3267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C1</a:t>
            </a:r>
          </a:p>
        </p:txBody>
      </p:sp>
      <p:sp>
        <p:nvSpPr>
          <p:cNvPr id="540" name="C2">
            <a:extLst>
              <a:ext uri="{FF2B5EF4-FFF2-40B4-BE49-F238E27FC236}">
                <a16:creationId xmlns:a16="http://schemas.microsoft.com/office/drawing/2014/main" id="{98965E40-FE3F-4FB5-A1B7-93FB623AF2A9}"/>
              </a:ext>
            </a:extLst>
          </p:cNvPr>
          <p:cNvSpPr>
            <a:spLocks noGrp="1"/>
          </p:cNvSpPr>
          <p:nvPr/>
        </p:nvSpPr>
        <p:spPr>
          <a:xfrm>
            <a:off x="6429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1" name="C2">
            <a:extLst>
              <a:ext uri="{FF2B5EF4-FFF2-40B4-BE49-F238E27FC236}">
                <a16:creationId xmlns:a16="http://schemas.microsoft.com/office/drawing/2014/main" id="{A40CCE50-33C6-4C28-9A46-1EBF78306FA1}"/>
              </a:ext>
            </a:extLst>
          </p:cNvPr>
          <p:cNvSpPr>
            <a:spLocks noGrp="1"/>
          </p:cNvSpPr>
          <p:nvPr/>
        </p:nvSpPr>
        <p:spPr>
          <a:xfrm>
            <a:off x="4191000" y="4029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C2</a:t>
            </a:r>
          </a:p>
        </p:txBody>
      </p:sp>
      <p:sp>
        <p:nvSpPr>
          <p:cNvPr id="542" name="C3">
            <a:extLst>
              <a:ext uri="{FF2B5EF4-FFF2-40B4-BE49-F238E27FC236}">
                <a16:creationId xmlns:a16="http://schemas.microsoft.com/office/drawing/2014/main" id="{2009D059-68DF-4218-84F8-7168945FCFA4}"/>
              </a:ext>
            </a:extLst>
          </p:cNvPr>
          <p:cNvSpPr>
            <a:spLocks noGrp="1"/>
          </p:cNvSpPr>
          <p:nvPr/>
        </p:nvSpPr>
        <p:spPr>
          <a:xfrm>
            <a:off x="7191375" y="2057400"/>
            <a:ext cx="666750" cy="3048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3" name="C3">
            <a:extLst>
              <a:ext uri="{FF2B5EF4-FFF2-40B4-BE49-F238E27FC236}">
                <a16:creationId xmlns:a16="http://schemas.microsoft.com/office/drawing/2014/main" id="{BA5E4CF7-1F18-4AD0-A4AD-8B5DAE527A4F}"/>
              </a:ext>
            </a:extLst>
          </p:cNvPr>
          <p:cNvSpPr>
            <a:spLocks noGrp="1"/>
          </p:cNvSpPr>
          <p:nvPr/>
        </p:nvSpPr>
        <p:spPr>
          <a:xfrm>
            <a:off x="4191000" y="4791075"/>
            <a:ext cx="666750" cy="333375"/>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C3</a:t>
            </a:r>
          </a:p>
        </p:txBody>
      </p:sp>
      <p:sp>
        <p:nvSpPr>
          <p:cNvPr id="544" name="Rectangle 543">
            <a:extLst>
              <a:ext uri="{FF2B5EF4-FFF2-40B4-BE49-F238E27FC236}">
                <a16:creationId xmlns:a16="http://schemas.microsoft.com/office/drawing/2014/main" id="{4FB6B48F-D222-484B-8AF6-9351C9538DAA}"/>
              </a:ext>
            </a:extLst>
          </p:cNvPr>
          <p:cNvSpPr>
            <a:spLocks noGrp="1"/>
          </p:cNvSpPr>
          <p:nvPr/>
        </p:nvSpPr>
        <p:spPr>
          <a:xfrm>
            <a:off x="4810125" y="2428875"/>
            <a:ext cx="742950" cy="742950"/>
          </a:xfrm>
          <a:prstGeom prst="rect">
            <a:avLst/>
          </a:prstGeom>
          <a:solidFill>
            <a:srgbClr val="DBEAF7"/>
          </a:solidFill>
          <a:ln w="0">
            <a:noFill/>
          </a:ln>
        </p:spPr>
        <p:txBody>
          <a:bodyPr/>
          <a:lstStyle/>
          <a:p>
            <a:endParaRPr lang="en-US"/>
          </a:p>
        </p:txBody>
      </p:sp>
      <p:sp>
        <p:nvSpPr>
          <p:cNvPr id="545" name="0">
            <a:extLst>
              <a:ext uri="{FF2B5EF4-FFF2-40B4-BE49-F238E27FC236}">
                <a16:creationId xmlns:a16="http://schemas.microsoft.com/office/drawing/2014/main" id="{BEB97863-C6B2-4352-90DC-B098DEF43F81}"/>
              </a:ext>
            </a:extLst>
          </p:cNvPr>
          <p:cNvSpPr>
            <a:spLocks noGrp="1"/>
          </p:cNvSpPr>
          <p:nvPr/>
        </p:nvSpPr>
        <p:spPr>
          <a:xfrm>
            <a:off x="4819650" y="2638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0</a:t>
            </a:r>
          </a:p>
        </p:txBody>
      </p:sp>
      <p:sp>
        <p:nvSpPr>
          <p:cNvPr id="546" name="Rectangle 545">
            <a:extLst>
              <a:ext uri="{FF2B5EF4-FFF2-40B4-BE49-F238E27FC236}">
                <a16:creationId xmlns:a16="http://schemas.microsoft.com/office/drawing/2014/main" id="{98EC6AF7-6705-4008-9E89-7CF24C165B1A}"/>
              </a:ext>
            </a:extLst>
          </p:cNvPr>
          <p:cNvSpPr>
            <a:spLocks noGrp="1"/>
          </p:cNvSpPr>
          <p:nvPr/>
        </p:nvSpPr>
        <p:spPr>
          <a:xfrm>
            <a:off x="5572125" y="2428875"/>
            <a:ext cx="742950" cy="742950"/>
          </a:xfrm>
          <a:prstGeom prst="rect">
            <a:avLst/>
          </a:prstGeom>
          <a:solidFill>
            <a:srgbClr val="F2F2F2"/>
          </a:solidFill>
          <a:ln w="0">
            <a:noFill/>
          </a:ln>
        </p:spPr>
        <p:txBody>
          <a:bodyPr/>
          <a:lstStyle/>
          <a:p>
            <a:endParaRPr lang="en-US"/>
          </a:p>
        </p:txBody>
      </p:sp>
      <p:sp>
        <p:nvSpPr>
          <p:cNvPr id="547" name="236">
            <a:extLst>
              <a:ext uri="{FF2B5EF4-FFF2-40B4-BE49-F238E27FC236}">
                <a16:creationId xmlns:a16="http://schemas.microsoft.com/office/drawing/2014/main" id="{AEB433C8-154F-4CFE-9F26-DA975B2D8727}"/>
              </a:ext>
            </a:extLst>
          </p:cNvPr>
          <p:cNvSpPr>
            <a:spLocks noGrp="1"/>
          </p:cNvSpPr>
          <p:nvPr/>
        </p:nvSpPr>
        <p:spPr>
          <a:xfrm>
            <a:off x="5581650" y="2638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182</a:t>
            </a:r>
          </a:p>
        </p:txBody>
      </p:sp>
      <p:sp>
        <p:nvSpPr>
          <p:cNvPr id="548" name="Rectangle 547">
            <a:extLst>
              <a:ext uri="{FF2B5EF4-FFF2-40B4-BE49-F238E27FC236}">
                <a16:creationId xmlns:a16="http://schemas.microsoft.com/office/drawing/2014/main" id="{7D09E0DE-7A0F-4253-BD8C-EE2F188A2C7F}"/>
              </a:ext>
            </a:extLst>
          </p:cNvPr>
          <p:cNvSpPr>
            <a:spLocks noGrp="1"/>
          </p:cNvSpPr>
          <p:nvPr/>
        </p:nvSpPr>
        <p:spPr>
          <a:xfrm>
            <a:off x="6334125" y="2428875"/>
            <a:ext cx="742950" cy="742950"/>
          </a:xfrm>
          <a:prstGeom prst="rect">
            <a:avLst/>
          </a:prstGeom>
          <a:solidFill>
            <a:srgbClr val="F2F2F2"/>
          </a:solidFill>
          <a:ln w="0">
            <a:noFill/>
          </a:ln>
        </p:spPr>
        <p:txBody>
          <a:bodyPr/>
          <a:lstStyle/>
          <a:p>
            <a:endParaRPr lang="en-US"/>
          </a:p>
        </p:txBody>
      </p:sp>
      <p:sp>
        <p:nvSpPr>
          <p:cNvPr id="549" name="0">
            <a:extLst>
              <a:ext uri="{FF2B5EF4-FFF2-40B4-BE49-F238E27FC236}">
                <a16:creationId xmlns:a16="http://schemas.microsoft.com/office/drawing/2014/main" id="{D34AB242-61D4-4FB4-9B22-57586BE08B4F}"/>
              </a:ext>
            </a:extLst>
          </p:cNvPr>
          <p:cNvSpPr>
            <a:spLocks noGrp="1"/>
          </p:cNvSpPr>
          <p:nvPr/>
        </p:nvSpPr>
        <p:spPr>
          <a:xfrm>
            <a:off x="6343650" y="2638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0" name="Rectangle 549">
            <a:extLst>
              <a:ext uri="{FF2B5EF4-FFF2-40B4-BE49-F238E27FC236}">
                <a16:creationId xmlns:a16="http://schemas.microsoft.com/office/drawing/2014/main" id="{6D890034-7D45-44BE-B780-1DF3BC6A4B66}"/>
              </a:ext>
            </a:extLst>
          </p:cNvPr>
          <p:cNvSpPr>
            <a:spLocks noGrp="1"/>
          </p:cNvSpPr>
          <p:nvPr/>
        </p:nvSpPr>
        <p:spPr>
          <a:xfrm>
            <a:off x="7096125" y="2428875"/>
            <a:ext cx="742950" cy="742950"/>
          </a:xfrm>
          <a:prstGeom prst="rect">
            <a:avLst/>
          </a:prstGeom>
          <a:solidFill>
            <a:srgbClr val="F2F2F2"/>
          </a:solidFill>
          <a:ln w="0">
            <a:noFill/>
          </a:ln>
        </p:spPr>
        <p:txBody>
          <a:bodyPr/>
          <a:lstStyle/>
          <a:p>
            <a:endParaRPr lang="en-US"/>
          </a:p>
        </p:txBody>
      </p:sp>
      <p:sp>
        <p:nvSpPr>
          <p:cNvPr id="551" name="0">
            <a:extLst>
              <a:ext uri="{FF2B5EF4-FFF2-40B4-BE49-F238E27FC236}">
                <a16:creationId xmlns:a16="http://schemas.microsoft.com/office/drawing/2014/main" id="{5779C272-4816-4953-A4E9-886B2A45C32D}"/>
              </a:ext>
            </a:extLst>
          </p:cNvPr>
          <p:cNvSpPr>
            <a:spLocks noGrp="1"/>
          </p:cNvSpPr>
          <p:nvPr/>
        </p:nvSpPr>
        <p:spPr>
          <a:xfrm>
            <a:off x="7105650" y="2638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2" name="Rectangle 551">
            <a:extLst>
              <a:ext uri="{FF2B5EF4-FFF2-40B4-BE49-F238E27FC236}">
                <a16:creationId xmlns:a16="http://schemas.microsoft.com/office/drawing/2014/main" id="{F8C08E2E-C4CA-4816-8EBE-D29F48F717A3}"/>
              </a:ext>
            </a:extLst>
          </p:cNvPr>
          <p:cNvSpPr>
            <a:spLocks noGrp="1"/>
          </p:cNvSpPr>
          <p:nvPr/>
        </p:nvSpPr>
        <p:spPr>
          <a:xfrm>
            <a:off x="4810125" y="3190875"/>
            <a:ext cx="742950" cy="742950"/>
          </a:xfrm>
          <a:prstGeom prst="rect">
            <a:avLst/>
          </a:prstGeom>
          <a:solidFill>
            <a:srgbClr val="F2F2F2"/>
          </a:solidFill>
          <a:ln w="0">
            <a:noFill/>
          </a:ln>
        </p:spPr>
        <p:txBody>
          <a:bodyPr/>
          <a:lstStyle/>
          <a:p>
            <a:endParaRPr lang="en-US"/>
          </a:p>
        </p:txBody>
      </p:sp>
      <p:sp>
        <p:nvSpPr>
          <p:cNvPr id="553" name="0">
            <a:extLst>
              <a:ext uri="{FF2B5EF4-FFF2-40B4-BE49-F238E27FC236}">
                <a16:creationId xmlns:a16="http://schemas.microsoft.com/office/drawing/2014/main" id="{960A7BAD-A9D6-49E1-A917-1EEB6CC6F643}"/>
              </a:ext>
            </a:extLst>
          </p:cNvPr>
          <p:cNvSpPr>
            <a:spLocks noGrp="1"/>
          </p:cNvSpPr>
          <p:nvPr/>
        </p:nvSpPr>
        <p:spPr>
          <a:xfrm>
            <a:off x="4819650" y="3400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4" name="Rectangle 553">
            <a:extLst>
              <a:ext uri="{FF2B5EF4-FFF2-40B4-BE49-F238E27FC236}">
                <a16:creationId xmlns:a16="http://schemas.microsoft.com/office/drawing/2014/main" id="{7233C520-BC2E-44A3-BC4E-1A474CA92857}"/>
              </a:ext>
            </a:extLst>
          </p:cNvPr>
          <p:cNvSpPr>
            <a:spLocks noGrp="1"/>
          </p:cNvSpPr>
          <p:nvPr/>
        </p:nvSpPr>
        <p:spPr>
          <a:xfrm>
            <a:off x="5572125" y="3190875"/>
            <a:ext cx="742950" cy="742950"/>
          </a:xfrm>
          <a:prstGeom prst="rect">
            <a:avLst/>
          </a:prstGeom>
          <a:solidFill>
            <a:srgbClr val="DBEAF7"/>
          </a:solidFill>
          <a:ln w="0">
            <a:noFill/>
          </a:ln>
        </p:spPr>
        <p:txBody>
          <a:bodyPr/>
          <a:lstStyle/>
          <a:p>
            <a:endParaRPr lang="en-US"/>
          </a:p>
        </p:txBody>
      </p:sp>
      <p:sp>
        <p:nvSpPr>
          <p:cNvPr id="555" name="320">
            <a:extLst>
              <a:ext uri="{FF2B5EF4-FFF2-40B4-BE49-F238E27FC236}">
                <a16:creationId xmlns:a16="http://schemas.microsoft.com/office/drawing/2014/main" id="{6B04052B-7248-4C8A-B669-0BABFB1FE32B}"/>
              </a:ext>
            </a:extLst>
          </p:cNvPr>
          <p:cNvSpPr>
            <a:spLocks noGrp="1"/>
          </p:cNvSpPr>
          <p:nvPr/>
        </p:nvSpPr>
        <p:spPr>
          <a:xfrm>
            <a:off x="5581650" y="3400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284</a:t>
            </a:r>
          </a:p>
        </p:txBody>
      </p:sp>
      <p:sp>
        <p:nvSpPr>
          <p:cNvPr id="556" name="Rectangle 555">
            <a:extLst>
              <a:ext uri="{FF2B5EF4-FFF2-40B4-BE49-F238E27FC236}">
                <a16:creationId xmlns:a16="http://schemas.microsoft.com/office/drawing/2014/main" id="{DD61A0AA-9D5F-47C3-AEA9-62D1101B836A}"/>
              </a:ext>
            </a:extLst>
          </p:cNvPr>
          <p:cNvSpPr>
            <a:spLocks noGrp="1"/>
          </p:cNvSpPr>
          <p:nvPr/>
        </p:nvSpPr>
        <p:spPr>
          <a:xfrm>
            <a:off x="6334125" y="3190875"/>
            <a:ext cx="742950" cy="742950"/>
          </a:xfrm>
          <a:prstGeom prst="rect">
            <a:avLst/>
          </a:prstGeom>
          <a:solidFill>
            <a:srgbClr val="F2F2F2"/>
          </a:solidFill>
          <a:ln w="0">
            <a:noFill/>
          </a:ln>
        </p:spPr>
        <p:txBody>
          <a:bodyPr/>
          <a:lstStyle/>
          <a:p>
            <a:endParaRPr lang="en-US"/>
          </a:p>
        </p:txBody>
      </p:sp>
      <p:sp>
        <p:nvSpPr>
          <p:cNvPr id="557" name="0">
            <a:extLst>
              <a:ext uri="{FF2B5EF4-FFF2-40B4-BE49-F238E27FC236}">
                <a16:creationId xmlns:a16="http://schemas.microsoft.com/office/drawing/2014/main" id="{D4FE36AB-BFF5-42C2-9250-4C05B90E9E71}"/>
              </a:ext>
            </a:extLst>
          </p:cNvPr>
          <p:cNvSpPr>
            <a:spLocks noGrp="1"/>
          </p:cNvSpPr>
          <p:nvPr/>
        </p:nvSpPr>
        <p:spPr>
          <a:xfrm>
            <a:off x="6343650" y="3400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58" name="Rectangle 557">
            <a:extLst>
              <a:ext uri="{FF2B5EF4-FFF2-40B4-BE49-F238E27FC236}">
                <a16:creationId xmlns:a16="http://schemas.microsoft.com/office/drawing/2014/main" id="{77921D74-1E82-41BA-BCE0-CCB727F0B0DF}"/>
              </a:ext>
            </a:extLst>
          </p:cNvPr>
          <p:cNvSpPr>
            <a:spLocks noGrp="1"/>
          </p:cNvSpPr>
          <p:nvPr/>
        </p:nvSpPr>
        <p:spPr>
          <a:xfrm>
            <a:off x="7096125" y="3190875"/>
            <a:ext cx="742950" cy="742950"/>
          </a:xfrm>
          <a:prstGeom prst="rect">
            <a:avLst/>
          </a:prstGeom>
          <a:solidFill>
            <a:srgbClr val="F2F2F2"/>
          </a:solidFill>
          <a:ln w="0">
            <a:noFill/>
          </a:ln>
        </p:spPr>
        <p:txBody>
          <a:bodyPr/>
          <a:lstStyle/>
          <a:p>
            <a:endParaRPr lang="en-US"/>
          </a:p>
        </p:txBody>
      </p:sp>
      <p:sp>
        <p:nvSpPr>
          <p:cNvPr id="559" name="0">
            <a:extLst>
              <a:ext uri="{FF2B5EF4-FFF2-40B4-BE49-F238E27FC236}">
                <a16:creationId xmlns:a16="http://schemas.microsoft.com/office/drawing/2014/main" id="{C80A41A3-854F-4E13-B229-701DC2195713}"/>
              </a:ext>
            </a:extLst>
          </p:cNvPr>
          <p:cNvSpPr>
            <a:spLocks noGrp="1"/>
          </p:cNvSpPr>
          <p:nvPr/>
        </p:nvSpPr>
        <p:spPr>
          <a:xfrm>
            <a:off x="7105650" y="3400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60" name="Rectangle 559">
            <a:extLst>
              <a:ext uri="{FF2B5EF4-FFF2-40B4-BE49-F238E27FC236}">
                <a16:creationId xmlns:a16="http://schemas.microsoft.com/office/drawing/2014/main" id="{0F7B1BE1-2432-4D44-959C-FE71280AB454}"/>
              </a:ext>
            </a:extLst>
          </p:cNvPr>
          <p:cNvSpPr>
            <a:spLocks noGrp="1"/>
          </p:cNvSpPr>
          <p:nvPr/>
        </p:nvSpPr>
        <p:spPr>
          <a:xfrm>
            <a:off x="4810125" y="3952875"/>
            <a:ext cx="742950" cy="742950"/>
          </a:xfrm>
          <a:prstGeom prst="rect">
            <a:avLst/>
          </a:prstGeom>
          <a:solidFill>
            <a:srgbClr val="F2F2F2"/>
          </a:solidFill>
          <a:ln w="0">
            <a:noFill/>
          </a:ln>
        </p:spPr>
        <p:txBody>
          <a:bodyPr/>
          <a:lstStyle/>
          <a:p>
            <a:endParaRPr lang="en-US"/>
          </a:p>
        </p:txBody>
      </p:sp>
      <p:sp>
        <p:nvSpPr>
          <p:cNvPr id="561" name="0">
            <a:extLst>
              <a:ext uri="{FF2B5EF4-FFF2-40B4-BE49-F238E27FC236}">
                <a16:creationId xmlns:a16="http://schemas.microsoft.com/office/drawing/2014/main" id="{733FE4D6-381B-4000-B226-A8C35BB2754A}"/>
              </a:ext>
            </a:extLst>
          </p:cNvPr>
          <p:cNvSpPr>
            <a:spLocks noGrp="1"/>
          </p:cNvSpPr>
          <p:nvPr/>
        </p:nvSpPr>
        <p:spPr>
          <a:xfrm>
            <a:off x="4819650" y="4162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62" name="Rectangle 561">
            <a:extLst>
              <a:ext uri="{FF2B5EF4-FFF2-40B4-BE49-F238E27FC236}">
                <a16:creationId xmlns:a16="http://schemas.microsoft.com/office/drawing/2014/main" id="{E0299D2F-06D0-4E3F-8D71-FC0A3C6B3FAA}"/>
              </a:ext>
            </a:extLst>
          </p:cNvPr>
          <p:cNvSpPr>
            <a:spLocks noGrp="1"/>
          </p:cNvSpPr>
          <p:nvPr/>
        </p:nvSpPr>
        <p:spPr>
          <a:xfrm>
            <a:off x="5572125" y="3952875"/>
            <a:ext cx="742950" cy="742950"/>
          </a:xfrm>
          <a:prstGeom prst="rect">
            <a:avLst/>
          </a:prstGeom>
          <a:solidFill>
            <a:srgbClr val="F2F2F2"/>
          </a:solidFill>
          <a:ln w="0">
            <a:noFill/>
          </a:ln>
        </p:spPr>
        <p:txBody>
          <a:bodyPr/>
          <a:lstStyle/>
          <a:p>
            <a:endParaRPr lang="en-US"/>
          </a:p>
        </p:txBody>
      </p:sp>
      <p:sp>
        <p:nvSpPr>
          <p:cNvPr id="563" name="300">
            <a:extLst>
              <a:ext uri="{FF2B5EF4-FFF2-40B4-BE49-F238E27FC236}">
                <a16:creationId xmlns:a16="http://schemas.microsoft.com/office/drawing/2014/main" id="{AF7A8122-7E14-47B5-BDCC-205F69A43286}"/>
              </a:ext>
            </a:extLst>
          </p:cNvPr>
          <p:cNvSpPr>
            <a:spLocks noGrp="1"/>
          </p:cNvSpPr>
          <p:nvPr/>
        </p:nvSpPr>
        <p:spPr>
          <a:xfrm>
            <a:off x="5581650" y="4162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264</a:t>
            </a:r>
          </a:p>
        </p:txBody>
      </p:sp>
      <p:sp>
        <p:nvSpPr>
          <p:cNvPr id="564" name="Rectangle 563">
            <a:extLst>
              <a:ext uri="{FF2B5EF4-FFF2-40B4-BE49-F238E27FC236}">
                <a16:creationId xmlns:a16="http://schemas.microsoft.com/office/drawing/2014/main" id="{1CC29FBA-90D7-47F7-AA50-63E22ADE8A34}"/>
              </a:ext>
            </a:extLst>
          </p:cNvPr>
          <p:cNvSpPr>
            <a:spLocks noGrp="1"/>
          </p:cNvSpPr>
          <p:nvPr/>
        </p:nvSpPr>
        <p:spPr>
          <a:xfrm>
            <a:off x="6334125" y="3952875"/>
            <a:ext cx="742950" cy="742950"/>
          </a:xfrm>
          <a:prstGeom prst="rect">
            <a:avLst/>
          </a:prstGeom>
          <a:solidFill>
            <a:srgbClr val="DBEAF7"/>
          </a:solidFill>
          <a:ln w="0">
            <a:noFill/>
          </a:ln>
        </p:spPr>
        <p:txBody>
          <a:bodyPr/>
          <a:lstStyle/>
          <a:p>
            <a:endParaRPr lang="en-US"/>
          </a:p>
        </p:txBody>
      </p:sp>
      <p:sp>
        <p:nvSpPr>
          <p:cNvPr id="565" name="0">
            <a:extLst>
              <a:ext uri="{FF2B5EF4-FFF2-40B4-BE49-F238E27FC236}">
                <a16:creationId xmlns:a16="http://schemas.microsoft.com/office/drawing/2014/main" id="{57B6D371-4B11-45CC-8293-7E0018EE8A50}"/>
              </a:ext>
            </a:extLst>
          </p:cNvPr>
          <p:cNvSpPr>
            <a:spLocks noGrp="1"/>
          </p:cNvSpPr>
          <p:nvPr/>
        </p:nvSpPr>
        <p:spPr>
          <a:xfrm>
            <a:off x="6343650" y="4162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0</a:t>
            </a:r>
          </a:p>
        </p:txBody>
      </p:sp>
      <p:sp>
        <p:nvSpPr>
          <p:cNvPr id="566" name="Rectangle 565">
            <a:extLst>
              <a:ext uri="{FF2B5EF4-FFF2-40B4-BE49-F238E27FC236}">
                <a16:creationId xmlns:a16="http://schemas.microsoft.com/office/drawing/2014/main" id="{8A1EB812-FAB7-4EBE-BC17-2FE25A913233}"/>
              </a:ext>
            </a:extLst>
          </p:cNvPr>
          <p:cNvSpPr>
            <a:spLocks noGrp="1"/>
          </p:cNvSpPr>
          <p:nvPr/>
        </p:nvSpPr>
        <p:spPr>
          <a:xfrm>
            <a:off x="7096125" y="3952875"/>
            <a:ext cx="742950" cy="742950"/>
          </a:xfrm>
          <a:prstGeom prst="rect">
            <a:avLst/>
          </a:prstGeom>
          <a:solidFill>
            <a:srgbClr val="F2F2F2"/>
          </a:solidFill>
          <a:ln w="0">
            <a:noFill/>
          </a:ln>
        </p:spPr>
        <p:txBody>
          <a:bodyPr/>
          <a:lstStyle/>
          <a:p>
            <a:endParaRPr lang="en-US"/>
          </a:p>
        </p:txBody>
      </p:sp>
      <p:sp>
        <p:nvSpPr>
          <p:cNvPr id="567" name="0">
            <a:extLst>
              <a:ext uri="{FF2B5EF4-FFF2-40B4-BE49-F238E27FC236}">
                <a16:creationId xmlns:a16="http://schemas.microsoft.com/office/drawing/2014/main" id="{C45F4788-67BE-4E39-8961-02E01F1C9F51}"/>
              </a:ext>
            </a:extLst>
          </p:cNvPr>
          <p:cNvSpPr>
            <a:spLocks noGrp="1"/>
          </p:cNvSpPr>
          <p:nvPr/>
        </p:nvSpPr>
        <p:spPr>
          <a:xfrm>
            <a:off x="7105650" y="4162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68" name="Rectangle 567">
            <a:extLst>
              <a:ext uri="{FF2B5EF4-FFF2-40B4-BE49-F238E27FC236}">
                <a16:creationId xmlns:a16="http://schemas.microsoft.com/office/drawing/2014/main" id="{01D06860-CDA5-47C0-B0AB-80829FCE7AFC}"/>
              </a:ext>
            </a:extLst>
          </p:cNvPr>
          <p:cNvSpPr>
            <a:spLocks noGrp="1"/>
          </p:cNvSpPr>
          <p:nvPr/>
        </p:nvSpPr>
        <p:spPr>
          <a:xfrm>
            <a:off x="4810125" y="4714875"/>
            <a:ext cx="742950" cy="742950"/>
          </a:xfrm>
          <a:prstGeom prst="rect">
            <a:avLst/>
          </a:prstGeom>
          <a:solidFill>
            <a:srgbClr val="F2F2F2"/>
          </a:solidFill>
          <a:ln w="0">
            <a:noFill/>
          </a:ln>
        </p:spPr>
        <p:txBody>
          <a:bodyPr/>
          <a:lstStyle/>
          <a:p>
            <a:endParaRPr lang="en-US"/>
          </a:p>
        </p:txBody>
      </p:sp>
      <p:sp>
        <p:nvSpPr>
          <p:cNvPr id="569" name="0">
            <a:extLst>
              <a:ext uri="{FF2B5EF4-FFF2-40B4-BE49-F238E27FC236}">
                <a16:creationId xmlns:a16="http://schemas.microsoft.com/office/drawing/2014/main" id="{FD09B39A-5BD1-4850-8B15-C28501061ED3}"/>
              </a:ext>
            </a:extLst>
          </p:cNvPr>
          <p:cNvSpPr>
            <a:spLocks noGrp="1"/>
          </p:cNvSpPr>
          <p:nvPr/>
        </p:nvSpPr>
        <p:spPr>
          <a:xfrm>
            <a:off x="4819650" y="4924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70" name="Rectangle 569">
            <a:extLst>
              <a:ext uri="{FF2B5EF4-FFF2-40B4-BE49-F238E27FC236}">
                <a16:creationId xmlns:a16="http://schemas.microsoft.com/office/drawing/2014/main" id="{0EFFAB73-0AF2-4991-B1F1-5F2EF8AFAC72}"/>
              </a:ext>
            </a:extLst>
          </p:cNvPr>
          <p:cNvSpPr>
            <a:spLocks noGrp="1"/>
          </p:cNvSpPr>
          <p:nvPr/>
        </p:nvSpPr>
        <p:spPr>
          <a:xfrm>
            <a:off x="5572125" y="4714875"/>
            <a:ext cx="742950" cy="742950"/>
          </a:xfrm>
          <a:prstGeom prst="rect">
            <a:avLst/>
          </a:prstGeom>
          <a:solidFill>
            <a:srgbClr val="F2F2F2"/>
          </a:solidFill>
          <a:ln w="0">
            <a:noFill/>
          </a:ln>
        </p:spPr>
        <p:txBody>
          <a:bodyPr/>
          <a:lstStyle/>
          <a:p>
            <a:endParaRPr lang="en-US"/>
          </a:p>
        </p:txBody>
      </p:sp>
      <p:sp>
        <p:nvSpPr>
          <p:cNvPr id="571" name="246">
            <a:extLst>
              <a:ext uri="{FF2B5EF4-FFF2-40B4-BE49-F238E27FC236}">
                <a16:creationId xmlns:a16="http://schemas.microsoft.com/office/drawing/2014/main" id="{DA9D9DA0-42DA-4F67-BE67-C66C6BCC0DFB}"/>
              </a:ext>
            </a:extLst>
          </p:cNvPr>
          <p:cNvSpPr>
            <a:spLocks noGrp="1"/>
          </p:cNvSpPr>
          <p:nvPr/>
        </p:nvSpPr>
        <p:spPr>
          <a:xfrm>
            <a:off x="5581650" y="4924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190</a:t>
            </a:r>
          </a:p>
        </p:txBody>
      </p:sp>
      <p:sp>
        <p:nvSpPr>
          <p:cNvPr id="572" name="Rectangle 571">
            <a:extLst>
              <a:ext uri="{FF2B5EF4-FFF2-40B4-BE49-F238E27FC236}">
                <a16:creationId xmlns:a16="http://schemas.microsoft.com/office/drawing/2014/main" id="{B070DC3E-0ADF-4BD1-AFC9-BD7BEF0B5379}"/>
              </a:ext>
            </a:extLst>
          </p:cNvPr>
          <p:cNvSpPr>
            <a:spLocks noGrp="1"/>
          </p:cNvSpPr>
          <p:nvPr/>
        </p:nvSpPr>
        <p:spPr>
          <a:xfrm>
            <a:off x="6334125" y="4714875"/>
            <a:ext cx="742950" cy="742950"/>
          </a:xfrm>
          <a:prstGeom prst="rect">
            <a:avLst/>
          </a:prstGeom>
          <a:solidFill>
            <a:srgbClr val="F2F2F2"/>
          </a:solidFill>
          <a:ln w="0">
            <a:noFill/>
          </a:ln>
        </p:spPr>
        <p:txBody>
          <a:bodyPr/>
          <a:lstStyle/>
          <a:p>
            <a:endParaRPr lang="en-US"/>
          </a:p>
        </p:txBody>
      </p:sp>
      <p:sp>
        <p:nvSpPr>
          <p:cNvPr id="573" name="0">
            <a:extLst>
              <a:ext uri="{FF2B5EF4-FFF2-40B4-BE49-F238E27FC236}">
                <a16:creationId xmlns:a16="http://schemas.microsoft.com/office/drawing/2014/main" id="{1DC09590-FFB5-4C31-A5D3-21599A5C5133}"/>
              </a:ext>
            </a:extLst>
          </p:cNvPr>
          <p:cNvSpPr>
            <a:spLocks noGrp="1"/>
          </p:cNvSpPr>
          <p:nvPr/>
        </p:nvSpPr>
        <p:spPr>
          <a:xfrm>
            <a:off x="6343650" y="4924425"/>
            <a:ext cx="733425" cy="342900"/>
          </a:xfrm>
          <a:prstGeom prst="rect">
            <a:avLst/>
          </a:prstGeom>
          <a:noFill/>
          <a:ln w="0">
            <a:noFill/>
          </a:ln>
        </p:spPr>
        <p:txBody>
          <a:bodyPr anchor="t">
            <a:noAutofit/>
          </a:bodyPr>
          <a:lstStyle/>
          <a:p>
            <a:pPr>
              <a:defRPr sz="1725" b="0">
                <a:solidFill>
                  <a:srgbClr val="121212"/>
                </a:solidFill>
                <a:latin typeface="Times New Roman"/>
                <a:ea typeface="Times New Roman"/>
                <a:cs typeface="Times New Roman"/>
              </a:defRPr>
            </a:pPr>
            <a:r>
              <a:rPr sz="1725" b="0">
                <a:solidFill>
                  <a:srgbClr val="121212"/>
                </a:solidFill>
                <a:latin typeface="Times New Roman"/>
                <a:ea typeface="Times New Roman"/>
                <a:cs typeface="Times New Roman"/>
              </a:rPr>
              <a:t>0</a:t>
            </a:r>
          </a:p>
        </p:txBody>
      </p:sp>
      <p:sp>
        <p:nvSpPr>
          <p:cNvPr id="574" name="Rectangle 573">
            <a:extLst>
              <a:ext uri="{FF2B5EF4-FFF2-40B4-BE49-F238E27FC236}">
                <a16:creationId xmlns:a16="http://schemas.microsoft.com/office/drawing/2014/main" id="{0E6329F2-20F4-498A-A91A-36C2AF1BEFCD}"/>
              </a:ext>
            </a:extLst>
          </p:cNvPr>
          <p:cNvSpPr>
            <a:spLocks noGrp="1"/>
          </p:cNvSpPr>
          <p:nvPr/>
        </p:nvSpPr>
        <p:spPr>
          <a:xfrm>
            <a:off x="7096125" y="4714875"/>
            <a:ext cx="742950" cy="742950"/>
          </a:xfrm>
          <a:prstGeom prst="rect">
            <a:avLst/>
          </a:prstGeom>
          <a:solidFill>
            <a:srgbClr val="DBEAF7"/>
          </a:solidFill>
          <a:ln w="0">
            <a:noFill/>
          </a:ln>
        </p:spPr>
        <p:txBody>
          <a:bodyPr/>
          <a:lstStyle/>
          <a:p>
            <a:endParaRPr lang="en-US"/>
          </a:p>
        </p:txBody>
      </p:sp>
      <p:sp>
        <p:nvSpPr>
          <p:cNvPr id="575" name="0">
            <a:extLst>
              <a:ext uri="{FF2B5EF4-FFF2-40B4-BE49-F238E27FC236}">
                <a16:creationId xmlns:a16="http://schemas.microsoft.com/office/drawing/2014/main" id="{860C7F2A-8EB9-4B07-817A-1C4F0A59BA02}"/>
              </a:ext>
            </a:extLst>
          </p:cNvPr>
          <p:cNvSpPr>
            <a:spLocks noGrp="1"/>
          </p:cNvSpPr>
          <p:nvPr/>
        </p:nvSpPr>
        <p:spPr>
          <a:xfrm>
            <a:off x="7105650" y="4924425"/>
            <a:ext cx="733425" cy="342900"/>
          </a:xfrm>
          <a:prstGeom prst="rect">
            <a:avLst/>
          </a:prstGeom>
          <a:noFill/>
          <a:ln w="0">
            <a:noFill/>
          </a:ln>
        </p:spPr>
        <p:txBody>
          <a:bodyPr anchor="t">
            <a:noAutofit/>
          </a:bodyPr>
          <a:lstStyle/>
          <a:p>
            <a:pPr>
              <a:defRPr sz="1725" b="1">
                <a:solidFill>
                  <a:srgbClr val="121212"/>
                </a:solidFill>
                <a:latin typeface="Times New Roman"/>
                <a:ea typeface="Times New Roman"/>
                <a:cs typeface="Times New Roman"/>
              </a:defRPr>
            </a:pPr>
            <a:r>
              <a:rPr sz="1725" b="1">
                <a:solidFill>
                  <a:srgbClr val="121212"/>
                </a:solidFill>
                <a:latin typeface="Times New Roman"/>
                <a:ea typeface="Times New Roman"/>
                <a:cs typeface="Times New Roman"/>
              </a:rPr>
              <a:t>0</a:t>
            </a:r>
          </a:p>
        </p:txBody>
      </p:sp>
      <p:sp>
        <p:nvSpPr>
          <p:cNvPr id="576" name="Always predicts C1">
            <a:extLst>
              <a:ext uri="{FF2B5EF4-FFF2-40B4-BE49-F238E27FC236}">
                <a16:creationId xmlns:a16="http://schemas.microsoft.com/office/drawing/2014/main" id="{C811BBA3-E17E-46FE-9908-31DF4A14D234}"/>
              </a:ext>
            </a:extLst>
          </p:cNvPr>
          <p:cNvSpPr>
            <a:spLocks noGrp="1"/>
          </p:cNvSpPr>
          <p:nvPr/>
        </p:nvSpPr>
        <p:spPr>
          <a:xfrm>
            <a:off x="400050" y="2190750"/>
            <a:ext cx="3286125" cy="1000125"/>
          </a:xfrm>
          <a:prstGeom prst="rect">
            <a:avLst/>
          </a:prstGeom>
          <a:noFill/>
          <a:ln w="0">
            <a:noFill/>
          </a:ln>
        </p:spPr>
        <p:txBody>
          <a:bodyPr anchor="t">
            <a:noAutofit/>
          </a:bodyPr>
          <a:lstStyle/>
          <a:p>
            <a:pPr>
              <a:defRPr sz="3150" b="0">
                <a:solidFill>
                  <a:srgbClr val="121212"/>
                </a:solidFill>
                <a:latin typeface="Times New Roman"/>
                <a:ea typeface="Times New Roman"/>
                <a:cs typeface="Times New Roman"/>
              </a:defRPr>
            </a:pPr>
            <a:r>
              <a:rPr sz="3150" b="0">
                <a:solidFill>
                  <a:srgbClr val="121212"/>
                </a:solidFill>
                <a:latin typeface="Times New Roman"/>
                <a:ea typeface="Times New Roman"/>
                <a:cs typeface="Times New Roman"/>
              </a:rPr>
              <a:t>Always predicts C1</a:t>
            </a:r>
          </a:p>
        </p:txBody>
      </p:sp>
      <p:sp>
        <p:nvSpPr>
          <p:cNvPr id="577" name="Every prediction falls&#10;in one column.">
            <a:extLst>
              <a:ext uri="{FF2B5EF4-FFF2-40B4-BE49-F238E27FC236}">
                <a16:creationId xmlns:a16="http://schemas.microsoft.com/office/drawing/2014/main" id="{DE86C585-6927-47EB-9005-6B746C1091C4}"/>
              </a:ext>
            </a:extLst>
          </p:cNvPr>
          <p:cNvSpPr>
            <a:spLocks noGrp="1"/>
          </p:cNvSpPr>
          <p:nvPr/>
        </p:nvSpPr>
        <p:spPr>
          <a:xfrm>
            <a:off x="400050" y="3581400"/>
            <a:ext cx="3190875" cy="10001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Every prediction falls</a:t>
            </a:r>
          </a:p>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in one column.</a:t>
            </a:r>
          </a:p>
        </p:txBody>
      </p:sp>
      <p:sp>
        <p:nvSpPr>
          <p:cNvPr id="578" name="WEKA ZeroR, main CGPA, 10-fold CV, N = 1,102. Accuracy ">
            <a:extLst>
              <a:ext uri="{FF2B5EF4-FFF2-40B4-BE49-F238E27FC236}">
                <a16:creationId xmlns:a16="http://schemas.microsoft.com/office/drawing/2014/main" id="{4305A702-3325-4FE0-A628-7F56BED23F7C}"/>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ZeroR, main CGPA, 5-fold CV, N = 920. Accuracy = 30.87%.</a:t>
            </a:r>
          </a:p>
        </p:txBody>
      </p:sp>
    </p:spTree>
    <p:extLst>
      <p:ext uri="{BB962C8B-B14F-4D97-AF65-F5344CB8AC3E}">
        <p14:creationId xmlns:p14="http://schemas.microsoft.com/office/powerpoint/2010/main" val="6987725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43</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WEKA main CGPA accuracy: 5-fold CV</a:t>
            </a:r>
          </a:p>
        </p:txBody>
      </p:sp>
      <p:graphicFrame>
        <p:nvGraphicFramePr>
          <p:cNvPr id="539" name="Chart"/>
          <p:cNvGraphicFramePr/>
          <p:nvPr/>
        </p:nvGraphicFramePr>
        <p:xfrm>
          <a:off x="857250" y="1524000"/>
          <a:ext cx="10763250" cy="4286250"/>
        </p:xfrm>
        <a:graphic>
          <a:graphicData uri="http://schemas.openxmlformats.org/drawingml/2006/chart">
            <c:chart xmlns:c="http://schemas.openxmlformats.org/drawingml/2006/chart" xmlns:r="http://schemas.openxmlformats.org/officeDocument/2006/relationships" r:id="rId3"/>
          </a:graphicData>
        </a:graphic>
      </p:graphicFrame>
      <p:sp>
        <p:nvSpPr>
          <p:cNvPr id="535" name="WEKA 3.8.7, stratified 10-fold CV, seed 1. Same 1,102 r">
            <a:extLst>
              <a:ext uri="{FF2B5EF4-FFF2-40B4-BE49-F238E27FC236}">
                <a16:creationId xmlns:a16="http://schemas.microsoft.com/office/drawing/2014/main" id="{78BFE0E2-C5FA-4554-A017-2271F9AC4AD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WEKA 3.8.7, stratified 5-fold CV, seed 1. Same 920 students and main CGPA inputs.</a:t>
            </a:r>
          </a:p>
        </p:txBody>
      </p:sp>
    </p:spTree>
    <p:extLst>
      <p:ext uri="{BB962C8B-B14F-4D97-AF65-F5344CB8AC3E}">
        <p14:creationId xmlns:p14="http://schemas.microsoft.com/office/powerpoint/2010/main" val="246357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Accuracy before and after the data check</a:t>
            </a:r>
          </a:p>
        </p:txBody>
      </p:sp>
      <p:graphicFrame>
        <p:nvGraphicFramePr>
          <p:cNvPr id="540" name="Table 539"/>
          <p:cNvGraphicFramePr/>
          <p:nvPr/>
        </p:nvGraphicFramePr>
        <p:xfrm>
          <a:off x="400050" y="1952625"/>
          <a:ext cx="11391900" cy="3428999"/>
        </p:xfrm>
        <a:graphic>
          <a:graphicData uri="http://schemas.openxmlformats.org/drawingml/2006/table">
            <a:tbl>
              <a:tblPr/>
              <a:tblGrid>
                <a:gridCol w="28575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31051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489857">
                <a:tc>
                  <a:txBody>
                    <a:bodyPr/>
                    <a:lstStyle/>
                    <a:p>
                      <a:r>
                        <a:rPr sz="1875" b="1">
                          <a:solidFill>
                            <a:srgbClr val="121212"/>
                          </a:solidFill>
                          <a:latin typeface="Times New Roman"/>
                          <a:ea typeface="Times New Roman"/>
                          <a:cs typeface="Times New Roman"/>
                        </a:rPr>
                        <a:t>WEKA model</a:t>
                      </a:r>
                    </a:p>
                  </a:txBody>
                  <a:tcPr>
                    <a:solidFill>
                      <a:srgbClr val="EEEEEE"/>
                    </a:solidFill>
                  </a:tcPr>
                </a:tc>
                <a:tc>
                  <a:txBody>
                    <a:bodyPr/>
                    <a:lstStyle/>
                    <a:p>
                      <a:r>
                        <a:rPr lang="en-US" sz="1875" b="1" dirty="0">
                          <a:solidFill>
                            <a:srgbClr val="121212"/>
                          </a:solidFill>
                          <a:latin typeface="Times New Roman"/>
                          <a:ea typeface="Times New Roman"/>
                          <a:cs typeface="Times New Roman"/>
                        </a:rPr>
                        <a:t>All 1,102 students</a:t>
                      </a:r>
                      <a:endParaRPr sz="1875" b="1" dirty="0">
                        <a:solidFill>
                          <a:srgbClr val="121212"/>
                        </a:solidFill>
                        <a:latin typeface="Times New Roman"/>
                        <a:ea typeface="Times New Roman"/>
                        <a:cs typeface="Times New Roman"/>
                      </a:endParaRPr>
                    </a:p>
                  </a:txBody>
                  <a:tcPr>
                    <a:solidFill>
                      <a:srgbClr val="EEEEEE"/>
                    </a:solidFill>
                  </a:tcPr>
                </a:tc>
                <a:tc>
                  <a:txBody>
                    <a:bodyPr/>
                    <a:lstStyle/>
                    <a:p>
                      <a:r>
                        <a:rPr lang="en-US" sz="1875" b="1" dirty="0">
                          <a:solidFill>
                            <a:srgbClr val="121212"/>
                          </a:solidFill>
                          <a:latin typeface="Times New Roman"/>
                          <a:ea typeface="Times New Roman"/>
                          <a:cs typeface="Times New Roman"/>
                        </a:rPr>
                        <a:t>After data check (920)</a:t>
                      </a:r>
                      <a:endParaRPr sz="1875" b="1" dirty="0">
                        <a:solidFill>
                          <a:srgbClr val="121212"/>
                        </a:solidFill>
                        <a:latin typeface="Times New Roman"/>
                        <a:ea typeface="Times New Roman"/>
                        <a:cs typeface="Times New Roman"/>
                      </a:endParaRPr>
                    </a:p>
                  </a:txBody>
                  <a:tcPr>
                    <a:solidFill>
                      <a:srgbClr val="EEEEEE"/>
                    </a:solidFill>
                  </a:tcPr>
                </a:tc>
                <a:tc>
                  <a:txBody>
                    <a:bodyPr/>
                    <a:lstStyle/>
                    <a:p>
                      <a:r>
                        <a:rPr lang="en-US" sz="1875" b="1" dirty="0">
                          <a:solidFill>
                            <a:srgbClr val="121212"/>
                          </a:solidFill>
                          <a:latin typeface="Times New Roman"/>
                          <a:ea typeface="Times New Roman"/>
                          <a:cs typeface="Times New Roman"/>
                        </a:rPr>
                        <a:t>Change</a:t>
                      </a:r>
                      <a:endParaRPr sz="1875" b="1" dirty="0">
                        <a:solidFill>
                          <a:srgbClr val="121212"/>
                        </a:solidFill>
                        <a:latin typeface="Times New Roman"/>
                        <a:ea typeface="Times New Roman"/>
                        <a:cs typeface="Times New Roman"/>
                      </a:endParaRPr>
                    </a:p>
                  </a:txBody>
                  <a:tcPr>
                    <a:solidFill>
                      <a:srgbClr val="EEEEEE"/>
                    </a:solidFill>
                  </a:tcPr>
                </a:tc>
                <a:extLst>
                  <a:ext uri="{0D108BD9-81ED-4DB2-BD59-A6C34878D82A}">
                    <a16:rowId xmlns:a16="http://schemas.microsoft.com/office/drawing/2014/main" val="10000"/>
                  </a:ext>
                </a:extLst>
              </a:tr>
              <a:tr h="489857">
                <a:tc>
                  <a:txBody>
                    <a:bodyPr/>
                    <a:lstStyle/>
                    <a:p>
                      <a:r>
                        <a:rPr sz="1875" b="0">
                          <a:solidFill>
                            <a:srgbClr val="121212"/>
                          </a:solidFill>
                          <a:latin typeface="Times New Roman"/>
                          <a:ea typeface="Times New Roman"/>
                          <a:cs typeface="Times New Roman"/>
                        </a:rPr>
                        <a:t>J48</a:t>
                      </a:r>
                    </a:p>
                  </a:txBody>
                  <a:tcPr>
                    <a:solidFill>
                      <a:srgbClr val="FFFFFF"/>
                    </a:solidFill>
                  </a:tcPr>
                </a:tc>
                <a:tc>
                  <a:txBody>
                    <a:bodyPr/>
                    <a:lstStyle/>
                    <a:p>
                      <a:r>
                        <a:rPr sz="1875" b="0">
                          <a:solidFill>
                            <a:srgbClr val="121212"/>
                          </a:solidFill>
                          <a:latin typeface="Times New Roman"/>
                          <a:ea typeface="Times New Roman"/>
                          <a:cs typeface="Times New Roman"/>
                        </a:rPr>
                        <a:t>43.56%</a:t>
                      </a:r>
                    </a:p>
                  </a:txBody>
                  <a:tcPr>
                    <a:solidFill>
                      <a:srgbClr val="FFFFFF"/>
                    </a:solidFill>
                  </a:tcPr>
                </a:tc>
                <a:tc>
                  <a:txBody>
                    <a:bodyPr/>
                    <a:lstStyle/>
                    <a:p>
                      <a:r>
                        <a:rPr sz="1875" b="0">
                          <a:solidFill>
                            <a:srgbClr val="121212"/>
                          </a:solidFill>
                          <a:latin typeface="Times New Roman"/>
                          <a:ea typeface="Times New Roman"/>
                          <a:cs typeface="Times New Roman"/>
                        </a:rPr>
                        <a:t>54.35%</a:t>
                      </a:r>
                    </a:p>
                  </a:txBody>
                  <a:tcPr>
                    <a:solidFill>
                      <a:srgbClr val="FFFFFF"/>
                    </a:solidFill>
                  </a:tcPr>
                </a:tc>
                <a:tc>
                  <a:txBody>
                    <a:bodyPr/>
                    <a:lstStyle/>
                    <a:p>
                      <a:r>
                        <a:rPr sz="1875" b="0">
                          <a:solidFill>
                            <a:srgbClr val="121212"/>
                          </a:solidFill>
                          <a:latin typeface="Times New Roman"/>
                          <a:ea typeface="Times New Roman"/>
                          <a:cs typeface="Times New Roman"/>
                        </a:rPr>
                        <a:t>+10.8 points</a:t>
                      </a:r>
                    </a:p>
                  </a:txBody>
                  <a:tcPr>
                    <a:solidFill>
                      <a:srgbClr val="FFFFFF"/>
                    </a:solidFill>
                  </a:tcPr>
                </a:tc>
                <a:extLst>
                  <a:ext uri="{0D108BD9-81ED-4DB2-BD59-A6C34878D82A}">
                    <a16:rowId xmlns:a16="http://schemas.microsoft.com/office/drawing/2014/main" val="10001"/>
                  </a:ext>
                </a:extLst>
              </a:tr>
              <a:tr h="489857">
                <a:tc>
                  <a:txBody>
                    <a:bodyPr/>
                    <a:lstStyle/>
                    <a:p>
                      <a:r>
                        <a:rPr sz="1875" b="0">
                          <a:solidFill>
                            <a:srgbClr val="121212"/>
                          </a:solidFill>
                          <a:latin typeface="Times New Roman"/>
                          <a:ea typeface="Times New Roman"/>
                          <a:cs typeface="Times New Roman"/>
                        </a:rPr>
                        <a:t>Random Forest</a:t>
                      </a:r>
                    </a:p>
                  </a:txBody>
                  <a:tcPr>
                    <a:solidFill>
                      <a:srgbClr val="FFFFFF"/>
                    </a:solidFill>
                  </a:tcPr>
                </a:tc>
                <a:tc>
                  <a:txBody>
                    <a:bodyPr/>
                    <a:lstStyle/>
                    <a:p>
                      <a:r>
                        <a:rPr sz="1875" b="0">
                          <a:solidFill>
                            <a:srgbClr val="121212"/>
                          </a:solidFill>
                          <a:latin typeface="Times New Roman"/>
                          <a:ea typeface="Times New Roman"/>
                          <a:cs typeface="Times New Roman"/>
                        </a:rPr>
                        <a:t>45.01%</a:t>
                      </a:r>
                    </a:p>
                  </a:txBody>
                  <a:tcPr>
                    <a:solidFill>
                      <a:srgbClr val="FFFFFF"/>
                    </a:solidFill>
                  </a:tcPr>
                </a:tc>
                <a:tc>
                  <a:txBody>
                    <a:bodyPr/>
                    <a:lstStyle/>
                    <a:p>
                      <a:r>
                        <a:rPr sz="1875" b="0">
                          <a:solidFill>
                            <a:srgbClr val="121212"/>
                          </a:solidFill>
                          <a:latin typeface="Times New Roman"/>
                          <a:ea typeface="Times New Roman"/>
                          <a:cs typeface="Times New Roman"/>
                        </a:rPr>
                        <a:t>54.24%</a:t>
                      </a:r>
                    </a:p>
                  </a:txBody>
                  <a:tcPr>
                    <a:solidFill>
                      <a:srgbClr val="FFFFFF"/>
                    </a:solidFill>
                  </a:tcPr>
                </a:tc>
                <a:tc>
                  <a:txBody>
                    <a:bodyPr/>
                    <a:lstStyle/>
                    <a:p>
                      <a:r>
                        <a:rPr sz="1875" b="0">
                          <a:solidFill>
                            <a:srgbClr val="121212"/>
                          </a:solidFill>
                          <a:latin typeface="Times New Roman"/>
                          <a:ea typeface="Times New Roman"/>
                          <a:cs typeface="Times New Roman"/>
                        </a:rPr>
                        <a:t>+9.2 points</a:t>
                      </a:r>
                    </a:p>
                  </a:txBody>
                  <a:tcPr>
                    <a:solidFill>
                      <a:srgbClr val="FFFFFF"/>
                    </a:solidFill>
                  </a:tcPr>
                </a:tc>
                <a:extLst>
                  <a:ext uri="{0D108BD9-81ED-4DB2-BD59-A6C34878D82A}">
                    <a16:rowId xmlns:a16="http://schemas.microsoft.com/office/drawing/2014/main" val="10002"/>
                  </a:ext>
                </a:extLst>
              </a:tr>
              <a:tr h="489857">
                <a:tc>
                  <a:txBody>
                    <a:bodyPr/>
                    <a:lstStyle/>
                    <a:p>
                      <a:r>
                        <a:rPr sz="1875" b="0">
                          <a:solidFill>
                            <a:srgbClr val="121212"/>
                          </a:solidFill>
                          <a:latin typeface="Times New Roman"/>
                          <a:ea typeface="Times New Roman"/>
                          <a:cs typeface="Times New Roman"/>
                        </a:rPr>
                        <a:t>SMO</a:t>
                      </a:r>
                    </a:p>
                  </a:txBody>
                  <a:tcPr>
                    <a:solidFill>
                      <a:srgbClr val="FFFFFF"/>
                    </a:solidFill>
                  </a:tcPr>
                </a:tc>
                <a:tc>
                  <a:txBody>
                    <a:bodyPr/>
                    <a:lstStyle/>
                    <a:p>
                      <a:r>
                        <a:rPr sz="1875" b="0">
                          <a:solidFill>
                            <a:srgbClr val="121212"/>
                          </a:solidFill>
                          <a:latin typeface="Times New Roman"/>
                          <a:ea typeface="Times New Roman"/>
                          <a:cs typeface="Times New Roman"/>
                        </a:rPr>
                        <a:t>46.10%</a:t>
                      </a:r>
                    </a:p>
                  </a:txBody>
                  <a:tcPr>
                    <a:solidFill>
                      <a:srgbClr val="FFFFFF"/>
                    </a:solidFill>
                  </a:tcPr>
                </a:tc>
                <a:tc>
                  <a:txBody>
                    <a:bodyPr/>
                    <a:lstStyle/>
                    <a:p>
                      <a:r>
                        <a:rPr sz="1875" b="0">
                          <a:solidFill>
                            <a:srgbClr val="121212"/>
                          </a:solidFill>
                          <a:latin typeface="Times New Roman"/>
                          <a:ea typeface="Times New Roman"/>
                          <a:cs typeface="Times New Roman"/>
                        </a:rPr>
                        <a:t>55.22%</a:t>
                      </a:r>
                    </a:p>
                  </a:txBody>
                  <a:tcPr>
                    <a:solidFill>
                      <a:srgbClr val="FFFFFF"/>
                    </a:solidFill>
                  </a:tcPr>
                </a:tc>
                <a:tc>
                  <a:txBody>
                    <a:bodyPr/>
                    <a:lstStyle/>
                    <a:p>
                      <a:r>
                        <a:rPr sz="1875" b="0">
                          <a:solidFill>
                            <a:srgbClr val="121212"/>
                          </a:solidFill>
                          <a:latin typeface="Times New Roman"/>
                          <a:ea typeface="Times New Roman"/>
                          <a:cs typeface="Times New Roman"/>
                        </a:rPr>
                        <a:t>+9.1 points</a:t>
                      </a:r>
                    </a:p>
                  </a:txBody>
                  <a:tcPr>
                    <a:solidFill>
                      <a:srgbClr val="FFFFFF"/>
                    </a:solidFill>
                  </a:tcPr>
                </a:tc>
                <a:extLst>
                  <a:ext uri="{0D108BD9-81ED-4DB2-BD59-A6C34878D82A}">
                    <a16:rowId xmlns:a16="http://schemas.microsoft.com/office/drawing/2014/main" val="10003"/>
                  </a:ext>
                </a:extLst>
              </a:tr>
              <a:tr h="489857">
                <a:tc>
                  <a:txBody>
                    <a:bodyPr/>
                    <a:lstStyle/>
                    <a:p>
                      <a:r>
                        <a:rPr sz="1875" b="0">
                          <a:solidFill>
                            <a:srgbClr val="121212"/>
                          </a:solidFill>
                          <a:latin typeface="Times New Roman"/>
                          <a:ea typeface="Times New Roman"/>
                          <a:cs typeface="Times New Roman"/>
                        </a:rPr>
                        <a:t>Logistic</a:t>
                      </a:r>
                    </a:p>
                  </a:txBody>
                  <a:tcPr>
                    <a:solidFill>
                      <a:srgbClr val="FFFFFF"/>
                    </a:solidFill>
                  </a:tcPr>
                </a:tc>
                <a:tc>
                  <a:txBody>
                    <a:bodyPr/>
                    <a:lstStyle/>
                    <a:p>
                      <a:r>
                        <a:rPr sz="1875" b="0">
                          <a:solidFill>
                            <a:srgbClr val="121212"/>
                          </a:solidFill>
                          <a:latin typeface="Times New Roman"/>
                          <a:ea typeface="Times New Roman"/>
                          <a:cs typeface="Times New Roman"/>
                        </a:rPr>
                        <a:t>46.37%</a:t>
                      </a:r>
                    </a:p>
                  </a:txBody>
                  <a:tcPr>
                    <a:solidFill>
                      <a:srgbClr val="FFFFFF"/>
                    </a:solidFill>
                  </a:tcPr>
                </a:tc>
                <a:tc>
                  <a:txBody>
                    <a:bodyPr/>
                    <a:lstStyle/>
                    <a:p>
                      <a:r>
                        <a:rPr sz="1875" b="0">
                          <a:solidFill>
                            <a:srgbClr val="121212"/>
                          </a:solidFill>
                          <a:latin typeface="Times New Roman"/>
                          <a:ea typeface="Times New Roman"/>
                          <a:cs typeface="Times New Roman"/>
                        </a:rPr>
                        <a:t>54.67%</a:t>
                      </a:r>
                    </a:p>
                  </a:txBody>
                  <a:tcPr>
                    <a:solidFill>
                      <a:srgbClr val="FFFFFF"/>
                    </a:solidFill>
                  </a:tcPr>
                </a:tc>
                <a:tc>
                  <a:txBody>
                    <a:bodyPr/>
                    <a:lstStyle/>
                    <a:p>
                      <a:r>
                        <a:rPr sz="1875" b="0">
                          <a:solidFill>
                            <a:srgbClr val="121212"/>
                          </a:solidFill>
                          <a:latin typeface="Times New Roman"/>
                          <a:ea typeface="Times New Roman"/>
                          <a:cs typeface="Times New Roman"/>
                        </a:rPr>
                        <a:t>+8.3 points</a:t>
                      </a:r>
                    </a:p>
                  </a:txBody>
                  <a:tcPr>
                    <a:solidFill>
                      <a:srgbClr val="FFFFFF"/>
                    </a:solidFill>
                  </a:tcPr>
                </a:tc>
                <a:extLst>
                  <a:ext uri="{0D108BD9-81ED-4DB2-BD59-A6C34878D82A}">
                    <a16:rowId xmlns:a16="http://schemas.microsoft.com/office/drawing/2014/main" val="10004"/>
                  </a:ext>
                </a:extLst>
              </a:tr>
              <a:tr h="489857">
                <a:tc>
                  <a:txBody>
                    <a:bodyPr/>
                    <a:lstStyle/>
                    <a:p>
                      <a:r>
                        <a:rPr sz="1875" b="0">
                          <a:solidFill>
                            <a:srgbClr val="121212"/>
                          </a:solidFill>
                          <a:latin typeface="Times New Roman"/>
                          <a:ea typeface="Times New Roman"/>
                          <a:cs typeface="Times New Roman"/>
                        </a:rPr>
                        <a:t>Naive Bayes</a:t>
                      </a:r>
                    </a:p>
                  </a:txBody>
                  <a:tcPr>
                    <a:solidFill>
                      <a:srgbClr val="FFFFFF"/>
                    </a:solidFill>
                  </a:tcPr>
                </a:tc>
                <a:tc>
                  <a:txBody>
                    <a:bodyPr/>
                    <a:lstStyle/>
                    <a:p>
                      <a:r>
                        <a:rPr sz="1875" b="0">
                          <a:solidFill>
                            <a:srgbClr val="121212"/>
                          </a:solidFill>
                          <a:latin typeface="Times New Roman"/>
                          <a:ea typeface="Times New Roman"/>
                          <a:cs typeface="Times New Roman"/>
                        </a:rPr>
                        <a:t>44.83%</a:t>
                      </a:r>
                    </a:p>
                  </a:txBody>
                  <a:tcPr>
                    <a:solidFill>
                      <a:srgbClr val="FFFFFF"/>
                    </a:solidFill>
                  </a:tcPr>
                </a:tc>
                <a:tc>
                  <a:txBody>
                    <a:bodyPr/>
                    <a:lstStyle/>
                    <a:p>
                      <a:r>
                        <a:rPr sz="1875" b="0">
                          <a:solidFill>
                            <a:srgbClr val="121212"/>
                          </a:solidFill>
                          <a:latin typeface="Times New Roman"/>
                          <a:ea typeface="Times New Roman"/>
                          <a:cs typeface="Times New Roman"/>
                        </a:rPr>
                        <a:t>54.46%</a:t>
                      </a:r>
                    </a:p>
                  </a:txBody>
                  <a:tcPr>
                    <a:solidFill>
                      <a:srgbClr val="FFFFFF"/>
                    </a:solidFill>
                  </a:tcPr>
                </a:tc>
                <a:tc>
                  <a:txBody>
                    <a:bodyPr/>
                    <a:lstStyle/>
                    <a:p>
                      <a:r>
                        <a:rPr sz="1875" b="0">
                          <a:solidFill>
                            <a:srgbClr val="121212"/>
                          </a:solidFill>
                          <a:latin typeface="Times New Roman"/>
                          <a:ea typeface="Times New Roman"/>
                          <a:cs typeface="Times New Roman"/>
                        </a:rPr>
                        <a:t>+9.6 points</a:t>
                      </a:r>
                    </a:p>
                  </a:txBody>
                  <a:tcPr>
                    <a:solidFill>
                      <a:srgbClr val="FFFFFF"/>
                    </a:solidFill>
                  </a:tcPr>
                </a:tc>
                <a:extLst>
                  <a:ext uri="{0D108BD9-81ED-4DB2-BD59-A6C34878D82A}">
                    <a16:rowId xmlns:a16="http://schemas.microsoft.com/office/drawing/2014/main" val="10005"/>
                  </a:ext>
                </a:extLst>
              </a:tr>
              <a:tr h="489857">
                <a:tc>
                  <a:txBody>
                    <a:bodyPr/>
                    <a:lstStyle/>
                    <a:p>
                      <a:r>
                        <a:rPr sz="1875" b="0">
                          <a:solidFill>
                            <a:srgbClr val="121212"/>
                          </a:solidFill>
                          <a:latin typeface="Times New Roman"/>
                          <a:ea typeface="Times New Roman"/>
                          <a:cs typeface="Times New Roman"/>
                        </a:rPr>
                        <a:t>ZeroR</a:t>
                      </a:r>
                    </a:p>
                  </a:txBody>
                  <a:tcPr>
                    <a:solidFill>
                      <a:srgbClr val="FFFFFF"/>
                    </a:solidFill>
                  </a:tcPr>
                </a:tc>
                <a:tc>
                  <a:txBody>
                    <a:bodyPr/>
                    <a:lstStyle/>
                    <a:p>
                      <a:r>
                        <a:rPr sz="1875" b="0">
                          <a:solidFill>
                            <a:srgbClr val="121212"/>
                          </a:solidFill>
                          <a:latin typeface="Times New Roman"/>
                          <a:ea typeface="Times New Roman"/>
                          <a:cs typeface="Times New Roman"/>
                        </a:rPr>
                        <a:t>29.04%</a:t>
                      </a:r>
                    </a:p>
                  </a:txBody>
                  <a:tcPr>
                    <a:solidFill>
                      <a:srgbClr val="FFFFFF"/>
                    </a:solidFill>
                  </a:tcPr>
                </a:tc>
                <a:tc>
                  <a:txBody>
                    <a:bodyPr/>
                    <a:lstStyle/>
                    <a:p>
                      <a:r>
                        <a:rPr sz="1875" b="0">
                          <a:solidFill>
                            <a:srgbClr val="121212"/>
                          </a:solidFill>
                          <a:latin typeface="Times New Roman"/>
                          <a:ea typeface="Times New Roman"/>
                          <a:cs typeface="Times New Roman"/>
                        </a:rPr>
                        <a:t>30.87%</a:t>
                      </a:r>
                    </a:p>
                  </a:txBody>
                  <a:tcPr>
                    <a:solidFill>
                      <a:srgbClr val="FFFFFF"/>
                    </a:solidFill>
                  </a:tcPr>
                </a:tc>
                <a:tc>
                  <a:txBody>
                    <a:bodyPr/>
                    <a:lstStyle/>
                    <a:p>
                      <a:r>
                        <a:rPr sz="1875" b="0" dirty="0">
                          <a:solidFill>
                            <a:srgbClr val="121212"/>
                          </a:solidFill>
                          <a:latin typeface="Times New Roman"/>
                          <a:ea typeface="Times New Roman"/>
                          <a:cs typeface="Times New Roman"/>
                        </a:rPr>
                        <a:t>+1.8 points</a:t>
                      </a:r>
                    </a:p>
                  </a:txBody>
                  <a:tcPr>
                    <a:solidFill>
                      <a:srgbClr val="FFFFFF"/>
                    </a:solidFill>
                  </a:tcPr>
                </a:tc>
                <a:extLst>
                  <a:ext uri="{0D108BD9-81ED-4DB2-BD59-A6C34878D82A}">
                    <a16:rowId xmlns:a16="http://schemas.microsoft.com/office/drawing/2014/main" val="10006"/>
                  </a:ext>
                </a:extLst>
              </a:tr>
            </a:tbl>
          </a:graphicData>
        </a:graphic>
      </p:graphicFrame>
      <p:sp>
        <p:nvSpPr>
          <p:cNvPr id="535" name="Stratified 10-fold cross-validation, seed 1">
            <a:extLst>
              <a:ext uri="{FF2B5EF4-FFF2-40B4-BE49-F238E27FC236}">
                <a16:creationId xmlns:a16="http://schemas.microsoft.com/office/drawing/2014/main" id="{0537DC0A-7A21-405A-AF24-2B61CF92B394}"/>
              </a:ext>
            </a:extLst>
          </p:cNvPr>
          <p:cNvSpPr>
            <a:spLocks noGrp="1"/>
          </p:cNvSpPr>
          <p:nvPr/>
        </p:nvSpPr>
        <p:spPr>
          <a:xfrm>
            <a:off x="400050" y="1362075"/>
            <a:ext cx="10953750" cy="381000"/>
          </a:xfrm>
          <a:prstGeom prst="rect">
            <a:avLst/>
          </a:prstGeom>
          <a:noFill/>
          <a:ln w="0">
            <a:noFill/>
          </a:ln>
        </p:spPr>
        <p:txBody>
          <a:bodyPr anchor="t">
            <a:noAutofit/>
          </a:bodyPr>
          <a:lstStyle/>
          <a:p>
            <a:pPr>
              <a:defRPr sz="1950" b="0">
                <a:solidFill>
                  <a:srgbClr val="121212"/>
                </a:solidFill>
                <a:latin typeface="Times New Roman"/>
                <a:ea typeface="Times New Roman"/>
                <a:cs typeface="Times New Roman"/>
              </a:defRPr>
            </a:pPr>
            <a:r>
              <a:rPr sz="1950" b="0">
                <a:solidFill>
                  <a:srgbClr val="121212"/>
                </a:solidFill>
                <a:latin typeface="Times New Roman"/>
                <a:ea typeface="Times New Roman"/>
                <a:cs typeface="Times New Roman"/>
              </a:rPr>
              <a:t>Main CGPA (12 questions + recent SGPA), 5-fold cross-validation, seed 1</a:t>
            </a:r>
          </a:p>
        </p:txBody>
      </p:sp>
      <p:sp>
        <p:nvSpPr>
          <p:cNvPr id="536" name="Same 1,102 records. Questionnaire: 12 inputs. Main CGPA">
            <a:extLst>
              <a:ext uri="{FF2B5EF4-FFF2-40B4-BE49-F238E27FC236}">
                <a16:creationId xmlns:a16="http://schemas.microsoft.com/office/drawing/2014/main" id="{67D35FFE-1E24-4572-832D-037749D4D1AD}"/>
              </a:ext>
            </a:extLst>
          </p:cNvPr>
          <p:cNvSpPr>
            <a:spLocks noGrp="1"/>
          </p:cNvSpPr>
          <p:nvPr/>
        </p:nvSpPr>
        <p:spPr>
          <a:xfrm>
            <a:off x="400050" y="5830083"/>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dirty="0">
                <a:solidFill>
                  <a:srgbClr val="585858"/>
                </a:solidFill>
                <a:latin typeface="Times New Roman"/>
                <a:ea typeface="Times New Roman"/>
                <a:cs typeface="Times New Roman"/>
              </a:rPr>
              <a:t>Before: 1,102 students with a real SGPA. After: 182 answers with a 2–3 band SGPA/CGPA gap removed.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45</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Previous studies and models</a:t>
            </a:r>
          </a:p>
        </p:txBody>
      </p:sp>
      <p:graphicFrame>
        <p:nvGraphicFramePr>
          <p:cNvPr id="539" name="Table 538"/>
          <p:cNvGraphicFramePr/>
          <p:nvPr/>
        </p:nvGraphicFramePr>
        <p:xfrm>
          <a:off x="400050" y="1685925"/>
          <a:ext cx="11391900" cy="3705224"/>
        </p:xfrm>
        <a:graphic>
          <a:graphicData uri="http://schemas.openxmlformats.org/drawingml/2006/table">
            <a:tbl>
              <a:tblPr/>
              <a:tblGrid>
                <a:gridCol w="23812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962275">
                  <a:extLst>
                    <a:ext uri="{9D8B030D-6E8A-4147-A177-3AD203B41FA5}">
                      <a16:colId xmlns:a16="http://schemas.microsoft.com/office/drawing/2014/main" val="20003"/>
                    </a:ext>
                  </a:extLst>
                </a:gridCol>
              </a:tblGrid>
              <a:tr h="926306">
                <a:tc>
                  <a:txBody>
                    <a:bodyPr/>
                    <a:lstStyle/>
                    <a:p>
                      <a:r>
                        <a:rPr sz="1800" b="1">
                          <a:solidFill>
                            <a:srgbClr val="121212"/>
                          </a:solidFill>
                          <a:latin typeface="Times New Roman"/>
                          <a:ea typeface="Times New Roman"/>
                          <a:cs typeface="Times New Roman"/>
                        </a:rPr>
                        <a:t>Study</a:t>
                      </a:r>
                    </a:p>
                  </a:txBody>
                  <a:tcPr>
                    <a:solidFill>
                      <a:srgbClr val="EEEEEE"/>
                    </a:solidFill>
                  </a:tcPr>
                </a:tc>
                <a:tc>
                  <a:txBody>
                    <a:bodyPr/>
                    <a:lstStyle/>
                    <a:p>
                      <a:r>
                        <a:rPr sz="1800" b="1">
                          <a:solidFill>
                            <a:srgbClr val="121212"/>
                          </a:solidFill>
                          <a:latin typeface="Times New Roman"/>
                          <a:ea typeface="Times New Roman"/>
                          <a:cs typeface="Times New Roman"/>
                        </a:rPr>
                        <a:t>Target / population</a:t>
                      </a:r>
                    </a:p>
                  </a:txBody>
                  <a:tcPr>
                    <a:solidFill>
                      <a:srgbClr val="EEEEEE"/>
                    </a:solidFill>
                  </a:tcPr>
                </a:tc>
                <a:tc>
                  <a:txBody>
                    <a:bodyPr/>
                    <a:lstStyle/>
                    <a:p>
                      <a:r>
                        <a:rPr sz="1800" b="1">
                          <a:solidFill>
                            <a:srgbClr val="121212"/>
                          </a:solidFill>
                          <a:latin typeface="Times New Roman"/>
                          <a:ea typeface="Times New Roman"/>
                          <a:cs typeface="Times New Roman"/>
                        </a:rPr>
                        <a:t>Models</a:t>
                      </a:r>
                    </a:p>
                  </a:txBody>
                  <a:tcPr>
                    <a:solidFill>
                      <a:srgbClr val="EEEEEE"/>
                    </a:solidFill>
                  </a:tcPr>
                </a:tc>
                <a:tc>
                  <a:txBody>
                    <a:bodyPr/>
                    <a:lstStyle/>
                    <a:p>
                      <a:r>
                        <a:rPr sz="1800" b="1">
                          <a:solidFill>
                            <a:srgbClr val="121212"/>
                          </a:solidFill>
                          <a:latin typeface="Times New Roman"/>
                          <a:ea typeface="Times New Roman"/>
                          <a:cs typeface="Times New Roman"/>
                        </a:rPr>
                        <a:t>Reported result</a:t>
                      </a:r>
                    </a:p>
                  </a:txBody>
                  <a:tcPr>
                    <a:solidFill>
                      <a:srgbClr val="EEEEEE"/>
                    </a:solidFill>
                  </a:tcPr>
                </a:tc>
                <a:extLst>
                  <a:ext uri="{0D108BD9-81ED-4DB2-BD59-A6C34878D82A}">
                    <a16:rowId xmlns:a16="http://schemas.microsoft.com/office/drawing/2014/main" val="10000"/>
                  </a:ext>
                </a:extLst>
              </a:tr>
              <a:tr h="926306">
                <a:tc>
                  <a:txBody>
                    <a:bodyPr/>
                    <a:lstStyle/>
                    <a:p>
                      <a:r>
                        <a:rPr sz="1800" b="0">
                          <a:solidFill>
                            <a:srgbClr val="121212"/>
                          </a:solidFill>
                          <a:latin typeface="Times New Roman"/>
                          <a:ea typeface="Times New Roman"/>
                          <a:cs typeface="Times New Roman"/>
                        </a:rPr>
                        <a:t>Ahmed (2024)</a:t>
                      </a:r>
                    </a:p>
                  </a:txBody>
                  <a:tcPr>
                    <a:solidFill>
                      <a:srgbClr val="FFFFFF"/>
                    </a:solidFill>
                  </a:tcPr>
                </a:tc>
                <a:tc>
                  <a:txBody>
                    <a:bodyPr/>
                    <a:lstStyle/>
                    <a:p>
                      <a:r>
                        <a:rPr sz="1800" b="0">
                          <a:solidFill>
                            <a:srgbClr val="121212"/>
                          </a:solidFill>
                          <a:latin typeface="Times New Roman"/>
                          <a:ea typeface="Times New Roman"/>
                          <a:cs typeface="Times New Roman"/>
                        </a:rPr>
                        <a:t>Student performance</a:t>
                      </a:r>
                    </a:p>
                    <a:p>
                      <a:r>
                        <a:rPr sz="1800" b="0">
                          <a:solidFill>
                            <a:srgbClr val="121212"/>
                          </a:solidFill>
                          <a:latin typeface="Times New Roman"/>
                          <a:ea typeface="Times New Roman"/>
                          <a:cs typeface="Times New Roman"/>
                        </a:rPr>
                        <a:t>classification</a:t>
                      </a:r>
                    </a:p>
                  </a:txBody>
                  <a:tcPr>
                    <a:solidFill>
                      <a:srgbClr val="FFFFFF"/>
                    </a:solidFill>
                  </a:tcPr>
                </a:tc>
                <a:tc>
                  <a:txBody>
                    <a:bodyPr/>
                    <a:lstStyle/>
                    <a:p>
                      <a:r>
                        <a:rPr sz="1800" b="0">
                          <a:solidFill>
                            <a:srgbClr val="121212"/>
                          </a:solidFill>
                          <a:latin typeface="Times New Roman"/>
                          <a:ea typeface="Times New Roman"/>
                          <a:cs typeface="Times New Roman"/>
                        </a:rPr>
                        <a:t>SVM, tree, NB, KNN</a:t>
                      </a:r>
                    </a:p>
                    <a:p>
                      <a:r>
                        <a:rPr sz="1800" b="0">
                          <a:solidFill>
                            <a:srgbClr val="121212"/>
                          </a:solidFill>
                          <a:latin typeface="Times New Roman"/>
                          <a:ea typeface="Times New Roman"/>
                          <a:cs typeface="Times New Roman"/>
                        </a:rPr>
                        <a:t>with K-means</a:t>
                      </a:r>
                    </a:p>
                  </a:txBody>
                  <a:tcPr>
                    <a:solidFill>
                      <a:srgbClr val="FFFFFF"/>
                    </a:solidFill>
                  </a:tcPr>
                </a:tc>
                <a:tc>
                  <a:txBody>
                    <a:bodyPr/>
                    <a:lstStyle/>
                    <a:p>
                      <a:r>
                        <a:rPr sz="1800" b="0">
                          <a:solidFill>
                            <a:srgbClr val="121212"/>
                          </a:solidFill>
                          <a:latin typeface="Times New Roman"/>
                          <a:ea typeface="Times New Roman"/>
                          <a:cs typeface="Times New Roman"/>
                        </a:rPr>
                        <a:t>SVM accuracy</a:t>
                      </a:r>
                    </a:p>
                    <a:p>
                      <a:r>
                        <a:rPr sz="1800" b="0">
                          <a:solidFill>
                            <a:srgbClr val="121212"/>
                          </a:solidFill>
                          <a:latin typeface="Times New Roman"/>
                          <a:ea typeface="Times New Roman"/>
                          <a:cs typeface="Times New Roman"/>
                        </a:rPr>
                        <a:t>96.0%</a:t>
                      </a:r>
                    </a:p>
                  </a:txBody>
                  <a:tcPr>
                    <a:solidFill>
                      <a:srgbClr val="FFFFFF"/>
                    </a:solidFill>
                  </a:tcPr>
                </a:tc>
                <a:extLst>
                  <a:ext uri="{0D108BD9-81ED-4DB2-BD59-A6C34878D82A}">
                    <a16:rowId xmlns:a16="http://schemas.microsoft.com/office/drawing/2014/main" val="10001"/>
                  </a:ext>
                </a:extLst>
              </a:tr>
              <a:tr h="926306">
                <a:tc>
                  <a:txBody>
                    <a:bodyPr/>
                    <a:lstStyle/>
                    <a:p>
                      <a:r>
                        <a:rPr sz="1800" b="0">
                          <a:solidFill>
                            <a:srgbClr val="121212"/>
                          </a:solidFill>
                          <a:latin typeface="Times New Roman"/>
                          <a:ea typeface="Times New Roman"/>
                          <a:cs typeface="Times New Roman"/>
                        </a:rPr>
                        <a:t>Maruf et al.</a:t>
                      </a:r>
                    </a:p>
                    <a:p>
                      <a:r>
                        <a:rPr sz="1800" b="0">
                          <a:solidFill>
                            <a:srgbClr val="121212"/>
                          </a:solidFill>
                          <a:latin typeface="Times New Roman"/>
                          <a:ea typeface="Times New Roman"/>
                          <a:cs typeface="Times New Roman"/>
                        </a:rPr>
                        <a:t>(ICCIT 2024)</a:t>
                      </a:r>
                    </a:p>
                  </a:txBody>
                  <a:tcPr>
                    <a:solidFill>
                      <a:srgbClr val="FFFFFF"/>
                    </a:solidFill>
                  </a:tcPr>
                </a:tc>
                <a:tc>
                  <a:txBody>
                    <a:bodyPr/>
                    <a:lstStyle/>
                    <a:p>
                      <a:r>
                        <a:rPr sz="1800" b="0">
                          <a:solidFill>
                            <a:srgbClr val="121212"/>
                          </a:solidFill>
                          <a:latin typeface="Times New Roman"/>
                          <a:ea typeface="Times New Roman"/>
                          <a:cs typeface="Times New Roman"/>
                        </a:rPr>
                        <a:t>Bangladesh</a:t>
                      </a:r>
                    </a:p>
                    <a:p>
                      <a:r>
                        <a:rPr sz="1800" b="0">
                          <a:solidFill>
                            <a:srgbClr val="121212"/>
                          </a:solidFill>
                          <a:latin typeface="Times New Roman"/>
                          <a:ea typeface="Times New Roman"/>
                          <a:cs typeface="Times New Roman"/>
                        </a:rPr>
                        <a:t>SSC / HSC</a:t>
                      </a:r>
                    </a:p>
                  </a:txBody>
                  <a:tcPr>
                    <a:solidFill>
                      <a:srgbClr val="FFFFFF"/>
                    </a:solidFill>
                  </a:tcPr>
                </a:tc>
                <a:tc>
                  <a:txBody>
                    <a:bodyPr/>
                    <a:lstStyle/>
                    <a:p>
                      <a:r>
                        <a:rPr sz="1800" b="0">
                          <a:solidFill>
                            <a:srgbClr val="121212"/>
                          </a:solidFill>
                          <a:latin typeface="Times New Roman"/>
                          <a:ea typeface="Times New Roman"/>
                          <a:cs typeface="Times New Roman"/>
                        </a:rPr>
                        <a:t>Tuned classifiers</a:t>
                      </a:r>
                    </a:p>
                    <a:p>
                      <a:r>
                        <a:rPr sz="1800" b="0">
                          <a:solidFill>
                            <a:srgbClr val="121212"/>
                          </a:solidFill>
                          <a:latin typeface="Times New Roman"/>
                          <a:ea typeface="Times New Roman"/>
                          <a:cs typeface="Times New Roman"/>
                        </a:rPr>
                        <a:t>and stacking</a:t>
                      </a:r>
                    </a:p>
                  </a:txBody>
                  <a:tcPr>
                    <a:solidFill>
                      <a:srgbClr val="FFFFFF"/>
                    </a:solidFill>
                  </a:tcPr>
                </a:tc>
                <a:tc>
                  <a:txBody>
                    <a:bodyPr/>
                    <a:lstStyle/>
                    <a:p>
                      <a:r>
                        <a:rPr sz="1800" b="0">
                          <a:solidFill>
                            <a:srgbClr val="121212"/>
                          </a:solidFill>
                          <a:latin typeface="Times New Roman"/>
                          <a:ea typeface="Times New Roman"/>
                          <a:cs typeface="Times New Roman"/>
                        </a:rPr>
                        <a:t>82.23% SSC</a:t>
                      </a:r>
                    </a:p>
                    <a:p>
                      <a:r>
                        <a:rPr sz="1800" b="0">
                          <a:solidFill>
                            <a:srgbClr val="121212"/>
                          </a:solidFill>
                          <a:latin typeface="Times New Roman"/>
                          <a:ea typeface="Times New Roman"/>
                          <a:cs typeface="Times New Roman"/>
                        </a:rPr>
                        <a:t>86.89% HSC</a:t>
                      </a:r>
                    </a:p>
                  </a:txBody>
                  <a:tcPr>
                    <a:solidFill>
                      <a:srgbClr val="FFFFFF"/>
                    </a:solidFill>
                  </a:tcPr>
                </a:tc>
                <a:extLst>
                  <a:ext uri="{0D108BD9-81ED-4DB2-BD59-A6C34878D82A}">
                    <a16:rowId xmlns:a16="http://schemas.microsoft.com/office/drawing/2014/main" val="10002"/>
                  </a:ext>
                </a:extLst>
              </a:tr>
              <a:tr h="926306">
                <a:tc>
                  <a:txBody>
                    <a:bodyPr/>
                    <a:lstStyle/>
                    <a:p>
                      <a:r>
                        <a:rPr sz="1800" b="0">
                          <a:solidFill>
                            <a:srgbClr val="121212"/>
                          </a:solidFill>
                          <a:latin typeface="Times New Roman"/>
                          <a:ea typeface="Times New Roman"/>
                          <a:cs typeface="Times New Roman"/>
                        </a:rPr>
                        <a:t>Albonny &amp; Duru</a:t>
                      </a:r>
                    </a:p>
                    <a:p>
                      <a:r>
                        <a:rPr sz="1800" b="0">
                          <a:solidFill>
                            <a:srgbClr val="121212"/>
                          </a:solidFill>
                          <a:latin typeface="Times New Roman"/>
                          <a:ea typeface="Times New Roman"/>
                          <a:cs typeface="Times New Roman"/>
                        </a:rPr>
                        <a:t>(2026)</a:t>
                      </a:r>
                    </a:p>
                  </a:txBody>
                  <a:tcPr>
                    <a:solidFill>
                      <a:srgbClr val="FFFFFF"/>
                    </a:solidFill>
                  </a:tcPr>
                </a:tc>
                <a:tc>
                  <a:txBody>
                    <a:bodyPr/>
                    <a:lstStyle/>
                    <a:p>
                      <a:r>
                        <a:rPr sz="1800" b="0">
                          <a:solidFill>
                            <a:srgbClr val="121212"/>
                          </a:solidFill>
                          <a:latin typeface="Times New Roman"/>
                          <a:ea typeface="Times New Roman"/>
                          <a:cs typeface="Times New Roman"/>
                        </a:rPr>
                        <a:t>Bangladesh school</a:t>
                      </a:r>
                    </a:p>
                    <a:p>
                      <a:r>
                        <a:rPr sz="1800" b="0">
                          <a:solidFill>
                            <a:srgbClr val="121212"/>
                          </a:solidFill>
                          <a:latin typeface="Times New Roman"/>
                          <a:ea typeface="Times New Roman"/>
                          <a:cs typeface="Times New Roman"/>
                        </a:rPr>
                        <a:t>average course grade</a:t>
                      </a:r>
                    </a:p>
                  </a:txBody>
                  <a:tcPr>
                    <a:solidFill>
                      <a:srgbClr val="FFFFFF"/>
                    </a:solidFill>
                  </a:tcPr>
                </a:tc>
                <a:tc>
                  <a:txBody>
                    <a:bodyPr/>
                    <a:lstStyle/>
                    <a:p>
                      <a:r>
                        <a:rPr sz="1800" b="0">
                          <a:solidFill>
                            <a:srgbClr val="121212"/>
                          </a:solidFill>
                          <a:latin typeface="Times New Roman"/>
                          <a:ea typeface="Times New Roman"/>
                          <a:cs typeface="Times New Roman"/>
                        </a:rPr>
                        <a:t>Linear regression,</a:t>
                      </a:r>
                    </a:p>
                    <a:p>
                      <a:r>
                        <a:rPr sz="1800" b="0">
                          <a:solidFill>
                            <a:srgbClr val="121212"/>
                          </a:solidFill>
                          <a:latin typeface="Times New Roman"/>
                          <a:ea typeface="Times New Roman"/>
                          <a:cs typeface="Times New Roman"/>
                        </a:rPr>
                        <a:t>tree, RF, DNN</a:t>
                      </a:r>
                    </a:p>
                  </a:txBody>
                  <a:tcPr>
                    <a:solidFill>
                      <a:srgbClr val="FFFFFF"/>
                    </a:solidFill>
                  </a:tcPr>
                </a:tc>
                <a:tc>
                  <a:txBody>
                    <a:bodyPr/>
                    <a:lstStyle/>
                    <a:p>
                      <a:r>
                        <a:rPr sz="1800" b="0">
                          <a:solidFill>
                            <a:srgbClr val="121212"/>
                          </a:solidFill>
                          <a:latin typeface="Times New Roman"/>
                          <a:ea typeface="Times New Roman"/>
                          <a:cs typeface="Times New Roman"/>
                        </a:rPr>
                        <a:t>RF R² = 0.933</a:t>
                      </a:r>
                    </a:p>
                    <a:p>
                      <a:r>
                        <a:rPr sz="1800" b="0">
                          <a:solidFill>
                            <a:srgbClr val="121212"/>
                          </a:solidFill>
                          <a:latin typeface="Times New Roman"/>
                          <a:ea typeface="Times New Roman"/>
                          <a:cs typeface="Times New Roman"/>
                        </a:rPr>
                        <a:t>Regression metric</a:t>
                      </a:r>
                    </a:p>
                  </a:txBody>
                  <a:tcPr>
                    <a:solidFill>
                      <a:srgbClr val="FFFFFF"/>
                    </a:solidFill>
                  </a:tcPr>
                </a:tc>
                <a:extLst>
                  <a:ext uri="{0D108BD9-81ED-4DB2-BD59-A6C34878D82A}">
                    <a16:rowId xmlns:a16="http://schemas.microsoft.com/office/drawing/2014/main" val="10003"/>
                  </a:ext>
                </a:extLst>
              </a:tr>
            </a:tbl>
          </a:graphicData>
        </a:graphic>
      </p:graphicFrame>
      <p:sp>
        <p:nvSpPr>
          <p:cNvPr id="535" name="Different populations, targets and evaluation designs. ">
            <a:extLst>
              <a:ext uri="{FF2B5EF4-FFF2-40B4-BE49-F238E27FC236}">
                <a16:creationId xmlns:a16="http://schemas.microsoft.com/office/drawing/2014/main" id="{139F709B-C0A1-42C0-B530-2D6BCA9B0DB6}"/>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Different populations, targets and evaluation designs. Source links in speaker notes.</a:t>
            </a:r>
          </a:p>
        </p:txBody>
      </p:sp>
    </p:spTree>
    <p:extLst>
      <p:ext uri="{BB962C8B-B14F-4D97-AF65-F5344CB8AC3E}">
        <p14:creationId xmlns:p14="http://schemas.microsoft.com/office/powerpoint/2010/main" val="2294074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46</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Previous work and our WEKA models</a:t>
            </a:r>
          </a:p>
        </p:txBody>
      </p:sp>
      <p:sp>
        <p:nvSpPr>
          <p:cNvPr id="534" name="Rectangle 533">
            <a:extLst>
              <a:ext uri="{FF2B5EF4-FFF2-40B4-BE49-F238E27FC236}">
                <a16:creationId xmlns:a16="http://schemas.microsoft.com/office/drawing/2014/main" id="{A34A934E-86A0-43AD-8E79-B4575F2F88C8}"/>
              </a:ext>
            </a:extLst>
          </p:cNvPr>
          <p:cNvSpPr>
            <a:spLocks noGrp="1"/>
          </p:cNvSpPr>
          <p:nvPr/>
        </p:nvSpPr>
        <p:spPr>
          <a:xfrm>
            <a:off x="400050" y="1943100"/>
            <a:ext cx="5286375" cy="2952750"/>
          </a:xfrm>
          <a:prstGeom prst="rect">
            <a:avLst/>
          </a:prstGeom>
          <a:solidFill>
            <a:srgbClr val="F1F1F1"/>
          </a:solidFill>
          <a:ln w="0">
            <a:noFill/>
          </a:ln>
        </p:spPr>
        <p:txBody>
          <a:bodyPr/>
          <a:lstStyle/>
          <a:p>
            <a:endParaRPr lang="en-US"/>
          </a:p>
        </p:txBody>
      </p:sp>
      <p:sp>
        <p:nvSpPr>
          <p:cNvPr id="535" name="Previous work">
            <a:extLst>
              <a:ext uri="{FF2B5EF4-FFF2-40B4-BE49-F238E27FC236}">
                <a16:creationId xmlns:a16="http://schemas.microsoft.com/office/drawing/2014/main" id="{4304B167-C6CE-4F2F-935B-68A1A55B379A}"/>
              </a:ext>
            </a:extLst>
          </p:cNvPr>
          <p:cNvSpPr>
            <a:spLocks noGrp="1"/>
          </p:cNvSpPr>
          <p:nvPr/>
        </p:nvSpPr>
        <p:spPr>
          <a:xfrm>
            <a:off x="552450" y="2085975"/>
            <a:ext cx="4981575"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Previous work</a:t>
            </a:r>
          </a:p>
        </p:txBody>
      </p:sp>
      <p:sp>
        <p:nvSpPr>
          <p:cNvPr id="536" name="School results and student performance&#10;SVM, trees and e">
            <a:extLst>
              <a:ext uri="{FF2B5EF4-FFF2-40B4-BE49-F238E27FC236}">
                <a16:creationId xmlns:a16="http://schemas.microsoft.com/office/drawing/2014/main" id="{FC9042EC-6B6F-44DB-AB55-02DB72FABD6D}"/>
              </a:ext>
            </a:extLst>
          </p:cNvPr>
          <p:cNvSpPr>
            <a:spLocks noGrp="1"/>
          </p:cNvSpPr>
          <p:nvPr/>
        </p:nvSpPr>
        <p:spPr>
          <a:xfrm>
            <a:off x="552450" y="2505075"/>
            <a:ext cx="4981575" cy="23812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School results and student performance</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SVM, trees and ensembles</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Classification and regression targets</a:t>
            </a:r>
          </a:p>
        </p:txBody>
      </p:sp>
      <p:sp>
        <p:nvSpPr>
          <p:cNvPr id="537" name="Rectangle 536">
            <a:extLst>
              <a:ext uri="{FF2B5EF4-FFF2-40B4-BE49-F238E27FC236}">
                <a16:creationId xmlns:a16="http://schemas.microsoft.com/office/drawing/2014/main" id="{1C9A8D04-4A20-4DAA-B336-7F081ED997D7}"/>
              </a:ext>
            </a:extLst>
          </p:cNvPr>
          <p:cNvSpPr>
            <a:spLocks noGrp="1"/>
          </p:cNvSpPr>
          <p:nvPr/>
        </p:nvSpPr>
        <p:spPr>
          <a:xfrm>
            <a:off x="6286500" y="1943100"/>
            <a:ext cx="5505450" cy="2952750"/>
          </a:xfrm>
          <a:prstGeom prst="rect">
            <a:avLst/>
          </a:prstGeom>
          <a:solidFill>
            <a:srgbClr val="F1F1F1"/>
          </a:solidFill>
          <a:ln w="0">
            <a:noFill/>
          </a:ln>
        </p:spPr>
        <p:txBody>
          <a:bodyPr/>
          <a:lstStyle/>
          <a:p>
            <a:endParaRPr lang="en-US"/>
          </a:p>
        </p:txBody>
      </p:sp>
      <p:sp>
        <p:nvSpPr>
          <p:cNvPr id="538" name="This project">
            <a:extLst>
              <a:ext uri="{FF2B5EF4-FFF2-40B4-BE49-F238E27FC236}">
                <a16:creationId xmlns:a16="http://schemas.microsoft.com/office/drawing/2014/main" id="{6E5F86F6-6F30-4E68-AE9E-177B9ADB8C44}"/>
              </a:ext>
            </a:extLst>
          </p:cNvPr>
          <p:cNvSpPr>
            <a:spLocks noGrp="1"/>
          </p:cNvSpPr>
          <p:nvPr/>
        </p:nvSpPr>
        <p:spPr>
          <a:xfrm>
            <a:off x="6438900" y="2085975"/>
            <a:ext cx="520065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This project</a:t>
            </a:r>
          </a:p>
        </p:txBody>
      </p:sp>
      <p:sp>
        <p:nvSpPr>
          <p:cNvPr id="539" name="Engineering students, four CGPA bands&#10;J48, Random Fores">
            <a:extLst>
              <a:ext uri="{FF2B5EF4-FFF2-40B4-BE49-F238E27FC236}">
                <a16:creationId xmlns:a16="http://schemas.microsoft.com/office/drawing/2014/main" id="{464C491C-2620-43C6-976C-51E73DAAA7FA}"/>
              </a:ext>
            </a:extLst>
          </p:cNvPr>
          <p:cNvSpPr>
            <a:spLocks noGrp="1"/>
          </p:cNvSpPr>
          <p:nvPr/>
        </p:nvSpPr>
        <p:spPr>
          <a:xfrm>
            <a:off x="6438900" y="2505075"/>
            <a:ext cx="5200650" cy="23812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Engineering students, four CGPA bands</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J48, Random Forest, SMO, Logistic,</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Naive Bayes and ZeroR</a:t>
            </a:r>
          </a:p>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WEKA 5-fold comparison</a:t>
            </a:r>
          </a:p>
        </p:txBody>
      </p:sp>
      <p:sp>
        <p:nvSpPr>
          <p:cNvPr id="540" name="Different datasets and targets; reported scores are not">
            <a:extLst>
              <a:ext uri="{FF2B5EF4-FFF2-40B4-BE49-F238E27FC236}">
                <a16:creationId xmlns:a16="http://schemas.microsoft.com/office/drawing/2014/main" id="{570AEDB2-E15A-4070-8EDB-1C404B577E22}"/>
              </a:ext>
            </a:extLst>
          </p:cNvPr>
          <p:cNvSpPr>
            <a:spLocks noGrp="1"/>
          </p:cNvSpPr>
          <p:nvPr/>
        </p:nvSpPr>
        <p:spPr>
          <a:xfrm>
            <a:off x="400050" y="6057900"/>
            <a:ext cx="11049000" cy="285750"/>
          </a:xfrm>
          <a:prstGeom prst="rect">
            <a:avLst/>
          </a:prstGeom>
          <a:noFill/>
          <a:ln w="0">
            <a:noFill/>
          </a:ln>
        </p:spPr>
        <p:txBody>
          <a:bodyPr anchor="t">
            <a:noAutofit/>
          </a:bodyPr>
          <a:lstStyle/>
          <a:p>
            <a:pPr>
              <a:defRPr sz="1275" b="0">
                <a:solidFill>
                  <a:srgbClr val="585858"/>
                </a:solidFill>
                <a:latin typeface="Times New Roman"/>
                <a:ea typeface="Times New Roman"/>
                <a:cs typeface="Times New Roman"/>
              </a:defRPr>
            </a:pPr>
            <a:r>
              <a:rPr sz="1275" b="0">
                <a:solidFill>
                  <a:srgbClr val="585858"/>
                </a:solidFill>
                <a:latin typeface="Times New Roman"/>
                <a:ea typeface="Times New Roman"/>
                <a:cs typeface="Times New Roman"/>
              </a:rPr>
              <a:t>Different datasets and targets; reported scores are not directly comparable.</a:t>
            </a:r>
          </a:p>
        </p:txBody>
      </p:sp>
    </p:spTree>
    <p:extLst>
      <p:ext uri="{BB962C8B-B14F-4D97-AF65-F5344CB8AC3E}">
        <p14:creationId xmlns:p14="http://schemas.microsoft.com/office/powerpoint/2010/main" val="40901097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47</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What did we learn?</a:t>
            </a:r>
          </a:p>
        </p:txBody>
      </p:sp>
      <p:sp>
        <p:nvSpPr>
          <p:cNvPr id="534" name="•">
            <a:extLst>
              <a:ext uri="{FF2B5EF4-FFF2-40B4-BE49-F238E27FC236}">
                <a16:creationId xmlns:a16="http://schemas.microsoft.com/office/drawing/2014/main" id="{F3FD6801-B02F-41C1-A065-00F6308ECE50}"/>
              </a:ext>
            </a:extLst>
          </p:cNvPr>
          <p:cNvSpPr>
            <a:spLocks noGrp="1"/>
          </p:cNvSpPr>
          <p:nvPr/>
        </p:nvSpPr>
        <p:spPr>
          <a:xfrm>
            <a:off x="466725" y="15240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35" name="Student answers vary across academic and lifestyle ques">
            <a:extLst>
              <a:ext uri="{FF2B5EF4-FFF2-40B4-BE49-F238E27FC236}">
                <a16:creationId xmlns:a16="http://schemas.microsoft.com/office/drawing/2014/main" id="{BDD7A629-AFE1-45FB-B720-A6FDACDAD5C5}"/>
              </a:ext>
            </a:extLst>
          </p:cNvPr>
          <p:cNvSpPr>
            <a:spLocks noGrp="1"/>
          </p:cNvSpPr>
          <p:nvPr/>
        </p:nvSpPr>
        <p:spPr>
          <a:xfrm>
            <a:off x="809625" y="15240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Checking SGPA against CGPA removed 182 unreliable answers.</a:t>
            </a:r>
          </a:p>
        </p:txBody>
      </p:sp>
      <p:sp>
        <p:nvSpPr>
          <p:cNvPr id="536" name="•">
            <a:extLst>
              <a:ext uri="{FF2B5EF4-FFF2-40B4-BE49-F238E27FC236}">
                <a16:creationId xmlns:a16="http://schemas.microsoft.com/office/drawing/2014/main" id="{569162A9-4B84-4D3C-9502-8F4A151FC543}"/>
              </a:ext>
            </a:extLst>
          </p:cNvPr>
          <p:cNvSpPr>
            <a:spLocks noGrp="1"/>
          </p:cNvSpPr>
          <p:nvPr/>
        </p:nvSpPr>
        <p:spPr>
          <a:xfrm>
            <a:off x="466725" y="23622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37" name="Desired department, attendance and outside commitments ">
            <a:extLst>
              <a:ext uri="{FF2B5EF4-FFF2-40B4-BE49-F238E27FC236}">
                <a16:creationId xmlns:a16="http://schemas.microsoft.com/office/drawing/2014/main" id="{641283A1-E46A-449F-845D-CDEE87D1641E}"/>
              </a:ext>
            </a:extLst>
          </p:cNvPr>
          <p:cNvSpPr>
            <a:spLocks noGrp="1"/>
          </p:cNvSpPr>
          <p:nvPr/>
        </p:nvSpPr>
        <p:spPr>
          <a:xfrm>
            <a:off x="809625" y="23622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Desired department, attendance and outside commitments show the clearest CGPA associations.</a:t>
            </a:r>
          </a:p>
        </p:txBody>
      </p:sp>
      <p:sp>
        <p:nvSpPr>
          <p:cNvPr id="538" name="•">
            <a:extLst>
              <a:ext uri="{FF2B5EF4-FFF2-40B4-BE49-F238E27FC236}">
                <a16:creationId xmlns:a16="http://schemas.microsoft.com/office/drawing/2014/main" id="{ECAC0E3D-EFEE-44F0-AA16-E0C058C2333D}"/>
              </a:ext>
            </a:extLst>
          </p:cNvPr>
          <p:cNvSpPr>
            <a:spLocks noGrp="1"/>
          </p:cNvSpPr>
          <p:nvPr/>
        </p:nvSpPr>
        <p:spPr>
          <a:xfrm>
            <a:off x="466725" y="32004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39" name="Questionnaire-only classification stays close to the ba">
            <a:extLst>
              <a:ext uri="{FF2B5EF4-FFF2-40B4-BE49-F238E27FC236}">
                <a16:creationId xmlns:a16="http://schemas.microsoft.com/office/drawing/2014/main" id="{B240F353-BB2C-4A33-AE2F-F04CFF3FC9FB}"/>
              </a:ext>
            </a:extLst>
          </p:cNvPr>
          <p:cNvSpPr>
            <a:spLocks noGrp="1"/>
          </p:cNvSpPr>
          <p:nvPr/>
        </p:nvSpPr>
        <p:spPr>
          <a:xfrm>
            <a:off x="809625" y="32004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Questionnaire-only classification stays close to the baseline.</a:t>
            </a:r>
          </a:p>
        </p:txBody>
      </p:sp>
      <p:sp>
        <p:nvSpPr>
          <p:cNvPr id="540" name="•">
            <a:extLst>
              <a:ext uri="{FF2B5EF4-FFF2-40B4-BE49-F238E27FC236}">
                <a16:creationId xmlns:a16="http://schemas.microsoft.com/office/drawing/2014/main" id="{A3E63293-E1F8-4320-9838-41FAE00F1912}"/>
              </a:ext>
            </a:extLst>
          </p:cNvPr>
          <p:cNvSpPr>
            <a:spLocks noGrp="1"/>
          </p:cNvSpPr>
          <p:nvPr/>
        </p:nvSpPr>
        <p:spPr>
          <a:xfrm>
            <a:off x="466725" y="40386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41" name="Recent SGPA is the first split in the main J48 tree.">
            <a:extLst>
              <a:ext uri="{FF2B5EF4-FFF2-40B4-BE49-F238E27FC236}">
                <a16:creationId xmlns:a16="http://schemas.microsoft.com/office/drawing/2014/main" id="{602A27EF-CFAC-4EC9-896B-915C7D74BAA0}"/>
              </a:ext>
            </a:extLst>
          </p:cNvPr>
          <p:cNvSpPr>
            <a:spLocks noGrp="1"/>
          </p:cNvSpPr>
          <p:nvPr/>
        </p:nvSpPr>
        <p:spPr>
          <a:xfrm>
            <a:off x="809625" y="40386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Recent SGPA is the first split in the main J48 tree.</a:t>
            </a:r>
          </a:p>
        </p:txBody>
      </p:sp>
      <p:sp>
        <p:nvSpPr>
          <p:cNvPr id="542" name="•">
            <a:extLst>
              <a:ext uri="{FF2B5EF4-FFF2-40B4-BE49-F238E27FC236}">
                <a16:creationId xmlns:a16="http://schemas.microsoft.com/office/drawing/2014/main" id="{72EFD97A-E72A-49D1-B1E4-A668F897C662}"/>
              </a:ext>
            </a:extLst>
          </p:cNvPr>
          <p:cNvSpPr>
            <a:spLocks noGrp="1"/>
          </p:cNvSpPr>
          <p:nvPr/>
        </p:nvSpPr>
        <p:spPr>
          <a:xfrm>
            <a:off x="466725" y="4876800"/>
            <a:ext cx="238125" cy="40005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t>
            </a:r>
          </a:p>
        </p:txBody>
      </p:sp>
      <p:sp>
        <p:nvSpPr>
          <p:cNvPr id="543" name="Random Forest leads the CV comparison; J48 provides rea">
            <a:extLst>
              <a:ext uri="{FF2B5EF4-FFF2-40B4-BE49-F238E27FC236}">
                <a16:creationId xmlns:a16="http://schemas.microsoft.com/office/drawing/2014/main" id="{C962752C-A1ED-43F5-BE85-58CB8EC87D86}"/>
              </a:ext>
            </a:extLst>
          </p:cNvPr>
          <p:cNvSpPr>
            <a:spLocks noGrp="1"/>
          </p:cNvSpPr>
          <p:nvPr/>
        </p:nvSpPr>
        <p:spPr>
          <a:xfrm>
            <a:off x="809625" y="4876800"/>
            <a:ext cx="10572750" cy="762000"/>
          </a:xfrm>
          <a:prstGeom prst="rect">
            <a:avLst/>
          </a:prstGeom>
          <a:noFill/>
          <a:ln w="0">
            <a:noFill/>
          </a:ln>
        </p:spPr>
        <p:txBody>
          <a:bodyPr anchor="t">
            <a:noAutofit/>
          </a:bodyPr>
          <a:lstStyle/>
          <a:p>
            <a:pPr>
              <a:defRPr sz="2025" b="0">
                <a:solidFill>
                  <a:srgbClr val="121212"/>
                </a:solidFill>
                <a:latin typeface="Times New Roman"/>
                <a:ea typeface="Times New Roman"/>
                <a:cs typeface="Times New Roman"/>
              </a:defRPr>
            </a:pPr>
            <a:r>
              <a:rPr sz="2025" b="0">
                <a:solidFill>
                  <a:srgbClr val="121212"/>
                </a:solidFill>
                <a:latin typeface="Times New Roman"/>
                <a:ea typeface="Times New Roman"/>
                <a:cs typeface="Times New Roman"/>
              </a:rPr>
              <a:t>Accuracy rose from about 46% to 55% (SMO); J48 gives readable rules.</a:t>
            </a:r>
          </a:p>
        </p:txBody>
      </p:sp>
    </p:spTree>
    <p:extLst>
      <p:ext uri="{BB962C8B-B14F-4D97-AF65-F5344CB8AC3E}">
        <p14:creationId xmlns:p14="http://schemas.microsoft.com/office/powerpoint/2010/main" val="32073945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48</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Limitations</a:t>
            </a:r>
          </a:p>
        </p:txBody>
      </p:sp>
      <p:sp>
        <p:nvSpPr>
          <p:cNvPr id="534" name="•">
            <a:extLst>
              <a:ext uri="{FF2B5EF4-FFF2-40B4-BE49-F238E27FC236}">
                <a16:creationId xmlns:a16="http://schemas.microsoft.com/office/drawing/2014/main" id="{1F0EF624-3790-41F6-B8BB-023E95FE0554}"/>
              </a:ext>
            </a:extLst>
          </p:cNvPr>
          <p:cNvSpPr>
            <a:spLocks noGrp="1"/>
          </p:cNvSpPr>
          <p:nvPr/>
        </p:nvSpPr>
        <p:spPr>
          <a:xfrm>
            <a:off x="466725" y="169545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35" name="Self-reported answers without verified registrar record">
            <a:extLst>
              <a:ext uri="{FF2B5EF4-FFF2-40B4-BE49-F238E27FC236}">
                <a16:creationId xmlns:a16="http://schemas.microsoft.com/office/drawing/2014/main" id="{D452E248-A52B-4711-B884-3BE4218C9908}"/>
              </a:ext>
            </a:extLst>
          </p:cNvPr>
          <p:cNvSpPr>
            <a:spLocks noGrp="1"/>
          </p:cNvSpPr>
          <p:nvPr/>
        </p:nvSpPr>
        <p:spPr>
          <a:xfrm>
            <a:off x="809625" y="169545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Self-reported answers without verified registrar records</a:t>
            </a:r>
          </a:p>
        </p:txBody>
      </p:sp>
      <p:sp>
        <p:nvSpPr>
          <p:cNvPr id="536" name="•">
            <a:extLst>
              <a:ext uri="{FF2B5EF4-FFF2-40B4-BE49-F238E27FC236}">
                <a16:creationId xmlns:a16="http://schemas.microsoft.com/office/drawing/2014/main" id="{A4770531-12B3-4ED6-863A-52C3BBB2B4B5}"/>
              </a:ext>
            </a:extLst>
          </p:cNvPr>
          <p:cNvSpPr>
            <a:spLocks noGrp="1"/>
          </p:cNvSpPr>
          <p:nvPr/>
        </p:nvSpPr>
        <p:spPr>
          <a:xfrm>
            <a:off x="466725" y="251460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37" name="KUET-heavy sample and a one-time survey">
            <a:extLst>
              <a:ext uri="{FF2B5EF4-FFF2-40B4-BE49-F238E27FC236}">
                <a16:creationId xmlns:a16="http://schemas.microsoft.com/office/drawing/2014/main" id="{42CD3D53-803A-4BAE-8BC4-726FA934D452}"/>
              </a:ext>
            </a:extLst>
          </p:cNvPr>
          <p:cNvSpPr>
            <a:spLocks noGrp="1"/>
          </p:cNvSpPr>
          <p:nvPr/>
        </p:nvSpPr>
        <p:spPr>
          <a:xfrm>
            <a:off x="809625" y="251460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KUET-heavy sample (75%) and a one-time survey</a:t>
            </a:r>
          </a:p>
        </p:txBody>
      </p:sp>
      <p:sp>
        <p:nvSpPr>
          <p:cNvPr id="538" name="•">
            <a:extLst>
              <a:ext uri="{FF2B5EF4-FFF2-40B4-BE49-F238E27FC236}">
                <a16:creationId xmlns:a16="http://schemas.microsoft.com/office/drawing/2014/main" id="{1D27EED9-B970-4608-90FC-542B9E049727}"/>
              </a:ext>
            </a:extLst>
          </p:cNvPr>
          <p:cNvSpPr>
            <a:spLocks noGrp="1"/>
          </p:cNvSpPr>
          <p:nvPr/>
        </p:nvSpPr>
        <p:spPr>
          <a:xfrm>
            <a:off x="466725" y="333375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39" name="Banded SGPA / CGPA with different time wording between ">
            <a:extLst>
              <a:ext uri="{FF2B5EF4-FFF2-40B4-BE49-F238E27FC236}">
                <a16:creationId xmlns:a16="http://schemas.microsoft.com/office/drawing/2014/main" id="{333A2528-CC7B-499B-88AE-F02BAADE776A}"/>
              </a:ext>
            </a:extLst>
          </p:cNvPr>
          <p:cNvSpPr>
            <a:spLocks noGrp="1"/>
          </p:cNvSpPr>
          <p:nvPr/>
        </p:nvSpPr>
        <p:spPr>
          <a:xfrm>
            <a:off x="809625" y="333375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Banded SGPA / CGPA with different time wording between forms</a:t>
            </a:r>
          </a:p>
        </p:txBody>
      </p:sp>
      <p:sp>
        <p:nvSpPr>
          <p:cNvPr id="540" name="•">
            <a:extLst>
              <a:ext uri="{FF2B5EF4-FFF2-40B4-BE49-F238E27FC236}">
                <a16:creationId xmlns:a16="http://schemas.microsoft.com/office/drawing/2014/main" id="{BFB27253-237D-492B-9AA0-B3A31C118D87}"/>
              </a:ext>
            </a:extLst>
          </p:cNvPr>
          <p:cNvSpPr>
            <a:spLocks noGrp="1"/>
          </p:cNvSpPr>
          <p:nvPr/>
        </p:nvSpPr>
        <p:spPr>
          <a:xfrm>
            <a:off x="466725" y="415290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41" name="Questionnaire imputation occurred before splitting / CV">
            <a:extLst>
              <a:ext uri="{FF2B5EF4-FFF2-40B4-BE49-F238E27FC236}">
                <a16:creationId xmlns:a16="http://schemas.microsoft.com/office/drawing/2014/main" id="{5B5ECEA5-0A0F-465A-B44C-18B27BB0627C}"/>
              </a:ext>
            </a:extLst>
          </p:cNvPr>
          <p:cNvSpPr>
            <a:spLocks noGrp="1"/>
          </p:cNvSpPr>
          <p:nvPr/>
        </p:nvSpPr>
        <p:spPr>
          <a:xfrm>
            <a:off x="809625" y="415290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Data check removed 182 answers; some kept answers may still be careless</a:t>
            </a:r>
          </a:p>
        </p:txBody>
      </p:sp>
      <p:sp>
        <p:nvSpPr>
          <p:cNvPr id="542" name="•">
            <a:extLst>
              <a:ext uri="{FF2B5EF4-FFF2-40B4-BE49-F238E27FC236}">
                <a16:creationId xmlns:a16="http://schemas.microsoft.com/office/drawing/2014/main" id="{EA689285-DCAC-4367-8180-0360DB2B8926}"/>
              </a:ext>
            </a:extLst>
          </p:cNvPr>
          <p:cNvSpPr>
            <a:spLocks noGrp="1"/>
          </p:cNvSpPr>
          <p:nvPr/>
        </p:nvSpPr>
        <p:spPr>
          <a:xfrm>
            <a:off x="466725" y="4972050"/>
            <a:ext cx="238125" cy="4000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a:t>
            </a:r>
          </a:p>
        </p:txBody>
      </p:sp>
      <p:sp>
        <p:nvSpPr>
          <p:cNvPr id="543" name="Small associations and exploratory prediction estimates">
            <a:extLst>
              <a:ext uri="{FF2B5EF4-FFF2-40B4-BE49-F238E27FC236}">
                <a16:creationId xmlns:a16="http://schemas.microsoft.com/office/drawing/2014/main" id="{6EE90635-2B43-40BB-8C94-1CD4F4302070}"/>
              </a:ext>
            </a:extLst>
          </p:cNvPr>
          <p:cNvSpPr>
            <a:spLocks noGrp="1"/>
          </p:cNvSpPr>
          <p:nvPr/>
        </p:nvSpPr>
        <p:spPr>
          <a:xfrm>
            <a:off x="809625" y="4972050"/>
            <a:ext cx="10572750" cy="742950"/>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Small associations; prediction relies mostly on recent SGPA</a:t>
            </a:r>
          </a:p>
        </p:txBody>
      </p:sp>
    </p:spTree>
    <p:extLst>
      <p:ext uri="{BB962C8B-B14F-4D97-AF65-F5344CB8AC3E}">
        <p14:creationId xmlns:p14="http://schemas.microsoft.com/office/powerpoint/2010/main" val="186234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r>
              <a:rPr sz="1000">
                <a:latin typeface="Times New Roman"/>
                <a:ea typeface="Times New Roman"/>
                <a:cs typeface="Times New Roman"/>
              </a:rPr>
              <a:t>49</a:t>
            </a: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rPr sz="3000">
                <a:latin typeface="Times New Roman"/>
                <a:ea typeface="Times New Roman"/>
                <a:cs typeface="Times New Roman"/>
              </a:rPr>
              <a:t>Conclusion</a:t>
            </a:r>
          </a:p>
        </p:txBody>
      </p:sp>
      <p:sp>
        <p:nvSpPr>
          <p:cNvPr id="534" name="Rectangle 533">
            <a:extLst>
              <a:ext uri="{FF2B5EF4-FFF2-40B4-BE49-F238E27FC236}">
                <a16:creationId xmlns:a16="http://schemas.microsoft.com/office/drawing/2014/main" id="{E5D7439F-3AA2-49DB-A9FE-11936C79C7DB}"/>
              </a:ext>
            </a:extLst>
          </p:cNvPr>
          <p:cNvSpPr>
            <a:spLocks noGrp="1"/>
          </p:cNvSpPr>
          <p:nvPr/>
        </p:nvSpPr>
        <p:spPr>
          <a:xfrm>
            <a:off x="400050" y="2219325"/>
            <a:ext cx="3581400" cy="2305050"/>
          </a:xfrm>
          <a:prstGeom prst="rect">
            <a:avLst/>
          </a:prstGeom>
          <a:solidFill>
            <a:srgbClr val="F1F1F1"/>
          </a:solidFill>
          <a:ln w="0">
            <a:noFill/>
          </a:ln>
        </p:spPr>
        <p:txBody>
          <a:bodyPr/>
          <a:lstStyle/>
          <a:p>
            <a:endParaRPr lang="en-US"/>
          </a:p>
        </p:txBody>
      </p:sp>
      <p:sp>
        <p:nvSpPr>
          <p:cNvPr id="535" name="Data">
            <a:extLst>
              <a:ext uri="{FF2B5EF4-FFF2-40B4-BE49-F238E27FC236}">
                <a16:creationId xmlns:a16="http://schemas.microsoft.com/office/drawing/2014/main" id="{5EFE354A-7562-4BF0-A988-E211616B94B9}"/>
              </a:ext>
            </a:extLst>
          </p:cNvPr>
          <p:cNvSpPr>
            <a:spLocks noGrp="1"/>
          </p:cNvSpPr>
          <p:nvPr/>
        </p:nvSpPr>
        <p:spPr>
          <a:xfrm>
            <a:off x="552450" y="2362200"/>
            <a:ext cx="327660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Data</a:t>
            </a:r>
          </a:p>
        </p:txBody>
      </p:sp>
      <p:sp>
        <p:nvSpPr>
          <p:cNvPr id="536" name="1,108 usable engineering-student responses">
            <a:extLst>
              <a:ext uri="{FF2B5EF4-FFF2-40B4-BE49-F238E27FC236}">
                <a16:creationId xmlns:a16="http://schemas.microsoft.com/office/drawing/2014/main" id="{A98EE0D0-F0A3-4778-9767-A0D7042A227E}"/>
              </a:ext>
            </a:extLst>
          </p:cNvPr>
          <p:cNvSpPr>
            <a:spLocks noGrp="1"/>
          </p:cNvSpPr>
          <p:nvPr/>
        </p:nvSpPr>
        <p:spPr>
          <a:xfrm>
            <a:off x="552450" y="2781300"/>
            <a:ext cx="3276600" cy="17335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920 checked engineering-student responses (from 1,126 collected)</a:t>
            </a:r>
          </a:p>
        </p:txBody>
      </p:sp>
      <p:sp>
        <p:nvSpPr>
          <p:cNvPr id="537" name="Rectangle 536">
            <a:extLst>
              <a:ext uri="{FF2B5EF4-FFF2-40B4-BE49-F238E27FC236}">
                <a16:creationId xmlns:a16="http://schemas.microsoft.com/office/drawing/2014/main" id="{8CF35F9C-3442-44A9-B450-F4C912E4BCA5}"/>
              </a:ext>
            </a:extLst>
          </p:cNvPr>
          <p:cNvSpPr>
            <a:spLocks noGrp="1"/>
          </p:cNvSpPr>
          <p:nvPr/>
        </p:nvSpPr>
        <p:spPr>
          <a:xfrm>
            <a:off x="4267200" y="2219325"/>
            <a:ext cx="3581400" cy="2305050"/>
          </a:xfrm>
          <a:prstGeom prst="rect">
            <a:avLst/>
          </a:prstGeom>
          <a:solidFill>
            <a:srgbClr val="F1F1F1"/>
          </a:solidFill>
          <a:ln w="0">
            <a:noFill/>
          </a:ln>
        </p:spPr>
        <p:txBody>
          <a:bodyPr/>
          <a:lstStyle/>
          <a:p>
            <a:endParaRPr lang="en-US"/>
          </a:p>
        </p:txBody>
      </p:sp>
      <p:sp>
        <p:nvSpPr>
          <p:cNvPr id="538" name="Relationship">
            <a:extLst>
              <a:ext uri="{FF2B5EF4-FFF2-40B4-BE49-F238E27FC236}">
                <a16:creationId xmlns:a16="http://schemas.microsoft.com/office/drawing/2014/main" id="{55F8ACB2-5732-48FB-B869-525980D8501E}"/>
              </a:ext>
            </a:extLst>
          </p:cNvPr>
          <p:cNvSpPr>
            <a:spLocks noGrp="1"/>
          </p:cNvSpPr>
          <p:nvPr/>
        </p:nvSpPr>
        <p:spPr>
          <a:xfrm>
            <a:off x="4419600" y="2362200"/>
            <a:ext cx="327660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Relationship</a:t>
            </a:r>
          </a:p>
        </p:txBody>
      </p:sp>
      <p:sp>
        <p:nvSpPr>
          <p:cNvPr id="539" name="Question-by-question CGPA patterns">
            <a:extLst>
              <a:ext uri="{FF2B5EF4-FFF2-40B4-BE49-F238E27FC236}">
                <a16:creationId xmlns:a16="http://schemas.microsoft.com/office/drawing/2014/main" id="{697A63A5-BA10-4E4C-86EB-65FE9BE7667B}"/>
              </a:ext>
            </a:extLst>
          </p:cNvPr>
          <p:cNvSpPr>
            <a:spLocks noGrp="1"/>
          </p:cNvSpPr>
          <p:nvPr/>
        </p:nvSpPr>
        <p:spPr>
          <a:xfrm>
            <a:off x="4419600" y="2781300"/>
            <a:ext cx="3276600" cy="17335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Question-by-question CGPA patterns</a:t>
            </a:r>
          </a:p>
        </p:txBody>
      </p:sp>
      <p:sp>
        <p:nvSpPr>
          <p:cNvPr id="540" name="Rectangle 539">
            <a:extLst>
              <a:ext uri="{FF2B5EF4-FFF2-40B4-BE49-F238E27FC236}">
                <a16:creationId xmlns:a16="http://schemas.microsoft.com/office/drawing/2014/main" id="{FD14E9A6-6EA7-4A23-B869-E4B543D940FF}"/>
              </a:ext>
            </a:extLst>
          </p:cNvPr>
          <p:cNvSpPr>
            <a:spLocks noGrp="1"/>
          </p:cNvSpPr>
          <p:nvPr/>
        </p:nvSpPr>
        <p:spPr>
          <a:xfrm>
            <a:off x="8134350" y="2219325"/>
            <a:ext cx="3581400" cy="2305050"/>
          </a:xfrm>
          <a:prstGeom prst="rect">
            <a:avLst/>
          </a:prstGeom>
          <a:solidFill>
            <a:srgbClr val="F1F1F1"/>
          </a:solidFill>
          <a:ln w="0">
            <a:noFill/>
          </a:ln>
        </p:spPr>
        <p:txBody>
          <a:bodyPr/>
          <a:lstStyle/>
          <a:p>
            <a:endParaRPr lang="en-US"/>
          </a:p>
        </p:txBody>
      </p:sp>
      <p:sp>
        <p:nvSpPr>
          <p:cNvPr id="541" name="WEKA">
            <a:extLst>
              <a:ext uri="{FF2B5EF4-FFF2-40B4-BE49-F238E27FC236}">
                <a16:creationId xmlns:a16="http://schemas.microsoft.com/office/drawing/2014/main" id="{AAD25545-575B-4EE7-B3FF-8FC3555AC67C}"/>
              </a:ext>
            </a:extLst>
          </p:cNvPr>
          <p:cNvSpPr>
            <a:spLocks noGrp="1"/>
          </p:cNvSpPr>
          <p:nvPr/>
        </p:nvSpPr>
        <p:spPr>
          <a:xfrm>
            <a:off x="8286750" y="2362200"/>
            <a:ext cx="3276600" cy="428625"/>
          </a:xfrm>
          <a:prstGeom prst="rect">
            <a:avLst/>
          </a:prstGeom>
          <a:noFill/>
          <a:ln w="0">
            <a:noFill/>
          </a:ln>
        </p:spPr>
        <p:txBody>
          <a:bodyPr anchor="t">
            <a:noAutofit/>
          </a:bodyPr>
          <a:lstStyle/>
          <a:p>
            <a:pPr>
              <a:defRPr sz="2100" b="0">
                <a:solidFill>
                  <a:srgbClr val="121212"/>
                </a:solidFill>
                <a:latin typeface="Times New Roman"/>
                <a:ea typeface="Times New Roman"/>
                <a:cs typeface="Times New Roman"/>
              </a:defRPr>
            </a:pPr>
            <a:r>
              <a:rPr sz="2100" b="0">
                <a:solidFill>
                  <a:srgbClr val="121212"/>
                </a:solidFill>
                <a:latin typeface="Times New Roman"/>
                <a:ea typeface="Times New Roman"/>
                <a:cs typeface="Times New Roman"/>
              </a:rPr>
              <a:t>WEKA</a:t>
            </a:r>
          </a:p>
        </p:txBody>
      </p:sp>
      <p:sp>
        <p:nvSpPr>
          <p:cNvPr id="542" name="J48 rules and comparison with five standard classifiers">
            <a:extLst>
              <a:ext uri="{FF2B5EF4-FFF2-40B4-BE49-F238E27FC236}">
                <a16:creationId xmlns:a16="http://schemas.microsoft.com/office/drawing/2014/main" id="{61280A2C-866C-4699-82A5-D1B5448F2574}"/>
              </a:ext>
            </a:extLst>
          </p:cNvPr>
          <p:cNvSpPr>
            <a:spLocks noGrp="1"/>
          </p:cNvSpPr>
          <p:nvPr/>
        </p:nvSpPr>
        <p:spPr>
          <a:xfrm>
            <a:off x="8286750" y="2781300"/>
            <a:ext cx="3276600" cy="1733550"/>
          </a:xfrm>
          <a:prstGeom prst="rect">
            <a:avLst/>
          </a:prstGeom>
          <a:noFill/>
          <a:ln w="0">
            <a:noFill/>
          </a:ln>
        </p:spPr>
        <p:txBody>
          <a:bodyPr anchor="t">
            <a:noAutofit/>
          </a:bodyPr>
          <a:lstStyle/>
          <a:p>
            <a:pPr>
              <a:defRPr sz="1425" b="0">
                <a:solidFill>
                  <a:srgbClr val="585858"/>
                </a:solidFill>
                <a:latin typeface="Times New Roman"/>
                <a:ea typeface="Times New Roman"/>
                <a:cs typeface="Times New Roman"/>
              </a:defRPr>
            </a:pPr>
            <a:r>
              <a:rPr sz="1425" b="0">
                <a:solidFill>
                  <a:srgbClr val="585858"/>
                </a:solidFill>
                <a:latin typeface="Times New Roman"/>
                <a:ea typeface="Times New Roman"/>
                <a:cs typeface="Times New Roman"/>
              </a:rPr>
              <a:t>J48 rules and comparison with five standard classifiers</a:t>
            </a:r>
          </a:p>
        </p:txBody>
      </p:sp>
      <p:sp>
        <p:nvSpPr>
          <p:cNvPr id="543" name="Associations and predictions, not causal proof.">
            <a:extLst>
              <a:ext uri="{FF2B5EF4-FFF2-40B4-BE49-F238E27FC236}">
                <a16:creationId xmlns:a16="http://schemas.microsoft.com/office/drawing/2014/main" id="{7C27FA56-AB0A-403C-8FFE-37F7BE18060E}"/>
              </a:ext>
            </a:extLst>
          </p:cNvPr>
          <p:cNvSpPr>
            <a:spLocks noGrp="1"/>
          </p:cNvSpPr>
          <p:nvPr/>
        </p:nvSpPr>
        <p:spPr>
          <a:xfrm>
            <a:off x="400050" y="5343525"/>
            <a:ext cx="11391900" cy="619125"/>
          </a:xfrm>
          <a:prstGeom prst="rect">
            <a:avLst/>
          </a:prstGeom>
          <a:noFill/>
          <a:ln w="0">
            <a:noFill/>
          </a:ln>
        </p:spPr>
        <p:txBody>
          <a:bodyPr anchor="t">
            <a:noAutofit/>
          </a:bodyPr>
          <a:lstStyle/>
          <a:p>
            <a:pPr>
              <a:defRPr sz="2550" b="0">
                <a:solidFill>
                  <a:srgbClr val="121212"/>
                </a:solidFill>
                <a:latin typeface="Times New Roman"/>
                <a:ea typeface="Times New Roman"/>
                <a:cs typeface="Times New Roman"/>
              </a:defRPr>
            </a:pPr>
            <a:r>
              <a:rPr sz="2550" b="0">
                <a:solidFill>
                  <a:srgbClr val="121212"/>
                </a:solidFill>
                <a:latin typeface="Times New Roman"/>
                <a:ea typeface="Times New Roman"/>
                <a:cs typeface="Times New Roman"/>
              </a:rPr>
              <a:t>Associations and predictions, not causal proof.</a:t>
            </a:r>
          </a:p>
        </p:txBody>
      </p:sp>
    </p:spTree>
    <p:extLst>
      <p:ext uri="{BB962C8B-B14F-4D97-AF65-F5344CB8AC3E}">
        <p14:creationId xmlns:p14="http://schemas.microsoft.com/office/powerpoint/2010/main" val="40502281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63040"/>
            <a:ext cx="11064240" cy="1280160"/>
          </a:xfrm>
          <a:prstGeom prst="rect">
            <a:avLst/>
          </a:prstGeom>
          <a:noFill/>
        </p:spPr>
        <p:txBody>
          <a:bodyPr wrap="square" lIns="27432" tIns="27432" rIns="27432" bIns="27432" anchor="t">
            <a:noAutofit/>
          </a:bodyPr>
          <a:lstStyle/>
          <a:p>
            <a:pPr algn="ctr">
              <a:lnSpc>
                <a:spcPct val="105000"/>
              </a:lnSpc>
            </a:pPr>
            <a:r>
              <a:rPr sz="6600" b="1">
                <a:solidFill>
                  <a:srgbClr val="0B0B0B"/>
                </a:solidFill>
                <a:latin typeface="Helvetica Neue"/>
              </a:rPr>
              <a:t>Thank You</a:t>
            </a:r>
          </a:p>
        </p:txBody>
      </p:sp>
      <p:sp>
        <p:nvSpPr>
          <p:cNvPr id="3" name="TextBox 2"/>
          <p:cNvSpPr txBox="1"/>
          <p:nvPr/>
        </p:nvSpPr>
        <p:spPr>
          <a:xfrm>
            <a:off x="548640" y="2743200"/>
            <a:ext cx="11064240" cy="731520"/>
          </a:xfrm>
          <a:prstGeom prst="rect">
            <a:avLst/>
          </a:prstGeom>
          <a:noFill/>
        </p:spPr>
        <p:txBody>
          <a:bodyPr wrap="square" lIns="27432" tIns="27432" rIns="27432" bIns="27432" anchor="t">
            <a:noAutofit/>
          </a:bodyPr>
          <a:lstStyle/>
          <a:p>
            <a:pPr algn="ctr">
              <a:lnSpc>
                <a:spcPct val="105000"/>
              </a:lnSpc>
            </a:pPr>
            <a:r>
              <a:rPr sz="3200" b="0">
                <a:solidFill>
                  <a:srgbClr val="2A78D6"/>
                </a:solidFill>
                <a:latin typeface="Helvetica Neue"/>
              </a:rPr>
              <a:t>Questions?</a:t>
            </a:r>
          </a:p>
        </p:txBody>
      </p:sp>
      <p:sp>
        <p:nvSpPr>
          <p:cNvPr id="4" name="Rounded Rectangle 3"/>
          <p:cNvSpPr/>
          <p:nvPr/>
        </p:nvSpPr>
        <p:spPr>
          <a:xfrm>
            <a:off x="1005840" y="397763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2107020 · Sheikh Md. Galib Mahim</a:t>
            </a:r>
          </a:p>
        </p:txBody>
      </p:sp>
      <p:sp>
        <p:nvSpPr>
          <p:cNvPr id="5" name="Rounded Rectangle 4"/>
          <p:cNvSpPr/>
          <p:nvPr/>
        </p:nvSpPr>
        <p:spPr>
          <a:xfrm>
            <a:off x="4480560" y="397763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2107030 · Md. Eftakar Jaman Arfan</a:t>
            </a:r>
          </a:p>
        </p:txBody>
      </p:sp>
      <p:sp>
        <p:nvSpPr>
          <p:cNvPr id="6" name="Rounded Rectangle 5"/>
          <p:cNvSpPr/>
          <p:nvPr/>
        </p:nvSpPr>
        <p:spPr>
          <a:xfrm>
            <a:off x="7955279" y="397763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2107007 · Asif Jawad</a:t>
            </a:r>
          </a:p>
        </p:txBody>
      </p:sp>
      <p:sp>
        <p:nvSpPr>
          <p:cNvPr id="7" name="Rounded Rectangle 6"/>
          <p:cNvSpPr/>
          <p:nvPr/>
        </p:nvSpPr>
        <p:spPr>
          <a:xfrm>
            <a:off x="1005840" y="475487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2107008 · Rakibul Islam</a:t>
            </a:r>
          </a:p>
        </p:txBody>
      </p:sp>
      <p:sp>
        <p:nvSpPr>
          <p:cNvPr id="8" name="Rounded Rectangle 7"/>
          <p:cNvSpPr/>
          <p:nvPr/>
        </p:nvSpPr>
        <p:spPr>
          <a:xfrm>
            <a:off x="4480560" y="475487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2107012 · Md Enam E Elahi</a:t>
            </a:r>
          </a:p>
        </p:txBody>
      </p:sp>
      <p:sp>
        <p:nvSpPr>
          <p:cNvPr id="9" name="Rounded Rectangle 8"/>
          <p:cNvSpPr/>
          <p:nvPr/>
        </p:nvSpPr>
        <p:spPr>
          <a:xfrm>
            <a:off x="7955279" y="4754879"/>
            <a:ext cx="3246120" cy="594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500" b="0">
                <a:solidFill>
                  <a:srgbClr val="0B0B0B"/>
                </a:solidFill>
                <a:latin typeface="Helvetica Neue"/>
              </a:rPr>
              <a:t>2107014 · Al Mubtasim Preom</a:t>
            </a:r>
          </a:p>
        </p:txBody>
      </p:sp>
      <p:sp>
        <p:nvSpPr>
          <p:cNvPr id="10" name="TextBox 9"/>
          <p:cNvSpPr txBox="1"/>
          <p:nvPr/>
        </p:nvSpPr>
        <p:spPr>
          <a:xfrm>
            <a:off x="548640" y="5989320"/>
            <a:ext cx="11064240" cy="365760"/>
          </a:xfrm>
          <a:prstGeom prst="rect">
            <a:avLst/>
          </a:prstGeom>
          <a:noFill/>
        </p:spPr>
        <p:txBody>
          <a:bodyPr wrap="square" lIns="27432" tIns="27432" rIns="27432" bIns="27432" anchor="t">
            <a:noAutofit/>
          </a:bodyPr>
          <a:lstStyle/>
          <a:p>
            <a:pPr algn="ctr">
              <a:lnSpc>
                <a:spcPct val="105000"/>
              </a:lnSpc>
            </a:pPr>
            <a:r>
              <a:rPr sz="1300" b="0">
                <a:solidFill>
                  <a:srgbClr val="898781"/>
                </a:solidFill>
                <a:latin typeface="Helvetica Neue"/>
              </a:rPr>
              <a:t>CSE 4112 · Machine Learning Laboratory · KUET</a:t>
            </a:r>
          </a:p>
        </p:txBody>
      </p:sp>
      <p:sp>
        <p:nvSpPr>
          <p:cNvPr id="11" name="SimpleLightSectionLabel">
            <a:extLst>
              <a:ext uri="{FF2B5EF4-FFF2-40B4-BE49-F238E27FC236}">
                <a16:creationId xmlns:a16="http://schemas.microsoft.com/office/drawing/2014/main" id="{81EE05DF-2E40-4CA6-9695-72EE5438157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FINDINGS + CONCLUSION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Full Question List of the Survey Form</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54</a:t>
            </a:r>
          </a:p>
        </p:txBody>
      </p:sp>
      <p:graphicFrame>
        <p:nvGraphicFramePr>
          <p:cNvPr id="7" name="Table 6"/>
          <p:cNvGraphicFramePr>
            <a:graphicFrameLocks noGrp="1"/>
          </p:cNvGraphicFramePr>
          <p:nvPr/>
        </p:nvGraphicFramePr>
        <p:xfrm>
          <a:off x="457200" y="1234440"/>
          <a:ext cx="11247120" cy="4992624"/>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37744">
                <a:tc>
                  <a:txBody>
                    <a:bodyPr/>
                    <a:lstStyle/>
                    <a:p>
                      <a:r>
                        <a:rPr sz="900" b="1">
                          <a:solidFill>
                            <a:srgbClr val="FFFFFF"/>
                          </a:solidFill>
                          <a:latin typeface="Segoe UI"/>
                        </a:rPr>
                        <a:t>#</a:t>
                      </a:r>
                    </a:p>
                  </a:txBody>
                  <a:tcPr marL="64008" marR="64008" marT="18288" marB="18288" anchor="ctr">
                    <a:solidFill>
                      <a:srgbClr val="1F3B5C"/>
                    </a:solidFill>
                  </a:tcPr>
                </a:tc>
                <a:tc>
                  <a:txBody>
                    <a:bodyPr/>
                    <a:lstStyle/>
                    <a:p>
                      <a:r>
                        <a:rPr sz="900" b="1">
                          <a:solidFill>
                            <a:srgbClr val="FFFFFF"/>
                          </a:solidFill>
                          <a:latin typeface="Segoe UI"/>
                        </a:rPr>
                        <a:t>Question</a:t>
                      </a:r>
                    </a:p>
                  </a:txBody>
                  <a:tcPr marL="64008" marR="64008" marT="18288" marB="18288" anchor="ctr">
                    <a:solidFill>
                      <a:srgbClr val="1F3B5C"/>
                    </a:solidFill>
                  </a:tcPr>
                </a:tc>
                <a:tc>
                  <a:txBody>
                    <a:bodyPr/>
                    <a:lstStyle/>
                    <a:p>
                      <a:r>
                        <a:rPr sz="900" b="1">
                          <a:solidFill>
                            <a:srgbClr val="FFFFFF"/>
                          </a:solidFill>
                          <a:latin typeface="Segoe UI"/>
                        </a:rPr>
                        <a:t>Options</a:t>
                      </a:r>
                    </a:p>
                  </a:txBody>
                  <a:tcPr marL="64008" marR="64008" marT="18288" marB="18288" anchor="ctr">
                    <a:solidFill>
                      <a:srgbClr val="1F3B5C"/>
                    </a:solidFill>
                  </a:tcPr>
                </a:tc>
                <a:tc>
                  <a:txBody>
                    <a:bodyPr/>
                    <a:lstStyle/>
                    <a:p>
                      <a:r>
                        <a:rPr sz="900" b="1">
                          <a:solidFill>
                            <a:srgbClr val="FFFFFF"/>
                          </a:solidFill>
                          <a:latin typeface="Segoe UI"/>
                        </a:rPr>
                        <a:t>In tree</a:t>
                      </a:r>
                    </a:p>
                  </a:txBody>
                  <a:tcPr marL="64008" marR="64008" marT="18288" marB="18288" anchor="ctr">
                    <a:solidFill>
                      <a:srgbClr val="1F3B5C"/>
                    </a:solidFill>
                  </a:tcPr>
                </a:tc>
                <a:extLst>
                  <a:ext uri="{0D108BD9-81ED-4DB2-BD59-A6C34878D82A}">
                    <a16:rowId xmlns:a16="http://schemas.microsoft.com/office/drawing/2014/main" val="10000"/>
                  </a:ext>
                </a:extLst>
              </a:tr>
              <a:tr h="237744">
                <a:tc>
                  <a:txBody>
                    <a:bodyPr/>
                    <a:lstStyle/>
                    <a:p>
                      <a:r>
                        <a:rPr sz="900" b="0">
                          <a:solidFill>
                            <a:srgbClr val="0B0B0B"/>
                          </a:solidFill>
                          <a:latin typeface="Segoe UI"/>
                        </a:rPr>
                        <a:t>1</a:t>
                      </a:r>
                    </a:p>
                  </a:txBody>
                  <a:tcPr marL="64008" marR="64008" marT="18288" marB="18288" anchor="ctr">
                    <a:solidFill>
                      <a:srgbClr val="FFFFFF"/>
                    </a:solidFill>
                  </a:tcPr>
                </a:tc>
                <a:tc>
                  <a:txBody>
                    <a:bodyPr/>
                    <a:lstStyle/>
                    <a:p>
                      <a:r>
                        <a:rPr sz="900" b="0">
                          <a:solidFill>
                            <a:srgbClr val="0B0B0B"/>
                          </a:solidFill>
                          <a:latin typeface="Segoe UI"/>
                        </a:rPr>
                        <a:t>What is the name your university?</a:t>
                      </a:r>
                    </a:p>
                  </a:txBody>
                  <a:tcPr marL="64008" marR="64008" marT="18288" marB="18288" anchor="ctr">
                    <a:solidFill>
                      <a:srgbClr val="FFFFFF"/>
                    </a:solidFill>
                  </a:tcPr>
                </a:tc>
                <a:tc>
                  <a:txBody>
                    <a:bodyPr/>
                    <a:lstStyle/>
                    <a:p>
                      <a:r>
                        <a:rPr sz="900" b="0">
                          <a:solidFill>
                            <a:srgbClr val="0B0B0B"/>
                          </a:solidFill>
                          <a:latin typeface="Segoe UI"/>
                        </a:rPr>
                        <a:t>CUET | BRAC | Brac | BRAC University | BRAc | BUET | Buet | Cuet | …</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1"/>
                  </a:ext>
                </a:extLst>
              </a:tr>
              <a:tr h="237744">
                <a:tc>
                  <a:txBody>
                    <a:bodyPr/>
                    <a:lstStyle/>
                    <a:p>
                      <a:r>
                        <a:rPr sz="900" b="0">
                          <a:solidFill>
                            <a:srgbClr val="0B0B0B"/>
                          </a:solidFill>
                          <a:latin typeface="Segoe UI"/>
                        </a:rPr>
                        <a:t>2</a:t>
                      </a:r>
                    </a:p>
                  </a:txBody>
                  <a:tcPr marL="64008" marR="64008" marT="18288" marB="18288" anchor="ctr">
                    <a:solidFill>
                      <a:srgbClr val="F7F8FA"/>
                    </a:solidFill>
                  </a:tcPr>
                </a:tc>
                <a:tc>
                  <a:txBody>
                    <a:bodyPr/>
                    <a:lstStyle/>
                    <a:p>
                      <a:r>
                        <a:rPr sz="900" b="0">
                          <a:solidFill>
                            <a:srgbClr val="0B0B0B"/>
                          </a:solidFill>
                          <a:latin typeface="Segoe UI"/>
                        </a:rPr>
                        <a:t>How satisfied are you with getting admitted into your university?</a:t>
                      </a:r>
                    </a:p>
                  </a:txBody>
                  <a:tcPr marL="64008" marR="64008" marT="18288" marB="18288" anchor="ctr">
                    <a:solidFill>
                      <a:srgbClr val="F7F8FA"/>
                    </a:solidFill>
                  </a:tcPr>
                </a:tc>
                <a:tc>
                  <a:txBody>
                    <a:bodyPr/>
                    <a:lstStyle/>
                    <a:p>
                      <a:r>
                        <a:rPr sz="900" b="0">
                          <a:solidFill>
                            <a:srgbClr val="0B0B0B"/>
                          </a:solidFill>
                          <a:latin typeface="Segoe UI"/>
                        </a:rPr>
                        <a:t>Very dissatisfied | Dissatisfied | Neutral | Satisfied | Very satis…</a:t>
                      </a:r>
                    </a:p>
                  </a:txBody>
                  <a:tcPr marL="64008" marR="64008" marT="18288" marB="18288" anchor="ctr">
                    <a:solidFill>
                      <a:srgbClr val="F7F8FA"/>
                    </a:solidFill>
                  </a:tcPr>
                </a:tc>
                <a:tc>
                  <a:txBody>
                    <a:bodyPr/>
                    <a:lstStyle/>
                    <a:p>
                      <a:r>
                        <a:rPr sz="900" b="0">
                          <a:solidFill>
                            <a:srgbClr val="0B0B0B"/>
                          </a:solidFill>
                          <a:latin typeface="Segoe UI"/>
                        </a:rPr>
                        <a:t>—</a:t>
                      </a:r>
                    </a:p>
                  </a:txBody>
                  <a:tcPr marL="64008" marR="64008" marT="18288" marB="18288" anchor="ctr">
                    <a:solidFill>
                      <a:srgbClr val="F7F8FA"/>
                    </a:solidFill>
                  </a:tcPr>
                </a:tc>
                <a:extLst>
                  <a:ext uri="{0D108BD9-81ED-4DB2-BD59-A6C34878D82A}">
                    <a16:rowId xmlns:a16="http://schemas.microsoft.com/office/drawing/2014/main" val="10002"/>
                  </a:ext>
                </a:extLst>
              </a:tr>
              <a:tr h="237744">
                <a:tc>
                  <a:txBody>
                    <a:bodyPr/>
                    <a:lstStyle/>
                    <a:p>
                      <a:r>
                        <a:rPr sz="900" b="0">
                          <a:solidFill>
                            <a:srgbClr val="0B0B0B"/>
                          </a:solidFill>
                          <a:latin typeface="Segoe UI"/>
                        </a:rPr>
                        <a:t>3</a:t>
                      </a:r>
                    </a:p>
                  </a:txBody>
                  <a:tcPr marL="64008" marR="64008" marT="18288" marB="18288" anchor="ctr">
                    <a:solidFill>
                      <a:srgbClr val="FFFFFF"/>
                    </a:solidFill>
                  </a:tcPr>
                </a:tc>
                <a:tc>
                  <a:txBody>
                    <a:bodyPr/>
                    <a:lstStyle/>
                    <a:p>
                      <a:r>
                        <a:rPr sz="900" b="0">
                          <a:solidFill>
                            <a:srgbClr val="0B0B0B"/>
                          </a:solidFill>
                          <a:latin typeface="Segoe UI"/>
                        </a:rPr>
                        <a:t>What is your department?</a:t>
                      </a:r>
                    </a:p>
                  </a:txBody>
                  <a:tcPr marL="64008" marR="64008" marT="18288" marB="18288" anchor="ctr">
                    <a:solidFill>
                      <a:srgbClr val="FFFFFF"/>
                    </a:solidFill>
                  </a:tcPr>
                </a:tc>
                <a:tc>
                  <a:txBody>
                    <a:bodyPr/>
                    <a:lstStyle/>
                    <a:p>
                      <a:r>
                        <a:rPr sz="900" b="0">
                          <a:solidFill>
                            <a:srgbClr val="0B0B0B"/>
                          </a:solidFill>
                          <a:latin typeface="Segoe UI"/>
                        </a:rPr>
                        <a:t>Electrical and Electronic Engineering | Computer Science and Engine…</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3"/>
                  </a:ext>
                </a:extLst>
              </a:tr>
              <a:tr h="237744">
                <a:tc>
                  <a:txBody>
                    <a:bodyPr/>
                    <a:lstStyle/>
                    <a:p>
                      <a:r>
                        <a:rPr sz="900" b="0">
                          <a:solidFill>
                            <a:srgbClr val="0B0B0B"/>
                          </a:solidFill>
                          <a:latin typeface="Segoe UI"/>
                        </a:rPr>
                        <a:t>4</a:t>
                      </a:r>
                    </a:p>
                  </a:txBody>
                  <a:tcPr marL="64008" marR="64008" marT="18288" marB="18288" anchor="ctr">
                    <a:solidFill>
                      <a:srgbClr val="F7F8FA"/>
                    </a:solidFill>
                  </a:tcPr>
                </a:tc>
                <a:tc>
                  <a:txBody>
                    <a:bodyPr/>
                    <a:lstStyle/>
                    <a:p>
                      <a:r>
                        <a:rPr sz="900" b="0">
                          <a:solidFill>
                            <a:srgbClr val="0B0B0B"/>
                          </a:solidFill>
                          <a:latin typeface="Segoe UI"/>
                        </a:rPr>
                        <a:t>Did you get into your desired subject or department?</a:t>
                      </a:r>
                    </a:p>
                  </a:txBody>
                  <a:tcPr marL="64008" marR="64008" marT="18288" marB="18288" anchor="ctr">
                    <a:solidFill>
                      <a:srgbClr val="F7F8FA"/>
                    </a:solidFill>
                  </a:tcPr>
                </a:tc>
                <a:tc>
                  <a:txBody>
                    <a:bodyPr/>
                    <a:lstStyle/>
                    <a:p>
                      <a:r>
                        <a:rPr sz="900" b="0">
                          <a:solidFill>
                            <a:srgbClr val="0B0B0B"/>
                          </a:solidFill>
                          <a:latin typeface="Segoe UI"/>
                        </a:rPr>
                        <a:t>Not at all what I wanted | Mostly different | Somewhat different | …</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04"/>
                  </a:ext>
                </a:extLst>
              </a:tr>
              <a:tr h="237744">
                <a:tc>
                  <a:txBody>
                    <a:bodyPr/>
                    <a:lstStyle/>
                    <a:p>
                      <a:r>
                        <a:rPr sz="900" b="0">
                          <a:solidFill>
                            <a:srgbClr val="0B0B0B"/>
                          </a:solidFill>
                          <a:latin typeface="Segoe UI"/>
                        </a:rPr>
                        <a:t>5</a:t>
                      </a:r>
                    </a:p>
                  </a:txBody>
                  <a:tcPr marL="64008" marR="64008" marT="18288" marB="18288" anchor="ctr">
                    <a:solidFill>
                      <a:srgbClr val="FFFFFF"/>
                    </a:solidFill>
                  </a:tcPr>
                </a:tc>
                <a:tc>
                  <a:txBody>
                    <a:bodyPr/>
                    <a:lstStyle/>
                    <a:p>
                      <a:r>
                        <a:rPr sz="900" b="0">
                          <a:solidFill>
                            <a:srgbClr val="0B0B0B"/>
                          </a:solidFill>
                          <a:latin typeface="Segoe UI"/>
                        </a:rPr>
                        <a:t>Which semester are you currently in?</a:t>
                      </a:r>
                    </a:p>
                  </a:txBody>
                  <a:tcPr marL="64008" marR="64008" marT="18288" marB="18288" anchor="ctr">
                    <a:solidFill>
                      <a:srgbClr val="FFFFFF"/>
                    </a:solidFill>
                  </a:tcPr>
                </a:tc>
                <a:tc>
                  <a:txBody>
                    <a:bodyPr/>
                    <a:lstStyle/>
                    <a:p>
                      <a:r>
                        <a:rPr sz="900" b="0">
                          <a:solidFill>
                            <a:srgbClr val="0B0B0B"/>
                          </a:solidFill>
                          <a:latin typeface="Segoe UI"/>
                        </a:rPr>
                        <a:t>1 | 2 | 3 | 4 | 5 | 6 | 7 | 8 | 9 | 10 | 11 | 12</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5"/>
                  </a:ext>
                </a:extLst>
              </a:tr>
              <a:tr h="237744">
                <a:tc>
                  <a:txBody>
                    <a:bodyPr/>
                    <a:lstStyle/>
                    <a:p>
                      <a:r>
                        <a:rPr sz="900" b="0">
                          <a:solidFill>
                            <a:srgbClr val="0B0B0B"/>
                          </a:solidFill>
                          <a:latin typeface="Segoe UI"/>
                        </a:rPr>
                        <a:t>6</a:t>
                      </a:r>
                    </a:p>
                  </a:txBody>
                  <a:tcPr marL="64008" marR="64008" marT="18288" marB="18288" anchor="ctr">
                    <a:solidFill>
                      <a:srgbClr val="F7F8FA"/>
                    </a:solidFill>
                  </a:tcPr>
                </a:tc>
                <a:tc>
                  <a:txBody>
                    <a:bodyPr/>
                    <a:lstStyle/>
                    <a:p>
                      <a:r>
                        <a:rPr sz="900" b="0">
                          <a:solidFill>
                            <a:srgbClr val="0B0B0B"/>
                          </a:solidFill>
                          <a:latin typeface="Segoe UI"/>
                        </a:rPr>
                        <a:t>What was your SGPA in the most recently completed semester?</a:t>
                      </a:r>
                    </a:p>
                  </a:txBody>
                  <a:tcPr marL="64008" marR="64008" marT="18288" marB="18288" anchor="ctr">
                    <a:solidFill>
                      <a:srgbClr val="F7F8FA"/>
                    </a:solidFill>
                  </a:tcPr>
                </a:tc>
                <a:tc>
                  <a:txBody>
                    <a:bodyPr/>
                    <a:lstStyle/>
                    <a:p>
                      <a:r>
                        <a:rPr sz="900" b="0">
                          <a:solidFill>
                            <a:srgbClr val="0B0B0B"/>
                          </a:solidFill>
                          <a:latin typeface="Segoe UI"/>
                        </a:rPr>
                        <a:t>3.0+ | 3.2+ | 3.5+ | 3.75+ | 3.9+ | Below</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06"/>
                  </a:ext>
                </a:extLst>
              </a:tr>
              <a:tr h="237744">
                <a:tc>
                  <a:txBody>
                    <a:bodyPr/>
                    <a:lstStyle/>
                    <a:p>
                      <a:r>
                        <a:rPr sz="900" b="0">
                          <a:solidFill>
                            <a:srgbClr val="0B0B0B"/>
                          </a:solidFill>
                          <a:latin typeface="Segoe UI"/>
                        </a:rPr>
                        <a:t>7</a:t>
                      </a:r>
                    </a:p>
                  </a:txBody>
                  <a:tcPr marL="64008" marR="64008" marT="18288" marB="18288" anchor="ctr">
                    <a:solidFill>
                      <a:srgbClr val="FFFFFF"/>
                    </a:solidFill>
                  </a:tcPr>
                </a:tc>
                <a:tc>
                  <a:txBody>
                    <a:bodyPr/>
                    <a:lstStyle/>
                    <a:p>
                      <a:r>
                        <a:rPr sz="900" b="0">
                          <a:solidFill>
                            <a:srgbClr val="0B0B0B"/>
                          </a:solidFill>
                          <a:latin typeface="Segoe UI"/>
                        </a:rPr>
                        <a:t>Before that semester, what was your CGPA?</a:t>
                      </a:r>
                    </a:p>
                  </a:txBody>
                  <a:tcPr marL="64008" marR="64008" marT="18288" marB="18288" anchor="ctr">
                    <a:solidFill>
                      <a:srgbClr val="FFFFFF"/>
                    </a:solidFill>
                  </a:tcPr>
                </a:tc>
                <a:tc>
                  <a:txBody>
                    <a:bodyPr/>
                    <a:lstStyle/>
                    <a:p>
                      <a:r>
                        <a:rPr sz="900" b="0">
                          <a:solidFill>
                            <a:srgbClr val="0B0B0B"/>
                          </a:solidFill>
                          <a:latin typeface="Segoe UI"/>
                        </a:rPr>
                        <a:t>3.0+ | 3.2+ | 3.5+ | 3.75+ | 3.9+ | Below</a:t>
                      </a:r>
                    </a:p>
                  </a:txBody>
                  <a:tcPr marL="64008" marR="64008" marT="18288" marB="18288" anchor="ctr">
                    <a:solidFill>
                      <a:srgbClr val="FFFFFF"/>
                    </a:solidFill>
                  </a:tcPr>
                </a:tc>
                <a:tc>
                  <a:txBody>
                    <a:bodyPr/>
                    <a:lstStyle/>
                    <a:p>
                      <a:r>
                        <a:rPr sz="900" b="0">
                          <a:solidFill>
                            <a:srgbClr val="0B0B0B"/>
                          </a:solidFill>
                          <a:latin typeface="Segoe UI"/>
                        </a:rPr>
                        <a:t>—</a:t>
                      </a:r>
                    </a:p>
                  </a:txBody>
                  <a:tcPr marL="64008" marR="64008" marT="18288" marB="18288" anchor="ctr">
                    <a:solidFill>
                      <a:srgbClr val="FFFFFF"/>
                    </a:solidFill>
                  </a:tcPr>
                </a:tc>
                <a:extLst>
                  <a:ext uri="{0D108BD9-81ED-4DB2-BD59-A6C34878D82A}">
                    <a16:rowId xmlns:a16="http://schemas.microsoft.com/office/drawing/2014/main" val="10007"/>
                  </a:ext>
                </a:extLst>
              </a:tr>
              <a:tr h="237744">
                <a:tc>
                  <a:txBody>
                    <a:bodyPr/>
                    <a:lstStyle/>
                    <a:p>
                      <a:r>
                        <a:rPr sz="900" b="0">
                          <a:solidFill>
                            <a:srgbClr val="0B0B0B"/>
                          </a:solidFill>
                          <a:latin typeface="Segoe UI"/>
                        </a:rPr>
                        <a:t>8</a:t>
                      </a:r>
                    </a:p>
                  </a:txBody>
                  <a:tcPr marL="64008" marR="64008" marT="18288" marB="18288" anchor="ctr">
                    <a:solidFill>
                      <a:srgbClr val="F7F8FA"/>
                    </a:solidFill>
                  </a:tcPr>
                </a:tc>
                <a:tc>
                  <a:txBody>
                    <a:bodyPr/>
                    <a:lstStyle/>
                    <a:p>
                      <a:r>
                        <a:rPr sz="900" b="0">
                          <a:solidFill>
                            <a:srgbClr val="0B0B0B"/>
                          </a:solidFill>
                          <a:latin typeface="Segoe UI"/>
                        </a:rPr>
                        <a:t>How satisfied were you with your latest semester result?</a:t>
                      </a:r>
                    </a:p>
                  </a:txBody>
                  <a:tcPr marL="64008" marR="64008" marT="18288" marB="18288" anchor="ctr">
                    <a:solidFill>
                      <a:srgbClr val="F7F8FA"/>
                    </a:solidFill>
                  </a:tcPr>
                </a:tc>
                <a:tc>
                  <a:txBody>
                    <a:bodyPr/>
                    <a:lstStyle/>
                    <a:p>
                      <a:r>
                        <a:rPr sz="900" b="0">
                          <a:solidFill>
                            <a:srgbClr val="0B0B0B"/>
                          </a:solidFill>
                          <a:latin typeface="Segoe UI"/>
                        </a:rPr>
                        <a:t>Very dissatisfied | Dissatisfied | Neutral | Satisfied | Very satis…</a:t>
                      </a:r>
                    </a:p>
                  </a:txBody>
                  <a:tcPr marL="64008" marR="64008" marT="18288" marB="18288" anchor="ctr">
                    <a:solidFill>
                      <a:srgbClr val="F7F8FA"/>
                    </a:solidFill>
                  </a:tcPr>
                </a:tc>
                <a:tc>
                  <a:txBody>
                    <a:bodyPr/>
                    <a:lstStyle/>
                    <a:p>
                      <a:r>
                        <a:rPr sz="900" b="0">
                          <a:solidFill>
                            <a:srgbClr val="0B0B0B"/>
                          </a:solidFill>
                          <a:latin typeface="Segoe UI"/>
                        </a:rPr>
                        <a:t>—</a:t>
                      </a:r>
                    </a:p>
                  </a:txBody>
                  <a:tcPr marL="64008" marR="64008" marT="18288" marB="18288" anchor="ctr">
                    <a:solidFill>
                      <a:srgbClr val="F7F8FA"/>
                    </a:solidFill>
                  </a:tcPr>
                </a:tc>
                <a:extLst>
                  <a:ext uri="{0D108BD9-81ED-4DB2-BD59-A6C34878D82A}">
                    <a16:rowId xmlns:a16="http://schemas.microsoft.com/office/drawing/2014/main" val="10008"/>
                  </a:ext>
                </a:extLst>
              </a:tr>
              <a:tr h="237744">
                <a:tc>
                  <a:txBody>
                    <a:bodyPr/>
                    <a:lstStyle/>
                    <a:p>
                      <a:r>
                        <a:rPr sz="900" b="0">
                          <a:solidFill>
                            <a:srgbClr val="0B0B0B"/>
                          </a:solidFill>
                          <a:latin typeface="Segoe UI"/>
                        </a:rPr>
                        <a:t>9</a:t>
                      </a:r>
                    </a:p>
                  </a:txBody>
                  <a:tcPr marL="64008" marR="64008" marT="18288" marB="18288" anchor="ctr">
                    <a:solidFill>
                      <a:srgbClr val="FFFFFF"/>
                    </a:solidFill>
                  </a:tcPr>
                </a:tc>
                <a:tc>
                  <a:txBody>
                    <a:bodyPr/>
                    <a:lstStyle/>
                    <a:p>
                      <a:r>
                        <a:rPr sz="900" b="0">
                          <a:solidFill>
                            <a:srgbClr val="0B0B0B"/>
                          </a:solidFill>
                          <a:latin typeface="Segoe UI"/>
                        </a:rPr>
                        <a:t>How often were you actually present in class?</a:t>
                      </a:r>
                    </a:p>
                  </a:txBody>
                  <a:tcPr marL="64008" marR="64008" marT="18288" marB="18288" anchor="ctr">
                    <a:solidFill>
                      <a:srgbClr val="FFFFFF"/>
                    </a:solidFill>
                  </a:tcPr>
                </a:tc>
                <a:tc>
                  <a:txBody>
                    <a:bodyPr/>
                    <a:lstStyle/>
                    <a:p>
                      <a:r>
                        <a:rPr sz="900" b="0">
                          <a:solidFill>
                            <a:srgbClr val="0B0B0B"/>
                          </a:solidFill>
                          <a:latin typeface="Segoe UI"/>
                        </a:rPr>
                        <a:t>60-74% | 75-89% | 90% or more</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09"/>
                  </a:ext>
                </a:extLst>
              </a:tr>
              <a:tr h="237744">
                <a:tc>
                  <a:txBody>
                    <a:bodyPr/>
                    <a:lstStyle/>
                    <a:p>
                      <a:r>
                        <a:rPr sz="900" b="0">
                          <a:solidFill>
                            <a:srgbClr val="0B0B0B"/>
                          </a:solidFill>
                          <a:latin typeface="Segoe UI"/>
                        </a:rPr>
                        <a:t>10</a:t>
                      </a:r>
                    </a:p>
                  </a:txBody>
                  <a:tcPr marL="64008" marR="64008" marT="18288" marB="18288" anchor="ctr">
                    <a:solidFill>
                      <a:srgbClr val="F7F8FA"/>
                    </a:solidFill>
                  </a:tcPr>
                </a:tc>
                <a:tc>
                  <a:txBody>
                    <a:bodyPr/>
                    <a:lstStyle/>
                    <a:p>
                      <a:r>
                        <a:rPr sz="900" b="0">
                          <a:solidFill>
                            <a:srgbClr val="0B0B0B"/>
                          </a:solidFill>
                          <a:latin typeface="Segoe UI"/>
                        </a:rPr>
                        <a:t>Outside class, how much did you usually study per week?</a:t>
                      </a:r>
                    </a:p>
                  </a:txBody>
                  <a:tcPr marL="64008" marR="64008" marT="18288" marB="18288" anchor="ctr">
                    <a:solidFill>
                      <a:srgbClr val="F7F8FA"/>
                    </a:solidFill>
                  </a:tcPr>
                </a:tc>
                <a:tc>
                  <a:txBody>
                    <a:bodyPr/>
                    <a:lstStyle/>
                    <a:p>
                      <a:r>
                        <a:rPr sz="900" b="0">
                          <a:solidFill>
                            <a:srgbClr val="0B0B0B"/>
                          </a:solidFill>
                          <a:latin typeface="Segoe UI"/>
                        </a:rPr>
                        <a:t>Less than 3 hrs | 3-6 hrs | 7-10 hrs | 11-15 hrs | More than 15 hrs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0"/>
                  </a:ext>
                </a:extLst>
              </a:tr>
              <a:tr h="237744">
                <a:tc>
                  <a:txBody>
                    <a:bodyPr/>
                    <a:lstStyle/>
                    <a:p>
                      <a:r>
                        <a:rPr sz="900" b="0">
                          <a:solidFill>
                            <a:srgbClr val="0B0B0B"/>
                          </a:solidFill>
                          <a:latin typeface="Segoe UI"/>
                        </a:rPr>
                        <a:t>11</a:t>
                      </a:r>
                    </a:p>
                  </a:txBody>
                  <a:tcPr marL="64008" marR="64008" marT="18288" marB="18288" anchor="ctr">
                    <a:solidFill>
                      <a:srgbClr val="FFFFFF"/>
                    </a:solidFill>
                  </a:tcPr>
                </a:tc>
                <a:tc>
                  <a:txBody>
                    <a:bodyPr/>
                    <a:lstStyle/>
                    <a:p>
                      <a:r>
                        <a:rPr sz="900" b="0">
                          <a:solidFill>
                            <a:srgbClr val="0B0B0B"/>
                          </a:solidFill>
                          <a:latin typeface="Segoe UI"/>
                        </a:rPr>
                        <a:t>Which study style sounds most like you?</a:t>
                      </a:r>
                    </a:p>
                  </a:txBody>
                  <a:tcPr marL="64008" marR="64008" marT="18288" marB="18288" anchor="ctr">
                    <a:solidFill>
                      <a:srgbClr val="FFFFFF"/>
                    </a:solidFill>
                  </a:tcPr>
                </a:tc>
                <a:tc>
                  <a:txBody>
                    <a:bodyPr/>
                    <a:lstStyle/>
                    <a:p>
                      <a:r>
                        <a:rPr sz="900" b="0">
                          <a:solidFill>
                            <a:srgbClr val="0B0B0B"/>
                          </a:solidFill>
                          <a:latin typeface="Segoe UI"/>
                        </a:rPr>
                        <a:t>Occasionally when necessary | Mostly just before exams | Regularly …</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1"/>
                  </a:ext>
                </a:extLst>
              </a:tr>
              <a:tr h="237744">
                <a:tc>
                  <a:txBody>
                    <a:bodyPr/>
                    <a:lstStyle/>
                    <a:p>
                      <a:r>
                        <a:rPr sz="900" b="0">
                          <a:solidFill>
                            <a:srgbClr val="0B0B0B"/>
                          </a:solidFill>
                          <a:latin typeface="Segoe UI"/>
                        </a:rPr>
                        <a:t>12</a:t>
                      </a:r>
                    </a:p>
                  </a:txBody>
                  <a:tcPr marL="64008" marR="64008" marT="18288" marB="18288" anchor="ctr">
                    <a:solidFill>
                      <a:srgbClr val="F7F8FA"/>
                    </a:solidFill>
                  </a:tcPr>
                </a:tc>
                <a:tc>
                  <a:txBody>
                    <a:bodyPr/>
                    <a:lstStyle/>
                    <a:p>
                      <a:r>
                        <a:rPr sz="900" b="0">
                          <a:solidFill>
                            <a:srgbClr val="0B0B0B"/>
                          </a:solidFill>
                          <a:latin typeface="Segoe UI"/>
                        </a:rPr>
                        <a:t>When a class ended, how much of the topic was usually clear to you?</a:t>
                      </a:r>
                    </a:p>
                  </a:txBody>
                  <a:tcPr marL="64008" marR="64008" marT="18288" marB="18288" anchor="ctr">
                    <a:solidFill>
                      <a:srgbClr val="F7F8FA"/>
                    </a:solidFill>
                  </a:tcPr>
                </a:tc>
                <a:tc>
                  <a:txBody>
                    <a:bodyPr/>
                    <a:lstStyle/>
                    <a:p>
                      <a:r>
                        <a:rPr sz="900" b="0">
                          <a:solidFill>
                            <a:srgbClr val="0B0B0B"/>
                          </a:solidFill>
                          <a:latin typeface="Segoe UI"/>
                        </a:rPr>
                        <a:t>Almost nothing | A little | About half | Most of it | Almost everyt…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2"/>
                  </a:ext>
                </a:extLst>
              </a:tr>
              <a:tr h="237744">
                <a:tc>
                  <a:txBody>
                    <a:bodyPr/>
                    <a:lstStyle/>
                    <a:p>
                      <a:r>
                        <a:rPr sz="900" b="0">
                          <a:solidFill>
                            <a:srgbClr val="0B0B0B"/>
                          </a:solidFill>
                          <a:latin typeface="Segoe UI"/>
                        </a:rPr>
                        <a:t>13</a:t>
                      </a:r>
                    </a:p>
                  </a:txBody>
                  <a:tcPr marL="64008" marR="64008" marT="18288" marB="18288" anchor="ctr">
                    <a:solidFill>
                      <a:srgbClr val="FFFFFF"/>
                    </a:solidFill>
                  </a:tcPr>
                </a:tc>
                <a:tc>
                  <a:txBody>
                    <a:bodyPr/>
                    <a:lstStyle/>
                    <a:p>
                      <a:r>
                        <a:rPr sz="900" b="0">
                          <a:solidFill>
                            <a:srgbClr val="0B0B0B"/>
                          </a:solidFill>
                          <a:latin typeface="Segoe UI"/>
                        </a:rPr>
                        <a:t>On a normal night, how much sleep did you get?</a:t>
                      </a:r>
                    </a:p>
                  </a:txBody>
                  <a:tcPr marL="64008" marR="64008" marT="18288" marB="18288" anchor="ctr">
                    <a:solidFill>
                      <a:srgbClr val="FFFFFF"/>
                    </a:solidFill>
                  </a:tcPr>
                </a:tc>
                <a:tc>
                  <a:txBody>
                    <a:bodyPr/>
                    <a:lstStyle/>
                    <a:p>
                      <a:r>
                        <a:rPr sz="900" b="0">
                          <a:solidFill>
                            <a:srgbClr val="0B0B0B"/>
                          </a:solidFill>
                          <a:latin typeface="Segoe UI"/>
                        </a:rPr>
                        <a:t>Less than 5 hrs | 5-6 hrs | 6-7 hrs | 7-8 hrs | More than 8 hrs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3"/>
                  </a:ext>
                </a:extLst>
              </a:tr>
              <a:tr h="237744">
                <a:tc>
                  <a:txBody>
                    <a:bodyPr/>
                    <a:lstStyle/>
                    <a:p>
                      <a:r>
                        <a:rPr sz="900" b="0">
                          <a:solidFill>
                            <a:srgbClr val="0B0B0B"/>
                          </a:solidFill>
                          <a:latin typeface="Segoe UI"/>
                        </a:rPr>
                        <a:t>14</a:t>
                      </a:r>
                    </a:p>
                  </a:txBody>
                  <a:tcPr marL="64008" marR="64008" marT="18288" marB="18288" anchor="ctr">
                    <a:solidFill>
                      <a:srgbClr val="F7F8FA"/>
                    </a:solidFill>
                  </a:tcPr>
                </a:tc>
                <a:tc>
                  <a:txBody>
                    <a:bodyPr/>
                    <a:lstStyle/>
                    <a:p>
                      <a:r>
                        <a:rPr sz="900" b="0">
                          <a:solidFill>
                            <a:srgbClr val="0B0B0B"/>
                          </a:solidFill>
                          <a:latin typeface="Segoe UI"/>
                        </a:rPr>
                        <a:t>How often did stress make it difficult for you to study</a:t>
                      </a:r>
                    </a:p>
                  </a:txBody>
                  <a:tcPr marL="64008" marR="64008" marT="18288" marB="18288" anchor="ctr">
                    <a:solidFill>
                      <a:srgbClr val="F7F8FA"/>
                    </a:solidFill>
                  </a:tcPr>
                </a:tc>
                <a:tc>
                  <a:txBody>
                    <a:bodyPr/>
                    <a:lstStyle/>
                    <a:p>
                      <a:r>
                        <a:rPr sz="900" b="0">
                          <a:solidFill>
                            <a:srgbClr val="0B0B0B"/>
                          </a:solidFill>
                          <a:latin typeface="Segoe UI"/>
                        </a:rPr>
                        <a:t>Never | Rarely | Sometimes | Often | Almost always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4"/>
                  </a:ext>
                </a:extLst>
              </a:tr>
              <a:tr h="237744">
                <a:tc>
                  <a:txBody>
                    <a:bodyPr/>
                    <a:lstStyle/>
                    <a:p>
                      <a:r>
                        <a:rPr sz="900" b="0">
                          <a:solidFill>
                            <a:srgbClr val="0B0B0B"/>
                          </a:solidFill>
                          <a:latin typeface="Segoe UI"/>
                        </a:rPr>
                        <a:t>15</a:t>
                      </a:r>
                    </a:p>
                  </a:txBody>
                  <a:tcPr marL="64008" marR="64008" marT="18288" marB="18288" anchor="ctr">
                    <a:solidFill>
                      <a:srgbClr val="FFFFFF"/>
                    </a:solidFill>
                  </a:tcPr>
                </a:tc>
                <a:tc>
                  <a:txBody>
                    <a:bodyPr/>
                    <a:lstStyle/>
                    <a:p>
                      <a:r>
                        <a:rPr sz="900" b="0">
                          <a:solidFill>
                            <a:srgbClr val="0B0B0B"/>
                          </a:solidFill>
                          <a:latin typeface="Segoe UI"/>
                        </a:rPr>
                        <a:t>How much time did tuition, a job, club activities or other responsibilities take each week</a:t>
                      </a:r>
                    </a:p>
                  </a:txBody>
                  <a:tcPr marL="64008" marR="64008" marT="18288" marB="18288" anchor="ctr">
                    <a:solidFill>
                      <a:srgbClr val="FFFFFF"/>
                    </a:solidFill>
                  </a:tcPr>
                </a:tc>
                <a:tc>
                  <a:txBody>
                    <a:bodyPr/>
                    <a:lstStyle/>
                    <a:p>
                      <a:r>
                        <a:rPr sz="900" b="0">
                          <a:solidFill>
                            <a:srgbClr val="0B0B0B"/>
                          </a:solidFill>
                          <a:latin typeface="Segoe UI"/>
                        </a:rPr>
                        <a:t>None | 1-5 hrs | 6-10 hrs | 11-15 hrs | More than 15 hrs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5"/>
                  </a:ext>
                </a:extLst>
              </a:tr>
              <a:tr h="237744">
                <a:tc>
                  <a:txBody>
                    <a:bodyPr/>
                    <a:lstStyle/>
                    <a:p>
                      <a:r>
                        <a:rPr sz="900" b="0">
                          <a:solidFill>
                            <a:srgbClr val="0B0B0B"/>
                          </a:solidFill>
                          <a:latin typeface="Segoe UI"/>
                        </a:rPr>
                        <a:t>16</a:t>
                      </a:r>
                    </a:p>
                  </a:txBody>
                  <a:tcPr marL="64008" marR="64008" marT="18288" marB="18288" anchor="ctr">
                    <a:solidFill>
                      <a:srgbClr val="F7F8FA"/>
                    </a:solidFill>
                  </a:tcPr>
                </a:tc>
                <a:tc>
                  <a:txBody>
                    <a:bodyPr/>
                    <a:lstStyle/>
                    <a:p>
                      <a:r>
                        <a:rPr sz="900" b="0">
                          <a:solidFill>
                            <a:srgbClr val="0B0B0B"/>
                          </a:solidFill>
                          <a:latin typeface="Segoe UI"/>
                        </a:rPr>
                        <a:t>How often did your phone, gaming, social media, or entertainment steal your planned study </a:t>
                      </a:r>
                    </a:p>
                  </a:txBody>
                  <a:tcPr marL="64008" marR="64008" marT="18288" marB="18288" anchor="ctr">
                    <a:solidFill>
                      <a:srgbClr val="F7F8FA"/>
                    </a:solidFill>
                  </a:tcPr>
                </a:tc>
                <a:tc>
                  <a:txBody>
                    <a:bodyPr/>
                    <a:lstStyle/>
                    <a:p>
                      <a:r>
                        <a:rPr sz="900" b="0">
                          <a:solidFill>
                            <a:srgbClr val="0B0B0B"/>
                          </a:solidFill>
                          <a:latin typeface="Segoe UI"/>
                        </a:rPr>
                        <a:t>Never | Rarely | Sometimes | Often | Almost every day</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6"/>
                  </a:ext>
                </a:extLst>
              </a:tr>
              <a:tr h="237744">
                <a:tc>
                  <a:txBody>
                    <a:bodyPr/>
                    <a:lstStyle/>
                    <a:p>
                      <a:r>
                        <a:rPr sz="900" b="0">
                          <a:solidFill>
                            <a:srgbClr val="0B0B0B"/>
                          </a:solidFill>
                          <a:latin typeface="Segoe UI"/>
                        </a:rPr>
                        <a:t>17</a:t>
                      </a:r>
                    </a:p>
                  </a:txBody>
                  <a:tcPr marL="64008" marR="64008" marT="18288" marB="18288" anchor="ctr">
                    <a:solidFill>
                      <a:srgbClr val="FFFFFF"/>
                    </a:solidFill>
                  </a:tcPr>
                </a:tc>
                <a:tc>
                  <a:txBody>
                    <a:bodyPr/>
                    <a:lstStyle/>
                    <a:p>
                      <a:r>
                        <a:rPr sz="900" b="0">
                          <a:solidFill>
                            <a:srgbClr val="0B0B0B"/>
                          </a:solidFill>
                          <a:latin typeface="Segoe UI"/>
                        </a:rPr>
                        <a:t>How study-friendly was the place where you lived?</a:t>
                      </a:r>
                    </a:p>
                  </a:txBody>
                  <a:tcPr marL="64008" marR="64008" marT="18288" marB="18288" anchor="ctr">
                    <a:solidFill>
                      <a:srgbClr val="FFFFFF"/>
                    </a:solidFill>
                  </a:tcPr>
                </a:tc>
                <a:tc>
                  <a:txBody>
                    <a:bodyPr/>
                    <a:lstStyle/>
                    <a:p>
                      <a:r>
                        <a:rPr sz="900" b="0">
                          <a:solidFill>
                            <a:srgbClr val="0B0B0B"/>
                          </a:solidFill>
                          <a:latin typeface="Segoe UI"/>
                        </a:rPr>
                        <a:t>Very distracting | Somewhat distracting | Neither good nor bad | Mo…</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7"/>
                  </a:ext>
                </a:extLst>
              </a:tr>
              <a:tr h="237744">
                <a:tc>
                  <a:txBody>
                    <a:bodyPr/>
                    <a:lstStyle/>
                    <a:p>
                      <a:r>
                        <a:rPr sz="900" b="0">
                          <a:solidFill>
                            <a:srgbClr val="0B0B0B"/>
                          </a:solidFill>
                          <a:latin typeface="Segoe UI"/>
                        </a:rPr>
                        <a:t>18</a:t>
                      </a:r>
                    </a:p>
                  </a:txBody>
                  <a:tcPr marL="64008" marR="64008" marT="18288" marB="18288" anchor="ctr">
                    <a:solidFill>
                      <a:srgbClr val="F7F8FA"/>
                    </a:solidFill>
                  </a:tcPr>
                </a:tc>
                <a:tc>
                  <a:txBody>
                    <a:bodyPr/>
                    <a:lstStyle/>
                    <a:p>
                      <a:r>
                        <a:rPr sz="900" b="0">
                          <a:solidFill>
                            <a:srgbClr val="0B0B0B"/>
                          </a:solidFill>
                          <a:latin typeface="Segoe UI"/>
                        </a:rPr>
                        <a:t>When academic life became difficult, how much support did you receive from family or close</a:t>
                      </a:r>
                    </a:p>
                  </a:txBody>
                  <a:tcPr marL="64008" marR="64008" marT="18288" marB="18288" anchor="ctr">
                    <a:solidFill>
                      <a:srgbClr val="F7F8FA"/>
                    </a:solidFill>
                  </a:tcPr>
                </a:tc>
                <a:tc>
                  <a:txBody>
                    <a:bodyPr/>
                    <a:lstStyle/>
                    <a:p>
                      <a:r>
                        <a:rPr sz="900" b="0">
                          <a:solidFill>
                            <a:srgbClr val="0B0B0B"/>
                          </a:solidFill>
                          <a:latin typeface="Segoe UI"/>
                        </a:rPr>
                        <a:t>No support | Very little support | Some support | Good support | St…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extLst>
                  <a:ext uri="{0D108BD9-81ED-4DB2-BD59-A6C34878D82A}">
                    <a16:rowId xmlns:a16="http://schemas.microsoft.com/office/drawing/2014/main" val="10018"/>
                  </a:ext>
                </a:extLst>
              </a:tr>
              <a:tr h="237744">
                <a:tc>
                  <a:txBody>
                    <a:bodyPr/>
                    <a:lstStyle/>
                    <a:p>
                      <a:r>
                        <a:rPr sz="900" b="0">
                          <a:solidFill>
                            <a:srgbClr val="0B0B0B"/>
                          </a:solidFill>
                          <a:latin typeface="Segoe UI"/>
                        </a:rPr>
                        <a:t>19</a:t>
                      </a:r>
                    </a:p>
                  </a:txBody>
                  <a:tcPr marL="64008" marR="64008" marT="18288" marB="18288" anchor="ctr">
                    <a:solidFill>
                      <a:srgbClr val="FFFFFF"/>
                    </a:solidFill>
                  </a:tcPr>
                </a:tc>
                <a:tc>
                  <a:txBody>
                    <a:bodyPr/>
                    <a:lstStyle/>
                    <a:p>
                      <a:r>
                        <a:rPr sz="900" b="0">
                          <a:solidFill>
                            <a:srgbClr val="0B0B0B"/>
                          </a:solidFill>
                          <a:latin typeface="Segoe UI"/>
                        </a:rPr>
                        <a:t>Overall, how healthy and manageable was your semester routine?</a:t>
                      </a:r>
                    </a:p>
                  </a:txBody>
                  <a:tcPr marL="64008" marR="64008" marT="18288" marB="18288" anchor="ctr">
                    <a:solidFill>
                      <a:srgbClr val="FFFFFF"/>
                    </a:solidFill>
                  </a:tcPr>
                </a:tc>
                <a:tc>
                  <a:txBody>
                    <a:bodyPr/>
                    <a:lstStyle/>
                    <a:p>
                      <a:r>
                        <a:rPr sz="900" b="0">
                          <a:solidFill>
                            <a:srgbClr val="0B0B0B"/>
                          </a:solidFill>
                          <a:latin typeface="Segoe UI"/>
                        </a:rPr>
                        <a:t>Completely unmanageable | Difficult to manage | Average | Mostly ma…</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extLst>
                  <a:ext uri="{0D108BD9-81ED-4DB2-BD59-A6C34878D82A}">
                    <a16:rowId xmlns:a16="http://schemas.microsoft.com/office/drawing/2014/main" val="10019"/>
                  </a:ext>
                </a:extLst>
              </a:tr>
              <a:tr h="237744">
                <a:tc>
                  <a:txBody>
                    <a:bodyPr/>
                    <a:lstStyle/>
                    <a:p>
                      <a:r>
                        <a:rPr sz="900" b="0">
                          <a:solidFill>
                            <a:srgbClr val="0B0B0B"/>
                          </a:solidFill>
                          <a:latin typeface="Segoe UI"/>
                        </a:rPr>
                        <a:t>20</a:t>
                      </a:r>
                    </a:p>
                  </a:txBody>
                  <a:tcPr marL="64008" marR="64008" marT="18288" marB="18288" anchor="ctr">
                    <a:solidFill>
                      <a:srgbClr val="F7F8FA"/>
                    </a:solidFill>
                  </a:tcPr>
                </a:tc>
                <a:tc>
                  <a:txBody>
                    <a:bodyPr/>
                    <a:lstStyle/>
                    <a:p>
                      <a:r>
                        <a:rPr sz="900" b="0">
                          <a:solidFill>
                            <a:srgbClr val="0B0B0B"/>
                          </a:solidFill>
                          <a:latin typeface="Segoe UI"/>
                        </a:rPr>
                        <a:t>Do you think this course of study will take you to your dream career?</a:t>
                      </a:r>
                    </a:p>
                  </a:txBody>
                  <a:tcPr marL="64008" marR="64008" marT="18288" marB="18288" anchor="ctr">
                    <a:solidFill>
                      <a:srgbClr val="F7F8FA"/>
                    </a:solidFill>
                  </a:tcPr>
                </a:tc>
                <a:tc>
                  <a:txBody>
                    <a:bodyPr/>
                    <a:lstStyle/>
                    <a:p>
                      <a:r>
                        <a:rPr sz="900" b="0">
                          <a:solidFill>
                            <a:srgbClr val="0B0B0B"/>
                          </a:solidFill>
                          <a:latin typeface="Segoe UI"/>
                        </a:rPr>
                        <a:t>Not at all | Slightly | Somewhat | Mostly | Completely</a:t>
                      </a:r>
                    </a:p>
                  </a:txBody>
                  <a:tcPr marL="64008" marR="64008" marT="18288" marB="18288" anchor="ctr">
                    <a:solidFill>
                      <a:srgbClr val="F7F8FA"/>
                    </a:solidFill>
                  </a:tcPr>
                </a:tc>
                <a:tc>
                  <a:txBody>
                    <a:bodyPr/>
                    <a:lstStyle/>
                    <a:p>
                      <a:r>
                        <a:rPr sz="900" b="0">
                          <a:solidFill>
                            <a:srgbClr val="0B0B0B"/>
                          </a:solidFill>
                          <a:latin typeface="Segoe UI"/>
                        </a:rPr>
                        <a:t>—</a:t>
                      </a:r>
                    </a:p>
                  </a:txBody>
                  <a:tcPr marL="64008" marR="64008" marT="18288" marB="18288" anchor="ctr">
                    <a:solidFill>
                      <a:srgbClr val="F7F8FA"/>
                    </a:solidFill>
                  </a:tcPr>
                </a:tc>
                <a:extLst>
                  <a:ext uri="{0D108BD9-81ED-4DB2-BD59-A6C34878D82A}">
                    <a16:rowId xmlns:a16="http://schemas.microsoft.com/office/drawing/2014/main" val="10020"/>
                  </a:ext>
                </a:extLst>
              </a:tr>
            </a:tbl>
          </a:graphicData>
        </a:graphic>
      </p:graphicFrame>
      <p:sp>
        <p:nvSpPr>
          <p:cNvPr id="8" name="SimpleLightSectionLabel">
            <a:extLst>
              <a:ext uri="{FF2B5EF4-FFF2-40B4-BE49-F238E27FC236}">
                <a16:creationId xmlns:a16="http://schemas.microsoft.com/office/drawing/2014/main" id="{6687B5C7-AC5A-47CC-B1FB-49052B516A33}"/>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Data Dictionary: Feature → Type → Used Where</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55</a:t>
            </a:r>
          </a:p>
        </p:txBody>
      </p:sp>
      <p:graphicFrame>
        <p:nvGraphicFramePr>
          <p:cNvPr id="7" name="Table 6"/>
          <p:cNvGraphicFramePr>
            <a:graphicFrameLocks noGrp="1"/>
          </p:cNvGraphicFramePr>
          <p:nvPr>
            <p:extLst>
              <p:ext uri="{D42A27DB-BD31-4B8C-83A1-F6EECF244321}">
                <p14:modId xmlns:p14="http://schemas.microsoft.com/office/powerpoint/2010/main" val="4249544460"/>
              </p:ext>
            </p:extLst>
          </p:nvPr>
        </p:nvGraphicFramePr>
        <p:xfrm>
          <a:off x="457200" y="1234440"/>
          <a:ext cx="11247120" cy="537667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3108960">
                  <a:extLst>
                    <a:ext uri="{9D8B030D-6E8A-4147-A177-3AD203B41FA5}">
                      <a16:colId xmlns:a16="http://schemas.microsoft.com/office/drawing/2014/main" val="20006"/>
                    </a:ext>
                  </a:extLst>
                </a:gridCol>
              </a:tblGrid>
              <a:tr h="224028">
                <a:tc>
                  <a:txBody>
                    <a:bodyPr/>
                    <a:lstStyle/>
                    <a:p>
                      <a:r>
                        <a:rPr sz="900" b="1">
                          <a:solidFill>
                            <a:srgbClr val="FFFFFF"/>
                          </a:solidFill>
                          <a:latin typeface="Segoe UI"/>
                        </a:rPr>
                        <a:t>Feature</a:t>
                      </a:r>
                    </a:p>
                  </a:txBody>
                  <a:tcPr marL="64008" marR="64008" marT="18288" marB="18288" anchor="ctr">
                    <a:solidFill>
                      <a:srgbClr val="1F3B5C"/>
                    </a:solidFill>
                  </a:tcPr>
                </a:tc>
                <a:tc>
                  <a:txBody>
                    <a:bodyPr/>
                    <a:lstStyle/>
                    <a:p>
                      <a:r>
                        <a:rPr sz="900" b="1">
                          <a:solidFill>
                            <a:srgbClr val="FFFFFF"/>
                          </a:solidFill>
                          <a:latin typeface="Segoe UI"/>
                        </a:rPr>
                        <a:t>Slide label</a:t>
                      </a:r>
                    </a:p>
                  </a:txBody>
                  <a:tcPr marL="64008" marR="64008" marT="18288" marB="18288" anchor="ctr">
                    <a:solidFill>
                      <a:srgbClr val="1F3B5C"/>
                    </a:solidFill>
                  </a:tcPr>
                </a:tc>
                <a:tc>
                  <a:txBody>
                    <a:bodyPr/>
                    <a:lstStyle/>
                    <a:p>
                      <a:r>
                        <a:rPr sz="900" b="1">
                          <a:solidFill>
                            <a:srgbClr val="FFFFFF"/>
                          </a:solidFill>
                          <a:latin typeface="Segoe UI"/>
                        </a:rPr>
                        <a:t>Group</a:t>
                      </a:r>
                    </a:p>
                  </a:txBody>
                  <a:tcPr marL="64008" marR="64008" marT="18288" marB="18288" anchor="ctr">
                    <a:solidFill>
                      <a:srgbClr val="1F3B5C"/>
                    </a:solidFill>
                  </a:tcPr>
                </a:tc>
                <a:tc>
                  <a:txBody>
                    <a:bodyPr/>
                    <a:lstStyle/>
                    <a:p>
                      <a:r>
                        <a:rPr sz="900" b="1">
                          <a:solidFill>
                            <a:srgbClr val="FFFFFF"/>
                          </a:solidFill>
                          <a:latin typeface="Segoe UI"/>
                        </a:rPr>
                        <a:t>Type</a:t>
                      </a:r>
                    </a:p>
                  </a:txBody>
                  <a:tcPr marL="64008" marR="64008" marT="18288" marB="18288" anchor="ctr">
                    <a:solidFill>
                      <a:srgbClr val="1F3B5C"/>
                    </a:solidFill>
                  </a:tcPr>
                </a:tc>
                <a:tc>
                  <a:txBody>
                    <a:bodyPr/>
                    <a:lstStyle/>
                    <a:p>
                      <a:r>
                        <a:rPr lang="en-US" sz="900" b="1">
                          <a:solidFill>
                            <a:srgbClr val="FFFFFF"/>
                          </a:solidFill>
                          <a:latin typeface="Segoe UI"/>
                        </a:rPr>
                        <a:t>Questionnaire trees</a:t>
                      </a:r>
                      <a:endParaRPr sz="900" b="1">
                        <a:solidFill>
                          <a:srgbClr val="FFFFFF"/>
                        </a:solidFill>
                        <a:latin typeface="Segoe UI"/>
                      </a:endParaRPr>
                    </a:p>
                  </a:txBody>
                  <a:tcPr marL="64008" marR="64008" marT="18288" marB="18288" anchor="ctr">
                    <a:solidFill>
                      <a:srgbClr val="1F3B5C"/>
                    </a:solidFill>
                  </a:tcPr>
                </a:tc>
                <a:tc>
                  <a:txBody>
                    <a:bodyPr/>
                    <a:lstStyle/>
                    <a:p>
                      <a:r>
                        <a:rPr lang="en-US" sz="900" b="1">
                          <a:solidFill>
                            <a:srgbClr val="FFFFFF"/>
                          </a:solidFill>
                          <a:latin typeface="Segoe UI"/>
                        </a:rPr>
                        <a:t>Main CGPA tree</a:t>
                      </a:r>
                      <a:endParaRPr sz="900" b="1">
                        <a:solidFill>
                          <a:srgbClr val="FFFFFF"/>
                        </a:solidFill>
                        <a:latin typeface="Segoe UI"/>
                      </a:endParaRPr>
                    </a:p>
                  </a:txBody>
                  <a:tcPr marL="64008" marR="64008" marT="18288" marB="18288" anchor="ctr">
                    <a:solidFill>
                      <a:srgbClr val="1F3B5C"/>
                    </a:solidFill>
                  </a:tcPr>
                </a:tc>
                <a:tc>
                  <a:txBody>
                    <a:bodyPr/>
                    <a:lstStyle/>
                    <a:p>
                      <a:r>
                        <a:rPr sz="900" b="1">
                          <a:solidFill>
                            <a:srgbClr val="FFFFFF"/>
                          </a:solidFill>
                          <a:latin typeface="Segoe UI"/>
                        </a:rPr>
                        <a:t>Blank handling</a:t>
                      </a:r>
                    </a:p>
                  </a:txBody>
                  <a:tcPr marL="64008" marR="64008" marT="18288" marB="18288" anchor="ctr">
                    <a:solidFill>
                      <a:srgbClr val="1F3B5C"/>
                    </a:solidFill>
                  </a:tcPr>
                </a:tc>
                <a:extLst>
                  <a:ext uri="{0D108BD9-81ED-4DB2-BD59-A6C34878D82A}">
                    <a16:rowId xmlns:a16="http://schemas.microsoft.com/office/drawing/2014/main" val="10000"/>
                  </a:ext>
                </a:extLst>
              </a:tr>
              <a:tr h="224028">
                <a:tc>
                  <a:txBody>
                    <a:bodyPr/>
                    <a:lstStyle/>
                    <a:p>
                      <a:r>
                        <a:rPr sz="900" b="0">
                          <a:solidFill>
                            <a:srgbClr val="0B0B0B"/>
                          </a:solidFill>
                          <a:latin typeface="Segoe UI"/>
                        </a:rPr>
                        <a:t>university</a:t>
                      </a:r>
                    </a:p>
                  </a:txBody>
                  <a:tcPr marL="64008" marR="64008" marT="18288" marB="18288" anchor="ctr">
                    <a:solidFill>
                      <a:srgbClr val="FFFFFF"/>
                    </a:solidFill>
                  </a:tcPr>
                </a:tc>
                <a:tc>
                  <a:txBody>
                    <a:bodyPr/>
                    <a:lstStyle/>
                    <a:p>
                      <a:r>
                        <a:rPr sz="900" b="0">
                          <a:solidFill>
                            <a:srgbClr val="0B0B0B"/>
                          </a:solidFill>
                          <a:latin typeface="Segoe UI"/>
                        </a:rPr>
                        <a:t>University</a:t>
                      </a:r>
                    </a:p>
                  </a:txBody>
                  <a:tcPr marL="64008" marR="64008" marT="18288" marB="18288" anchor="ctr">
                    <a:solidFill>
                      <a:srgbClr val="FFFFFF"/>
                    </a:solidFill>
                  </a:tcPr>
                </a:tc>
                <a:tc>
                  <a:txBody>
                    <a:bodyPr/>
                    <a:lstStyle/>
                    <a:p>
                      <a:r>
                        <a:rPr sz="900" b="0">
                          <a:solidFill>
                            <a:srgbClr val="0B0B0B"/>
                          </a:solidFill>
                          <a:latin typeface="Segoe UI"/>
                        </a:rPr>
                        <a:t>Academic</a:t>
                      </a:r>
                    </a:p>
                  </a:txBody>
                  <a:tcPr marL="64008" marR="64008" marT="18288" marB="18288" anchor="ctr">
                    <a:solidFill>
                      <a:srgbClr val="FFFFFF"/>
                    </a:solidFill>
                  </a:tcPr>
                </a:tc>
                <a:tc>
                  <a:txBody>
                    <a:bodyPr/>
                    <a:lstStyle/>
                    <a:p>
                      <a:r>
                        <a:rPr sz="900" b="0">
                          <a:solidFill>
                            <a:srgbClr val="0B0B0B"/>
                          </a:solidFill>
                          <a:latin typeface="Segoe UI"/>
                        </a:rPr>
                        <a:t>nominal</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KUET rows set to KUET (single-university form); 9 spelling</a:t>
                      </a:r>
                    </a:p>
                  </a:txBody>
                  <a:tcPr marL="64008" marR="64008" marT="18288" marB="18288" anchor="ctr">
                    <a:solidFill>
                      <a:srgbClr val="FFFFFF"/>
                    </a:solidFill>
                  </a:tcPr>
                </a:tc>
                <a:extLst>
                  <a:ext uri="{0D108BD9-81ED-4DB2-BD59-A6C34878D82A}">
                    <a16:rowId xmlns:a16="http://schemas.microsoft.com/office/drawing/2014/main" val="10001"/>
                  </a:ext>
                </a:extLst>
              </a:tr>
              <a:tr h="224028">
                <a:tc>
                  <a:txBody>
                    <a:bodyPr/>
                    <a:lstStyle/>
                    <a:p>
                      <a:r>
                        <a:rPr sz="900" b="0">
                          <a:solidFill>
                            <a:srgbClr val="0B0B0B"/>
                          </a:solidFill>
                          <a:latin typeface="Segoe UI"/>
                        </a:rPr>
                        <a:t>department_other</a:t>
                      </a:r>
                    </a:p>
                  </a:txBody>
                  <a:tcPr marL="64008" marR="64008" marT="18288" marB="18288" anchor="ctr">
                    <a:solidFill>
                      <a:srgbClr val="F7F8FA"/>
                    </a:solidFill>
                  </a:tcPr>
                </a:tc>
                <a:tc>
                  <a:txBody>
                    <a:bodyPr/>
                    <a:lstStyle/>
                    <a:p>
                      <a:r>
                        <a:rPr sz="900" b="0">
                          <a:solidFill>
                            <a:srgbClr val="0B0B0B"/>
                          </a:solidFill>
                          <a:latin typeface="Segoe UI"/>
                        </a:rPr>
                        <a:t>Department other</a:t>
                      </a:r>
                    </a:p>
                  </a:txBody>
                  <a:tcPr marL="64008" marR="64008" marT="18288" marB="18288" anchor="ctr">
                    <a:solidFill>
                      <a:srgbClr val="F7F8FA"/>
                    </a:solidFill>
                  </a:tcPr>
                </a:tc>
                <a:tc>
                  <a:txBody>
                    <a:bodyPr/>
                    <a:lstStyle/>
                    <a:p>
                      <a:r>
                        <a:rPr sz="900" b="0">
                          <a:solidFill>
                            <a:srgbClr val="0B0B0B"/>
                          </a:solidFill>
                          <a:latin typeface="Segoe UI"/>
                        </a:rPr>
                        <a:t>Academic</a:t>
                      </a:r>
                    </a:p>
                  </a:txBody>
                  <a:tcPr marL="64008" marR="64008" marT="18288" marB="18288" anchor="ctr">
                    <a:solidFill>
                      <a:srgbClr val="F7F8FA"/>
                    </a:solidFill>
                  </a:tcPr>
                </a:tc>
                <a:tc>
                  <a:txBody>
                    <a:bodyPr/>
                    <a:lstStyle/>
                    <a:p>
                      <a:r>
                        <a:rPr sz="900" b="0">
                          <a:solidFill>
                            <a:srgbClr val="0B0B0B"/>
                          </a:solidFill>
                          <a:latin typeface="Segoe UI"/>
                        </a:rPr>
                        <a:t>free text</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Merged into department</a:t>
                      </a:r>
                    </a:p>
                  </a:txBody>
                  <a:tcPr marL="64008" marR="64008" marT="18288" marB="18288" anchor="ctr">
                    <a:solidFill>
                      <a:srgbClr val="F7F8FA"/>
                    </a:solidFill>
                  </a:tcPr>
                </a:tc>
                <a:extLst>
                  <a:ext uri="{0D108BD9-81ED-4DB2-BD59-A6C34878D82A}">
                    <a16:rowId xmlns:a16="http://schemas.microsoft.com/office/drawing/2014/main" val="10002"/>
                  </a:ext>
                </a:extLst>
              </a:tr>
              <a:tr h="224028">
                <a:tc>
                  <a:txBody>
                    <a:bodyPr/>
                    <a:lstStyle/>
                    <a:p>
                      <a:r>
                        <a:rPr sz="900" b="0">
                          <a:solidFill>
                            <a:srgbClr val="0B0B0B"/>
                          </a:solidFill>
                          <a:latin typeface="Segoe UI"/>
                        </a:rPr>
                        <a:t>timestamp</a:t>
                      </a:r>
                    </a:p>
                  </a:txBody>
                  <a:tcPr marL="64008" marR="64008" marT="18288" marB="18288" anchor="ctr">
                    <a:solidFill>
                      <a:srgbClr val="FFFFFF"/>
                    </a:solidFill>
                  </a:tcPr>
                </a:tc>
                <a:tc>
                  <a:txBody>
                    <a:bodyPr/>
                    <a:lstStyle/>
                    <a:p>
                      <a:r>
                        <a:rPr sz="900" b="0">
                          <a:solidFill>
                            <a:srgbClr val="0B0B0B"/>
                          </a:solidFill>
                          <a:latin typeface="Segoe UI"/>
                        </a:rPr>
                        <a:t>Timestamp</a:t>
                      </a:r>
                    </a:p>
                  </a:txBody>
                  <a:tcPr marL="64008" marR="64008" marT="18288" marB="18288" anchor="ctr">
                    <a:solidFill>
                      <a:srgbClr val="FFFFFF"/>
                    </a:solidFill>
                  </a:tcPr>
                </a:tc>
                <a:tc>
                  <a:txBody>
                    <a:bodyPr/>
                    <a:lstStyle/>
                    <a:p>
                      <a:r>
                        <a:rPr sz="900" b="0">
                          <a:solidFill>
                            <a:srgbClr val="0B0B0B"/>
                          </a:solidFill>
                          <a:latin typeface="Segoe UI"/>
                        </a:rPr>
                        <a:t>Admin</a:t>
                      </a:r>
                    </a:p>
                  </a:txBody>
                  <a:tcPr marL="64008" marR="64008" marT="18288" marB="18288" anchor="ctr">
                    <a:solidFill>
                      <a:srgbClr val="FFFFFF"/>
                    </a:solidFill>
                  </a:tcPr>
                </a:tc>
                <a:tc>
                  <a:txBody>
                    <a:bodyPr/>
                    <a:lstStyle/>
                    <a:p>
                      <a:r>
                        <a:rPr sz="900" b="0">
                          <a:solidFill>
                            <a:srgbClr val="0B0B0B"/>
                          </a:solidFill>
                          <a:latin typeface="Segoe UI"/>
                        </a:rPr>
                        <a:t>datetime</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Dropped</a:t>
                      </a:r>
                    </a:p>
                  </a:txBody>
                  <a:tcPr marL="64008" marR="64008" marT="18288" marB="18288" anchor="ctr">
                    <a:solidFill>
                      <a:srgbClr val="FFFFFF"/>
                    </a:solidFill>
                  </a:tcPr>
                </a:tc>
                <a:extLst>
                  <a:ext uri="{0D108BD9-81ED-4DB2-BD59-A6C34878D82A}">
                    <a16:rowId xmlns:a16="http://schemas.microsoft.com/office/drawing/2014/main" val="10003"/>
                  </a:ext>
                </a:extLst>
              </a:tr>
              <a:tr h="224028">
                <a:tc>
                  <a:txBody>
                    <a:bodyPr/>
                    <a:lstStyle/>
                    <a:p>
                      <a:r>
                        <a:rPr sz="900" b="0">
                          <a:solidFill>
                            <a:srgbClr val="0B0B0B"/>
                          </a:solidFill>
                          <a:latin typeface="Segoe UI"/>
                        </a:rPr>
                        <a:t>department</a:t>
                      </a:r>
                    </a:p>
                  </a:txBody>
                  <a:tcPr marL="64008" marR="64008" marT="18288" marB="18288" anchor="ctr">
                    <a:solidFill>
                      <a:srgbClr val="F7F8FA"/>
                    </a:solidFill>
                  </a:tcPr>
                </a:tc>
                <a:tc>
                  <a:txBody>
                    <a:bodyPr/>
                    <a:lstStyle/>
                    <a:p>
                      <a:r>
                        <a:rPr sz="900" b="0">
                          <a:solidFill>
                            <a:srgbClr val="0B0B0B"/>
                          </a:solidFill>
                          <a:latin typeface="Segoe UI"/>
                        </a:rPr>
                        <a:t>Department</a:t>
                      </a:r>
                    </a:p>
                  </a:txBody>
                  <a:tcPr marL="64008" marR="64008" marT="18288" marB="18288" anchor="ctr">
                    <a:solidFill>
                      <a:srgbClr val="F7F8FA"/>
                    </a:solidFill>
                  </a:tcPr>
                </a:tc>
                <a:tc>
                  <a:txBody>
                    <a:bodyPr/>
                    <a:lstStyle/>
                    <a:p>
                      <a:r>
                        <a:rPr sz="900" b="0">
                          <a:solidFill>
                            <a:srgbClr val="0B0B0B"/>
                          </a:solidFill>
                          <a:latin typeface="Segoe UI"/>
                        </a:rPr>
                        <a:t>Academic</a:t>
                      </a:r>
                    </a:p>
                  </a:txBody>
                  <a:tcPr marL="64008" marR="64008" marT="18288" marB="18288" anchor="ctr">
                    <a:solidFill>
                      <a:srgbClr val="F7F8FA"/>
                    </a:solidFill>
                  </a:tcPr>
                </a:tc>
                <a:tc>
                  <a:txBody>
                    <a:bodyPr/>
                    <a:lstStyle/>
                    <a:p>
                      <a:r>
                        <a:rPr sz="900" b="0">
                          <a:solidFill>
                            <a:srgbClr val="0B0B0B"/>
                          </a:solidFill>
                          <a:latin typeface="Segoe UI"/>
                        </a:rPr>
                        <a:t>nominal (free text)</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110 spellings -&gt; 24 departments -&gt; 18 groups (&lt;15 students</a:t>
                      </a:r>
                    </a:p>
                  </a:txBody>
                  <a:tcPr marL="64008" marR="64008" marT="18288" marB="18288" anchor="ctr">
                    <a:solidFill>
                      <a:srgbClr val="F7F8FA"/>
                    </a:solidFill>
                  </a:tcPr>
                </a:tc>
                <a:extLst>
                  <a:ext uri="{0D108BD9-81ED-4DB2-BD59-A6C34878D82A}">
                    <a16:rowId xmlns:a16="http://schemas.microsoft.com/office/drawing/2014/main" val="10004"/>
                  </a:ext>
                </a:extLst>
              </a:tr>
              <a:tr h="224028">
                <a:tc>
                  <a:txBody>
                    <a:bodyPr/>
                    <a:lstStyle/>
                    <a:p>
                      <a:r>
                        <a:rPr sz="900" b="0">
                          <a:solidFill>
                            <a:srgbClr val="0B0B0B"/>
                          </a:solidFill>
                          <a:latin typeface="Segoe UI"/>
                        </a:rPr>
                        <a:t>semester</a:t>
                      </a:r>
                    </a:p>
                  </a:txBody>
                  <a:tcPr marL="64008" marR="64008" marT="18288" marB="18288" anchor="ctr">
                    <a:solidFill>
                      <a:srgbClr val="FFFFFF"/>
                    </a:solidFill>
                  </a:tcPr>
                </a:tc>
                <a:tc>
                  <a:txBody>
                    <a:bodyPr/>
                    <a:lstStyle/>
                    <a:p>
                      <a:r>
                        <a:rPr sz="900" b="0">
                          <a:solidFill>
                            <a:srgbClr val="0B0B0B"/>
                          </a:solidFill>
                          <a:latin typeface="Segoe UI"/>
                        </a:rPr>
                        <a:t>Semester</a:t>
                      </a:r>
                    </a:p>
                  </a:txBody>
                  <a:tcPr marL="64008" marR="64008" marT="18288" marB="18288" anchor="ctr">
                    <a:solidFill>
                      <a:srgbClr val="FFFFFF"/>
                    </a:solidFill>
                  </a:tcPr>
                </a:tc>
                <a:tc>
                  <a:txBody>
                    <a:bodyPr/>
                    <a:lstStyle/>
                    <a:p>
                      <a:r>
                        <a:rPr sz="900" b="0">
                          <a:solidFill>
                            <a:srgbClr val="0B0B0B"/>
                          </a:solidFill>
                          <a:latin typeface="Segoe UI"/>
                        </a:rPr>
                        <a:t>Academic</a:t>
                      </a:r>
                    </a:p>
                  </a:txBody>
                  <a:tcPr marL="64008" marR="64008" marT="18288" marB="18288" anchor="ctr">
                    <a:solidFill>
                      <a:srgbClr val="FFFFFF"/>
                    </a:solidFill>
                  </a:tcPr>
                </a:tc>
                <a:tc>
                  <a:txBody>
                    <a:bodyPr/>
                    <a:lstStyle/>
                    <a:p>
                      <a:r>
                        <a:rPr sz="900" b="0">
                          <a:solidFill>
                            <a:srgbClr val="0B0B0B"/>
                          </a:solidFill>
                          <a:latin typeface="Segoe UI"/>
                        </a:rPr>
                        <a:t>ordinal number</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2 blanks -&gt; median semester of the same university</a:t>
                      </a:r>
                    </a:p>
                  </a:txBody>
                  <a:tcPr marL="64008" marR="64008" marT="18288" marB="18288" anchor="ctr">
                    <a:solidFill>
                      <a:srgbClr val="FFFFFF"/>
                    </a:solidFill>
                  </a:tcPr>
                </a:tc>
                <a:extLst>
                  <a:ext uri="{0D108BD9-81ED-4DB2-BD59-A6C34878D82A}">
                    <a16:rowId xmlns:a16="http://schemas.microsoft.com/office/drawing/2014/main" val="10005"/>
                  </a:ext>
                </a:extLst>
              </a:tr>
              <a:tr h="224028">
                <a:tc>
                  <a:txBody>
                    <a:bodyPr/>
                    <a:lstStyle/>
                    <a:p>
                      <a:r>
                        <a:rPr sz="900" b="0">
                          <a:solidFill>
                            <a:srgbClr val="0B0B0B"/>
                          </a:solidFill>
                          <a:latin typeface="Segoe UI"/>
                        </a:rPr>
                        <a:t>recent_sgpa</a:t>
                      </a:r>
                    </a:p>
                  </a:txBody>
                  <a:tcPr marL="64008" marR="64008" marT="18288" marB="18288" anchor="ctr">
                    <a:solidFill>
                      <a:srgbClr val="F7F8FA"/>
                    </a:solidFill>
                  </a:tcPr>
                </a:tc>
                <a:tc>
                  <a:txBody>
                    <a:bodyPr/>
                    <a:lstStyle/>
                    <a:p>
                      <a:r>
                        <a:rPr sz="900" b="0">
                          <a:solidFill>
                            <a:srgbClr val="0B0B0B"/>
                          </a:solidFill>
                          <a:latin typeface="Segoe UI"/>
                        </a:rPr>
                        <a:t>Recent semester SGPA</a:t>
                      </a:r>
                    </a:p>
                  </a:txBody>
                  <a:tcPr marL="64008" marR="64008" marT="18288" marB="18288" anchor="ctr">
                    <a:solidFill>
                      <a:srgbClr val="F7F8FA"/>
                    </a:solidFill>
                  </a:tcPr>
                </a:tc>
                <a:tc>
                  <a:txBody>
                    <a:bodyPr/>
                    <a:lstStyle/>
                    <a:p>
                      <a:r>
                        <a:rPr sz="900" b="0">
                          <a:solidFill>
                            <a:srgbClr val="0B0B0B"/>
                          </a:solidFill>
                          <a:latin typeface="Segoe UI"/>
                        </a:rPr>
                        <a:t>Academic</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6 rows without a real SGPA removed</a:t>
                      </a:r>
                    </a:p>
                  </a:txBody>
                  <a:tcPr marL="64008" marR="64008" marT="18288" marB="18288" anchor="ctr">
                    <a:solidFill>
                      <a:srgbClr val="F7F8FA"/>
                    </a:solidFill>
                  </a:tcPr>
                </a:tc>
                <a:extLst>
                  <a:ext uri="{0D108BD9-81ED-4DB2-BD59-A6C34878D82A}">
                    <a16:rowId xmlns:a16="http://schemas.microsoft.com/office/drawing/2014/main" val="10006"/>
                  </a:ext>
                </a:extLst>
              </a:tr>
              <a:tr h="224028">
                <a:tc>
                  <a:txBody>
                    <a:bodyPr/>
                    <a:lstStyle/>
                    <a:p>
                      <a:r>
                        <a:rPr sz="900" b="0">
                          <a:solidFill>
                            <a:srgbClr val="0B0B0B"/>
                          </a:solidFill>
                          <a:latin typeface="Segoe UI"/>
                        </a:rPr>
                        <a:t>cgpa</a:t>
                      </a:r>
                    </a:p>
                  </a:txBody>
                  <a:tcPr marL="64008" marR="64008" marT="18288" marB="18288" anchor="ctr">
                    <a:solidFill>
                      <a:srgbClr val="FFFFFF"/>
                    </a:solidFill>
                  </a:tcPr>
                </a:tc>
                <a:tc>
                  <a:txBody>
                    <a:bodyPr/>
                    <a:lstStyle/>
                    <a:p>
                      <a:r>
                        <a:rPr sz="900" b="0">
                          <a:solidFill>
                            <a:srgbClr val="0B0B0B"/>
                          </a:solidFill>
                          <a:latin typeface="Segoe UI"/>
                        </a:rPr>
                        <a:t>Cgpa</a:t>
                      </a:r>
                    </a:p>
                  </a:txBody>
                  <a:tcPr marL="64008" marR="64008" marT="18288" marB="18288" anchor="ctr">
                    <a:solidFill>
                      <a:srgbClr val="FFFFFF"/>
                    </a:solidFill>
                  </a:tcPr>
                </a:tc>
                <a:tc>
                  <a:txBody>
                    <a:bodyPr/>
                    <a:lstStyle/>
                    <a:p>
                      <a:r>
                        <a:rPr sz="900" b="0">
                          <a:solidFill>
                            <a:srgbClr val="0B0B0B"/>
                          </a:solidFill>
                          <a:latin typeface="Segoe UI"/>
                        </a:rPr>
                        <a:t>Target</a:t>
                      </a:r>
                    </a:p>
                  </a:txBody>
                  <a:tcPr marL="64008" marR="64008" marT="18288" marB="18288" anchor="ctr">
                    <a:solidFill>
                      <a:srgbClr val="FFFFFF"/>
                    </a:solidFill>
                  </a:tcPr>
                </a:tc>
                <a:tc>
                  <a:txBody>
                    <a:bodyPr/>
                    <a:lstStyle/>
                    <a:p>
                      <a:r>
                        <a:rPr sz="900" b="0">
                          <a:solidFill>
                            <a:srgbClr val="0B0B0B"/>
                          </a:solidFill>
                          <a:latin typeface="Segoe UI"/>
                        </a:rPr>
                        <a:t>ordinal band</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18 no-CGPA + 182 big-gap rows removed</a:t>
                      </a:r>
                    </a:p>
                  </a:txBody>
                  <a:tcPr marL="64008" marR="64008" marT="18288" marB="18288" anchor="ctr">
                    <a:solidFill>
                      <a:srgbClr val="FFFFFF"/>
                    </a:solidFill>
                  </a:tcPr>
                </a:tc>
                <a:extLst>
                  <a:ext uri="{0D108BD9-81ED-4DB2-BD59-A6C34878D82A}">
                    <a16:rowId xmlns:a16="http://schemas.microsoft.com/office/drawing/2014/main" val="10007"/>
                  </a:ext>
                </a:extLst>
              </a:tr>
              <a:tr h="224028">
                <a:tc>
                  <a:txBody>
                    <a:bodyPr/>
                    <a:lstStyle/>
                    <a:p>
                      <a:r>
                        <a:rPr sz="900" b="0">
                          <a:solidFill>
                            <a:srgbClr val="0B0B0B"/>
                          </a:solidFill>
                          <a:latin typeface="Segoe UI"/>
                        </a:rPr>
                        <a:t>attendance</a:t>
                      </a:r>
                    </a:p>
                  </a:txBody>
                  <a:tcPr marL="64008" marR="64008" marT="18288" marB="18288" anchor="ctr">
                    <a:solidFill>
                      <a:srgbClr val="F7F8FA"/>
                    </a:solidFill>
                  </a:tcPr>
                </a:tc>
                <a:tc>
                  <a:txBody>
                    <a:bodyPr/>
                    <a:lstStyle/>
                    <a:p>
                      <a:r>
                        <a:rPr sz="900" b="0">
                          <a:solidFill>
                            <a:srgbClr val="0B0B0B"/>
                          </a:solidFill>
                          <a:latin typeface="Segoe UI"/>
                        </a:rPr>
                        <a:t>Class attendance</a:t>
                      </a:r>
                    </a:p>
                  </a:txBody>
                  <a:tcPr marL="64008" marR="64008" marT="18288" marB="18288" anchor="ctr">
                    <a:solidFill>
                      <a:srgbClr val="F7F8FA"/>
                    </a:solidFill>
                  </a:tcPr>
                </a:tc>
                <a:tc>
                  <a:txBody>
                    <a:bodyPr/>
                    <a:lstStyle/>
                    <a:p>
                      <a:r>
                        <a:rPr sz="900" b="0">
                          <a:solidFill>
                            <a:srgbClr val="0B0B0B"/>
                          </a:solidFill>
                          <a:latin typeface="Segoe UI"/>
                        </a:rPr>
                        <a:t>Study habits</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08"/>
                  </a:ext>
                </a:extLst>
              </a:tr>
              <a:tr h="224028">
                <a:tc>
                  <a:txBody>
                    <a:bodyPr/>
                    <a:lstStyle/>
                    <a:p>
                      <a:r>
                        <a:rPr sz="900" b="0">
                          <a:solidFill>
                            <a:srgbClr val="0B0B0B"/>
                          </a:solidFill>
                          <a:latin typeface="Segoe UI"/>
                        </a:rPr>
                        <a:t>weekly_study_time</a:t>
                      </a:r>
                    </a:p>
                  </a:txBody>
                  <a:tcPr marL="64008" marR="64008" marT="18288" marB="18288" anchor="ctr">
                    <a:solidFill>
                      <a:srgbClr val="FFFFFF"/>
                    </a:solidFill>
                  </a:tcPr>
                </a:tc>
                <a:tc>
                  <a:txBody>
                    <a:bodyPr/>
                    <a:lstStyle/>
                    <a:p>
                      <a:r>
                        <a:rPr sz="900" b="0">
                          <a:solidFill>
                            <a:srgbClr val="0B0B0B"/>
                          </a:solidFill>
                          <a:latin typeface="Segoe UI"/>
                        </a:rPr>
                        <a:t>Self-study per week</a:t>
                      </a:r>
                    </a:p>
                  </a:txBody>
                  <a:tcPr marL="64008" marR="64008" marT="18288" marB="18288" anchor="ctr">
                    <a:solidFill>
                      <a:srgbClr val="FFFFFF"/>
                    </a:solidFill>
                  </a:tcPr>
                </a:tc>
                <a:tc>
                  <a:txBody>
                    <a:bodyPr/>
                    <a:lstStyle/>
                    <a:p>
                      <a:r>
                        <a:rPr sz="900" b="0">
                          <a:solidFill>
                            <a:srgbClr val="0B0B0B"/>
                          </a:solidFill>
                          <a:latin typeface="Segoe UI"/>
                        </a:rPr>
                        <a:t>Study habits</a:t>
                      </a:r>
                    </a:p>
                  </a:txBody>
                  <a:tcPr marL="64008" marR="64008" marT="18288" marB="18288" anchor="ctr">
                    <a:solidFill>
                      <a:srgbClr val="FFFFFF"/>
                    </a:solidFill>
                  </a:tcPr>
                </a:tc>
                <a:tc>
                  <a:txBody>
                    <a:bodyPr/>
                    <a:lstStyle/>
                    <a:p>
                      <a:r>
                        <a:rPr sz="900" b="0">
                          <a:solidFill>
                            <a:srgbClr val="0B0B0B"/>
                          </a:solidFill>
                          <a:latin typeface="Segoe UI"/>
                        </a:rPr>
                        <a:t>ordinal band</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09"/>
                  </a:ext>
                </a:extLst>
              </a:tr>
              <a:tr h="224028">
                <a:tc>
                  <a:txBody>
                    <a:bodyPr/>
                    <a:lstStyle/>
                    <a:p>
                      <a:r>
                        <a:rPr sz="900" b="0">
                          <a:solidFill>
                            <a:srgbClr val="0B0B0B"/>
                          </a:solidFill>
                          <a:latin typeface="Segoe UI"/>
                        </a:rPr>
                        <a:t>study_style</a:t>
                      </a:r>
                    </a:p>
                  </a:txBody>
                  <a:tcPr marL="64008" marR="64008" marT="18288" marB="18288" anchor="ctr">
                    <a:solidFill>
                      <a:srgbClr val="F7F8FA"/>
                    </a:solidFill>
                  </a:tcPr>
                </a:tc>
                <a:tc>
                  <a:txBody>
                    <a:bodyPr/>
                    <a:lstStyle/>
                    <a:p>
                      <a:r>
                        <a:rPr sz="900" b="0">
                          <a:solidFill>
                            <a:srgbClr val="0B0B0B"/>
                          </a:solidFill>
                          <a:latin typeface="Segoe UI"/>
                        </a:rPr>
                        <a:t>Study style</a:t>
                      </a:r>
                    </a:p>
                  </a:txBody>
                  <a:tcPr marL="64008" marR="64008" marT="18288" marB="18288" anchor="ctr">
                    <a:solidFill>
                      <a:srgbClr val="F7F8FA"/>
                    </a:solidFill>
                  </a:tcPr>
                </a:tc>
                <a:tc>
                  <a:txBody>
                    <a:bodyPr/>
                    <a:lstStyle/>
                    <a:p>
                      <a:r>
                        <a:rPr sz="900" b="0">
                          <a:solidFill>
                            <a:srgbClr val="0B0B0B"/>
                          </a:solidFill>
                          <a:latin typeface="Segoe UI"/>
                        </a:rPr>
                        <a:t>Study habits</a:t>
                      </a:r>
                    </a:p>
                  </a:txBody>
                  <a:tcPr marL="64008" marR="64008" marT="18288" marB="18288" anchor="ctr">
                    <a:solidFill>
                      <a:srgbClr val="F7F8FA"/>
                    </a:solidFill>
                  </a:tcPr>
                </a:tc>
                <a:tc>
                  <a:txBody>
                    <a:bodyPr/>
                    <a:lstStyle/>
                    <a:p>
                      <a:r>
                        <a:rPr sz="900" b="0">
                          <a:solidFill>
                            <a:srgbClr val="0B0B0B"/>
                          </a:solidFill>
                          <a:latin typeface="Segoe UI"/>
                        </a:rPr>
                        <a:t>ordinal</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0"/>
                  </a:ext>
                </a:extLst>
              </a:tr>
              <a:tr h="224028">
                <a:tc>
                  <a:txBody>
                    <a:bodyPr/>
                    <a:lstStyle/>
                    <a:p>
                      <a:r>
                        <a:rPr sz="900" b="0">
                          <a:solidFill>
                            <a:srgbClr val="0B0B0B"/>
                          </a:solidFill>
                          <a:latin typeface="Segoe UI"/>
                        </a:rPr>
                        <a:t>topic_clarity</a:t>
                      </a:r>
                    </a:p>
                  </a:txBody>
                  <a:tcPr marL="64008" marR="64008" marT="18288" marB="18288" anchor="ctr">
                    <a:solidFill>
                      <a:srgbClr val="FFFFFF"/>
                    </a:solidFill>
                  </a:tcPr>
                </a:tc>
                <a:tc>
                  <a:txBody>
                    <a:bodyPr/>
                    <a:lstStyle/>
                    <a:p>
                      <a:r>
                        <a:rPr sz="900" b="0">
                          <a:solidFill>
                            <a:srgbClr val="0B0B0B"/>
                          </a:solidFill>
                          <a:latin typeface="Segoe UI"/>
                        </a:rPr>
                        <a:t>Topic clear after class</a:t>
                      </a:r>
                    </a:p>
                  </a:txBody>
                  <a:tcPr marL="64008" marR="64008" marT="18288" marB="18288" anchor="ctr">
                    <a:solidFill>
                      <a:srgbClr val="FFFFFF"/>
                    </a:solidFill>
                  </a:tcPr>
                </a:tc>
                <a:tc>
                  <a:txBody>
                    <a:bodyPr/>
                    <a:lstStyle/>
                    <a:p>
                      <a:r>
                        <a:rPr sz="900" b="0">
                          <a:solidFill>
                            <a:srgbClr val="0B0B0B"/>
                          </a:solidFill>
                          <a:latin typeface="Segoe UI"/>
                        </a:rPr>
                        <a:t>Study habits</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1"/>
                  </a:ext>
                </a:extLst>
              </a:tr>
              <a:tr h="224028">
                <a:tc>
                  <a:txBody>
                    <a:bodyPr/>
                    <a:lstStyle/>
                    <a:p>
                      <a:r>
                        <a:rPr sz="900" b="0">
                          <a:solidFill>
                            <a:srgbClr val="0B0B0B"/>
                          </a:solidFill>
                          <a:latin typeface="Segoe UI"/>
                        </a:rPr>
                        <a:t>sleep_duration</a:t>
                      </a:r>
                    </a:p>
                  </a:txBody>
                  <a:tcPr marL="64008" marR="64008" marT="18288" marB="18288" anchor="ctr">
                    <a:solidFill>
                      <a:srgbClr val="F7F8FA"/>
                    </a:solidFill>
                  </a:tcPr>
                </a:tc>
                <a:tc>
                  <a:txBody>
                    <a:bodyPr/>
                    <a:lstStyle/>
                    <a:p>
                      <a:r>
                        <a:rPr sz="900" b="0">
                          <a:solidFill>
                            <a:srgbClr val="0B0B0B"/>
                          </a:solidFill>
                          <a:latin typeface="Segoe UI"/>
                        </a:rPr>
                        <a:t>Sleep per night</a:t>
                      </a:r>
                    </a:p>
                  </a:txBody>
                  <a:tcPr marL="64008" marR="64008" marT="18288" marB="18288" anchor="ctr">
                    <a:solidFill>
                      <a:srgbClr val="F7F8FA"/>
                    </a:solidFill>
                  </a:tcPr>
                </a:tc>
                <a:tc>
                  <a:txBody>
                    <a:bodyPr/>
                    <a:lstStyle/>
                    <a:p>
                      <a:r>
                        <a:rPr sz="900" b="0">
                          <a:solidFill>
                            <a:srgbClr val="0B0B0B"/>
                          </a:solidFill>
                          <a:latin typeface="Segoe UI"/>
                        </a:rPr>
                        <a:t>Lifestyle</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2"/>
                  </a:ext>
                </a:extLst>
              </a:tr>
              <a:tr h="224028">
                <a:tc>
                  <a:txBody>
                    <a:bodyPr/>
                    <a:lstStyle/>
                    <a:p>
                      <a:r>
                        <a:rPr sz="900" b="0">
                          <a:solidFill>
                            <a:srgbClr val="0B0B0B"/>
                          </a:solidFill>
                          <a:latin typeface="Segoe UI"/>
                        </a:rPr>
                        <a:t>stress_frequency</a:t>
                      </a:r>
                    </a:p>
                  </a:txBody>
                  <a:tcPr marL="64008" marR="64008" marT="18288" marB="18288" anchor="ctr">
                    <a:solidFill>
                      <a:srgbClr val="FFFFFF"/>
                    </a:solidFill>
                  </a:tcPr>
                </a:tc>
                <a:tc>
                  <a:txBody>
                    <a:bodyPr/>
                    <a:lstStyle/>
                    <a:p>
                      <a:r>
                        <a:rPr sz="900" b="0">
                          <a:solidFill>
                            <a:srgbClr val="0B0B0B"/>
                          </a:solidFill>
                          <a:latin typeface="Segoe UI"/>
                        </a:rPr>
                        <a:t>Stress blocked studying</a:t>
                      </a:r>
                    </a:p>
                  </a:txBody>
                  <a:tcPr marL="64008" marR="64008" marT="18288" marB="18288" anchor="ctr">
                    <a:solidFill>
                      <a:srgbClr val="FFFFFF"/>
                    </a:solidFill>
                  </a:tcPr>
                </a:tc>
                <a:tc>
                  <a:txBody>
                    <a:bodyPr/>
                    <a:lstStyle/>
                    <a:p>
                      <a:r>
                        <a:rPr sz="900" b="0">
                          <a:solidFill>
                            <a:srgbClr val="0B0B0B"/>
                          </a:solidFill>
                          <a:latin typeface="Segoe UI"/>
                        </a:rPr>
                        <a:t>Stress/pressure</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3"/>
                  </a:ext>
                </a:extLst>
              </a:tr>
              <a:tr h="224028">
                <a:tc>
                  <a:txBody>
                    <a:bodyPr/>
                    <a:lstStyle/>
                    <a:p>
                      <a:r>
                        <a:rPr sz="900" b="0">
                          <a:solidFill>
                            <a:srgbClr val="0B0B0B"/>
                          </a:solidFill>
                          <a:latin typeface="Segoe UI"/>
                        </a:rPr>
                        <a:t>weekly_responsibilities</a:t>
                      </a:r>
                    </a:p>
                  </a:txBody>
                  <a:tcPr marL="64008" marR="64008" marT="18288" marB="18288" anchor="ctr">
                    <a:solidFill>
                      <a:srgbClr val="F7F8FA"/>
                    </a:solidFill>
                  </a:tcPr>
                </a:tc>
                <a:tc>
                  <a:txBody>
                    <a:bodyPr/>
                    <a:lstStyle/>
                    <a:p>
                      <a:r>
                        <a:rPr sz="900" b="0">
                          <a:solidFill>
                            <a:srgbClr val="0B0B0B"/>
                          </a:solidFill>
                          <a:latin typeface="Segoe UI"/>
                        </a:rPr>
                        <a:t>Outside commitments (tuition/job/club)</a:t>
                      </a:r>
                    </a:p>
                  </a:txBody>
                  <a:tcPr marL="64008" marR="64008" marT="18288" marB="18288" anchor="ctr">
                    <a:solidFill>
                      <a:srgbClr val="F7F8FA"/>
                    </a:solidFill>
                  </a:tcPr>
                </a:tc>
                <a:tc>
                  <a:txBody>
                    <a:bodyPr/>
                    <a:lstStyle/>
                    <a:p>
                      <a:r>
                        <a:rPr sz="900" b="0">
                          <a:solidFill>
                            <a:srgbClr val="0B0B0B"/>
                          </a:solidFill>
                          <a:latin typeface="Segoe UI"/>
                        </a:rPr>
                        <a:t>Responsibility</a:t>
                      </a:r>
                    </a:p>
                  </a:txBody>
                  <a:tcPr marL="64008" marR="64008" marT="18288" marB="18288" anchor="ctr">
                    <a:solidFill>
                      <a:srgbClr val="F7F8FA"/>
                    </a:solidFill>
                  </a:tcPr>
                </a:tc>
                <a:tc>
                  <a:txBody>
                    <a:bodyPr/>
                    <a:lstStyle/>
                    <a:p>
                      <a:r>
                        <a:rPr sz="900" b="0">
                          <a:solidFill>
                            <a:srgbClr val="0B0B0B"/>
                          </a:solidFill>
                          <a:latin typeface="Segoe UI"/>
                        </a:rPr>
                        <a:t>ordinal band</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Blank -&gt; 'None'</a:t>
                      </a:r>
                    </a:p>
                  </a:txBody>
                  <a:tcPr marL="64008" marR="64008" marT="18288" marB="18288" anchor="ctr">
                    <a:solidFill>
                      <a:srgbClr val="F7F8FA"/>
                    </a:solidFill>
                  </a:tcPr>
                </a:tc>
                <a:extLst>
                  <a:ext uri="{0D108BD9-81ED-4DB2-BD59-A6C34878D82A}">
                    <a16:rowId xmlns:a16="http://schemas.microsoft.com/office/drawing/2014/main" val="10014"/>
                  </a:ext>
                </a:extLst>
              </a:tr>
              <a:tr h="224028">
                <a:tc>
                  <a:txBody>
                    <a:bodyPr/>
                    <a:lstStyle/>
                    <a:p>
                      <a:r>
                        <a:rPr sz="900" b="0">
                          <a:solidFill>
                            <a:srgbClr val="0B0B0B"/>
                          </a:solidFill>
                          <a:latin typeface="Segoe UI"/>
                        </a:rPr>
                        <a:t>desired_department_match</a:t>
                      </a:r>
                    </a:p>
                  </a:txBody>
                  <a:tcPr marL="64008" marR="64008" marT="18288" marB="18288" anchor="ctr">
                    <a:solidFill>
                      <a:srgbClr val="FFFFFF"/>
                    </a:solidFill>
                  </a:tcPr>
                </a:tc>
                <a:tc>
                  <a:txBody>
                    <a:bodyPr/>
                    <a:lstStyle/>
                    <a:p>
                      <a:r>
                        <a:rPr sz="900" b="0">
                          <a:solidFill>
                            <a:srgbClr val="0B0B0B"/>
                          </a:solidFill>
                          <a:latin typeface="Segoe UI"/>
                        </a:rPr>
                        <a:t>Got desired department</a:t>
                      </a:r>
                    </a:p>
                  </a:txBody>
                  <a:tcPr marL="64008" marR="64008" marT="18288" marB="18288" anchor="ctr">
                    <a:solidFill>
                      <a:srgbClr val="FFFFFF"/>
                    </a:solidFill>
                  </a:tcPr>
                </a:tc>
                <a:tc>
                  <a:txBody>
                    <a:bodyPr/>
                    <a:lstStyle/>
                    <a:p>
                      <a:r>
                        <a:rPr sz="900" b="0">
                          <a:solidFill>
                            <a:srgbClr val="0B0B0B"/>
                          </a:solidFill>
                          <a:latin typeface="Segoe UI"/>
                        </a:rPr>
                        <a:t>Motivation</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5"/>
                  </a:ext>
                </a:extLst>
              </a:tr>
              <a:tr h="224028">
                <a:tc>
                  <a:txBody>
                    <a:bodyPr/>
                    <a:lstStyle/>
                    <a:p>
                      <a:r>
                        <a:rPr sz="900" b="0">
                          <a:solidFill>
                            <a:srgbClr val="0B0B0B"/>
                          </a:solidFill>
                          <a:latin typeface="Segoe UI"/>
                        </a:rPr>
                        <a:t>distraction_frequency</a:t>
                      </a:r>
                    </a:p>
                  </a:txBody>
                  <a:tcPr marL="64008" marR="64008" marT="18288" marB="18288" anchor="ctr">
                    <a:solidFill>
                      <a:srgbClr val="F7F8FA"/>
                    </a:solidFill>
                  </a:tcPr>
                </a:tc>
                <a:tc>
                  <a:txBody>
                    <a:bodyPr/>
                    <a:lstStyle/>
                    <a:p>
                      <a:r>
                        <a:rPr sz="900" b="0">
                          <a:solidFill>
                            <a:srgbClr val="0B0B0B"/>
                          </a:solidFill>
                          <a:latin typeface="Segoe UI"/>
                        </a:rPr>
                        <a:t>Phone / social media took study time</a:t>
                      </a:r>
                    </a:p>
                  </a:txBody>
                  <a:tcPr marL="64008" marR="64008" marT="18288" marB="18288" anchor="ctr">
                    <a:solidFill>
                      <a:srgbClr val="F7F8FA"/>
                    </a:solidFill>
                  </a:tcPr>
                </a:tc>
                <a:tc>
                  <a:txBody>
                    <a:bodyPr/>
                    <a:lstStyle/>
                    <a:p>
                      <a:r>
                        <a:rPr sz="900" b="0">
                          <a:solidFill>
                            <a:srgbClr val="0B0B0B"/>
                          </a:solidFill>
                          <a:latin typeface="Segoe UI"/>
                        </a:rPr>
                        <a:t>Lifestyle</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6"/>
                  </a:ext>
                </a:extLst>
              </a:tr>
              <a:tr h="224028">
                <a:tc>
                  <a:txBody>
                    <a:bodyPr/>
                    <a:lstStyle/>
                    <a:p>
                      <a:r>
                        <a:rPr sz="900" b="0">
                          <a:solidFill>
                            <a:srgbClr val="0B0B0B"/>
                          </a:solidFill>
                          <a:latin typeface="Segoe UI"/>
                        </a:rPr>
                        <a:t>study_environment</a:t>
                      </a:r>
                    </a:p>
                  </a:txBody>
                  <a:tcPr marL="64008" marR="64008" marT="18288" marB="18288" anchor="ctr">
                    <a:solidFill>
                      <a:srgbClr val="FFFFFF"/>
                    </a:solidFill>
                  </a:tcPr>
                </a:tc>
                <a:tc>
                  <a:txBody>
                    <a:bodyPr/>
                    <a:lstStyle/>
                    <a:p>
                      <a:r>
                        <a:rPr sz="900" b="0">
                          <a:solidFill>
                            <a:srgbClr val="0B0B0B"/>
                          </a:solidFill>
                          <a:latin typeface="Segoe UI"/>
                        </a:rPr>
                        <a:t>Study-friendly living place</a:t>
                      </a:r>
                    </a:p>
                  </a:txBody>
                  <a:tcPr marL="64008" marR="64008" marT="18288" marB="18288" anchor="ctr">
                    <a:solidFill>
                      <a:srgbClr val="FFFFFF"/>
                    </a:solidFill>
                  </a:tcPr>
                </a:tc>
                <a:tc>
                  <a:txBody>
                    <a:bodyPr/>
                    <a:lstStyle/>
                    <a:p>
                      <a:r>
                        <a:rPr sz="900" b="0">
                          <a:solidFill>
                            <a:srgbClr val="0B0B0B"/>
                          </a:solidFill>
                          <a:latin typeface="Segoe UI"/>
                        </a:rPr>
                        <a:t>Environment</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Yes</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7"/>
                  </a:ext>
                </a:extLst>
              </a:tr>
              <a:tr h="224028">
                <a:tc>
                  <a:txBody>
                    <a:bodyPr/>
                    <a:lstStyle/>
                    <a:p>
                      <a:r>
                        <a:rPr sz="900" b="0">
                          <a:solidFill>
                            <a:srgbClr val="0B0B0B"/>
                          </a:solidFill>
                          <a:latin typeface="Segoe UI"/>
                        </a:rPr>
                        <a:t>support_level</a:t>
                      </a:r>
                    </a:p>
                  </a:txBody>
                  <a:tcPr marL="64008" marR="64008" marT="18288" marB="18288" anchor="ctr">
                    <a:solidFill>
                      <a:srgbClr val="F7F8FA"/>
                    </a:solidFill>
                  </a:tcPr>
                </a:tc>
                <a:tc>
                  <a:txBody>
                    <a:bodyPr/>
                    <a:lstStyle/>
                    <a:p>
                      <a:r>
                        <a:rPr sz="900" b="0">
                          <a:solidFill>
                            <a:srgbClr val="0B0B0B"/>
                          </a:solidFill>
                          <a:latin typeface="Segoe UI"/>
                        </a:rPr>
                        <a:t>Family / friend support</a:t>
                      </a:r>
                    </a:p>
                  </a:txBody>
                  <a:tcPr marL="64008" marR="64008" marT="18288" marB="18288" anchor="ctr">
                    <a:solidFill>
                      <a:srgbClr val="F7F8FA"/>
                    </a:solidFill>
                  </a:tcPr>
                </a:tc>
                <a:tc>
                  <a:txBody>
                    <a:bodyPr/>
                    <a:lstStyle/>
                    <a:p>
                      <a:r>
                        <a:rPr sz="900" b="0">
                          <a:solidFill>
                            <a:srgbClr val="0B0B0B"/>
                          </a:solidFill>
                          <a:latin typeface="Segoe UI"/>
                        </a:rPr>
                        <a:t>Support</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18"/>
                  </a:ext>
                </a:extLst>
              </a:tr>
              <a:tr h="224028">
                <a:tc>
                  <a:txBody>
                    <a:bodyPr/>
                    <a:lstStyle/>
                    <a:p>
                      <a:r>
                        <a:rPr sz="900" b="0">
                          <a:solidFill>
                            <a:srgbClr val="0B0B0B"/>
                          </a:solidFill>
                          <a:latin typeface="Segoe UI"/>
                        </a:rPr>
                        <a:t>admission_satisfaction</a:t>
                      </a:r>
                    </a:p>
                  </a:txBody>
                  <a:tcPr marL="64008" marR="64008" marT="18288" marB="18288" anchor="ctr">
                    <a:solidFill>
                      <a:srgbClr val="FFFFFF"/>
                    </a:solidFill>
                  </a:tcPr>
                </a:tc>
                <a:tc>
                  <a:txBody>
                    <a:bodyPr/>
                    <a:lstStyle/>
                    <a:p>
                      <a:r>
                        <a:rPr sz="900" b="0">
                          <a:solidFill>
                            <a:srgbClr val="0B0B0B"/>
                          </a:solidFill>
                          <a:latin typeface="Segoe UI"/>
                        </a:rPr>
                        <a:t>Satisfied with admission</a:t>
                      </a:r>
                    </a:p>
                  </a:txBody>
                  <a:tcPr marL="64008" marR="64008" marT="18288" marB="18288" anchor="ctr">
                    <a:solidFill>
                      <a:srgbClr val="FFFFFF"/>
                    </a:solidFill>
                  </a:tcPr>
                </a:tc>
                <a:tc>
                  <a:txBody>
                    <a:bodyPr/>
                    <a:lstStyle/>
                    <a:p>
                      <a:r>
                        <a:rPr sz="900" b="0">
                          <a:solidFill>
                            <a:srgbClr val="0B0B0B"/>
                          </a:solidFill>
                          <a:latin typeface="Segoe UI"/>
                        </a:rPr>
                        <a:t>Motivation</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FFFFF"/>
                    </a:solidFill>
                  </a:tcPr>
                </a:tc>
                <a:extLst>
                  <a:ext uri="{0D108BD9-81ED-4DB2-BD59-A6C34878D82A}">
                    <a16:rowId xmlns:a16="http://schemas.microsoft.com/office/drawing/2014/main" val="10019"/>
                  </a:ext>
                </a:extLst>
              </a:tr>
              <a:tr h="224028">
                <a:tc>
                  <a:txBody>
                    <a:bodyPr/>
                    <a:lstStyle/>
                    <a:p>
                      <a:r>
                        <a:rPr sz="900" b="0">
                          <a:solidFill>
                            <a:srgbClr val="0B0B0B"/>
                          </a:solidFill>
                          <a:latin typeface="Segoe UI"/>
                        </a:rPr>
                        <a:t>career_expectation</a:t>
                      </a:r>
                    </a:p>
                  </a:txBody>
                  <a:tcPr marL="64008" marR="64008" marT="18288" marB="18288" anchor="ctr">
                    <a:solidFill>
                      <a:srgbClr val="F7F8FA"/>
                    </a:solidFill>
                  </a:tcPr>
                </a:tc>
                <a:tc>
                  <a:txBody>
                    <a:bodyPr/>
                    <a:lstStyle/>
                    <a:p>
                      <a:r>
                        <a:rPr sz="900" b="0">
                          <a:solidFill>
                            <a:srgbClr val="0B0B0B"/>
                          </a:solidFill>
                          <a:latin typeface="Segoe UI"/>
                        </a:rPr>
                        <a:t>Course leads to dream career</a:t>
                      </a:r>
                    </a:p>
                  </a:txBody>
                  <a:tcPr marL="64008" marR="64008" marT="18288" marB="18288" anchor="ctr">
                    <a:solidFill>
                      <a:srgbClr val="F7F8FA"/>
                    </a:solidFill>
                  </a:tcPr>
                </a:tc>
                <a:tc>
                  <a:txBody>
                    <a:bodyPr/>
                    <a:lstStyle/>
                    <a:p>
                      <a:r>
                        <a:rPr sz="900" b="0">
                          <a:solidFill>
                            <a:srgbClr val="0B0B0B"/>
                          </a:solidFill>
                          <a:latin typeface="Segoe UI"/>
                        </a:rPr>
                        <a:t>Motivation</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No</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20"/>
                  </a:ext>
                </a:extLst>
              </a:tr>
              <a:tr h="224028">
                <a:tc>
                  <a:txBody>
                    <a:bodyPr/>
                    <a:lstStyle/>
                    <a:p>
                      <a:r>
                        <a:rPr sz="900" b="0">
                          <a:solidFill>
                            <a:srgbClr val="0B0B0B"/>
                          </a:solidFill>
                          <a:latin typeface="Segoe UI"/>
                        </a:rPr>
                        <a:t>result_satisfaction</a:t>
                      </a:r>
                    </a:p>
                  </a:txBody>
                  <a:tcPr marL="64008" marR="64008" marT="18288" marB="18288" anchor="ctr">
                    <a:solidFill>
                      <a:srgbClr val="FFFFFF"/>
                    </a:solidFill>
                  </a:tcPr>
                </a:tc>
                <a:tc>
                  <a:txBody>
                    <a:bodyPr/>
                    <a:lstStyle/>
                    <a:p>
                      <a:r>
                        <a:rPr sz="900" b="0">
                          <a:solidFill>
                            <a:srgbClr val="0B0B0B"/>
                          </a:solidFill>
                          <a:latin typeface="Segoe UI"/>
                        </a:rPr>
                        <a:t>Satisfied with last result</a:t>
                      </a:r>
                    </a:p>
                  </a:txBody>
                  <a:tcPr marL="64008" marR="64008" marT="18288" marB="18288" anchor="ctr">
                    <a:solidFill>
                      <a:srgbClr val="FFFFFF"/>
                    </a:solidFill>
                  </a:tcPr>
                </a:tc>
                <a:tc>
                  <a:txBody>
                    <a:bodyPr/>
                    <a:lstStyle/>
                    <a:p>
                      <a:r>
                        <a:rPr sz="900" b="0">
                          <a:solidFill>
                            <a:srgbClr val="0B0B0B"/>
                          </a:solidFill>
                          <a:latin typeface="Segoe UI"/>
                        </a:rPr>
                        <a:t>Motivation</a:t>
                      </a:r>
                    </a:p>
                  </a:txBody>
                  <a:tcPr marL="64008" marR="64008" marT="18288" marB="18288" anchor="ctr">
                    <a:solidFill>
                      <a:srgbClr val="FFFFFF"/>
                    </a:solidFill>
                  </a:tcPr>
                </a:tc>
                <a:tc>
                  <a:txBody>
                    <a:bodyPr/>
                    <a:lstStyle/>
                    <a:p>
                      <a:r>
                        <a:rPr sz="900" b="0">
                          <a:solidFill>
                            <a:srgbClr val="0B0B0B"/>
                          </a:solidFill>
                          <a:latin typeface="Segoe UI"/>
                        </a:rPr>
                        <a:t>Likert</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Not used: depends on personal goals (subjective)</a:t>
                      </a:r>
                    </a:p>
                  </a:txBody>
                  <a:tcPr marL="64008" marR="64008" marT="18288" marB="18288" anchor="ctr">
                    <a:solidFill>
                      <a:srgbClr val="FFFFFF"/>
                    </a:solidFill>
                  </a:tcPr>
                </a:tc>
                <a:extLst>
                  <a:ext uri="{0D108BD9-81ED-4DB2-BD59-A6C34878D82A}">
                    <a16:rowId xmlns:a16="http://schemas.microsoft.com/office/drawing/2014/main" val="10021"/>
                  </a:ext>
                </a:extLst>
              </a:tr>
              <a:tr h="224028">
                <a:tc>
                  <a:txBody>
                    <a:bodyPr/>
                    <a:lstStyle/>
                    <a:p>
                      <a:r>
                        <a:rPr sz="900" b="0">
                          <a:solidFill>
                            <a:srgbClr val="0B0B0B"/>
                          </a:solidFill>
                          <a:latin typeface="Segoe UI"/>
                        </a:rPr>
                        <a:t>routine_manageability</a:t>
                      </a:r>
                    </a:p>
                  </a:txBody>
                  <a:tcPr marL="64008" marR="64008" marT="18288" marB="18288" anchor="ctr">
                    <a:solidFill>
                      <a:srgbClr val="F7F8FA"/>
                    </a:solidFill>
                  </a:tcPr>
                </a:tc>
                <a:tc>
                  <a:txBody>
                    <a:bodyPr/>
                    <a:lstStyle/>
                    <a:p>
                      <a:r>
                        <a:rPr sz="900" b="0">
                          <a:solidFill>
                            <a:srgbClr val="0B0B0B"/>
                          </a:solidFill>
                          <a:latin typeface="Segoe UI"/>
                        </a:rPr>
                        <a:t>Semester routine manageable</a:t>
                      </a:r>
                    </a:p>
                  </a:txBody>
                  <a:tcPr marL="64008" marR="64008" marT="18288" marB="18288" anchor="ctr">
                    <a:solidFill>
                      <a:srgbClr val="F7F8FA"/>
                    </a:solidFill>
                  </a:tcPr>
                </a:tc>
                <a:tc>
                  <a:txBody>
                    <a:bodyPr/>
                    <a:lstStyle/>
                    <a:p>
                      <a:r>
                        <a:rPr sz="900" b="0">
                          <a:solidFill>
                            <a:srgbClr val="0B0B0B"/>
                          </a:solidFill>
                          <a:latin typeface="Segoe UI"/>
                        </a:rPr>
                        <a:t>Lifestyle</a:t>
                      </a:r>
                    </a:p>
                  </a:txBody>
                  <a:tcPr marL="64008" marR="64008" marT="18288" marB="18288" anchor="ctr">
                    <a:solidFill>
                      <a:srgbClr val="F7F8FA"/>
                    </a:solidFill>
                  </a:tcPr>
                </a:tc>
                <a:tc>
                  <a:txBody>
                    <a:bodyPr/>
                    <a:lstStyle/>
                    <a:p>
                      <a:r>
                        <a:rPr sz="900" b="0">
                          <a:solidFill>
                            <a:srgbClr val="0B0B0B"/>
                          </a:solidFill>
                          <a:latin typeface="Segoe UI"/>
                        </a:rPr>
                        <a:t>Likert</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Yes</a:t>
                      </a:r>
                    </a:p>
                  </a:txBody>
                  <a:tcPr marL="64008" marR="64008" marT="18288" marB="18288" anchor="ctr">
                    <a:solidFill>
                      <a:srgbClr val="F7F8FA"/>
                    </a:solidFill>
                  </a:tcPr>
                </a:tc>
                <a:tc>
                  <a:txBody>
                    <a:bodyPr/>
                    <a:lstStyle/>
                    <a:p>
                      <a:r>
                        <a:rPr sz="900" b="0">
                          <a:solidFill>
                            <a:srgbClr val="0B0B0B"/>
                          </a:solidFill>
                          <a:latin typeface="Segoe UI"/>
                        </a:rPr>
                        <a:t>&lt;1.3% blanks -&gt; most common answer in the same form</a:t>
                      </a:r>
                    </a:p>
                  </a:txBody>
                  <a:tcPr marL="64008" marR="64008" marT="18288" marB="18288" anchor="ctr">
                    <a:solidFill>
                      <a:srgbClr val="F7F8FA"/>
                    </a:solidFill>
                  </a:tcPr>
                </a:tc>
                <a:extLst>
                  <a:ext uri="{0D108BD9-81ED-4DB2-BD59-A6C34878D82A}">
                    <a16:rowId xmlns:a16="http://schemas.microsoft.com/office/drawing/2014/main" val="10022"/>
                  </a:ext>
                </a:extLst>
              </a:tr>
              <a:tr h="224028">
                <a:tc>
                  <a:txBody>
                    <a:bodyPr/>
                    <a:lstStyle/>
                    <a:p>
                      <a:r>
                        <a:rPr sz="900" b="0">
                          <a:solidFill>
                            <a:srgbClr val="0B0B0B"/>
                          </a:solidFill>
                          <a:latin typeface="Segoe UI"/>
                        </a:rPr>
                        <a:t>email</a:t>
                      </a:r>
                    </a:p>
                  </a:txBody>
                  <a:tcPr marL="64008" marR="64008" marT="18288" marB="18288" anchor="ctr">
                    <a:solidFill>
                      <a:srgbClr val="FFFFFF"/>
                    </a:solidFill>
                  </a:tcPr>
                </a:tc>
                <a:tc>
                  <a:txBody>
                    <a:bodyPr/>
                    <a:lstStyle/>
                    <a:p>
                      <a:r>
                        <a:rPr sz="900" b="0">
                          <a:solidFill>
                            <a:srgbClr val="0B0B0B"/>
                          </a:solidFill>
                          <a:latin typeface="Segoe UI"/>
                        </a:rPr>
                        <a:t>Email</a:t>
                      </a:r>
                    </a:p>
                  </a:txBody>
                  <a:tcPr marL="64008" marR="64008" marT="18288" marB="18288" anchor="ctr">
                    <a:solidFill>
                      <a:srgbClr val="FFFFFF"/>
                    </a:solidFill>
                  </a:tcPr>
                </a:tc>
                <a:tc>
                  <a:txBody>
                    <a:bodyPr/>
                    <a:lstStyle/>
                    <a:p>
                      <a:r>
                        <a:rPr sz="900" b="0">
                          <a:solidFill>
                            <a:srgbClr val="0B0B0B"/>
                          </a:solidFill>
                          <a:latin typeface="Segoe UI"/>
                        </a:rPr>
                        <a:t>Admin</a:t>
                      </a:r>
                    </a:p>
                  </a:txBody>
                  <a:tcPr marL="64008" marR="64008" marT="18288" marB="18288" anchor="ctr">
                    <a:solidFill>
                      <a:srgbClr val="FFFFFF"/>
                    </a:solidFill>
                  </a:tcPr>
                </a:tc>
                <a:tc>
                  <a:txBody>
                    <a:bodyPr/>
                    <a:lstStyle/>
                    <a:p>
                      <a:r>
                        <a:rPr sz="900" b="0">
                          <a:solidFill>
                            <a:srgbClr val="0B0B0B"/>
                          </a:solidFill>
                          <a:latin typeface="Segoe UI"/>
                        </a:rPr>
                        <a:t>text</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No</a:t>
                      </a:r>
                    </a:p>
                  </a:txBody>
                  <a:tcPr marL="64008" marR="64008" marT="18288" marB="18288" anchor="ctr">
                    <a:solidFill>
                      <a:srgbClr val="FFFFFF"/>
                    </a:solidFill>
                  </a:tcPr>
                </a:tc>
                <a:tc>
                  <a:txBody>
                    <a:bodyPr/>
                    <a:lstStyle/>
                    <a:p>
                      <a:r>
                        <a:rPr sz="900" b="0">
                          <a:solidFill>
                            <a:srgbClr val="0B0B0B"/>
                          </a:solidFill>
                          <a:latin typeface="Segoe UI"/>
                        </a:rPr>
                        <a:t>Dropped</a:t>
                      </a:r>
                    </a:p>
                  </a:txBody>
                  <a:tcPr marL="64008" marR="64008" marT="18288" marB="18288" anchor="ctr">
                    <a:solidFill>
                      <a:srgbClr val="FFFFFF"/>
                    </a:solidFill>
                  </a:tcPr>
                </a:tc>
                <a:extLst>
                  <a:ext uri="{0D108BD9-81ED-4DB2-BD59-A6C34878D82A}">
                    <a16:rowId xmlns:a16="http://schemas.microsoft.com/office/drawing/2014/main" val="10023"/>
                  </a:ext>
                </a:extLst>
              </a:tr>
            </a:tbl>
          </a:graphicData>
        </a:graphic>
      </p:graphicFrame>
      <p:sp>
        <p:nvSpPr>
          <p:cNvPr id="8" name="SimpleLightSectionLabel">
            <a:extLst>
              <a:ext uri="{FF2B5EF4-FFF2-40B4-BE49-F238E27FC236}">
                <a16:creationId xmlns:a16="http://schemas.microsoft.com/office/drawing/2014/main" id="{ADAF6333-6E90-4FA2-8D44-DF41477550E6}"/>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Exact Train / Test Counts and Tree Settings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56</a:t>
            </a:r>
          </a:p>
        </p:txBody>
      </p:sp>
      <p:graphicFrame>
        <p:nvGraphicFramePr>
          <p:cNvPr id="7" name="Table 6"/>
          <p:cNvGraphicFramePr>
            <a:graphicFrameLocks noGrp="1"/>
          </p:cNvGraphicFramePr>
          <p:nvPr/>
        </p:nvGraphicFramePr>
        <p:xfrm>
          <a:off x="548640" y="1371600"/>
          <a:ext cx="11064240" cy="20574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411480">
                <a:tc>
                  <a:txBody>
                    <a:bodyPr/>
                    <a:lstStyle/>
                    <a:p>
                      <a:r>
                        <a:rPr sz="1500" b="1">
                          <a:solidFill>
                            <a:srgbClr val="FFFFFF"/>
                          </a:solidFill>
                          <a:latin typeface="Segoe UI"/>
                        </a:rPr>
                        <a:t>Split</a:t>
                      </a:r>
                    </a:p>
                  </a:txBody>
                  <a:tcPr marL="64008" marR="64008" marT="18288" marB="18288" anchor="ctr">
                    <a:solidFill>
                      <a:srgbClr val="1F3B5C"/>
                    </a:solidFill>
                  </a:tcPr>
                </a:tc>
                <a:tc>
                  <a:txBody>
                    <a:bodyPr/>
                    <a:lstStyle/>
                    <a:p>
                      <a:r>
                        <a:rPr sz="1500" b="1">
                          <a:solidFill>
                            <a:srgbClr val="FFFFFF"/>
                          </a:solidFill>
                          <a:latin typeface="Segoe UI"/>
                        </a:rPr>
                        <a:t>C0</a:t>
                      </a:r>
                    </a:p>
                  </a:txBody>
                  <a:tcPr marL="64008" marR="64008" marT="18288" marB="18288" anchor="ctr">
                    <a:solidFill>
                      <a:srgbClr val="1F3B5C"/>
                    </a:solidFill>
                  </a:tcPr>
                </a:tc>
                <a:tc>
                  <a:txBody>
                    <a:bodyPr/>
                    <a:lstStyle/>
                    <a:p>
                      <a:r>
                        <a:rPr sz="1500" b="1">
                          <a:solidFill>
                            <a:srgbClr val="FFFFFF"/>
                          </a:solidFill>
                          <a:latin typeface="Segoe UI"/>
                        </a:rPr>
                        <a:t>C1</a:t>
                      </a:r>
                    </a:p>
                  </a:txBody>
                  <a:tcPr marL="64008" marR="64008" marT="18288" marB="18288" anchor="ctr">
                    <a:solidFill>
                      <a:srgbClr val="1F3B5C"/>
                    </a:solidFill>
                  </a:tcPr>
                </a:tc>
                <a:tc>
                  <a:txBody>
                    <a:bodyPr/>
                    <a:lstStyle/>
                    <a:p>
                      <a:r>
                        <a:rPr sz="1500" b="1">
                          <a:solidFill>
                            <a:srgbClr val="FFFFFF"/>
                          </a:solidFill>
                          <a:latin typeface="Segoe UI"/>
                        </a:rPr>
                        <a:t>C2</a:t>
                      </a:r>
                    </a:p>
                  </a:txBody>
                  <a:tcPr marL="64008" marR="64008" marT="18288" marB="18288" anchor="ctr">
                    <a:solidFill>
                      <a:srgbClr val="1F3B5C"/>
                    </a:solidFill>
                  </a:tcPr>
                </a:tc>
                <a:tc>
                  <a:txBody>
                    <a:bodyPr/>
                    <a:lstStyle/>
                    <a:p>
                      <a:r>
                        <a:rPr sz="1500" b="1">
                          <a:solidFill>
                            <a:srgbClr val="FFFFFF"/>
                          </a:solidFill>
                          <a:latin typeface="Segoe UI"/>
                        </a:rPr>
                        <a:t>C3</a:t>
                      </a:r>
                    </a:p>
                  </a:txBody>
                  <a:tcPr marL="64008" marR="64008" marT="18288" marB="18288" anchor="ctr">
                    <a:solidFill>
                      <a:srgbClr val="1F3B5C"/>
                    </a:solidFill>
                  </a:tcPr>
                </a:tc>
                <a:tc>
                  <a:txBody>
                    <a:bodyPr/>
                    <a:lstStyle/>
                    <a:p>
                      <a:r>
                        <a:rPr sz="1500" b="1">
                          <a:solidFill>
                            <a:srgbClr val="FFFFFF"/>
                          </a:solidFill>
                          <a:latin typeface="Segoe UI"/>
                        </a:rPr>
                        <a:t>Total</a:t>
                      </a:r>
                    </a:p>
                  </a:txBody>
                  <a:tcPr marL="64008" marR="64008" marT="18288" marB="18288" anchor="ctr">
                    <a:solidFill>
                      <a:srgbClr val="1F3B5C"/>
                    </a:solidFill>
                  </a:tcPr>
                </a:tc>
                <a:extLst>
                  <a:ext uri="{0D108BD9-81ED-4DB2-BD59-A6C34878D82A}">
                    <a16:rowId xmlns:a16="http://schemas.microsoft.com/office/drawing/2014/main" val="10000"/>
                  </a:ext>
                </a:extLst>
              </a:tr>
              <a:tr h="411480">
                <a:tc>
                  <a:txBody>
                    <a:bodyPr/>
                    <a:lstStyle/>
                    <a:p>
                      <a:r>
                        <a:rPr sz="1500" b="0">
                          <a:solidFill>
                            <a:srgbClr val="0B0B0B"/>
                          </a:solidFill>
                          <a:latin typeface="Segoe UI"/>
                        </a:rPr>
                        <a:t>CGPA split: train</a:t>
                      </a:r>
                    </a:p>
                  </a:txBody>
                  <a:tcPr marL="64008" marR="64008" marT="18288" marB="18288" anchor="ctr">
                    <a:solidFill>
                      <a:srgbClr val="FFFFFF"/>
                    </a:solidFill>
                  </a:tcPr>
                </a:tc>
                <a:tc>
                  <a:txBody>
                    <a:bodyPr/>
                    <a:lstStyle/>
                    <a:p>
                      <a:r>
                        <a:rPr sz="1500" b="0">
                          <a:solidFill>
                            <a:srgbClr val="0B0B0B"/>
                          </a:solidFill>
                          <a:latin typeface="Segoe UI"/>
                        </a:rPr>
                        <a:t>147</a:t>
                      </a:r>
                    </a:p>
                  </a:txBody>
                  <a:tcPr marL="64008" marR="64008" marT="18288" marB="18288" anchor="ctr">
                    <a:solidFill>
                      <a:srgbClr val="FFFFFF"/>
                    </a:solidFill>
                  </a:tcPr>
                </a:tc>
                <a:tc>
                  <a:txBody>
                    <a:bodyPr/>
                    <a:lstStyle/>
                    <a:p>
                      <a:r>
                        <a:rPr sz="1500" b="0">
                          <a:solidFill>
                            <a:srgbClr val="0B0B0B"/>
                          </a:solidFill>
                          <a:latin typeface="Segoe UI"/>
                        </a:rPr>
                        <a:t>218</a:t>
                      </a:r>
                    </a:p>
                  </a:txBody>
                  <a:tcPr marL="64008" marR="64008" marT="18288" marB="18288" anchor="ctr">
                    <a:solidFill>
                      <a:srgbClr val="FFFFFF"/>
                    </a:solidFill>
                  </a:tcPr>
                </a:tc>
                <a:tc>
                  <a:txBody>
                    <a:bodyPr/>
                    <a:lstStyle/>
                    <a:p>
                      <a:r>
                        <a:rPr sz="1500" b="0">
                          <a:solidFill>
                            <a:srgbClr val="0B0B0B"/>
                          </a:solidFill>
                          <a:latin typeface="Segoe UI"/>
                        </a:rPr>
                        <a:t>218</a:t>
                      </a:r>
                    </a:p>
                  </a:txBody>
                  <a:tcPr marL="64008" marR="64008" marT="18288" marB="18288" anchor="ctr">
                    <a:solidFill>
                      <a:srgbClr val="FFFFFF"/>
                    </a:solidFill>
                  </a:tcPr>
                </a:tc>
                <a:tc>
                  <a:txBody>
                    <a:bodyPr/>
                    <a:lstStyle/>
                    <a:p>
                      <a:r>
                        <a:rPr sz="1500" b="0">
                          <a:solidFill>
                            <a:srgbClr val="0B0B0B"/>
                          </a:solidFill>
                          <a:latin typeface="Segoe UI"/>
                        </a:rPr>
                        <a:t>153</a:t>
                      </a:r>
                    </a:p>
                  </a:txBody>
                  <a:tcPr marL="64008" marR="64008" marT="18288" marB="18288" anchor="ctr">
                    <a:solidFill>
                      <a:srgbClr val="FFFFFF"/>
                    </a:solidFill>
                  </a:tcPr>
                </a:tc>
                <a:tc>
                  <a:txBody>
                    <a:bodyPr/>
                    <a:lstStyle/>
                    <a:p>
                      <a:r>
                        <a:rPr sz="1500" b="0">
                          <a:solidFill>
                            <a:srgbClr val="0B0B0B"/>
                          </a:solidFill>
                          <a:latin typeface="Segoe UI"/>
                        </a:rPr>
                        <a:t>736</a:t>
                      </a:r>
                    </a:p>
                  </a:txBody>
                  <a:tcPr marL="64008" marR="64008" marT="18288" marB="18288" anchor="ctr">
                    <a:solidFill>
                      <a:srgbClr val="FFFFFF"/>
                    </a:solidFill>
                  </a:tcPr>
                </a:tc>
                <a:extLst>
                  <a:ext uri="{0D108BD9-81ED-4DB2-BD59-A6C34878D82A}">
                    <a16:rowId xmlns:a16="http://schemas.microsoft.com/office/drawing/2014/main" val="10001"/>
                  </a:ext>
                </a:extLst>
              </a:tr>
              <a:tr h="411480">
                <a:tc>
                  <a:txBody>
                    <a:bodyPr/>
                    <a:lstStyle/>
                    <a:p>
                      <a:r>
                        <a:rPr sz="1500" b="0">
                          <a:solidFill>
                            <a:srgbClr val="0B0B0B"/>
                          </a:solidFill>
                          <a:latin typeface="Segoe UI"/>
                        </a:rPr>
                        <a:t>CGPA split: test</a:t>
                      </a:r>
                    </a:p>
                  </a:txBody>
                  <a:tcPr marL="64008" marR="64008" marT="18288" marB="18288" anchor="ctr">
                    <a:solidFill>
                      <a:srgbClr val="F7F8FA"/>
                    </a:solidFill>
                  </a:tcPr>
                </a:tc>
                <a:tc>
                  <a:txBody>
                    <a:bodyPr/>
                    <a:lstStyle/>
                    <a:p>
                      <a:r>
                        <a:rPr sz="1500" b="0">
                          <a:solidFill>
                            <a:srgbClr val="0B0B0B"/>
                          </a:solidFill>
                          <a:latin typeface="Segoe UI"/>
                        </a:rPr>
                        <a:t>35</a:t>
                      </a:r>
                    </a:p>
                  </a:txBody>
                  <a:tcPr marL="64008" marR="64008" marT="18288" marB="18288" anchor="ctr">
                    <a:solidFill>
                      <a:srgbClr val="F7F8FA"/>
                    </a:solidFill>
                  </a:tcPr>
                </a:tc>
                <a:tc>
                  <a:txBody>
                    <a:bodyPr/>
                    <a:lstStyle/>
                    <a:p>
                      <a:r>
                        <a:rPr sz="1500" b="0">
                          <a:solidFill>
                            <a:srgbClr val="0B0B0B"/>
                          </a:solidFill>
                          <a:latin typeface="Segoe UI"/>
                        </a:rPr>
                        <a:t>66</a:t>
                      </a:r>
                    </a:p>
                  </a:txBody>
                  <a:tcPr marL="64008" marR="64008" marT="18288" marB="18288" anchor="ctr">
                    <a:solidFill>
                      <a:srgbClr val="F7F8FA"/>
                    </a:solidFill>
                  </a:tcPr>
                </a:tc>
                <a:tc>
                  <a:txBody>
                    <a:bodyPr/>
                    <a:lstStyle/>
                    <a:p>
                      <a:r>
                        <a:rPr sz="1500" b="0">
                          <a:solidFill>
                            <a:srgbClr val="0B0B0B"/>
                          </a:solidFill>
                          <a:latin typeface="Segoe UI"/>
                        </a:rPr>
                        <a:t>46</a:t>
                      </a:r>
                    </a:p>
                  </a:txBody>
                  <a:tcPr marL="64008" marR="64008" marT="18288" marB="18288" anchor="ctr">
                    <a:solidFill>
                      <a:srgbClr val="F7F8FA"/>
                    </a:solidFill>
                  </a:tcPr>
                </a:tc>
                <a:tc>
                  <a:txBody>
                    <a:bodyPr/>
                    <a:lstStyle/>
                    <a:p>
                      <a:r>
                        <a:rPr sz="1500" b="0">
                          <a:solidFill>
                            <a:srgbClr val="0B0B0B"/>
                          </a:solidFill>
                          <a:latin typeface="Segoe UI"/>
                        </a:rPr>
                        <a:t>37</a:t>
                      </a:r>
                    </a:p>
                  </a:txBody>
                  <a:tcPr marL="64008" marR="64008" marT="18288" marB="18288" anchor="ctr">
                    <a:solidFill>
                      <a:srgbClr val="F7F8FA"/>
                    </a:solidFill>
                  </a:tcPr>
                </a:tc>
                <a:tc>
                  <a:txBody>
                    <a:bodyPr/>
                    <a:lstStyle/>
                    <a:p>
                      <a:r>
                        <a:rPr sz="1500" b="0">
                          <a:solidFill>
                            <a:srgbClr val="0B0B0B"/>
                          </a:solidFill>
                          <a:latin typeface="Segoe UI"/>
                        </a:rPr>
                        <a:t>184</a:t>
                      </a:r>
                    </a:p>
                  </a:txBody>
                  <a:tcPr marL="64008" marR="64008" marT="18288" marB="18288" anchor="ctr">
                    <a:solidFill>
                      <a:srgbClr val="F7F8FA"/>
                    </a:solidFill>
                  </a:tcPr>
                </a:tc>
                <a:extLst>
                  <a:ext uri="{0D108BD9-81ED-4DB2-BD59-A6C34878D82A}">
                    <a16:rowId xmlns:a16="http://schemas.microsoft.com/office/drawing/2014/main" val="10002"/>
                  </a:ext>
                </a:extLst>
              </a:tr>
              <a:tr h="411480">
                <a:tc>
                  <a:txBody>
                    <a:bodyPr/>
                    <a:lstStyle/>
                    <a:p>
                      <a:r>
                        <a:rPr sz="1500" b="0">
                          <a:solidFill>
                            <a:srgbClr val="0B0B0B"/>
                          </a:solidFill>
                          <a:latin typeface="Segoe UI"/>
                        </a:rPr>
                        <a:t>SGPA split: train</a:t>
                      </a:r>
                    </a:p>
                  </a:txBody>
                  <a:tcPr marL="64008" marR="64008" marT="18288" marB="18288" anchor="ctr">
                    <a:solidFill>
                      <a:srgbClr val="FFFFFF"/>
                    </a:solidFill>
                  </a:tcPr>
                </a:tc>
                <a:tc>
                  <a:txBody>
                    <a:bodyPr/>
                    <a:lstStyle/>
                    <a:p>
                      <a:r>
                        <a:rPr sz="1500" b="0">
                          <a:solidFill>
                            <a:srgbClr val="0B0B0B"/>
                          </a:solidFill>
                          <a:latin typeface="Segoe UI"/>
                        </a:rPr>
                        <a:t>143</a:t>
                      </a:r>
                    </a:p>
                  </a:txBody>
                  <a:tcPr marL="64008" marR="64008" marT="18288" marB="18288" anchor="ctr">
                    <a:solidFill>
                      <a:srgbClr val="FFFFFF"/>
                    </a:solidFill>
                  </a:tcPr>
                </a:tc>
                <a:tc>
                  <a:txBody>
                    <a:bodyPr/>
                    <a:lstStyle/>
                    <a:p>
                      <a:r>
                        <a:rPr sz="1500" b="0">
                          <a:solidFill>
                            <a:srgbClr val="0B0B0B"/>
                          </a:solidFill>
                          <a:latin typeface="Segoe UI"/>
                        </a:rPr>
                        <a:t>213</a:t>
                      </a:r>
                    </a:p>
                  </a:txBody>
                  <a:tcPr marL="64008" marR="64008" marT="18288" marB="18288" anchor="ctr">
                    <a:solidFill>
                      <a:srgbClr val="FFFFFF"/>
                    </a:solidFill>
                  </a:tcPr>
                </a:tc>
                <a:tc>
                  <a:txBody>
                    <a:bodyPr/>
                    <a:lstStyle/>
                    <a:p>
                      <a:r>
                        <a:rPr sz="1500" b="0">
                          <a:solidFill>
                            <a:srgbClr val="0B0B0B"/>
                          </a:solidFill>
                          <a:latin typeface="Segoe UI"/>
                        </a:rPr>
                        <a:t>210</a:t>
                      </a:r>
                    </a:p>
                  </a:txBody>
                  <a:tcPr marL="64008" marR="64008" marT="18288" marB="18288" anchor="ctr">
                    <a:solidFill>
                      <a:srgbClr val="FFFFFF"/>
                    </a:solidFill>
                  </a:tcPr>
                </a:tc>
                <a:tc>
                  <a:txBody>
                    <a:bodyPr/>
                    <a:lstStyle/>
                    <a:p>
                      <a:r>
                        <a:rPr sz="1500" b="0">
                          <a:solidFill>
                            <a:srgbClr val="0B0B0B"/>
                          </a:solidFill>
                          <a:latin typeface="Segoe UI"/>
                        </a:rPr>
                        <a:t>170</a:t>
                      </a:r>
                    </a:p>
                  </a:txBody>
                  <a:tcPr marL="64008" marR="64008" marT="18288" marB="18288" anchor="ctr">
                    <a:solidFill>
                      <a:srgbClr val="FFFFFF"/>
                    </a:solidFill>
                  </a:tcPr>
                </a:tc>
                <a:tc>
                  <a:txBody>
                    <a:bodyPr/>
                    <a:lstStyle/>
                    <a:p>
                      <a:r>
                        <a:rPr sz="1500" b="0">
                          <a:solidFill>
                            <a:srgbClr val="0B0B0B"/>
                          </a:solidFill>
                          <a:latin typeface="Segoe UI"/>
                        </a:rPr>
                        <a:t>736</a:t>
                      </a:r>
                    </a:p>
                  </a:txBody>
                  <a:tcPr marL="64008" marR="64008" marT="18288" marB="18288" anchor="ctr">
                    <a:solidFill>
                      <a:srgbClr val="FFFFFF"/>
                    </a:solidFill>
                  </a:tcPr>
                </a:tc>
                <a:extLst>
                  <a:ext uri="{0D108BD9-81ED-4DB2-BD59-A6C34878D82A}">
                    <a16:rowId xmlns:a16="http://schemas.microsoft.com/office/drawing/2014/main" val="10003"/>
                  </a:ext>
                </a:extLst>
              </a:tr>
              <a:tr h="411480">
                <a:tc>
                  <a:txBody>
                    <a:bodyPr/>
                    <a:lstStyle/>
                    <a:p>
                      <a:r>
                        <a:rPr sz="1500" b="0">
                          <a:solidFill>
                            <a:srgbClr val="0B0B0B"/>
                          </a:solidFill>
                          <a:latin typeface="Segoe UI"/>
                        </a:rPr>
                        <a:t>SGPA split: test</a:t>
                      </a:r>
                    </a:p>
                  </a:txBody>
                  <a:tcPr marL="64008" marR="64008" marT="18288" marB="18288" anchor="ctr">
                    <a:solidFill>
                      <a:srgbClr val="F7F8FA"/>
                    </a:solidFill>
                  </a:tcPr>
                </a:tc>
                <a:tc>
                  <a:txBody>
                    <a:bodyPr/>
                    <a:lstStyle/>
                    <a:p>
                      <a:r>
                        <a:rPr sz="1500" b="0">
                          <a:solidFill>
                            <a:srgbClr val="0B0B0B"/>
                          </a:solidFill>
                          <a:latin typeface="Segoe UI"/>
                        </a:rPr>
                        <a:t>28</a:t>
                      </a:r>
                    </a:p>
                  </a:txBody>
                  <a:tcPr marL="64008" marR="64008" marT="18288" marB="18288" anchor="ctr">
                    <a:solidFill>
                      <a:srgbClr val="F7F8FA"/>
                    </a:solidFill>
                  </a:tcPr>
                </a:tc>
                <a:tc>
                  <a:txBody>
                    <a:bodyPr/>
                    <a:lstStyle/>
                    <a:p>
                      <a:r>
                        <a:rPr sz="1500" b="0">
                          <a:solidFill>
                            <a:srgbClr val="0B0B0B"/>
                          </a:solidFill>
                          <a:latin typeface="Segoe UI"/>
                        </a:rPr>
                        <a:t>56</a:t>
                      </a:r>
                    </a:p>
                  </a:txBody>
                  <a:tcPr marL="64008" marR="64008" marT="18288" marB="18288" anchor="ctr">
                    <a:solidFill>
                      <a:srgbClr val="F7F8FA"/>
                    </a:solidFill>
                  </a:tcPr>
                </a:tc>
                <a:tc>
                  <a:txBody>
                    <a:bodyPr/>
                    <a:lstStyle/>
                    <a:p>
                      <a:r>
                        <a:rPr sz="1500" b="0">
                          <a:solidFill>
                            <a:srgbClr val="0B0B0B"/>
                          </a:solidFill>
                          <a:latin typeface="Segoe UI"/>
                        </a:rPr>
                        <a:t>51</a:t>
                      </a:r>
                    </a:p>
                  </a:txBody>
                  <a:tcPr marL="64008" marR="64008" marT="18288" marB="18288" anchor="ctr">
                    <a:solidFill>
                      <a:srgbClr val="F7F8FA"/>
                    </a:solidFill>
                  </a:tcPr>
                </a:tc>
                <a:tc>
                  <a:txBody>
                    <a:bodyPr/>
                    <a:lstStyle/>
                    <a:p>
                      <a:r>
                        <a:rPr sz="1500" b="0">
                          <a:solidFill>
                            <a:srgbClr val="0B0B0B"/>
                          </a:solidFill>
                          <a:latin typeface="Segoe UI"/>
                        </a:rPr>
                        <a:t>49</a:t>
                      </a:r>
                    </a:p>
                  </a:txBody>
                  <a:tcPr marL="64008" marR="64008" marT="18288" marB="18288" anchor="ctr">
                    <a:solidFill>
                      <a:srgbClr val="F7F8FA"/>
                    </a:solidFill>
                  </a:tcPr>
                </a:tc>
                <a:tc>
                  <a:txBody>
                    <a:bodyPr/>
                    <a:lstStyle/>
                    <a:p>
                      <a:r>
                        <a:rPr sz="1500" b="0">
                          <a:solidFill>
                            <a:srgbClr val="0B0B0B"/>
                          </a:solidFill>
                          <a:latin typeface="Segoe UI"/>
                        </a:rPr>
                        <a:t>184</a:t>
                      </a:r>
                    </a:p>
                  </a:txBody>
                  <a:tcPr marL="64008" marR="64008" marT="18288" marB="18288" anchor="ctr">
                    <a:solidFill>
                      <a:srgbClr val="F7F8FA"/>
                    </a:solid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626059127"/>
              </p:ext>
            </p:extLst>
          </p:nvPr>
        </p:nvGraphicFramePr>
        <p:xfrm>
          <a:off x="548640" y="3703320"/>
          <a:ext cx="11064240" cy="164592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11480">
                <a:tc>
                  <a:txBody>
                    <a:bodyPr/>
                    <a:lstStyle/>
                    <a:p>
                      <a:r>
                        <a:rPr sz="1400" b="1">
                          <a:solidFill>
                            <a:srgbClr val="FFFFFF"/>
                          </a:solidFill>
                          <a:latin typeface="Segoe UI"/>
                        </a:rPr>
                        <a:t>Experiment</a:t>
                      </a:r>
                    </a:p>
                  </a:txBody>
                  <a:tcPr marL="64008" marR="64008" marT="18288" marB="18288" anchor="ctr">
                    <a:solidFill>
                      <a:srgbClr val="1F3B5C"/>
                    </a:solidFill>
                  </a:tcPr>
                </a:tc>
                <a:tc>
                  <a:txBody>
                    <a:bodyPr/>
                    <a:lstStyle/>
                    <a:p>
                      <a:r>
                        <a:rPr sz="1400" b="1">
                          <a:solidFill>
                            <a:srgbClr val="FFFFFF"/>
                          </a:solidFill>
                          <a:latin typeface="Segoe UI"/>
                        </a:rPr>
                        <a:t>Depth</a:t>
                      </a:r>
                    </a:p>
                  </a:txBody>
                  <a:tcPr marL="64008" marR="64008" marT="18288" marB="18288" anchor="ctr">
                    <a:solidFill>
                      <a:srgbClr val="1F3B5C"/>
                    </a:solidFill>
                  </a:tcPr>
                </a:tc>
                <a:tc>
                  <a:txBody>
                    <a:bodyPr/>
                    <a:lstStyle/>
                    <a:p>
                      <a:r>
                        <a:rPr sz="1400" b="1">
                          <a:solidFill>
                            <a:srgbClr val="FFFFFF"/>
                          </a:solidFill>
                          <a:latin typeface="Segoe UI"/>
                        </a:rPr>
                        <a:t>Min students per box</a:t>
                      </a:r>
                    </a:p>
                  </a:txBody>
                  <a:tcPr marL="64008" marR="64008" marT="18288" marB="18288" anchor="ctr">
                    <a:solidFill>
                      <a:srgbClr val="1F3B5C"/>
                    </a:solidFill>
                  </a:tcPr>
                </a:tc>
                <a:tc>
                  <a:txBody>
                    <a:bodyPr/>
                    <a:lstStyle/>
                    <a:p>
                      <a:r>
                        <a:rPr sz="1400" b="1">
                          <a:solidFill>
                            <a:srgbClr val="FFFFFF"/>
                          </a:solidFill>
                          <a:latin typeface="Segoe UI"/>
                        </a:rPr>
                        <a:t>Final boxes</a:t>
                      </a:r>
                    </a:p>
                  </a:txBody>
                  <a:tcPr marL="64008" marR="64008" marT="18288" marB="18288" anchor="ctr">
                    <a:solidFill>
                      <a:srgbClr val="1F3B5C"/>
                    </a:solidFill>
                  </a:tcPr>
                </a:tc>
                <a:tc>
                  <a:txBody>
                    <a:bodyPr/>
                    <a:lstStyle/>
                    <a:p>
                      <a:r>
                        <a:rPr sz="1400" b="1">
                          <a:solidFill>
                            <a:srgbClr val="FFFFFF"/>
                          </a:solidFill>
                          <a:latin typeface="Segoe UI"/>
                        </a:rPr>
                        <a:t>5-fold CV accuracy</a:t>
                      </a:r>
                    </a:p>
                  </a:txBody>
                  <a:tcPr marL="64008" marR="64008" marT="18288" marB="18288" anchor="ctr">
                    <a:solidFill>
                      <a:srgbClr val="1F3B5C"/>
                    </a:solidFill>
                  </a:tcPr>
                </a:tc>
                <a:tc>
                  <a:txBody>
                    <a:bodyPr/>
                    <a:lstStyle/>
                    <a:p>
                      <a:r>
                        <a:rPr sz="1400" b="1">
                          <a:solidFill>
                            <a:srgbClr val="FFFFFF"/>
                          </a:solidFill>
                          <a:latin typeface="Segoe UI"/>
                        </a:rPr>
                        <a:t>Test accuracy</a:t>
                      </a:r>
                    </a:p>
                  </a:txBody>
                  <a:tcPr marL="64008" marR="64008" marT="18288" marB="18288" anchor="ctr">
                    <a:solidFill>
                      <a:srgbClr val="1F3B5C"/>
                    </a:solidFill>
                  </a:tcPr>
                </a:tc>
                <a:extLst>
                  <a:ext uri="{0D108BD9-81ED-4DB2-BD59-A6C34878D82A}">
                    <a16:rowId xmlns:a16="http://schemas.microsoft.com/office/drawing/2014/main" val="10000"/>
                  </a:ext>
                </a:extLst>
              </a:tr>
              <a:tr h="411480">
                <a:tc>
                  <a:txBody>
                    <a:bodyPr/>
                    <a:lstStyle/>
                    <a:p>
                      <a:r>
                        <a:rPr lang="en-US" sz="1400" b="0">
                          <a:solidFill>
                            <a:srgbClr val="0B0B0B"/>
                          </a:solidFill>
                          <a:latin typeface="Segoe UI"/>
                        </a:rPr>
                        <a:t>SGPA prediction</a:t>
                      </a:r>
                      <a:endParaRPr sz="1400" b="0">
                        <a:solidFill>
                          <a:srgbClr val="0B0B0B"/>
                        </a:solidFill>
                        <a:latin typeface="Segoe UI"/>
                      </a:endParaRPr>
                    </a:p>
                  </a:txBody>
                  <a:tcPr marL="64008" marR="64008" marT="18288" marB="18288" anchor="ctr">
                    <a:solidFill>
                      <a:srgbClr val="FFFFFF"/>
                    </a:solidFill>
                  </a:tcPr>
                </a:tc>
                <a:tc>
                  <a:txBody>
                    <a:bodyPr/>
                    <a:lstStyle/>
                    <a:p>
                      <a:r>
                        <a:rPr sz="1400" b="0">
                          <a:solidFill>
                            <a:srgbClr val="0B0B0B"/>
                          </a:solidFill>
                          <a:latin typeface="Segoe UI"/>
                        </a:rPr>
                        <a:t>5</a:t>
                      </a:r>
                    </a:p>
                  </a:txBody>
                  <a:tcPr marL="64008" marR="64008" marT="18288" marB="18288" anchor="ctr">
                    <a:solidFill>
                      <a:srgbClr val="FFFFFF"/>
                    </a:solidFill>
                  </a:tcPr>
                </a:tc>
                <a:tc>
                  <a:txBody>
                    <a:bodyPr/>
                    <a:lstStyle/>
                    <a:p>
                      <a:r>
                        <a:rPr sz="1400" b="0">
                          <a:solidFill>
                            <a:srgbClr val="0B0B0B"/>
                          </a:solidFill>
                          <a:latin typeface="Segoe UI"/>
                        </a:rPr>
                        <a:t>40</a:t>
                      </a:r>
                    </a:p>
                  </a:txBody>
                  <a:tcPr marL="64008" marR="64008" marT="18288" marB="18288" anchor="ctr">
                    <a:solidFill>
                      <a:srgbClr val="FFFFFF"/>
                    </a:solidFill>
                  </a:tcPr>
                </a:tc>
                <a:tc>
                  <a:txBody>
                    <a:bodyPr/>
                    <a:lstStyle/>
                    <a:p>
                      <a:r>
                        <a:rPr sz="1400" b="0">
                          <a:solidFill>
                            <a:srgbClr val="0B0B0B"/>
                          </a:solidFill>
                          <a:latin typeface="Segoe UI"/>
                        </a:rPr>
                        <a:t>8</a:t>
                      </a:r>
                    </a:p>
                  </a:txBody>
                  <a:tcPr marL="64008" marR="64008" marT="18288" marB="18288" anchor="ctr">
                    <a:solidFill>
                      <a:srgbClr val="FFFFFF"/>
                    </a:solidFill>
                  </a:tcPr>
                </a:tc>
                <a:tc>
                  <a:txBody>
                    <a:bodyPr/>
                    <a:lstStyle/>
                    <a:p>
                      <a:r>
                        <a:rPr sz="1400" b="0">
                          <a:solidFill>
                            <a:srgbClr val="0B0B0B"/>
                          </a:solidFill>
                          <a:latin typeface="Segoe UI"/>
                        </a:rPr>
                        <a:t>26.3%</a:t>
                      </a:r>
                    </a:p>
                  </a:txBody>
                  <a:tcPr marL="64008" marR="64008" marT="18288" marB="18288" anchor="ctr">
                    <a:solidFill>
                      <a:srgbClr val="FFFFFF"/>
                    </a:solidFill>
                  </a:tcPr>
                </a:tc>
                <a:tc>
                  <a:txBody>
                    <a:bodyPr/>
                    <a:lstStyle/>
                    <a:p>
                      <a:r>
                        <a:rPr sz="1400" b="0">
                          <a:solidFill>
                            <a:srgbClr val="0B0B0B"/>
                          </a:solidFill>
                          <a:latin typeface="Segoe UI"/>
                        </a:rPr>
                        <a:t>27.2%</a:t>
                      </a:r>
                    </a:p>
                  </a:txBody>
                  <a:tcPr marL="64008" marR="64008" marT="18288" marB="18288" anchor="ctr">
                    <a:solidFill>
                      <a:srgbClr val="FFFFFF"/>
                    </a:solidFill>
                  </a:tcPr>
                </a:tc>
                <a:extLst>
                  <a:ext uri="{0D108BD9-81ED-4DB2-BD59-A6C34878D82A}">
                    <a16:rowId xmlns:a16="http://schemas.microsoft.com/office/drawing/2014/main" val="10001"/>
                  </a:ext>
                </a:extLst>
              </a:tr>
              <a:tr h="411480">
                <a:tc>
                  <a:txBody>
                    <a:bodyPr/>
                    <a:lstStyle/>
                    <a:p>
                      <a:r>
                        <a:rPr lang="en-US" sz="1400" b="0">
                          <a:solidFill>
                            <a:srgbClr val="0B0B0B"/>
                          </a:solidFill>
                          <a:latin typeface="Segoe UI"/>
                        </a:rPr>
                        <a:t>CGPA questionnaire diagnostic</a:t>
                      </a:r>
                      <a:endParaRPr sz="1400" b="0">
                        <a:solidFill>
                          <a:srgbClr val="0B0B0B"/>
                        </a:solidFill>
                        <a:latin typeface="Segoe UI"/>
                      </a:endParaRPr>
                    </a:p>
                  </a:txBody>
                  <a:tcPr marL="64008" marR="64008" marT="18288" marB="18288" anchor="ctr">
                    <a:solidFill>
                      <a:srgbClr val="F7F8FA"/>
                    </a:solidFill>
                  </a:tcPr>
                </a:tc>
                <a:tc>
                  <a:txBody>
                    <a:bodyPr/>
                    <a:lstStyle/>
                    <a:p>
                      <a:r>
                        <a:rPr sz="1400" b="0">
                          <a:solidFill>
                            <a:srgbClr val="0B0B0B"/>
                          </a:solidFill>
                          <a:latin typeface="Segoe UI"/>
                        </a:rPr>
                        <a:t>6</a:t>
                      </a:r>
                    </a:p>
                  </a:txBody>
                  <a:tcPr marL="64008" marR="64008" marT="18288" marB="18288" anchor="ctr">
                    <a:solidFill>
                      <a:srgbClr val="F7F8FA"/>
                    </a:solidFill>
                  </a:tcPr>
                </a:tc>
                <a:tc>
                  <a:txBody>
                    <a:bodyPr/>
                    <a:lstStyle/>
                    <a:p>
                      <a:r>
                        <a:rPr sz="1400" b="0">
                          <a:solidFill>
                            <a:srgbClr val="0B0B0B"/>
                          </a:solidFill>
                          <a:latin typeface="Segoe UI"/>
                        </a:rPr>
                        <a:t>40</a:t>
                      </a:r>
                    </a:p>
                  </a:txBody>
                  <a:tcPr marL="64008" marR="64008" marT="18288" marB="18288" anchor="ctr">
                    <a:solidFill>
                      <a:srgbClr val="F7F8FA"/>
                    </a:solidFill>
                  </a:tcPr>
                </a:tc>
                <a:tc>
                  <a:txBody>
                    <a:bodyPr/>
                    <a:lstStyle/>
                    <a:p>
                      <a:r>
                        <a:rPr sz="1400" b="0">
                          <a:solidFill>
                            <a:srgbClr val="0B0B0B"/>
                          </a:solidFill>
                          <a:latin typeface="Segoe UI"/>
                        </a:rPr>
                        <a:t>12</a:t>
                      </a:r>
                    </a:p>
                  </a:txBody>
                  <a:tcPr marL="64008" marR="64008" marT="18288" marB="18288" anchor="ctr">
                    <a:solidFill>
                      <a:srgbClr val="F7F8FA"/>
                    </a:solidFill>
                  </a:tcPr>
                </a:tc>
                <a:tc>
                  <a:txBody>
                    <a:bodyPr/>
                    <a:lstStyle/>
                    <a:p>
                      <a:r>
                        <a:rPr sz="1400" b="0">
                          <a:solidFill>
                            <a:srgbClr val="0B0B0B"/>
                          </a:solidFill>
                          <a:latin typeface="Segoe UI"/>
                        </a:rPr>
                        <a:t>27.8%</a:t>
                      </a:r>
                    </a:p>
                  </a:txBody>
                  <a:tcPr marL="64008" marR="64008" marT="18288" marB="18288" anchor="ctr">
                    <a:solidFill>
                      <a:srgbClr val="F7F8FA"/>
                    </a:solidFill>
                  </a:tcPr>
                </a:tc>
                <a:tc>
                  <a:txBody>
                    <a:bodyPr/>
                    <a:lstStyle/>
                    <a:p>
                      <a:r>
                        <a:rPr sz="1400" b="0">
                          <a:solidFill>
                            <a:srgbClr val="0B0B0B"/>
                          </a:solidFill>
                          <a:latin typeface="Segoe UI"/>
                        </a:rPr>
                        <a:t>33.1%</a:t>
                      </a:r>
                    </a:p>
                  </a:txBody>
                  <a:tcPr marL="64008" marR="64008" marT="18288" marB="18288" anchor="ctr">
                    <a:solidFill>
                      <a:srgbClr val="F7F8FA"/>
                    </a:solidFill>
                  </a:tcPr>
                </a:tc>
                <a:extLst>
                  <a:ext uri="{0D108BD9-81ED-4DB2-BD59-A6C34878D82A}">
                    <a16:rowId xmlns:a16="http://schemas.microsoft.com/office/drawing/2014/main" val="10002"/>
                  </a:ext>
                </a:extLst>
              </a:tr>
              <a:tr h="411480">
                <a:tc>
                  <a:txBody>
                    <a:bodyPr/>
                    <a:lstStyle/>
                    <a:p>
                      <a:r>
                        <a:rPr lang="en-US" sz="1400" b="0">
                          <a:solidFill>
                            <a:srgbClr val="0B0B0B"/>
                          </a:solidFill>
                          <a:latin typeface="Segoe UI"/>
                        </a:rPr>
                        <a:t>Main CGPA prediction</a:t>
                      </a:r>
                      <a:endParaRPr sz="1400" b="0">
                        <a:solidFill>
                          <a:srgbClr val="0B0B0B"/>
                        </a:solidFill>
                        <a:latin typeface="Segoe UI"/>
                      </a:endParaRPr>
                    </a:p>
                  </a:txBody>
                  <a:tcPr marL="64008" marR="64008" marT="18288" marB="18288" anchor="ctr">
                    <a:solidFill>
                      <a:srgbClr val="FFFFFF"/>
                    </a:solidFill>
                  </a:tcPr>
                </a:tc>
                <a:tc>
                  <a:txBody>
                    <a:bodyPr/>
                    <a:lstStyle/>
                    <a:p>
                      <a:r>
                        <a:rPr sz="1400" b="0">
                          <a:solidFill>
                            <a:srgbClr val="0B0B0B"/>
                          </a:solidFill>
                          <a:latin typeface="Segoe UI"/>
                        </a:rPr>
                        <a:t>1</a:t>
                      </a:r>
                    </a:p>
                  </a:txBody>
                  <a:tcPr marL="64008" marR="64008" marT="18288" marB="18288" anchor="ctr">
                    <a:solidFill>
                      <a:srgbClr val="FFFFFF"/>
                    </a:solidFill>
                  </a:tcPr>
                </a:tc>
                <a:tc>
                  <a:txBody>
                    <a:bodyPr/>
                    <a:lstStyle/>
                    <a:p>
                      <a:r>
                        <a:rPr sz="1400" b="0">
                          <a:solidFill>
                            <a:srgbClr val="0B0B0B"/>
                          </a:solidFill>
                          <a:latin typeface="Segoe UI"/>
                        </a:rPr>
                        <a:t>40</a:t>
                      </a:r>
                    </a:p>
                  </a:txBody>
                  <a:tcPr marL="64008" marR="64008" marT="18288" marB="18288" anchor="ctr">
                    <a:solidFill>
                      <a:srgbClr val="FFFFFF"/>
                    </a:solidFill>
                  </a:tcPr>
                </a:tc>
                <a:tc>
                  <a:txBody>
                    <a:bodyPr/>
                    <a:lstStyle/>
                    <a:p>
                      <a:r>
                        <a:rPr sz="1400" b="0">
                          <a:solidFill>
                            <a:srgbClr val="0B0B0B"/>
                          </a:solidFill>
                          <a:latin typeface="Segoe UI"/>
                        </a:rPr>
                        <a:t>4</a:t>
                      </a:r>
                    </a:p>
                  </a:txBody>
                  <a:tcPr marL="64008" marR="64008" marT="18288" marB="18288" anchor="ctr">
                    <a:solidFill>
                      <a:srgbClr val="FFFFFF"/>
                    </a:solidFill>
                  </a:tcPr>
                </a:tc>
                <a:tc>
                  <a:txBody>
                    <a:bodyPr/>
                    <a:lstStyle/>
                    <a:p>
                      <a:r>
                        <a:rPr sz="1400" b="0">
                          <a:solidFill>
                            <a:srgbClr val="0B0B0B"/>
                          </a:solidFill>
                          <a:latin typeface="Segoe UI"/>
                        </a:rPr>
                        <a:t>54.4%</a:t>
                      </a:r>
                    </a:p>
                  </a:txBody>
                  <a:tcPr marL="64008" marR="64008" marT="18288" marB="18288" anchor="ctr">
                    <a:solidFill>
                      <a:srgbClr val="FFFFFF"/>
                    </a:solidFill>
                  </a:tcPr>
                </a:tc>
                <a:tc>
                  <a:txBody>
                    <a:bodyPr/>
                    <a:lstStyle/>
                    <a:p>
                      <a:r>
                        <a:rPr sz="1400" b="0">
                          <a:solidFill>
                            <a:srgbClr val="0B0B0B"/>
                          </a:solidFill>
                          <a:latin typeface="Segoe UI"/>
                        </a:rPr>
                        <a:t>51.1%</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48640" y="5486400"/>
            <a:ext cx="11064240" cy="731520"/>
          </a:xfrm>
          <a:prstGeom prst="rect">
            <a:avLst/>
          </a:prstGeom>
          <a:noFill/>
        </p:spPr>
        <p:txBody>
          <a:bodyPr wrap="square" lIns="27432" tIns="27432" rIns="27432" bIns="27432" anchor="t">
            <a:noAutofit/>
          </a:bodyPr>
          <a:lstStyle/>
          <a:p>
            <a:pPr algn="l">
              <a:lnSpc>
                <a:spcPct val="105000"/>
              </a:lnSpc>
            </a:pPr>
            <a:r>
              <a:rPr sz="1400" b="0">
                <a:solidFill>
                  <a:srgbClr val="52514E"/>
                </a:solidFill>
                <a:latin typeface="Helvetica Neue"/>
              </a:rPr>
              <a:t>WEKA J48 with at least 40 students per leaf (minNumObj 40). 5-fold CV on all 920 students; test = WEKA 80/20 percentage split, seed 1.</a:t>
            </a:r>
          </a:p>
        </p:txBody>
      </p:sp>
      <p:sp>
        <p:nvSpPr>
          <p:cNvPr id="10" name="SimpleLightSectionLabel">
            <a:extLst>
              <a:ext uri="{FF2B5EF4-FFF2-40B4-BE49-F238E27FC236}">
                <a16:creationId xmlns:a16="http://schemas.microsoft.com/office/drawing/2014/main" id="{71429EDE-BD26-4C80-AF8D-BB6D91FE412F}"/>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Why the Full WEKA J48 Tree Is Not Shown</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57</a:t>
            </a:r>
          </a:p>
        </p:txBody>
      </p:sp>
      <p:sp>
        <p:nvSpPr>
          <p:cNvPr id="7" name="Rounded Rectangle 6"/>
          <p:cNvSpPr/>
          <p:nvPr/>
        </p:nvSpPr>
        <p:spPr>
          <a:xfrm>
            <a:off x="548640" y="1371600"/>
            <a:ext cx="356616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81328"/>
            <a:ext cx="3291840" cy="804672"/>
          </a:xfrm>
          <a:prstGeom prst="rect">
            <a:avLst/>
          </a:prstGeom>
          <a:noFill/>
        </p:spPr>
        <p:txBody>
          <a:bodyPr wrap="square" lIns="27432" tIns="27432" rIns="27432" bIns="27432" anchor="ctr">
            <a:noAutofit/>
          </a:bodyPr>
          <a:lstStyle/>
          <a:p>
            <a:pPr algn="l">
              <a:lnSpc>
                <a:spcPct val="105000"/>
              </a:lnSpc>
            </a:pPr>
            <a:r>
              <a:rPr sz="4400" b="1">
                <a:solidFill>
                  <a:srgbClr val="2A78D6"/>
                </a:solidFill>
                <a:latin typeface="Helvetica Neue"/>
              </a:rPr>
              <a:t>216</a:t>
            </a:r>
          </a:p>
        </p:txBody>
      </p:sp>
      <p:sp>
        <p:nvSpPr>
          <p:cNvPr id="9" name="TextBox 8"/>
          <p:cNvSpPr txBox="1"/>
          <p:nvPr/>
        </p:nvSpPr>
        <p:spPr>
          <a:xfrm>
            <a:off x="685800" y="2220163"/>
            <a:ext cx="3291840" cy="58521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leaves: default WEKA J48, CGPA from questions</a:t>
            </a:r>
          </a:p>
        </p:txBody>
      </p:sp>
      <p:sp>
        <p:nvSpPr>
          <p:cNvPr id="10" name="Rounded Rectangle 9"/>
          <p:cNvSpPr/>
          <p:nvPr/>
        </p:nvSpPr>
        <p:spPr>
          <a:xfrm>
            <a:off x="4297680" y="1371600"/>
            <a:ext cx="356616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481328"/>
            <a:ext cx="3291840" cy="804672"/>
          </a:xfrm>
          <a:prstGeom prst="rect">
            <a:avLst/>
          </a:prstGeom>
          <a:noFill/>
        </p:spPr>
        <p:txBody>
          <a:bodyPr wrap="square" lIns="27432" tIns="27432" rIns="27432" bIns="27432" anchor="ctr">
            <a:noAutofit/>
          </a:bodyPr>
          <a:lstStyle/>
          <a:p>
            <a:pPr algn="l">
              <a:lnSpc>
                <a:spcPct val="105000"/>
              </a:lnSpc>
            </a:pPr>
            <a:r>
              <a:rPr sz="4400" b="1">
                <a:solidFill>
                  <a:srgbClr val="2A78D6"/>
                </a:solidFill>
                <a:latin typeface="Helvetica Neue"/>
              </a:rPr>
              <a:t>175</a:t>
            </a:r>
          </a:p>
        </p:txBody>
      </p:sp>
      <p:sp>
        <p:nvSpPr>
          <p:cNvPr id="12" name="TextBox 11"/>
          <p:cNvSpPr txBox="1"/>
          <p:nvPr/>
        </p:nvSpPr>
        <p:spPr>
          <a:xfrm>
            <a:off x="4434840" y="2220163"/>
            <a:ext cx="3291840" cy="585216"/>
          </a:xfrm>
          <a:prstGeom prst="rect">
            <a:avLst/>
          </a:prstGeom>
          <a:noFill/>
        </p:spPr>
        <p:txBody>
          <a:bodyPr wrap="square" lIns="27432" tIns="27432" rIns="27432" bIns="27432" anchor="t">
            <a:noAutofit/>
          </a:bodyPr>
          <a:lstStyle/>
          <a:p>
            <a:pPr algn="l">
              <a:lnSpc>
                <a:spcPct val="105000"/>
              </a:lnSpc>
            </a:pPr>
            <a:r>
              <a:rPr lang="en-US" sz="1500" b="0">
                <a:solidFill>
                  <a:srgbClr val="52514E"/>
                </a:solidFill>
                <a:latin typeface="Helvetica Neue"/>
              </a:rPr>
              <a:t>leaves: default WEKA J48, main CGPA</a:t>
            </a:r>
            <a:endParaRPr sz="1500" b="0">
              <a:solidFill>
                <a:srgbClr val="52514E"/>
              </a:solidFill>
              <a:latin typeface="Helvetica Neue"/>
            </a:endParaRPr>
          </a:p>
        </p:txBody>
      </p:sp>
      <p:sp>
        <p:nvSpPr>
          <p:cNvPr id="13" name="Rounded Rectangle 12"/>
          <p:cNvSpPr/>
          <p:nvPr/>
        </p:nvSpPr>
        <p:spPr>
          <a:xfrm>
            <a:off x="8046720" y="1371600"/>
            <a:ext cx="3566160" cy="146304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80" y="1481328"/>
            <a:ext cx="3291840" cy="804672"/>
          </a:xfrm>
          <a:prstGeom prst="rect">
            <a:avLst/>
          </a:prstGeom>
          <a:noFill/>
        </p:spPr>
        <p:txBody>
          <a:bodyPr wrap="square" lIns="27432" tIns="27432" rIns="27432" bIns="27432" anchor="ctr">
            <a:noAutofit/>
          </a:bodyPr>
          <a:lstStyle/>
          <a:p>
            <a:pPr algn="l">
              <a:lnSpc>
                <a:spcPct val="105000"/>
              </a:lnSpc>
            </a:pPr>
            <a:r>
              <a:rPr sz="4400" b="1">
                <a:solidFill>
                  <a:srgbClr val="0B6B0B"/>
                </a:solidFill>
                <a:latin typeface="Helvetica Neue"/>
              </a:rPr>
              <a:t>4–12</a:t>
            </a:r>
          </a:p>
        </p:txBody>
      </p:sp>
      <p:sp>
        <p:nvSpPr>
          <p:cNvPr id="15" name="TextBox 14"/>
          <p:cNvSpPr txBox="1"/>
          <p:nvPr/>
        </p:nvSpPr>
        <p:spPr>
          <a:xfrm>
            <a:off x="8183880" y="2220163"/>
            <a:ext cx="3291840" cy="585216"/>
          </a:xfrm>
          <a:prstGeom prst="rect">
            <a:avLst/>
          </a:prstGeom>
          <a:noFill/>
        </p:spPr>
        <p:txBody>
          <a:bodyPr wrap="square" lIns="27432" tIns="27432" rIns="27432" bIns="27432" anchor="t">
            <a:noAutofit/>
          </a:bodyPr>
          <a:lstStyle/>
          <a:p>
            <a:pPr algn="l">
              <a:lnSpc>
                <a:spcPct val="105000"/>
              </a:lnSpc>
            </a:pPr>
            <a:r>
              <a:rPr sz="1500" b="0">
                <a:solidFill>
                  <a:srgbClr val="52514E"/>
                </a:solidFill>
                <a:latin typeface="Helvetica Neue"/>
              </a:rPr>
              <a:t>leaves with at least 40 students per leaf</a:t>
            </a:r>
          </a:p>
        </p:txBody>
      </p:sp>
      <p:sp>
        <p:nvSpPr>
          <p:cNvPr id="16" name="TextBox 15"/>
          <p:cNvSpPr txBox="1"/>
          <p:nvPr/>
        </p:nvSpPr>
        <p:spPr>
          <a:xfrm>
            <a:off x="548640" y="3017520"/>
            <a:ext cx="4297680" cy="365760"/>
          </a:xfrm>
          <a:prstGeom prst="rect">
            <a:avLst/>
          </a:prstGeom>
          <a:noFill/>
        </p:spPr>
        <p:txBody>
          <a:bodyPr wrap="square" lIns="27432" tIns="27432" rIns="27432" bIns="27432" anchor="t">
            <a:noAutofit/>
          </a:bodyPr>
          <a:lstStyle/>
          <a:p>
            <a:pPr algn="l">
              <a:lnSpc>
                <a:spcPct val="105000"/>
              </a:lnSpc>
            </a:pPr>
            <a:r>
              <a:rPr lang="en-US" sz="1400" b="1">
                <a:solidFill>
                  <a:srgbClr val="0B0B0B"/>
                </a:solidFill>
                <a:latin typeface="Helvetica Neue"/>
              </a:rPr>
              <a:t>Default J48 tree (main CGPA): too big to read</a:t>
            </a:r>
            <a:endParaRPr sz="1400" b="1">
              <a:solidFill>
                <a:srgbClr val="0B0B0B"/>
              </a:solidFill>
              <a:latin typeface="Helvetica Neue"/>
            </a:endParaRPr>
          </a:p>
        </p:txBody>
      </p:sp>
      <p:pic>
        <p:nvPicPr>
          <p:cNvPr id="17" name="Picture 16" descr="weka_j48_tree_view.png"/>
          <p:cNvPicPr>
            <a:picLocks noChangeAspect="1"/>
          </p:cNvPicPr>
          <p:nvPr/>
        </p:nvPicPr>
        <p:blipFill>
          <a:blip r:embed="rId3"/>
          <a:stretch>
            <a:fillRect/>
          </a:stretch>
        </p:blipFill>
        <p:spPr>
          <a:xfrm>
            <a:off x="607422" y="3383280"/>
            <a:ext cx="4180114" cy="2926080"/>
          </a:xfrm>
          <a:prstGeom prst="rect">
            <a:avLst/>
          </a:prstGeom>
          <a:ln w="12700">
            <a:solidFill>
              <a:srgbClr val="DADCE0"/>
            </a:solidFill>
          </a:ln>
        </p:spPr>
      </p:pic>
      <p:sp>
        <p:nvSpPr>
          <p:cNvPr id="18" name="TextBox 17"/>
          <p:cNvSpPr txBox="1"/>
          <p:nvPr/>
        </p:nvSpPr>
        <p:spPr>
          <a:xfrm>
            <a:off x="5074920" y="3017520"/>
            <a:ext cx="3200400" cy="365760"/>
          </a:xfrm>
          <a:prstGeom prst="rect">
            <a:avLst/>
          </a:prstGeom>
          <a:noFill/>
        </p:spPr>
        <p:txBody>
          <a:bodyPr wrap="square" lIns="27432" tIns="27432" rIns="27432" bIns="27432" anchor="t">
            <a:noAutofit/>
          </a:bodyPr>
          <a:lstStyle/>
          <a:p>
            <a:pPr algn="l">
              <a:lnSpc>
                <a:spcPct val="105000"/>
              </a:lnSpc>
            </a:pPr>
            <a:r>
              <a:rPr sz="1300" b="1">
                <a:solidFill>
                  <a:srgbClr val="0B0B0B"/>
                </a:solidFill>
                <a:latin typeface="Helvetica Neue"/>
              </a:rPr>
              <a:t>Exp A: behaviour → SGPA (test)</a:t>
            </a:r>
          </a:p>
        </p:txBody>
      </p:sp>
      <p:pic>
        <p:nvPicPr>
          <p:cNvPr id="19" name="Picture 18" descr="sgpa_test_confusion_matrix.png"/>
          <p:cNvPicPr>
            <a:picLocks noChangeAspect="1"/>
          </p:cNvPicPr>
          <p:nvPr/>
        </p:nvPicPr>
        <p:blipFill>
          <a:blip r:embed="rId4"/>
          <a:stretch>
            <a:fillRect/>
          </a:stretch>
        </p:blipFill>
        <p:spPr>
          <a:xfrm>
            <a:off x="5088890" y="3383280"/>
            <a:ext cx="3172460" cy="2926080"/>
          </a:xfrm>
          <a:prstGeom prst="rect">
            <a:avLst/>
          </a:prstGeom>
        </p:spPr>
      </p:pic>
      <p:sp>
        <p:nvSpPr>
          <p:cNvPr id="20" name="TextBox 19"/>
          <p:cNvSpPr txBox="1"/>
          <p:nvPr/>
        </p:nvSpPr>
        <p:spPr>
          <a:xfrm>
            <a:off x="8412480" y="3017520"/>
            <a:ext cx="3200400" cy="365760"/>
          </a:xfrm>
          <a:prstGeom prst="rect">
            <a:avLst/>
          </a:prstGeom>
          <a:noFill/>
        </p:spPr>
        <p:txBody>
          <a:bodyPr wrap="square" lIns="27432" tIns="27432" rIns="27432" bIns="27432" anchor="t">
            <a:noAutofit/>
          </a:bodyPr>
          <a:lstStyle/>
          <a:p>
            <a:pPr algn="l">
              <a:lnSpc>
                <a:spcPct val="105000"/>
              </a:lnSpc>
            </a:pPr>
            <a:r>
              <a:rPr sz="1300" b="1">
                <a:solidFill>
                  <a:srgbClr val="0B0B0B"/>
                </a:solidFill>
                <a:latin typeface="Helvetica Neue"/>
              </a:rPr>
              <a:t>Exp B: behaviour → CGPA (test)</a:t>
            </a:r>
          </a:p>
        </p:txBody>
      </p:sp>
      <p:pic>
        <p:nvPicPr>
          <p:cNvPr id="21" name="Picture 20" descr="cgpa_behavior_test_confusion_matrix.png"/>
          <p:cNvPicPr>
            <a:picLocks noChangeAspect="1"/>
          </p:cNvPicPr>
          <p:nvPr/>
        </p:nvPicPr>
        <p:blipFill>
          <a:blip r:embed="rId5"/>
          <a:stretch>
            <a:fillRect/>
          </a:stretch>
        </p:blipFill>
        <p:spPr>
          <a:xfrm>
            <a:off x="8426450" y="3383280"/>
            <a:ext cx="3172460" cy="2926080"/>
          </a:xfrm>
          <a:prstGeom prst="rect">
            <a:avLst/>
          </a:prstGeom>
        </p:spPr>
      </p:pic>
      <p:sp>
        <p:nvSpPr>
          <p:cNvPr id="22" name="SimpleLightSectionLabel">
            <a:extLst>
              <a:ext uri="{FF2B5EF4-FFF2-40B4-BE49-F238E27FC236}">
                <a16:creationId xmlns:a16="http://schemas.microsoft.com/office/drawing/2014/main" id="{CB75F380-312D-4474-8BE2-D31331E985B2}"/>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Full WEKA Results (5-fold cross-validation)</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58</a:t>
            </a:r>
          </a:p>
        </p:txBody>
      </p:sp>
      <p:graphicFrame>
        <p:nvGraphicFramePr>
          <p:cNvPr id="7" name="Table 6"/>
          <p:cNvGraphicFramePr>
            <a:graphicFrameLocks noGrp="1"/>
          </p:cNvGraphicFramePr>
          <p:nvPr>
            <p:extLst>
              <p:ext uri="{D42A27DB-BD31-4B8C-83A1-F6EECF244321}">
                <p14:modId xmlns:p14="http://schemas.microsoft.com/office/powerpoint/2010/main" val="4231880879"/>
              </p:ext>
            </p:extLst>
          </p:nvPr>
        </p:nvGraphicFramePr>
        <p:xfrm>
          <a:off x="548640" y="1463040"/>
          <a:ext cx="11064240" cy="35204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502920">
                <a:tc>
                  <a:txBody>
                    <a:bodyPr/>
                    <a:lstStyle/>
                    <a:p>
                      <a:r>
                        <a:rPr sz="1600" b="1">
                          <a:solidFill>
                            <a:srgbClr val="FFFFFF"/>
                          </a:solidFill>
                          <a:latin typeface="Segoe UI"/>
                        </a:rPr>
                        <a:t>Model</a:t>
                      </a:r>
                    </a:p>
                  </a:txBody>
                  <a:tcPr marL="64008" marR="64008" marT="18288" marB="18288" anchor="ctr">
                    <a:solidFill>
                      <a:srgbClr val="1F3B5C"/>
                    </a:solidFill>
                  </a:tcPr>
                </a:tc>
                <a:tc>
                  <a:txBody>
                    <a:bodyPr/>
                    <a:lstStyle/>
                    <a:p>
                      <a:r>
                        <a:rPr lang="en-US" sz="1600" b="1">
                          <a:solidFill>
                            <a:srgbClr val="FFFFFF"/>
                          </a:solidFill>
                          <a:latin typeface="Segoe UI"/>
                        </a:rPr>
                        <a:t>Main CGPA acc.</a:t>
                      </a:r>
                      <a:endParaRPr sz="1600" b="1">
                        <a:solidFill>
                          <a:srgbClr val="FFFFFF"/>
                        </a:solidFill>
                        <a:latin typeface="Segoe UI"/>
                      </a:endParaRPr>
                    </a:p>
                  </a:txBody>
                  <a:tcPr marL="64008" marR="64008" marT="18288" marB="18288" anchor="ctr">
                    <a:solidFill>
                      <a:srgbClr val="1F3B5C"/>
                    </a:solidFill>
                  </a:tcPr>
                </a:tc>
                <a:tc>
                  <a:txBody>
                    <a:bodyPr/>
                    <a:lstStyle/>
                    <a:p>
                      <a:r>
                        <a:rPr sz="1600" b="1">
                          <a:solidFill>
                            <a:srgbClr val="FFFFFF"/>
                          </a:solidFill>
                          <a:latin typeface="Segoe UI"/>
                        </a:rPr>
                        <a:t>W-F1</a:t>
                      </a:r>
                    </a:p>
                  </a:txBody>
                  <a:tcPr marL="64008" marR="64008" marT="18288" marB="18288" anchor="ctr">
                    <a:solidFill>
                      <a:srgbClr val="1F3B5C"/>
                    </a:solidFill>
                  </a:tcPr>
                </a:tc>
                <a:tc>
                  <a:txBody>
                    <a:bodyPr/>
                    <a:lstStyle/>
                    <a:p>
                      <a:r>
                        <a:rPr sz="1600" b="1">
                          <a:solidFill>
                            <a:srgbClr val="FFFFFF"/>
                          </a:solidFill>
                          <a:latin typeface="Segoe UI"/>
                        </a:rPr>
                        <a:t>Kappa</a:t>
                      </a:r>
                    </a:p>
                  </a:txBody>
                  <a:tcPr marL="64008" marR="64008" marT="18288" marB="18288" anchor="ctr">
                    <a:solidFill>
                      <a:srgbClr val="1F3B5C"/>
                    </a:solidFill>
                  </a:tcPr>
                </a:tc>
                <a:tc>
                  <a:txBody>
                    <a:bodyPr/>
                    <a:lstStyle/>
                    <a:p>
                      <a:r>
                        <a:rPr lang="en-US" sz="1600" b="1">
                          <a:solidFill>
                            <a:srgbClr val="FFFFFF"/>
                          </a:solidFill>
                          <a:latin typeface="Segoe UI"/>
                        </a:rPr>
                        <a:t>CGPA diagnostic acc.</a:t>
                      </a:r>
                      <a:endParaRPr sz="1600" b="1">
                        <a:solidFill>
                          <a:srgbClr val="FFFFFF"/>
                        </a:solidFill>
                        <a:latin typeface="Segoe UI"/>
                      </a:endParaRPr>
                    </a:p>
                  </a:txBody>
                  <a:tcPr marL="64008" marR="64008" marT="18288" marB="18288" anchor="ctr">
                    <a:solidFill>
                      <a:srgbClr val="1F3B5C"/>
                    </a:solidFill>
                  </a:tcPr>
                </a:tc>
                <a:tc>
                  <a:txBody>
                    <a:bodyPr/>
                    <a:lstStyle/>
                    <a:p>
                      <a:r>
                        <a:rPr sz="1600" b="1">
                          <a:solidFill>
                            <a:srgbClr val="FFFFFF"/>
                          </a:solidFill>
                          <a:latin typeface="Segoe UI"/>
                        </a:rPr>
                        <a:t>W-F1</a:t>
                      </a:r>
                    </a:p>
                  </a:txBody>
                  <a:tcPr marL="64008" marR="64008" marT="18288" marB="18288" anchor="ctr">
                    <a:solidFill>
                      <a:srgbClr val="1F3B5C"/>
                    </a:solidFill>
                  </a:tcPr>
                </a:tc>
                <a:tc>
                  <a:txBody>
                    <a:bodyPr/>
                    <a:lstStyle/>
                    <a:p>
                      <a:r>
                        <a:rPr sz="1600" b="1">
                          <a:solidFill>
                            <a:srgbClr val="FFFFFF"/>
                          </a:solidFill>
                          <a:latin typeface="Segoe UI"/>
                        </a:rPr>
                        <a:t>Kappa</a:t>
                      </a:r>
                    </a:p>
                  </a:txBody>
                  <a:tcPr marL="64008" marR="64008" marT="18288" marB="18288" anchor="ctr">
                    <a:solidFill>
                      <a:srgbClr val="1F3B5C"/>
                    </a:solidFill>
                  </a:tcPr>
                </a:tc>
                <a:extLst>
                  <a:ext uri="{0D108BD9-81ED-4DB2-BD59-A6C34878D82A}">
                    <a16:rowId xmlns:a16="http://schemas.microsoft.com/office/drawing/2014/main" val="10000"/>
                  </a:ext>
                </a:extLst>
              </a:tr>
              <a:tr h="502920">
                <a:tc>
                  <a:txBody>
                    <a:bodyPr/>
                    <a:lstStyle/>
                    <a:p>
                      <a:r>
                        <a:rPr sz="1600" b="0">
                          <a:solidFill>
                            <a:srgbClr val="0B0B0B"/>
                          </a:solidFill>
                          <a:latin typeface="Segoe UI"/>
                        </a:rPr>
                        <a:t>ZeroR</a:t>
                      </a:r>
                    </a:p>
                  </a:txBody>
                  <a:tcPr marL="64008" marR="64008" marT="18288" marB="18288" anchor="ctr">
                    <a:solidFill>
                      <a:srgbClr val="FFFFFF"/>
                    </a:solidFill>
                  </a:tcPr>
                </a:tc>
                <a:tc>
                  <a:txBody>
                    <a:bodyPr/>
                    <a:lstStyle/>
                    <a:p>
                      <a:r>
                        <a:rPr sz="1600" b="0">
                          <a:solidFill>
                            <a:srgbClr val="0B0B0B"/>
                          </a:solidFill>
                          <a:latin typeface="Segoe UI"/>
                        </a:rPr>
                        <a:t>30.9%</a:t>
                      </a:r>
                    </a:p>
                  </a:txBody>
                  <a:tcPr marL="64008" marR="64008" marT="18288" marB="18288" anchor="ctr">
                    <a:solidFill>
                      <a:srgbClr val="FFFFFF"/>
                    </a:solidFill>
                  </a:tcPr>
                </a:tc>
                <a:tc>
                  <a:txBody>
                    <a:bodyPr/>
                    <a:lstStyle/>
                    <a:p>
                      <a:r>
                        <a:rPr sz="1600" b="0">
                          <a:solidFill>
                            <a:srgbClr val="0B0B0B"/>
                          </a:solidFill>
                          <a:latin typeface="Segoe UI"/>
                        </a:rPr>
                        <a:t>—</a:t>
                      </a:r>
                    </a:p>
                  </a:txBody>
                  <a:tcPr marL="64008" marR="64008" marT="18288" marB="18288" anchor="ctr">
                    <a:solidFill>
                      <a:srgbClr val="FFFFFF"/>
                    </a:solidFill>
                  </a:tcPr>
                </a:tc>
                <a:tc>
                  <a:txBody>
                    <a:bodyPr/>
                    <a:lstStyle/>
                    <a:p>
                      <a:r>
                        <a:rPr sz="1600" b="0">
                          <a:solidFill>
                            <a:srgbClr val="0B0B0B"/>
                          </a:solidFill>
                          <a:latin typeface="Segoe UI"/>
                        </a:rPr>
                        <a:t>0.000</a:t>
                      </a:r>
                    </a:p>
                  </a:txBody>
                  <a:tcPr marL="64008" marR="64008" marT="18288" marB="18288" anchor="ctr">
                    <a:solidFill>
                      <a:srgbClr val="FFFFFF"/>
                    </a:solidFill>
                  </a:tcPr>
                </a:tc>
                <a:tc>
                  <a:txBody>
                    <a:bodyPr/>
                    <a:lstStyle/>
                    <a:p>
                      <a:r>
                        <a:rPr sz="1600" b="0">
                          <a:solidFill>
                            <a:srgbClr val="0B0B0B"/>
                          </a:solidFill>
                          <a:latin typeface="Segoe UI"/>
                        </a:rPr>
                        <a:t>30.9%</a:t>
                      </a:r>
                    </a:p>
                  </a:txBody>
                  <a:tcPr marL="64008" marR="64008" marT="18288" marB="18288" anchor="ctr">
                    <a:solidFill>
                      <a:srgbClr val="FFFFFF"/>
                    </a:solidFill>
                  </a:tcPr>
                </a:tc>
                <a:tc>
                  <a:txBody>
                    <a:bodyPr/>
                    <a:lstStyle/>
                    <a:p>
                      <a:r>
                        <a:rPr sz="1600" b="0">
                          <a:solidFill>
                            <a:srgbClr val="0B0B0B"/>
                          </a:solidFill>
                          <a:latin typeface="Segoe UI"/>
                        </a:rPr>
                        <a:t>—</a:t>
                      </a:r>
                    </a:p>
                  </a:txBody>
                  <a:tcPr marL="64008" marR="64008" marT="18288" marB="18288" anchor="ctr">
                    <a:solidFill>
                      <a:srgbClr val="FFFFFF"/>
                    </a:solidFill>
                  </a:tcPr>
                </a:tc>
                <a:tc>
                  <a:txBody>
                    <a:bodyPr/>
                    <a:lstStyle/>
                    <a:p>
                      <a:r>
                        <a:rPr sz="1600" b="0">
                          <a:solidFill>
                            <a:srgbClr val="0B0B0B"/>
                          </a:solidFill>
                          <a:latin typeface="Segoe UI"/>
                        </a:rPr>
                        <a:t>0.000</a:t>
                      </a:r>
                    </a:p>
                  </a:txBody>
                  <a:tcPr marL="64008" marR="64008" marT="18288" marB="18288" anchor="ctr">
                    <a:solidFill>
                      <a:srgbClr val="FFFFFF"/>
                    </a:solidFill>
                  </a:tcPr>
                </a:tc>
                <a:extLst>
                  <a:ext uri="{0D108BD9-81ED-4DB2-BD59-A6C34878D82A}">
                    <a16:rowId xmlns:a16="http://schemas.microsoft.com/office/drawing/2014/main" val="10001"/>
                  </a:ext>
                </a:extLst>
              </a:tr>
              <a:tr h="502920">
                <a:tc>
                  <a:txBody>
                    <a:bodyPr/>
                    <a:lstStyle/>
                    <a:p>
                      <a:r>
                        <a:rPr sz="1600" b="0">
                          <a:solidFill>
                            <a:srgbClr val="0B0B0B"/>
                          </a:solidFill>
                          <a:latin typeface="Segoe UI"/>
                        </a:rPr>
                        <a:t>Logistic</a:t>
                      </a:r>
                    </a:p>
                  </a:txBody>
                  <a:tcPr marL="64008" marR="64008" marT="18288" marB="18288" anchor="ctr">
                    <a:solidFill>
                      <a:srgbClr val="F7F8FA"/>
                    </a:solidFill>
                  </a:tcPr>
                </a:tc>
                <a:tc>
                  <a:txBody>
                    <a:bodyPr/>
                    <a:lstStyle/>
                    <a:p>
                      <a:r>
                        <a:rPr sz="1600" b="0">
                          <a:solidFill>
                            <a:srgbClr val="0B0B0B"/>
                          </a:solidFill>
                          <a:latin typeface="Segoe UI"/>
                        </a:rPr>
                        <a:t>54.7%</a:t>
                      </a:r>
                    </a:p>
                  </a:txBody>
                  <a:tcPr marL="64008" marR="64008" marT="18288" marB="18288" anchor="ctr">
                    <a:solidFill>
                      <a:srgbClr val="F7F8FA"/>
                    </a:solidFill>
                  </a:tcPr>
                </a:tc>
                <a:tc>
                  <a:txBody>
                    <a:bodyPr/>
                    <a:lstStyle/>
                    <a:p>
                      <a:r>
                        <a:rPr sz="1600" b="0">
                          <a:solidFill>
                            <a:srgbClr val="0B0B0B"/>
                          </a:solidFill>
                          <a:latin typeface="Segoe UI"/>
                        </a:rPr>
                        <a:t>0.546</a:t>
                      </a:r>
                    </a:p>
                  </a:txBody>
                  <a:tcPr marL="64008" marR="64008" marT="18288" marB="18288" anchor="ctr">
                    <a:solidFill>
                      <a:srgbClr val="F7F8FA"/>
                    </a:solidFill>
                  </a:tcPr>
                </a:tc>
                <a:tc>
                  <a:txBody>
                    <a:bodyPr/>
                    <a:lstStyle/>
                    <a:p>
                      <a:r>
                        <a:rPr sz="1600" b="0">
                          <a:solidFill>
                            <a:srgbClr val="0B0B0B"/>
                          </a:solidFill>
                          <a:latin typeface="Segoe UI"/>
                        </a:rPr>
                        <a:t>0.388</a:t>
                      </a:r>
                    </a:p>
                  </a:txBody>
                  <a:tcPr marL="64008" marR="64008" marT="18288" marB="18288" anchor="ctr">
                    <a:solidFill>
                      <a:srgbClr val="F7F8FA"/>
                    </a:solidFill>
                  </a:tcPr>
                </a:tc>
                <a:tc>
                  <a:txBody>
                    <a:bodyPr/>
                    <a:lstStyle/>
                    <a:p>
                      <a:r>
                        <a:rPr sz="1600" b="0">
                          <a:solidFill>
                            <a:srgbClr val="0B0B0B"/>
                          </a:solidFill>
                          <a:latin typeface="Segoe UI"/>
                        </a:rPr>
                        <a:t>30.1%</a:t>
                      </a:r>
                    </a:p>
                  </a:txBody>
                  <a:tcPr marL="64008" marR="64008" marT="18288" marB="18288" anchor="ctr">
                    <a:solidFill>
                      <a:srgbClr val="F7F8FA"/>
                    </a:solidFill>
                  </a:tcPr>
                </a:tc>
                <a:tc>
                  <a:txBody>
                    <a:bodyPr/>
                    <a:lstStyle/>
                    <a:p>
                      <a:r>
                        <a:rPr sz="1600" b="0">
                          <a:solidFill>
                            <a:srgbClr val="0B0B0B"/>
                          </a:solidFill>
                          <a:latin typeface="Segoe UI"/>
                        </a:rPr>
                        <a:t>0.285</a:t>
                      </a:r>
                    </a:p>
                  </a:txBody>
                  <a:tcPr marL="64008" marR="64008" marT="18288" marB="18288" anchor="ctr">
                    <a:solidFill>
                      <a:srgbClr val="F7F8FA"/>
                    </a:solidFill>
                  </a:tcPr>
                </a:tc>
                <a:tc>
                  <a:txBody>
                    <a:bodyPr/>
                    <a:lstStyle/>
                    <a:p>
                      <a:r>
                        <a:rPr sz="1600" b="0">
                          <a:solidFill>
                            <a:srgbClr val="0B0B0B"/>
                          </a:solidFill>
                          <a:latin typeface="Segoe UI"/>
                        </a:rPr>
                        <a:t>0.032</a:t>
                      </a:r>
                    </a:p>
                  </a:txBody>
                  <a:tcPr marL="64008" marR="64008" marT="18288" marB="18288" anchor="ctr">
                    <a:solidFill>
                      <a:srgbClr val="F7F8FA"/>
                    </a:solidFill>
                  </a:tcPr>
                </a:tc>
                <a:extLst>
                  <a:ext uri="{0D108BD9-81ED-4DB2-BD59-A6C34878D82A}">
                    <a16:rowId xmlns:a16="http://schemas.microsoft.com/office/drawing/2014/main" val="10002"/>
                  </a:ext>
                </a:extLst>
              </a:tr>
              <a:tr h="502920">
                <a:tc>
                  <a:txBody>
                    <a:bodyPr/>
                    <a:lstStyle/>
                    <a:p>
                      <a:r>
                        <a:rPr sz="1600" b="0">
                          <a:solidFill>
                            <a:srgbClr val="0B0B0B"/>
                          </a:solidFill>
                          <a:latin typeface="Segoe UI"/>
                        </a:rPr>
                        <a:t>J48</a:t>
                      </a:r>
                    </a:p>
                  </a:txBody>
                  <a:tcPr marL="64008" marR="64008" marT="18288" marB="18288" anchor="ctr">
                    <a:solidFill>
                      <a:srgbClr val="FFFFFF"/>
                    </a:solidFill>
                  </a:tcPr>
                </a:tc>
                <a:tc>
                  <a:txBody>
                    <a:bodyPr/>
                    <a:lstStyle/>
                    <a:p>
                      <a:r>
                        <a:rPr sz="1600" b="0">
                          <a:solidFill>
                            <a:srgbClr val="0B0B0B"/>
                          </a:solidFill>
                          <a:latin typeface="Segoe UI"/>
                        </a:rPr>
                        <a:t>54.4%</a:t>
                      </a:r>
                    </a:p>
                  </a:txBody>
                  <a:tcPr marL="64008" marR="64008" marT="18288" marB="18288" anchor="ctr">
                    <a:solidFill>
                      <a:srgbClr val="FFFFFF"/>
                    </a:solidFill>
                  </a:tcPr>
                </a:tc>
                <a:tc>
                  <a:txBody>
                    <a:bodyPr/>
                    <a:lstStyle/>
                    <a:p>
                      <a:r>
                        <a:rPr sz="1600" b="0">
                          <a:solidFill>
                            <a:srgbClr val="0B0B0B"/>
                          </a:solidFill>
                          <a:latin typeface="Segoe UI"/>
                        </a:rPr>
                        <a:t>0.542</a:t>
                      </a:r>
                    </a:p>
                  </a:txBody>
                  <a:tcPr marL="64008" marR="64008" marT="18288" marB="18288" anchor="ctr">
                    <a:solidFill>
                      <a:srgbClr val="FFFFFF"/>
                    </a:solidFill>
                  </a:tcPr>
                </a:tc>
                <a:tc>
                  <a:txBody>
                    <a:bodyPr/>
                    <a:lstStyle/>
                    <a:p>
                      <a:r>
                        <a:rPr sz="1600" b="0">
                          <a:solidFill>
                            <a:srgbClr val="0B0B0B"/>
                          </a:solidFill>
                          <a:latin typeface="Segoe UI"/>
                        </a:rPr>
                        <a:t>0.384</a:t>
                      </a:r>
                    </a:p>
                  </a:txBody>
                  <a:tcPr marL="64008" marR="64008" marT="18288" marB="18288" anchor="ctr">
                    <a:solidFill>
                      <a:srgbClr val="FFFFFF"/>
                    </a:solidFill>
                  </a:tcPr>
                </a:tc>
                <a:tc>
                  <a:txBody>
                    <a:bodyPr/>
                    <a:lstStyle/>
                    <a:p>
                      <a:r>
                        <a:rPr sz="1600" b="0">
                          <a:solidFill>
                            <a:srgbClr val="0B0B0B"/>
                          </a:solidFill>
                          <a:latin typeface="Segoe UI"/>
                        </a:rPr>
                        <a:t>27.8%</a:t>
                      </a:r>
                    </a:p>
                  </a:txBody>
                  <a:tcPr marL="64008" marR="64008" marT="18288" marB="18288" anchor="ctr">
                    <a:solidFill>
                      <a:srgbClr val="FFFFFF"/>
                    </a:solidFill>
                  </a:tcPr>
                </a:tc>
                <a:tc>
                  <a:txBody>
                    <a:bodyPr/>
                    <a:lstStyle/>
                    <a:p>
                      <a:r>
                        <a:rPr sz="1600" b="0">
                          <a:solidFill>
                            <a:srgbClr val="0B0B0B"/>
                          </a:solidFill>
                          <a:latin typeface="Segoe UI"/>
                        </a:rPr>
                        <a:t>0.266</a:t>
                      </a:r>
                    </a:p>
                  </a:txBody>
                  <a:tcPr marL="64008" marR="64008" marT="18288" marB="18288" anchor="ctr">
                    <a:solidFill>
                      <a:srgbClr val="FFFFFF"/>
                    </a:solidFill>
                  </a:tcPr>
                </a:tc>
                <a:tc>
                  <a:txBody>
                    <a:bodyPr/>
                    <a:lstStyle/>
                    <a:p>
                      <a:r>
                        <a:rPr sz="1600" b="0">
                          <a:solidFill>
                            <a:srgbClr val="0B0B0B"/>
                          </a:solidFill>
                          <a:latin typeface="Segoe UI"/>
                        </a:rPr>
                        <a:t>0.004</a:t>
                      </a:r>
                    </a:p>
                  </a:txBody>
                  <a:tcPr marL="64008" marR="64008" marT="18288" marB="18288" anchor="ctr">
                    <a:solidFill>
                      <a:srgbClr val="FFFFFF"/>
                    </a:solidFill>
                  </a:tcPr>
                </a:tc>
                <a:extLst>
                  <a:ext uri="{0D108BD9-81ED-4DB2-BD59-A6C34878D82A}">
                    <a16:rowId xmlns:a16="http://schemas.microsoft.com/office/drawing/2014/main" val="10003"/>
                  </a:ext>
                </a:extLst>
              </a:tr>
              <a:tr h="502920">
                <a:tc>
                  <a:txBody>
                    <a:bodyPr/>
                    <a:lstStyle/>
                    <a:p>
                      <a:r>
                        <a:rPr sz="1600" b="0">
                          <a:solidFill>
                            <a:srgbClr val="0B0B0B"/>
                          </a:solidFill>
                          <a:latin typeface="Segoe UI"/>
                        </a:rPr>
                        <a:t>RandomForest</a:t>
                      </a:r>
                    </a:p>
                  </a:txBody>
                  <a:tcPr marL="64008" marR="64008" marT="18288" marB="18288" anchor="ctr">
                    <a:solidFill>
                      <a:srgbClr val="F7F8FA"/>
                    </a:solidFill>
                  </a:tcPr>
                </a:tc>
                <a:tc>
                  <a:txBody>
                    <a:bodyPr/>
                    <a:lstStyle/>
                    <a:p>
                      <a:r>
                        <a:rPr sz="1600" b="0">
                          <a:solidFill>
                            <a:srgbClr val="0B0B0B"/>
                          </a:solidFill>
                          <a:latin typeface="Segoe UI"/>
                        </a:rPr>
                        <a:t>54.2%</a:t>
                      </a:r>
                    </a:p>
                  </a:txBody>
                  <a:tcPr marL="64008" marR="64008" marT="18288" marB="18288" anchor="ctr">
                    <a:solidFill>
                      <a:srgbClr val="F7F8FA"/>
                    </a:solidFill>
                  </a:tcPr>
                </a:tc>
                <a:tc>
                  <a:txBody>
                    <a:bodyPr/>
                    <a:lstStyle/>
                    <a:p>
                      <a:r>
                        <a:rPr sz="1600" b="0">
                          <a:solidFill>
                            <a:srgbClr val="0B0B0B"/>
                          </a:solidFill>
                          <a:latin typeface="Segoe UI"/>
                        </a:rPr>
                        <a:t>0.542</a:t>
                      </a:r>
                    </a:p>
                  </a:txBody>
                  <a:tcPr marL="64008" marR="64008" marT="18288" marB="18288" anchor="ctr">
                    <a:solidFill>
                      <a:srgbClr val="F7F8FA"/>
                    </a:solidFill>
                  </a:tcPr>
                </a:tc>
                <a:tc>
                  <a:txBody>
                    <a:bodyPr/>
                    <a:lstStyle/>
                    <a:p>
                      <a:r>
                        <a:rPr sz="1600" b="0">
                          <a:solidFill>
                            <a:srgbClr val="0B0B0B"/>
                          </a:solidFill>
                          <a:latin typeface="Segoe UI"/>
                        </a:rPr>
                        <a:t>0.383</a:t>
                      </a:r>
                    </a:p>
                  </a:txBody>
                  <a:tcPr marL="64008" marR="64008" marT="18288" marB="18288" anchor="ctr">
                    <a:solidFill>
                      <a:srgbClr val="F7F8FA"/>
                    </a:solidFill>
                  </a:tcPr>
                </a:tc>
                <a:tc>
                  <a:txBody>
                    <a:bodyPr/>
                    <a:lstStyle/>
                    <a:p>
                      <a:r>
                        <a:rPr sz="1600" b="0">
                          <a:solidFill>
                            <a:srgbClr val="0B0B0B"/>
                          </a:solidFill>
                          <a:latin typeface="Segoe UI"/>
                        </a:rPr>
                        <a:t>30.5%</a:t>
                      </a:r>
                    </a:p>
                  </a:txBody>
                  <a:tcPr marL="64008" marR="64008" marT="18288" marB="18288" anchor="ctr">
                    <a:solidFill>
                      <a:srgbClr val="F7F8FA"/>
                    </a:solidFill>
                  </a:tcPr>
                </a:tc>
                <a:tc>
                  <a:txBody>
                    <a:bodyPr/>
                    <a:lstStyle/>
                    <a:p>
                      <a:r>
                        <a:rPr sz="1600" b="0">
                          <a:solidFill>
                            <a:srgbClr val="0B0B0B"/>
                          </a:solidFill>
                          <a:latin typeface="Segoe UI"/>
                        </a:rPr>
                        <a:t>0.295</a:t>
                      </a:r>
                    </a:p>
                  </a:txBody>
                  <a:tcPr marL="64008" marR="64008" marT="18288" marB="18288" anchor="ctr">
                    <a:solidFill>
                      <a:srgbClr val="F7F8FA"/>
                    </a:solidFill>
                  </a:tcPr>
                </a:tc>
                <a:tc>
                  <a:txBody>
                    <a:bodyPr/>
                    <a:lstStyle/>
                    <a:p>
                      <a:r>
                        <a:rPr sz="1600" b="0">
                          <a:solidFill>
                            <a:srgbClr val="0B0B0B"/>
                          </a:solidFill>
                          <a:latin typeface="Segoe UI"/>
                        </a:rPr>
                        <a:t>0.046</a:t>
                      </a:r>
                    </a:p>
                  </a:txBody>
                  <a:tcPr marL="64008" marR="64008" marT="18288" marB="18288" anchor="ctr">
                    <a:solidFill>
                      <a:srgbClr val="F7F8FA"/>
                    </a:solidFill>
                  </a:tcPr>
                </a:tc>
                <a:extLst>
                  <a:ext uri="{0D108BD9-81ED-4DB2-BD59-A6C34878D82A}">
                    <a16:rowId xmlns:a16="http://schemas.microsoft.com/office/drawing/2014/main" val="10004"/>
                  </a:ext>
                </a:extLst>
              </a:tr>
              <a:tr h="502920">
                <a:tc>
                  <a:txBody>
                    <a:bodyPr/>
                    <a:lstStyle/>
                    <a:p>
                      <a:r>
                        <a:rPr sz="1600" b="0">
                          <a:solidFill>
                            <a:srgbClr val="0B0B0B"/>
                          </a:solidFill>
                          <a:latin typeface="Segoe UI"/>
                        </a:rPr>
                        <a:t>SMO</a:t>
                      </a:r>
                    </a:p>
                  </a:txBody>
                  <a:tcPr marL="64008" marR="64008" marT="18288" marB="18288" anchor="ctr">
                    <a:solidFill>
                      <a:srgbClr val="FFFFFF"/>
                    </a:solidFill>
                  </a:tcPr>
                </a:tc>
                <a:tc>
                  <a:txBody>
                    <a:bodyPr/>
                    <a:lstStyle/>
                    <a:p>
                      <a:r>
                        <a:rPr sz="1600" b="0">
                          <a:solidFill>
                            <a:srgbClr val="0B0B0B"/>
                          </a:solidFill>
                          <a:latin typeface="Segoe UI"/>
                        </a:rPr>
                        <a:t>55.2%</a:t>
                      </a:r>
                    </a:p>
                  </a:txBody>
                  <a:tcPr marL="64008" marR="64008" marT="18288" marB="18288" anchor="ctr">
                    <a:solidFill>
                      <a:srgbClr val="FFFFFF"/>
                    </a:solidFill>
                  </a:tcPr>
                </a:tc>
                <a:tc>
                  <a:txBody>
                    <a:bodyPr/>
                    <a:lstStyle/>
                    <a:p>
                      <a:r>
                        <a:rPr sz="1600" b="0">
                          <a:solidFill>
                            <a:srgbClr val="0B0B0B"/>
                          </a:solidFill>
                          <a:latin typeface="Segoe UI"/>
                        </a:rPr>
                        <a:t>0.551</a:t>
                      </a:r>
                    </a:p>
                  </a:txBody>
                  <a:tcPr marL="64008" marR="64008" marT="18288" marB="18288" anchor="ctr">
                    <a:solidFill>
                      <a:srgbClr val="FFFFFF"/>
                    </a:solidFill>
                  </a:tcPr>
                </a:tc>
                <a:tc>
                  <a:txBody>
                    <a:bodyPr/>
                    <a:lstStyle/>
                    <a:p>
                      <a:r>
                        <a:rPr sz="1600" b="0">
                          <a:solidFill>
                            <a:srgbClr val="0B0B0B"/>
                          </a:solidFill>
                          <a:latin typeface="Segoe UI"/>
                        </a:rPr>
                        <a:t>0.397</a:t>
                      </a:r>
                    </a:p>
                  </a:txBody>
                  <a:tcPr marL="64008" marR="64008" marT="18288" marB="18288" anchor="ctr">
                    <a:solidFill>
                      <a:srgbClr val="FFFFFF"/>
                    </a:solidFill>
                  </a:tcPr>
                </a:tc>
                <a:tc>
                  <a:txBody>
                    <a:bodyPr/>
                    <a:lstStyle/>
                    <a:p>
                      <a:r>
                        <a:rPr sz="1600" b="0">
                          <a:solidFill>
                            <a:srgbClr val="0B0B0B"/>
                          </a:solidFill>
                          <a:latin typeface="Segoe UI"/>
                        </a:rPr>
                        <a:t>28.1%</a:t>
                      </a:r>
                    </a:p>
                  </a:txBody>
                  <a:tcPr marL="64008" marR="64008" marT="18288" marB="18288" anchor="ctr">
                    <a:solidFill>
                      <a:srgbClr val="FFFFFF"/>
                    </a:solidFill>
                  </a:tcPr>
                </a:tc>
                <a:tc>
                  <a:txBody>
                    <a:bodyPr/>
                    <a:lstStyle/>
                    <a:p>
                      <a:r>
                        <a:rPr sz="1600" b="0">
                          <a:solidFill>
                            <a:srgbClr val="0B0B0B"/>
                          </a:solidFill>
                          <a:latin typeface="Segoe UI"/>
                        </a:rPr>
                        <a:t>0.212</a:t>
                      </a:r>
                    </a:p>
                  </a:txBody>
                  <a:tcPr marL="64008" marR="64008" marT="18288" marB="18288" anchor="ctr">
                    <a:solidFill>
                      <a:srgbClr val="FFFFFF"/>
                    </a:solidFill>
                  </a:tcPr>
                </a:tc>
                <a:tc>
                  <a:txBody>
                    <a:bodyPr/>
                    <a:lstStyle/>
                    <a:p>
                      <a:r>
                        <a:rPr sz="1600" b="0">
                          <a:solidFill>
                            <a:srgbClr val="0B0B0B"/>
                          </a:solidFill>
                          <a:latin typeface="Segoe UI"/>
                        </a:rPr>
                        <a:t>-0.024</a:t>
                      </a:r>
                    </a:p>
                  </a:txBody>
                  <a:tcPr marL="64008" marR="64008" marT="18288" marB="18288" anchor="ctr">
                    <a:solidFill>
                      <a:srgbClr val="FFFFFF"/>
                    </a:solidFill>
                  </a:tcPr>
                </a:tc>
                <a:extLst>
                  <a:ext uri="{0D108BD9-81ED-4DB2-BD59-A6C34878D82A}">
                    <a16:rowId xmlns:a16="http://schemas.microsoft.com/office/drawing/2014/main" val="10005"/>
                  </a:ext>
                </a:extLst>
              </a:tr>
              <a:tr h="502920">
                <a:tc>
                  <a:txBody>
                    <a:bodyPr/>
                    <a:lstStyle/>
                    <a:p>
                      <a:r>
                        <a:rPr sz="1600" b="0">
                          <a:solidFill>
                            <a:srgbClr val="0B0B0B"/>
                          </a:solidFill>
                          <a:latin typeface="Segoe UI"/>
                        </a:rPr>
                        <a:t>NaiveBayes</a:t>
                      </a:r>
                    </a:p>
                  </a:txBody>
                  <a:tcPr marL="64008" marR="64008" marT="18288" marB="18288" anchor="ctr">
                    <a:solidFill>
                      <a:srgbClr val="F7F8FA"/>
                    </a:solidFill>
                  </a:tcPr>
                </a:tc>
                <a:tc>
                  <a:txBody>
                    <a:bodyPr/>
                    <a:lstStyle/>
                    <a:p>
                      <a:r>
                        <a:rPr sz="1600" b="0">
                          <a:solidFill>
                            <a:srgbClr val="0B0B0B"/>
                          </a:solidFill>
                          <a:latin typeface="Segoe UI"/>
                        </a:rPr>
                        <a:t>54.5%</a:t>
                      </a:r>
                    </a:p>
                  </a:txBody>
                  <a:tcPr marL="64008" marR="64008" marT="18288" marB="18288" anchor="ctr">
                    <a:solidFill>
                      <a:srgbClr val="F7F8FA"/>
                    </a:solidFill>
                  </a:tcPr>
                </a:tc>
                <a:tc>
                  <a:txBody>
                    <a:bodyPr/>
                    <a:lstStyle/>
                    <a:p>
                      <a:r>
                        <a:rPr sz="1600" b="0">
                          <a:solidFill>
                            <a:srgbClr val="0B0B0B"/>
                          </a:solidFill>
                          <a:latin typeface="Segoe UI"/>
                        </a:rPr>
                        <a:t>0.544</a:t>
                      </a:r>
                    </a:p>
                  </a:txBody>
                  <a:tcPr marL="64008" marR="64008" marT="18288" marB="18288" anchor="ctr">
                    <a:solidFill>
                      <a:srgbClr val="F7F8FA"/>
                    </a:solidFill>
                  </a:tcPr>
                </a:tc>
                <a:tc>
                  <a:txBody>
                    <a:bodyPr/>
                    <a:lstStyle/>
                    <a:p>
                      <a:r>
                        <a:rPr sz="1600" b="0">
                          <a:solidFill>
                            <a:srgbClr val="0B0B0B"/>
                          </a:solidFill>
                          <a:latin typeface="Segoe UI"/>
                        </a:rPr>
                        <a:t>0.386</a:t>
                      </a:r>
                    </a:p>
                  </a:txBody>
                  <a:tcPr marL="64008" marR="64008" marT="18288" marB="18288" anchor="ctr">
                    <a:solidFill>
                      <a:srgbClr val="F7F8FA"/>
                    </a:solidFill>
                  </a:tcPr>
                </a:tc>
                <a:tc>
                  <a:txBody>
                    <a:bodyPr/>
                    <a:lstStyle/>
                    <a:p>
                      <a:r>
                        <a:rPr sz="1600" b="0">
                          <a:solidFill>
                            <a:srgbClr val="0B0B0B"/>
                          </a:solidFill>
                          <a:latin typeface="Segoe UI"/>
                        </a:rPr>
                        <a:t>31.2%</a:t>
                      </a:r>
                    </a:p>
                  </a:txBody>
                  <a:tcPr marL="64008" marR="64008" marT="18288" marB="18288" anchor="ctr">
                    <a:solidFill>
                      <a:srgbClr val="F7F8FA"/>
                    </a:solidFill>
                  </a:tcPr>
                </a:tc>
                <a:tc>
                  <a:txBody>
                    <a:bodyPr/>
                    <a:lstStyle/>
                    <a:p>
                      <a:r>
                        <a:rPr sz="1600" b="0">
                          <a:solidFill>
                            <a:srgbClr val="0B0B0B"/>
                          </a:solidFill>
                          <a:latin typeface="Segoe UI"/>
                        </a:rPr>
                        <a:t>0.299</a:t>
                      </a:r>
                    </a:p>
                  </a:txBody>
                  <a:tcPr marL="64008" marR="64008" marT="18288" marB="18288" anchor="ctr">
                    <a:solidFill>
                      <a:srgbClr val="F7F8FA"/>
                    </a:solidFill>
                  </a:tcPr>
                </a:tc>
                <a:tc>
                  <a:txBody>
                    <a:bodyPr/>
                    <a:lstStyle/>
                    <a:p>
                      <a:r>
                        <a:rPr sz="1600" b="0">
                          <a:solidFill>
                            <a:srgbClr val="0B0B0B"/>
                          </a:solidFill>
                          <a:latin typeface="Segoe UI"/>
                        </a:rPr>
                        <a:t>0.052</a:t>
                      </a:r>
                    </a:p>
                  </a:txBody>
                  <a:tcPr marL="64008" marR="64008" marT="18288" marB="18288" anchor="ctr">
                    <a:solidFill>
                      <a:srgbClr val="F7F8FA"/>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48640" y="5212080"/>
            <a:ext cx="11064240" cy="731520"/>
          </a:xfrm>
          <a:prstGeom prst="rect">
            <a:avLst/>
          </a:prstGeom>
          <a:noFill/>
        </p:spPr>
        <p:txBody>
          <a:bodyPr wrap="square" lIns="27432" tIns="27432" rIns="27432" bIns="27432" anchor="t">
            <a:noAutofit/>
          </a:bodyPr>
          <a:lstStyle/>
          <a:p>
            <a:pPr algn="l">
              <a:lnSpc>
                <a:spcPct val="105000"/>
              </a:lnSpc>
            </a:pPr>
            <a:r>
              <a:rPr sz="1400" b="0">
                <a:solidFill>
                  <a:srgbClr val="52514E"/>
                </a:solidFill>
                <a:latin typeface="Helvetica Neue"/>
              </a:rPr>
              <a:t>Source: WEKA logs in docs/weka_runs/final/. W-F1 = weighted F1. Kappa = agreement beyond chance.</a:t>
            </a:r>
          </a:p>
        </p:txBody>
      </p:sp>
      <p:sp>
        <p:nvSpPr>
          <p:cNvPr id="9" name="SimpleLightSectionLabel">
            <a:extLst>
              <a:ext uri="{FF2B5EF4-FFF2-40B4-BE49-F238E27FC236}">
                <a16:creationId xmlns:a16="http://schemas.microsoft.com/office/drawing/2014/main" id="{02D20523-C1B0-4EA9-A010-6F7BE7A2283A}"/>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WEKA Results on the 80/20 Test Split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59</a:t>
            </a:r>
          </a:p>
        </p:txBody>
      </p:sp>
      <p:graphicFrame>
        <p:nvGraphicFramePr>
          <p:cNvPr id="7" name="Table 6"/>
          <p:cNvGraphicFramePr>
            <a:graphicFrameLocks noGrp="1"/>
          </p:cNvGraphicFramePr>
          <p:nvPr>
            <p:extLst>
              <p:ext uri="{D42A27DB-BD31-4B8C-83A1-F6EECF244321}">
                <p14:modId xmlns:p14="http://schemas.microsoft.com/office/powerpoint/2010/main" val="3326926183"/>
              </p:ext>
            </p:extLst>
          </p:nvPr>
        </p:nvGraphicFramePr>
        <p:xfrm>
          <a:off x="548640" y="1371600"/>
          <a:ext cx="1106424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420624">
                <a:tc>
                  <a:txBody>
                    <a:bodyPr/>
                    <a:lstStyle/>
                    <a:p>
                      <a:r>
                        <a:rPr sz="1400" b="1">
                          <a:solidFill>
                            <a:srgbClr val="FFFFFF"/>
                          </a:solidFill>
                          <a:latin typeface="Segoe UI"/>
                        </a:rPr>
                        <a:t>Model</a:t>
                      </a:r>
                    </a:p>
                  </a:txBody>
                  <a:tcPr marL="64008" marR="64008" marT="18288" marB="18288" anchor="ctr">
                    <a:solidFill>
                      <a:srgbClr val="1F3B5C"/>
                    </a:solidFill>
                  </a:tcPr>
                </a:tc>
                <a:tc>
                  <a:txBody>
                    <a:bodyPr/>
                    <a:lstStyle/>
                    <a:p>
                      <a:r>
                        <a:rPr lang="en-US" sz="1400" b="1">
                          <a:solidFill>
                            <a:srgbClr val="FFFFFF"/>
                          </a:solidFill>
                          <a:latin typeface="Segoe UI"/>
                        </a:rPr>
                        <a:t>Main CGPA acc.</a:t>
                      </a:r>
                      <a:endParaRPr sz="1400" b="1">
                        <a:solidFill>
                          <a:srgbClr val="FFFFFF"/>
                        </a:solidFill>
                        <a:latin typeface="Segoe UI"/>
                      </a:endParaRPr>
                    </a:p>
                  </a:txBody>
                  <a:tcPr marL="64008" marR="64008" marT="18288" marB="18288" anchor="ctr">
                    <a:solidFill>
                      <a:srgbClr val="1F3B5C"/>
                    </a:solidFill>
                  </a:tcPr>
                </a:tc>
                <a:tc>
                  <a:txBody>
                    <a:bodyPr/>
                    <a:lstStyle/>
                    <a:p>
                      <a:r>
                        <a:rPr sz="1400" b="1">
                          <a:solidFill>
                            <a:srgbClr val="FFFFFF"/>
                          </a:solidFill>
                          <a:latin typeface="Segoe UI"/>
                        </a:rPr>
                        <a:t>W-F1</a:t>
                      </a:r>
                    </a:p>
                  </a:txBody>
                  <a:tcPr marL="64008" marR="64008" marT="18288" marB="18288" anchor="ctr">
                    <a:solidFill>
                      <a:srgbClr val="1F3B5C"/>
                    </a:solidFill>
                  </a:tcPr>
                </a:tc>
                <a:tc>
                  <a:txBody>
                    <a:bodyPr/>
                    <a:lstStyle/>
                    <a:p>
                      <a:r>
                        <a:rPr sz="1400" b="1">
                          <a:solidFill>
                            <a:srgbClr val="FFFFFF"/>
                          </a:solidFill>
                          <a:latin typeface="Segoe UI"/>
                        </a:rPr>
                        <a:t>Kappa</a:t>
                      </a:r>
                    </a:p>
                  </a:txBody>
                  <a:tcPr marL="64008" marR="64008" marT="18288" marB="18288" anchor="ctr">
                    <a:solidFill>
                      <a:srgbClr val="1F3B5C"/>
                    </a:solidFill>
                  </a:tcPr>
                </a:tc>
                <a:tc>
                  <a:txBody>
                    <a:bodyPr/>
                    <a:lstStyle/>
                    <a:p>
                      <a:r>
                        <a:rPr lang="en-US" sz="1400" b="1">
                          <a:solidFill>
                            <a:srgbClr val="FFFFFF"/>
                          </a:solidFill>
                          <a:latin typeface="Segoe UI"/>
                        </a:rPr>
                        <a:t>CGPA diagnostic acc.</a:t>
                      </a:r>
                      <a:endParaRPr sz="1400" b="1">
                        <a:solidFill>
                          <a:srgbClr val="FFFFFF"/>
                        </a:solidFill>
                        <a:latin typeface="Segoe UI"/>
                      </a:endParaRPr>
                    </a:p>
                  </a:txBody>
                  <a:tcPr marL="64008" marR="64008" marT="18288" marB="18288" anchor="ctr">
                    <a:solidFill>
                      <a:srgbClr val="1F3B5C"/>
                    </a:solidFill>
                  </a:tcPr>
                </a:tc>
                <a:tc>
                  <a:txBody>
                    <a:bodyPr/>
                    <a:lstStyle/>
                    <a:p>
                      <a:r>
                        <a:rPr sz="1400" b="1">
                          <a:solidFill>
                            <a:srgbClr val="FFFFFF"/>
                          </a:solidFill>
                          <a:latin typeface="Segoe UI"/>
                        </a:rPr>
                        <a:t>W-F1</a:t>
                      </a:r>
                    </a:p>
                  </a:txBody>
                  <a:tcPr marL="64008" marR="64008" marT="18288" marB="18288" anchor="ctr">
                    <a:solidFill>
                      <a:srgbClr val="1F3B5C"/>
                    </a:solidFill>
                  </a:tcPr>
                </a:tc>
                <a:tc>
                  <a:txBody>
                    <a:bodyPr/>
                    <a:lstStyle/>
                    <a:p>
                      <a:r>
                        <a:rPr sz="1400" b="1">
                          <a:solidFill>
                            <a:srgbClr val="FFFFFF"/>
                          </a:solidFill>
                          <a:latin typeface="Segoe UI"/>
                        </a:rPr>
                        <a:t>Kappa</a:t>
                      </a:r>
                    </a:p>
                  </a:txBody>
                  <a:tcPr marL="64008" marR="64008" marT="18288" marB="18288" anchor="ctr">
                    <a:solidFill>
                      <a:srgbClr val="1F3B5C"/>
                    </a:solidFill>
                  </a:tcPr>
                </a:tc>
                <a:extLst>
                  <a:ext uri="{0D108BD9-81ED-4DB2-BD59-A6C34878D82A}">
                    <a16:rowId xmlns:a16="http://schemas.microsoft.com/office/drawing/2014/main" val="10000"/>
                  </a:ext>
                </a:extLst>
              </a:tr>
              <a:tr h="420624">
                <a:tc>
                  <a:txBody>
                    <a:bodyPr/>
                    <a:lstStyle/>
                    <a:p>
                      <a:r>
                        <a:rPr sz="1400" b="0">
                          <a:solidFill>
                            <a:srgbClr val="0B0B0B"/>
                          </a:solidFill>
                          <a:latin typeface="Segoe UI"/>
                        </a:rPr>
                        <a:t>ZeroR</a:t>
                      </a:r>
                    </a:p>
                  </a:txBody>
                  <a:tcPr marL="64008" marR="64008" marT="18288" marB="18288" anchor="ctr">
                    <a:solidFill>
                      <a:srgbClr val="FFFFFF"/>
                    </a:solidFill>
                  </a:tcPr>
                </a:tc>
                <a:tc>
                  <a:txBody>
                    <a:bodyPr/>
                    <a:lstStyle/>
                    <a:p>
                      <a:r>
                        <a:rPr sz="1400" b="0">
                          <a:solidFill>
                            <a:srgbClr val="0B0B0B"/>
                          </a:solidFill>
                          <a:latin typeface="Segoe UI"/>
                        </a:rPr>
                        <a:t>35.9%</a:t>
                      </a:r>
                    </a:p>
                  </a:txBody>
                  <a:tcPr marL="64008" marR="64008" marT="18288" marB="18288" anchor="ctr">
                    <a:solidFill>
                      <a:srgbClr val="FFFFFF"/>
                    </a:solidFill>
                  </a:tcPr>
                </a:tc>
                <a:tc>
                  <a:txBody>
                    <a:bodyPr/>
                    <a:lstStyle/>
                    <a:p>
                      <a:r>
                        <a:rPr sz="1400" b="0">
                          <a:solidFill>
                            <a:srgbClr val="0B0B0B"/>
                          </a:solidFill>
                          <a:latin typeface="Segoe UI"/>
                        </a:rPr>
                        <a:t>—</a:t>
                      </a:r>
                    </a:p>
                  </a:txBody>
                  <a:tcPr marL="64008" marR="64008" marT="18288" marB="18288" anchor="ctr">
                    <a:solidFill>
                      <a:srgbClr val="FFFFFF"/>
                    </a:solidFill>
                  </a:tcPr>
                </a:tc>
                <a:tc>
                  <a:txBody>
                    <a:bodyPr/>
                    <a:lstStyle/>
                    <a:p>
                      <a:r>
                        <a:rPr sz="1400" b="0">
                          <a:solidFill>
                            <a:srgbClr val="0B0B0B"/>
                          </a:solidFill>
                          <a:latin typeface="Segoe UI"/>
                        </a:rPr>
                        <a:t>0.000</a:t>
                      </a:r>
                    </a:p>
                  </a:txBody>
                  <a:tcPr marL="64008" marR="64008" marT="18288" marB="18288" anchor="ctr">
                    <a:solidFill>
                      <a:srgbClr val="FFFFFF"/>
                    </a:solidFill>
                  </a:tcPr>
                </a:tc>
                <a:tc>
                  <a:txBody>
                    <a:bodyPr/>
                    <a:lstStyle/>
                    <a:p>
                      <a:r>
                        <a:rPr sz="1400" b="0">
                          <a:solidFill>
                            <a:srgbClr val="0B0B0B"/>
                          </a:solidFill>
                          <a:latin typeface="Segoe UI"/>
                        </a:rPr>
                        <a:t>35.9%</a:t>
                      </a:r>
                    </a:p>
                  </a:txBody>
                  <a:tcPr marL="64008" marR="64008" marT="18288" marB="18288" anchor="ctr">
                    <a:solidFill>
                      <a:srgbClr val="FFFFFF"/>
                    </a:solidFill>
                  </a:tcPr>
                </a:tc>
                <a:tc>
                  <a:txBody>
                    <a:bodyPr/>
                    <a:lstStyle/>
                    <a:p>
                      <a:r>
                        <a:rPr sz="1400" b="0">
                          <a:solidFill>
                            <a:srgbClr val="0B0B0B"/>
                          </a:solidFill>
                          <a:latin typeface="Segoe UI"/>
                        </a:rPr>
                        <a:t>—</a:t>
                      </a:r>
                    </a:p>
                  </a:txBody>
                  <a:tcPr marL="64008" marR="64008" marT="18288" marB="18288" anchor="ctr">
                    <a:solidFill>
                      <a:srgbClr val="FFFFFF"/>
                    </a:solidFill>
                  </a:tcPr>
                </a:tc>
                <a:tc>
                  <a:txBody>
                    <a:bodyPr/>
                    <a:lstStyle/>
                    <a:p>
                      <a:r>
                        <a:rPr sz="1400" b="0">
                          <a:solidFill>
                            <a:srgbClr val="0B0B0B"/>
                          </a:solidFill>
                          <a:latin typeface="Segoe UI"/>
                        </a:rPr>
                        <a:t>0.000</a:t>
                      </a:r>
                    </a:p>
                  </a:txBody>
                  <a:tcPr marL="64008" marR="64008" marT="18288" marB="18288" anchor="ctr">
                    <a:solidFill>
                      <a:srgbClr val="FFFFFF"/>
                    </a:solidFill>
                  </a:tcPr>
                </a:tc>
                <a:extLst>
                  <a:ext uri="{0D108BD9-81ED-4DB2-BD59-A6C34878D82A}">
                    <a16:rowId xmlns:a16="http://schemas.microsoft.com/office/drawing/2014/main" val="10001"/>
                  </a:ext>
                </a:extLst>
              </a:tr>
              <a:tr h="420624">
                <a:tc>
                  <a:txBody>
                    <a:bodyPr/>
                    <a:lstStyle/>
                    <a:p>
                      <a:r>
                        <a:rPr sz="1400" b="0">
                          <a:solidFill>
                            <a:srgbClr val="0B0B0B"/>
                          </a:solidFill>
                          <a:latin typeface="Segoe UI"/>
                        </a:rPr>
                        <a:t>OneR</a:t>
                      </a:r>
                    </a:p>
                  </a:txBody>
                  <a:tcPr marL="64008" marR="64008" marT="18288" marB="18288" anchor="ctr">
                    <a:solidFill>
                      <a:srgbClr val="F7F8FA"/>
                    </a:solidFill>
                  </a:tcPr>
                </a:tc>
                <a:tc>
                  <a:txBody>
                    <a:bodyPr/>
                    <a:lstStyle/>
                    <a:p>
                      <a:r>
                        <a:rPr sz="1400" b="0">
                          <a:solidFill>
                            <a:srgbClr val="0B0B0B"/>
                          </a:solidFill>
                          <a:latin typeface="Segoe UI"/>
                        </a:rPr>
                        <a:t>51.1%</a:t>
                      </a:r>
                    </a:p>
                  </a:txBody>
                  <a:tcPr marL="64008" marR="64008" marT="18288" marB="18288" anchor="ctr">
                    <a:solidFill>
                      <a:srgbClr val="F7F8FA"/>
                    </a:solidFill>
                  </a:tcPr>
                </a:tc>
                <a:tc>
                  <a:txBody>
                    <a:bodyPr/>
                    <a:lstStyle/>
                    <a:p>
                      <a:r>
                        <a:rPr sz="1400" b="0">
                          <a:solidFill>
                            <a:srgbClr val="0B0B0B"/>
                          </a:solidFill>
                          <a:latin typeface="Segoe UI"/>
                        </a:rPr>
                        <a:t>0.511</a:t>
                      </a:r>
                    </a:p>
                  </a:txBody>
                  <a:tcPr marL="64008" marR="64008" marT="18288" marB="18288" anchor="ctr">
                    <a:solidFill>
                      <a:srgbClr val="F7F8FA"/>
                    </a:solidFill>
                  </a:tcPr>
                </a:tc>
                <a:tc>
                  <a:txBody>
                    <a:bodyPr/>
                    <a:lstStyle/>
                    <a:p>
                      <a:r>
                        <a:rPr sz="1400" b="0">
                          <a:solidFill>
                            <a:srgbClr val="0B0B0B"/>
                          </a:solidFill>
                          <a:latin typeface="Segoe UI"/>
                        </a:rPr>
                        <a:t>0.338</a:t>
                      </a:r>
                    </a:p>
                  </a:txBody>
                  <a:tcPr marL="64008" marR="64008" marT="18288" marB="18288" anchor="ctr">
                    <a:solidFill>
                      <a:srgbClr val="F7F8FA"/>
                    </a:solidFill>
                  </a:tcPr>
                </a:tc>
                <a:tc>
                  <a:txBody>
                    <a:bodyPr/>
                    <a:lstStyle/>
                    <a:p>
                      <a:r>
                        <a:rPr sz="1400" b="0">
                          <a:solidFill>
                            <a:srgbClr val="0B0B0B"/>
                          </a:solidFill>
                          <a:latin typeface="Segoe UI"/>
                        </a:rPr>
                        <a:t>25.5%</a:t>
                      </a:r>
                    </a:p>
                  </a:txBody>
                  <a:tcPr marL="64008" marR="64008" marT="18288" marB="18288" anchor="ctr">
                    <a:solidFill>
                      <a:srgbClr val="F7F8FA"/>
                    </a:solidFill>
                  </a:tcPr>
                </a:tc>
                <a:tc>
                  <a:txBody>
                    <a:bodyPr/>
                    <a:lstStyle/>
                    <a:p>
                      <a:r>
                        <a:rPr sz="1400" b="0">
                          <a:solidFill>
                            <a:srgbClr val="0B0B0B"/>
                          </a:solidFill>
                          <a:latin typeface="Segoe UI"/>
                        </a:rPr>
                        <a:t>0.226</a:t>
                      </a:r>
                    </a:p>
                  </a:txBody>
                  <a:tcPr marL="64008" marR="64008" marT="18288" marB="18288" anchor="ctr">
                    <a:solidFill>
                      <a:srgbClr val="F7F8FA"/>
                    </a:solidFill>
                  </a:tcPr>
                </a:tc>
                <a:tc>
                  <a:txBody>
                    <a:bodyPr/>
                    <a:lstStyle/>
                    <a:p>
                      <a:r>
                        <a:rPr sz="1400" b="0">
                          <a:solidFill>
                            <a:srgbClr val="0B0B0B"/>
                          </a:solidFill>
                          <a:latin typeface="Segoe UI"/>
                        </a:rPr>
                        <a:t>-0.039</a:t>
                      </a:r>
                    </a:p>
                  </a:txBody>
                  <a:tcPr marL="64008" marR="64008" marT="18288" marB="18288" anchor="ctr">
                    <a:solidFill>
                      <a:srgbClr val="F7F8FA"/>
                    </a:solidFill>
                  </a:tcPr>
                </a:tc>
                <a:extLst>
                  <a:ext uri="{0D108BD9-81ED-4DB2-BD59-A6C34878D82A}">
                    <a16:rowId xmlns:a16="http://schemas.microsoft.com/office/drawing/2014/main" val="10002"/>
                  </a:ext>
                </a:extLst>
              </a:tr>
              <a:tr h="420624">
                <a:tc>
                  <a:txBody>
                    <a:bodyPr/>
                    <a:lstStyle/>
                    <a:p>
                      <a:r>
                        <a:rPr sz="1400" b="0">
                          <a:solidFill>
                            <a:srgbClr val="0B0B0B"/>
                          </a:solidFill>
                          <a:latin typeface="Segoe UI"/>
                        </a:rPr>
                        <a:t>J48</a:t>
                      </a:r>
                    </a:p>
                  </a:txBody>
                  <a:tcPr marL="64008" marR="64008" marT="18288" marB="18288" anchor="ctr">
                    <a:solidFill>
                      <a:srgbClr val="FFFFFF"/>
                    </a:solidFill>
                  </a:tcPr>
                </a:tc>
                <a:tc>
                  <a:txBody>
                    <a:bodyPr/>
                    <a:lstStyle/>
                    <a:p>
                      <a:r>
                        <a:rPr sz="1400" b="0">
                          <a:solidFill>
                            <a:srgbClr val="0B0B0B"/>
                          </a:solidFill>
                          <a:latin typeface="Segoe UI"/>
                        </a:rPr>
                        <a:t>51.1%</a:t>
                      </a:r>
                    </a:p>
                  </a:txBody>
                  <a:tcPr marL="64008" marR="64008" marT="18288" marB="18288" anchor="ctr">
                    <a:solidFill>
                      <a:srgbClr val="FFFFFF"/>
                    </a:solidFill>
                  </a:tcPr>
                </a:tc>
                <a:tc>
                  <a:txBody>
                    <a:bodyPr/>
                    <a:lstStyle/>
                    <a:p>
                      <a:r>
                        <a:rPr sz="1400" b="0">
                          <a:solidFill>
                            <a:srgbClr val="0B0B0B"/>
                          </a:solidFill>
                          <a:latin typeface="Segoe UI"/>
                        </a:rPr>
                        <a:t>0.511</a:t>
                      </a:r>
                    </a:p>
                  </a:txBody>
                  <a:tcPr marL="64008" marR="64008" marT="18288" marB="18288" anchor="ctr">
                    <a:solidFill>
                      <a:srgbClr val="FFFFFF"/>
                    </a:solidFill>
                  </a:tcPr>
                </a:tc>
                <a:tc>
                  <a:txBody>
                    <a:bodyPr/>
                    <a:lstStyle/>
                    <a:p>
                      <a:r>
                        <a:rPr sz="1400" b="0">
                          <a:solidFill>
                            <a:srgbClr val="0B0B0B"/>
                          </a:solidFill>
                          <a:latin typeface="Segoe UI"/>
                        </a:rPr>
                        <a:t>0.338</a:t>
                      </a:r>
                    </a:p>
                  </a:txBody>
                  <a:tcPr marL="64008" marR="64008" marT="18288" marB="18288" anchor="ctr">
                    <a:solidFill>
                      <a:srgbClr val="FFFFFF"/>
                    </a:solidFill>
                  </a:tcPr>
                </a:tc>
                <a:tc>
                  <a:txBody>
                    <a:bodyPr/>
                    <a:lstStyle/>
                    <a:p>
                      <a:r>
                        <a:rPr sz="1400" b="0">
                          <a:solidFill>
                            <a:srgbClr val="0B0B0B"/>
                          </a:solidFill>
                          <a:latin typeface="Segoe UI"/>
                        </a:rPr>
                        <a:t>33.1%</a:t>
                      </a:r>
                    </a:p>
                  </a:txBody>
                  <a:tcPr marL="64008" marR="64008" marT="18288" marB="18288" anchor="ctr">
                    <a:solidFill>
                      <a:srgbClr val="FFFFFF"/>
                    </a:solidFill>
                  </a:tcPr>
                </a:tc>
                <a:tc>
                  <a:txBody>
                    <a:bodyPr/>
                    <a:lstStyle/>
                    <a:p>
                      <a:r>
                        <a:rPr sz="1400" b="0">
                          <a:solidFill>
                            <a:srgbClr val="0B0B0B"/>
                          </a:solidFill>
                          <a:latin typeface="Segoe UI"/>
                        </a:rPr>
                        <a:t>0.316</a:t>
                      </a:r>
                    </a:p>
                  </a:txBody>
                  <a:tcPr marL="64008" marR="64008" marT="18288" marB="18288" anchor="ctr">
                    <a:solidFill>
                      <a:srgbClr val="FFFFFF"/>
                    </a:solidFill>
                  </a:tcPr>
                </a:tc>
                <a:tc>
                  <a:txBody>
                    <a:bodyPr/>
                    <a:lstStyle/>
                    <a:p>
                      <a:r>
                        <a:rPr sz="1400" b="0">
                          <a:solidFill>
                            <a:srgbClr val="0B0B0B"/>
                          </a:solidFill>
                          <a:latin typeface="Segoe UI"/>
                        </a:rPr>
                        <a:t>0.065</a:t>
                      </a:r>
                    </a:p>
                  </a:txBody>
                  <a:tcPr marL="64008" marR="64008" marT="18288" marB="18288" anchor="ctr">
                    <a:solidFill>
                      <a:srgbClr val="FFFFFF"/>
                    </a:solidFill>
                  </a:tcPr>
                </a:tc>
                <a:extLst>
                  <a:ext uri="{0D108BD9-81ED-4DB2-BD59-A6C34878D82A}">
                    <a16:rowId xmlns:a16="http://schemas.microsoft.com/office/drawing/2014/main" val="10003"/>
                  </a:ext>
                </a:extLst>
              </a:tr>
              <a:tr h="420624">
                <a:tc>
                  <a:txBody>
                    <a:bodyPr/>
                    <a:lstStyle/>
                    <a:p>
                      <a:r>
                        <a:rPr sz="1400" b="0">
                          <a:solidFill>
                            <a:srgbClr val="0B0B0B"/>
                          </a:solidFill>
                          <a:latin typeface="Segoe UI"/>
                        </a:rPr>
                        <a:t>NaiveBayes</a:t>
                      </a:r>
                    </a:p>
                  </a:txBody>
                  <a:tcPr marL="64008" marR="64008" marT="18288" marB="18288" anchor="ctr">
                    <a:solidFill>
                      <a:srgbClr val="F7F8FA"/>
                    </a:solidFill>
                  </a:tcPr>
                </a:tc>
                <a:tc>
                  <a:txBody>
                    <a:bodyPr/>
                    <a:lstStyle/>
                    <a:p>
                      <a:r>
                        <a:rPr sz="1400" b="0">
                          <a:solidFill>
                            <a:srgbClr val="0B0B0B"/>
                          </a:solidFill>
                          <a:latin typeface="Segoe UI"/>
                        </a:rPr>
                        <a:t>52.2%</a:t>
                      </a:r>
                    </a:p>
                  </a:txBody>
                  <a:tcPr marL="64008" marR="64008" marT="18288" marB="18288" anchor="ctr">
                    <a:solidFill>
                      <a:srgbClr val="F7F8FA"/>
                    </a:solidFill>
                  </a:tcPr>
                </a:tc>
                <a:tc>
                  <a:txBody>
                    <a:bodyPr/>
                    <a:lstStyle/>
                    <a:p>
                      <a:r>
                        <a:rPr sz="1400" b="0">
                          <a:solidFill>
                            <a:srgbClr val="0B0B0B"/>
                          </a:solidFill>
                          <a:latin typeface="Segoe UI"/>
                        </a:rPr>
                        <a:t>0.523</a:t>
                      </a:r>
                    </a:p>
                  </a:txBody>
                  <a:tcPr marL="64008" marR="64008" marT="18288" marB="18288" anchor="ctr">
                    <a:solidFill>
                      <a:srgbClr val="F7F8FA"/>
                    </a:solidFill>
                  </a:tcPr>
                </a:tc>
                <a:tc>
                  <a:txBody>
                    <a:bodyPr/>
                    <a:lstStyle/>
                    <a:p>
                      <a:r>
                        <a:rPr sz="1400" b="0">
                          <a:solidFill>
                            <a:srgbClr val="0B0B0B"/>
                          </a:solidFill>
                          <a:latin typeface="Segoe UI"/>
                        </a:rPr>
                        <a:t>0.352</a:t>
                      </a:r>
                    </a:p>
                  </a:txBody>
                  <a:tcPr marL="64008" marR="64008" marT="18288" marB="18288" anchor="ctr">
                    <a:solidFill>
                      <a:srgbClr val="F7F8FA"/>
                    </a:solidFill>
                  </a:tcPr>
                </a:tc>
                <a:tc>
                  <a:txBody>
                    <a:bodyPr/>
                    <a:lstStyle/>
                    <a:p>
                      <a:r>
                        <a:rPr sz="1400" b="0">
                          <a:solidFill>
                            <a:srgbClr val="0B0B0B"/>
                          </a:solidFill>
                          <a:latin typeface="Segoe UI"/>
                        </a:rPr>
                        <a:t>28.8%</a:t>
                      </a:r>
                    </a:p>
                  </a:txBody>
                  <a:tcPr marL="64008" marR="64008" marT="18288" marB="18288" anchor="ctr">
                    <a:solidFill>
                      <a:srgbClr val="F7F8FA"/>
                    </a:solidFill>
                  </a:tcPr>
                </a:tc>
                <a:tc>
                  <a:txBody>
                    <a:bodyPr/>
                    <a:lstStyle/>
                    <a:p>
                      <a:r>
                        <a:rPr sz="1400" b="0">
                          <a:solidFill>
                            <a:srgbClr val="0B0B0B"/>
                          </a:solidFill>
                          <a:latin typeface="Segoe UI"/>
                        </a:rPr>
                        <a:t>0.277</a:t>
                      </a:r>
                    </a:p>
                  </a:txBody>
                  <a:tcPr marL="64008" marR="64008" marT="18288" marB="18288" anchor="ctr">
                    <a:solidFill>
                      <a:srgbClr val="F7F8FA"/>
                    </a:solidFill>
                  </a:tcPr>
                </a:tc>
                <a:tc>
                  <a:txBody>
                    <a:bodyPr/>
                    <a:lstStyle/>
                    <a:p>
                      <a:r>
                        <a:rPr sz="1400" b="0">
                          <a:solidFill>
                            <a:srgbClr val="0B0B0B"/>
                          </a:solidFill>
                          <a:latin typeface="Segoe UI"/>
                        </a:rPr>
                        <a:t>0.007</a:t>
                      </a:r>
                    </a:p>
                  </a:txBody>
                  <a:tcPr marL="64008" marR="64008" marT="18288" marB="18288" anchor="ctr">
                    <a:solidFill>
                      <a:srgbClr val="F7F8FA"/>
                    </a:solidFill>
                  </a:tcPr>
                </a:tc>
                <a:extLst>
                  <a:ext uri="{0D108BD9-81ED-4DB2-BD59-A6C34878D82A}">
                    <a16:rowId xmlns:a16="http://schemas.microsoft.com/office/drawing/2014/main" val="10004"/>
                  </a:ext>
                </a:extLst>
              </a:tr>
              <a:tr h="420624">
                <a:tc>
                  <a:txBody>
                    <a:bodyPr/>
                    <a:lstStyle/>
                    <a:p>
                      <a:r>
                        <a:rPr sz="1400" b="0">
                          <a:solidFill>
                            <a:srgbClr val="0B0B0B"/>
                          </a:solidFill>
                          <a:latin typeface="Segoe UI"/>
                        </a:rPr>
                        <a:t>Logistic</a:t>
                      </a:r>
                    </a:p>
                  </a:txBody>
                  <a:tcPr marL="64008" marR="64008" marT="18288" marB="18288" anchor="ctr">
                    <a:solidFill>
                      <a:srgbClr val="FFFFFF"/>
                    </a:solidFill>
                  </a:tcPr>
                </a:tc>
                <a:tc>
                  <a:txBody>
                    <a:bodyPr/>
                    <a:lstStyle/>
                    <a:p>
                      <a:r>
                        <a:rPr sz="1400" b="0">
                          <a:solidFill>
                            <a:srgbClr val="0B0B0B"/>
                          </a:solidFill>
                          <a:latin typeface="Segoe UI"/>
                        </a:rPr>
                        <a:t>50.0%</a:t>
                      </a:r>
                    </a:p>
                  </a:txBody>
                  <a:tcPr marL="64008" marR="64008" marT="18288" marB="18288" anchor="ctr">
                    <a:solidFill>
                      <a:srgbClr val="FFFFFF"/>
                    </a:solidFill>
                  </a:tcPr>
                </a:tc>
                <a:tc>
                  <a:txBody>
                    <a:bodyPr/>
                    <a:lstStyle/>
                    <a:p>
                      <a:r>
                        <a:rPr sz="1400" b="0">
                          <a:solidFill>
                            <a:srgbClr val="0B0B0B"/>
                          </a:solidFill>
                          <a:latin typeface="Segoe UI"/>
                        </a:rPr>
                        <a:t>0.499</a:t>
                      </a:r>
                    </a:p>
                  </a:txBody>
                  <a:tcPr marL="64008" marR="64008" marT="18288" marB="18288" anchor="ctr">
                    <a:solidFill>
                      <a:srgbClr val="FFFFFF"/>
                    </a:solidFill>
                  </a:tcPr>
                </a:tc>
                <a:tc>
                  <a:txBody>
                    <a:bodyPr/>
                    <a:lstStyle/>
                    <a:p>
                      <a:r>
                        <a:rPr sz="1400" b="0">
                          <a:solidFill>
                            <a:srgbClr val="0B0B0B"/>
                          </a:solidFill>
                          <a:latin typeface="Segoe UI"/>
                        </a:rPr>
                        <a:t>0.324</a:t>
                      </a:r>
                    </a:p>
                  </a:txBody>
                  <a:tcPr marL="64008" marR="64008" marT="18288" marB="18288" anchor="ctr">
                    <a:solidFill>
                      <a:srgbClr val="FFFFFF"/>
                    </a:solidFill>
                  </a:tcPr>
                </a:tc>
                <a:tc>
                  <a:txBody>
                    <a:bodyPr/>
                    <a:lstStyle/>
                    <a:p>
                      <a:r>
                        <a:rPr sz="1400" b="0">
                          <a:solidFill>
                            <a:srgbClr val="0B0B0B"/>
                          </a:solidFill>
                          <a:latin typeface="Segoe UI"/>
                        </a:rPr>
                        <a:t>27.7%</a:t>
                      </a:r>
                    </a:p>
                  </a:txBody>
                  <a:tcPr marL="64008" marR="64008" marT="18288" marB="18288" anchor="ctr">
                    <a:solidFill>
                      <a:srgbClr val="FFFFFF"/>
                    </a:solidFill>
                  </a:tcPr>
                </a:tc>
                <a:tc>
                  <a:txBody>
                    <a:bodyPr/>
                    <a:lstStyle/>
                    <a:p>
                      <a:r>
                        <a:rPr sz="1400" b="0">
                          <a:solidFill>
                            <a:srgbClr val="0B0B0B"/>
                          </a:solidFill>
                          <a:latin typeface="Segoe UI"/>
                        </a:rPr>
                        <a:t>0.269</a:t>
                      </a:r>
                    </a:p>
                  </a:txBody>
                  <a:tcPr marL="64008" marR="64008" marT="18288" marB="18288" anchor="ctr">
                    <a:solidFill>
                      <a:srgbClr val="FFFFFF"/>
                    </a:solidFill>
                  </a:tcPr>
                </a:tc>
                <a:tc>
                  <a:txBody>
                    <a:bodyPr/>
                    <a:lstStyle/>
                    <a:p>
                      <a:r>
                        <a:rPr sz="1400" b="0">
                          <a:solidFill>
                            <a:srgbClr val="0B0B0B"/>
                          </a:solidFill>
                          <a:latin typeface="Segoe UI"/>
                        </a:rPr>
                        <a:t>-0.002</a:t>
                      </a:r>
                    </a:p>
                  </a:txBody>
                  <a:tcPr marL="64008" marR="64008" marT="18288" marB="18288" anchor="ctr">
                    <a:solidFill>
                      <a:srgbClr val="FFFFFF"/>
                    </a:solidFill>
                  </a:tcPr>
                </a:tc>
                <a:extLst>
                  <a:ext uri="{0D108BD9-81ED-4DB2-BD59-A6C34878D82A}">
                    <a16:rowId xmlns:a16="http://schemas.microsoft.com/office/drawing/2014/main" val="10005"/>
                  </a:ext>
                </a:extLst>
              </a:tr>
              <a:tr h="420624">
                <a:tc>
                  <a:txBody>
                    <a:bodyPr/>
                    <a:lstStyle/>
                    <a:p>
                      <a:r>
                        <a:rPr sz="1400" b="0">
                          <a:solidFill>
                            <a:srgbClr val="0B0B0B"/>
                          </a:solidFill>
                          <a:latin typeface="Segoe UI"/>
                        </a:rPr>
                        <a:t>SMO</a:t>
                      </a:r>
                    </a:p>
                  </a:txBody>
                  <a:tcPr marL="64008" marR="64008" marT="18288" marB="18288" anchor="ctr">
                    <a:solidFill>
                      <a:srgbClr val="F7F8FA"/>
                    </a:solidFill>
                  </a:tcPr>
                </a:tc>
                <a:tc>
                  <a:txBody>
                    <a:bodyPr/>
                    <a:lstStyle/>
                    <a:p>
                      <a:r>
                        <a:rPr sz="1400" b="0">
                          <a:solidFill>
                            <a:srgbClr val="0B0B0B"/>
                          </a:solidFill>
                          <a:latin typeface="Segoe UI"/>
                        </a:rPr>
                        <a:t>51.1%</a:t>
                      </a:r>
                    </a:p>
                  </a:txBody>
                  <a:tcPr marL="64008" marR="64008" marT="18288" marB="18288" anchor="ctr">
                    <a:solidFill>
                      <a:srgbClr val="F7F8FA"/>
                    </a:solidFill>
                  </a:tcPr>
                </a:tc>
                <a:tc>
                  <a:txBody>
                    <a:bodyPr/>
                    <a:lstStyle/>
                    <a:p>
                      <a:r>
                        <a:rPr sz="1400" b="0">
                          <a:solidFill>
                            <a:srgbClr val="0B0B0B"/>
                          </a:solidFill>
                          <a:latin typeface="Segoe UI"/>
                        </a:rPr>
                        <a:t>0.511</a:t>
                      </a:r>
                    </a:p>
                  </a:txBody>
                  <a:tcPr marL="64008" marR="64008" marT="18288" marB="18288" anchor="ctr">
                    <a:solidFill>
                      <a:srgbClr val="F7F8FA"/>
                    </a:solidFill>
                  </a:tcPr>
                </a:tc>
                <a:tc>
                  <a:txBody>
                    <a:bodyPr/>
                    <a:lstStyle/>
                    <a:p>
                      <a:r>
                        <a:rPr sz="1400" b="0">
                          <a:solidFill>
                            <a:srgbClr val="0B0B0B"/>
                          </a:solidFill>
                          <a:latin typeface="Segoe UI"/>
                        </a:rPr>
                        <a:t>0.338</a:t>
                      </a:r>
                    </a:p>
                  </a:txBody>
                  <a:tcPr marL="64008" marR="64008" marT="18288" marB="18288" anchor="ctr">
                    <a:solidFill>
                      <a:srgbClr val="F7F8FA"/>
                    </a:solidFill>
                  </a:tcPr>
                </a:tc>
                <a:tc>
                  <a:txBody>
                    <a:bodyPr/>
                    <a:lstStyle/>
                    <a:p>
                      <a:r>
                        <a:rPr sz="1400" b="0">
                          <a:solidFill>
                            <a:srgbClr val="0B0B0B"/>
                          </a:solidFill>
                          <a:latin typeface="Segoe UI"/>
                        </a:rPr>
                        <a:t>29.3%</a:t>
                      </a:r>
                    </a:p>
                  </a:txBody>
                  <a:tcPr marL="64008" marR="64008" marT="18288" marB="18288" anchor="ctr">
                    <a:solidFill>
                      <a:srgbClr val="F7F8FA"/>
                    </a:solidFill>
                  </a:tcPr>
                </a:tc>
                <a:tc>
                  <a:txBody>
                    <a:bodyPr/>
                    <a:lstStyle/>
                    <a:p>
                      <a:r>
                        <a:rPr sz="1400" b="0">
                          <a:solidFill>
                            <a:srgbClr val="0B0B0B"/>
                          </a:solidFill>
                          <a:latin typeface="Segoe UI"/>
                        </a:rPr>
                        <a:t>0.224</a:t>
                      </a:r>
                    </a:p>
                  </a:txBody>
                  <a:tcPr marL="64008" marR="64008" marT="18288" marB="18288" anchor="ctr">
                    <a:solidFill>
                      <a:srgbClr val="F7F8FA"/>
                    </a:solidFill>
                  </a:tcPr>
                </a:tc>
                <a:tc>
                  <a:txBody>
                    <a:bodyPr/>
                    <a:lstStyle/>
                    <a:p>
                      <a:r>
                        <a:rPr sz="1400" b="0">
                          <a:solidFill>
                            <a:srgbClr val="0B0B0B"/>
                          </a:solidFill>
                          <a:latin typeface="Segoe UI"/>
                        </a:rPr>
                        <a:t>-0.028</a:t>
                      </a:r>
                    </a:p>
                  </a:txBody>
                  <a:tcPr marL="64008" marR="64008" marT="18288" marB="18288" anchor="ctr">
                    <a:solidFill>
                      <a:srgbClr val="F7F8FA"/>
                    </a:solidFill>
                  </a:tcPr>
                </a:tc>
                <a:extLst>
                  <a:ext uri="{0D108BD9-81ED-4DB2-BD59-A6C34878D82A}">
                    <a16:rowId xmlns:a16="http://schemas.microsoft.com/office/drawing/2014/main" val="10006"/>
                  </a:ext>
                </a:extLst>
              </a:tr>
              <a:tr h="420624">
                <a:tc>
                  <a:txBody>
                    <a:bodyPr/>
                    <a:lstStyle/>
                    <a:p>
                      <a:r>
                        <a:rPr sz="1400" b="0">
                          <a:solidFill>
                            <a:srgbClr val="0B0B0B"/>
                          </a:solidFill>
                          <a:latin typeface="Segoe UI"/>
                        </a:rPr>
                        <a:t>RandomForest</a:t>
                      </a:r>
                    </a:p>
                  </a:txBody>
                  <a:tcPr marL="64008" marR="64008" marT="18288" marB="18288" anchor="ctr">
                    <a:solidFill>
                      <a:srgbClr val="FFFFFF"/>
                    </a:solidFill>
                  </a:tcPr>
                </a:tc>
                <a:tc>
                  <a:txBody>
                    <a:bodyPr/>
                    <a:lstStyle/>
                    <a:p>
                      <a:r>
                        <a:rPr sz="1400" b="0">
                          <a:solidFill>
                            <a:srgbClr val="0B0B0B"/>
                          </a:solidFill>
                          <a:latin typeface="Segoe UI"/>
                        </a:rPr>
                        <a:t>45.6%</a:t>
                      </a:r>
                    </a:p>
                  </a:txBody>
                  <a:tcPr marL="64008" marR="64008" marT="18288" marB="18288" anchor="ctr">
                    <a:solidFill>
                      <a:srgbClr val="FFFFFF"/>
                    </a:solidFill>
                  </a:tcPr>
                </a:tc>
                <a:tc>
                  <a:txBody>
                    <a:bodyPr/>
                    <a:lstStyle/>
                    <a:p>
                      <a:r>
                        <a:rPr sz="1400" b="0">
                          <a:solidFill>
                            <a:srgbClr val="0B0B0B"/>
                          </a:solidFill>
                          <a:latin typeface="Segoe UI"/>
                        </a:rPr>
                        <a:t>0.462</a:t>
                      </a:r>
                    </a:p>
                  </a:txBody>
                  <a:tcPr marL="64008" marR="64008" marT="18288" marB="18288" anchor="ctr">
                    <a:solidFill>
                      <a:srgbClr val="FFFFFF"/>
                    </a:solidFill>
                  </a:tcPr>
                </a:tc>
                <a:tc>
                  <a:txBody>
                    <a:bodyPr/>
                    <a:lstStyle/>
                    <a:p>
                      <a:r>
                        <a:rPr sz="1400" b="0">
                          <a:solidFill>
                            <a:srgbClr val="0B0B0B"/>
                          </a:solidFill>
                          <a:latin typeface="Segoe UI"/>
                        </a:rPr>
                        <a:t>0.258</a:t>
                      </a:r>
                    </a:p>
                  </a:txBody>
                  <a:tcPr marL="64008" marR="64008" marT="18288" marB="18288" anchor="ctr">
                    <a:solidFill>
                      <a:srgbClr val="FFFFFF"/>
                    </a:solidFill>
                  </a:tcPr>
                </a:tc>
                <a:tc>
                  <a:txBody>
                    <a:bodyPr/>
                    <a:lstStyle/>
                    <a:p>
                      <a:r>
                        <a:rPr sz="1400" b="0">
                          <a:solidFill>
                            <a:srgbClr val="0B0B0B"/>
                          </a:solidFill>
                          <a:latin typeface="Segoe UI"/>
                        </a:rPr>
                        <a:t>26.6%</a:t>
                      </a:r>
                    </a:p>
                  </a:txBody>
                  <a:tcPr marL="64008" marR="64008" marT="18288" marB="18288" anchor="ctr">
                    <a:solidFill>
                      <a:srgbClr val="FFFFFF"/>
                    </a:solidFill>
                  </a:tcPr>
                </a:tc>
                <a:tc>
                  <a:txBody>
                    <a:bodyPr/>
                    <a:lstStyle/>
                    <a:p>
                      <a:r>
                        <a:rPr sz="1400" b="0">
                          <a:solidFill>
                            <a:srgbClr val="0B0B0B"/>
                          </a:solidFill>
                          <a:latin typeface="Segoe UI"/>
                        </a:rPr>
                        <a:t>0.254</a:t>
                      </a:r>
                    </a:p>
                  </a:txBody>
                  <a:tcPr marL="64008" marR="64008" marT="18288" marB="18288" anchor="ctr">
                    <a:solidFill>
                      <a:srgbClr val="FFFFFF"/>
                    </a:solidFill>
                  </a:tcPr>
                </a:tc>
                <a:tc>
                  <a:txBody>
                    <a:bodyPr/>
                    <a:lstStyle/>
                    <a:p>
                      <a:r>
                        <a:rPr sz="1400" b="0">
                          <a:solidFill>
                            <a:srgbClr val="0B0B0B"/>
                          </a:solidFill>
                          <a:latin typeface="Segoe UI"/>
                        </a:rPr>
                        <a:t>-0.020</a:t>
                      </a:r>
                    </a:p>
                  </a:txBody>
                  <a:tcPr marL="64008" marR="64008"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8" name="SimpleLightSectionLabel">
            <a:extLst>
              <a:ext uri="{FF2B5EF4-FFF2-40B4-BE49-F238E27FC236}">
                <a16:creationId xmlns:a16="http://schemas.microsoft.com/office/drawing/2014/main" id="{385E5837-2A63-458D-A08B-06530A66DB92}"/>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Cross-Validation vs Hold-Out</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60</a:t>
            </a:r>
          </a:p>
        </p:txBody>
      </p:sp>
      <p:sp>
        <p:nvSpPr>
          <p:cNvPr id="7" name="Rounded Rectangle 6"/>
          <p:cNvSpPr/>
          <p:nvPr/>
        </p:nvSpPr>
        <p:spPr>
          <a:xfrm>
            <a:off x="548640" y="1463040"/>
            <a:ext cx="5440680" cy="4023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44068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737360"/>
            <a:ext cx="4846320" cy="548640"/>
          </a:xfrm>
          <a:prstGeom prst="rect">
            <a:avLst/>
          </a:prstGeom>
          <a:noFill/>
        </p:spPr>
        <p:txBody>
          <a:bodyPr wrap="square" lIns="27432" tIns="27432" rIns="27432" bIns="27432" anchor="t">
            <a:noAutofit/>
          </a:bodyPr>
          <a:lstStyle/>
          <a:p>
            <a:pPr algn="l">
              <a:lnSpc>
                <a:spcPct val="105000"/>
              </a:lnSpc>
            </a:pPr>
            <a:r>
              <a:rPr sz="2400" b="1">
                <a:solidFill>
                  <a:srgbClr val="2A78D6"/>
                </a:solidFill>
                <a:latin typeface="Helvetica Neue"/>
              </a:rPr>
              <a:t>Hold-out (teacher-facing)</a:t>
            </a:r>
          </a:p>
        </p:txBody>
      </p:sp>
      <p:sp>
        <p:nvSpPr>
          <p:cNvPr id="10" name="TextBox 9"/>
          <p:cNvSpPr txBox="1"/>
          <p:nvPr/>
        </p:nvSpPr>
        <p:spPr>
          <a:xfrm>
            <a:off x="868680" y="2468880"/>
            <a:ext cx="4846320" cy="2926080"/>
          </a:xfrm>
          <a:prstGeom prst="rect">
            <a:avLst/>
          </a:prstGeom>
          <a:noFill/>
        </p:spPr>
        <p:txBody>
          <a:bodyPr wrap="square" lIns="27432" tIns="27432" rIns="27432" bIns="27432" anchor="t">
            <a:noAutofit/>
          </a:bodyPr>
          <a:lstStyle/>
          <a:p>
            <a:pPr algn="l">
              <a:lnSpc>
                <a:spcPct val="105000"/>
              </a:lnSpc>
              <a:spcAft>
                <a:spcPts val="800"/>
              </a:spcAft>
            </a:pPr>
            <a:r>
              <a:rPr lang="en-US" sz="1900" b="0">
                <a:solidFill>
                  <a:srgbClr val="0B0B0B"/>
                </a:solidFill>
                <a:latin typeface="Helvetica Neue"/>
              </a:rPr>
              <a:t>• One fixed 80/20 split</a:t>
            </a:r>
          </a:p>
          <a:p>
            <a:pPr algn="l">
              <a:lnSpc>
                <a:spcPct val="105000"/>
              </a:lnSpc>
              <a:spcAft>
                <a:spcPts val="800"/>
              </a:spcAft>
            </a:pPr>
            <a:r>
              <a:rPr lang="en-US" sz="1900" b="0">
                <a:solidFill>
                  <a:srgbClr val="0B0B0B"/>
                </a:solidFill>
                <a:latin typeface="Helvetica Neue"/>
              </a:rPr>
              <a:t>• 736 train · 184 test students</a:t>
            </a:r>
          </a:p>
          <a:p>
            <a:pPr algn="l">
              <a:lnSpc>
                <a:spcPct val="105000"/>
              </a:lnSpc>
              <a:spcAft>
                <a:spcPts val="800"/>
              </a:spcAft>
            </a:pPr>
            <a:r>
              <a:rPr lang="en-US" sz="1900" b="0">
                <a:solidFill>
                  <a:srgbClr val="0B0B0B"/>
                </a:solidFill>
                <a:latin typeface="Helvetica Neue"/>
              </a:rPr>
              <a:t>• Main CGPA J48 tree: 51.1% on test</a:t>
            </a:r>
          </a:p>
          <a:p>
            <a:pPr algn="l">
              <a:lnSpc>
                <a:spcPct val="105000"/>
              </a:lnSpc>
              <a:spcAft>
                <a:spcPts val="800"/>
              </a:spcAft>
            </a:pPr>
            <a:r>
              <a:rPr lang="en-US" sz="1900" b="0">
                <a:solidFill>
                  <a:srgbClr val="0B0B0B"/>
                </a:solidFill>
                <a:latin typeface="Helvetica Neue"/>
              </a:rPr>
              <a:t>• Easy to explain: rules → unseen students</a:t>
            </a:r>
            <a:endParaRPr sz="1900" b="0">
              <a:solidFill>
                <a:srgbClr val="0B0B0B"/>
              </a:solidFill>
              <a:latin typeface="Helvetica Neue"/>
            </a:endParaRPr>
          </a:p>
        </p:txBody>
      </p:sp>
      <p:sp>
        <p:nvSpPr>
          <p:cNvPr id="11" name="Rounded Rectangle 10"/>
          <p:cNvSpPr/>
          <p:nvPr/>
        </p:nvSpPr>
        <p:spPr>
          <a:xfrm>
            <a:off x="6172200" y="1463040"/>
            <a:ext cx="5440680" cy="4023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63040"/>
            <a:ext cx="5440680" cy="109728"/>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737360"/>
            <a:ext cx="4846320" cy="548640"/>
          </a:xfrm>
          <a:prstGeom prst="rect">
            <a:avLst/>
          </a:prstGeom>
          <a:noFill/>
        </p:spPr>
        <p:txBody>
          <a:bodyPr wrap="square" lIns="27432" tIns="27432" rIns="27432" bIns="27432" anchor="t">
            <a:noAutofit/>
          </a:bodyPr>
          <a:lstStyle/>
          <a:p>
            <a:pPr algn="l">
              <a:lnSpc>
                <a:spcPct val="105000"/>
              </a:lnSpc>
            </a:pPr>
            <a:r>
              <a:rPr sz="2400" b="1">
                <a:solidFill>
                  <a:srgbClr val="1F3B5C"/>
                </a:solidFill>
                <a:latin typeface="Helvetica Neue"/>
              </a:rPr>
              <a:t>Cross-validation (robustness)</a:t>
            </a:r>
          </a:p>
        </p:txBody>
      </p:sp>
      <p:sp>
        <p:nvSpPr>
          <p:cNvPr id="14" name="TextBox 13"/>
          <p:cNvSpPr txBox="1"/>
          <p:nvPr/>
        </p:nvSpPr>
        <p:spPr>
          <a:xfrm>
            <a:off x="6492240" y="2468880"/>
            <a:ext cx="4846320" cy="2926080"/>
          </a:xfrm>
          <a:prstGeom prst="rect">
            <a:avLst/>
          </a:prstGeom>
          <a:noFill/>
        </p:spPr>
        <p:txBody>
          <a:bodyPr wrap="square" lIns="27432" tIns="27432" rIns="27432" bIns="27432" anchor="t">
            <a:noAutofit/>
          </a:bodyPr>
          <a:lstStyle/>
          <a:p>
            <a:pPr algn="l">
              <a:lnSpc>
                <a:spcPct val="105000"/>
              </a:lnSpc>
              <a:spcAft>
                <a:spcPts val="800"/>
              </a:spcAft>
            </a:pPr>
            <a:r>
              <a:rPr lang="en-US" sz="1900" b="0">
                <a:solidFill>
                  <a:srgbClr val="0B0B0B"/>
                </a:solidFill>
                <a:latin typeface="Helvetica Neue"/>
              </a:rPr>
              <a:t>• Every student is tested once</a:t>
            </a:r>
          </a:p>
          <a:p>
            <a:pPr algn="l">
              <a:lnSpc>
                <a:spcPct val="105000"/>
              </a:lnSpc>
              <a:spcAft>
                <a:spcPts val="800"/>
              </a:spcAft>
            </a:pPr>
            <a:r>
              <a:rPr lang="en-US" sz="1900" b="0">
                <a:solidFill>
                  <a:srgbClr val="0B0B0B"/>
                </a:solidFill>
                <a:latin typeface="Helvetica Neue"/>
              </a:rPr>
              <a:t>• 5 folds, seed 1</a:t>
            </a:r>
          </a:p>
          <a:p>
            <a:pPr algn="l">
              <a:lnSpc>
                <a:spcPct val="105000"/>
              </a:lnSpc>
              <a:spcAft>
                <a:spcPts val="800"/>
              </a:spcAft>
            </a:pPr>
            <a:r>
              <a:rPr lang="en-US" sz="1900" b="0">
                <a:solidFill>
                  <a:srgbClr val="0B0B0B"/>
                </a:solidFill>
                <a:latin typeface="Helvetica Neue"/>
              </a:rPr>
              <a:t>• Main CGPA SMO: 55.2% (J48 54.4%)</a:t>
            </a:r>
          </a:p>
          <a:p>
            <a:pPr algn="l">
              <a:lnSpc>
                <a:spcPct val="105000"/>
              </a:lnSpc>
              <a:spcAft>
                <a:spcPts val="800"/>
              </a:spcAft>
            </a:pPr>
            <a:r>
              <a:rPr lang="en-US" sz="1900" b="0">
                <a:solidFill>
                  <a:srgbClr val="0B0B0B"/>
                </a:solidFill>
                <a:latin typeface="Helvetica Neue"/>
              </a:rPr>
              <a:t>• Less luck from one split</a:t>
            </a:r>
            <a:endParaRPr sz="1900" b="0">
              <a:solidFill>
                <a:srgbClr val="0B0B0B"/>
              </a:solidFill>
              <a:latin typeface="Helvetica Neue"/>
            </a:endParaRPr>
          </a:p>
        </p:txBody>
      </p:sp>
      <p:sp>
        <p:nvSpPr>
          <p:cNvPr id="15" name="Rounded Rectangle 14"/>
          <p:cNvSpPr/>
          <p:nvPr/>
        </p:nvSpPr>
        <p:spPr>
          <a:xfrm>
            <a:off x="548640" y="5669280"/>
            <a:ext cx="11064240" cy="5486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600" b="1">
                <a:solidFill>
                  <a:srgbClr val="1F3B5C"/>
                </a:solidFill>
                <a:latin typeface="Helvetica Neue"/>
              </a:rPr>
              <a:t>Both checks show that recent academic performance carries the strongest CGPA signal.</a:t>
            </a:r>
          </a:p>
        </p:txBody>
      </p:sp>
      <p:sp>
        <p:nvSpPr>
          <p:cNvPr id="16" name="SimpleLightSectionLabel">
            <a:extLst>
              <a:ext uri="{FF2B5EF4-FFF2-40B4-BE49-F238E27FC236}">
                <a16:creationId xmlns:a16="http://schemas.microsoft.com/office/drawing/2014/main" id="{537FEEF8-B5B9-415B-9692-65F36147D1CE}"/>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Team Contribution</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61</a:t>
            </a:r>
          </a:p>
        </p:txBody>
      </p:sp>
      <p:graphicFrame>
        <p:nvGraphicFramePr>
          <p:cNvPr id="7" name="Table 6"/>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566928">
                <a:tc>
                  <a:txBody>
                    <a:bodyPr/>
                    <a:lstStyle/>
                    <a:p>
                      <a:r>
                        <a:rPr sz="1700" b="1">
                          <a:solidFill>
                            <a:srgbClr val="FFFFFF"/>
                          </a:solidFill>
                          <a:latin typeface="Segoe UI"/>
                        </a:rPr>
                        <a:t>Roll</a:t>
                      </a:r>
                    </a:p>
                  </a:txBody>
                  <a:tcPr marL="64008" marR="64008" marT="18288" marB="18288" anchor="ctr">
                    <a:solidFill>
                      <a:srgbClr val="1F3B5C"/>
                    </a:solidFill>
                  </a:tcPr>
                </a:tc>
                <a:tc>
                  <a:txBody>
                    <a:bodyPr/>
                    <a:lstStyle/>
                    <a:p>
                      <a:r>
                        <a:rPr sz="1700" b="1">
                          <a:solidFill>
                            <a:srgbClr val="FFFFFF"/>
                          </a:solidFill>
                          <a:latin typeface="Segoe UI"/>
                        </a:rPr>
                        <a:t>Team member</a:t>
                      </a:r>
                    </a:p>
                  </a:txBody>
                  <a:tcPr marL="64008" marR="64008" marT="18288" marB="18288" anchor="ctr">
                    <a:solidFill>
                      <a:srgbClr val="1F3B5C"/>
                    </a:solidFill>
                  </a:tcPr>
                </a:tc>
                <a:tc>
                  <a:txBody>
                    <a:bodyPr/>
                    <a:lstStyle/>
                    <a:p>
                      <a:r>
                        <a:rPr sz="1700" b="1">
                          <a:solidFill>
                            <a:srgbClr val="FFFFFF"/>
                          </a:solidFill>
                          <a:latin typeface="Segoe UI"/>
                        </a:rPr>
                        <a:t>Contribution</a:t>
                      </a:r>
                    </a:p>
                  </a:txBody>
                  <a:tcPr marL="64008" marR="64008" marT="18288" marB="18288" anchor="ctr">
                    <a:solidFill>
                      <a:srgbClr val="1F3B5C"/>
                    </a:solidFill>
                  </a:tcPr>
                </a:tc>
                <a:extLst>
                  <a:ext uri="{0D108BD9-81ED-4DB2-BD59-A6C34878D82A}">
                    <a16:rowId xmlns:a16="http://schemas.microsoft.com/office/drawing/2014/main" val="10000"/>
                  </a:ext>
                </a:extLst>
              </a:tr>
              <a:tr h="566928">
                <a:tc>
                  <a:txBody>
                    <a:bodyPr/>
                    <a:lstStyle/>
                    <a:p>
                      <a:r>
                        <a:rPr sz="1700" b="0">
                          <a:solidFill>
                            <a:srgbClr val="0B0B0B"/>
                          </a:solidFill>
                          <a:latin typeface="Segoe UI"/>
                        </a:rPr>
                        <a:t>2107020</a:t>
                      </a:r>
                    </a:p>
                  </a:txBody>
                  <a:tcPr marL="64008" marR="64008" marT="18288" marB="18288" anchor="ctr">
                    <a:solidFill>
                      <a:srgbClr val="FFFFFF"/>
                    </a:solidFill>
                  </a:tcPr>
                </a:tc>
                <a:tc>
                  <a:txBody>
                    <a:bodyPr/>
                    <a:lstStyle/>
                    <a:p>
                      <a:r>
                        <a:rPr sz="1700" b="0">
                          <a:solidFill>
                            <a:srgbClr val="0B0B0B"/>
                          </a:solidFill>
                          <a:latin typeface="Segoe UI"/>
                        </a:rPr>
                        <a:t>Sheikh Md. Galib Mahim</a:t>
                      </a:r>
                    </a:p>
                  </a:txBody>
                  <a:tcPr marL="64008" marR="64008" marT="18288" marB="18288" anchor="ctr">
                    <a:solidFill>
                      <a:srgbClr val="FFFFFF"/>
                    </a:solidFill>
                  </a:tcPr>
                </a:tc>
                <a:tc>
                  <a:txBody>
                    <a:bodyPr/>
                    <a:lstStyle/>
                    <a:p>
                      <a:r>
                        <a:rPr sz="1700" b="0">
                          <a:solidFill>
                            <a:srgbClr val="0B0B0B"/>
                          </a:solidFill>
                          <a:latin typeface="Segoe UI"/>
                        </a:rPr>
                        <a:t>Merge and cleaning pipeline, EDA, modelling notebook, documentation</a:t>
                      </a:r>
                    </a:p>
                  </a:txBody>
                  <a:tcPr marL="64008" marR="64008" marT="18288" marB="18288" anchor="ctr">
                    <a:solidFill>
                      <a:srgbClr val="FFFFFF"/>
                    </a:solidFill>
                  </a:tcPr>
                </a:tc>
                <a:extLst>
                  <a:ext uri="{0D108BD9-81ED-4DB2-BD59-A6C34878D82A}">
                    <a16:rowId xmlns:a16="http://schemas.microsoft.com/office/drawing/2014/main" val="10001"/>
                  </a:ext>
                </a:extLst>
              </a:tr>
              <a:tr h="566928">
                <a:tc>
                  <a:txBody>
                    <a:bodyPr/>
                    <a:lstStyle/>
                    <a:p>
                      <a:r>
                        <a:rPr sz="1700" b="0">
                          <a:solidFill>
                            <a:srgbClr val="0B0B0B"/>
                          </a:solidFill>
                          <a:latin typeface="Segoe UI"/>
                        </a:rPr>
                        <a:t>2107030</a:t>
                      </a:r>
                    </a:p>
                  </a:txBody>
                  <a:tcPr marL="64008" marR="64008" marT="18288" marB="18288" anchor="ctr">
                    <a:solidFill>
                      <a:srgbClr val="F7F8FA"/>
                    </a:solidFill>
                  </a:tcPr>
                </a:tc>
                <a:tc>
                  <a:txBody>
                    <a:bodyPr/>
                    <a:lstStyle/>
                    <a:p>
                      <a:r>
                        <a:rPr sz="1700" b="0">
                          <a:solidFill>
                            <a:srgbClr val="0B0B0B"/>
                          </a:solidFill>
                          <a:latin typeface="Segoe UI"/>
                        </a:rPr>
                        <a:t>Md. Eftakar Jaman Arfan</a:t>
                      </a:r>
                    </a:p>
                  </a:txBody>
                  <a:tcPr marL="64008" marR="64008" marT="18288" marB="18288" anchor="ctr">
                    <a:solidFill>
                      <a:srgbClr val="F7F8FA"/>
                    </a:solidFill>
                  </a:tcPr>
                </a:tc>
                <a:tc>
                  <a:txBody>
                    <a:bodyPr/>
                    <a:lstStyle/>
                    <a:p>
                      <a:r>
                        <a:rPr sz="1700" b="0">
                          <a:solidFill>
                            <a:srgbClr val="0B0B0B"/>
                          </a:solidFill>
                          <a:latin typeface="Segoe UI"/>
                        </a:rPr>
                        <a:t>WEKA experiments and result tables</a:t>
                      </a:r>
                    </a:p>
                  </a:txBody>
                  <a:tcPr marL="64008" marR="64008" marT="18288" marB="18288" anchor="ctr">
                    <a:solidFill>
                      <a:srgbClr val="F7F8FA"/>
                    </a:solidFill>
                  </a:tcPr>
                </a:tc>
                <a:extLst>
                  <a:ext uri="{0D108BD9-81ED-4DB2-BD59-A6C34878D82A}">
                    <a16:rowId xmlns:a16="http://schemas.microsoft.com/office/drawing/2014/main" val="10002"/>
                  </a:ext>
                </a:extLst>
              </a:tr>
              <a:tr h="566928">
                <a:tc>
                  <a:txBody>
                    <a:bodyPr/>
                    <a:lstStyle/>
                    <a:p>
                      <a:r>
                        <a:rPr sz="1700" b="0">
                          <a:solidFill>
                            <a:srgbClr val="0B0B0B"/>
                          </a:solidFill>
                          <a:latin typeface="Segoe UI"/>
                        </a:rPr>
                        <a:t>2107007</a:t>
                      </a:r>
                    </a:p>
                  </a:txBody>
                  <a:tcPr marL="64008" marR="64008" marT="18288" marB="18288" anchor="ctr">
                    <a:solidFill>
                      <a:srgbClr val="FFFFFF"/>
                    </a:solidFill>
                  </a:tcPr>
                </a:tc>
                <a:tc>
                  <a:txBody>
                    <a:bodyPr/>
                    <a:lstStyle/>
                    <a:p>
                      <a:r>
                        <a:rPr sz="1700" b="0">
                          <a:solidFill>
                            <a:srgbClr val="0B0B0B"/>
                          </a:solidFill>
                          <a:latin typeface="Segoe UI"/>
                        </a:rPr>
                        <a:t>Asif Jawad</a:t>
                      </a:r>
                    </a:p>
                  </a:txBody>
                  <a:tcPr marL="64008" marR="64008" marT="18288" marB="18288" anchor="ctr">
                    <a:solidFill>
                      <a:srgbClr val="FFFFFF"/>
                    </a:solidFill>
                  </a:tcPr>
                </a:tc>
                <a:tc>
                  <a:txBody>
                    <a:bodyPr/>
                    <a:lstStyle/>
                    <a:p>
                      <a:r>
                        <a:rPr sz="1700" b="0">
                          <a:solidFill>
                            <a:srgbClr val="0B0B0B"/>
                          </a:solidFill>
                          <a:latin typeface="Segoe UI"/>
                        </a:rPr>
                        <a:t>Form design and data collection</a:t>
                      </a:r>
                    </a:p>
                  </a:txBody>
                  <a:tcPr marL="64008" marR="64008" marT="18288" marB="18288" anchor="ctr">
                    <a:solidFill>
                      <a:srgbClr val="FFFFFF"/>
                    </a:solidFill>
                  </a:tcPr>
                </a:tc>
                <a:extLst>
                  <a:ext uri="{0D108BD9-81ED-4DB2-BD59-A6C34878D82A}">
                    <a16:rowId xmlns:a16="http://schemas.microsoft.com/office/drawing/2014/main" val="10003"/>
                  </a:ext>
                </a:extLst>
              </a:tr>
              <a:tr h="566928">
                <a:tc>
                  <a:txBody>
                    <a:bodyPr/>
                    <a:lstStyle/>
                    <a:p>
                      <a:r>
                        <a:rPr sz="1700" b="0">
                          <a:solidFill>
                            <a:srgbClr val="0B0B0B"/>
                          </a:solidFill>
                          <a:latin typeface="Segoe UI"/>
                        </a:rPr>
                        <a:t>2107008</a:t>
                      </a:r>
                    </a:p>
                  </a:txBody>
                  <a:tcPr marL="64008" marR="64008" marT="18288" marB="18288" anchor="ctr">
                    <a:solidFill>
                      <a:srgbClr val="F7F8FA"/>
                    </a:solidFill>
                  </a:tcPr>
                </a:tc>
                <a:tc>
                  <a:txBody>
                    <a:bodyPr/>
                    <a:lstStyle/>
                    <a:p>
                      <a:r>
                        <a:rPr sz="1700" b="0">
                          <a:solidFill>
                            <a:srgbClr val="0B0B0B"/>
                          </a:solidFill>
                          <a:latin typeface="Segoe UI"/>
                        </a:rPr>
                        <a:t>Rakibul Islam</a:t>
                      </a:r>
                    </a:p>
                  </a:txBody>
                  <a:tcPr marL="64008" marR="64008" marT="18288" marB="18288" anchor="ctr">
                    <a:solidFill>
                      <a:srgbClr val="F7F8FA"/>
                    </a:solidFill>
                  </a:tcPr>
                </a:tc>
                <a:tc>
                  <a:txBody>
                    <a:bodyPr/>
                    <a:lstStyle/>
                    <a:p>
                      <a:r>
                        <a:rPr sz="1700" b="0">
                          <a:solidFill>
                            <a:srgbClr val="0B0B0B"/>
                          </a:solidFill>
                          <a:latin typeface="Segoe UI"/>
                        </a:rPr>
                        <a:t>Report writing and related work</a:t>
                      </a:r>
                    </a:p>
                  </a:txBody>
                  <a:tcPr marL="64008" marR="64008" marT="18288" marB="18288" anchor="ctr">
                    <a:solidFill>
                      <a:srgbClr val="F7F8FA"/>
                    </a:solidFill>
                  </a:tcPr>
                </a:tc>
                <a:extLst>
                  <a:ext uri="{0D108BD9-81ED-4DB2-BD59-A6C34878D82A}">
                    <a16:rowId xmlns:a16="http://schemas.microsoft.com/office/drawing/2014/main" val="10004"/>
                  </a:ext>
                </a:extLst>
              </a:tr>
              <a:tr h="566928">
                <a:tc>
                  <a:txBody>
                    <a:bodyPr/>
                    <a:lstStyle/>
                    <a:p>
                      <a:r>
                        <a:rPr sz="1700" b="0">
                          <a:solidFill>
                            <a:srgbClr val="0B0B0B"/>
                          </a:solidFill>
                          <a:latin typeface="Segoe UI"/>
                        </a:rPr>
                        <a:t>2107012</a:t>
                      </a:r>
                    </a:p>
                  </a:txBody>
                  <a:tcPr marL="64008" marR="64008" marT="18288" marB="18288" anchor="ctr">
                    <a:solidFill>
                      <a:srgbClr val="FFFFFF"/>
                    </a:solidFill>
                  </a:tcPr>
                </a:tc>
                <a:tc>
                  <a:txBody>
                    <a:bodyPr/>
                    <a:lstStyle/>
                    <a:p>
                      <a:r>
                        <a:rPr sz="1700" b="0">
                          <a:solidFill>
                            <a:srgbClr val="0B0B0B"/>
                          </a:solidFill>
                          <a:latin typeface="Segoe UI"/>
                        </a:rPr>
                        <a:t>Md Enam E Elahi</a:t>
                      </a:r>
                    </a:p>
                  </a:txBody>
                  <a:tcPr marL="64008" marR="64008" marT="18288" marB="18288" anchor="ctr">
                    <a:solidFill>
                      <a:srgbClr val="FFFFFF"/>
                    </a:solidFill>
                  </a:tcPr>
                </a:tc>
                <a:tc>
                  <a:txBody>
                    <a:bodyPr/>
                    <a:lstStyle/>
                    <a:p>
                      <a:r>
                        <a:rPr sz="1700" b="0">
                          <a:solidFill>
                            <a:srgbClr val="0B0B0B"/>
                          </a:solidFill>
                          <a:latin typeface="Segoe UI"/>
                        </a:rPr>
                        <a:t>Report writing and related work</a:t>
                      </a:r>
                    </a:p>
                  </a:txBody>
                  <a:tcPr marL="64008" marR="64008" marT="18288" marB="18288" anchor="ctr">
                    <a:solidFill>
                      <a:srgbClr val="FFFFFF"/>
                    </a:solidFill>
                  </a:tcPr>
                </a:tc>
                <a:extLst>
                  <a:ext uri="{0D108BD9-81ED-4DB2-BD59-A6C34878D82A}">
                    <a16:rowId xmlns:a16="http://schemas.microsoft.com/office/drawing/2014/main" val="10005"/>
                  </a:ext>
                </a:extLst>
              </a:tr>
              <a:tr h="566928">
                <a:tc>
                  <a:txBody>
                    <a:bodyPr/>
                    <a:lstStyle/>
                    <a:p>
                      <a:r>
                        <a:rPr sz="1700" b="0">
                          <a:solidFill>
                            <a:srgbClr val="0B0B0B"/>
                          </a:solidFill>
                          <a:latin typeface="Segoe UI"/>
                        </a:rPr>
                        <a:t>2107014</a:t>
                      </a:r>
                    </a:p>
                  </a:txBody>
                  <a:tcPr marL="64008" marR="64008" marT="18288" marB="18288" anchor="ctr">
                    <a:solidFill>
                      <a:srgbClr val="F7F8FA"/>
                    </a:solidFill>
                  </a:tcPr>
                </a:tc>
                <a:tc>
                  <a:txBody>
                    <a:bodyPr/>
                    <a:lstStyle/>
                    <a:p>
                      <a:r>
                        <a:rPr sz="1700" b="0">
                          <a:solidFill>
                            <a:srgbClr val="0B0B0B"/>
                          </a:solidFill>
                          <a:latin typeface="Segoe UI"/>
                        </a:rPr>
                        <a:t>Al Mubtasim Preom</a:t>
                      </a:r>
                    </a:p>
                  </a:txBody>
                  <a:tcPr marL="64008" marR="64008" marT="18288" marB="18288" anchor="ctr">
                    <a:solidFill>
                      <a:srgbClr val="F7F8FA"/>
                    </a:solidFill>
                  </a:tcPr>
                </a:tc>
                <a:tc>
                  <a:txBody>
                    <a:bodyPr/>
                    <a:lstStyle/>
                    <a:p>
                      <a:r>
                        <a:rPr sz="1700" b="0">
                          <a:solidFill>
                            <a:srgbClr val="0B0B0B"/>
                          </a:solidFill>
                          <a:latin typeface="Segoe UI"/>
                        </a:rPr>
                        <a:t>KUET scheme cleaning</a:t>
                      </a:r>
                    </a:p>
                  </a:txBody>
                  <a:tcPr marL="64008" marR="64008" marT="18288" marB="18288" anchor="ctr">
                    <a:solidFill>
                      <a:srgbClr val="F7F8FA"/>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548640" y="5669280"/>
            <a:ext cx="11064240" cy="502920"/>
          </a:xfrm>
          <a:prstGeom prst="roundRect">
            <a:avLst>
              <a:gd name="adj" fmla="val 8000"/>
            </a:avLst>
          </a:prstGeom>
          <a:solidFill>
            <a:srgbClr val="FFF1D6"/>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noAutofit/>
          </a:bodyPr>
          <a:lstStyle/>
          <a:p>
            <a:pPr algn="ctr">
              <a:lnSpc>
                <a:spcPct val="105000"/>
              </a:lnSpc>
            </a:pPr>
            <a:r>
              <a:rPr sz="1400" b="1">
                <a:solidFill>
                  <a:srgbClr val="8A5A00"/>
                </a:solidFill>
                <a:latin typeface="Helvetica Neue"/>
              </a:rPr>
              <a:t>Draft copied from the previous deck — confirm names and roles with the team before presenting.</a:t>
            </a:r>
          </a:p>
        </p:txBody>
      </p:sp>
      <p:sp>
        <p:nvSpPr>
          <p:cNvPr id="9" name="SimpleLightSectionLabel">
            <a:extLst>
              <a:ext uri="{FF2B5EF4-FFF2-40B4-BE49-F238E27FC236}">
                <a16:creationId xmlns:a16="http://schemas.microsoft.com/office/drawing/2014/main" id="{9B42F77A-56F0-4068-B4E6-C9A1CF0A335D}"/>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SGPA Decision Tree (Full View)</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63</a:t>
            </a:r>
          </a:p>
        </p:txBody>
      </p:sp>
      <p:pic>
        <p:nvPicPr>
          <p:cNvPr id="7" name="Picture 6" descr="sgpa_decision_tree_readable.png"/>
          <p:cNvPicPr>
            <a:picLocks noChangeAspect="1"/>
          </p:cNvPicPr>
          <p:nvPr/>
        </p:nvPicPr>
        <p:blipFill>
          <a:blip r:embed="rId3"/>
          <a:stretch>
            <a:fillRect/>
          </a:stretch>
        </p:blipFill>
        <p:spPr>
          <a:xfrm>
            <a:off x="2819068" y="1280160"/>
            <a:ext cx="6523382" cy="5029200"/>
          </a:xfrm>
          <a:prstGeom prst="rect">
            <a:avLst/>
          </a:prstGeom>
        </p:spPr>
      </p:pic>
      <p:sp>
        <p:nvSpPr>
          <p:cNvPr id="8" name="SimpleLightSectionLabel">
            <a:extLst>
              <a:ext uri="{FF2B5EF4-FFF2-40B4-BE49-F238E27FC236}">
                <a16:creationId xmlns:a16="http://schemas.microsoft.com/office/drawing/2014/main" id="{81EC4FDA-C1EC-4D89-A73B-045A02896621}"/>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548640" y="329184"/>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01168"/>
            <a:ext cx="7315200" cy="310896"/>
          </a:xfrm>
          <a:prstGeom prst="rect">
            <a:avLst/>
          </a:prstGeom>
          <a:noFill/>
        </p:spPr>
        <p:txBody>
          <a:bodyPr wrap="square" lIns="27432" tIns="27432" rIns="27432" bIns="27432" anchor="t">
            <a:noAutofit/>
          </a:bodyPr>
          <a:lstStyle/>
          <a:p>
            <a:pPr algn="l">
              <a:lnSpc>
                <a:spcPct val="105000"/>
              </a:lnSpc>
            </a:pPr>
            <a:r>
              <a:rPr sz="1200" b="1">
                <a:solidFill>
                  <a:srgbClr val="2A78D6"/>
                </a:solidFill>
                <a:latin typeface="Helvetica Neue"/>
              </a:rPr>
              <a:t>BACKUP</a:t>
            </a:r>
          </a:p>
        </p:txBody>
      </p:sp>
      <p:sp>
        <p:nvSpPr>
          <p:cNvPr id="4" name="TextBox 3"/>
          <p:cNvSpPr txBox="1"/>
          <p:nvPr/>
        </p:nvSpPr>
        <p:spPr>
          <a:xfrm>
            <a:off x="548640" y="475488"/>
            <a:ext cx="11064240" cy="777240"/>
          </a:xfrm>
          <a:prstGeom prst="rect">
            <a:avLst/>
          </a:prstGeom>
          <a:noFill/>
        </p:spPr>
        <p:txBody>
          <a:bodyPr wrap="square" lIns="27432" tIns="27432" rIns="27432" bIns="27432" anchor="t">
            <a:noAutofit/>
          </a:bodyPr>
          <a:lstStyle/>
          <a:p>
            <a:pPr algn="l">
              <a:lnSpc>
                <a:spcPct val="105000"/>
              </a:lnSpc>
            </a:pPr>
            <a:r>
              <a:rPr sz="3200" b="1">
                <a:solidFill>
                  <a:srgbClr val="121212"/>
                </a:solidFill>
                <a:latin typeface="OpenAI Sans" panose="020B0604020202020204" charset="0"/>
              </a:rPr>
              <a:t>WEKA Output: Random Forest Runs</a:t>
            </a:r>
          </a:p>
        </p:txBody>
      </p:sp>
      <p:sp>
        <p:nvSpPr>
          <p:cNvPr id="5" name="TextBox 4"/>
          <p:cNvSpPr txBox="1"/>
          <p:nvPr/>
        </p:nvSpPr>
        <p:spPr>
          <a:xfrm>
            <a:off x="548640" y="6446520"/>
            <a:ext cx="8229600" cy="274320"/>
          </a:xfrm>
          <a:prstGeom prst="rect">
            <a:avLst/>
          </a:prstGeom>
          <a:noFill/>
        </p:spPr>
        <p:txBody>
          <a:bodyPr wrap="square" lIns="27432" tIns="27432" rIns="27432" bIns="27432" anchor="t">
            <a:noAutofit/>
          </a:bodyPr>
          <a:lstStyle/>
          <a:p>
            <a:pPr algn="l">
              <a:lnSpc>
                <a:spcPct val="105000"/>
              </a:lnSpc>
            </a:pPr>
            <a:r>
              <a:rPr sz="1000" b="0">
                <a:solidFill>
                  <a:srgbClr val="898781"/>
                </a:solidFill>
                <a:latin typeface="Helvetica Neue"/>
              </a:rPr>
              <a:t>CSE 4112 · Machine Learning Lab · What Shapes Student CGPA?</a:t>
            </a:r>
          </a:p>
        </p:txBody>
      </p:sp>
      <p:sp>
        <p:nvSpPr>
          <p:cNvPr id="6" name="TextBox 5"/>
          <p:cNvSpPr txBox="1"/>
          <p:nvPr/>
        </p:nvSpPr>
        <p:spPr>
          <a:xfrm>
            <a:off x="10881360" y="6446520"/>
            <a:ext cx="731520" cy="274320"/>
          </a:xfrm>
          <a:prstGeom prst="rect">
            <a:avLst/>
          </a:prstGeom>
          <a:noFill/>
        </p:spPr>
        <p:txBody>
          <a:bodyPr wrap="square" lIns="27432" tIns="27432" rIns="27432" bIns="27432" anchor="t">
            <a:noAutofit/>
          </a:bodyPr>
          <a:lstStyle/>
          <a:p>
            <a:pPr algn="r">
              <a:lnSpc>
                <a:spcPct val="105000"/>
              </a:lnSpc>
            </a:pPr>
            <a:r>
              <a:rPr sz="1000" b="0">
                <a:solidFill>
                  <a:srgbClr val="898781"/>
                </a:solidFill>
                <a:latin typeface="Helvetica Neue"/>
              </a:rPr>
              <a:t>64</a:t>
            </a:r>
          </a:p>
        </p:txBody>
      </p:sp>
      <p:sp>
        <p:nvSpPr>
          <p:cNvPr id="7" name="TextBox 6"/>
          <p:cNvSpPr txBox="1"/>
          <p:nvPr/>
        </p:nvSpPr>
        <p:spPr>
          <a:xfrm>
            <a:off x="548640" y="1280160"/>
            <a:ext cx="5440680" cy="41148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Main CGPA task: Random Forest 54.2% (5-fold CV)</a:t>
            </a:r>
          </a:p>
        </p:txBody>
      </p:sp>
      <p:pic>
        <p:nvPicPr>
          <p:cNvPr id="8" name="Picture 7" descr="weka_primary_screenshot_108.png"/>
          <p:cNvPicPr>
            <a:picLocks noChangeAspect="1"/>
          </p:cNvPicPr>
          <p:nvPr/>
        </p:nvPicPr>
        <p:blipFill>
          <a:blip r:embed="rId3"/>
          <a:stretch>
            <a:fillRect/>
          </a:stretch>
        </p:blipFill>
        <p:spPr>
          <a:xfrm>
            <a:off x="590827" y="1737360"/>
            <a:ext cx="5356305" cy="4480560"/>
          </a:xfrm>
          <a:prstGeom prst="rect">
            <a:avLst/>
          </a:prstGeom>
          <a:ln w="12700">
            <a:solidFill>
              <a:srgbClr val="DADCE0"/>
            </a:solidFill>
          </a:ln>
        </p:spPr>
      </p:pic>
      <p:sp>
        <p:nvSpPr>
          <p:cNvPr id="9" name="TextBox 8"/>
          <p:cNvSpPr txBox="1"/>
          <p:nvPr/>
        </p:nvSpPr>
        <p:spPr>
          <a:xfrm>
            <a:off x="6172200" y="1280160"/>
            <a:ext cx="5440680" cy="411480"/>
          </a:xfrm>
          <a:prstGeom prst="rect">
            <a:avLst/>
          </a:prstGeom>
          <a:noFill/>
        </p:spPr>
        <p:txBody>
          <a:bodyPr wrap="square" lIns="27432" tIns="27432" rIns="27432" bIns="27432" anchor="t">
            <a:noAutofit/>
          </a:bodyPr>
          <a:lstStyle/>
          <a:p>
            <a:pPr algn="l">
              <a:lnSpc>
                <a:spcPct val="105000"/>
              </a:lnSpc>
            </a:pPr>
            <a:r>
              <a:rPr sz="1600" b="1">
                <a:solidFill>
                  <a:srgbClr val="0B0B0B"/>
                </a:solidFill>
                <a:latin typeface="Helvetica Neue"/>
              </a:rPr>
              <a:t>CGPA questionnaire: Random Forest 30.5% (5-fold CV)</a:t>
            </a:r>
          </a:p>
        </p:txBody>
      </p:sp>
      <p:pic>
        <p:nvPicPr>
          <p:cNvPr id="10" name="Picture 9" descr="weka_behaviour_screenshot_114.png"/>
          <p:cNvPicPr>
            <a:picLocks noChangeAspect="1"/>
          </p:cNvPicPr>
          <p:nvPr/>
        </p:nvPicPr>
        <p:blipFill>
          <a:blip r:embed="rId4"/>
          <a:stretch>
            <a:fillRect/>
          </a:stretch>
        </p:blipFill>
        <p:spPr>
          <a:xfrm>
            <a:off x="6214387" y="1737360"/>
            <a:ext cx="5356305" cy="4480560"/>
          </a:xfrm>
          <a:prstGeom prst="rect">
            <a:avLst/>
          </a:prstGeom>
          <a:ln w="12700">
            <a:solidFill>
              <a:srgbClr val="DADCE0"/>
            </a:solidFill>
          </a:ln>
        </p:spPr>
      </p:pic>
      <p:sp>
        <p:nvSpPr>
          <p:cNvPr id="11" name="SimpleLightSectionLabel">
            <a:extLst>
              <a:ext uri="{FF2B5EF4-FFF2-40B4-BE49-F238E27FC236}">
                <a16:creationId xmlns:a16="http://schemas.microsoft.com/office/drawing/2014/main" id="{45AA3AA6-D6D5-46DC-9772-86CA1C810ACC}"/>
              </a:ext>
            </a:extLst>
          </p:cNvPr>
          <p:cNvSpPr txBox="1"/>
          <p:nvPr/>
        </p:nvSpPr>
        <p:spPr>
          <a:xfrm>
            <a:off x="9448800" y="165100"/>
            <a:ext cx="2387600" cy="223138"/>
          </a:xfrm>
          <a:prstGeom prst="rect">
            <a:avLst/>
          </a:prstGeom>
          <a:noFill/>
        </p:spPr>
        <p:txBody>
          <a:bodyPr vert="horz" rtlCol="0">
            <a:spAutoFit/>
          </a:bodyPr>
          <a:lstStyle/>
          <a:p>
            <a:pPr algn="r"/>
            <a:r>
              <a:rPr lang="en-US" sz="850">
                <a:solidFill>
                  <a:srgbClr val="686F7A"/>
                </a:solidFill>
                <a:latin typeface="Helvetica Neue"/>
              </a:rPr>
              <a:t>TECHNICAL BACKUP</a:t>
            </a:r>
          </a:p>
        </p:txBody>
      </p:sp>
    </p:spTree>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1897</TotalTime>
  <Words>8808</Words>
  <Application>Microsoft Office PowerPoint</Application>
  <PresentationFormat>Widescreen</PresentationFormat>
  <Paragraphs>1814</Paragraphs>
  <Slides>74</Slides>
  <Notes>73</Notes>
  <HiddenSlides>23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OpenAI Sans</vt:lpstr>
      <vt:lpstr>Helvetica Neue</vt:lpstr>
      <vt:lpstr>Times New Roman</vt:lpstr>
      <vt:lpstr>Aptos</vt:lpstr>
      <vt:lpstr>Arial</vt:lpstr>
      <vt:lpstr>Segoe UI</vt:lpstr>
      <vt:lpstr>Default Codex Theme</vt:lpstr>
      <vt:lpstr>What Shapes Student CGPA? An Engineering Student Academic Performance Dataset and Machine Learning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Attendance and CGPA</vt:lpstr>
      <vt:lpstr>Weekly study time and CGPA</vt:lpstr>
      <vt:lpstr>Study style and CGPA</vt:lpstr>
      <vt:lpstr>Topic clarity and CGPA</vt:lpstr>
      <vt:lpstr>Sleep and CGPA</vt:lpstr>
      <vt:lpstr>Stress and CGPA</vt:lpstr>
      <vt:lpstr>Phone distraction and CGPA</vt:lpstr>
      <vt:lpstr>Outside commitments and CGPA</vt:lpstr>
      <vt:lpstr>Desired department and CGPA</vt:lpstr>
      <vt:lpstr>Support and CGPA</vt:lpstr>
      <vt:lpstr>Study environment and CGPA</vt:lpstr>
      <vt:lpstr>Routine manageability and CGPA</vt:lpstr>
      <vt:lpstr>PowerPoint Presentation</vt:lpstr>
      <vt:lpstr>WEKA target-specific model results</vt:lpstr>
      <vt:lpstr>WEKA J48: Recent SGPA</vt:lpstr>
      <vt:lpstr>WEKA J48: SGPA rules</vt:lpstr>
      <vt:lpstr>WEKA J48: CGPA from questionnaire variables</vt:lpstr>
      <vt:lpstr>Questionnaire J48 rules</vt:lpstr>
      <vt:lpstr>WEKA J48: Main CGPA prediction</vt:lpstr>
      <vt:lpstr>Main CGPA J48 rules</vt:lpstr>
      <vt:lpstr>WEKA J48: cross-validation and 80/20 test accuracy</vt:lpstr>
      <vt:lpstr>WEKA J48: main CGPA test confusion matrix</vt:lpstr>
      <vt:lpstr>WEKA j48 matrix</vt:lpstr>
      <vt:lpstr>WEKA Random Forest matrix</vt:lpstr>
      <vt:lpstr>WEKA SMO matrix</vt:lpstr>
      <vt:lpstr>WEKA Logistic matrix</vt:lpstr>
      <vt:lpstr>WEKA Naive Bayes  matrix</vt:lpstr>
      <vt:lpstr>WEKA ZeroR baseline matrix</vt:lpstr>
      <vt:lpstr>WEKA main CGPA accuracy: 5-fold CV</vt:lpstr>
      <vt:lpstr>Accuracy before and after the data check</vt:lpstr>
      <vt:lpstr>Previous studies and models</vt:lpstr>
      <vt:lpstr>Previous work and our WEKA models</vt:lpstr>
      <vt:lpstr>What did we learn?</vt:lpstr>
      <vt:lpstr>Limitations</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Shapes Student CGPA? An Engineering Student Academic Performance Dataset and Machine Learning Analysis</dc:title>
  <cp:lastModifiedBy>Galib mahim</cp:lastModifiedBy>
  <cp:revision>10</cp:revision>
  <dcterms:modified xsi:type="dcterms:W3CDTF">2026-09-15T07:17:36Z</dcterms:modified>
</cp:coreProperties>
</file>