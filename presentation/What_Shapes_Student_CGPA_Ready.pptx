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charts/chart1.xml" ContentType="application/vnd.openxmlformats-officedocument.drawingml.chart+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48" r:id="rId1"/>
  </p:sldMasterIdLst>
  <p:notesMasterIdLst>
    <p:notesMasterId r:id="rId62"/>
  </p:notesMasterIdLst>
  <p:sldIdLst>
    <p:sldId id="396" r:id="rId2"/>
    <p:sldId id="257" r:id="rId3"/>
    <p:sldId id="260" r:id="rId4"/>
    <p:sldId id="261" r:id="rId5"/>
    <p:sldId id="262" r:id="rId6"/>
    <p:sldId id="263" r:id="rId7"/>
    <p:sldId id="400" r:id="rId8"/>
    <p:sldId id="427" r:id="rId9"/>
    <p:sldId id="428" r:id="rId10"/>
    <p:sldId id="266" r:id="rId11"/>
    <p:sldId id="414" r:id="rId12"/>
    <p:sldId id="415" r:id="rId13"/>
    <p:sldId id="419" r:id="rId14"/>
    <p:sldId id="401" r:id="rId15"/>
    <p:sldId id="267" r:id="rId16"/>
    <p:sldId id="268" r:id="rId17"/>
    <p:sldId id="271" r:id="rId18"/>
    <p:sldId id="272" r:id="rId19"/>
    <p:sldId id="273" r:id="rId20"/>
    <p:sldId id="274" r:id="rId21"/>
    <p:sldId id="275" r:id="rId22"/>
    <p:sldId id="276" r:id="rId23"/>
    <p:sldId id="277" r:id="rId24"/>
    <p:sldId id="278" r:id="rId25"/>
    <p:sldId id="279" r:id="rId26"/>
    <p:sldId id="293" r:id="rId27"/>
    <p:sldId id="402" r:id="rId28"/>
    <p:sldId id="403" r:id="rId29"/>
    <p:sldId id="404" r:id="rId30"/>
    <p:sldId id="405" r:id="rId31"/>
    <p:sldId id="406" r:id="rId32"/>
    <p:sldId id="407" r:id="rId33"/>
    <p:sldId id="408" r:id="rId34"/>
    <p:sldId id="409" r:id="rId35"/>
    <p:sldId id="410" r:id="rId36"/>
    <p:sldId id="280" r:id="rId37"/>
    <p:sldId id="281" r:id="rId38"/>
    <p:sldId id="282" r:id="rId39"/>
    <p:sldId id="285" r:id="rId40"/>
    <p:sldId id="421" r:id="rId41"/>
    <p:sldId id="287" r:id="rId42"/>
    <p:sldId id="288" r:id="rId43"/>
    <p:sldId id="289" r:id="rId44"/>
    <p:sldId id="290" r:id="rId45"/>
    <p:sldId id="411" r:id="rId46"/>
    <p:sldId id="294" r:id="rId47"/>
    <p:sldId id="422" r:id="rId48"/>
    <p:sldId id="423" r:id="rId49"/>
    <p:sldId id="424" r:id="rId50"/>
    <p:sldId id="425" r:id="rId51"/>
    <p:sldId id="426" r:id="rId52"/>
    <p:sldId id="297" r:id="rId53"/>
    <p:sldId id="298" r:id="rId54"/>
    <p:sldId id="420" r:id="rId55"/>
    <p:sldId id="412" r:id="rId56"/>
    <p:sldId id="413" r:id="rId57"/>
    <p:sldId id="302" r:id="rId58"/>
    <p:sldId id="303" r:id="rId59"/>
    <p:sldId id="304" r:id="rId60"/>
    <p:sldId id="308" r:id="rId61"/>
  </p:sldIdLst>
  <p:sldSz cx="12192000" cy="6858000"/>
  <p:notesSz cx="6858000" cy="9144000"/>
  <p:embeddedFontLst>
    <p:embeddedFont>
      <p:font typeface="OpenAI Sans" panose="020B0604020202020204" charset="0"/>
      <p:regular r:id="rId63"/>
      <p:bold r:id="rId64"/>
      <p:italic r:id="rId65"/>
      <p:boldItalic r:id="rId6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433"/>
    <p:restoredTop sz="94658"/>
  </p:normalViewPr>
  <p:slideViewPr>
    <p:cSldViewPr snapToGrid="0">
      <p:cViewPr varScale="1">
        <p:scale>
          <a:sx n="94" d="100"/>
          <a:sy n="94" d="100"/>
        </p:scale>
        <p:origin x="115" y="278"/>
      </p:cViewPr>
      <p:guideLst/>
    </p:cSldViewPr>
  </p:slideViewPr>
  <p:outlineViewPr>
    <p:cViewPr>
      <p:scale>
        <a:sx n="33" d="100"/>
        <a:sy n="33" d="100"/>
      </p:scale>
      <p:origin x="0" y="-29912"/>
    </p:cViewPr>
  </p:outlineViewPr>
  <p:notesTextViewPr>
    <p:cViewPr>
      <p:scale>
        <a:sx n="1" d="1"/>
        <a:sy n="1" d="1"/>
      </p:scale>
      <p:origin x="0" y="0"/>
    </p:cViewPr>
  </p:notesTextViewPr>
  <p:sorterViewPr>
    <p:cViewPr>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font" Target="fonts/font1.fntdata"/><Relationship Id="rId68"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font" Target="fonts/font4.fntdata"/><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font" Target="fonts/font2.fntdata"/><Relationship Id="rId69"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notesMaster" Target="notesMasters/notesMaster1.xml"/><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strRef>
              <c:f>Sheet1!$B$1</c:f>
              <c:strCache>
                <c:ptCount val="1"/>
                <c:pt idx="0">
                  <c:v>Accuracy</c:v>
                </c:pt>
              </c:strCache>
            </c:strRef>
          </c:tx>
          <c:spPr>
            <a:solidFill>
              <a:srgbClr val="2878CF"/>
            </a:solidFill>
          </c:spPr>
          <c:invertIfNegative val="1"/>
          <c:dLbls>
            <c:numFmt formatCode="0.0&quot;%&quot;" sourceLinked="0"/>
            <c:spPr>
              <a:noFill/>
              <a:ln>
                <a:noFill/>
              </a:ln>
              <a:effectLst/>
            </c:spPr>
            <c:txPr>
              <a:bodyPr anchorCtr="1"/>
              <a:lstStyle/>
              <a:p>
                <a:pPr>
                  <a:defRPr>
                    <a:latin typeface="Times New Roman"/>
                    <a:ea typeface="Times New Roman"/>
                    <a:cs typeface="Times New Roman"/>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ZeroR</c:v>
                </c:pt>
                <c:pt idx="1">
                  <c:v>J48</c:v>
                </c:pt>
                <c:pt idx="2">
                  <c:v>Random Forest</c:v>
                </c:pt>
                <c:pt idx="3">
                  <c:v>SMO</c:v>
                </c:pt>
                <c:pt idx="4">
                  <c:v>Logistic</c:v>
                </c:pt>
                <c:pt idx="5">
                  <c:v>Naive Bayes</c:v>
                </c:pt>
              </c:strCache>
            </c:strRef>
          </c:cat>
          <c:val>
            <c:numRef>
              <c:f>Sheet1!$B$2:$B$7</c:f>
              <c:numCache>
                <c:formatCode>0"%"</c:formatCode>
                <c:ptCount val="6"/>
                <c:pt idx="0">
                  <c:v>30.87</c:v>
                </c:pt>
                <c:pt idx="1">
                  <c:v>54.35</c:v>
                </c:pt>
                <c:pt idx="2">
                  <c:v>54.24</c:v>
                </c:pt>
                <c:pt idx="3">
                  <c:v>55.22</c:v>
                </c:pt>
                <c:pt idx="4">
                  <c:v>54.67</c:v>
                </c:pt>
                <c:pt idx="5">
                  <c:v>54.46</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8FF9-4988-A2A8-E9F8A5BC5F38}"/>
            </c:ext>
          </c:extLst>
        </c:ser>
        <c:dLbls>
          <c:dLblPos val="outEnd"/>
          <c:showLegendKey val="0"/>
          <c:showVal val="1"/>
          <c:showCatName val="0"/>
          <c:showSerName val="0"/>
          <c:showPercent val="0"/>
          <c:showBubbleSize val="0"/>
        </c:dLbls>
        <c:gapWidth val="8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4D4D4"/>
            </a:solidFill>
            <a:prstDash val="solid"/>
          </a:ln>
        </c:spPr>
        <c:txPr>
          <a:bodyPr anchorCtr="1"/>
          <a:lstStyle/>
          <a:p>
            <a:pPr>
              <a:defRPr sz="1725">
                <a:solidFill>
                  <a:srgbClr val="666666"/>
                </a:solidFill>
                <a:latin typeface="Times New Roman"/>
                <a:ea typeface="Times New Roman"/>
                <a:cs typeface="Times New Roman"/>
              </a:defRPr>
            </a:pPr>
            <a:endParaRPr lang="en-US"/>
          </a:p>
        </c:txPr>
        <c:crossAx val="48672768"/>
        <c:crosses val="autoZero"/>
        <c:auto val="1"/>
        <c:lblAlgn val="ctr"/>
        <c:lblOffset val="100"/>
        <c:noMultiLvlLbl val="1"/>
      </c:catAx>
      <c:valAx>
        <c:axId val="48672768"/>
        <c:scaling>
          <c:orientation val="minMax"/>
          <c:max val="60"/>
          <c:min val="0"/>
        </c:scaling>
        <c:delete val="0"/>
        <c:axPos val="l"/>
        <c:numFmt formatCode="0&quot;%&quot;" sourceLinked="0"/>
        <c:majorTickMark val="none"/>
        <c:minorTickMark val="none"/>
        <c:tickLblPos val="nextTo"/>
        <c:spPr>
          <a:ln w="9525">
            <a:solidFill>
              <a:srgbClr val="D4D4D4"/>
            </a:solidFill>
            <a:prstDash val="solid"/>
          </a:ln>
        </c:spPr>
        <c:txPr>
          <a:bodyPr anchorCtr="1"/>
          <a:lstStyle/>
          <a:p>
            <a:pPr>
              <a:defRPr>
                <a:solidFill>
                  <a:srgbClr val="666666"/>
                </a:solidFill>
                <a:latin typeface="Times New Roman"/>
                <a:ea typeface="Times New Roman"/>
                <a:cs typeface="Times New Roman"/>
              </a:defRPr>
            </a:pPr>
            <a:endParaRPr lang="en-US"/>
          </a:p>
        </c:txPr>
        <c:crossAx val="48650112"/>
        <c:crosses val="autoZero"/>
        <c:crossBetween val="between"/>
      </c:valAx>
    </c:plotArea>
    <c:plotVisOnly val="1"/>
    <c:dispBlanksAs val="zero"/>
    <c:showDLblsOverMax val="1"/>
  </c:chart>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9EC29E5-F646-1C4E-9C79-40608B34D03C}" type="datetimeFigureOut">
              <a:rPr lang="en-US" smtClean="0"/>
              <a:t>9/21/2026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AAA0A2-FFE2-354C-9768-C35E42B6251D}" type="slidenum">
              <a:rPr lang="en-US" smtClean="0"/>
              <a:t>‹#›</a:t>
            </a:fld>
            <a:endParaRPr lang="en-US"/>
          </a:p>
        </p:txBody>
      </p:sp>
    </p:spTree>
    <p:extLst>
      <p:ext uri="{BB962C8B-B14F-4D97-AF65-F5344CB8AC3E}">
        <p14:creationId xmlns:p14="http://schemas.microsoft.com/office/powerpoint/2010/main" val="19911769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E614D2-2802-9381-3FF9-B1BDC227FF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8838E4-A3D7-443C-4771-74618E3C9B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C27993-9BBE-6B01-9733-AB1FA9039A9B}"/>
              </a:ext>
            </a:extLst>
          </p:cNvPr>
          <p:cNvSpPr>
            <a:spLocks noGrp="1"/>
          </p:cNvSpPr>
          <p:nvPr>
            <p:ph type="body" idx="1"/>
          </p:nvPr>
        </p:nvSpPr>
        <p:spPr/>
        <p:txBody>
          <a:bodyPr/>
          <a:lstStyle/>
          <a:p>
            <a:r>
              <a:t>Assalamu alaikum. Amader project er naam 'What Shapes Student CGPA?'. Amra 920 jon engineering student er survey data niye kaj korsi. Amra bujhte chaisi student ra nijer academic life niye ki bole, kon pattern gula valo ba kharap result er sathe ashe, ar ei answer gula diye notun student er CGPA group predict kora jay kina. Flow ta simple: Student → Form → Data → Rules → CGPA.</a:t>
            </a:r>
          </a:p>
        </p:txBody>
      </p:sp>
      <p:sp>
        <p:nvSpPr>
          <p:cNvPr id="4" name="Slide Number Placeholder 3">
            <a:extLst>
              <a:ext uri="{FF2B5EF4-FFF2-40B4-BE49-F238E27FC236}">
                <a16:creationId xmlns:a16="http://schemas.microsoft.com/office/drawing/2014/main" id="{AF2EA6BD-8166-9F1E-E1F9-3EC85E4DC22E}"/>
              </a:ext>
            </a:extLst>
          </p:cNvPr>
          <p:cNvSpPr>
            <a:spLocks noGrp="1"/>
          </p:cNvSpPr>
          <p:nvPr>
            <p:ph type="sldNum" sz="quarter" idx="5"/>
          </p:nvPr>
        </p:nvSpPr>
        <p:spPr/>
        <p:txBody>
          <a:bodyPr/>
          <a:lstStyle/>
          <a:p>
            <a:fld id="{F9AAA0A2-FFE2-354C-9768-C35E42B6251D}" type="slidenum">
              <a:rPr lang="en-US" smtClean="0"/>
              <a:t>1</a:t>
            </a:fld>
            <a:endParaRPr lang="en-US"/>
          </a:p>
        </p:txBody>
      </p:sp>
    </p:spTree>
    <p:extLst>
      <p:ext uri="{BB962C8B-B14F-4D97-AF65-F5344CB8AC3E}">
        <p14:creationId xmlns:p14="http://schemas.microsoft.com/office/powerpoint/2010/main" val="330974999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Amader tinta simple question. Ek, student ra ki report kore. Dui, kon answer pattern gula valo ba kharap result er sathe beshi dekha jay. Tin, ei answer diye notun student er result predict kora jay kina. Amader goal shudhu accuracy na — result ta jeno bujha jay.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Data duita Google Form theke eseche. Multi-university form e 230 ta, ar KUET form e 896 ta response — mot 1,126. Clean ar SGPA-CGPA check er por 920 ta final record. Duita form e question same, shudhu wording ektu alada, tai careful vabe merge korsi.</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Eta amader actual Google Form er screenshot — header ar charta question. KUET form e same core question chilo, shudhu wording ektu alada, tai duita merge kore ek dataset banaisi. Protiti question English ar Bangla duitai ache, ar form ta anonymous — name ba roll number nai. Answer gula option theke select korte hoy, tai sob student er answer compare kora easy. Model niye kotha bolar age amra dekhate chai data ta ashole kotha theke esheche.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Ekhane charta real question dekhano holo — attendance, weekly study time, stress, ar recent SGPA. Beshirvag answer category hishebe, jemon '75-89%' ba 'Often'. Ei category gula thakar karone different student der answer shohoje compare kora jay.</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Ei chhoy ta real form question Decision Tree er rule e ashe — topic clarity, study style, study environment, semester routine, sleep, ar CGPA question ta nije target. Protiti screenshot er upore lekha ache kon tree seta use korse. Tree jokhon IF-AND rule dey, rule er protiti condition ei question gular answer theke ashe.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Raw data te 1,126 ta response chilo. Same answer different vabe lekha — jemon BRAC, Brac, BRAc — egula ek kora hoyeche. Bangla bracket shoriye ek label kora hoyeche, duita GPA format ke C0-C3 group e ana hoyeche, ar 18 ta row jekhane CGPA chilo na seta bad deya hoyeche. Final 1,108 ta clean row. Cleaning na korle computer same answer ke alada vabto.</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each of the 1102 students with a real SGPA, we compared the recent SGPA group with the CGPA group. 860 students (78%) are in the same group or one group apart. 242 students are 2 or 3 groups apart. Because CGPA is an average of all semesters, a gap that big should be rare.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Simple arithmetic: new CGPA = (5 × old CGPA + new SGPA) / 6. A very bad semester (3.80 then 2.80) gives 3.63, a very good semester (3.00 then 4.00) gives 3.17. So a big SGPA/CGPA gap is possible for a few students, but it should not be common.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From 1,108 clean rows we kept the 1102 with a real recent SGPA. From the 455 answers sent on 6-7 August we kept 273 whose SGPA and CGPA are at most one group apart, and removed 182 with a gap of 2 or 3 groups. That leaves 920 rows, about 83% of the data. We also do not use the result satisfaction question, because it depends on each student's own goals.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15CAC9-C4A7-84B4-C962-DF95A30602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3BD5A2-4BCC-9577-8A81-859594D64443}"/>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5D6E344B-699D-A205-20A6-F18977A01934}"/>
              </a:ext>
            </a:extLst>
          </p:cNvPr>
          <p:cNvSpPr>
            <a:spLocks noGrp="1"/>
          </p:cNvSpPr>
          <p:nvPr>
            <p:ph type="body" sz="quarter" idx="3"/>
          </p:nvPr>
        </p:nvSpPr>
        <p:spPr/>
        <p:txBody>
          <a:bodyPr/>
          <a:lstStyle/>
          <a:p>
            <a:r>
              <a:t>Teacher er suggestion onujayi reference dataset er screenshot rakhsi. Eta IUBAT er 894 jon Computer Science student er dataset, Mendeley Data te public. Ekhane attendance, daily study hour, social media hour, previous SGPA, current CGPA ache. Classified copy te performance category ache. Amra dekhte chaisi existing dataset e kon feature gula common.</a:t>
            </a:r>
          </a:p>
        </p:txBody>
      </p:sp>
      <p:sp>
        <p:nvSpPr>
          <p:cNvPr id="4" name="Slide Number Placeholder 3">
            <a:extLst>
              <a:ext uri="{FF2B5EF4-FFF2-40B4-BE49-F238E27FC236}">
                <a16:creationId xmlns:a16="http://schemas.microsoft.com/office/drawing/2014/main" id="{79DCB3A0-1204-9FFB-454B-362C3E91E8DB}"/>
              </a:ext>
            </a:extLst>
          </p:cNvPr>
          <p:cNvSpPr>
            <a:spLocks noGrp="1"/>
          </p:cNvSpPr>
          <p:nvPr>
            <p:ph type="sldNum" sz="quarter" idx="5"/>
          </p:nvPr>
        </p:nvSpPr>
        <p:spPr/>
      </p:sp>
    </p:spTree>
    <p:extLst>
      <p:ext uri="{BB962C8B-B14F-4D97-AF65-F5344CB8AC3E}">
        <p14:creationId xmlns:p14="http://schemas.microsoft.com/office/powerpoint/2010/main" val="328160331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Teacher er suggestion onujayi reference dataset er screenshot rakhsi. Eta IUBAT er 894 jon Computer Science student er dataset, Mendeley Data te public. Ekhane attendance, daily study hour, social media hour, previous SGPA, current CGPA ache. Classified copy te performance category ache. Amra dekhte chaisi existing dataset e kon feature gula common.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Reference er sathe amader form compare korle 7 ta topic duitatei ache — attendance, study time, social media, previous SGPA, CGPA. Ar amra notun add korsi stress, sleep, topic clarity, desired department, routine, career expectation. Mane amader dataset familiar idea follow kore, kintu motivation ar environment related question beshi.</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After the data check we have 920 students. The universities are not equal: KUET 690 (75.0%), BUET 104, BRAC 101, CUET 25. So we cannot say the results apply equally to every university.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form collected CGPA ranges, not exact numbers, so we made four groups: C0 below 3.20 (182 students), C1 3.20 to 3.49 (284), C2 3.50 to 3.74 (264), C3 3.75 or above (190). This is a four-class classification problem. These C0-C3 labels stay the same on every slide.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Before building models we checked that no group dominates. The largest group is C1 (30.9%), the smallest is C0 (19.8%). The four groups are roughly balanced, so accuracy is a fair measure.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only shows answers, no prediction. The most common answer is '90% or more' (349 students). 73.0% attend 75% or more, and only 25 attend below 60%.</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Study time outside class. Most students study 3-6 hrs a week (237 students). 194 study less than 3 hours, and 272 study more than 10 hours.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40.9% of students say stress often or almost always made studying difficult. 44.3% sleep less than 6 hours. Here we only describe answers; links with results come later.</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48.7% say phone or social media often or almost every day took their study time. 49.5% spend 6 or more hours a week on tuition, job or club work.</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39.0% got exactly the department they wanted. 48.2% get good or strong support from family or friends, and 48.0% say their living place is mostly suitable or excellent for study.</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Out of 12 behaviour questions, 3 patterns were reliable after checking: getting the desired department and higher attendance go with a higher CGPA group, and more tuition/job/club hours go with a lower group. All links are small (the largest is 0.13), so we say 'associated', not 'causes'.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We checked whether each answer moves in the same direction for SGPA and CGPA. Attendance and getting the desired department go the same way for both. The other 10 questions are too weak to claim a matching pattern.</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docs/final_results.json (920 students after the data check). Each bar = 100% of the students who chose that answer.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docs/final_results.json (920 students after the data check). Each bar = 100% of the students who chose that answer.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docs/final_results.json (920 students after the data check). Each bar = 100% of the students who chose that answer.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docs/final_results.json (920 students after the data check). Each bar = 100% of the students who chose that answer.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docs/final_results.json (920 students after the data check). Each bar = 100% of the students who chose that answer.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docs/final_results.json (920 students after the data check). Each bar = 100% of the students who chose that answer.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docs/final_results.json (920 students after the data check). Each bar = 100% of the students who chose that answer.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docs/final_results.json (920 students after the data check). Each bar = 100% of the students who chose that answer.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docs/final_results.json (920 students after the data check). Each bar = 100% of the students who chose that answer.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docs/final_results.json (920 students after the data check). Each bar = 100% of the students who chose that answer.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docs/final_results.json (920 students after the data check). Each bar = 100% of the students who chose that answer.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docs/final_results.json (920 students after the data check). Each bar = 100% of the students who chose that answer.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WEKA 3.8.7 logs in docs/weka_runs/final/ (files ending _cv5.txt). Result satisfaction is not used as an input.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3D8F46-5AAE-74DA-C52F-74A111444F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AE3429-1F91-60F2-C824-60DC204116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9D57C8-6F9D-76BF-1C25-93AA57E61075}"/>
              </a:ext>
            </a:extLst>
          </p:cNvPr>
          <p:cNvSpPr>
            <a:spLocks noGrp="1"/>
          </p:cNvSpPr>
          <p:nvPr>
            <p:ph type="body" idx="1"/>
          </p:nvPr>
        </p:nvSpPr>
        <p:spPr/>
        <p:txBody>
          <a:bodyPr/>
          <a:lstStyle/>
          <a:p>
            <a:r>
              <a:t>Source: WEKA 3.8.7 logs in docs/weka_runs/final/ (files ending _cv5.txt). Result satisfaction is not used as an input.</a:t>
            </a:r>
          </a:p>
        </p:txBody>
      </p:sp>
      <p:sp>
        <p:nvSpPr>
          <p:cNvPr id="4" name="Slide Number Placeholder 3">
            <a:extLst>
              <a:ext uri="{FF2B5EF4-FFF2-40B4-BE49-F238E27FC236}">
                <a16:creationId xmlns:a16="http://schemas.microsoft.com/office/drawing/2014/main" id="{6F7496D3-7A05-122C-4A95-8C06DD3D11AE}"/>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23367167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Tree drawn from the WEKA J48 output (docs/weka_runs/final/sgpa_J48_tree_full.txt). Leaf (N/errors) = students in that leaf / students it places in the wrong group.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Rules come from the WEKA J48 tree in docs/weka_runs/final/sgpa_J48_tree_full.txt. They are predictions, not causes.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Tree drawn from the WEKA J48 output (docs/weka_runs/final/questionnaire_cgpa_J48_tree_full.txt). Leaf (N/errors) = students in that leaf / students it places in the wrong group.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Rules come from the WEKA J48 tree in docs/weka_runs/final/questionnaire_cgpa_J48_tree_full.txt. They are predictions, not causes.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Sources: sgpa_J48_holdout.txt, questionnaire_J48_holdout.txt, main_J48_holdout.txt. All J48 models C=.25 M=40.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docs/weka_runs/final/main_cgpa_J48_split80.txt (WEKA percentage split 80%, seed 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EFCE6-0375-3177-AD0F-92681AF2B8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B9905A-7D78-25B9-80B1-FDA602170B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070979-1EED-611E-3A83-99065814A8BA}"/>
              </a:ext>
            </a:extLst>
          </p:cNvPr>
          <p:cNvSpPr>
            <a:spLocks noGrp="1"/>
          </p:cNvSpPr>
          <p:nvPr>
            <p:ph type="body" idx="1"/>
          </p:nvPr>
        </p:nvSpPr>
        <p:spPr/>
        <p:txBody>
          <a:bodyPr/>
          <a:lstStyle/>
          <a:p>
            <a:r>
              <a:t>Source: docs/weka_runs/final/main_cgpa_J48_split80.txt (WEKA percentage split 80%, seed 1).</a:t>
            </a:r>
          </a:p>
        </p:txBody>
      </p:sp>
      <p:sp>
        <p:nvSpPr>
          <p:cNvPr id="4" name="Slide Number Placeholder 3">
            <a:extLst>
              <a:ext uri="{FF2B5EF4-FFF2-40B4-BE49-F238E27FC236}">
                <a16:creationId xmlns:a16="http://schemas.microsoft.com/office/drawing/2014/main" id="{AA08D6F6-64EF-C9D6-37B7-A38D09782726}"/>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82191468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docs/weka_runs/final/main_cgpa_ZeroR_cv5.txt.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docs/weka_runs/final/main_cgpa_*_cv5.txt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models, same settings, same 5-fold cross-validation. The only change is removing the 182 unreliable answers. SMO goes from 46.10% to 55.22%. Logs: docs/weka_runs/final/before1102_main_*_cv5.txt and main_cgpa_*_cv5.txt.</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Ahmed (2024): https://doi.org/10.1155/2024/4067721</a:t>
            </a:r>
          </a:p>
          <a:p>
            <a:pPr marL="0" lvl="0" indent="0" algn="l">
              <a:spcBef>
                <a:spcPts val="0"/>
              </a:spcBef>
              <a:spcAft>
                <a:spcPts val="0"/>
              </a:spcAft>
              <a:buNone/>
            </a:pPr>
            <a:r>
              <a:t>Maruf et al. ICCIT 2024: https://doi.org/10.1109/ICCIT64611.2024.11021990</a:t>
            </a:r>
          </a:p>
          <a:p>
            <a:pPr marL="0" lvl="0" indent="0" algn="l">
              <a:spcBef>
                <a:spcPts val="0"/>
              </a:spcBef>
              <a:spcAft>
                <a:spcPts val="0"/>
              </a:spcAft>
              <a:buNone/>
            </a:pPr>
            <a:r>
              <a:t>Albonny &amp; Duru (2026): https://dergipark.org.tr/tr/pub/ijonfest/article/1879280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Ahmed (2024): https://doi.org/10.1155/2024/4067721</a:t>
            </a:r>
          </a:p>
          <a:p>
            <a:pPr marL="0" lvl="0" indent="0" algn="l">
              <a:spcBef>
                <a:spcPts val="0"/>
              </a:spcBef>
              <a:spcAft>
                <a:spcPts val="0"/>
              </a:spcAft>
              <a:buNone/>
            </a:pPr>
            <a:r>
              <a:t>Maruf et al. ICCIT 2024: https://doi.org/10.1109/ICCIT64611.2024.11021990</a:t>
            </a:r>
          </a:p>
          <a:p>
            <a:pPr marL="0" lvl="0" indent="0" algn="l">
              <a:spcBef>
                <a:spcPts val="0"/>
              </a:spcBef>
              <a:spcAft>
                <a:spcPts val="0"/>
              </a:spcAft>
              <a:buNone/>
            </a:pPr>
            <a:r>
              <a:t>Albonny &amp; Duru (2026): https://dergipark.org.tr/tr/pub/ijonfest/article/1879280</a:t>
            </a:r>
          </a:p>
          <a:p>
            <a:pPr marL="0" lvl="0" indent="0" algn="l">
              <a:spcBef>
                <a:spcPts val="0"/>
              </a:spcBef>
              <a:spcAft>
                <a:spcPts val="0"/>
              </a:spcAft>
              <a:buNone/>
            </a:pPr>
            <a:r>
              <a:t>Project results: main_J48_cv.txt, main_RandomForest_cv.txt, main_SMO_cv.txt, main_Logistic_cv.txt, main_NaiveBayes_cv.txt, main_ZeroR_cv.txt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docs/final_results.json and docs/weka_runs/final/.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data check only looked at the 6-7 August KUET semester-7 group. Other students with a big SGPA/CGPA gap (for example 37 at BUET) were kept.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Source: evidence/data.json. Derived from verified raw survey records.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Dhonnobad. Kono question thakle bolun.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3004A5-B645-655E-5362-4217D55892E1}"/>
              </a:ext>
            </a:extLst>
          </p:cNvPr>
          <p:cNvSpPr>
            <a:spLocks noGrp="1"/>
          </p:cNvSpPr>
          <p:nvPr>
            <p:ph type="ctrTitle"/>
          </p:nvPr>
        </p:nvSpPr>
        <p:spPr>
          <a:xfrm>
            <a:off x="393700" y="1041400"/>
            <a:ext cx="7493000" cy="2491490"/>
          </a:xfrm>
        </p:spPr>
        <p:txBody>
          <a:bodyPr anchor="b"/>
          <a:lstStyle>
            <a:lvl1pPr algn="l">
              <a:defRPr sz="6000"/>
            </a:lvl1pPr>
          </a:lstStyle>
          <a:p>
            <a:r>
              <a:rPr lang="en-US" dirty="0"/>
              <a:t>Click to edit Master title style</a:t>
            </a:r>
          </a:p>
        </p:txBody>
      </p:sp>
      <p:sp>
        <p:nvSpPr>
          <p:cNvPr id="3" name="Subtitle 2">
            <a:extLst>
              <a:ext uri="{FF2B5EF4-FFF2-40B4-BE49-F238E27FC236}">
                <a16:creationId xmlns:a16="http://schemas.microsoft.com/office/drawing/2014/main" id="{C57031B1-59B2-C235-9FDD-8050418A5FD8}"/>
              </a:ext>
            </a:extLst>
          </p:cNvPr>
          <p:cNvSpPr>
            <a:spLocks noGrp="1"/>
          </p:cNvSpPr>
          <p:nvPr>
            <p:ph type="subTitle" idx="1"/>
          </p:nvPr>
        </p:nvSpPr>
        <p:spPr>
          <a:xfrm>
            <a:off x="393700" y="4356100"/>
            <a:ext cx="5537200" cy="1638300"/>
          </a:xfrm>
        </p:spPr>
        <p:txBody>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Tree>
    <p:extLst>
      <p:ext uri="{BB962C8B-B14F-4D97-AF65-F5344CB8AC3E}">
        <p14:creationId xmlns:p14="http://schemas.microsoft.com/office/powerpoint/2010/main" val="18814859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5E851FDE-9E0B-568C-1CBA-E72B86CC06ED}"/>
              </a:ext>
            </a:extLst>
          </p:cNvPr>
          <p:cNvSpPr>
            <a:spLocks noGrp="1"/>
          </p:cNvSpPr>
          <p:nvPr>
            <p:ph idx="1"/>
          </p:nvPr>
        </p:nvSpPr>
        <p:spPr>
          <a:xfrm>
            <a:off x="393700" y="2032000"/>
            <a:ext cx="11404600" cy="39624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Footer Placeholder 4">
            <a:extLst>
              <a:ext uri="{FF2B5EF4-FFF2-40B4-BE49-F238E27FC236}">
                <a16:creationId xmlns:a16="http://schemas.microsoft.com/office/drawing/2014/main" id="{29CCD18F-3BF6-A3EE-DAAE-66BD406D7E8D}"/>
              </a:ext>
            </a:extLst>
          </p:cNvPr>
          <p:cNvSpPr>
            <a:spLocks noGrp="1"/>
          </p:cNvSpPr>
          <p:nvPr>
            <p:ph type="ftr" sz="quarter" idx="3"/>
          </p:nvPr>
        </p:nvSpPr>
        <p:spPr>
          <a:xfrm>
            <a:off x="393700" y="6279952"/>
            <a:ext cx="3568700" cy="241240"/>
          </a:xfrm>
          <a:prstGeom prst="rect">
            <a:avLst/>
          </a:prstGeom>
        </p:spPr>
        <p:txBody>
          <a:bodyPr vert="horz" lIns="0" tIns="0" rIns="0" bIns="0" rtlCol="0" anchor="b"/>
          <a:lstStyle>
            <a:lvl1pPr algn="l">
              <a:defRPr sz="1000">
                <a:solidFill>
                  <a:schemeClr val="tx1"/>
                </a:solidFill>
              </a:defRPr>
            </a:lvl1pPr>
          </a:lstStyle>
          <a:p>
            <a:endParaRPr lang="en-US" sz="1000" dirty="0"/>
          </a:p>
        </p:txBody>
      </p:sp>
      <p:sp>
        <p:nvSpPr>
          <p:cNvPr id="10" name="Slide Number Placeholder 5">
            <a:extLst>
              <a:ext uri="{FF2B5EF4-FFF2-40B4-BE49-F238E27FC236}">
                <a16:creationId xmlns:a16="http://schemas.microsoft.com/office/drawing/2014/main" id="{5186992D-ADA6-5A23-EBD5-6BEF0A2E61BA}"/>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000" kern="1200" smtClean="0">
                <a:solidFill>
                  <a:schemeClr val="tx1"/>
                </a:solidFill>
                <a:latin typeface="+mn-lt"/>
                <a:ea typeface="+mn-ea"/>
                <a:cs typeface="+mn-cs"/>
              </a:defRPr>
            </a:lvl1pPr>
          </a:lstStyle>
          <a:p>
            <a:fld id="{8574A810-7A8E-054F-9F6B-09E9C694ECF9}" type="slidenum">
              <a:rPr lang="en-US" smtClean="0"/>
              <a:pPr/>
              <a:t>‹#›</a:t>
            </a:fld>
            <a:endParaRPr lang="en-US" sz="1000" dirty="0"/>
          </a:p>
        </p:txBody>
      </p:sp>
      <p:sp>
        <p:nvSpPr>
          <p:cNvPr id="2" name="Title Placeholder 1">
            <a:extLst>
              <a:ext uri="{FF2B5EF4-FFF2-40B4-BE49-F238E27FC236}">
                <a16:creationId xmlns:a16="http://schemas.microsoft.com/office/drawing/2014/main" id="{CDBB333F-FFCF-AA9E-7AC0-64DB02353FBC}"/>
              </a:ext>
            </a:extLst>
          </p:cNvPr>
          <p:cNvSpPr>
            <a:spLocks noGrp="1"/>
          </p:cNvSpPr>
          <p:nvPr>
            <p:ph type="title"/>
          </p:nvPr>
        </p:nvSpPr>
        <p:spPr>
          <a:xfrm>
            <a:off x="393700" y="344008"/>
            <a:ext cx="11404600" cy="1047491"/>
          </a:xfrm>
          <a:prstGeom prst="rect">
            <a:avLst/>
          </a:prstGeom>
        </p:spPr>
        <p:txBody>
          <a:bodyPr vert="horz" lIns="0" tIns="0" rIns="0" bIns="0" rtlCol="0" anchor="t">
            <a:normAutofit/>
          </a:bodyPr>
          <a:lstStyle/>
          <a:p>
            <a:r>
              <a:rPr lang="en-US" dirty="0"/>
              <a:t>Click to edit Master title style</a:t>
            </a:r>
          </a:p>
        </p:txBody>
      </p:sp>
    </p:spTree>
    <p:extLst>
      <p:ext uri="{BB962C8B-B14F-4D97-AF65-F5344CB8AC3E}">
        <p14:creationId xmlns:p14="http://schemas.microsoft.com/office/powerpoint/2010/main" val="26533535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Text Placeholder 2">
            <a:extLst>
              <a:ext uri="{FF2B5EF4-FFF2-40B4-BE49-F238E27FC236}">
                <a16:creationId xmlns:a16="http://schemas.microsoft.com/office/drawing/2014/main" id="{4DCC3060-FADA-4310-30F9-24EC34B5AA87}"/>
              </a:ext>
            </a:extLst>
          </p:cNvPr>
          <p:cNvSpPr>
            <a:spLocks noGrp="1"/>
          </p:cNvSpPr>
          <p:nvPr>
            <p:ph idx="1"/>
          </p:nvPr>
        </p:nvSpPr>
        <p:spPr>
          <a:xfrm>
            <a:off x="393700" y="2032000"/>
            <a:ext cx="5537200" cy="39624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Footer Placeholder 4">
            <a:extLst>
              <a:ext uri="{FF2B5EF4-FFF2-40B4-BE49-F238E27FC236}">
                <a16:creationId xmlns:a16="http://schemas.microsoft.com/office/drawing/2014/main" id="{19E7B047-08E6-29C1-F101-C084D555AACC}"/>
              </a:ext>
            </a:extLst>
          </p:cNvPr>
          <p:cNvSpPr>
            <a:spLocks noGrp="1"/>
          </p:cNvSpPr>
          <p:nvPr>
            <p:ph type="ftr" sz="quarter" idx="3"/>
          </p:nvPr>
        </p:nvSpPr>
        <p:spPr>
          <a:xfrm>
            <a:off x="393700" y="6279952"/>
            <a:ext cx="3568700" cy="241240"/>
          </a:xfrm>
          <a:prstGeom prst="rect">
            <a:avLst/>
          </a:prstGeom>
        </p:spPr>
        <p:txBody>
          <a:bodyPr vert="horz" lIns="0" tIns="0" rIns="0" bIns="0" rtlCol="0" anchor="b"/>
          <a:lstStyle>
            <a:lvl1pPr algn="l">
              <a:defRPr sz="1000">
                <a:solidFill>
                  <a:schemeClr val="tx1"/>
                </a:solidFill>
              </a:defRPr>
            </a:lvl1pPr>
          </a:lstStyle>
          <a:p>
            <a:endParaRPr lang="en-US" sz="1000" dirty="0"/>
          </a:p>
        </p:txBody>
      </p:sp>
      <p:sp>
        <p:nvSpPr>
          <p:cNvPr id="11" name="Slide Number Placeholder 5">
            <a:extLst>
              <a:ext uri="{FF2B5EF4-FFF2-40B4-BE49-F238E27FC236}">
                <a16:creationId xmlns:a16="http://schemas.microsoft.com/office/drawing/2014/main" id="{3DE564C6-8AA0-935D-A919-07AFA15B335B}"/>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000" kern="1200" smtClean="0">
                <a:solidFill>
                  <a:schemeClr val="tx1"/>
                </a:solidFill>
                <a:latin typeface="+mn-lt"/>
                <a:ea typeface="+mn-ea"/>
                <a:cs typeface="+mn-cs"/>
              </a:defRPr>
            </a:lvl1pPr>
          </a:lstStyle>
          <a:p>
            <a:fld id="{8574A810-7A8E-054F-9F6B-09E9C694ECF9}" type="slidenum">
              <a:rPr lang="en-US" smtClean="0"/>
              <a:pPr/>
              <a:t>‹#›</a:t>
            </a:fld>
            <a:endParaRPr lang="en-US" sz="1000" dirty="0"/>
          </a:p>
        </p:txBody>
      </p:sp>
      <p:sp>
        <p:nvSpPr>
          <p:cNvPr id="12" name="Text Placeholder 2">
            <a:extLst>
              <a:ext uri="{FF2B5EF4-FFF2-40B4-BE49-F238E27FC236}">
                <a16:creationId xmlns:a16="http://schemas.microsoft.com/office/drawing/2014/main" id="{4ABE46D3-8F05-1C7F-3EC7-20BFCC76C251}"/>
              </a:ext>
            </a:extLst>
          </p:cNvPr>
          <p:cNvSpPr>
            <a:spLocks noGrp="1"/>
          </p:cNvSpPr>
          <p:nvPr>
            <p:ph idx="10"/>
          </p:nvPr>
        </p:nvSpPr>
        <p:spPr>
          <a:xfrm>
            <a:off x="6256618" y="2032000"/>
            <a:ext cx="5537200" cy="39624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Placeholder 1">
            <a:extLst>
              <a:ext uri="{FF2B5EF4-FFF2-40B4-BE49-F238E27FC236}">
                <a16:creationId xmlns:a16="http://schemas.microsoft.com/office/drawing/2014/main" id="{739D2C21-36BF-25E7-8E97-1D17F313F7AF}"/>
              </a:ext>
            </a:extLst>
          </p:cNvPr>
          <p:cNvSpPr>
            <a:spLocks noGrp="1"/>
          </p:cNvSpPr>
          <p:nvPr>
            <p:ph type="title"/>
          </p:nvPr>
        </p:nvSpPr>
        <p:spPr>
          <a:xfrm>
            <a:off x="393700" y="344008"/>
            <a:ext cx="11404600" cy="1047491"/>
          </a:xfrm>
          <a:prstGeom prst="rect">
            <a:avLst/>
          </a:prstGeom>
        </p:spPr>
        <p:txBody>
          <a:bodyPr vert="horz" lIns="0" tIns="0" rIns="0" bIns="0" rtlCol="0" anchor="t">
            <a:normAutofit/>
          </a:bodyPr>
          <a:lstStyle/>
          <a:p>
            <a:r>
              <a:rPr lang="en-US" dirty="0"/>
              <a:t>Click to edit Master title style</a:t>
            </a:r>
          </a:p>
        </p:txBody>
      </p:sp>
    </p:spTree>
    <p:extLst>
      <p:ext uri="{BB962C8B-B14F-4D97-AF65-F5344CB8AC3E}">
        <p14:creationId xmlns:p14="http://schemas.microsoft.com/office/powerpoint/2010/main" val="9807323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11" name="Text Placeholder 2">
            <a:extLst>
              <a:ext uri="{FF2B5EF4-FFF2-40B4-BE49-F238E27FC236}">
                <a16:creationId xmlns:a16="http://schemas.microsoft.com/office/drawing/2014/main" id="{6F7D12C6-B3BC-2F80-A661-00CC228193B5}"/>
              </a:ext>
            </a:extLst>
          </p:cNvPr>
          <p:cNvSpPr>
            <a:spLocks noGrp="1"/>
          </p:cNvSpPr>
          <p:nvPr>
            <p:ph idx="1"/>
          </p:nvPr>
        </p:nvSpPr>
        <p:spPr>
          <a:xfrm>
            <a:off x="393700" y="2032000"/>
            <a:ext cx="3568700" cy="39624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Footer Placeholder 4">
            <a:extLst>
              <a:ext uri="{FF2B5EF4-FFF2-40B4-BE49-F238E27FC236}">
                <a16:creationId xmlns:a16="http://schemas.microsoft.com/office/drawing/2014/main" id="{0682803B-B799-370F-B1B9-EB49CCB10A11}"/>
              </a:ext>
            </a:extLst>
          </p:cNvPr>
          <p:cNvSpPr>
            <a:spLocks noGrp="1"/>
          </p:cNvSpPr>
          <p:nvPr>
            <p:ph type="ftr" sz="quarter" idx="3"/>
          </p:nvPr>
        </p:nvSpPr>
        <p:spPr>
          <a:xfrm>
            <a:off x="393700" y="6279952"/>
            <a:ext cx="3568700" cy="241240"/>
          </a:xfrm>
          <a:prstGeom prst="rect">
            <a:avLst/>
          </a:prstGeom>
        </p:spPr>
        <p:txBody>
          <a:bodyPr vert="horz" lIns="0" tIns="0" rIns="0" bIns="0" rtlCol="0" anchor="b"/>
          <a:lstStyle>
            <a:lvl1pPr algn="l">
              <a:defRPr sz="1000">
                <a:solidFill>
                  <a:schemeClr val="tx1"/>
                </a:solidFill>
              </a:defRPr>
            </a:lvl1pPr>
          </a:lstStyle>
          <a:p>
            <a:endParaRPr lang="en-US" sz="1000" dirty="0"/>
          </a:p>
        </p:txBody>
      </p:sp>
      <p:sp>
        <p:nvSpPr>
          <p:cNvPr id="13" name="Slide Number Placeholder 5">
            <a:extLst>
              <a:ext uri="{FF2B5EF4-FFF2-40B4-BE49-F238E27FC236}">
                <a16:creationId xmlns:a16="http://schemas.microsoft.com/office/drawing/2014/main" id="{AFE26095-B1FD-5C7C-C8D6-78ABF739DCBA}"/>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000" kern="1200" smtClean="0">
                <a:solidFill>
                  <a:schemeClr val="tx1"/>
                </a:solidFill>
                <a:latin typeface="+mn-lt"/>
                <a:ea typeface="+mn-ea"/>
                <a:cs typeface="+mn-cs"/>
              </a:defRPr>
            </a:lvl1pPr>
          </a:lstStyle>
          <a:p>
            <a:fld id="{8574A810-7A8E-054F-9F6B-09E9C694ECF9}" type="slidenum">
              <a:rPr lang="en-US" smtClean="0"/>
              <a:pPr/>
              <a:t>‹#›</a:t>
            </a:fld>
            <a:endParaRPr lang="en-US" sz="1000" dirty="0"/>
          </a:p>
        </p:txBody>
      </p:sp>
      <p:sp>
        <p:nvSpPr>
          <p:cNvPr id="14" name="Text Placeholder 2">
            <a:extLst>
              <a:ext uri="{FF2B5EF4-FFF2-40B4-BE49-F238E27FC236}">
                <a16:creationId xmlns:a16="http://schemas.microsoft.com/office/drawing/2014/main" id="{80E090C5-E6C8-92F2-E8C2-A840B8F1807D}"/>
              </a:ext>
            </a:extLst>
          </p:cNvPr>
          <p:cNvSpPr>
            <a:spLocks noGrp="1"/>
          </p:cNvSpPr>
          <p:nvPr>
            <p:ph idx="10"/>
          </p:nvPr>
        </p:nvSpPr>
        <p:spPr>
          <a:xfrm>
            <a:off x="4318000" y="2032000"/>
            <a:ext cx="3568700" cy="39624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Text Placeholder 2">
            <a:extLst>
              <a:ext uri="{FF2B5EF4-FFF2-40B4-BE49-F238E27FC236}">
                <a16:creationId xmlns:a16="http://schemas.microsoft.com/office/drawing/2014/main" id="{0C6D2D15-AEC2-9F99-316F-C37AF863965D}"/>
              </a:ext>
            </a:extLst>
          </p:cNvPr>
          <p:cNvSpPr>
            <a:spLocks noGrp="1"/>
          </p:cNvSpPr>
          <p:nvPr>
            <p:ph idx="11"/>
          </p:nvPr>
        </p:nvSpPr>
        <p:spPr>
          <a:xfrm>
            <a:off x="8232273" y="2032000"/>
            <a:ext cx="3568700" cy="39624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Placeholder 1">
            <a:extLst>
              <a:ext uri="{FF2B5EF4-FFF2-40B4-BE49-F238E27FC236}">
                <a16:creationId xmlns:a16="http://schemas.microsoft.com/office/drawing/2014/main" id="{EC59174D-4FF5-0FD8-FE78-F71A39E187AE}"/>
              </a:ext>
            </a:extLst>
          </p:cNvPr>
          <p:cNvSpPr>
            <a:spLocks noGrp="1"/>
          </p:cNvSpPr>
          <p:nvPr>
            <p:ph type="title"/>
          </p:nvPr>
        </p:nvSpPr>
        <p:spPr>
          <a:xfrm>
            <a:off x="393700" y="344008"/>
            <a:ext cx="11404600" cy="1047491"/>
          </a:xfrm>
          <a:prstGeom prst="rect">
            <a:avLst/>
          </a:prstGeom>
        </p:spPr>
        <p:txBody>
          <a:bodyPr vert="horz" lIns="0" tIns="0" rIns="0" bIns="0" rtlCol="0" anchor="t">
            <a:normAutofit/>
          </a:bodyPr>
          <a:lstStyle/>
          <a:p>
            <a:r>
              <a:rPr lang="en-US" dirty="0"/>
              <a:t>Click to edit Master title style</a:t>
            </a:r>
          </a:p>
        </p:txBody>
      </p:sp>
    </p:spTree>
    <p:extLst>
      <p:ext uri="{BB962C8B-B14F-4D97-AF65-F5344CB8AC3E}">
        <p14:creationId xmlns:p14="http://schemas.microsoft.com/office/powerpoint/2010/main" val="38400112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11" name="Text Placeholder 2">
            <a:extLst>
              <a:ext uri="{FF2B5EF4-FFF2-40B4-BE49-F238E27FC236}">
                <a16:creationId xmlns:a16="http://schemas.microsoft.com/office/drawing/2014/main" id="{6F7D12C6-B3BC-2F80-A661-00CC228193B5}"/>
              </a:ext>
            </a:extLst>
          </p:cNvPr>
          <p:cNvSpPr>
            <a:spLocks noGrp="1"/>
          </p:cNvSpPr>
          <p:nvPr>
            <p:ph idx="1"/>
          </p:nvPr>
        </p:nvSpPr>
        <p:spPr>
          <a:xfrm>
            <a:off x="393700" y="2213811"/>
            <a:ext cx="2595934" cy="3780589"/>
          </a:xfrm>
          <a:prstGeom prst="rect">
            <a:avLst/>
          </a:prstGeom>
        </p:spPr>
        <p:txBody>
          <a:bodyPr vert="horz" lIns="0" tIns="0" rIns="0" bIns="0" rtlCol="0">
            <a:normAutofit/>
          </a:bodyPr>
          <a:lstStyle>
            <a:lvl1pPr>
              <a:buNone/>
              <a:defRPr sz="1600"/>
            </a:lvl1pPr>
            <a:lvl2pPr>
              <a:buNone/>
              <a:defRPr sz="1600"/>
            </a:lvl2pPr>
            <a:lvl3pPr>
              <a:buNone/>
              <a:defRPr sz="1600"/>
            </a:lvl3pPr>
            <a:lvl4pPr>
              <a:buNone/>
              <a:defRPr sz="1600"/>
            </a:lvl4pPr>
            <a:lvl5pPr>
              <a:buNone/>
              <a:defRPr sz="1600"/>
            </a:lvl5pPr>
          </a:lstStyle>
          <a:p>
            <a:pPr lvl="0"/>
            <a:r>
              <a:rPr lang="en-US" dirty="0"/>
              <a:t>Click to edit Master</a:t>
            </a:r>
          </a:p>
        </p:txBody>
      </p:sp>
      <p:sp>
        <p:nvSpPr>
          <p:cNvPr id="12" name="Footer Placeholder 4">
            <a:extLst>
              <a:ext uri="{FF2B5EF4-FFF2-40B4-BE49-F238E27FC236}">
                <a16:creationId xmlns:a16="http://schemas.microsoft.com/office/drawing/2014/main" id="{0682803B-B799-370F-B1B9-EB49CCB10A11}"/>
              </a:ext>
            </a:extLst>
          </p:cNvPr>
          <p:cNvSpPr>
            <a:spLocks noGrp="1"/>
          </p:cNvSpPr>
          <p:nvPr>
            <p:ph type="ftr" sz="quarter" idx="3"/>
          </p:nvPr>
        </p:nvSpPr>
        <p:spPr>
          <a:xfrm>
            <a:off x="393700" y="6279952"/>
            <a:ext cx="3568700" cy="241240"/>
          </a:xfrm>
          <a:prstGeom prst="rect">
            <a:avLst/>
          </a:prstGeom>
        </p:spPr>
        <p:txBody>
          <a:bodyPr vert="horz" lIns="0" tIns="0" rIns="0" bIns="0" rtlCol="0" anchor="b"/>
          <a:lstStyle>
            <a:lvl1pPr algn="l">
              <a:defRPr sz="1000">
                <a:solidFill>
                  <a:schemeClr val="tx1"/>
                </a:solidFill>
              </a:defRPr>
            </a:lvl1pPr>
          </a:lstStyle>
          <a:p>
            <a:endParaRPr lang="en-US" sz="1000" dirty="0"/>
          </a:p>
        </p:txBody>
      </p:sp>
      <p:sp>
        <p:nvSpPr>
          <p:cNvPr id="13" name="Slide Number Placeholder 5">
            <a:extLst>
              <a:ext uri="{FF2B5EF4-FFF2-40B4-BE49-F238E27FC236}">
                <a16:creationId xmlns:a16="http://schemas.microsoft.com/office/drawing/2014/main" id="{AFE26095-B1FD-5C7C-C8D6-78ABF739DCBA}"/>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000" kern="1200" smtClean="0">
                <a:solidFill>
                  <a:schemeClr val="tx1"/>
                </a:solidFill>
                <a:latin typeface="+mn-lt"/>
                <a:ea typeface="+mn-ea"/>
                <a:cs typeface="+mn-cs"/>
              </a:defRPr>
            </a:lvl1pPr>
          </a:lstStyle>
          <a:p>
            <a:fld id="{8574A810-7A8E-054F-9F6B-09E9C694ECF9}" type="slidenum">
              <a:rPr lang="en-US" smtClean="0"/>
              <a:pPr/>
              <a:t>‹#›</a:t>
            </a:fld>
            <a:endParaRPr lang="en-US" sz="1000" dirty="0"/>
          </a:p>
        </p:txBody>
      </p:sp>
      <p:sp>
        <p:nvSpPr>
          <p:cNvPr id="2" name="Title Placeholder 1">
            <a:extLst>
              <a:ext uri="{FF2B5EF4-FFF2-40B4-BE49-F238E27FC236}">
                <a16:creationId xmlns:a16="http://schemas.microsoft.com/office/drawing/2014/main" id="{EC59174D-4FF5-0FD8-FE78-F71A39E187AE}"/>
              </a:ext>
            </a:extLst>
          </p:cNvPr>
          <p:cNvSpPr>
            <a:spLocks noGrp="1"/>
          </p:cNvSpPr>
          <p:nvPr>
            <p:ph type="title"/>
          </p:nvPr>
        </p:nvSpPr>
        <p:spPr>
          <a:xfrm>
            <a:off x="393700" y="344008"/>
            <a:ext cx="11404600" cy="1047491"/>
          </a:xfrm>
          <a:prstGeom prst="rect">
            <a:avLst/>
          </a:prstGeom>
        </p:spPr>
        <p:txBody>
          <a:bodyPr vert="horz" lIns="0" tIns="0" rIns="0" bIns="0" rtlCol="0" anchor="t">
            <a:normAutofit/>
          </a:bodyPr>
          <a:lstStyle/>
          <a:p>
            <a:r>
              <a:rPr lang="en-US" dirty="0"/>
              <a:t>Click to edit Master title style</a:t>
            </a:r>
          </a:p>
        </p:txBody>
      </p:sp>
      <p:sp>
        <p:nvSpPr>
          <p:cNvPr id="8" name="Text Placeholder 7">
            <a:extLst>
              <a:ext uri="{FF2B5EF4-FFF2-40B4-BE49-F238E27FC236}">
                <a16:creationId xmlns:a16="http://schemas.microsoft.com/office/drawing/2014/main" id="{4F70A9DA-D783-0627-3166-E13B68C2ADAC}"/>
              </a:ext>
            </a:extLst>
          </p:cNvPr>
          <p:cNvSpPr>
            <a:spLocks noGrp="1"/>
          </p:cNvSpPr>
          <p:nvPr>
            <p:ph type="body" sz="quarter" idx="12"/>
          </p:nvPr>
        </p:nvSpPr>
        <p:spPr>
          <a:xfrm>
            <a:off x="3334966" y="2213811"/>
            <a:ext cx="2595934" cy="3780589"/>
          </a:xfrm>
        </p:spPr>
        <p:txBody>
          <a:bodyPr/>
          <a:lstStyle>
            <a:lvl1pPr>
              <a:buNone/>
              <a:defRPr sz="1800"/>
            </a:lvl1pPr>
            <a:lvl2pPr>
              <a:buNone/>
              <a:defRPr sz="1800"/>
            </a:lvl2pPr>
            <a:lvl3pPr>
              <a:buNone/>
              <a:defRPr sz="1800"/>
            </a:lvl3pPr>
            <a:lvl4pPr>
              <a:buNone/>
              <a:defRPr sz="1800"/>
            </a:lvl4pPr>
            <a:lvl5pPr>
              <a:buNone/>
              <a:defRPr sz="1800"/>
            </a:lvl5pPr>
          </a:lstStyle>
          <a:p>
            <a:pPr lvl="0"/>
            <a:r>
              <a:rPr lang="en-US" dirty="0"/>
              <a:t>Click to edit Master</a:t>
            </a:r>
          </a:p>
        </p:txBody>
      </p:sp>
      <p:sp>
        <p:nvSpPr>
          <p:cNvPr id="9" name="Text Placeholder 2">
            <a:extLst>
              <a:ext uri="{FF2B5EF4-FFF2-40B4-BE49-F238E27FC236}">
                <a16:creationId xmlns:a16="http://schemas.microsoft.com/office/drawing/2014/main" id="{75BF2647-8E8C-CAEE-896D-0E1567AF7E99}"/>
              </a:ext>
            </a:extLst>
          </p:cNvPr>
          <p:cNvSpPr>
            <a:spLocks noGrp="1"/>
          </p:cNvSpPr>
          <p:nvPr>
            <p:ph idx="13"/>
          </p:nvPr>
        </p:nvSpPr>
        <p:spPr>
          <a:xfrm>
            <a:off x="6264413" y="2213811"/>
            <a:ext cx="2595934" cy="3780589"/>
          </a:xfrm>
          <a:prstGeom prst="rect">
            <a:avLst/>
          </a:prstGeom>
        </p:spPr>
        <p:txBody>
          <a:bodyPr vert="horz" lIns="0" tIns="0" rIns="0" bIns="0" rtlCol="0">
            <a:normAutofit/>
          </a:bodyPr>
          <a:lstStyle>
            <a:lvl1pPr>
              <a:buNone/>
              <a:defRPr sz="1600"/>
            </a:lvl1pPr>
            <a:lvl2pPr>
              <a:buNone/>
              <a:defRPr sz="1600"/>
            </a:lvl2pPr>
            <a:lvl3pPr>
              <a:buNone/>
              <a:defRPr sz="1600"/>
            </a:lvl3pPr>
            <a:lvl4pPr>
              <a:buNone/>
              <a:defRPr sz="1600"/>
            </a:lvl4pPr>
            <a:lvl5pPr>
              <a:buNone/>
              <a:defRPr sz="1600"/>
            </a:lvl5pPr>
          </a:lstStyle>
          <a:p>
            <a:pPr lvl="0"/>
            <a:r>
              <a:rPr lang="en-US" dirty="0"/>
              <a:t>Click to edit Master</a:t>
            </a:r>
          </a:p>
        </p:txBody>
      </p:sp>
      <p:sp>
        <p:nvSpPr>
          <p:cNvPr id="10" name="Text Placeholder 7">
            <a:extLst>
              <a:ext uri="{FF2B5EF4-FFF2-40B4-BE49-F238E27FC236}">
                <a16:creationId xmlns:a16="http://schemas.microsoft.com/office/drawing/2014/main" id="{37C6F143-221A-9959-8FBA-B9B1DB6602D0}"/>
              </a:ext>
            </a:extLst>
          </p:cNvPr>
          <p:cNvSpPr>
            <a:spLocks noGrp="1"/>
          </p:cNvSpPr>
          <p:nvPr>
            <p:ph type="body" sz="quarter" idx="14"/>
          </p:nvPr>
        </p:nvSpPr>
        <p:spPr>
          <a:xfrm>
            <a:off x="9205679" y="2213811"/>
            <a:ext cx="2595934" cy="3780589"/>
          </a:xfrm>
        </p:spPr>
        <p:txBody>
          <a:bodyPr/>
          <a:lstStyle>
            <a:lvl1pPr>
              <a:buNone/>
              <a:defRPr sz="1800"/>
            </a:lvl1pPr>
            <a:lvl2pPr>
              <a:buNone/>
              <a:defRPr sz="1800"/>
            </a:lvl2pPr>
            <a:lvl3pPr>
              <a:buNone/>
              <a:defRPr sz="1800"/>
            </a:lvl3pPr>
            <a:lvl4pPr>
              <a:buNone/>
              <a:defRPr sz="1800"/>
            </a:lvl4pPr>
            <a:lvl5pPr>
              <a:buNone/>
              <a:defRPr sz="1800"/>
            </a:lvl5pPr>
          </a:lstStyle>
          <a:p>
            <a:pPr lvl="0"/>
            <a:r>
              <a:rPr lang="en-US" dirty="0"/>
              <a:t>Click to edit Master</a:t>
            </a:r>
          </a:p>
        </p:txBody>
      </p:sp>
    </p:spTree>
    <p:extLst>
      <p:ext uri="{BB962C8B-B14F-4D97-AF65-F5344CB8AC3E}">
        <p14:creationId xmlns:p14="http://schemas.microsoft.com/office/powerpoint/2010/main" val="9712414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8" name="Footer Placeholder 4">
            <a:extLst>
              <a:ext uri="{FF2B5EF4-FFF2-40B4-BE49-F238E27FC236}">
                <a16:creationId xmlns:a16="http://schemas.microsoft.com/office/drawing/2014/main" id="{DB1182C5-F22B-2641-06DE-4EDACA3C1DDD}"/>
              </a:ext>
            </a:extLst>
          </p:cNvPr>
          <p:cNvSpPr>
            <a:spLocks noGrp="1"/>
          </p:cNvSpPr>
          <p:nvPr>
            <p:ph type="ftr" sz="quarter" idx="3"/>
          </p:nvPr>
        </p:nvSpPr>
        <p:spPr>
          <a:xfrm>
            <a:off x="393700" y="6279952"/>
            <a:ext cx="3568700" cy="241240"/>
          </a:xfrm>
          <a:prstGeom prst="rect">
            <a:avLst/>
          </a:prstGeom>
        </p:spPr>
        <p:txBody>
          <a:bodyPr vert="horz" lIns="0" tIns="0" rIns="0" bIns="0" rtlCol="0" anchor="b"/>
          <a:lstStyle>
            <a:lvl1pPr algn="l">
              <a:defRPr sz="1000">
                <a:solidFill>
                  <a:schemeClr val="tx1"/>
                </a:solidFill>
              </a:defRPr>
            </a:lvl1pPr>
          </a:lstStyle>
          <a:p>
            <a:endParaRPr lang="en-US" sz="1000" dirty="0"/>
          </a:p>
        </p:txBody>
      </p:sp>
      <p:sp>
        <p:nvSpPr>
          <p:cNvPr id="9" name="Slide Number Placeholder 5">
            <a:extLst>
              <a:ext uri="{FF2B5EF4-FFF2-40B4-BE49-F238E27FC236}">
                <a16:creationId xmlns:a16="http://schemas.microsoft.com/office/drawing/2014/main" id="{F97A4AD5-204B-38FD-4F33-270C2F9F5CC6}"/>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000" kern="1200" smtClean="0">
                <a:solidFill>
                  <a:schemeClr val="tx1"/>
                </a:solidFill>
                <a:latin typeface="+mn-lt"/>
                <a:ea typeface="+mn-ea"/>
                <a:cs typeface="+mn-cs"/>
              </a:defRPr>
            </a:lvl1pPr>
          </a:lstStyle>
          <a:p>
            <a:fld id="{8574A810-7A8E-054F-9F6B-09E9C694ECF9}" type="slidenum">
              <a:rPr lang="en-US" smtClean="0"/>
              <a:pPr/>
              <a:t>‹#›</a:t>
            </a:fld>
            <a:endParaRPr lang="en-US" sz="1000" dirty="0"/>
          </a:p>
        </p:txBody>
      </p:sp>
      <p:sp>
        <p:nvSpPr>
          <p:cNvPr id="2" name="Title Placeholder 1">
            <a:extLst>
              <a:ext uri="{FF2B5EF4-FFF2-40B4-BE49-F238E27FC236}">
                <a16:creationId xmlns:a16="http://schemas.microsoft.com/office/drawing/2014/main" id="{75CF9983-3FD7-FAE4-9F0B-B2CE806D891D}"/>
              </a:ext>
            </a:extLst>
          </p:cNvPr>
          <p:cNvSpPr>
            <a:spLocks noGrp="1"/>
          </p:cNvSpPr>
          <p:nvPr>
            <p:ph type="title"/>
          </p:nvPr>
        </p:nvSpPr>
        <p:spPr>
          <a:xfrm>
            <a:off x="393700" y="344008"/>
            <a:ext cx="11404600" cy="1047491"/>
          </a:xfrm>
          <a:prstGeom prst="rect">
            <a:avLst/>
          </a:prstGeom>
        </p:spPr>
        <p:txBody>
          <a:bodyPr vert="horz" lIns="0" tIns="0" rIns="0" bIns="0" rtlCol="0" anchor="t">
            <a:normAutofit/>
          </a:bodyPr>
          <a:lstStyle/>
          <a:p>
            <a:r>
              <a:rPr lang="en-US" dirty="0"/>
              <a:t>Click to edit Master title style</a:t>
            </a:r>
          </a:p>
        </p:txBody>
      </p:sp>
    </p:spTree>
    <p:extLst>
      <p:ext uri="{BB962C8B-B14F-4D97-AF65-F5344CB8AC3E}">
        <p14:creationId xmlns:p14="http://schemas.microsoft.com/office/powerpoint/2010/main" val="16941055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Footer Only">
    <p:spTree>
      <p:nvGrpSpPr>
        <p:cNvPr id="1" name=""/>
        <p:cNvGrpSpPr/>
        <p:nvPr/>
      </p:nvGrpSpPr>
      <p:grpSpPr>
        <a:xfrm>
          <a:off x="0" y="0"/>
          <a:ext cx="0" cy="0"/>
          <a:chOff x="0" y="0"/>
          <a:chExt cx="0" cy="0"/>
        </a:xfrm>
      </p:grpSpPr>
      <p:sp>
        <p:nvSpPr>
          <p:cNvPr id="7" name="Footer Placeholder 4">
            <a:extLst>
              <a:ext uri="{FF2B5EF4-FFF2-40B4-BE49-F238E27FC236}">
                <a16:creationId xmlns:a16="http://schemas.microsoft.com/office/drawing/2014/main" id="{1012CBCC-C555-8C11-443D-86D6F7A45CF8}"/>
              </a:ext>
            </a:extLst>
          </p:cNvPr>
          <p:cNvSpPr>
            <a:spLocks noGrp="1"/>
          </p:cNvSpPr>
          <p:nvPr>
            <p:ph type="ftr" sz="quarter" idx="3"/>
          </p:nvPr>
        </p:nvSpPr>
        <p:spPr>
          <a:xfrm>
            <a:off x="393700" y="6279952"/>
            <a:ext cx="3568700" cy="241240"/>
          </a:xfrm>
          <a:prstGeom prst="rect">
            <a:avLst/>
          </a:prstGeom>
        </p:spPr>
        <p:txBody>
          <a:bodyPr vert="horz" lIns="0" tIns="0" rIns="0" bIns="0" rtlCol="0" anchor="b"/>
          <a:lstStyle>
            <a:lvl1pPr algn="l">
              <a:defRPr sz="1000">
                <a:solidFill>
                  <a:schemeClr val="tx1"/>
                </a:solidFill>
              </a:defRPr>
            </a:lvl1pPr>
          </a:lstStyle>
          <a:p>
            <a:endParaRPr lang="en-US" sz="1000" dirty="0"/>
          </a:p>
        </p:txBody>
      </p:sp>
      <p:sp>
        <p:nvSpPr>
          <p:cNvPr id="8" name="Slide Number Placeholder 5">
            <a:extLst>
              <a:ext uri="{FF2B5EF4-FFF2-40B4-BE49-F238E27FC236}">
                <a16:creationId xmlns:a16="http://schemas.microsoft.com/office/drawing/2014/main" id="{B69B260B-B882-BF7F-1BB1-28B9578A25A2}"/>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000" kern="1200" smtClean="0">
                <a:solidFill>
                  <a:schemeClr val="tx1"/>
                </a:solidFill>
                <a:latin typeface="+mn-lt"/>
                <a:ea typeface="+mn-ea"/>
                <a:cs typeface="+mn-cs"/>
              </a:defRPr>
            </a:lvl1pPr>
          </a:lstStyle>
          <a:p>
            <a:fld id="{8574A810-7A8E-054F-9F6B-09E9C694ECF9}" type="slidenum">
              <a:rPr lang="en-US" smtClean="0"/>
              <a:pPr/>
              <a:t>‹#›</a:t>
            </a:fld>
            <a:endParaRPr lang="en-US" sz="1000" dirty="0"/>
          </a:p>
        </p:txBody>
      </p:sp>
    </p:spTree>
    <p:extLst>
      <p:ext uri="{BB962C8B-B14F-4D97-AF65-F5344CB8AC3E}">
        <p14:creationId xmlns:p14="http://schemas.microsoft.com/office/powerpoint/2010/main" val="1856794158"/>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722548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B87ED2E-D8FF-5C8C-ED50-59BA3091C3E1}"/>
              </a:ext>
            </a:extLst>
          </p:cNvPr>
          <p:cNvSpPr>
            <a:spLocks noGrp="1"/>
          </p:cNvSpPr>
          <p:nvPr>
            <p:ph type="title"/>
          </p:nvPr>
        </p:nvSpPr>
        <p:spPr>
          <a:xfrm>
            <a:off x="393700" y="344008"/>
            <a:ext cx="11404600" cy="1047491"/>
          </a:xfrm>
          <a:prstGeom prst="rect">
            <a:avLst/>
          </a:prstGeom>
        </p:spPr>
        <p:txBody>
          <a:bodyPr vert="horz" lIns="0" tIns="0" rIns="0" bIns="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05B0E1CB-6DCA-2E9F-2B74-4309B4084C09}"/>
              </a:ext>
            </a:extLst>
          </p:cNvPr>
          <p:cNvSpPr>
            <a:spLocks noGrp="1"/>
          </p:cNvSpPr>
          <p:nvPr>
            <p:ph type="body" idx="1"/>
          </p:nvPr>
        </p:nvSpPr>
        <p:spPr>
          <a:xfrm>
            <a:off x="393700" y="2032000"/>
            <a:ext cx="11404600" cy="396240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a:extLst>
              <a:ext uri="{FF2B5EF4-FFF2-40B4-BE49-F238E27FC236}">
                <a16:creationId xmlns:a16="http://schemas.microsoft.com/office/drawing/2014/main" id="{3C75650C-2983-5B02-8421-FF1818435433}"/>
              </a:ext>
            </a:extLst>
          </p:cNvPr>
          <p:cNvSpPr>
            <a:spLocks noGrp="1"/>
          </p:cNvSpPr>
          <p:nvPr>
            <p:ph type="ftr" sz="quarter" idx="3"/>
          </p:nvPr>
        </p:nvSpPr>
        <p:spPr>
          <a:xfrm>
            <a:off x="393700" y="6279952"/>
            <a:ext cx="3568700" cy="241240"/>
          </a:xfrm>
          <a:prstGeom prst="rect">
            <a:avLst/>
          </a:prstGeom>
        </p:spPr>
        <p:txBody>
          <a:bodyPr vert="horz" lIns="0" tIns="0" rIns="0" bIns="0" rtlCol="0" anchor="b"/>
          <a:lstStyle>
            <a:lvl1pPr algn="l">
              <a:defRPr sz="1000">
                <a:solidFill>
                  <a:schemeClr val="tx1"/>
                </a:solidFill>
              </a:defRPr>
            </a:lvl1pPr>
          </a:lstStyle>
          <a:p>
            <a:endParaRPr lang="en-US" sz="1000" dirty="0"/>
          </a:p>
        </p:txBody>
      </p:sp>
      <p:sp>
        <p:nvSpPr>
          <p:cNvPr id="6" name="Slide Number Placeholder 5">
            <a:extLst>
              <a:ext uri="{FF2B5EF4-FFF2-40B4-BE49-F238E27FC236}">
                <a16:creationId xmlns:a16="http://schemas.microsoft.com/office/drawing/2014/main" id="{D872C88C-1AB3-96BA-C9E5-3435A4BD59BB}"/>
              </a:ext>
            </a:extLst>
          </p:cNvPr>
          <p:cNvSpPr>
            <a:spLocks noGrp="1"/>
          </p:cNvSpPr>
          <p:nvPr>
            <p:ph type="sldNum" sz="quarter" idx="4"/>
          </p:nvPr>
        </p:nvSpPr>
        <p:spPr>
          <a:xfrm>
            <a:off x="11279332" y="6279294"/>
            <a:ext cx="518968" cy="241240"/>
          </a:xfrm>
          <a:prstGeom prst="rect">
            <a:avLst/>
          </a:prstGeom>
        </p:spPr>
        <p:txBody>
          <a:bodyPr vert="horz" lIns="0" tIns="0" rIns="0" bIns="0" rtlCol="0" anchor="b"/>
          <a:lstStyle>
            <a:lvl1pPr algn="r">
              <a:defRPr lang="en-US" sz="1000" kern="1200" smtClean="0">
                <a:solidFill>
                  <a:schemeClr val="tx1"/>
                </a:solidFill>
                <a:latin typeface="+mn-lt"/>
                <a:ea typeface="+mn-ea"/>
                <a:cs typeface="+mn-cs"/>
              </a:defRPr>
            </a:lvl1pPr>
          </a:lstStyle>
          <a:p>
            <a:fld id="{8574A810-7A8E-054F-9F6B-09E9C694ECF9}" type="slidenum">
              <a:rPr lang="en-US" smtClean="0"/>
              <a:pPr/>
              <a:t>‹#›</a:t>
            </a:fld>
            <a:endParaRPr lang="en-US" sz="1000" dirty="0"/>
          </a:p>
        </p:txBody>
      </p:sp>
    </p:spTree>
    <p:extLst>
      <p:ext uri="{BB962C8B-B14F-4D97-AF65-F5344CB8AC3E}">
        <p14:creationId xmlns:p14="http://schemas.microsoft.com/office/powerpoint/2010/main" val="20818559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3" r:id="rId4"/>
    <p:sldLayoutId id="2147483659" r:id="rId5"/>
    <p:sldLayoutId id="2147483654" r:id="rId6"/>
    <p:sldLayoutId id="2147483655" r:id="rId7"/>
    <p:sldLayoutId id="2147483656" r:id="rId8"/>
  </p:sldLayoutIdLst>
  <p:hf hdr="0" ftr="0" dt="0"/>
  <p:txStyles>
    <p:titleStyle>
      <a:lvl1pPr algn="l" defTabSz="914400" rtl="0" eaLnBrk="1" latinLnBrk="0" hangingPunct="1">
        <a:lnSpc>
          <a:spcPct val="90000"/>
        </a:lnSpc>
        <a:spcBef>
          <a:spcPct val="0"/>
        </a:spcBef>
        <a:buNone/>
        <a:defRPr sz="29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26B43"/>
          </p15:clr>
        </p15:guide>
        <p15:guide id="2" pos="7680" userDrawn="1">
          <p15:clr>
            <a:srgbClr val="F26B43"/>
          </p15:clr>
        </p15:guide>
        <p15:guide id="3" pos="248" userDrawn="1">
          <p15:clr>
            <a:srgbClr val="F26B43"/>
          </p15:clr>
        </p15:guide>
        <p15:guide id="4" pos="1264" userDrawn="1">
          <p15:clr>
            <a:srgbClr val="F26B43"/>
          </p15:clr>
        </p15:guide>
        <p15:guide id="5" pos="1480" userDrawn="1">
          <p15:clr>
            <a:srgbClr val="F26B43"/>
          </p15:clr>
        </p15:guide>
        <p15:guide id="6" pos="2496" userDrawn="1">
          <p15:clr>
            <a:srgbClr val="F26B43"/>
          </p15:clr>
        </p15:guide>
        <p15:guide id="7" pos="2712" userDrawn="1">
          <p15:clr>
            <a:srgbClr val="F26B43"/>
          </p15:clr>
        </p15:guide>
        <p15:guide id="8" pos="3736" userDrawn="1">
          <p15:clr>
            <a:srgbClr val="F26B43"/>
          </p15:clr>
        </p15:guide>
        <p15:guide id="9" pos="3944" userDrawn="1">
          <p15:clr>
            <a:srgbClr val="F26B43"/>
          </p15:clr>
        </p15:guide>
        <p15:guide id="10" pos="4968" userDrawn="1">
          <p15:clr>
            <a:srgbClr val="F26B43"/>
          </p15:clr>
        </p15:guide>
        <p15:guide id="11" pos="5184" userDrawn="1">
          <p15:clr>
            <a:srgbClr val="F26B43"/>
          </p15:clr>
        </p15:guide>
        <p15:guide id="12" pos="6200" userDrawn="1">
          <p15:clr>
            <a:srgbClr val="F26B43"/>
          </p15:clr>
        </p15:guide>
        <p15:guide id="13" pos="6416" userDrawn="1">
          <p15:clr>
            <a:srgbClr val="F26B43"/>
          </p15:clr>
        </p15:guide>
        <p15:guide id="14" pos="7432" userDrawn="1">
          <p15:clr>
            <a:srgbClr val="F26B43"/>
          </p15:clr>
        </p15:guide>
        <p15:guide id="15" orient="horz" userDrawn="1">
          <p15:clr>
            <a:srgbClr val="F26B43"/>
          </p15:clr>
        </p15:guide>
        <p15:guide id="17" orient="horz" pos="248" userDrawn="1">
          <p15:clr>
            <a:srgbClr val="F26B43"/>
          </p15:clr>
        </p15:guide>
        <p15:guide id="18" orient="horz" pos="656" userDrawn="1">
          <p15:clr>
            <a:srgbClr val="F26B43"/>
          </p15:clr>
        </p15:guide>
        <p15:guide id="19" orient="horz" pos="872" userDrawn="1">
          <p15:clr>
            <a:srgbClr val="F26B43"/>
          </p15:clr>
        </p15:guide>
        <p15:guide id="20" orient="horz" pos="1280" userDrawn="1">
          <p15:clr>
            <a:srgbClr val="F26B43"/>
          </p15:clr>
        </p15:guide>
        <p15:guide id="21" orient="horz" pos="1496" userDrawn="1">
          <p15:clr>
            <a:srgbClr val="F26B43"/>
          </p15:clr>
        </p15:guide>
        <p15:guide id="22" orient="horz" pos="1904" userDrawn="1">
          <p15:clr>
            <a:srgbClr val="F26B43"/>
          </p15:clr>
        </p15:guide>
        <p15:guide id="23" orient="horz" pos="2120" userDrawn="1">
          <p15:clr>
            <a:srgbClr val="F26B43"/>
          </p15:clr>
        </p15:guide>
        <p15:guide id="24" orient="horz" pos="2528" userDrawn="1">
          <p15:clr>
            <a:srgbClr val="F26B43"/>
          </p15:clr>
        </p15:guide>
        <p15:guide id="25" orient="horz" pos="2744" userDrawn="1">
          <p15:clr>
            <a:srgbClr val="F26B43"/>
          </p15:clr>
        </p15:guide>
        <p15:guide id="26" orient="horz" pos="3152" userDrawn="1">
          <p15:clr>
            <a:srgbClr val="F26B43"/>
          </p15:clr>
        </p15:guide>
        <p15:guide id="27" orient="horz" pos="3368" userDrawn="1">
          <p15:clr>
            <a:srgbClr val="F26B43"/>
          </p15:clr>
        </p15:guide>
        <p15:guide id="28" orient="horz" pos="3776" userDrawn="1">
          <p15:clr>
            <a:srgbClr val="F26B43"/>
          </p15:clr>
        </p15:guide>
        <p15:guide id="29" orient="horz" pos="4088"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8.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8.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8.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8.xml"/><Relationship Id="rId10" Type="http://schemas.openxmlformats.org/officeDocument/2006/relationships/image" Target="../media/fig_framework.png"/></Relationships>
</file>

<file path=ppt/slides/_rels/slide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8.xml"/><Relationship Id="rId10" Type="http://schemas.openxmlformats.org/officeDocument/2006/relationships/image" Target="../media/fig_pipeline.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9.xml"/><Relationship Id="rId1" Type="http://schemas.openxmlformats.org/officeDocument/2006/relationships/slideLayout" Target="../slideLayouts/slideLayout8.xml"/><Relationship Id="rId4" Type="http://schemas.openxmlformats.org/officeDocument/2006/relationships/image" Target="../media/image28.png"/></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0.xml"/><Relationship Id="rId1" Type="http://schemas.openxmlformats.org/officeDocument/2006/relationships/slideLayout" Target="../slideLayouts/slideLayout8.xml"/><Relationship Id="rId4" Type="http://schemas.openxmlformats.org/officeDocument/2006/relationships/image" Target="../media/image30.png"/></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1.xml"/><Relationship Id="rId1" Type="http://schemas.openxmlformats.org/officeDocument/2006/relationships/slideLayout" Target="../slideLayouts/slideLayout8.xml"/><Relationship Id="rId5" Type="http://schemas.openxmlformats.org/officeDocument/2006/relationships/image" Target="../media/image33.png"/><Relationship Id="rId4" Type="http://schemas.openxmlformats.org/officeDocument/2006/relationships/image" Target="../media/image32.png"/></Relationships>
</file>

<file path=ppt/slides/_rels/slide2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2.xml"/><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3.xml"/><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9.jpe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0.jpe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1.jpe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42.jpe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65F939-D34A-71EB-689B-60A3AE9D20B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47CD47D-0812-5F5E-8AA0-B4316F994F47}"/>
              </a:ext>
            </a:extLst>
          </p:cNvPr>
          <p:cNvSpPr>
            <a:spLocks noGrp="1"/>
          </p:cNvSpPr>
          <p:nvPr>
            <p:ph type="ctrTitle"/>
          </p:nvPr>
        </p:nvSpPr>
        <p:spPr>
          <a:xfrm>
            <a:off x="393700" y="1738755"/>
            <a:ext cx="9448800" cy="2491490"/>
          </a:xfrm>
        </p:spPr>
        <p:txBody>
          <a:bodyPr>
            <a:noAutofit/>
          </a:bodyPr>
          <a:lstStyle/>
          <a:p>
            <a:r>
              <a:rPr lang="en-US" sz="3400">
                <a:solidFill>
                  <a:srgbClr val="0C0C0C"/>
                </a:solidFill>
                <a:latin typeface="OpenAI Sans" panose="020B0604020202020204" charset="0"/>
              </a:rPr>
              <a:t>What Shapes Student CGPA?</a:t>
            </a:r>
            <a:br>
              <a:rPr lang="en-US" sz="3400">
                <a:solidFill>
                  <a:srgbClr val="0C0C0C"/>
                </a:solidFill>
                <a:latin typeface="OpenAI Sans" panose="020B0604020202020204" charset="0"/>
              </a:rPr>
            </a:br>
            <a:r>
              <a:rPr lang="en-US" sz="3400">
                <a:solidFill>
                  <a:srgbClr val="0C0C0C"/>
                </a:solidFill>
                <a:latin typeface="OpenAI Sans" panose="020B0604020202020204" charset="0"/>
              </a:rPr>
              <a:t>An Engineering Student Academic Performance Dataset and Machine Learning Analysis</a:t>
            </a:r>
            <a:endParaRPr lang="en-US" sz="3400" dirty="0">
              <a:solidFill>
                <a:srgbClr val="0C0C0C"/>
              </a:solidFill>
              <a:latin typeface="OpenAI Sans" panose="020B0604020202020204" charset="0"/>
            </a:endParaRPr>
          </a:p>
        </p:txBody>
      </p:sp>
      <p:sp>
        <p:nvSpPr>
          <p:cNvPr id="5" name="Subtitle 4">
            <a:extLst>
              <a:ext uri="{FF2B5EF4-FFF2-40B4-BE49-F238E27FC236}">
                <a16:creationId xmlns:a16="http://schemas.microsoft.com/office/drawing/2014/main" id="{283B85AD-626B-46B7-0C36-31F5BABDE10D}"/>
              </a:ext>
            </a:extLst>
          </p:cNvPr>
          <p:cNvSpPr>
            <a:spLocks noGrp="1"/>
          </p:cNvSpPr>
          <p:nvPr>
            <p:ph type="subTitle" idx="1"/>
          </p:nvPr>
        </p:nvSpPr>
        <p:spPr>
          <a:xfrm>
            <a:off x="393700" y="4742208"/>
            <a:ext cx="5702301" cy="1080246"/>
          </a:xfrm>
        </p:spPr>
        <p:txBody>
          <a:bodyPr>
            <a:noAutofit/>
          </a:bodyPr>
          <a:lstStyle/>
          <a:p>
            <a:pPr>
              <a:lnSpc>
                <a:spcPct val="100000"/>
              </a:lnSpc>
            </a:pPr>
            <a:r>
              <a:rPr lang="en-US" sz="1400">
                <a:solidFill>
                  <a:srgbClr val="2E3238"/>
                </a:solidFill>
                <a:latin typeface="Helvetica Neue"/>
              </a:rPr>
              <a:t>920 checked responses from four universities</a:t>
            </a:r>
          </a:p>
          <a:p>
            <a:pPr>
              <a:lnSpc>
                <a:spcPct val="100000"/>
              </a:lnSpc>
            </a:pPr>
            <a:r>
              <a:rPr lang="en-US" sz="1400">
                <a:solidFill>
                  <a:srgbClr val="2E3238"/>
                </a:solidFill>
                <a:latin typeface="Helvetica Neue"/>
              </a:rPr>
              <a:t>Behaviour patterns, SGPA prediction, and CGPA prediction</a:t>
            </a:r>
            <a:endParaRPr lang="en-US" sz="1400" dirty="0">
              <a:solidFill>
                <a:srgbClr val="2E3238"/>
              </a:solidFill>
              <a:latin typeface="Helvetica Neue"/>
            </a:endParaRPr>
          </a:p>
        </p:txBody>
      </p:sp>
      <p:sp>
        <p:nvSpPr>
          <p:cNvPr id="6" name="Subtitle 4">
            <a:extLst>
              <a:ext uri="{FF2B5EF4-FFF2-40B4-BE49-F238E27FC236}">
                <a16:creationId xmlns:a16="http://schemas.microsoft.com/office/drawing/2014/main" id="{543BAB87-2ABE-9D84-8400-3B5ABA08B3C2}"/>
              </a:ext>
            </a:extLst>
          </p:cNvPr>
          <p:cNvSpPr txBox="1">
            <a:spLocks/>
          </p:cNvSpPr>
          <p:nvPr/>
        </p:nvSpPr>
        <p:spPr>
          <a:xfrm>
            <a:off x="393700" y="392241"/>
            <a:ext cx="5702300" cy="649159"/>
          </a:xfrm>
          <a:prstGeom prst="rect">
            <a:avLst/>
          </a:prstGeom>
        </p:spPr>
        <p:txBody>
          <a:bodyPr vert="horz" lIns="0" tIns="0" rIns="0" bIns="0" rtlCol="0">
            <a:no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800"/>
              <a:t>ACADEMIC PERFORMANCE  /  ENGINEERING STUDENTS</a:t>
            </a:r>
            <a:endParaRPr lang="en-US" sz="1800" dirty="0"/>
          </a:p>
        </p:txBody>
      </p:sp>
      <p:sp>
        <p:nvSpPr>
          <p:cNvPr id="2" name="Rectangle: Rounded Corners 1">
            <a:extLst>
              <a:ext uri="{FF2B5EF4-FFF2-40B4-BE49-F238E27FC236}">
                <a16:creationId xmlns:a16="http://schemas.microsoft.com/office/drawing/2014/main" id="{B3FAC5F5-A700-4DD8-8175-D00095733C3D}"/>
              </a:ext>
            </a:extLst>
          </p:cNvPr>
          <p:cNvSpPr/>
          <p:nvPr/>
        </p:nvSpPr>
        <p:spPr>
          <a:xfrm>
            <a:off x="342900" y="5918200"/>
            <a:ext cx="1676400" cy="482600"/>
          </a:xfrm>
          <a:prstGeom prst="roundRect">
            <a:avLst/>
          </a:prstGeom>
          <a:solidFill>
            <a:srgbClr val="F1F3F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a:solidFill>
                  <a:srgbClr val="181B1F"/>
                </a:solidFill>
                <a:latin typeface="Helvetica Neue"/>
              </a:rPr>
              <a:t>STUDENT</a:t>
            </a:r>
          </a:p>
        </p:txBody>
      </p:sp>
      <p:sp>
        <p:nvSpPr>
          <p:cNvPr id="3" name="Arrow: Right 2">
            <a:extLst>
              <a:ext uri="{FF2B5EF4-FFF2-40B4-BE49-F238E27FC236}">
                <a16:creationId xmlns:a16="http://schemas.microsoft.com/office/drawing/2014/main" id="{355A8B39-4D3A-4467-805D-B85FBAEBD8E6}"/>
              </a:ext>
            </a:extLst>
          </p:cNvPr>
          <p:cNvSpPr/>
          <p:nvPr/>
        </p:nvSpPr>
        <p:spPr>
          <a:xfrm>
            <a:off x="2108200" y="6057900"/>
            <a:ext cx="533400" cy="203200"/>
          </a:xfrm>
          <a:prstGeom prst="rightArrow">
            <a:avLst/>
          </a:prstGeom>
          <a:solidFill>
            <a:srgbClr val="BBC1C9"/>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Rounded Corners 6">
            <a:extLst>
              <a:ext uri="{FF2B5EF4-FFF2-40B4-BE49-F238E27FC236}">
                <a16:creationId xmlns:a16="http://schemas.microsoft.com/office/drawing/2014/main" id="{7E2024B5-832D-49B8-B02C-B7149F3C830F}"/>
              </a:ext>
            </a:extLst>
          </p:cNvPr>
          <p:cNvSpPr/>
          <p:nvPr/>
        </p:nvSpPr>
        <p:spPr>
          <a:xfrm>
            <a:off x="2641600" y="5918200"/>
            <a:ext cx="1676400" cy="482600"/>
          </a:xfrm>
          <a:prstGeom prst="roundRect">
            <a:avLst/>
          </a:prstGeom>
          <a:solidFill>
            <a:srgbClr val="F1F3F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a:solidFill>
                  <a:srgbClr val="181B1F"/>
                </a:solidFill>
                <a:latin typeface="Helvetica Neue"/>
              </a:rPr>
              <a:t>FORM</a:t>
            </a:r>
          </a:p>
        </p:txBody>
      </p:sp>
      <p:sp>
        <p:nvSpPr>
          <p:cNvPr id="8" name="Arrow: Right 7">
            <a:extLst>
              <a:ext uri="{FF2B5EF4-FFF2-40B4-BE49-F238E27FC236}">
                <a16:creationId xmlns:a16="http://schemas.microsoft.com/office/drawing/2014/main" id="{4D88F80F-44F8-4FFE-8B70-8359EE7288A5}"/>
              </a:ext>
            </a:extLst>
          </p:cNvPr>
          <p:cNvSpPr/>
          <p:nvPr/>
        </p:nvSpPr>
        <p:spPr>
          <a:xfrm>
            <a:off x="4406900" y="6057900"/>
            <a:ext cx="533400" cy="203200"/>
          </a:xfrm>
          <a:prstGeom prst="rightArrow">
            <a:avLst/>
          </a:prstGeom>
          <a:solidFill>
            <a:srgbClr val="BBC1C9"/>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28EE0BE5-0429-4138-BCB3-5F160E961607}"/>
              </a:ext>
            </a:extLst>
          </p:cNvPr>
          <p:cNvSpPr/>
          <p:nvPr/>
        </p:nvSpPr>
        <p:spPr>
          <a:xfrm>
            <a:off x="4940300" y="5918200"/>
            <a:ext cx="1676400" cy="482600"/>
          </a:xfrm>
          <a:prstGeom prst="roundRect">
            <a:avLst/>
          </a:prstGeom>
          <a:solidFill>
            <a:srgbClr val="F1F3F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a:solidFill>
                  <a:srgbClr val="181B1F"/>
                </a:solidFill>
                <a:latin typeface="Helvetica Neue"/>
              </a:rPr>
              <a:t>DATA</a:t>
            </a:r>
          </a:p>
        </p:txBody>
      </p:sp>
      <p:sp>
        <p:nvSpPr>
          <p:cNvPr id="10" name="Arrow: Right 9">
            <a:extLst>
              <a:ext uri="{FF2B5EF4-FFF2-40B4-BE49-F238E27FC236}">
                <a16:creationId xmlns:a16="http://schemas.microsoft.com/office/drawing/2014/main" id="{D2EB4B1E-A90C-4223-97EE-B91D09D8AF1B}"/>
              </a:ext>
            </a:extLst>
          </p:cNvPr>
          <p:cNvSpPr/>
          <p:nvPr/>
        </p:nvSpPr>
        <p:spPr>
          <a:xfrm>
            <a:off x="6705600" y="6057900"/>
            <a:ext cx="533400" cy="203200"/>
          </a:xfrm>
          <a:prstGeom prst="rightArrow">
            <a:avLst/>
          </a:prstGeom>
          <a:solidFill>
            <a:srgbClr val="BBC1C9"/>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Rounded Corners 10">
            <a:extLst>
              <a:ext uri="{FF2B5EF4-FFF2-40B4-BE49-F238E27FC236}">
                <a16:creationId xmlns:a16="http://schemas.microsoft.com/office/drawing/2014/main" id="{33670AD7-6886-4262-9490-1238C991DD3D}"/>
              </a:ext>
            </a:extLst>
          </p:cNvPr>
          <p:cNvSpPr/>
          <p:nvPr/>
        </p:nvSpPr>
        <p:spPr>
          <a:xfrm>
            <a:off x="7239000" y="5918200"/>
            <a:ext cx="1676400" cy="482600"/>
          </a:xfrm>
          <a:prstGeom prst="roundRect">
            <a:avLst/>
          </a:prstGeom>
          <a:solidFill>
            <a:srgbClr val="F1F3F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a:solidFill>
                  <a:srgbClr val="181B1F"/>
                </a:solidFill>
                <a:latin typeface="Helvetica Neue"/>
              </a:rPr>
              <a:t>RULES</a:t>
            </a:r>
          </a:p>
        </p:txBody>
      </p:sp>
      <p:sp>
        <p:nvSpPr>
          <p:cNvPr id="12" name="Arrow: Right 11">
            <a:extLst>
              <a:ext uri="{FF2B5EF4-FFF2-40B4-BE49-F238E27FC236}">
                <a16:creationId xmlns:a16="http://schemas.microsoft.com/office/drawing/2014/main" id="{4BE6E414-3FA9-4436-9C8A-427A4F97D88D}"/>
              </a:ext>
            </a:extLst>
          </p:cNvPr>
          <p:cNvSpPr/>
          <p:nvPr/>
        </p:nvSpPr>
        <p:spPr>
          <a:xfrm>
            <a:off x="9004300" y="6057900"/>
            <a:ext cx="533400" cy="203200"/>
          </a:xfrm>
          <a:prstGeom prst="rightArrow">
            <a:avLst/>
          </a:prstGeom>
          <a:solidFill>
            <a:srgbClr val="BBC1C9"/>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Rounded Corners 12">
            <a:extLst>
              <a:ext uri="{FF2B5EF4-FFF2-40B4-BE49-F238E27FC236}">
                <a16:creationId xmlns:a16="http://schemas.microsoft.com/office/drawing/2014/main" id="{92FB681E-A772-4A4B-A157-153D35E98063}"/>
              </a:ext>
            </a:extLst>
          </p:cNvPr>
          <p:cNvSpPr/>
          <p:nvPr/>
        </p:nvSpPr>
        <p:spPr>
          <a:xfrm>
            <a:off x="9537700" y="5918200"/>
            <a:ext cx="1676400" cy="482600"/>
          </a:xfrm>
          <a:prstGeom prst="roundRect">
            <a:avLst/>
          </a:prstGeom>
          <a:solidFill>
            <a:srgbClr val="43B0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a:solidFill>
                  <a:srgbClr val="FFFFFF"/>
                </a:solidFill>
                <a:latin typeface="Helvetica Neue"/>
              </a:rPr>
              <a:t>CGPA</a:t>
            </a:r>
          </a:p>
        </p:txBody>
      </p:sp>
    </p:spTree>
    <p:extLst>
      <p:ext uri="{BB962C8B-B14F-4D97-AF65-F5344CB8AC3E}">
        <p14:creationId xmlns:p14="http://schemas.microsoft.com/office/powerpoint/2010/main" val="21904569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OPENING</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What Are We Trying to Understand?</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a:solidFill>
                  <a:srgbClr val="898781"/>
                </a:solidFill>
                <a:latin typeface="Helvetica Neue"/>
              </a:rPr>
              <a:t>2</a:t>
            </a:r>
          </a:p>
        </p:txBody>
      </p:sp>
      <p:sp>
        <p:nvSpPr>
          <p:cNvPr id="7" name="Rounded Rectangle 6"/>
          <p:cNvSpPr/>
          <p:nvPr/>
        </p:nvSpPr>
        <p:spPr>
          <a:xfrm>
            <a:off x="548640" y="1463040"/>
            <a:ext cx="3520440" cy="324612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822959" y="1737360"/>
            <a:ext cx="731520" cy="73152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2800" b="1">
                <a:solidFill>
                  <a:srgbClr val="FFFFFF"/>
                </a:solidFill>
                <a:latin typeface="Helvetica Neue"/>
              </a:rPr>
              <a:t>1</a:t>
            </a:r>
          </a:p>
        </p:txBody>
      </p:sp>
      <p:sp>
        <p:nvSpPr>
          <p:cNvPr id="9" name="TextBox 8"/>
          <p:cNvSpPr txBox="1"/>
          <p:nvPr/>
        </p:nvSpPr>
        <p:spPr>
          <a:xfrm>
            <a:off x="822959" y="2651760"/>
            <a:ext cx="3017520" cy="1280160"/>
          </a:xfrm>
          <a:prstGeom prst="rect">
            <a:avLst/>
          </a:prstGeom>
          <a:noFill/>
        </p:spPr>
        <p:txBody>
          <a:bodyPr wrap="square" lIns="27432" tIns="27432" rIns="27432" bIns="27432" anchor="t">
            <a:noAutofit/>
          </a:bodyPr>
          <a:lstStyle/>
          <a:p>
            <a:pPr algn="l">
              <a:lnSpc>
                <a:spcPct val="105000"/>
              </a:lnSpc>
            </a:pPr>
            <a:r>
              <a:rPr sz="2300" b="1">
                <a:solidFill>
                  <a:srgbClr val="0B0B0B"/>
                </a:solidFill>
                <a:latin typeface="Helvetica Neue"/>
              </a:rPr>
              <a:t>What do students report?</a:t>
            </a:r>
          </a:p>
        </p:txBody>
      </p:sp>
      <p:sp>
        <p:nvSpPr>
          <p:cNvPr id="10" name="TextBox 9"/>
          <p:cNvSpPr txBox="1"/>
          <p:nvPr/>
        </p:nvSpPr>
        <p:spPr>
          <a:xfrm>
            <a:off x="822959" y="3931920"/>
            <a:ext cx="3017520" cy="731520"/>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Attendance, study time, stress, sleep, support, environment…</a:t>
            </a:r>
          </a:p>
        </p:txBody>
      </p:sp>
      <p:sp>
        <p:nvSpPr>
          <p:cNvPr id="11" name="Rounded Rectangle 10"/>
          <p:cNvSpPr/>
          <p:nvPr/>
        </p:nvSpPr>
        <p:spPr>
          <a:xfrm>
            <a:off x="4297679" y="1463040"/>
            <a:ext cx="3520440" cy="324612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4571999" y="1737360"/>
            <a:ext cx="731520" cy="73152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2800" b="1">
                <a:solidFill>
                  <a:srgbClr val="FFFFFF"/>
                </a:solidFill>
                <a:latin typeface="Helvetica Neue"/>
              </a:rPr>
              <a:t>2</a:t>
            </a:r>
          </a:p>
        </p:txBody>
      </p:sp>
      <p:sp>
        <p:nvSpPr>
          <p:cNvPr id="13" name="TextBox 12"/>
          <p:cNvSpPr txBox="1"/>
          <p:nvPr/>
        </p:nvSpPr>
        <p:spPr>
          <a:xfrm>
            <a:off x="4571999" y="2651760"/>
            <a:ext cx="3017520" cy="1280160"/>
          </a:xfrm>
          <a:prstGeom prst="rect">
            <a:avLst/>
          </a:prstGeom>
          <a:noFill/>
        </p:spPr>
        <p:txBody>
          <a:bodyPr wrap="square" lIns="27432" tIns="27432" rIns="27432" bIns="27432" anchor="t">
            <a:noAutofit/>
          </a:bodyPr>
          <a:lstStyle/>
          <a:p>
            <a:pPr algn="l">
              <a:lnSpc>
                <a:spcPct val="105000"/>
              </a:lnSpc>
            </a:pPr>
            <a:r>
              <a:rPr sz="2300" b="1">
                <a:solidFill>
                  <a:srgbClr val="0B0B0B"/>
                </a:solidFill>
                <a:latin typeface="Helvetica Neue"/>
              </a:rPr>
              <a:t>Which patterns appear with better or worse results?</a:t>
            </a:r>
          </a:p>
        </p:txBody>
      </p:sp>
      <p:sp>
        <p:nvSpPr>
          <p:cNvPr id="14" name="TextBox 13"/>
          <p:cNvSpPr txBox="1"/>
          <p:nvPr/>
        </p:nvSpPr>
        <p:spPr>
          <a:xfrm>
            <a:off x="4571999" y="3931920"/>
            <a:ext cx="3017520" cy="731520"/>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Compare answer groups with CGPA groups</a:t>
            </a:r>
          </a:p>
        </p:txBody>
      </p:sp>
      <p:sp>
        <p:nvSpPr>
          <p:cNvPr id="15" name="Rounded Rectangle 14"/>
          <p:cNvSpPr/>
          <p:nvPr/>
        </p:nvSpPr>
        <p:spPr>
          <a:xfrm>
            <a:off x="8046719" y="1463040"/>
            <a:ext cx="3520440" cy="324612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8321040" y="1737360"/>
            <a:ext cx="731520" cy="73152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2800" b="1">
                <a:solidFill>
                  <a:srgbClr val="FFFFFF"/>
                </a:solidFill>
                <a:latin typeface="Helvetica Neue"/>
              </a:rPr>
              <a:t>3</a:t>
            </a:r>
          </a:p>
        </p:txBody>
      </p:sp>
      <p:sp>
        <p:nvSpPr>
          <p:cNvPr id="17" name="TextBox 16"/>
          <p:cNvSpPr txBox="1"/>
          <p:nvPr/>
        </p:nvSpPr>
        <p:spPr>
          <a:xfrm>
            <a:off x="8321040" y="2651760"/>
            <a:ext cx="3017520" cy="1280160"/>
          </a:xfrm>
          <a:prstGeom prst="rect">
            <a:avLst/>
          </a:prstGeom>
          <a:noFill/>
        </p:spPr>
        <p:txBody>
          <a:bodyPr wrap="square" lIns="27432" tIns="27432" rIns="27432" bIns="27432" anchor="t">
            <a:noAutofit/>
          </a:bodyPr>
          <a:lstStyle/>
          <a:p>
            <a:pPr algn="l">
              <a:lnSpc>
                <a:spcPct val="105000"/>
              </a:lnSpc>
            </a:pPr>
            <a:r>
              <a:rPr sz="2300" b="1">
                <a:solidFill>
                  <a:srgbClr val="0B0B0B"/>
                </a:solidFill>
                <a:latin typeface="Helvetica Neue"/>
              </a:rPr>
              <a:t>Can those answers predict a new student's result?</a:t>
            </a:r>
          </a:p>
        </p:txBody>
      </p:sp>
      <p:sp>
        <p:nvSpPr>
          <p:cNvPr id="18" name="TextBox 17"/>
          <p:cNvSpPr txBox="1"/>
          <p:nvPr/>
        </p:nvSpPr>
        <p:spPr>
          <a:xfrm>
            <a:off x="8321040" y="3931920"/>
            <a:ext cx="3017520" cy="731520"/>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Train on some students, test on unseen ones</a:t>
            </a:r>
          </a:p>
        </p:txBody>
      </p:sp>
      <p:sp>
        <p:nvSpPr>
          <p:cNvPr id="19" name="Rounded Rectangle 18"/>
          <p:cNvSpPr/>
          <p:nvPr/>
        </p:nvSpPr>
        <p:spPr>
          <a:xfrm>
            <a:off x="548640" y="4937760"/>
            <a:ext cx="1847088" cy="6858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600" b="0">
                <a:solidFill>
                  <a:srgbClr val="0B0B0B"/>
                </a:solidFill>
                <a:latin typeface="Helvetica Neue"/>
              </a:rPr>
              <a:t>Data</a:t>
            </a:r>
          </a:p>
        </p:txBody>
      </p:sp>
      <p:sp>
        <p:nvSpPr>
          <p:cNvPr id="20" name="Right Arrow 19"/>
          <p:cNvSpPr/>
          <p:nvPr/>
        </p:nvSpPr>
        <p:spPr>
          <a:xfrm>
            <a:off x="2450592" y="5125212"/>
            <a:ext cx="347472" cy="310896"/>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2852928" y="4937760"/>
            <a:ext cx="1847088" cy="6858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600" b="0">
                <a:solidFill>
                  <a:srgbClr val="0B0B0B"/>
                </a:solidFill>
                <a:latin typeface="Helvetica Neue"/>
              </a:rPr>
              <a:t>Student behaviour</a:t>
            </a:r>
          </a:p>
        </p:txBody>
      </p:sp>
      <p:sp>
        <p:nvSpPr>
          <p:cNvPr id="22" name="Right Arrow 21"/>
          <p:cNvSpPr/>
          <p:nvPr/>
        </p:nvSpPr>
        <p:spPr>
          <a:xfrm>
            <a:off x="4754880" y="5125212"/>
            <a:ext cx="347472" cy="310896"/>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5157216" y="4937760"/>
            <a:ext cx="1847088" cy="6858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600" b="0">
                <a:solidFill>
                  <a:srgbClr val="0B0B0B"/>
                </a:solidFill>
                <a:latin typeface="Helvetica Neue"/>
              </a:rPr>
              <a:t>Understandable rules</a:t>
            </a:r>
          </a:p>
        </p:txBody>
      </p:sp>
      <p:sp>
        <p:nvSpPr>
          <p:cNvPr id="24" name="Right Arrow 23"/>
          <p:cNvSpPr/>
          <p:nvPr/>
        </p:nvSpPr>
        <p:spPr>
          <a:xfrm>
            <a:off x="7059168" y="5125212"/>
            <a:ext cx="347472" cy="310896"/>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7461504" y="4937760"/>
            <a:ext cx="1847088" cy="6858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600" b="0">
                <a:solidFill>
                  <a:srgbClr val="0B0B0B"/>
                </a:solidFill>
                <a:latin typeface="Helvetica Neue"/>
              </a:rPr>
              <a:t>Train / Test</a:t>
            </a:r>
          </a:p>
        </p:txBody>
      </p:sp>
      <p:sp>
        <p:nvSpPr>
          <p:cNvPr id="26" name="Right Arrow 25"/>
          <p:cNvSpPr/>
          <p:nvPr/>
        </p:nvSpPr>
        <p:spPr>
          <a:xfrm>
            <a:off x="9363456" y="5125212"/>
            <a:ext cx="347472" cy="310896"/>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9765792" y="4937760"/>
            <a:ext cx="1847088" cy="6858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600" b="0">
                <a:solidFill>
                  <a:srgbClr val="0B0B0B"/>
                </a:solidFill>
                <a:latin typeface="Helvetica Neue"/>
              </a:rPr>
              <a:t>Unseen-student result</a:t>
            </a:r>
          </a:p>
        </p:txBody>
      </p:sp>
      <p:sp>
        <p:nvSpPr>
          <p:cNvPr id="28" name="TextBox 27"/>
          <p:cNvSpPr txBox="1"/>
          <p:nvPr/>
        </p:nvSpPr>
        <p:spPr>
          <a:xfrm>
            <a:off x="548640" y="5760720"/>
            <a:ext cx="11064240" cy="457200"/>
          </a:xfrm>
          <a:prstGeom prst="rect">
            <a:avLst/>
          </a:prstGeom>
          <a:noFill/>
        </p:spPr>
        <p:txBody>
          <a:bodyPr wrap="square" lIns="27432" tIns="27432" rIns="27432" bIns="27432" anchor="t">
            <a:noAutofit/>
          </a:bodyPr>
          <a:lstStyle/>
          <a:p>
            <a:pPr algn="ctr">
              <a:lnSpc>
                <a:spcPct val="105000"/>
              </a:lnSpc>
            </a:pPr>
            <a:r>
              <a:rPr sz="1900" b="1">
                <a:solidFill>
                  <a:srgbClr val="1F3B5C"/>
                </a:solidFill>
                <a:latin typeface="Helvetica Neue"/>
              </a:rPr>
              <a:t>First we understand the data; then we test prediction.</a:t>
            </a:r>
          </a:p>
        </p:txBody>
      </p:sp>
      <p:sp>
        <p:nvSpPr>
          <p:cNvPr id="29" name="SimpleLightSectionLabel">
            <a:extLst>
              <a:ext uri="{FF2B5EF4-FFF2-40B4-BE49-F238E27FC236}">
                <a16:creationId xmlns:a16="http://schemas.microsoft.com/office/drawing/2014/main" id="{249FF687-826F-46DA-90BE-85791D661F56}"/>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PURPOSE + SOURCE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DATA COLLECTION</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Data Came From Student Surveys</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lang="en-US" sz="1000" b="0" dirty="0">
                <a:solidFill>
                  <a:srgbClr val="898781"/>
                </a:solidFill>
                <a:latin typeface="Helvetica Neue"/>
              </a:rPr>
              <a:t>3</a:t>
            </a:r>
            <a:endParaRPr sz="1000" b="0" dirty="0">
              <a:solidFill>
                <a:srgbClr val="898781"/>
              </a:solidFill>
              <a:latin typeface="Helvetica Neue"/>
            </a:endParaRPr>
          </a:p>
        </p:txBody>
      </p:sp>
      <p:pic>
        <p:nvPicPr>
          <p:cNvPr id="7" name="Picture 6" descr="form_multi_header_top.png"/>
          <p:cNvPicPr>
            <a:picLocks noChangeAspect="1"/>
          </p:cNvPicPr>
          <p:nvPr/>
        </p:nvPicPr>
        <p:blipFill>
          <a:blip r:embed="rId3"/>
          <a:stretch>
            <a:fillRect/>
          </a:stretch>
        </p:blipFill>
        <p:spPr>
          <a:xfrm>
            <a:off x="548640" y="1411085"/>
            <a:ext cx="5669280" cy="4767349"/>
          </a:xfrm>
          <a:prstGeom prst="rect">
            <a:avLst/>
          </a:prstGeom>
          <a:ln w="12700">
            <a:solidFill>
              <a:srgbClr val="DADCE0"/>
            </a:solidFill>
          </a:ln>
        </p:spPr>
      </p:pic>
      <p:sp>
        <p:nvSpPr>
          <p:cNvPr id="8" name="Rounded Rectangle 7"/>
          <p:cNvSpPr/>
          <p:nvPr/>
        </p:nvSpPr>
        <p:spPr>
          <a:xfrm>
            <a:off x="6583680" y="1417320"/>
            <a:ext cx="2377440" cy="15087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720840" y="1527048"/>
            <a:ext cx="2103120" cy="829818"/>
          </a:xfrm>
          <a:prstGeom prst="rect">
            <a:avLst/>
          </a:prstGeom>
          <a:noFill/>
        </p:spPr>
        <p:txBody>
          <a:bodyPr wrap="square" lIns="27432" tIns="27432" rIns="27432" bIns="27432" anchor="ctr">
            <a:noAutofit/>
          </a:bodyPr>
          <a:lstStyle/>
          <a:p>
            <a:pPr algn="l">
              <a:lnSpc>
                <a:spcPct val="105000"/>
              </a:lnSpc>
            </a:pPr>
            <a:r>
              <a:rPr sz="4000" b="1">
                <a:solidFill>
                  <a:srgbClr val="2A78D6"/>
                </a:solidFill>
                <a:latin typeface="Helvetica Neue"/>
              </a:rPr>
              <a:t>2</a:t>
            </a:r>
          </a:p>
        </p:txBody>
      </p:sp>
      <p:sp>
        <p:nvSpPr>
          <p:cNvPr id="10" name="TextBox 9"/>
          <p:cNvSpPr txBox="1"/>
          <p:nvPr/>
        </p:nvSpPr>
        <p:spPr>
          <a:xfrm>
            <a:off x="6720840" y="2292400"/>
            <a:ext cx="2103120" cy="603504"/>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similar Google Forms</a:t>
            </a:r>
          </a:p>
        </p:txBody>
      </p:sp>
      <p:sp>
        <p:nvSpPr>
          <p:cNvPr id="11" name="Rounded Rectangle 10"/>
          <p:cNvSpPr/>
          <p:nvPr/>
        </p:nvSpPr>
        <p:spPr>
          <a:xfrm>
            <a:off x="9144000" y="1417320"/>
            <a:ext cx="2377440" cy="15087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281160" y="1527048"/>
            <a:ext cx="2103120" cy="829818"/>
          </a:xfrm>
          <a:prstGeom prst="rect">
            <a:avLst/>
          </a:prstGeom>
          <a:noFill/>
        </p:spPr>
        <p:txBody>
          <a:bodyPr wrap="square" lIns="27432" tIns="27432" rIns="27432" bIns="27432" anchor="ctr">
            <a:noAutofit/>
          </a:bodyPr>
          <a:lstStyle/>
          <a:p>
            <a:pPr algn="l">
              <a:lnSpc>
                <a:spcPct val="105000"/>
              </a:lnSpc>
            </a:pPr>
            <a:r>
              <a:rPr sz="4000" b="1">
                <a:solidFill>
                  <a:srgbClr val="2A78D6"/>
                </a:solidFill>
                <a:latin typeface="Helvetica Neue"/>
              </a:rPr>
              <a:t>1,126</a:t>
            </a:r>
          </a:p>
        </p:txBody>
      </p:sp>
      <p:sp>
        <p:nvSpPr>
          <p:cNvPr id="13" name="TextBox 12"/>
          <p:cNvSpPr txBox="1"/>
          <p:nvPr/>
        </p:nvSpPr>
        <p:spPr>
          <a:xfrm>
            <a:off x="9281160" y="2292400"/>
            <a:ext cx="2103120" cy="603504"/>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raw responses</a:t>
            </a:r>
          </a:p>
        </p:txBody>
      </p:sp>
      <p:sp>
        <p:nvSpPr>
          <p:cNvPr id="14" name="Rounded Rectangle 13"/>
          <p:cNvSpPr/>
          <p:nvPr/>
        </p:nvSpPr>
        <p:spPr>
          <a:xfrm>
            <a:off x="6583680" y="3108960"/>
            <a:ext cx="2377440" cy="15087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720840" y="3218688"/>
            <a:ext cx="2103120" cy="829818"/>
          </a:xfrm>
          <a:prstGeom prst="rect">
            <a:avLst/>
          </a:prstGeom>
          <a:noFill/>
        </p:spPr>
        <p:txBody>
          <a:bodyPr wrap="square" lIns="27432" tIns="27432" rIns="27432" bIns="27432" anchor="ctr">
            <a:noAutofit/>
          </a:bodyPr>
          <a:lstStyle/>
          <a:p>
            <a:pPr algn="l">
              <a:lnSpc>
                <a:spcPct val="105000"/>
              </a:lnSpc>
            </a:pPr>
            <a:r>
              <a:rPr sz="4000" b="1">
                <a:solidFill>
                  <a:srgbClr val="2A78D6"/>
                </a:solidFill>
                <a:latin typeface="Helvetica Neue"/>
              </a:rPr>
              <a:t>920</a:t>
            </a:r>
          </a:p>
        </p:txBody>
      </p:sp>
      <p:sp>
        <p:nvSpPr>
          <p:cNvPr id="16" name="TextBox 15"/>
          <p:cNvSpPr txBox="1"/>
          <p:nvPr/>
        </p:nvSpPr>
        <p:spPr>
          <a:xfrm>
            <a:off x="6720840" y="3984040"/>
            <a:ext cx="2103120" cy="603504"/>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final records</a:t>
            </a:r>
          </a:p>
        </p:txBody>
      </p:sp>
      <p:sp>
        <p:nvSpPr>
          <p:cNvPr id="17" name="Rounded Rectangle 16"/>
          <p:cNvSpPr/>
          <p:nvPr/>
        </p:nvSpPr>
        <p:spPr>
          <a:xfrm>
            <a:off x="9144000" y="3108960"/>
            <a:ext cx="2377440" cy="15087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281160" y="3218688"/>
            <a:ext cx="2103120" cy="829818"/>
          </a:xfrm>
          <a:prstGeom prst="rect">
            <a:avLst/>
          </a:prstGeom>
          <a:noFill/>
        </p:spPr>
        <p:txBody>
          <a:bodyPr wrap="square" lIns="27432" tIns="27432" rIns="27432" bIns="27432" anchor="ctr">
            <a:noAutofit/>
          </a:bodyPr>
          <a:lstStyle/>
          <a:p>
            <a:pPr algn="l">
              <a:lnSpc>
                <a:spcPct val="105000"/>
              </a:lnSpc>
            </a:pPr>
            <a:r>
              <a:rPr sz="4000" b="1">
                <a:solidFill>
                  <a:srgbClr val="2A78D6"/>
                </a:solidFill>
                <a:latin typeface="Helvetica Neue"/>
              </a:rPr>
              <a:t>4</a:t>
            </a:r>
          </a:p>
        </p:txBody>
      </p:sp>
      <p:sp>
        <p:nvSpPr>
          <p:cNvPr id="19" name="TextBox 18"/>
          <p:cNvSpPr txBox="1"/>
          <p:nvPr/>
        </p:nvSpPr>
        <p:spPr>
          <a:xfrm>
            <a:off x="9281160" y="3984040"/>
            <a:ext cx="2103120" cy="603504"/>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universities</a:t>
            </a:r>
          </a:p>
        </p:txBody>
      </p:sp>
      <p:sp>
        <p:nvSpPr>
          <p:cNvPr id="20" name="Rounded Rectangle 19"/>
          <p:cNvSpPr/>
          <p:nvPr/>
        </p:nvSpPr>
        <p:spPr>
          <a:xfrm>
            <a:off x="6583680" y="4937760"/>
            <a:ext cx="4937760" cy="123444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600" b="1">
                <a:solidFill>
                  <a:srgbClr val="1F3B5C"/>
                </a:solidFill>
                <a:latin typeface="Helvetica Neue"/>
              </a:rPr>
              <a:t>Same questions, slightly different wording</a:t>
            </a:r>
          </a:p>
          <a:p>
            <a:pPr algn="ctr">
              <a:lnSpc>
                <a:spcPct val="105000"/>
              </a:lnSpc>
            </a:pPr>
            <a:r>
              <a:rPr sz="1600" b="0">
                <a:solidFill>
                  <a:srgbClr val="1F3B5C"/>
                </a:solidFill>
                <a:latin typeface="Helvetica Neue"/>
              </a:rPr>
              <a:t>Analysis snapshot: responses up to 03 Sep 2026. The two forms were merged carefully.</a:t>
            </a:r>
          </a:p>
        </p:txBody>
      </p:sp>
      <p:sp>
        <p:nvSpPr>
          <p:cNvPr id="21" name="SimpleLightSectionLabel">
            <a:extLst>
              <a:ext uri="{FF2B5EF4-FFF2-40B4-BE49-F238E27FC236}">
                <a16:creationId xmlns:a16="http://schemas.microsoft.com/office/drawing/2014/main" id="{41D5908E-D0E1-4528-96C2-B48B475C5F68}"/>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PURPOSE + SOURCE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DATA COLLECTION</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What Did the Form Look Like?</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lang="en-US" sz="1000" dirty="0">
                <a:solidFill>
                  <a:srgbClr val="898781"/>
                </a:solidFill>
                <a:latin typeface="Helvetica Neue"/>
              </a:rPr>
              <a:t>4</a:t>
            </a:r>
            <a:endParaRPr sz="1000" b="0" dirty="0">
              <a:solidFill>
                <a:srgbClr val="898781"/>
              </a:solidFill>
              <a:latin typeface="Helvetica Neue"/>
            </a:endParaRPr>
          </a:p>
        </p:txBody>
      </p:sp>
      <p:pic>
        <p:nvPicPr>
          <p:cNvPr id="7" name="Picture 6" descr="form_multi_header_top.png"/>
          <p:cNvPicPr>
            <a:picLocks noChangeAspect="1"/>
          </p:cNvPicPr>
          <p:nvPr/>
        </p:nvPicPr>
        <p:blipFill>
          <a:blip r:embed="rId3"/>
          <a:stretch>
            <a:fillRect/>
          </a:stretch>
        </p:blipFill>
        <p:spPr>
          <a:xfrm>
            <a:off x="548640" y="1346661"/>
            <a:ext cx="4572000" cy="3844636"/>
          </a:xfrm>
          <a:prstGeom prst="rect">
            <a:avLst/>
          </a:prstGeom>
          <a:ln w="12700">
            <a:solidFill>
              <a:srgbClr val="DADCE0"/>
            </a:solidFill>
          </a:ln>
        </p:spPr>
      </p:pic>
      <p:pic>
        <p:nvPicPr>
          <p:cNvPr id="8" name="Picture 7" descr="form_multi_q_desired_department_tight.png"/>
          <p:cNvPicPr>
            <a:picLocks noChangeAspect="1"/>
          </p:cNvPicPr>
          <p:nvPr/>
        </p:nvPicPr>
        <p:blipFill>
          <a:blip r:embed="rId4"/>
          <a:stretch>
            <a:fillRect/>
          </a:stretch>
        </p:blipFill>
        <p:spPr>
          <a:xfrm>
            <a:off x="5349240" y="1334410"/>
            <a:ext cx="3063240" cy="1766018"/>
          </a:xfrm>
          <a:prstGeom prst="rect">
            <a:avLst/>
          </a:prstGeom>
          <a:ln w="12700">
            <a:solidFill>
              <a:srgbClr val="DADCE0"/>
            </a:solidFill>
          </a:ln>
        </p:spPr>
      </p:pic>
      <p:pic>
        <p:nvPicPr>
          <p:cNvPr id="9" name="Picture 8" descr="form_multi_q_phone_tight.png"/>
          <p:cNvPicPr>
            <a:picLocks noChangeAspect="1"/>
          </p:cNvPicPr>
          <p:nvPr/>
        </p:nvPicPr>
        <p:blipFill>
          <a:blip r:embed="rId5"/>
          <a:stretch>
            <a:fillRect/>
          </a:stretch>
        </p:blipFill>
        <p:spPr>
          <a:xfrm>
            <a:off x="8549640" y="1349501"/>
            <a:ext cx="3063240" cy="1735836"/>
          </a:xfrm>
          <a:prstGeom prst="rect">
            <a:avLst/>
          </a:prstGeom>
          <a:ln w="12700">
            <a:solidFill>
              <a:srgbClr val="DADCE0"/>
            </a:solidFill>
          </a:ln>
        </p:spPr>
      </p:pic>
      <p:pic>
        <p:nvPicPr>
          <p:cNvPr id="10" name="Picture 9" descr="form_multi_q_responsibilities_tight.png"/>
          <p:cNvPicPr>
            <a:picLocks noChangeAspect="1"/>
          </p:cNvPicPr>
          <p:nvPr/>
        </p:nvPicPr>
        <p:blipFill>
          <a:blip r:embed="rId6"/>
          <a:stretch>
            <a:fillRect/>
          </a:stretch>
        </p:blipFill>
        <p:spPr>
          <a:xfrm>
            <a:off x="5349240" y="3425994"/>
            <a:ext cx="3063240" cy="1606211"/>
          </a:xfrm>
          <a:prstGeom prst="rect">
            <a:avLst/>
          </a:prstGeom>
          <a:ln w="12700">
            <a:solidFill>
              <a:srgbClr val="DADCE0"/>
            </a:solidFill>
          </a:ln>
        </p:spPr>
      </p:pic>
      <p:pic>
        <p:nvPicPr>
          <p:cNvPr id="11" name="Picture 10" descr="form_multi_q_support_tight.png"/>
          <p:cNvPicPr>
            <a:picLocks noChangeAspect="1"/>
          </p:cNvPicPr>
          <p:nvPr/>
        </p:nvPicPr>
        <p:blipFill>
          <a:blip r:embed="rId7"/>
          <a:stretch>
            <a:fillRect/>
          </a:stretch>
        </p:blipFill>
        <p:spPr>
          <a:xfrm>
            <a:off x="8549640" y="3426375"/>
            <a:ext cx="3063240" cy="1605449"/>
          </a:xfrm>
          <a:prstGeom prst="rect">
            <a:avLst/>
          </a:prstGeom>
          <a:ln w="12700">
            <a:solidFill>
              <a:srgbClr val="DADCE0"/>
            </a:solidFill>
          </a:ln>
        </p:spPr>
      </p:pic>
      <p:sp>
        <p:nvSpPr>
          <p:cNvPr id="12" name="Rounded Rectangle 11"/>
          <p:cNvSpPr/>
          <p:nvPr/>
        </p:nvSpPr>
        <p:spPr>
          <a:xfrm>
            <a:off x="548640" y="5394960"/>
            <a:ext cx="11064240" cy="9144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l">
              <a:lnSpc>
                <a:spcPct val="105000"/>
              </a:lnSpc>
            </a:pPr>
            <a:r>
              <a:rPr sz="1400" b="1">
                <a:solidFill>
                  <a:srgbClr val="1F3B5C"/>
                </a:solidFill>
                <a:latin typeface="Helvetica Neue"/>
              </a:rPr>
              <a:t>Real screenshots of the University Student Performance Analysis Form</a:t>
            </a:r>
            <a:r>
              <a:rPr sz="1400" b="0">
                <a:solidFill>
                  <a:srgbClr val="1F3B5C"/>
                </a:solidFill>
                <a:latin typeface="Helvetica Neue"/>
              </a:rPr>
              <a:t> — English + Bangla, anonymous.</a:t>
            </a:r>
          </a:p>
          <a:p>
            <a:pPr algn="l">
              <a:lnSpc>
                <a:spcPct val="105000"/>
              </a:lnSpc>
            </a:pPr>
            <a:r>
              <a:rPr sz="1400" b="0">
                <a:solidFill>
                  <a:srgbClr val="1F3B5C"/>
                </a:solidFill>
                <a:latin typeface="Helvetica Neue"/>
              </a:rPr>
              <a:t>The KUET form (896 responses) asked the same core questions with slightly different wording; both were merged.</a:t>
            </a:r>
          </a:p>
        </p:txBody>
      </p:sp>
      <p:sp>
        <p:nvSpPr>
          <p:cNvPr id="13" name="SimpleLightSectionLabel">
            <a:extLst>
              <a:ext uri="{FF2B5EF4-FFF2-40B4-BE49-F238E27FC236}">
                <a16:creationId xmlns:a16="http://schemas.microsoft.com/office/drawing/2014/main" id="{CE8B7A97-A0F6-497E-A4BC-C43246A97F33}"/>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PURPOSE + SOURCE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DATA COLLECTION</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Example Questions We Asked</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lang="en-US" sz="1000" dirty="0">
                <a:solidFill>
                  <a:srgbClr val="898781"/>
                </a:solidFill>
                <a:latin typeface="Helvetica Neue"/>
              </a:rPr>
              <a:t>5</a:t>
            </a:r>
            <a:endParaRPr sz="1000" b="0" dirty="0">
              <a:solidFill>
                <a:srgbClr val="898781"/>
              </a:solidFill>
              <a:latin typeface="Helvetica Neue"/>
            </a:endParaRPr>
          </a:p>
        </p:txBody>
      </p:sp>
      <p:pic>
        <p:nvPicPr>
          <p:cNvPr id="7" name="Picture 6" descr="form_multi_q_attendance_tight.png"/>
          <p:cNvPicPr>
            <a:picLocks noChangeAspect="1"/>
          </p:cNvPicPr>
          <p:nvPr/>
        </p:nvPicPr>
        <p:blipFill>
          <a:blip r:embed="rId3"/>
          <a:stretch>
            <a:fillRect/>
          </a:stretch>
        </p:blipFill>
        <p:spPr>
          <a:xfrm>
            <a:off x="1710676" y="1325880"/>
            <a:ext cx="3116607" cy="2377440"/>
          </a:xfrm>
          <a:prstGeom prst="rect">
            <a:avLst/>
          </a:prstGeom>
          <a:ln w="12700">
            <a:solidFill>
              <a:srgbClr val="DADCE0"/>
            </a:solidFill>
          </a:ln>
        </p:spPr>
      </p:pic>
      <p:pic>
        <p:nvPicPr>
          <p:cNvPr id="8" name="Picture 7" descr="form_multi_q_study_time_tight.png"/>
          <p:cNvPicPr>
            <a:picLocks noChangeAspect="1"/>
          </p:cNvPicPr>
          <p:nvPr/>
        </p:nvPicPr>
        <p:blipFill>
          <a:blip r:embed="rId4"/>
          <a:stretch>
            <a:fillRect/>
          </a:stretch>
        </p:blipFill>
        <p:spPr>
          <a:xfrm>
            <a:off x="6744198" y="1325880"/>
            <a:ext cx="4296682" cy="2377440"/>
          </a:xfrm>
          <a:prstGeom prst="rect">
            <a:avLst/>
          </a:prstGeom>
          <a:ln w="12700">
            <a:solidFill>
              <a:srgbClr val="DADCE0"/>
            </a:solidFill>
          </a:ln>
        </p:spPr>
      </p:pic>
      <p:pic>
        <p:nvPicPr>
          <p:cNvPr id="9" name="Picture 8" descr="form_multi_q_stress_tight.png"/>
          <p:cNvPicPr>
            <a:picLocks noChangeAspect="1"/>
          </p:cNvPicPr>
          <p:nvPr/>
        </p:nvPicPr>
        <p:blipFill>
          <a:blip r:embed="rId5"/>
          <a:stretch>
            <a:fillRect/>
          </a:stretch>
        </p:blipFill>
        <p:spPr>
          <a:xfrm>
            <a:off x="824539" y="3886200"/>
            <a:ext cx="4888881" cy="2377440"/>
          </a:xfrm>
          <a:prstGeom prst="rect">
            <a:avLst/>
          </a:prstGeom>
          <a:ln w="12700">
            <a:solidFill>
              <a:srgbClr val="DADCE0"/>
            </a:solidFill>
          </a:ln>
        </p:spPr>
      </p:pic>
      <p:pic>
        <p:nvPicPr>
          <p:cNvPr id="10" name="Picture 9" descr="form_multi_q_sgpa_tight.png"/>
          <p:cNvPicPr>
            <a:picLocks noChangeAspect="1"/>
          </p:cNvPicPr>
          <p:nvPr/>
        </p:nvPicPr>
        <p:blipFill>
          <a:blip r:embed="rId6"/>
          <a:stretch>
            <a:fillRect/>
          </a:stretch>
        </p:blipFill>
        <p:spPr>
          <a:xfrm>
            <a:off x="7098138" y="3886200"/>
            <a:ext cx="3588802" cy="2377440"/>
          </a:xfrm>
          <a:prstGeom prst="rect">
            <a:avLst/>
          </a:prstGeom>
          <a:ln w="12700">
            <a:solidFill>
              <a:srgbClr val="DADCE0"/>
            </a:solidFill>
          </a:ln>
        </p:spPr>
      </p:pic>
      <p:sp>
        <p:nvSpPr>
          <p:cNvPr id="11" name="SimpleLightSectionLabel">
            <a:extLst>
              <a:ext uri="{FF2B5EF4-FFF2-40B4-BE49-F238E27FC236}">
                <a16:creationId xmlns:a16="http://schemas.microsoft.com/office/drawing/2014/main" id="{BE7BE54A-8E3D-4B93-9B12-162992CB5730}"/>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PURPOSE + SOURCE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DATA COLLECTION</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Form Questions Behind the Decision Tree Rules</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lang="en-US" sz="1000" dirty="0">
                <a:solidFill>
                  <a:srgbClr val="898781"/>
                </a:solidFill>
                <a:latin typeface="Helvetica Neue"/>
              </a:rPr>
              <a:t>6</a:t>
            </a:r>
            <a:endParaRPr sz="1000" b="0" dirty="0">
              <a:solidFill>
                <a:srgbClr val="898781"/>
              </a:solidFill>
              <a:latin typeface="Helvetica Neue"/>
            </a:endParaRPr>
          </a:p>
        </p:txBody>
      </p:sp>
      <p:sp>
        <p:nvSpPr>
          <p:cNvPr id="7" name="Rounded Rectangle 6"/>
          <p:cNvSpPr/>
          <p:nvPr/>
        </p:nvSpPr>
        <p:spPr>
          <a:xfrm>
            <a:off x="548640" y="1280160"/>
            <a:ext cx="3520440" cy="384048"/>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100" b="1">
                <a:solidFill>
                  <a:srgbClr val="1F3B5C"/>
                </a:solidFill>
                <a:latin typeface="Helvetica Neue"/>
              </a:rPr>
              <a:t>Topic clear after class · trees: SGPA, CGPA (+SGPA)</a:t>
            </a:r>
          </a:p>
        </p:txBody>
      </p:sp>
      <p:pic>
        <p:nvPicPr>
          <p:cNvPr id="8" name="Picture 7" descr="form_multi_q_topic_clarity_tight.png"/>
          <p:cNvPicPr>
            <a:picLocks noChangeAspect="1"/>
          </p:cNvPicPr>
          <p:nvPr/>
        </p:nvPicPr>
        <p:blipFill>
          <a:blip r:embed="rId3"/>
          <a:stretch>
            <a:fillRect/>
          </a:stretch>
        </p:blipFill>
        <p:spPr>
          <a:xfrm>
            <a:off x="548640" y="1803626"/>
            <a:ext cx="3520440" cy="1824283"/>
          </a:xfrm>
          <a:prstGeom prst="rect">
            <a:avLst/>
          </a:prstGeom>
          <a:ln w="12700">
            <a:solidFill>
              <a:srgbClr val="DADCE0"/>
            </a:solidFill>
          </a:ln>
        </p:spPr>
      </p:pic>
      <p:sp>
        <p:nvSpPr>
          <p:cNvPr id="9" name="Rounded Rectangle 8"/>
          <p:cNvSpPr/>
          <p:nvPr/>
        </p:nvSpPr>
        <p:spPr>
          <a:xfrm>
            <a:off x="4297679" y="1280160"/>
            <a:ext cx="3520440" cy="384048"/>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100" b="1">
                <a:solidFill>
                  <a:srgbClr val="1F3B5C"/>
                </a:solidFill>
                <a:latin typeface="Helvetica Neue"/>
              </a:rPr>
              <a:t>Study style · trees: SGPA</a:t>
            </a:r>
          </a:p>
        </p:txBody>
      </p:sp>
      <p:pic>
        <p:nvPicPr>
          <p:cNvPr id="10" name="Picture 9" descr="form_multi_q_study_style_tight.png"/>
          <p:cNvPicPr>
            <a:picLocks noChangeAspect="1"/>
          </p:cNvPicPr>
          <p:nvPr/>
        </p:nvPicPr>
        <p:blipFill>
          <a:blip r:embed="rId4"/>
          <a:stretch>
            <a:fillRect/>
          </a:stretch>
        </p:blipFill>
        <p:spPr>
          <a:xfrm>
            <a:off x="4541824" y="1709928"/>
            <a:ext cx="3032150" cy="2011680"/>
          </a:xfrm>
          <a:prstGeom prst="rect">
            <a:avLst/>
          </a:prstGeom>
          <a:ln w="12700">
            <a:solidFill>
              <a:srgbClr val="DADCE0"/>
            </a:solidFill>
          </a:ln>
        </p:spPr>
      </p:pic>
      <p:sp>
        <p:nvSpPr>
          <p:cNvPr id="11" name="Rounded Rectangle 10"/>
          <p:cNvSpPr/>
          <p:nvPr/>
        </p:nvSpPr>
        <p:spPr>
          <a:xfrm>
            <a:off x="8046719" y="1280160"/>
            <a:ext cx="3520440" cy="384048"/>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100" b="1">
                <a:solidFill>
                  <a:srgbClr val="1F3B5C"/>
                </a:solidFill>
                <a:latin typeface="Helvetica Neue"/>
              </a:rPr>
              <a:t>Study-friendly living place · trees: CGPA (behaviour)</a:t>
            </a:r>
          </a:p>
        </p:txBody>
      </p:sp>
      <p:pic>
        <p:nvPicPr>
          <p:cNvPr id="12" name="Picture 11" descr="form_multi_q_environment_tight.png"/>
          <p:cNvPicPr>
            <a:picLocks noChangeAspect="1"/>
          </p:cNvPicPr>
          <p:nvPr/>
        </p:nvPicPr>
        <p:blipFill>
          <a:blip r:embed="rId5"/>
          <a:stretch>
            <a:fillRect/>
          </a:stretch>
        </p:blipFill>
        <p:spPr>
          <a:xfrm>
            <a:off x="8128101" y="1709928"/>
            <a:ext cx="3357676" cy="2011680"/>
          </a:xfrm>
          <a:prstGeom prst="rect">
            <a:avLst/>
          </a:prstGeom>
          <a:ln w="12700">
            <a:solidFill>
              <a:srgbClr val="DADCE0"/>
            </a:solidFill>
          </a:ln>
        </p:spPr>
      </p:pic>
      <p:sp>
        <p:nvSpPr>
          <p:cNvPr id="13" name="Rounded Rectangle 12"/>
          <p:cNvSpPr/>
          <p:nvPr/>
        </p:nvSpPr>
        <p:spPr>
          <a:xfrm>
            <a:off x="548640" y="3840479"/>
            <a:ext cx="3520440" cy="384048"/>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100" b="1">
                <a:solidFill>
                  <a:srgbClr val="1F3B5C"/>
                </a:solidFill>
                <a:latin typeface="Helvetica Neue"/>
              </a:rPr>
              <a:t>Semester routine manageable · trees: CGPA (+SGPA)</a:t>
            </a:r>
          </a:p>
        </p:txBody>
      </p:sp>
      <p:pic>
        <p:nvPicPr>
          <p:cNvPr id="14" name="Picture 13" descr="form_multi_q_routine_tight.png"/>
          <p:cNvPicPr>
            <a:picLocks noChangeAspect="1"/>
          </p:cNvPicPr>
          <p:nvPr/>
        </p:nvPicPr>
        <p:blipFill>
          <a:blip r:embed="rId6"/>
          <a:stretch>
            <a:fillRect/>
          </a:stretch>
        </p:blipFill>
        <p:spPr>
          <a:xfrm>
            <a:off x="548640" y="4398911"/>
            <a:ext cx="3520440" cy="1754352"/>
          </a:xfrm>
          <a:prstGeom prst="rect">
            <a:avLst/>
          </a:prstGeom>
          <a:ln w="12700">
            <a:solidFill>
              <a:srgbClr val="DADCE0"/>
            </a:solidFill>
          </a:ln>
        </p:spPr>
      </p:pic>
      <p:sp>
        <p:nvSpPr>
          <p:cNvPr id="15" name="Rounded Rectangle 14"/>
          <p:cNvSpPr/>
          <p:nvPr/>
        </p:nvSpPr>
        <p:spPr>
          <a:xfrm>
            <a:off x="4297679" y="3840479"/>
            <a:ext cx="3520440" cy="384048"/>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100" b="1">
                <a:solidFill>
                  <a:srgbClr val="1F3B5C"/>
                </a:solidFill>
                <a:latin typeface="Helvetica Neue"/>
              </a:rPr>
              <a:t>Sleep per night · trees: CGPA (+SGPA)</a:t>
            </a:r>
          </a:p>
        </p:txBody>
      </p:sp>
      <p:pic>
        <p:nvPicPr>
          <p:cNvPr id="16" name="Picture 15" descr="form_multi_q_sleep_tight.png"/>
          <p:cNvPicPr>
            <a:picLocks noChangeAspect="1"/>
          </p:cNvPicPr>
          <p:nvPr/>
        </p:nvPicPr>
        <p:blipFill>
          <a:blip r:embed="rId7"/>
          <a:stretch>
            <a:fillRect/>
          </a:stretch>
        </p:blipFill>
        <p:spPr>
          <a:xfrm>
            <a:off x="4724704" y="4270247"/>
            <a:ext cx="2666390" cy="2011680"/>
          </a:xfrm>
          <a:prstGeom prst="rect">
            <a:avLst/>
          </a:prstGeom>
          <a:ln w="12700">
            <a:solidFill>
              <a:srgbClr val="DADCE0"/>
            </a:solidFill>
          </a:ln>
        </p:spPr>
      </p:pic>
      <p:sp>
        <p:nvSpPr>
          <p:cNvPr id="17" name="Rounded Rectangle 16"/>
          <p:cNvSpPr/>
          <p:nvPr/>
        </p:nvSpPr>
        <p:spPr>
          <a:xfrm>
            <a:off x="8046719" y="3840479"/>
            <a:ext cx="3520440" cy="384048"/>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100" b="1">
                <a:solidFill>
                  <a:srgbClr val="1F3B5C"/>
                </a:solidFill>
                <a:latin typeface="Helvetica Neue"/>
              </a:rPr>
              <a:t>CGPA question · what the CGPA trees predict</a:t>
            </a:r>
          </a:p>
        </p:txBody>
      </p:sp>
      <p:pic>
        <p:nvPicPr>
          <p:cNvPr id="18" name="Picture 17" descr="form_multi_q_cgpa_tight.png"/>
          <p:cNvPicPr>
            <a:picLocks noChangeAspect="1"/>
          </p:cNvPicPr>
          <p:nvPr/>
        </p:nvPicPr>
        <p:blipFill>
          <a:blip r:embed="rId8"/>
          <a:stretch>
            <a:fillRect/>
          </a:stretch>
        </p:blipFill>
        <p:spPr>
          <a:xfrm>
            <a:off x="8354059" y="4270247"/>
            <a:ext cx="2905760" cy="2011680"/>
          </a:xfrm>
          <a:prstGeom prst="rect">
            <a:avLst/>
          </a:prstGeom>
          <a:ln w="12700">
            <a:solidFill>
              <a:srgbClr val="DADCE0"/>
            </a:solidFill>
          </a:ln>
        </p:spPr>
      </p:pic>
      <p:sp>
        <p:nvSpPr>
          <p:cNvPr id="19" name="SimpleLightSectionLabel">
            <a:extLst>
              <a:ext uri="{FF2B5EF4-FFF2-40B4-BE49-F238E27FC236}">
                <a16:creationId xmlns:a16="http://schemas.microsoft.com/office/drawing/2014/main" id="{3FE72201-7C1C-49BF-9B0F-5E70A9D5A856}"/>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PURPOSE + SOURCE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1FD4E1F-F9B3-F4CC-5582-25920B2E97B2}"/>
              </a:ext>
            </a:extLst>
          </p:cNvPr>
          <p:cNvPicPr>
            <a:picLocks noChangeAspect="1"/>
          </p:cNvPicPr>
          <p:nvPr/>
        </p:nvPicPr>
        <p:blipFill>
          <a:blip r:embed="rId2"/>
          <a:srcRect r="16157" b="41194"/>
          <a:stretch>
            <a:fillRect/>
          </a:stretch>
        </p:blipFill>
        <p:spPr>
          <a:xfrm>
            <a:off x="310243" y="1691368"/>
            <a:ext cx="11622585" cy="3566432"/>
          </a:xfrm>
          <a:prstGeom prst="rect">
            <a:avLst/>
          </a:prstGeom>
        </p:spPr>
      </p:pic>
      <p:sp>
        <p:nvSpPr>
          <p:cNvPr id="4" name="Google Shape;533;p58">
            <a:extLst>
              <a:ext uri="{FF2B5EF4-FFF2-40B4-BE49-F238E27FC236}">
                <a16:creationId xmlns:a16="http://schemas.microsoft.com/office/drawing/2014/main" id="{5E99C4EE-3385-0E43-5148-7A67186B2BB5}"/>
              </a:ext>
            </a:extLst>
          </p:cNvPr>
          <p:cNvSpPr txBox="1">
            <a:spLocks/>
          </p:cNvSpPr>
          <p:nvPr/>
        </p:nvSpPr>
        <p:spPr>
          <a:xfrm>
            <a:off x="393700" y="506512"/>
            <a:ext cx="11404600" cy="1047491"/>
          </a:xfrm>
          <a:prstGeom prst="rect">
            <a:avLst/>
          </a:prstGeom>
        </p:spPr>
        <p:txBody>
          <a:bodyPr spcFirstLastPara="1" vert="horz" wrap="square" lIns="0" tIns="0" rIns="0" bIns="0" anchor="t">
            <a:noAutofit/>
          </a:bodyPr>
          <a:lstStyle>
            <a:lvl1pPr algn="l" defTabSz="914400" rtl="0" eaLnBrk="1" latinLnBrk="0" hangingPunct="1">
              <a:lnSpc>
                <a:spcPct val="90000"/>
              </a:lnSpc>
              <a:spcBef>
                <a:spcPct val="0"/>
              </a:spcBef>
              <a:buNone/>
              <a:defRPr sz="2900" kern="1200">
                <a:solidFill>
                  <a:schemeClr val="tx1"/>
                </a:solidFill>
                <a:latin typeface="+mj-lt"/>
                <a:ea typeface="+mj-ea"/>
                <a:cs typeface="+mj-cs"/>
              </a:defRPr>
            </a:lvl1pPr>
          </a:lstStyle>
          <a:p>
            <a:r>
              <a:rPr lang="en-US" sz="3000" dirty="0">
                <a:latin typeface="Times New Roman"/>
                <a:ea typeface="Times New Roman"/>
                <a:cs typeface="Times New Roman"/>
              </a:rPr>
              <a:t>Form responses glimpse</a:t>
            </a:r>
          </a:p>
        </p:txBody>
      </p:sp>
      <p:sp>
        <p:nvSpPr>
          <p:cNvPr id="7" name="Rectangle 6">
            <a:extLst>
              <a:ext uri="{FF2B5EF4-FFF2-40B4-BE49-F238E27FC236}">
                <a16:creationId xmlns:a16="http://schemas.microsoft.com/office/drawing/2014/main" id="{F053E5B3-15E2-D84D-5201-2EFA3E6958F3}"/>
              </a:ext>
            </a:extLst>
          </p:cNvPr>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E5C8B043-A7E3-5B99-9CF7-557C8FA8FE4F}"/>
              </a:ext>
            </a:extLst>
          </p:cNvPr>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dirty="0">
                <a:solidFill>
                  <a:srgbClr val="2A78D6"/>
                </a:solidFill>
                <a:latin typeface="Helvetica Neue"/>
              </a:rPr>
              <a:t>DATA COLLECTION</a:t>
            </a:r>
          </a:p>
        </p:txBody>
      </p:sp>
      <p:sp>
        <p:nvSpPr>
          <p:cNvPr id="2" name="TextBox 1">
            <a:extLst>
              <a:ext uri="{FF2B5EF4-FFF2-40B4-BE49-F238E27FC236}">
                <a16:creationId xmlns:a16="http://schemas.microsoft.com/office/drawing/2014/main" id="{31010474-3B52-20ED-C463-5DCAF23257D6}"/>
              </a:ext>
            </a:extLst>
          </p:cNvPr>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lang="en-US" sz="1000" dirty="0">
                <a:solidFill>
                  <a:srgbClr val="898781"/>
                </a:solidFill>
                <a:latin typeface="Helvetica Neue"/>
              </a:rPr>
              <a:t>7</a:t>
            </a:r>
            <a:endParaRPr sz="1000" b="0" dirty="0">
              <a:solidFill>
                <a:srgbClr val="898781"/>
              </a:solidFill>
              <a:latin typeface="Helvetica Neue"/>
            </a:endParaRPr>
          </a:p>
        </p:txBody>
      </p:sp>
    </p:spTree>
    <p:extLst>
      <p:ext uri="{BB962C8B-B14F-4D97-AF65-F5344CB8AC3E}">
        <p14:creationId xmlns:p14="http://schemas.microsoft.com/office/powerpoint/2010/main" val="6144389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582986B-F452-4FA7-B60B-E696296188E4}"/>
              </a:ext>
            </a:extLst>
          </p:cNvPr>
          <p:cNvPicPr>
            <a:picLocks noChangeAspect="1"/>
          </p:cNvPicPr>
          <p:nvPr/>
        </p:nvPicPr>
        <p:blipFill rotWithShape="1">
          <a:blip r:embed="rId2"/>
          <a:srcRect b="71307"/>
          <a:stretch/>
        </p:blipFill>
        <p:spPr>
          <a:xfrm>
            <a:off x="3239" y="0"/>
            <a:ext cx="12185522" cy="1967758"/>
          </a:xfrm>
          <a:prstGeom prst="rect">
            <a:avLst/>
          </a:prstGeom>
        </p:spPr>
      </p:pic>
      <p:pic>
        <p:nvPicPr>
          <p:cNvPr id="10" name="Figure framework.png" descr="Framework illustrating the practical application of the data"/>
          <p:cNvPicPr>
            <a:picLocks noChangeAspect="1"/>
          </p:cNvPicPr>
          <p:nvPr/>
        </p:nvPicPr>
        <p:blipFill>
          <a:blip r:embed="rId10"/>
          <a:stretch>
            <a:fillRect/>
          </a:stretch>
        </p:blipFill>
        <p:spPr>
          <a:xfrm>
            <a:off x="408000" y="2461596"/>
            <a:ext cx="11376000" cy="3902566"/>
          </a:xfrm>
          <a:prstGeom prst="rect">
            <a:avLst/>
          </a:prstGeom>
        </p:spPr>
      </p:pic>
    </p:spTree>
    <p:extLst>
      <p:ext uri="{BB962C8B-B14F-4D97-AF65-F5344CB8AC3E}">
        <p14:creationId xmlns:p14="http://schemas.microsoft.com/office/powerpoint/2010/main" val="10527015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6F8FA"/>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02BFD2C-99F8-493A-8492-F66D277F113D}"/>
              </a:ext>
            </a:extLst>
          </p:cNvPr>
          <p:cNvPicPr>
            <a:picLocks noChangeAspect="1"/>
          </p:cNvPicPr>
          <p:nvPr/>
        </p:nvPicPr>
        <p:blipFill rotWithShape="1">
          <a:blip r:embed="rId2"/>
          <a:srcRect b="74495"/>
          <a:stretch/>
        </p:blipFill>
        <p:spPr>
          <a:xfrm>
            <a:off x="3239" y="0"/>
            <a:ext cx="12185522" cy="1749118"/>
          </a:xfrm>
          <a:prstGeom prst="rect">
            <a:avLst/>
          </a:prstGeom>
        </p:spPr>
      </p:pic>
      <p:pic>
        <p:nvPicPr>
          <p:cNvPr id="10" name="Figure pipeline.png" descr="Technical pipeline of the ML method"/>
          <p:cNvPicPr>
            <a:picLocks noChangeAspect="1"/>
          </p:cNvPicPr>
          <p:nvPr/>
        </p:nvPicPr>
        <p:blipFill>
          <a:blip r:embed="rId10"/>
          <a:stretch>
            <a:fillRect/>
          </a:stretch>
        </p:blipFill>
        <p:spPr>
          <a:xfrm>
            <a:off x="408000" y="1939118"/>
            <a:ext cx="11376000" cy="3830234"/>
          </a:xfrm>
          <a:prstGeom prst="rect">
            <a:avLst/>
          </a:prstGeom>
        </p:spPr>
      </p:pic>
      <p:sp>
        <p:nvSpPr>
          <p:cNvPr id="11" name="Pipeline note"/>
          <p:cNvSpPr txBox="1"/>
          <p:nvPr/>
        </p:nvSpPr>
        <p:spPr>
          <a:xfrm>
            <a:off x="408000" y="5969352"/>
            <a:ext cx="11376000" cy="560000"/>
          </a:xfrm>
          <a:prstGeom prst="roundRect">
            <a:avLst>
              <a:gd name="adj" fmla="val 18000"/>
            </a:avLst>
          </a:prstGeom>
          <a:solidFill>
            <a:srgbClr val="E8F0FA"/>
          </a:solidFill>
          <a:ln>
            <a:noFill/>
          </a:ln>
        </p:spPr>
        <p:txBody>
          <a:bodyPr wrap="square" lIns="182880" rIns="182880" tIns="45720" bIns="45720" anchor="ctr">
            <a:normAutofit/>
          </a:bodyPr>
          <a:lstStyle/>
          <a:p>
            <a:r>
              <a:rPr lang="en-US" sz="1300" b="1" dirty="0">
                <a:solidFill>
                  <a:srgbClr val="2A78D6"/>
                </a:solidFill>
                <a:latin typeface="Arial"/>
                <a:cs typeface="Arial"/>
              </a:rPr>
              <a:t>Leakage control  </a:t>
            </a:r>
            <a:r>
              <a:rPr lang="en-US" sz="1300" dirty="0">
                <a:solidFill>
                  <a:srgbClr val="3D4A5C"/>
                </a:solidFill>
                <a:latin typeface="Arial"/>
                <a:cs typeface="Arial"/>
              </a:rPr>
              <a:t xml:space="preserve">Read 1→4, then 5→8. Cleaning rules are fixed before any model is trained, and every row is a different anonymous student, so nothing leaks between training and test folds.</a:t>
            </a:r>
          </a:p>
        </p:txBody>
      </p:sp>
    </p:spTree>
    <p:extLst>
      <p:ext uri="{BB962C8B-B14F-4D97-AF65-F5344CB8AC3E}">
        <p14:creationId xmlns:p14="http://schemas.microsoft.com/office/powerpoint/2010/main" val="3716160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dirty="0">
                <a:solidFill>
                  <a:srgbClr val="2A78D6"/>
                </a:solidFill>
                <a:latin typeface="Helvetica Neue"/>
              </a:rPr>
              <a:t>DATA COLLECTION</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From Raw Responses to Usable Data</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lang="en-US" sz="1000" dirty="0">
                <a:solidFill>
                  <a:srgbClr val="898781"/>
                </a:solidFill>
                <a:latin typeface="Helvetica Neue"/>
              </a:rPr>
              <a:t>8</a:t>
            </a:r>
            <a:endParaRPr sz="1000" b="0" dirty="0">
              <a:solidFill>
                <a:srgbClr val="898781"/>
              </a:solidFill>
              <a:latin typeface="Helvetica Neue"/>
            </a:endParaRPr>
          </a:p>
        </p:txBody>
      </p:sp>
      <p:sp>
        <p:nvSpPr>
          <p:cNvPr id="7" name="Rounded Rectangle 6"/>
          <p:cNvSpPr/>
          <p:nvPr/>
        </p:nvSpPr>
        <p:spPr>
          <a:xfrm>
            <a:off x="548640" y="1371600"/>
            <a:ext cx="2423160" cy="86868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800" b="0">
                <a:solidFill>
                  <a:srgbClr val="0B0B0B"/>
                </a:solidFill>
                <a:latin typeface="Helvetica Neue"/>
              </a:rPr>
              <a:t>1,126 raw responses</a:t>
            </a:r>
          </a:p>
        </p:txBody>
      </p:sp>
      <p:sp>
        <p:nvSpPr>
          <p:cNvPr id="8" name="Right Arrow 7"/>
          <p:cNvSpPr/>
          <p:nvPr/>
        </p:nvSpPr>
        <p:spPr>
          <a:xfrm>
            <a:off x="3026664" y="1650492"/>
            <a:ext cx="347472" cy="310896"/>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3429000" y="1371600"/>
            <a:ext cx="2423160" cy="86868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800" b="0">
                <a:solidFill>
                  <a:srgbClr val="0B0B0B"/>
                </a:solidFill>
                <a:latin typeface="Helvetica Neue"/>
              </a:rPr>
              <a:t>Fix spellings &amp; labels</a:t>
            </a:r>
          </a:p>
        </p:txBody>
      </p:sp>
      <p:sp>
        <p:nvSpPr>
          <p:cNvPr id="10" name="Right Arrow 9"/>
          <p:cNvSpPr/>
          <p:nvPr/>
        </p:nvSpPr>
        <p:spPr>
          <a:xfrm>
            <a:off x="5907024" y="1650492"/>
            <a:ext cx="347472" cy="310896"/>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6309359" y="1371600"/>
            <a:ext cx="2423160" cy="86868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800" b="0">
                <a:solidFill>
                  <a:srgbClr val="0B0B0B"/>
                </a:solidFill>
                <a:latin typeface="Helvetica Neue"/>
              </a:rPr>
              <a:t>Merge the two forms</a:t>
            </a:r>
          </a:p>
        </p:txBody>
      </p:sp>
      <p:sp>
        <p:nvSpPr>
          <p:cNvPr id="12" name="Right Arrow 11"/>
          <p:cNvSpPr/>
          <p:nvPr/>
        </p:nvSpPr>
        <p:spPr>
          <a:xfrm>
            <a:off x="8787384" y="1650492"/>
            <a:ext cx="347472" cy="310896"/>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9189719" y="1371600"/>
            <a:ext cx="2423160" cy="868680"/>
          </a:xfrm>
          <a:prstGeom prst="roundRect">
            <a:avLst>
              <a:gd name="adj" fmla="val 8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800" b="0">
                <a:solidFill>
                  <a:srgbClr val="FFFFFF"/>
                </a:solidFill>
                <a:latin typeface="Helvetica Neue"/>
              </a:rPr>
              <a:t>1,108 clean rows</a:t>
            </a:r>
          </a:p>
        </p:txBody>
      </p:sp>
      <p:sp>
        <p:nvSpPr>
          <p:cNvPr id="16" name="Rounded Rectangle 15"/>
          <p:cNvSpPr/>
          <p:nvPr/>
        </p:nvSpPr>
        <p:spPr>
          <a:xfrm>
            <a:off x="3398520" y="2583180"/>
            <a:ext cx="2240280" cy="5943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300" b="0">
                <a:solidFill>
                  <a:srgbClr val="0B0B0B"/>
                </a:solidFill>
                <a:latin typeface="Helvetica Neue"/>
              </a:rPr>
              <a:t>BRAC / Brac / BRAc</a:t>
            </a:r>
          </a:p>
        </p:txBody>
      </p:sp>
      <p:sp>
        <p:nvSpPr>
          <p:cNvPr id="17" name="Right Arrow 16"/>
          <p:cNvSpPr/>
          <p:nvPr/>
        </p:nvSpPr>
        <p:spPr>
          <a:xfrm>
            <a:off x="5702808" y="2738628"/>
            <a:ext cx="320040" cy="274320"/>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096000" y="2583180"/>
            <a:ext cx="1691640" cy="59436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400" b="1">
                <a:solidFill>
                  <a:srgbClr val="1F3B5C"/>
                </a:solidFill>
                <a:latin typeface="Helvetica Neue"/>
              </a:rPr>
              <a:t>BRAC</a:t>
            </a:r>
          </a:p>
        </p:txBody>
      </p:sp>
      <p:sp>
        <p:nvSpPr>
          <p:cNvPr id="19" name="Rounded Rectangle 18"/>
          <p:cNvSpPr/>
          <p:nvPr/>
        </p:nvSpPr>
        <p:spPr>
          <a:xfrm>
            <a:off x="3398520" y="3314699"/>
            <a:ext cx="2240280" cy="5943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300" b="0">
                <a:solidFill>
                  <a:srgbClr val="0B0B0B"/>
                </a:solidFill>
                <a:latin typeface="Helvetica Neue"/>
              </a:rPr>
              <a:t>90% or more (৯০% বা তার বেশি)</a:t>
            </a:r>
          </a:p>
        </p:txBody>
      </p:sp>
      <p:sp>
        <p:nvSpPr>
          <p:cNvPr id="20" name="Right Arrow 19"/>
          <p:cNvSpPr/>
          <p:nvPr/>
        </p:nvSpPr>
        <p:spPr>
          <a:xfrm>
            <a:off x="5702808" y="3470147"/>
            <a:ext cx="320040" cy="274320"/>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096000" y="3314699"/>
            <a:ext cx="1691640" cy="59436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400" b="1">
                <a:solidFill>
                  <a:srgbClr val="1F3B5C"/>
                </a:solidFill>
                <a:latin typeface="Helvetica Neue"/>
              </a:rPr>
              <a:t>90% or more</a:t>
            </a:r>
          </a:p>
        </p:txBody>
      </p:sp>
      <p:sp>
        <p:nvSpPr>
          <p:cNvPr id="22" name="Rounded Rectangle 21"/>
          <p:cNvSpPr/>
          <p:nvPr/>
        </p:nvSpPr>
        <p:spPr>
          <a:xfrm>
            <a:off x="3398520" y="4046220"/>
            <a:ext cx="2240280" cy="5943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300" b="0">
                <a:solidFill>
                  <a:srgbClr val="0B0B0B"/>
                </a:solidFill>
                <a:latin typeface="Helvetica Neue"/>
              </a:rPr>
              <a:t>110 department spellings</a:t>
            </a:r>
          </a:p>
        </p:txBody>
      </p:sp>
      <p:sp>
        <p:nvSpPr>
          <p:cNvPr id="23" name="Right Arrow 22"/>
          <p:cNvSpPr/>
          <p:nvPr/>
        </p:nvSpPr>
        <p:spPr>
          <a:xfrm>
            <a:off x="5702808" y="4201668"/>
            <a:ext cx="320040" cy="274320"/>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6096000" y="4046220"/>
            <a:ext cx="1691640" cy="59436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400" b="1">
                <a:solidFill>
                  <a:srgbClr val="1F3B5C"/>
                </a:solidFill>
                <a:latin typeface="Helvetica Neue"/>
              </a:rPr>
              <a:t>24 departments</a:t>
            </a:r>
          </a:p>
        </p:txBody>
      </p:sp>
      <p:sp>
        <p:nvSpPr>
          <p:cNvPr id="25" name="Rounded Rectangle 24"/>
          <p:cNvSpPr/>
          <p:nvPr/>
        </p:nvSpPr>
        <p:spPr>
          <a:xfrm>
            <a:off x="3398520" y="4777740"/>
            <a:ext cx="2240280" cy="5943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300" b="0">
                <a:solidFill>
                  <a:srgbClr val="0B0B0B"/>
                </a:solidFill>
                <a:latin typeface="Helvetica Neue"/>
              </a:rPr>
              <a:t>Two GPA formats + typed numbers</a:t>
            </a:r>
          </a:p>
        </p:txBody>
      </p:sp>
      <p:sp>
        <p:nvSpPr>
          <p:cNvPr id="26" name="Right Arrow 25"/>
          <p:cNvSpPr/>
          <p:nvPr/>
        </p:nvSpPr>
        <p:spPr>
          <a:xfrm>
            <a:off x="5702808" y="4933188"/>
            <a:ext cx="320040" cy="274320"/>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6096000" y="4777740"/>
            <a:ext cx="1691640" cy="59436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400" b="1">
                <a:solidFill>
                  <a:srgbClr val="1F3B5C"/>
                </a:solidFill>
                <a:latin typeface="Helvetica Neue"/>
              </a:rPr>
              <a:t>C0 – C3 groups</a:t>
            </a:r>
          </a:p>
        </p:txBody>
      </p:sp>
      <p:sp>
        <p:nvSpPr>
          <p:cNvPr id="28" name="Rounded Rectangle 27"/>
          <p:cNvSpPr/>
          <p:nvPr/>
        </p:nvSpPr>
        <p:spPr>
          <a:xfrm>
            <a:off x="3398520" y="5509260"/>
            <a:ext cx="2240280" cy="5943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300" b="0">
                <a:solidFill>
                  <a:srgbClr val="0B0B0B"/>
                </a:solidFill>
                <a:latin typeface="Helvetica Neue"/>
              </a:rPr>
              <a:t>18 rows with no CGPA</a:t>
            </a:r>
          </a:p>
        </p:txBody>
      </p:sp>
      <p:sp>
        <p:nvSpPr>
          <p:cNvPr id="29" name="Right Arrow 28"/>
          <p:cNvSpPr/>
          <p:nvPr/>
        </p:nvSpPr>
        <p:spPr>
          <a:xfrm>
            <a:off x="5702808" y="5664708"/>
            <a:ext cx="320040" cy="274320"/>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6096000" y="5509260"/>
            <a:ext cx="1691640" cy="59436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400" b="1">
                <a:solidFill>
                  <a:srgbClr val="1F3B5C"/>
                </a:solidFill>
                <a:latin typeface="Helvetica Neue"/>
              </a:rPr>
              <a:t>removed</a:t>
            </a:r>
          </a:p>
        </p:txBody>
      </p:sp>
      <p:sp>
        <p:nvSpPr>
          <p:cNvPr id="31" name="SimpleLightSectionLabel">
            <a:extLst>
              <a:ext uri="{FF2B5EF4-FFF2-40B4-BE49-F238E27FC236}">
                <a16:creationId xmlns:a16="http://schemas.microsoft.com/office/drawing/2014/main" id="{16D00B4D-C329-4096-AC1E-2347D7797641}"/>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DATASET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DATA QUALITY CHECK</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Do a Student's SGPA and CGPA Agree?</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endParaRPr/>
          </a:p>
        </p:txBody>
      </p:sp>
      <p:pic>
        <p:nvPicPr>
          <p:cNvPr id="7" name="Picture 6" descr="rc_cgpa.png"/>
          <p:cNvPicPr>
            <a:picLocks noChangeAspect="1"/>
          </p:cNvPicPr>
          <p:nvPr/>
        </p:nvPicPr>
        <p:blipFill>
          <a:blip r:embed="rId3"/>
          <a:stretch>
            <a:fillRect/>
          </a:stretch>
        </p:blipFill>
        <p:spPr>
          <a:xfrm>
            <a:off x="548640" y="1419467"/>
            <a:ext cx="6675120" cy="4659144"/>
          </a:xfrm>
          <a:prstGeom prst="rect">
            <a:avLst/>
          </a:prstGeom>
        </p:spPr>
      </p:pic>
      <p:sp>
        <p:nvSpPr>
          <p:cNvPr id="8" name="Rounded Rectangle 7"/>
          <p:cNvSpPr/>
          <p:nvPr/>
        </p:nvSpPr>
        <p:spPr>
          <a:xfrm>
            <a:off x="7498079" y="3158870"/>
            <a:ext cx="2011680" cy="132588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35240" y="3268598"/>
            <a:ext cx="1737360" cy="729234"/>
          </a:xfrm>
          <a:prstGeom prst="rect">
            <a:avLst/>
          </a:prstGeom>
          <a:noFill/>
        </p:spPr>
        <p:txBody>
          <a:bodyPr wrap="square" lIns="27432" tIns="27432" rIns="27432" bIns="27432" anchor="ctr">
            <a:noAutofit/>
          </a:bodyPr>
          <a:lstStyle/>
          <a:p>
            <a:pPr algn="l">
              <a:lnSpc>
                <a:spcPct val="105000"/>
              </a:lnSpc>
            </a:pPr>
            <a:r>
              <a:rPr sz="3000" b="1">
                <a:solidFill>
                  <a:srgbClr val="2A78D6"/>
                </a:solidFill>
                <a:latin typeface="Helvetica Neue"/>
              </a:rPr>
              <a:t>78%</a:t>
            </a:r>
          </a:p>
        </p:txBody>
      </p:sp>
      <p:sp>
        <p:nvSpPr>
          <p:cNvPr id="10" name="TextBox 9"/>
          <p:cNvSpPr txBox="1"/>
          <p:nvPr/>
        </p:nvSpPr>
        <p:spPr>
          <a:xfrm>
            <a:off x="7635240" y="3927880"/>
            <a:ext cx="1737360" cy="530352"/>
          </a:xfrm>
          <a:prstGeom prst="rect">
            <a:avLst/>
          </a:prstGeom>
          <a:noFill/>
        </p:spPr>
        <p:txBody>
          <a:bodyPr wrap="square" lIns="27432" tIns="27432" rIns="27432" bIns="27432" anchor="t">
            <a:noAutofit/>
          </a:bodyPr>
          <a:lstStyle/>
          <a:p>
            <a:pPr algn="l">
              <a:lnSpc>
                <a:spcPct val="105000"/>
              </a:lnSpc>
            </a:pPr>
            <a:r>
              <a:rPr sz="1300" b="0">
                <a:solidFill>
                  <a:srgbClr val="52514E"/>
                </a:solidFill>
                <a:latin typeface="Helvetica Neue"/>
              </a:rPr>
              <a:t>860 within 1 band</a:t>
            </a:r>
          </a:p>
        </p:txBody>
      </p:sp>
      <p:sp>
        <p:nvSpPr>
          <p:cNvPr id="11" name="Rounded Rectangle 10"/>
          <p:cNvSpPr/>
          <p:nvPr/>
        </p:nvSpPr>
        <p:spPr>
          <a:xfrm>
            <a:off x="9768840" y="3132352"/>
            <a:ext cx="2011680" cy="132588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906000" y="3242080"/>
            <a:ext cx="1737360" cy="729234"/>
          </a:xfrm>
          <a:prstGeom prst="rect">
            <a:avLst/>
          </a:prstGeom>
          <a:noFill/>
        </p:spPr>
        <p:txBody>
          <a:bodyPr wrap="square" lIns="27432" tIns="27432" rIns="27432" bIns="27432" anchor="ctr">
            <a:noAutofit/>
          </a:bodyPr>
          <a:lstStyle/>
          <a:p>
            <a:pPr algn="l">
              <a:lnSpc>
                <a:spcPct val="105000"/>
              </a:lnSpc>
            </a:pPr>
            <a:r>
              <a:rPr sz="3000" b="1" dirty="0">
                <a:solidFill>
                  <a:srgbClr val="2A78D6"/>
                </a:solidFill>
                <a:latin typeface="Helvetica Neue"/>
              </a:rPr>
              <a:t>22%</a:t>
            </a:r>
          </a:p>
        </p:txBody>
      </p:sp>
      <p:sp>
        <p:nvSpPr>
          <p:cNvPr id="13" name="TextBox 12"/>
          <p:cNvSpPr txBox="1"/>
          <p:nvPr/>
        </p:nvSpPr>
        <p:spPr>
          <a:xfrm>
            <a:off x="9906000" y="3901362"/>
            <a:ext cx="1737360" cy="530352"/>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242 are 2–3 apart</a:t>
            </a:r>
          </a:p>
        </p:txBody>
      </p:sp>
      <p:sp>
        <p:nvSpPr>
          <p:cNvPr id="16" name="Rounded Rectangle 15"/>
          <p:cNvSpPr/>
          <p:nvPr/>
        </p:nvSpPr>
        <p:spPr>
          <a:xfrm>
            <a:off x="7498079" y="5623560"/>
            <a:ext cx="4114800" cy="59436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500" b="1">
                <a:solidFill>
                  <a:srgbClr val="1F3B5C"/>
                </a:solidFill>
                <a:latin typeface="Helvetica Neue"/>
              </a:rPr>
              <a:t>CGPA averages many semesters, so it moves slowly</a:t>
            </a:r>
          </a:p>
        </p:txBody>
      </p:sp>
      <p:sp>
        <p:nvSpPr>
          <p:cNvPr id="17" name="SimpleLightSectionLabel">
            <a:extLst>
              <a:ext uri="{FF2B5EF4-FFF2-40B4-BE49-F238E27FC236}">
                <a16:creationId xmlns:a16="http://schemas.microsoft.com/office/drawing/2014/main" id="{976BFE16-9B2A-457B-A5AC-DB9A73DAFDFE}"/>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DATA CHECK</a:t>
            </a:r>
          </a:p>
        </p:txBody>
      </p:sp>
      <p:sp>
        <p:nvSpPr>
          <p:cNvPr id="14" name="TextBox 13">
            <a:extLst>
              <a:ext uri="{FF2B5EF4-FFF2-40B4-BE49-F238E27FC236}">
                <a16:creationId xmlns:a16="http://schemas.microsoft.com/office/drawing/2014/main" id="{8DDFF79E-0970-53EC-FDDB-FD719A300E24}"/>
              </a:ext>
            </a:extLst>
          </p:cNvPr>
          <p:cNvSpPr txBox="1"/>
          <p:nvPr/>
        </p:nvSpPr>
        <p:spPr>
          <a:xfrm>
            <a:off x="10878117" y="6443277"/>
            <a:ext cx="731520" cy="274320"/>
          </a:xfrm>
          <a:prstGeom prst="rect">
            <a:avLst/>
          </a:prstGeom>
          <a:noFill/>
        </p:spPr>
        <p:txBody>
          <a:bodyPr wrap="square" lIns="27432" tIns="27432" rIns="27432" bIns="27432" anchor="t">
            <a:noAutofit/>
          </a:bodyPr>
          <a:lstStyle/>
          <a:p>
            <a:pPr algn="r">
              <a:lnSpc>
                <a:spcPct val="105000"/>
              </a:lnSpc>
            </a:pPr>
            <a:r>
              <a:rPr lang="en-US" sz="1000" b="0" dirty="0">
                <a:solidFill>
                  <a:srgbClr val="898781"/>
                </a:solidFill>
                <a:latin typeface="Helvetica Neue"/>
              </a:rPr>
              <a:t>9</a:t>
            </a:r>
            <a:endParaRPr sz="1000" b="0" dirty="0">
              <a:solidFill>
                <a:srgbClr val="898781"/>
              </a:solidFill>
              <a:latin typeface="Helvetica Neue"/>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DATA QUALITY CHECK</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One Semester Moves CGPA Only a Little</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endParaRPr/>
          </a:p>
        </p:txBody>
      </p:sp>
      <p:sp>
        <p:nvSpPr>
          <p:cNvPr id="7" name="Rounded Rectangle 6"/>
          <p:cNvSpPr/>
          <p:nvPr/>
        </p:nvSpPr>
        <p:spPr>
          <a:xfrm>
            <a:off x="548640" y="1463040"/>
            <a:ext cx="5440680" cy="40233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48640" y="1463040"/>
            <a:ext cx="5440680" cy="10972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68680" y="1737360"/>
            <a:ext cx="4846320" cy="548640"/>
          </a:xfrm>
          <a:prstGeom prst="rect">
            <a:avLst/>
          </a:prstGeom>
          <a:noFill/>
        </p:spPr>
        <p:txBody>
          <a:bodyPr wrap="square" lIns="27432" tIns="27432" rIns="27432" bIns="27432" anchor="t">
            <a:noAutofit/>
          </a:bodyPr>
          <a:lstStyle/>
          <a:p>
            <a:pPr algn="l">
              <a:lnSpc>
                <a:spcPct val="105000"/>
              </a:lnSpc>
            </a:pPr>
            <a:r>
              <a:rPr sz="2400" b="1">
                <a:solidFill>
                  <a:srgbClr val="2A78D6"/>
                </a:solidFill>
                <a:latin typeface="Helvetica Neue"/>
              </a:rPr>
              <a:t>Example: a bad semester</a:t>
            </a:r>
          </a:p>
        </p:txBody>
      </p:sp>
      <p:sp>
        <p:nvSpPr>
          <p:cNvPr id="10" name="TextBox 9"/>
          <p:cNvSpPr txBox="1"/>
          <p:nvPr/>
        </p:nvSpPr>
        <p:spPr>
          <a:xfrm>
            <a:off x="868680" y="2468880"/>
            <a:ext cx="4846320" cy="2926080"/>
          </a:xfrm>
          <a:prstGeom prst="rect">
            <a:avLst/>
          </a:prstGeom>
          <a:noFill/>
        </p:spPr>
        <p:txBody>
          <a:bodyPr wrap="square" lIns="27432" tIns="27432" rIns="27432" bIns="27432" anchor="t">
            <a:noAutofit/>
          </a:bodyPr>
          <a:lstStyle/>
          <a:p>
            <a:pPr algn="l">
              <a:lnSpc>
                <a:spcPct val="105000"/>
              </a:lnSpc>
              <a:spcAft>
                <a:spcPts val="800"/>
              </a:spcAft>
            </a:pPr>
            <a:r>
              <a:rPr lang="en-US" sz="1900" b="0">
                <a:solidFill>
                  <a:srgbClr val="0B0B0B"/>
                </a:solidFill>
                <a:latin typeface="Helvetica Neue"/>
              </a:rPr>
              <a:t>• CGPA 3.80 after 5 semesters</a:t>
            </a:r>
          </a:p>
          <a:p>
            <a:pPr algn="l">
              <a:lnSpc>
                <a:spcPct val="105000"/>
              </a:lnSpc>
              <a:spcAft>
                <a:spcPts val="800"/>
              </a:spcAft>
            </a:pPr>
            <a:r>
              <a:rPr lang="en-US" sz="1900" b="0">
                <a:solidFill>
                  <a:srgbClr val="0B0B0B"/>
                </a:solidFill>
                <a:latin typeface="Helvetica Neue"/>
              </a:rPr>
              <a:t>• 6th semester SGPA: 2.80</a:t>
            </a:r>
          </a:p>
          <a:p>
            <a:pPr algn="l">
              <a:lnSpc>
                <a:spcPct val="105000"/>
              </a:lnSpc>
              <a:spcAft>
                <a:spcPts val="800"/>
              </a:spcAft>
            </a:pPr>
            <a:r>
              <a:rPr lang="en-US" sz="1900" b="0">
                <a:solidFill>
                  <a:srgbClr val="0B0B0B"/>
                </a:solidFill>
                <a:latin typeface="Helvetica Neue"/>
              </a:rPr>
              <a:t>• New CGPA: 3.63</a:t>
            </a:r>
          </a:p>
          <a:p>
            <a:pPr algn="l">
              <a:lnSpc>
                <a:spcPct val="105000"/>
              </a:lnSpc>
              <a:spcAft>
                <a:spcPts val="800"/>
              </a:spcAft>
            </a:pPr>
            <a:r>
              <a:rPr lang="en-US" sz="1900" b="0">
                <a:solidFill>
                  <a:srgbClr val="0B0B0B"/>
                </a:solidFill>
                <a:latin typeface="Helvetica Neue"/>
              </a:rPr>
              <a:t>• Group moves only C3 → C2</a:t>
            </a:r>
            <a:endParaRPr sz="1900" b="0">
              <a:solidFill>
                <a:srgbClr val="0B0B0B"/>
              </a:solidFill>
              <a:latin typeface="Helvetica Neue"/>
            </a:endParaRPr>
          </a:p>
        </p:txBody>
      </p:sp>
      <p:sp>
        <p:nvSpPr>
          <p:cNvPr id="11" name="Rounded Rectangle 10"/>
          <p:cNvSpPr/>
          <p:nvPr/>
        </p:nvSpPr>
        <p:spPr>
          <a:xfrm>
            <a:off x="6172200" y="1463040"/>
            <a:ext cx="5440680" cy="40233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172200" y="1463040"/>
            <a:ext cx="5440680" cy="109728"/>
          </a:xfrm>
          <a:prstGeom prst="rect">
            <a:avLst/>
          </a:prstGeom>
          <a:solidFill>
            <a:srgbClr val="1F3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92240" y="1737360"/>
            <a:ext cx="4846320" cy="548640"/>
          </a:xfrm>
          <a:prstGeom prst="rect">
            <a:avLst/>
          </a:prstGeom>
          <a:noFill/>
        </p:spPr>
        <p:txBody>
          <a:bodyPr wrap="square" lIns="27432" tIns="27432" rIns="27432" bIns="27432" anchor="t">
            <a:noAutofit/>
          </a:bodyPr>
          <a:lstStyle/>
          <a:p>
            <a:pPr algn="l">
              <a:lnSpc>
                <a:spcPct val="105000"/>
              </a:lnSpc>
            </a:pPr>
            <a:r>
              <a:rPr sz="2400" b="1">
                <a:solidFill>
                  <a:srgbClr val="1F3B5C"/>
                </a:solidFill>
                <a:latin typeface="Helvetica Neue"/>
              </a:rPr>
              <a:t>Example: a great semester</a:t>
            </a:r>
          </a:p>
        </p:txBody>
      </p:sp>
      <p:sp>
        <p:nvSpPr>
          <p:cNvPr id="14" name="TextBox 13"/>
          <p:cNvSpPr txBox="1"/>
          <p:nvPr/>
        </p:nvSpPr>
        <p:spPr>
          <a:xfrm>
            <a:off x="6492240" y="2468880"/>
            <a:ext cx="4846320" cy="2926080"/>
          </a:xfrm>
          <a:prstGeom prst="rect">
            <a:avLst/>
          </a:prstGeom>
          <a:noFill/>
        </p:spPr>
        <p:txBody>
          <a:bodyPr wrap="square" lIns="27432" tIns="27432" rIns="27432" bIns="27432" anchor="t">
            <a:noAutofit/>
          </a:bodyPr>
          <a:lstStyle/>
          <a:p>
            <a:pPr algn="l">
              <a:lnSpc>
                <a:spcPct val="105000"/>
              </a:lnSpc>
              <a:spcAft>
                <a:spcPts val="800"/>
              </a:spcAft>
            </a:pPr>
            <a:r>
              <a:rPr lang="en-US" sz="1900" b="0">
                <a:solidFill>
                  <a:srgbClr val="0B0B0B"/>
                </a:solidFill>
                <a:latin typeface="Helvetica Neue"/>
              </a:rPr>
              <a:t>• CGPA 3.00 after 5 semesters</a:t>
            </a:r>
          </a:p>
          <a:p>
            <a:pPr algn="l">
              <a:lnSpc>
                <a:spcPct val="105000"/>
              </a:lnSpc>
              <a:spcAft>
                <a:spcPts val="800"/>
              </a:spcAft>
            </a:pPr>
            <a:r>
              <a:rPr lang="en-US" sz="1900" b="0">
                <a:solidFill>
                  <a:srgbClr val="0B0B0B"/>
                </a:solidFill>
                <a:latin typeface="Helvetica Neue"/>
              </a:rPr>
              <a:t>• 6th semester SGPA: 4.00</a:t>
            </a:r>
          </a:p>
          <a:p>
            <a:pPr algn="l">
              <a:lnSpc>
                <a:spcPct val="105000"/>
              </a:lnSpc>
              <a:spcAft>
                <a:spcPts val="800"/>
              </a:spcAft>
            </a:pPr>
            <a:r>
              <a:rPr lang="en-US" sz="1900" b="0">
                <a:solidFill>
                  <a:srgbClr val="0B0B0B"/>
                </a:solidFill>
                <a:latin typeface="Helvetica Neue"/>
              </a:rPr>
              <a:t>• New CGPA: 3.17</a:t>
            </a:r>
          </a:p>
          <a:p>
            <a:pPr algn="l">
              <a:lnSpc>
                <a:spcPct val="105000"/>
              </a:lnSpc>
              <a:spcAft>
                <a:spcPts val="800"/>
              </a:spcAft>
            </a:pPr>
            <a:r>
              <a:rPr lang="en-US" sz="1900" b="0">
                <a:solidFill>
                  <a:srgbClr val="0B0B0B"/>
                </a:solidFill>
                <a:latin typeface="Helvetica Neue"/>
              </a:rPr>
              <a:t>• Group stays C0</a:t>
            </a:r>
            <a:endParaRPr sz="1900" b="0">
              <a:solidFill>
                <a:srgbClr val="0B0B0B"/>
              </a:solidFill>
              <a:latin typeface="Helvetica Neue"/>
            </a:endParaRPr>
          </a:p>
        </p:txBody>
      </p:sp>
      <p:sp>
        <p:nvSpPr>
          <p:cNvPr id="15" name="Rounded Rectangle 14"/>
          <p:cNvSpPr/>
          <p:nvPr/>
        </p:nvSpPr>
        <p:spPr>
          <a:xfrm>
            <a:off x="548640" y="5669280"/>
            <a:ext cx="11064240" cy="54864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600" b="1">
                <a:solidFill>
                  <a:srgbClr val="1F3B5C"/>
                </a:solidFill>
                <a:latin typeface="Helvetica Neue"/>
              </a:rPr>
              <a:t>Big gaps can happen for a few students. When many answers in one group show them, we check that group.</a:t>
            </a:r>
          </a:p>
        </p:txBody>
      </p:sp>
      <p:sp>
        <p:nvSpPr>
          <p:cNvPr id="16" name="SimpleLightSectionLabel">
            <a:extLst>
              <a:ext uri="{FF2B5EF4-FFF2-40B4-BE49-F238E27FC236}">
                <a16:creationId xmlns:a16="http://schemas.microsoft.com/office/drawing/2014/main" id="{537FEEF8-B5B9-415B-9692-65F36147D1CE}"/>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DATA CHECK</a:t>
            </a:r>
          </a:p>
        </p:txBody>
      </p:sp>
      <p:sp>
        <p:nvSpPr>
          <p:cNvPr id="19" name="TextBox 18">
            <a:extLst>
              <a:ext uri="{FF2B5EF4-FFF2-40B4-BE49-F238E27FC236}">
                <a16:creationId xmlns:a16="http://schemas.microsoft.com/office/drawing/2014/main" id="{B356F17B-5B6B-8641-0BEB-25901F02ED3B}"/>
              </a:ext>
            </a:extLst>
          </p:cNvPr>
          <p:cNvSpPr txBox="1"/>
          <p:nvPr/>
        </p:nvSpPr>
        <p:spPr>
          <a:xfrm>
            <a:off x="10878117" y="6443277"/>
            <a:ext cx="731520" cy="274320"/>
          </a:xfrm>
          <a:prstGeom prst="rect">
            <a:avLst/>
          </a:prstGeom>
          <a:noFill/>
        </p:spPr>
        <p:txBody>
          <a:bodyPr wrap="square" lIns="27432" tIns="27432" rIns="27432" bIns="27432" anchor="t">
            <a:noAutofit/>
          </a:bodyPr>
          <a:lstStyle/>
          <a:p>
            <a:pPr algn="r">
              <a:lnSpc>
                <a:spcPct val="105000"/>
              </a:lnSpc>
            </a:pPr>
            <a:r>
              <a:rPr lang="en-US" sz="1000" b="0" dirty="0">
                <a:solidFill>
                  <a:srgbClr val="898781"/>
                </a:solidFill>
                <a:latin typeface="Helvetica Neue"/>
              </a:rPr>
              <a:t>10</a:t>
            </a:r>
            <a:endParaRPr sz="1000" b="0" dirty="0">
              <a:solidFill>
                <a:srgbClr val="898781"/>
              </a:solidFill>
              <a:latin typeface="Helvetica Neue"/>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dirty="0">
                <a:solidFill>
                  <a:srgbClr val="2A78D6"/>
                </a:solidFill>
                <a:latin typeface="Helvetica Neue"/>
              </a:rPr>
              <a:t>DATA QUALITY CHECK</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What We Kept and What We Removed</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endParaRPr/>
          </a:p>
        </p:txBody>
      </p:sp>
      <p:sp>
        <p:nvSpPr>
          <p:cNvPr id="7" name="Rounded Rectangle 6"/>
          <p:cNvSpPr/>
          <p:nvPr/>
        </p:nvSpPr>
        <p:spPr>
          <a:xfrm>
            <a:off x="548640" y="1371600"/>
            <a:ext cx="2423160" cy="86868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800" b="0">
                <a:solidFill>
                  <a:srgbClr val="0B0B0B"/>
                </a:solidFill>
                <a:latin typeface="Helvetica Neue"/>
              </a:rPr>
              <a:t>1,108 clean rows</a:t>
            </a:r>
          </a:p>
        </p:txBody>
      </p:sp>
      <p:sp>
        <p:nvSpPr>
          <p:cNvPr id="8" name="Right Arrow 7"/>
          <p:cNvSpPr/>
          <p:nvPr/>
        </p:nvSpPr>
        <p:spPr>
          <a:xfrm>
            <a:off x="3026664" y="1650492"/>
            <a:ext cx="347472" cy="310896"/>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3429000" y="1371600"/>
            <a:ext cx="2423160" cy="86868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800" b="0">
                <a:solidFill>
                  <a:srgbClr val="0B0B0B"/>
                </a:solidFill>
                <a:latin typeface="Helvetica Neue"/>
              </a:rPr>
              <a:t>Keep rows with a real SGPA</a:t>
            </a:r>
          </a:p>
        </p:txBody>
      </p:sp>
      <p:sp>
        <p:nvSpPr>
          <p:cNvPr id="10" name="Right Arrow 9"/>
          <p:cNvSpPr/>
          <p:nvPr/>
        </p:nvSpPr>
        <p:spPr>
          <a:xfrm>
            <a:off x="5907024" y="1650492"/>
            <a:ext cx="347472" cy="310896"/>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6309359" y="1371600"/>
            <a:ext cx="2423160" cy="86868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800" b="0">
                <a:solidFill>
                  <a:srgbClr val="0B0B0B"/>
                </a:solidFill>
                <a:latin typeface="Helvetica Neue"/>
              </a:rPr>
              <a:t>Check SGPA vs CGPA</a:t>
            </a:r>
          </a:p>
        </p:txBody>
      </p:sp>
      <p:sp>
        <p:nvSpPr>
          <p:cNvPr id="12" name="Right Arrow 11"/>
          <p:cNvSpPr/>
          <p:nvPr/>
        </p:nvSpPr>
        <p:spPr>
          <a:xfrm>
            <a:off x="8787384" y="1650492"/>
            <a:ext cx="347472" cy="310896"/>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9189719" y="1371600"/>
            <a:ext cx="2423160" cy="868680"/>
          </a:xfrm>
          <a:prstGeom prst="roundRect">
            <a:avLst>
              <a:gd name="adj" fmla="val 8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800" b="0">
                <a:solidFill>
                  <a:srgbClr val="FFFFFF"/>
                </a:solidFill>
                <a:latin typeface="Helvetica Neue"/>
              </a:rPr>
              <a:t>920 final rows</a:t>
            </a:r>
          </a:p>
        </p:txBody>
      </p:sp>
      <p:sp>
        <p:nvSpPr>
          <p:cNvPr id="16" name="Rounded Rectangle 15"/>
          <p:cNvSpPr/>
          <p:nvPr/>
        </p:nvSpPr>
        <p:spPr>
          <a:xfrm>
            <a:off x="3398520" y="2583180"/>
            <a:ext cx="2240280" cy="5943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300" b="0">
                <a:solidFill>
                  <a:srgbClr val="0B0B0B"/>
                </a:solidFill>
                <a:latin typeface="Helvetica Neue"/>
              </a:rPr>
              <a:t>6 rows with no real SGPA</a:t>
            </a:r>
          </a:p>
        </p:txBody>
      </p:sp>
      <p:sp>
        <p:nvSpPr>
          <p:cNvPr id="17" name="Right Arrow 16"/>
          <p:cNvSpPr/>
          <p:nvPr/>
        </p:nvSpPr>
        <p:spPr>
          <a:xfrm>
            <a:off x="5702808" y="2738628"/>
            <a:ext cx="320040" cy="274320"/>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096000" y="2583180"/>
            <a:ext cx="1691640" cy="59436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400" b="1">
                <a:solidFill>
                  <a:srgbClr val="1F3B5C"/>
                </a:solidFill>
                <a:latin typeface="Helvetica Neue"/>
              </a:rPr>
              <a:t>removed</a:t>
            </a:r>
          </a:p>
        </p:txBody>
      </p:sp>
      <p:sp>
        <p:nvSpPr>
          <p:cNvPr id="19" name="Rounded Rectangle 18"/>
          <p:cNvSpPr/>
          <p:nvPr/>
        </p:nvSpPr>
        <p:spPr>
          <a:xfrm>
            <a:off x="3398520" y="3314699"/>
            <a:ext cx="2240280" cy="5943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300" b="0">
                <a:solidFill>
                  <a:srgbClr val="0B0B0B"/>
                </a:solidFill>
                <a:latin typeface="Helvetica Neue"/>
              </a:rPr>
              <a:t>455 answers from 6–7 Aug</a:t>
            </a:r>
          </a:p>
        </p:txBody>
      </p:sp>
      <p:sp>
        <p:nvSpPr>
          <p:cNvPr id="20" name="Right Arrow 19"/>
          <p:cNvSpPr/>
          <p:nvPr/>
        </p:nvSpPr>
        <p:spPr>
          <a:xfrm>
            <a:off x="5702808" y="3470147"/>
            <a:ext cx="320040" cy="274320"/>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096000" y="3314699"/>
            <a:ext cx="1691640" cy="59436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400" b="1">
                <a:solidFill>
                  <a:srgbClr val="1F3B5C"/>
                </a:solidFill>
                <a:latin typeface="Helvetica Neue"/>
              </a:rPr>
              <a:t>checked</a:t>
            </a:r>
          </a:p>
        </p:txBody>
      </p:sp>
      <p:sp>
        <p:nvSpPr>
          <p:cNvPr id="22" name="Rounded Rectangle 21"/>
          <p:cNvSpPr/>
          <p:nvPr/>
        </p:nvSpPr>
        <p:spPr>
          <a:xfrm>
            <a:off x="3398520" y="4046220"/>
            <a:ext cx="2240280" cy="5943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300" b="0">
                <a:solidFill>
                  <a:srgbClr val="0B0B0B"/>
                </a:solidFill>
                <a:latin typeface="Helvetica Neue"/>
              </a:rPr>
              <a:t>273 with a gap of 0–1 band</a:t>
            </a:r>
          </a:p>
        </p:txBody>
      </p:sp>
      <p:sp>
        <p:nvSpPr>
          <p:cNvPr id="23" name="Right Arrow 22"/>
          <p:cNvSpPr/>
          <p:nvPr/>
        </p:nvSpPr>
        <p:spPr>
          <a:xfrm>
            <a:off x="5702808" y="4201668"/>
            <a:ext cx="320040" cy="274320"/>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6096000" y="4046220"/>
            <a:ext cx="1691640" cy="59436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400" b="1">
                <a:solidFill>
                  <a:srgbClr val="1F3B5C"/>
                </a:solidFill>
                <a:latin typeface="Helvetica Neue"/>
              </a:rPr>
              <a:t>kept</a:t>
            </a:r>
          </a:p>
        </p:txBody>
      </p:sp>
      <p:sp>
        <p:nvSpPr>
          <p:cNvPr id="25" name="Rounded Rectangle 24"/>
          <p:cNvSpPr/>
          <p:nvPr/>
        </p:nvSpPr>
        <p:spPr>
          <a:xfrm>
            <a:off x="3398520" y="4777740"/>
            <a:ext cx="2240280" cy="5943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300" b="0">
                <a:solidFill>
                  <a:srgbClr val="0B0B0B"/>
                </a:solidFill>
                <a:latin typeface="Helvetica Neue"/>
              </a:rPr>
              <a:t>182 with a gap of 2–3 bands</a:t>
            </a:r>
          </a:p>
        </p:txBody>
      </p:sp>
      <p:sp>
        <p:nvSpPr>
          <p:cNvPr id="26" name="Right Arrow 25"/>
          <p:cNvSpPr/>
          <p:nvPr/>
        </p:nvSpPr>
        <p:spPr>
          <a:xfrm>
            <a:off x="5702808" y="4933188"/>
            <a:ext cx="320040" cy="274320"/>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6096000" y="4777740"/>
            <a:ext cx="1691640" cy="59436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400" b="1">
                <a:solidFill>
                  <a:srgbClr val="1F3B5C"/>
                </a:solidFill>
                <a:latin typeface="Helvetica Neue"/>
              </a:rPr>
              <a:t>removed</a:t>
            </a:r>
          </a:p>
        </p:txBody>
      </p:sp>
      <p:sp>
        <p:nvSpPr>
          <p:cNvPr id="28" name="Rounded Rectangle 27"/>
          <p:cNvSpPr/>
          <p:nvPr/>
        </p:nvSpPr>
        <p:spPr>
          <a:xfrm>
            <a:off x="3398520" y="5509260"/>
            <a:ext cx="2240280" cy="5943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300" b="0">
                <a:solidFill>
                  <a:srgbClr val="0B0B0B"/>
                </a:solidFill>
                <a:latin typeface="Helvetica Neue"/>
              </a:rPr>
              <a:t>Result satisfaction question</a:t>
            </a:r>
          </a:p>
        </p:txBody>
      </p:sp>
      <p:sp>
        <p:nvSpPr>
          <p:cNvPr id="29" name="Right Arrow 28"/>
          <p:cNvSpPr/>
          <p:nvPr/>
        </p:nvSpPr>
        <p:spPr>
          <a:xfrm>
            <a:off x="5702808" y="5664708"/>
            <a:ext cx="320040" cy="274320"/>
          </a:xfrm>
          <a:prstGeom prst="rightArrow">
            <a:avLst/>
          </a:prstGeom>
          <a:solidFill>
            <a:srgbClr val="B8B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6096000" y="5509260"/>
            <a:ext cx="1691640" cy="59436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400" b="1">
                <a:solidFill>
                  <a:srgbClr val="1F3B5C"/>
                </a:solidFill>
                <a:latin typeface="Helvetica Neue"/>
              </a:rPr>
              <a:t>not used (subjective)</a:t>
            </a:r>
          </a:p>
        </p:txBody>
      </p:sp>
      <p:sp>
        <p:nvSpPr>
          <p:cNvPr id="31" name="SimpleLightSectionLabel">
            <a:extLst>
              <a:ext uri="{FF2B5EF4-FFF2-40B4-BE49-F238E27FC236}">
                <a16:creationId xmlns:a16="http://schemas.microsoft.com/office/drawing/2014/main" id="{16D00B4D-C329-4096-AC1E-2347D7797641}"/>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DATA CHECK</a:t>
            </a:r>
          </a:p>
        </p:txBody>
      </p:sp>
      <p:sp>
        <p:nvSpPr>
          <p:cNvPr id="14" name="TextBox 13">
            <a:extLst>
              <a:ext uri="{FF2B5EF4-FFF2-40B4-BE49-F238E27FC236}">
                <a16:creationId xmlns:a16="http://schemas.microsoft.com/office/drawing/2014/main" id="{F4995FBA-158B-07B5-51E0-2047A4287E6E}"/>
              </a:ext>
            </a:extLst>
          </p:cNvPr>
          <p:cNvSpPr txBox="1"/>
          <p:nvPr/>
        </p:nvSpPr>
        <p:spPr>
          <a:xfrm>
            <a:off x="10878117" y="6443277"/>
            <a:ext cx="731520" cy="274320"/>
          </a:xfrm>
          <a:prstGeom prst="rect">
            <a:avLst/>
          </a:prstGeom>
          <a:noFill/>
        </p:spPr>
        <p:txBody>
          <a:bodyPr wrap="square" lIns="27432" tIns="27432" rIns="27432" bIns="27432" anchor="t">
            <a:noAutofit/>
          </a:bodyPr>
          <a:lstStyle/>
          <a:p>
            <a:pPr algn="r">
              <a:lnSpc>
                <a:spcPct val="105000"/>
              </a:lnSpc>
            </a:pPr>
            <a:r>
              <a:rPr lang="en-US" sz="1000" dirty="0">
                <a:solidFill>
                  <a:srgbClr val="898781"/>
                </a:solidFill>
                <a:latin typeface="Helvetica Neue"/>
              </a:rPr>
              <a:t>11</a:t>
            </a:r>
            <a:endParaRPr sz="1000" b="0" dirty="0">
              <a:solidFill>
                <a:srgbClr val="898781"/>
              </a:solidFill>
              <a:latin typeface="Helvetica Neue"/>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326375-1DA6-14F5-5A90-F0927A843DC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681EAE2-62EB-02C5-0390-46D7C67E3FD2}"/>
              </a:ext>
            </a:extLst>
          </p:cNvPr>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048BBED9-97FD-9723-A046-9074FE07A0A1}"/>
              </a:ext>
            </a:extLst>
          </p:cNvPr>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REFERENCE DATASET</a:t>
            </a:r>
          </a:p>
        </p:txBody>
      </p:sp>
      <p:sp>
        <p:nvSpPr>
          <p:cNvPr id="4" name="TextBox 3">
            <a:extLst>
              <a:ext uri="{FF2B5EF4-FFF2-40B4-BE49-F238E27FC236}">
                <a16:creationId xmlns:a16="http://schemas.microsoft.com/office/drawing/2014/main" id="{DC89AEF4-BCA8-02C6-CB10-DB5F126131B6}"/>
              </a:ext>
            </a:extLst>
          </p:cNvPr>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What Do Existing Student Datasets Look Like?</a:t>
            </a:r>
          </a:p>
        </p:txBody>
      </p:sp>
      <p:sp>
        <p:nvSpPr>
          <p:cNvPr id="5" name="TextBox 4">
            <a:extLst>
              <a:ext uri="{FF2B5EF4-FFF2-40B4-BE49-F238E27FC236}">
                <a16:creationId xmlns:a16="http://schemas.microsoft.com/office/drawing/2014/main" id="{DA215944-9CAE-08CC-1EA5-1707342C6A3C}"/>
              </a:ext>
            </a:extLst>
          </p:cNvPr>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a:extLst>
              <a:ext uri="{FF2B5EF4-FFF2-40B4-BE49-F238E27FC236}">
                <a16:creationId xmlns:a16="http://schemas.microsoft.com/office/drawing/2014/main" id="{E0D0E04E-3788-3637-D7E9-38DB61A9EC77}"/>
              </a:ext>
            </a:extLst>
          </p:cNvPr>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a:solidFill>
                  <a:srgbClr val="898781"/>
                </a:solidFill>
                <a:latin typeface="Helvetica Neue"/>
              </a:rPr>
              <a:t>12</a:t>
            </a:r>
          </a:p>
        </p:txBody>
      </p:sp>
      <p:pic>
        <p:nvPicPr>
          <p:cNvPr id="7" name="Picture 6" descr="reference_mendeley_page.png">
            <a:extLst>
              <a:ext uri="{FF2B5EF4-FFF2-40B4-BE49-F238E27FC236}">
                <a16:creationId xmlns:a16="http://schemas.microsoft.com/office/drawing/2014/main" id="{BF01FA7E-4E38-125C-63B7-8D0B1E8F7AC1}"/>
              </a:ext>
            </a:extLst>
          </p:cNvPr>
          <p:cNvPicPr>
            <a:picLocks noChangeAspect="1"/>
          </p:cNvPicPr>
          <p:nvPr/>
        </p:nvPicPr>
        <p:blipFill>
          <a:blip r:embed="rId3"/>
          <a:stretch>
            <a:fillRect/>
          </a:stretch>
        </p:blipFill>
        <p:spPr>
          <a:xfrm>
            <a:off x="1552847" y="1252728"/>
            <a:ext cx="7677323" cy="5058265"/>
          </a:xfrm>
          <a:prstGeom prst="rect">
            <a:avLst/>
          </a:prstGeom>
          <a:ln w="12700">
            <a:solidFill>
              <a:srgbClr val="DADCE0"/>
            </a:solidFill>
          </a:ln>
        </p:spPr>
      </p:pic>
      <p:sp>
        <p:nvSpPr>
          <p:cNvPr id="21" name="SimpleLightSectionLabel">
            <a:extLst>
              <a:ext uri="{FF2B5EF4-FFF2-40B4-BE49-F238E27FC236}">
                <a16:creationId xmlns:a16="http://schemas.microsoft.com/office/drawing/2014/main" id="{A5001518-F94E-304B-D926-32F4862E17B7}"/>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DATASET</a:t>
            </a:r>
          </a:p>
        </p:txBody>
      </p:sp>
    </p:spTree>
    <p:extLst>
      <p:ext uri="{BB962C8B-B14F-4D97-AF65-F5344CB8AC3E}">
        <p14:creationId xmlns:p14="http://schemas.microsoft.com/office/powerpoint/2010/main" val="42775984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REFERENCE DATASET</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What Do Existing Student Datasets Look Like?</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dirty="0">
                <a:solidFill>
                  <a:srgbClr val="898781"/>
                </a:solidFill>
                <a:latin typeface="Helvetica Neue"/>
              </a:rPr>
              <a:t>1</a:t>
            </a:r>
            <a:r>
              <a:rPr lang="en-US" sz="1000" b="0" dirty="0">
                <a:solidFill>
                  <a:srgbClr val="898781"/>
                </a:solidFill>
                <a:latin typeface="Helvetica Neue"/>
              </a:rPr>
              <a:t>3</a:t>
            </a:r>
            <a:endParaRPr sz="1000" b="0" dirty="0">
              <a:solidFill>
                <a:srgbClr val="898781"/>
              </a:solidFill>
              <a:latin typeface="Helvetica Neue"/>
            </a:endParaRPr>
          </a:p>
        </p:txBody>
      </p:sp>
      <p:pic>
        <p:nvPicPr>
          <p:cNvPr id="8" name="Picture 7" descr="reference_dataset_preview_trim.png"/>
          <p:cNvPicPr>
            <a:picLocks noChangeAspect="1"/>
          </p:cNvPicPr>
          <p:nvPr/>
        </p:nvPicPr>
        <p:blipFill>
          <a:blip r:embed="rId3"/>
          <a:stretch>
            <a:fillRect/>
          </a:stretch>
        </p:blipFill>
        <p:spPr>
          <a:xfrm>
            <a:off x="191680" y="1206952"/>
            <a:ext cx="11979328" cy="3556363"/>
          </a:xfrm>
          <a:prstGeom prst="rect">
            <a:avLst/>
          </a:prstGeom>
          <a:ln w="12700">
            <a:solidFill>
              <a:srgbClr val="DADCE0"/>
            </a:solidFill>
          </a:ln>
        </p:spPr>
      </p:pic>
      <p:sp>
        <p:nvSpPr>
          <p:cNvPr id="9" name="Rounded Rectangle 8"/>
          <p:cNvSpPr/>
          <p:nvPr/>
        </p:nvSpPr>
        <p:spPr>
          <a:xfrm>
            <a:off x="548640" y="5257800"/>
            <a:ext cx="2651760" cy="100584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85800" y="5367528"/>
            <a:ext cx="2377440" cy="553212"/>
          </a:xfrm>
          <a:prstGeom prst="rect">
            <a:avLst/>
          </a:prstGeom>
          <a:noFill/>
        </p:spPr>
        <p:txBody>
          <a:bodyPr wrap="square" lIns="27432" tIns="27432" rIns="27432" bIns="27432" anchor="ctr">
            <a:noAutofit/>
          </a:bodyPr>
          <a:lstStyle/>
          <a:p>
            <a:pPr algn="l">
              <a:lnSpc>
                <a:spcPct val="105000"/>
              </a:lnSpc>
            </a:pPr>
            <a:r>
              <a:rPr sz="2400" b="1">
                <a:solidFill>
                  <a:srgbClr val="2A78D6"/>
                </a:solidFill>
                <a:latin typeface="Helvetica Neue"/>
              </a:rPr>
              <a:t>894</a:t>
            </a:r>
          </a:p>
        </p:txBody>
      </p:sp>
      <p:sp>
        <p:nvSpPr>
          <p:cNvPr id="11" name="TextBox 10"/>
          <p:cNvSpPr txBox="1"/>
          <p:nvPr/>
        </p:nvSpPr>
        <p:spPr>
          <a:xfrm>
            <a:off x="685800" y="5841187"/>
            <a:ext cx="2377440" cy="402336"/>
          </a:xfrm>
          <a:prstGeom prst="rect">
            <a:avLst/>
          </a:prstGeom>
          <a:noFill/>
        </p:spPr>
        <p:txBody>
          <a:bodyPr wrap="square" lIns="27432" tIns="27432" rIns="27432" bIns="27432" anchor="t">
            <a:noAutofit/>
          </a:bodyPr>
          <a:lstStyle/>
          <a:p>
            <a:pPr algn="l">
              <a:lnSpc>
                <a:spcPct val="105000"/>
              </a:lnSpc>
            </a:pPr>
            <a:r>
              <a:rPr sz="1300" b="0">
                <a:solidFill>
                  <a:srgbClr val="52514E"/>
                </a:solidFill>
                <a:latin typeface="Helvetica Neue"/>
              </a:rPr>
              <a:t>IUBAT Computer Science students</a:t>
            </a:r>
          </a:p>
        </p:txBody>
      </p:sp>
      <p:sp>
        <p:nvSpPr>
          <p:cNvPr id="12" name="Rounded Rectangle 11"/>
          <p:cNvSpPr/>
          <p:nvPr/>
        </p:nvSpPr>
        <p:spPr>
          <a:xfrm>
            <a:off x="3364992" y="5257800"/>
            <a:ext cx="2651760" cy="100584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502152" y="5367528"/>
            <a:ext cx="2377440" cy="553212"/>
          </a:xfrm>
          <a:prstGeom prst="rect">
            <a:avLst/>
          </a:prstGeom>
          <a:noFill/>
        </p:spPr>
        <p:txBody>
          <a:bodyPr wrap="square" lIns="27432" tIns="27432" rIns="27432" bIns="27432" anchor="ctr">
            <a:noAutofit/>
          </a:bodyPr>
          <a:lstStyle/>
          <a:p>
            <a:pPr algn="l">
              <a:lnSpc>
                <a:spcPct val="105000"/>
              </a:lnSpc>
            </a:pPr>
            <a:r>
              <a:rPr sz="2400" b="1">
                <a:solidFill>
                  <a:srgbClr val="2A78D6"/>
                </a:solidFill>
                <a:latin typeface="Helvetica Neue"/>
              </a:rPr>
              <a:t>31</a:t>
            </a:r>
          </a:p>
        </p:txBody>
      </p:sp>
      <p:sp>
        <p:nvSpPr>
          <p:cNvPr id="14" name="TextBox 13"/>
          <p:cNvSpPr txBox="1"/>
          <p:nvPr/>
        </p:nvSpPr>
        <p:spPr>
          <a:xfrm>
            <a:off x="3502152" y="5841187"/>
            <a:ext cx="2377440" cy="402336"/>
          </a:xfrm>
          <a:prstGeom prst="rect">
            <a:avLst/>
          </a:prstGeom>
          <a:noFill/>
        </p:spPr>
        <p:txBody>
          <a:bodyPr wrap="square" lIns="27432" tIns="27432" rIns="27432" bIns="27432" anchor="t">
            <a:noAutofit/>
          </a:bodyPr>
          <a:lstStyle/>
          <a:p>
            <a:pPr algn="l">
              <a:lnSpc>
                <a:spcPct val="105000"/>
              </a:lnSpc>
            </a:pPr>
            <a:r>
              <a:rPr sz="1300" b="0">
                <a:solidFill>
                  <a:srgbClr val="52514E"/>
                </a:solidFill>
                <a:latin typeface="Helvetica Neue"/>
              </a:rPr>
              <a:t>questions / columns</a:t>
            </a:r>
          </a:p>
        </p:txBody>
      </p:sp>
      <p:sp>
        <p:nvSpPr>
          <p:cNvPr id="15" name="Rounded Rectangle 14"/>
          <p:cNvSpPr/>
          <p:nvPr/>
        </p:nvSpPr>
        <p:spPr>
          <a:xfrm>
            <a:off x="6181344" y="5257800"/>
            <a:ext cx="2651760" cy="100584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18504" y="5367528"/>
            <a:ext cx="2377440" cy="553212"/>
          </a:xfrm>
          <a:prstGeom prst="rect">
            <a:avLst/>
          </a:prstGeom>
          <a:noFill/>
        </p:spPr>
        <p:txBody>
          <a:bodyPr wrap="square" lIns="27432" tIns="27432" rIns="27432" bIns="27432" anchor="ctr">
            <a:noAutofit/>
          </a:bodyPr>
          <a:lstStyle/>
          <a:p>
            <a:pPr algn="l">
              <a:lnSpc>
                <a:spcPct val="105000"/>
              </a:lnSpc>
            </a:pPr>
            <a:r>
              <a:rPr sz="2400" b="1">
                <a:solidFill>
                  <a:srgbClr val="2A78D6"/>
                </a:solidFill>
                <a:latin typeface="Helvetica Neue"/>
              </a:rPr>
              <a:t>Numbers</a:t>
            </a:r>
          </a:p>
        </p:txBody>
      </p:sp>
      <p:sp>
        <p:nvSpPr>
          <p:cNvPr id="17" name="TextBox 16"/>
          <p:cNvSpPr txBox="1"/>
          <p:nvPr/>
        </p:nvSpPr>
        <p:spPr>
          <a:xfrm>
            <a:off x="6318504" y="5841187"/>
            <a:ext cx="2377440" cy="402336"/>
          </a:xfrm>
          <a:prstGeom prst="rect">
            <a:avLst/>
          </a:prstGeom>
          <a:noFill/>
        </p:spPr>
        <p:txBody>
          <a:bodyPr wrap="square" lIns="27432" tIns="27432" rIns="27432" bIns="27432" anchor="t">
            <a:noAutofit/>
          </a:bodyPr>
          <a:lstStyle/>
          <a:p>
            <a:pPr algn="l">
              <a:lnSpc>
                <a:spcPct val="105000"/>
              </a:lnSpc>
            </a:pPr>
            <a:r>
              <a:rPr sz="1300" b="0">
                <a:solidFill>
                  <a:srgbClr val="52514E"/>
                </a:solidFill>
                <a:latin typeface="Helvetica Neue"/>
              </a:rPr>
              <a:t>CGPA and SGPA typed as numbers</a:t>
            </a:r>
          </a:p>
        </p:txBody>
      </p:sp>
      <p:sp>
        <p:nvSpPr>
          <p:cNvPr id="18" name="Rounded Rectangle 17"/>
          <p:cNvSpPr/>
          <p:nvPr/>
        </p:nvSpPr>
        <p:spPr>
          <a:xfrm>
            <a:off x="8997696" y="5257800"/>
            <a:ext cx="2651760" cy="100584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34856" y="5367528"/>
            <a:ext cx="2377440" cy="553212"/>
          </a:xfrm>
          <a:prstGeom prst="rect">
            <a:avLst/>
          </a:prstGeom>
          <a:noFill/>
        </p:spPr>
        <p:txBody>
          <a:bodyPr wrap="square" lIns="27432" tIns="27432" rIns="27432" bIns="27432" anchor="ctr">
            <a:noAutofit/>
          </a:bodyPr>
          <a:lstStyle/>
          <a:p>
            <a:pPr algn="l">
              <a:lnSpc>
                <a:spcPct val="105000"/>
              </a:lnSpc>
            </a:pPr>
            <a:r>
              <a:rPr sz="2400" b="1">
                <a:solidFill>
                  <a:srgbClr val="2A78D6"/>
                </a:solidFill>
                <a:latin typeface="Helvetica Neue"/>
              </a:rPr>
              <a:t>4 levels</a:t>
            </a:r>
          </a:p>
        </p:txBody>
      </p:sp>
      <p:sp>
        <p:nvSpPr>
          <p:cNvPr id="20" name="TextBox 19"/>
          <p:cNvSpPr txBox="1"/>
          <p:nvPr/>
        </p:nvSpPr>
        <p:spPr>
          <a:xfrm>
            <a:off x="9134856" y="5841187"/>
            <a:ext cx="2377440" cy="402336"/>
          </a:xfrm>
          <a:prstGeom prst="rect">
            <a:avLst/>
          </a:prstGeom>
          <a:noFill/>
        </p:spPr>
        <p:txBody>
          <a:bodyPr wrap="square" lIns="27432" tIns="27432" rIns="27432" bIns="27432" anchor="t">
            <a:noAutofit/>
          </a:bodyPr>
          <a:lstStyle/>
          <a:p>
            <a:pPr algn="l">
              <a:lnSpc>
                <a:spcPct val="105000"/>
              </a:lnSpc>
            </a:pPr>
            <a:r>
              <a:rPr sz="1300" b="0">
                <a:solidFill>
                  <a:srgbClr val="52514E"/>
                </a:solidFill>
                <a:latin typeface="Helvetica Neue"/>
              </a:rPr>
              <a:t>performance category in classified copy</a:t>
            </a:r>
          </a:p>
        </p:txBody>
      </p:sp>
      <p:sp>
        <p:nvSpPr>
          <p:cNvPr id="21" name="SimpleLightSectionLabel">
            <a:extLst>
              <a:ext uri="{FF2B5EF4-FFF2-40B4-BE49-F238E27FC236}">
                <a16:creationId xmlns:a16="http://schemas.microsoft.com/office/drawing/2014/main" id="{0B5AB749-72D2-42EE-9E72-A5C125C0773B}"/>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DATASET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REFERENCE DATASET</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What Is Similar and What Did We Add?</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dirty="0">
                <a:solidFill>
                  <a:srgbClr val="898781"/>
                </a:solidFill>
                <a:latin typeface="Helvetica Neue"/>
              </a:rPr>
              <a:t>1</a:t>
            </a:r>
            <a:r>
              <a:rPr lang="en-US" sz="1000" b="0" dirty="0">
                <a:solidFill>
                  <a:srgbClr val="898781"/>
                </a:solidFill>
                <a:latin typeface="Helvetica Neue"/>
              </a:rPr>
              <a:t>4</a:t>
            </a:r>
            <a:endParaRPr sz="1000" b="0" dirty="0">
              <a:solidFill>
                <a:srgbClr val="898781"/>
              </a:solidFill>
              <a:latin typeface="Helvetica Neue"/>
            </a:endParaRPr>
          </a:p>
        </p:txBody>
      </p:sp>
      <p:pic>
        <p:nvPicPr>
          <p:cNvPr id="7" name="Picture 6" descr="reference_vs_ours.png"/>
          <p:cNvPicPr>
            <a:picLocks noChangeAspect="1"/>
          </p:cNvPicPr>
          <p:nvPr/>
        </p:nvPicPr>
        <p:blipFill>
          <a:blip r:embed="rId3"/>
          <a:stretch>
            <a:fillRect/>
          </a:stretch>
        </p:blipFill>
        <p:spPr>
          <a:xfrm>
            <a:off x="548640" y="1483146"/>
            <a:ext cx="6949440" cy="4623226"/>
          </a:xfrm>
          <a:prstGeom prst="rect">
            <a:avLst/>
          </a:prstGeom>
        </p:spPr>
      </p:pic>
      <p:sp>
        <p:nvSpPr>
          <p:cNvPr id="8" name="Rounded Rectangle 7"/>
          <p:cNvSpPr/>
          <p:nvPr/>
        </p:nvSpPr>
        <p:spPr>
          <a:xfrm>
            <a:off x="7772400" y="1371600"/>
            <a:ext cx="1874519" cy="123444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909560" y="1481328"/>
            <a:ext cx="1600199" cy="678942"/>
          </a:xfrm>
          <a:prstGeom prst="rect">
            <a:avLst/>
          </a:prstGeom>
          <a:noFill/>
        </p:spPr>
        <p:txBody>
          <a:bodyPr wrap="square" lIns="27432" tIns="27432" rIns="27432" bIns="27432" anchor="ctr">
            <a:noAutofit/>
          </a:bodyPr>
          <a:lstStyle/>
          <a:p>
            <a:pPr algn="l">
              <a:lnSpc>
                <a:spcPct val="105000"/>
              </a:lnSpc>
            </a:pPr>
            <a:r>
              <a:rPr sz="3600" b="1">
                <a:solidFill>
                  <a:srgbClr val="2A78D6"/>
                </a:solidFill>
                <a:latin typeface="Helvetica Neue"/>
              </a:rPr>
              <a:t>7</a:t>
            </a:r>
          </a:p>
        </p:txBody>
      </p:sp>
      <p:sp>
        <p:nvSpPr>
          <p:cNvPr id="10" name="TextBox 9"/>
          <p:cNvSpPr txBox="1"/>
          <p:nvPr/>
        </p:nvSpPr>
        <p:spPr>
          <a:xfrm>
            <a:off x="7909560" y="2087575"/>
            <a:ext cx="1600199" cy="493776"/>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asked in both</a:t>
            </a:r>
          </a:p>
        </p:txBody>
      </p:sp>
      <p:sp>
        <p:nvSpPr>
          <p:cNvPr id="11" name="Rounded Rectangle 10"/>
          <p:cNvSpPr/>
          <p:nvPr/>
        </p:nvSpPr>
        <p:spPr>
          <a:xfrm>
            <a:off x="9738360" y="1371600"/>
            <a:ext cx="1874519" cy="123444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75520" y="1481328"/>
            <a:ext cx="1600199" cy="678942"/>
          </a:xfrm>
          <a:prstGeom prst="rect">
            <a:avLst/>
          </a:prstGeom>
          <a:noFill/>
        </p:spPr>
        <p:txBody>
          <a:bodyPr wrap="square" lIns="27432" tIns="27432" rIns="27432" bIns="27432" anchor="ctr">
            <a:noAutofit/>
          </a:bodyPr>
          <a:lstStyle/>
          <a:p>
            <a:pPr algn="l">
              <a:lnSpc>
                <a:spcPct val="105000"/>
              </a:lnSpc>
            </a:pPr>
            <a:r>
              <a:rPr sz="3600" b="1">
                <a:solidFill>
                  <a:srgbClr val="5598E7"/>
                </a:solidFill>
                <a:latin typeface="Helvetica Neue"/>
              </a:rPr>
              <a:t>4</a:t>
            </a:r>
          </a:p>
        </p:txBody>
      </p:sp>
      <p:sp>
        <p:nvSpPr>
          <p:cNvPr id="13" name="TextBox 12"/>
          <p:cNvSpPr txBox="1"/>
          <p:nvPr/>
        </p:nvSpPr>
        <p:spPr>
          <a:xfrm>
            <a:off x="9875520" y="2087575"/>
            <a:ext cx="1600199" cy="493776"/>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similar idea</a:t>
            </a:r>
          </a:p>
        </p:txBody>
      </p:sp>
      <p:sp>
        <p:nvSpPr>
          <p:cNvPr id="14" name="Rounded Rectangle 13"/>
          <p:cNvSpPr/>
          <p:nvPr/>
        </p:nvSpPr>
        <p:spPr>
          <a:xfrm>
            <a:off x="7772400" y="2788920"/>
            <a:ext cx="3840480" cy="2377440"/>
          </a:xfrm>
          <a:prstGeom prst="roundRect">
            <a:avLst>
              <a:gd name="adj" fmla="val 8000"/>
            </a:avLst>
          </a:prstGeom>
          <a:solidFill>
            <a:srgbClr val="E6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955279" y="2880360"/>
            <a:ext cx="3566160" cy="457200"/>
          </a:xfrm>
          <a:prstGeom prst="rect">
            <a:avLst/>
          </a:prstGeom>
          <a:noFill/>
        </p:spPr>
        <p:txBody>
          <a:bodyPr wrap="square" lIns="27432" tIns="27432" rIns="27432" bIns="27432" anchor="t">
            <a:noAutofit/>
          </a:bodyPr>
          <a:lstStyle/>
          <a:p>
            <a:pPr algn="l">
              <a:lnSpc>
                <a:spcPct val="105000"/>
              </a:lnSpc>
            </a:pPr>
            <a:r>
              <a:rPr sz="2000" b="1">
                <a:solidFill>
                  <a:srgbClr val="0E7A52"/>
                </a:solidFill>
                <a:latin typeface="Helvetica Neue"/>
              </a:rPr>
              <a:t>6 added in our survey</a:t>
            </a:r>
          </a:p>
        </p:txBody>
      </p:sp>
      <p:sp>
        <p:nvSpPr>
          <p:cNvPr id="16" name="TextBox 15"/>
          <p:cNvSpPr txBox="1"/>
          <p:nvPr/>
        </p:nvSpPr>
        <p:spPr>
          <a:xfrm>
            <a:off x="7955279" y="3383280"/>
            <a:ext cx="3566160" cy="1737360"/>
          </a:xfrm>
          <a:prstGeom prst="rect">
            <a:avLst/>
          </a:prstGeom>
          <a:noFill/>
        </p:spPr>
        <p:txBody>
          <a:bodyPr wrap="square" lIns="27432" tIns="27432" rIns="27432" bIns="27432" anchor="t">
            <a:noAutofit/>
          </a:bodyPr>
          <a:lstStyle/>
          <a:p>
            <a:pPr algn="l">
              <a:lnSpc>
                <a:spcPct val="105000"/>
              </a:lnSpc>
            </a:pPr>
            <a:r>
              <a:rPr sz="1500" b="0">
                <a:solidFill>
                  <a:srgbClr val="0B0B0B"/>
                </a:solidFill>
                <a:latin typeface="Helvetica Neue"/>
              </a:rPr>
              <a:t>• Stress</a:t>
            </a:r>
          </a:p>
          <a:p>
            <a:pPr algn="l">
              <a:lnSpc>
                <a:spcPct val="105000"/>
              </a:lnSpc>
            </a:pPr>
            <a:r>
              <a:rPr sz="1500" b="0">
                <a:solidFill>
                  <a:srgbClr val="0B0B0B"/>
                </a:solidFill>
                <a:latin typeface="Helvetica Neue"/>
              </a:rPr>
              <a:t>• Sleep</a:t>
            </a:r>
          </a:p>
          <a:p>
            <a:pPr algn="l">
              <a:lnSpc>
                <a:spcPct val="105000"/>
              </a:lnSpc>
            </a:pPr>
            <a:r>
              <a:rPr sz="1500" b="0">
                <a:solidFill>
                  <a:srgbClr val="0B0B0B"/>
                </a:solidFill>
                <a:latin typeface="Helvetica Neue"/>
              </a:rPr>
              <a:t>• Topic clear after class</a:t>
            </a:r>
          </a:p>
          <a:p>
            <a:pPr algn="l">
              <a:lnSpc>
                <a:spcPct val="105000"/>
              </a:lnSpc>
            </a:pPr>
            <a:r>
              <a:rPr sz="1500" b="0">
                <a:solidFill>
                  <a:srgbClr val="0B0B0B"/>
                </a:solidFill>
                <a:latin typeface="Helvetica Neue"/>
              </a:rPr>
              <a:t>• Got desired department</a:t>
            </a:r>
          </a:p>
          <a:p>
            <a:pPr algn="l">
              <a:lnSpc>
                <a:spcPct val="105000"/>
              </a:lnSpc>
            </a:pPr>
            <a:r>
              <a:rPr sz="1500" b="0">
                <a:solidFill>
                  <a:srgbClr val="0B0B0B"/>
                </a:solidFill>
                <a:latin typeface="Helvetica Neue"/>
              </a:rPr>
              <a:t>• Routine manageable</a:t>
            </a:r>
          </a:p>
          <a:p>
            <a:pPr algn="l">
              <a:lnSpc>
                <a:spcPct val="105000"/>
              </a:lnSpc>
            </a:pPr>
            <a:r>
              <a:rPr sz="1500" b="0">
                <a:solidFill>
                  <a:srgbClr val="0B0B0B"/>
                </a:solidFill>
                <a:latin typeface="Helvetica Neue"/>
              </a:rPr>
              <a:t>• Career expectation</a:t>
            </a:r>
          </a:p>
        </p:txBody>
      </p:sp>
      <p:sp>
        <p:nvSpPr>
          <p:cNvPr id="17" name="Rounded Rectangle 16"/>
          <p:cNvSpPr/>
          <p:nvPr/>
        </p:nvSpPr>
        <p:spPr>
          <a:xfrm>
            <a:off x="7772400" y="5349240"/>
            <a:ext cx="3840480" cy="86868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400" b="0">
                <a:solidFill>
                  <a:srgbClr val="52514E"/>
                </a:solidFill>
                <a:latin typeface="Helvetica Neue"/>
              </a:rPr>
              <a:t>Reference stores exact numeric CGPA / SGPA; our form uses bands (C0–C3)</a:t>
            </a:r>
          </a:p>
        </p:txBody>
      </p:sp>
      <p:sp>
        <p:nvSpPr>
          <p:cNvPr id="18" name="SimpleLightSectionLabel">
            <a:extLst>
              <a:ext uri="{FF2B5EF4-FFF2-40B4-BE49-F238E27FC236}">
                <a16:creationId xmlns:a16="http://schemas.microsoft.com/office/drawing/2014/main" id="{55159DB4-938C-49DA-A3BA-F7020AC70E78}"/>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DATASET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DATASET STATISTICS</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dirty="0">
                <a:solidFill>
                  <a:srgbClr val="121212"/>
                </a:solidFill>
                <a:latin typeface="OpenAI Sans" panose="020B0604020202020204" charset="0"/>
              </a:rPr>
              <a:t>Wh</a:t>
            </a:r>
            <a:r>
              <a:rPr lang="en-US" sz="3200" b="1" dirty="0">
                <a:solidFill>
                  <a:srgbClr val="121212"/>
                </a:solidFill>
                <a:latin typeface="OpenAI Sans" panose="020B0604020202020204" charset="0"/>
              </a:rPr>
              <a:t>ich universities are </a:t>
            </a:r>
            <a:r>
              <a:rPr sz="3200" b="1" dirty="0">
                <a:solidFill>
                  <a:srgbClr val="121212"/>
                </a:solidFill>
                <a:latin typeface="OpenAI Sans" panose="020B0604020202020204" charset="0"/>
              </a:rPr>
              <a:t>in the Dataset?</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dirty="0">
                <a:solidFill>
                  <a:srgbClr val="898781"/>
                </a:solidFill>
                <a:latin typeface="Helvetica Neue"/>
              </a:rPr>
              <a:t>1</a:t>
            </a:r>
            <a:r>
              <a:rPr lang="en-US" sz="1000" b="0" dirty="0">
                <a:solidFill>
                  <a:srgbClr val="898781"/>
                </a:solidFill>
                <a:latin typeface="Helvetica Neue"/>
              </a:rPr>
              <a:t>5</a:t>
            </a:r>
            <a:endParaRPr sz="1000" b="0" dirty="0">
              <a:solidFill>
                <a:srgbClr val="898781"/>
              </a:solidFill>
              <a:latin typeface="Helvetica Neue"/>
            </a:endParaRPr>
          </a:p>
        </p:txBody>
      </p:sp>
      <p:pic>
        <p:nvPicPr>
          <p:cNvPr id="7" name="Picture 6" descr="rc_university.png"/>
          <p:cNvPicPr>
            <a:picLocks noChangeAspect="1"/>
          </p:cNvPicPr>
          <p:nvPr/>
        </p:nvPicPr>
        <p:blipFill>
          <a:blip r:embed="rId3"/>
          <a:stretch>
            <a:fillRect/>
          </a:stretch>
        </p:blipFill>
        <p:spPr>
          <a:xfrm>
            <a:off x="548640" y="1447518"/>
            <a:ext cx="6583680" cy="4603043"/>
          </a:xfrm>
          <a:prstGeom prst="rect">
            <a:avLst/>
          </a:prstGeom>
        </p:spPr>
      </p:pic>
      <p:sp>
        <p:nvSpPr>
          <p:cNvPr id="8" name="Rounded Rectangle 7"/>
          <p:cNvSpPr/>
          <p:nvPr/>
        </p:nvSpPr>
        <p:spPr>
          <a:xfrm>
            <a:off x="7498079" y="1463040"/>
            <a:ext cx="4114800" cy="182880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35240" y="1572768"/>
            <a:ext cx="3840480" cy="1005840"/>
          </a:xfrm>
          <a:prstGeom prst="rect">
            <a:avLst/>
          </a:prstGeom>
          <a:noFill/>
        </p:spPr>
        <p:txBody>
          <a:bodyPr wrap="square" lIns="27432" tIns="27432" rIns="27432" bIns="27432" anchor="ctr">
            <a:noAutofit/>
          </a:bodyPr>
          <a:lstStyle/>
          <a:p>
            <a:pPr algn="l">
              <a:lnSpc>
                <a:spcPct val="105000"/>
              </a:lnSpc>
            </a:pPr>
            <a:r>
              <a:rPr sz="5400" b="1">
                <a:solidFill>
                  <a:srgbClr val="2A78D6"/>
                </a:solidFill>
                <a:latin typeface="Helvetica Neue"/>
              </a:rPr>
              <a:t>920</a:t>
            </a:r>
          </a:p>
        </p:txBody>
      </p:sp>
      <p:sp>
        <p:nvSpPr>
          <p:cNvPr id="10" name="TextBox 9"/>
          <p:cNvSpPr txBox="1"/>
          <p:nvPr/>
        </p:nvSpPr>
        <p:spPr>
          <a:xfrm>
            <a:off x="7635240" y="2523744"/>
            <a:ext cx="3840480" cy="731520"/>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students in the final dataset</a:t>
            </a:r>
          </a:p>
        </p:txBody>
      </p:sp>
      <p:sp>
        <p:nvSpPr>
          <p:cNvPr id="12" name="SimpleLightSectionLabel">
            <a:extLst>
              <a:ext uri="{FF2B5EF4-FFF2-40B4-BE49-F238E27FC236}">
                <a16:creationId xmlns:a16="http://schemas.microsoft.com/office/drawing/2014/main" id="{33794158-D503-45D4-A483-B776399FD11C}"/>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DATASET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DATASET STATISTICS</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dirty="0">
                <a:solidFill>
                  <a:srgbClr val="121212"/>
                </a:solidFill>
                <a:latin typeface="OpenAI Sans" panose="020B0604020202020204" charset="0"/>
              </a:rPr>
              <a:t>We Predict</a:t>
            </a:r>
            <a:r>
              <a:rPr lang="en-US" sz="3200" b="1" dirty="0">
                <a:solidFill>
                  <a:srgbClr val="121212"/>
                </a:solidFill>
                <a:latin typeface="OpenAI Sans" panose="020B0604020202020204" charset="0"/>
              </a:rPr>
              <a:t>ed</a:t>
            </a:r>
            <a:r>
              <a:rPr sz="3200" b="1" dirty="0">
                <a:solidFill>
                  <a:srgbClr val="121212"/>
                </a:solidFill>
                <a:latin typeface="OpenAI Sans" panose="020B0604020202020204" charset="0"/>
              </a:rPr>
              <a:t> Four CGPA Groups</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dirty="0">
                <a:solidFill>
                  <a:srgbClr val="898781"/>
                </a:solidFill>
                <a:latin typeface="Helvetica Neue"/>
              </a:rPr>
              <a:t>1</a:t>
            </a:r>
            <a:r>
              <a:rPr lang="en-US" sz="1000" b="0" dirty="0">
                <a:solidFill>
                  <a:srgbClr val="898781"/>
                </a:solidFill>
                <a:latin typeface="Helvetica Neue"/>
              </a:rPr>
              <a:t>6</a:t>
            </a:r>
            <a:endParaRPr sz="1000" b="0" dirty="0">
              <a:solidFill>
                <a:srgbClr val="898781"/>
              </a:solidFill>
              <a:latin typeface="Helvetica Neue"/>
            </a:endParaRPr>
          </a:p>
        </p:txBody>
      </p:sp>
      <p:sp>
        <p:nvSpPr>
          <p:cNvPr id="7" name="Rounded Rectangle 6"/>
          <p:cNvSpPr/>
          <p:nvPr/>
        </p:nvSpPr>
        <p:spPr>
          <a:xfrm>
            <a:off x="548640" y="1463040"/>
            <a:ext cx="2651760" cy="3566160"/>
          </a:xfrm>
          <a:prstGeom prst="roundRect">
            <a:avLst>
              <a:gd name="adj" fmla="val 8000"/>
            </a:avLst>
          </a:prstGeom>
          <a:solidFill>
            <a:srgbClr val="A8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1645920"/>
            <a:ext cx="2651760" cy="914400"/>
          </a:xfrm>
          <a:prstGeom prst="rect">
            <a:avLst/>
          </a:prstGeom>
          <a:noFill/>
        </p:spPr>
        <p:txBody>
          <a:bodyPr wrap="square" lIns="27432" tIns="27432" rIns="27432" bIns="27432" anchor="t">
            <a:noAutofit/>
          </a:bodyPr>
          <a:lstStyle/>
          <a:p>
            <a:pPr algn="ctr">
              <a:lnSpc>
                <a:spcPct val="105000"/>
              </a:lnSpc>
            </a:pPr>
            <a:r>
              <a:rPr sz="5400" b="1">
                <a:solidFill>
                  <a:srgbClr val="FFFFFF"/>
                </a:solidFill>
                <a:latin typeface="Helvetica Neue"/>
              </a:rPr>
              <a:t>C0</a:t>
            </a:r>
          </a:p>
        </p:txBody>
      </p:sp>
      <p:sp>
        <p:nvSpPr>
          <p:cNvPr id="9" name="TextBox 8"/>
          <p:cNvSpPr txBox="1"/>
          <p:nvPr/>
        </p:nvSpPr>
        <p:spPr>
          <a:xfrm>
            <a:off x="548640" y="2606040"/>
            <a:ext cx="2651760" cy="457200"/>
          </a:xfrm>
          <a:prstGeom prst="rect">
            <a:avLst/>
          </a:prstGeom>
          <a:noFill/>
        </p:spPr>
        <p:txBody>
          <a:bodyPr wrap="square" lIns="27432" tIns="27432" rIns="27432" bIns="27432" anchor="t">
            <a:noAutofit/>
          </a:bodyPr>
          <a:lstStyle/>
          <a:p>
            <a:pPr algn="ctr">
              <a:lnSpc>
                <a:spcPct val="105000"/>
              </a:lnSpc>
            </a:pPr>
            <a:r>
              <a:rPr sz="1800" b="0">
                <a:solidFill>
                  <a:srgbClr val="FFFFFF"/>
                </a:solidFill>
                <a:latin typeface="Helvetica Neue"/>
              </a:rPr>
              <a:t>CGPA below 3.20</a:t>
            </a:r>
          </a:p>
        </p:txBody>
      </p:sp>
      <p:sp>
        <p:nvSpPr>
          <p:cNvPr id="10" name="TextBox 9"/>
          <p:cNvSpPr txBox="1"/>
          <p:nvPr/>
        </p:nvSpPr>
        <p:spPr>
          <a:xfrm>
            <a:off x="548640" y="3337560"/>
            <a:ext cx="2651760" cy="640080"/>
          </a:xfrm>
          <a:prstGeom prst="rect">
            <a:avLst/>
          </a:prstGeom>
          <a:noFill/>
        </p:spPr>
        <p:txBody>
          <a:bodyPr wrap="square" lIns="27432" tIns="27432" rIns="27432" bIns="27432" anchor="t">
            <a:noAutofit/>
          </a:bodyPr>
          <a:lstStyle/>
          <a:p>
            <a:pPr algn="ctr">
              <a:lnSpc>
                <a:spcPct val="105000"/>
              </a:lnSpc>
            </a:pPr>
            <a:r>
              <a:rPr sz="4000" b="1">
                <a:solidFill>
                  <a:srgbClr val="FFFFFF"/>
                </a:solidFill>
                <a:latin typeface="Helvetica Neue"/>
              </a:rPr>
              <a:t>182</a:t>
            </a:r>
          </a:p>
        </p:txBody>
      </p:sp>
      <p:sp>
        <p:nvSpPr>
          <p:cNvPr id="11" name="TextBox 10"/>
          <p:cNvSpPr txBox="1"/>
          <p:nvPr/>
        </p:nvSpPr>
        <p:spPr>
          <a:xfrm>
            <a:off x="548640" y="4023360"/>
            <a:ext cx="2651760" cy="457200"/>
          </a:xfrm>
          <a:prstGeom prst="rect">
            <a:avLst/>
          </a:prstGeom>
          <a:noFill/>
        </p:spPr>
        <p:txBody>
          <a:bodyPr wrap="square" lIns="27432" tIns="27432" rIns="27432" bIns="27432" anchor="t">
            <a:noAutofit/>
          </a:bodyPr>
          <a:lstStyle/>
          <a:p>
            <a:pPr algn="ctr">
              <a:lnSpc>
                <a:spcPct val="105000"/>
              </a:lnSpc>
            </a:pPr>
            <a:r>
              <a:rPr sz="1600" b="0">
                <a:solidFill>
                  <a:srgbClr val="FFFFFF"/>
                </a:solidFill>
                <a:latin typeface="Helvetica Neue"/>
              </a:rPr>
              <a:t>students · 19.8%</a:t>
            </a:r>
          </a:p>
        </p:txBody>
      </p:sp>
      <p:sp>
        <p:nvSpPr>
          <p:cNvPr id="12" name="Rounded Rectangle 11"/>
          <p:cNvSpPr/>
          <p:nvPr/>
        </p:nvSpPr>
        <p:spPr>
          <a:xfrm>
            <a:off x="3364992" y="1463040"/>
            <a:ext cx="2651760" cy="3566160"/>
          </a:xfrm>
          <a:prstGeom prst="roundRect">
            <a:avLst>
              <a:gd name="adj" fmla="val 8000"/>
            </a:avLst>
          </a:prstGeom>
          <a:solidFill>
            <a:srgbClr val="E070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364992" y="1645920"/>
            <a:ext cx="2651760" cy="914400"/>
          </a:xfrm>
          <a:prstGeom prst="rect">
            <a:avLst/>
          </a:prstGeom>
          <a:noFill/>
        </p:spPr>
        <p:txBody>
          <a:bodyPr wrap="square" lIns="27432" tIns="27432" rIns="27432" bIns="27432" anchor="t">
            <a:noAutofit/>
          </a:bodyPr>
          <a:lstStyle/>
          <a:p>
            <a:pPr algn="ctr">
              <a:lnSpc>
                <a:spcPct val="105000"/>
              </a:lnSpc>
            </a:pPr>
            <a:r>
              <a:rPr sz="5400" b="1">
                <a:solidFill>
                  <a:srgbClr val="FFFFFF"/>
                </a:solidFill>
                <a:latin typeface="Helvetica Neue"/>
              </a:rPr>
              <a:t>C1</a:t>
            </a:r>
          </a:p>
        </p:txBody>
      </p:sp>
      <p:sp>
        <p:nvSpPr>
          <p:cNvPr id="14" name="TextBox 13"/>
          <p:cNvSpPr txBox="1"/>
          <p:nvPr/>
        </p:nvSpPr>
        <p:spPr>
          <a:xfrm>
            <a:off x="3364992" y="2606040"/>
            <a:ext cx="2651760" cy="457200"/>
          </a:xfrm>
          <a:prstGeom prst="rect">
            <a:avLst/>
          </a:prstGeom>
          <a:noFill/>
        </p:spPr>
        <p:txBody>
          <a:bodyPr wrap="square" lIns="27432" tIns="27432" rIns="27432" bIns="27432" anchor="t">
            <a:noAutofit/>
          </a:bodyPr>
          <a:lstStyle/>
          <a:p>
            <a:pPr algn="ctr">
              <a:lnSpc>
                <a:spcPct val="105000"/>
              </a:lnSpc>
            </a:pPr>
            <a:r>
              <a:rPr sz="1800" b="0">
                <a:solidFill>
                  <a:srgbClr val="FFFFFF"/>
                </a:solidFill>
                <a:latin typeface="Helvetica Neue"/>
              </a:rPr>
              <a:t>CGPA 3.20 to 3.49</a:t>
            </a:r>
          </a:p>
        </p:txBody>
      </p:sp>
      <p:sp>
        <p:nvSpPr>
          <p:cNvPr id="15" name="TextBox 14"/>
          <p:cNvSpPr txBox="1"/>
          <p:nvPr/>
        </p:nvSpPr>
        <p:spPr>
          <a:xfrm>
            <a:off x="3364992" y="3337560"/>
            <a:ext cx="2651760" cy="640080"/>
          </a:xfrm>
          <a:prstGeom prst="rect">
            <a:avLst/>
          </a:prstGeom>
          <a:noFill/>
        </p:spPr>
        <p:txBody>
          <a:bodyPr wrap="square" lIns="27432" tIns="27432" rIns="27432" bIns="27432" anchor="t">
            <a:noAutofit/>
          </a:bodyPr>
          <a:lstStyle/>
          <a:p>
            <a:pPr algn="ctr">
              <a:lnSpc>
                <a:spcPct val="105000"/>
              </a:lnSpc>
            </a:pPr>
            <a:r>
              <a:rPr sz="4000" b="1">
                <a:solidFill>
                  <a:srgbClr val="FFFFFF"/>
                </a:solidFill>
                <a:latin typeface="Helvetica Neue"/>
              </a:rPr>
              <a:t>284</a:t>
            </a:r>
          </a:p>
        </p:txBody>
      </p:sp>
      <p:sp>
        <p:nvSpPr>
          <p:cNvPr id="16" name="TextBox 15"/>
          <p:cNvSpPr txBox="1"/>
          <p:nvPr/>
        </p:nvSpPr>
        <p:spPr>
          <a:xfrm>
            <a:off x="3364992" y="4023360"/>
            <a:ext cx="2651760" cy="457200"/>
          </a:xfrm>
          <a:prstGeom prst="rect">
            <a:avLst/>
          </a:prstGeom>
          <a:noFill/>
        </p:spPr>
        <p:txBody>
          <a:bodyPr wrap="square" lIns="27432" tIns="27432" rIns="27432" bIns="27432" anchor="t">
            <a:noAutofit/>
          </a:bodyPr>
          <a:lstStyle/>
          <a:p>
            <a:pPr algn="ctr">
              <a:lnSpc>
                <a:spcPct val="105000"/>
              </a:lnSpc>
            </a:pPr>
            <a:r>
              <a:rPr sz="1600" b="0">
                <a:solidFill>
                  <a:srgbClr val="FFFFFF"/>
                </a:solidFill>
                <a:latin typeface="Helvetica Neue"/>
              </a:rPr>
              <a:t>students · 30.9%</a:t>
            </a:r>
          </a:p>
        </p:txBody>
      </p:sp>
      <p:sp>
        <p:nvSpPr>
          <p:cNvPr id="17" name="Rounded Rectangle 16"/>
          <p:cNvSpPr/>
          <p:nvPr/>
        </p:nvSpPr>
        <p:spPr>
          <a:xfrm>
            <a:off x="6181344" y="1463040"/>
            <a:ext cx="2651760" cy="3566160"/>
          </a:xfrm>
          <a:prstGeom prst="roundRect">
            <a:avLst>
              <a:gd name="adj" fmla="val 8000"/>
            </a:avLst>
          </a:prstGeom>
          <a:solidFill>
            <a:srgbClr val="4B8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181344" y="1645920"/>
            <a:ext cx="2651760" cy="914400"/>
          </a:xfrm>
          <a:prstGeom prst="rect">
            <a:avLst/>
          </a:prstGeom>
          <a:noFill/>
        </p:spPr>
        <p:txBody>
          <a:bodyPr wrap="square" lIns="27432" tIns="27432" rIns="27432" bIns="27432" anchor="t">
            <a:noAutofit/>
          </a:bodyPr>
          <a:lstStyle/>
          <a:p>
            <a:pPr algn="ctr">
              <a:lnSpc>
                <a:spcPct val="105000"/>
              </a:lnSpc>
            </a:pPr>
            <a:r>
              <a:rPr sz="5400" b="1">
                <a:solidFill>
                  <a:srgbClr val="FFFFFF"/>
                </a:solidFill>
                <a:latin typeface="Helvetica Neue"/>
              </a:rPr>
              <a:t>C2</a:t>
            </a:r>
          </a:p>
        </p:txBody>
      </p:sp>
      <p:sp>
        <p:nvSpPr>
          <p:cNvPr id="19" name="TextBox 18"/>
          <p:cNvSpPr txBox="1"/>
          <p:nvPr/>
        </p:nvSpPr>
        <p:spPr>
          <a:xfrm>
            <a:off x="6181344" y="2606040"/>
            <a:ext cx="2651760" cy="457200"/>
          </a:xfrm>
          <a:prstGeom prst="rect">
            <a:avLst/>
          </a:prstGeom>
          <a:noFill/>
        </p:spPr>
        <p:txBody>
          <a:bodyPr wrap="square" lIns="27432" tIns="27432" rIns="27432" bIns="27432" anchor="t">
            <a:noAutofit/>
          </a:bodyPr>
          <a:lstStyle/>
          <a:p>
            <a:pPr algn="ctr">
              <a:lnSpc>
                <a:spcPct val="105000"/>
              </a:lnSpc>
            </a:pPr>
            <a:r>
              <a:rPr sz="1800" b="0">
                <a:solidFill>
                  <a:srgbClr val="FFFFFF"/>
                </a:solidFill>
                <a:latin typeface="Helvetica Neue"/>
              </a:rPr>
              <a:t>CGPA 3.50 to 3.74</a:t>
            </a:r>
          </a:p>
        </p:txBody>
      </p:sp>
      <p:sp>
        <p:nvSpPr>
          <p:cNvPr id="20" name="TextBox 19"/>
          <p:cNvSpPr txBox="1"/>
          <p:nvPr/>
        </p:nvSpPr>
        <p:spPr>
          <a:xfrm>
            <a:off x="6181344" y="3337560"/>
            <a:ext cx="2651760" cy="640080"/>
          </a:xfrm>
          <a:prstGeom prst="rect">
            <a:avLst/>
          </a:prstGeom>
          <a:noFill/>
        </p:spPr>
        <p:txBody>
          <a:bodyPr wrap="square" lIns="27432" tIns="27432" rIns="27432" bIns="27432" anchor="t">
            <a:noAutofit/>
          </a:bodyPr>
          <a:lstStyle/>
          <a:p>
            <a:pPr algn="ctr">
              <a:lnSpc>
                <a:spcPct val="105000"/>
              </a:lnSpc>
            </a:pPr>
            <a:r>
              <a:rPr sz="4000" b="1">
                <a:solidFill>
                  <a:srgbClr val="FFFFFF"/>
                </a:solidFill>
                <a:latin typeface="Helvetica Neue"/>
              </a:rPr>
              <a:t>264</a:t>
            </a:r>
          </a:p>
        </p:txBody>
      </p:sp>
      <p:sp>
        <p:nvSpPr>
          <p:cNvPr id="21" name="TextBox 20"/>
          <p:cNvSpPr txBox="1"/>
          <p:nvPr/>
        </p:nvSpPr>
        <p:spPr>
          <a:xfrm>
            <a:off x="6181344" y="4023360"/>
            <a:ext cx="2651760" cy="457200"/>
          </a:xfrm>
          <a:prstGeom prst="rect">
            <a:avLst/>
          </a:prstGeom>
          <a:noFill/>
        </p:spPr>
        <p:txBody>
          <a:bodyPr wrap="square" lIns="27432" tIns="27432" rIns="27432" bIns="27432" anchor="t">
            <a:noAutofit/>
          </a:bodyPr>
          <a:lstStyle/>
          <a:p>
            <a:pPr algn="ctr">
              <a:lnSpc>
                <a:spcPct val="105000"/>
              </a:lnSpc>
            </a:pPr>
            <a:r>
              <a:rPr sz="1600" b="0">
                <a:solidFill>
                  <a:srgbClr val="FFFFFF"/>
                </a:solidFill>
                <a:latin typeface="Helvetica Neue"/>
              </a:rPr>
              <a:t>students · 28.7%</a:t>
            </a:r>
          </a:p>
        </p:txBody>
      </p:sp>
      <p:sp>
        <p:nvSpPr>
          <p:cNvPr id="22" name="Rounded Rectangle 21"/>
          <p:cNvSpPr/>
          <p:nvPr/>
        </p:nvSpPr>
        <p:spPr>
          <a:xfrm>
            <a:off x="8997696" y="1463040"/>
            <a:ext cx="2651760" cy="3566160"/>
          </a:xfrm>
          <a:prstGeom prst="roundRect">
            <a:avLst>
              <a:gd name="adj" fmla="val 8000"/>
            </a:avLst>
          </a:prstGeom>
          <a:solidFill>
            <a:srgbClr val="2659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997696" y="1645920"/>
            <a:ext cx="2651760" cy="914400"/>
          </a:xfrm>
          <a:prstGeom prst="rect">
            <a:avLst/>
          </a:prstGeom>
          <a:noFill/>
        </p:spPr>
        <p:txBody>
          <a:bodyPr wrap="square" lIns="27432" tIns="27432" rIns="27432" bIns="27432" anchor="t">
            <a:noAutofit/>
          </a:bodyPr>
          <a:lstStyle/>
          <a:p>
            <a:pPr algn="ctr">
              <a:lnSpc>
                <a:spcPct val="105000"/>
              </a:lnSpc>
            </a:pPr>
            <a:r>
              <a:rPr sz="5400" b="1">
                <a:solidFill>
                  <a:srgbClr val="FFFFFF"/>
                </a:solidFill>
                <a:latin typeface="Helvetica Neue"/>
              </a:rPr>
              <a:t>C3</a:t>
            </a:r>
          </a:p>
        </p:txBody>
      </p:sp>
      <p:sp>
        <p:nvSpPr>
          <p:cNvPr id="24" name="TextBox 23"/>
          <p:cNvSpPr txBox="1"/>
          <p:nvPr/>
        </p:nvSpPr>
        <p:spPr>
          <a:xfrm>
            <a:off x="8997696" y="2606040"/>
            <a:ext cx="2651760" cy="457200"/>
          </a:xfrm>
          <a:prstGeom prst="rect">
            <a:avLst/>
          </a:prstGeom>
          <a:noFill/>
        </p:spPr>
        <p:txBody>
          <a:bodyPr wrap="square" lIns="27432" tIns="27432" rIns="27432" bIns="27432" anchor="t">
            <a:noAutofit/>
          </a:bodyPr>
          <a:lstStyle/>
          <a:p>
            <a:pPr algn="ctr">
              <a:lnSpc>
                <a:spcPct val="105000"/>
              </a:lnSpc>
            </a:pPr>
            <a:r>
              <a:rPr sz="1800" b="0">
                <a:solidFill>
                  <a:srgbClr val="FFFFFF"/>
                </a:solidFill>
                <a:latin typeface="Helvetica Neue"/>
              </a:rPr>
              <a:t>CGPA 3.75 and above</a:t>
            </a:r>
          </a:p>
        </p:txBody>
      </p:sp>
      <p:sp>
        <p:nvSpPr>
          <p:cNvPr id="25" name="TextBox 24"/>
          <p:cNvSpPr txBox="1"/>
          <p:nvPr/>
        </p:nvSpPr>
        <p:spPr>
          <a:xfrm>
            <a:off x="8997696" y="3337560"/>
            <a:ext cx="2651760" cy="640080"/>
          </a:xfrm>
          <a:prstGeom prst="rect">
            <a:avLst/>
          </a:prstGeom>
          <a:noFill/>
        </p:spPr>
        <p:txBody>
          <a:bodyPr wrap="square" lIns="27432" tIns="27432" rIns="27432" bIns="27432" anchor="t">
            <a:noAutofit/>
          </a:bodyPr>
          <a:lstStyle/>
          <a:p>
            <a:pPr algn="ctr">
              <a:lnSpc>
                <a:spcPct val="105000"/>
              </a:lnSpc>
            </a:pPr>
            <a:r>
              <a:rPr sz="4000" b="1">
                <a:solidFill>
                  <a:srgbClr val="FFFFFF"/>
                </a:solidFill>
                <a:latin typeface="Helvetica Neue"/>
              </a:rPr>
              <a:t>190</a:t>
            </a:r>
          </a:p>
        </p:txBody>
      </p:sp>
      <p:sp>
        <p:nvSpPr>
          <p:cNvPr id="26" name="TextBox 25"/>
          <p:cNvSpPr txBox="1"/>
          <p:nvPr/>
        </p:nvSpPr>
        <p:spPr>
          <a:xfrm>
            <a:off x="8997696" y="4023360"/>
            <a:ext cx="2651760" cy="457200"/>
          </a:xfrm>
          <a:prstGeom prst="rect">
            <a:avLst/>
          </a:prstGeom>
          <a:noFill/>
        </p:spPr>
        <p:txBody>
          <a:bodyPr wrap="square" lIns="27432" tIns="27432" rIns="27432" bIns="27432" anchor="t">
            <a:noAutofit/>
          </a:bodyPr>
          <a:lstStyle/>
          <a:p>
            <a:pPr algn="ctr">
              <a:lnSpc>
                <a:spcPct val="105000"/>
              </a:lnSpc>
            </a:pPr>
            <a:r>
              <a:rPr sz="1600" b="0">
                <a:solidFill>
                  <a:srgbClr val="FFFFFF"/>
                </a:solidFill>
                <a:latin typeface="Helvetica Neue"/>
              </a:rPr>
              <a:t>students · 20.7%</a:t>
            </a:r>
          </a:p>
        </p:txBody>
      </p:sp>
      <p:sp>
        <p:nvSpPr>
          <p:cNvPr id="27" name="Rounded Rectangle 26"/>
          <p:cNvSpPr/>
          <p:nvPr/>
        </p:nvSpPr>
        <p:spPr>
          <a:xfrm>
            <a:off x="548640" y="5349240"/>
            <a:ext cx="11064240" cy="8229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900" b="0">
                <a:solidFill>
                  <a:srgbClr val="0B0B0B"/>
                </a:solidFill>
                <a:latin typeface="Helvetica Neue"/>
              </a:rPr>
              <a:t>The form collected CGPA ranges, not exact numbers → a four-group classification problem.</a:t>
            </a:r>
          </a:p>
        </p:txBody>
      </p:sp>
      <p:sp>
        <p:nvSpPr>
          <p:cNvPr id="28" name="SimpleLightSectionLabel">
            <a:extLst>
              <a:ext uri="{FF2B5EF4-FFF2-40B4-BE49-F238E27FC236}">
                <a16:creationId xmlns:a16="http://schemas.microsoft.com/office/drawing/2014/main" id="{500E686E-E0EC-4E23-8E88-31D4A22E5B7E}"/>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DATASET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DATASET STATISTICS</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How Are Students Distributed Across CGPA Groups?</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dirty="0">
                <a:solidFill>
                  <a:srgbClr val="898781"/>
                </a:solidFill>
                <a:latin typeface="Helvetica Neue"/>
              </a:rPr>
              <a:t>1</a:t>
            </a:r>
            <a:r>
              <a:rPr lang="en-US" sz="1000" b="0" dirty="0">
                <a:solidFill>
                  <a:srgbClr val="898781"/>
                </a:solidFill>
                <a:latin typeface="Helvetica Neue"/>
              </a:rPr>
              <a:t>7</a:t>
            </a:r>
            <a:endParaRPr sz="1000" b="0" dirty="0">
              <a:solidFill>
                <a:srgbClr val="898781"/>
              </a:solidFill>
              <a:latin typeface="Helvetica Neue"/>
            </a:endParaRPr>
          </a:p>
        </p:txBody>
      </p:sp>
      <p:pic>
        <p:nvPicPr>
          <p:cNvPr id="7" name="Picture 6" descr="rc_cgpa.png"/>
          <p:cNvPicPr>
            <a:picLocks noChangeAspect="1"/>
          </p:cNvPicPr>
          <p:nvPr/>
        </p:nvPicPr>
        <p:blipFill>
          <a:blip r:embed="rId3"/>
          <a:stretch>
            <a:fillRect/>
          </a:stretch>
        </p:blipFill>
        <p:spPr>
          <a:xfrm>
            <a:off x="548640" y="1419467"/>
            <a:ext cx="6675120" cy="4659144"/>
          </a:xfrm>
          <a:prstGeom prst="rect">
            <a:avLst/>
          </a:prstGeom>
        </p:spPr>
      </p:pic>
      <p:sp>
        <p:nvSpPr>
          <p:cNvPr id="16" name="Rounded Rectangle 15"/>
          <p:cNvSpPr/>
          <p:nvPr/>
        </p:nvSpPr>
        <p:spPr>
          <a:xfrm>
            <a:off x="7498080" y="3552444"/>
            <a:ext cx="4114800" cy="59436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500" b="1" dirty="0">
                <a:solidFill>
                  <a:srgbClr val="1F3B5C"/>
                </a:solidFill>
                <a:latin typeface="Helvetica Neue"/>
              </a:rPr>
              <a:t>Class shares are close enough for direct evaluation</a:t>
            </a:r>
          </a:p>
        </p:txBody>
      </p:sp>
      <p:sp>
        <p:nvSpPr>
          <p:cNvPr id="17" name="SimpleLightSectionLabel">
            <a:extLst>
              <a:ext uri="{FF2B5EF4-FFF2-40B4-BE49-F238E27FC236}">
                <a16:creationId xmlns:a16="http://schemas.microsoft.com/office/drawing/2014/main" id="{976BFE16-9B2A-457B-A5AC-DB9A73DAFDFE}"/>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DATASET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WHAT STUDENTS ANSWERED</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How Often Do Students Attend Classes?</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dirty="0">
                <a:solidFill>
                  <a:srgbClr val="898781"/>
                </a:solidFill>
                <a:latin typeface="Helvetica Neue"/>
              </a:rPr>
              <a:t>1</a:t>
            </a:r>
            <a:r>
              <a:rPr lang="en-US" sz="1000" b="0" dirty="0">
                <a:solidFill>
                  <a:srgbClr val="898781"/>
                </a:solidFill>
                <a:latin typeface="Helvetica Neue"/>
              </a:rPr>
              <a:t>8</a:t>
            </a:r>
            <a:endParaRPr sz="1000" b="0" dirty="0">
              <a:solidFill>
                <a:srgbClr val="898781"/>
              </a:solidFill>
              <a:latin typeface="Helvetica Neue"/>
            </a:endParaRPr>
          </a:p>
        </p:txBody>
      </p:sp>
      <p:pic>
        <p:nvPicPr>
          <p:cNvPr id="7" name="Picture 6" descr="rc_attendance.png"/>
          <p:cNvPicPr>
            <a:picLocks noChangeAspect="1"/>
          </p:cNvPicPr>
          <p:nvPr/>
        </p:nvPicPr>
        <p:blipFill>
          <a:blip r:embed="rId3"/>
          <a:stretch>
            <a:fillRect/>
          </a:stretch>
        </p:blipFill>
        <p:spPr>
          <a:xfrm>
            <a:off x="548640" y="1420280"/>
            <a:ext cx="6766560" cy="4703239"/>
          </a:xfrm>
          <a:prstGeom prst="rect">
            <a:avLst/>
          </a:prstGeom>
        </p:spPr>
      </p:pic>
      <p:sp>
        <p:nvSpPr>
          <p:cNvPr id="8" name="Rounded Rectangle 7"/>
          <p:cNvSpPr/>
          <p:nvPr/>
        </p:nvSpPr>
        <p:spPr>
          <a:xfrm>
            <a:off x="7635240" y="1417320"/>
            <a:ext cx="3977639" cy="141732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0" y="1527048"/>
            <a:ext cx="3703320" cy="779526"/>
          </a:xfrm>
          <a:prstGeom prst="rect">
            <a:avLst/>
          </a:prstGeom>
          <a:noFill/>
        </p:spPr>
        <p:txBody>
          <a:bodyPr wrap="square" lIns="27432" tIns="27432" rIns="27432" bIns="27432" anchor="ctr">
            <a:noAutofit/>
          </a:bodyPr>
          <a:lstStyle/>
          <a:p>
            <a:pPr algn="l">
              <a:lnSpc>
                <a:spcPct val="105000"/>
              </a:lnSpc>
            </a:pPr>
            <a:r>
              <a:rPr sz="3000" b="1">
                <a:solidFill>
                  <a:srgbClr val="2A78D6"/>
                </a:solidFill>
                <a:latin typeface="Helvetica Neue"/>
              </a:rPr>
              <a:t>349 · 37.9%</a:t>
            </a:r>
          </a:p>
        </p:txBody>
      </p:sp>
      <p:sp>
        <p:nvSpPr>
          <p:cNvPr id="10" name="TextBox 9"/>
          <p:cNvSpPr txBox="1"/>
          <p:nvPr/>
        </p:nvSpPr>
        <p:spPr>
          <a:xfrm>
            <a:off x="7772400" y="2239365"/>
            <a:ext cx="3703320" cy="566928"/>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most common: 90% or more</a:t>
            </a:r>
          </a:p>
        </p:txBody>
      </p:sp>
      <p:sp>
        <p:nvSpPr>
          <p:cNvPr id="11" name="Rounded Rectangle 10"/>
          <p:cNvSpPr/>
          <p:nvPr/>
        </p:nvSpPr>
        <p:spPr>
          <a:xfrm>
            <a:off x="7635240" y="3017520"/>
            <a:ext cx="3977639" cy="141732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0" y="3127248"/>
            <a:ext cx="3703320" cy="779526"/>
          </a:xfrm>
          <a:prstGeom prst="rect">
            <a:avLst/>
          </a:prstGeom>
          <a:noFill/>
        </p:spPr>
        <p:txBody>
          <a:bodyPr wrap="square" lIns="27432" tIns="27432" rIns="27432" bIns="27432" anchor="ctr">
            <a:noAutofit/>
          </a:bodyPr>
          <a:lstStyle/>
          <a:p>
            <a:pPr algn="l">
              <a:lnSpc>
                <a:spcPct val="105000"/>
              </a:lnSpc>
            </a:pPr>
            <a:r>
              <a:rPr sz="3000" b="1">
                <a:solidFill>
                  <a:srgbClr val="2A78D6"/>
                </a:solidFill>
                <a:latin typeface="Helvetica Neue"/>
              </a:rPr>
              <a:t>672 · 73.0%</a:t>
            </a:r>
          </a:p>
        </p:txBody>
      </p:sp>
      <p:sp>
        <p:nvSpPr>
          <p:cNvPr id="13" name="TextBox 12"/>
          <p:cNvSpPr txBox="1"/>
          <p:nvPr/>
        </p:nvSpPr>
        <p:spPr>
          <a:xfrm>
            <a:off x="7772400" y="3839565"/>
            <a:ext cx="3703320" cy="566928"/>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attend 75% or more</a:t>
            </a:r>
          </a:p>
        </p:txBody>
      </p:sp>
      <p:sp>
        <p:nvSpPr>
          <p:cNvPr id="14" name="Rounded Rectangle 13"/>
          <p:cNvSpPr/>
          <p:nvPr/>
        </p:nvSpPr>
        <p:spPr>
          <a:xfrm>
            <a:off x="7635240" y="4617720"/>
            <a:ext cx="3977639" cy="141732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0" y="4727448"/>
            <a:ext cx="3703320" cy="779526"/>
          </a:xfrm>
          <a:prstGeom prst="rect">
            <a:avLst/>
          </a:prstGeom>
          <a:noFill/>
        </p:spPr>
        <p:txBody>
          <a:bodyPr wrap="square" lIns="27432" tIns="27432" rIns="27432" bIns="27432" anchor="ctr">
            <a:noAutofit/>
          </a:bodyPr>
          <a:lstStyle/>
          <a:p>
            <a:pPr algn="l">
              <a:lnSpc>
                <a:spcPct val="105000"/>
              </a:lnSpc>
            </a:pPr>
            <a:r>
              <a:rPr sz="3000" b="1">
                <a:solidFill>
                  <a:srgbClr val="2A78D6"/>
                </a:solidFill>
                <a:latin typeface="Helvetica Neue"/>
              </a:rPr>
              <a:t>25 · 2.7%</a:t>
            </a:r>
          </a:p>
        </p:txBody>
      </p:sp>
      <p:sp>
        <p:nvSpPr>
          <p:cNvPr id="16" name="TextBox 15"/>
          <p:cNvSpPr txBox="1"/>
          <p:nvPr/>
        </p:nvSpPr>
        <p:spPr>
          <a:xfrm>
            <a:off x="7772400" y="5439765"/>
            <a:ext cx="3703320" cy="566928"/>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attend below 60%</a:t>
            </a:r>
          </a:p>
        </p:txBody>
      </p:sp>
      <p:sp>
        <p:nvSpPr>
          <p:cNvPr id="17" name="SimpleLightSectionLabel">
            <a:extLst>
              <a:ext uri="{FF2B5EF4-FFF2-40B4-BE49-F238E27FC236}">
                <a16:creationId xmlns:a16="http://schemas.microsoft.com/office/drawing/2014/main" id="{1A6E1377-F8D2-489E-A4BA-DE4085875888}"/>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OBSERVED PATTERNS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WHAT STUDENTS ANSWERED</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How Much Time Do Students Study?</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lang="en-US" sz="1000" dirty="0">
                <a:solidFill>
                  <a:srgbClr val="898781"/>
                </a:solidFill>
                <a:latin typeface="Helvetica Neue"/>
              </a:rPr>
              <a:t>19</a:t>
            </a:r>
            <a:endParaRPr sz="1000" b="0" dirty="0">
              <a:solidFill>
                <a:srgbClr val="898781"/>
              </a:solidFill>
              <a:latin typeface="Helvetica Neue"/>
            </a:endParaRPr>
          </a:p>
        </p:txBody>
      </p:sp>
      <p:pic>
        <p:nvPicPr>
          <p:cNvPr id="7" name="Picture 6" descr="rc_weekly_study_time.png"/>
          <p:cNvPicPr>
            <a:picLocks noChangeAspect="1"/>
          </p:cNvPicPr>
          <p:nvPr/>
        </p:nvPicPr>
        <p:blipFill>
          <a:blip r:embed="rId3"/>
          <a:stretch>
            <a:fillRect/>
          </a:stretch>
        </p:blipFill>
        <p:spPr>
          <a:xfrm>
            <a:off x="548640" y="1414371"/>
            <a:ext cx="6766560" cy="4715056"/>
          </a:xfrm>
          <a:prstGeom prst="rect">
            <a:avLst/>
          </a:prstGeom>
        </p:spPr>
      </p:pic>
      <p:sp>
        <p:nvSpPr>
          <p:cNvPr id="8" name="Rounded Rectangle 7"/>
          <p:cNvSpPr/>
          <p:nvPr/>
        </p:nvSpPr>
        <p:spPr>
          <a:xfrm>
            <a:off x="7635240" y="1417320"/>
            <a:ext cx="3977639" cy="141732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0" y="1527048"/>
            <a:ext cx="3703320" cy="779526"/>
          </a:xfrm>
          <a:prstGeom prst="rect">
            <a:avLst/>
          </a:prstGeom>
          <a:noFill/>
        </p:spPr>
        <p:txBody>
          <a:bodyPr wrap="square" lIns="27432" tIns="27432" rIns="27432" bIns="27432" anchor="ctr">
            <a:noAutofit/>
          </a:bodyPr>
          <a:lstStyle/>
          <a:p>
            <a:pPr algn="l">
              <a:lnSpc>
                <a:spcPct val="105000"/>
              </a:lnSpc>
            </a:pPr>
            <a:r>
              <a:rPr sz="3000" b="1">
                <a:solidFill>
                  <a:srgbClr val="2A78D6"/>
                </a:solidFill>
                <a:latin typeface="Helvetica Neue"/>
              </a:rPr>
              <a:t>237 · 25.8%</a:t>
            </a:r>
          </a:p>
        </p:txBody>
      </p:sp>
      <p:sp>
        <p:nvSpPr>
          <p:cNvPr id="10" name="TextBox 9"/>
          <p:cNvSpPr txBox="1"/>
          <p:nvPr/>
        </p:nvSpPr>
        <p:spPr>
          <a:xfrm>
            <a:off x="7772400" y="2239365"/>
            <a:ext cx="3703320" cy="566928"/>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most common: 3–6 hrs a week</a:t>
            </a:r>
          </a:p>
        </p:txBody>
      </p:sp>
      <p:sp>
        <p:nvSpPr>
          <p:cNvPr id="11" name="Rounded Rectangle 10"/>
          <p:cNvSpPr/>
          <p:nvPr/>
        </p:nvSpPr>
        <p:spPr>
          <a:xfrm>
            <a:off x="7635240" y="3017520"/>
            <a:ext cx="3977639" cy="141732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0" y="3127248"/>
            <a:ext cx="3703320" cy="779526"/>
          </a:xfrm>
          <a:prstGeom prst="rect">
            <a:avLst/>
          </a:prstGeom>
          <a:noFill/>
        </p:spPr>
        <p:txBody>
          <a:bodyPr wrap="square" lIns="27432" tIns="27432" rIns="27432" bIns="27432" anchor="ctr">
            <a:noAutofit/>
          </a:bodyPr>
          <a:lstStyle/>
          <a:p>
            <a:pPr algn="l">
              <a:lnSpc>
                <a:spcPct val="105000"/>
              </a:lnSpc>
            </a:pPr>
            <a:r>
              <a:rPr sz="3000" b="1">
                <a:solidFill>
                  <a:srgbClr val="2A78D6"/>
                </a:solidFill>
                <a:latin typeface="Helvetica Neue"/>
              </a:rPr>
              <a:t>194 · 21.1%</a:t>
            </a:r>
          </a:p>
        </p:txBody>
      </p:sp>
      <p:sp>
        <p:nvSpPr>
          <p:cNvPr id="13" name="TextBox 12"/>
          <p:cNvSpPr txBox="1"/>
          <p:nvPr/>
        </p:nvSpPr>
        <p:spPr>
          <a:xfrm>
            <a:off x="7772400" y="3839565"/>
            <a:ext cx="3703320" cy="566928"/>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study less than 3 hrs a week</a:t>
            </a:r>
          </a:p>
        </p:txBody>
      </p:sp>
      <p:sp>
        <p:nvSpPr>
          <p:cNvPr id="14" name="Rounded Rectangle 13"/>
          <p:cNvSpPr/>
          <p:nvPr/>
        </p:nvSpPr>
        <p:spPr>
          <a:xfrm>
            <a:off x="7635240" y="4617720"/>
            <a:ext cx="3977639" cy="141732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0" y="4727448"/>
            <a:ext cx="3703320" cy="779526"/>
          </a:xfrm>
          <a:prstGeom prst="rect">
            <a:avLst/>
          </a:prstGeom>
          <a:noFill/>
        </p:spPr>
        <p:txBody>
          <a:bodyPr wrap="square" lIns="27432" tIns="27432" rIns="27432" bIns="27432" anchor="ctr">
            <a:noAutofit/>
          </a:bodyPr>
          <a:lstStyle/>
          <a:p>
            <a:pPr algn="l">
              <a:lnSpc>
                <a:spcPct val="105000"/>
              </a:lnSpc>
            </a:pPr>
            <a:r>
              <a:rPr sz="3000" b="1">
                <a:solidFill>
                  <a:srgbClr val="2A78D6"/>
                </a:solidFill>
                <a:latin typeface="Helvetica Neue"/>
              </a:rPr>
              <a:t>272 · 29.6%</a:t>
            </a:r>
          </a:p>
        </p:txBody>
      </p:sp>
      <p:sp>
        <p:nvSpPr>
          <p:cNvPr id="16" name="TextBox 15"/>
          <p:cNvSpPr txBox="1"/>
          <p:nvPr/>
        </p:nvSpPr>
        <p:spPr>
          <a:xfrm>
            <a:off x="7772400" y="5439765"/>
            <a:ext cx="3703320" cy="566928"/>
          </a:xfrm>
          <a:prstGeom prst="rect">
            <a:avLst/>
          </a:prstGeom>
          <a:noFill/>
        </p:spPr>
        <p:txBody>
          <a:bodyPr wrap="square" lIns="27432" tIns="27432" rIns="27432" bIns="27432" anchor="t">
            <a:noAutofit/>
          </a:bodyPr>
          <a:lstStyle/>
          <a:p>
            <a:pPr algn="l">
              <a:lnSpc>
                <a:spcPct val="105000"/>
              </a:lnSpc>
            </a:pPr>
            <a:r>
              <a:rPr sz="1500" b="0">
                <a:solidFill>
                  <a:srgbClr val="52514E"/>
                </a:solidFill>
                <a:latin typeface="Helvetica Neue"/>
              </a:rPr>
              <a:t>study more than 10 hrs a week</a:t>
            </a:r>
          </a:p>
        </p:txBody>
      </p:sp>
      <p:sp>
        <p:nvSpPr>
          <p:cNvPr id="17" name="SimpleLightSectionLabel">
            <a:extLst>
              <a:ext uri="{FF2B5EF4-FFF2-40B4-BE49-F238E27FC236}">
                <a16:creationId xmlns:a16="http://schemas.microsoft.com/office/drawing/2014/main" id="{5A2AD51F-4B56-4579-98E6-39F417D1E3B3}"/>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OBSERVED PATTERNS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WHAT STUDENTS ANSWERED</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What Do Students Report About Stress and Sleep?</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dirty="0">
                <a:solidFill>
                  <a:srgbClr val="898781"/>
                </a:solidFill>
                <a:latin typeface="Helvetica Neue"/>
              </a:rPr>
              <a:t>2</a:t>
            </a:r>
            <a:r>
              <a:rPr lang="en-US" sz="1000" b="0" dirty="0">
                <a:solidFill>
                  <a:srgbClr val="898781"/>
                </a:solidFill>
                <a:latin typeface="Helvetica Neue"/>
              </a:rPr>
              <a:t>0</a:t>
            </a:r>
            <a:endParaRPr sz="1000" b="0" dirty="0">
              <a:solidFill>
                <a:srgbClr val="898781"/>
              </a:solidFill>
              <a:latin typeface="Helvetica Neue"/>
            </a:endParaRPr>
          </a:p>
        </p:txBody>
      </p:sp>
      <p:sp>
        <p:nvSpPr>
          <p:cNvPr id="7" name="TextBox 6"/>
          <p:cNvSpPr txBox="1"/>
          <p:nvPr/>
        </p:nvSpPr>
        <p:spPr>
          <a:xfrm>
            <a:off x="548640" y="1325880"/>
            <a:ext cx="5394959" cy="411480"/>
          </a:xfrm>
          <a:prstGeom prst="rect">
            <a:avLst/>
          </a:prstGeom>
          <a:noFill/>
        </p:spPr>
        <p:txBody>
          <a:bodyPr wrap="square" lIns="27432" tIns="27432" rIns="27432" bIns="27432" anchor="t">
            <a:noAutofit/>
          </a:bodyPr>
          <a:lstStyle/>
          <a:p>
            <a:pPr algn="l">
              <a:lnSpc>
                <a:spcPct val="105000"/>
              </a:lnSpc>
            </a:pPr>
            <a:r>
              <a:rPr sz="1900" b="1">
                <a:solidFill>
                  <a:srgbClr val="0B0B0B"/>
                </a:solidFill>
                <a:latin typeface="Helvetica Neue"/>
              </a:rPr>
              <a:t>Stress made studying difficult</a:t>
            </a:r>
          </a:p>
        </p:txBody>
      </p:sp>
      <p:pic>
        <p:nvPicPr>
          <p:cNvPr id="8" name="Picture 7" descr="rc_stress_frequency.png"/>
          <p:cNvPicPr>
            <a:picLocks noChangeAspect="1"/>
          </p:cNvPicPr>
          <p:nvPr/>
        </p:nvPicPr>
        <p:blipFill>
          <a:blip r:embed="rId3"/>
          <a:stretch>
            <a:fillRect/>
          </a:stretch>
        </p:blipFill>
        <p:spPr>
          <a:xfrm>
            <a:off x="650081" y="1783080"/>
            <a:ext cx="5192077" cy="3611880"/>
          </a:xfrm>
          <a:prstGeom prst="rect">
            <a:avLst/>
          </a:prstGeom>
        </p:spPr>
      </p:pic>
      <p:sp>
        <p:nvSpPr>
          <p:cNvPr id="9" name="Rounded Rectangle 8"/>
          <p:cNvSpPr/>
          <p:nvPr/>
        </p:nvSpPr>
        <p:spPr>
          <a:xfrm>
            <a:off x="548640" y="5532120"/>
            <a:ext cx="5394959" cy="6858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500" b="1">
                <a:solidFill>
                  <a:srgbClr val="1F3B5C"/>
                </a:solidFill>
                <a:latin typeface="Helvetica Neue"/>
              </a:rPr>
              <a:t>Often + almost always: 376 students (40.9%)</a:t>
            </a:r>
          </a:p>
        </p:txBody>
      </p:sp>
      <p:sp>
        <p:nvSpPr>
          <p:cNvPr id="10" name="TextBox 9"/>
          <p:cNvSpPr txBox="1"/>
          <p:nvPr/>
        </p:nvSpPr>
        <p:spPr>
          <a:xfrm>
            <a:off x="6217919" y="1325880"/>
            <a:ext cx="5394959" cy="411480"/>
          </a:xfrm>
          <a:prstGeom prst="rect">
            <a:avLst/>
          </a:prstGeom>
          <a:noFill/>
        </p:spPr>
        <p:txBody>
          <a:bodyPr wrap="square" lIns="27432" tIns="27432" rIns="27432" bIns="27432" anchor="t">
            <a:noAutofit/>
          </a:bodyPr>
          <a:lstStyle/>
          <a:p>
            <a:pPr algn="l">
              <a:lnSpc>
                <a:spcPct val="105000"/>
              </a:lnSpc>
            </a:pPr>
            <a:r>
              <a:rPr sz="1900" b="1">
                <a:solidFill>
                  <a:srgbClr val="0B0B0B"/>
                </a:solidFill>
                <a:latin typeface="Helvetica Neue"/>
              </a:rPr>
              <a:t>Sleep on a normal night</a:t>
            </a:r>
          </a:p>
        </p:txBody>
      </p:sp>
      <p:pic>
        <p:nvPicPr>
          <p:cNvPr id="11" name="Picture 10" descr="rc_sleep_duration.png"/>
          <p:cNvPicPr>
            <a:picLocks noChangeAspect="1"/>
          </p:cNvPicPr>
          <p:nvPr/>
        </p:nvPicPr>
        <p:blipFill>
          <a:blip r:embed="rId4"/>
          <a:stretch>
            <a:fillRect/>
          </a:stretch>
        </p:blipFill>
        <p:spPr>
          <a:xfrm>
            <a:off x="6323702" y="1783080"/>
            <a:ext cx="5183395" cy="3611880"/>
          </a:xfrm>
          <a:prstGeom prst="rect">
            <a:avLst/>
          </a:prstGeom>
        </p:spPr>
      </p:pic>
      <p:sp>
        <p:nvSpPr>
          <p:cNvPr id="12" name="Rounded Rectangle 11"/>
          <p:cNvSpPr/>
          <p:nvPr/>
        </p:nvSpPr>
        <p:spPr>
          <a:xfrm>
            <a:off x="6217919" y="5532120"/>
            <a:ext cx="5394959" cy="6858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500" b="1">
                <a:solidFill>
                  <a:srgbClr val="1F3B5C"/>
                </a:solidFill>
                <a:latin typeface="Helvetica Neue"/>
              </a:rPr>
              <a:t>Under 6 hours: 408 students (44.3%)</a:t>
            </a:r>
          </a:p>
        </p:txBody>
      </p:sp>
      <p:sp>
        <p:nvSpPr>
          <p:cNvPr id="13" name="SimpleLightSectionLabel">
            <a:extLst>
              <a:ext uri="{FF2B5EF4-FFF2-40B4-BE49-F238E27FC236}">
                <a16:creationId xmlns:a16="http://schemas.microsoft.com/office/drawing/2014/main" id="{75ACC20C-A4DC-4FB9-82F3-E3C752A49FB5}"/>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OBSERVED PATTERNS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WHAT STUDENTS ANSWERED</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Distraction and Outside Commitments</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dirty="0">
                <a:solidFill>
                  <a:srgbClr val="898781"/>
                </a:solidFill>
                <a:latin typeface="Helvetica Neue"/>
              </a:rPr>
              <a:t>2</a:t>
            </a:r>
            <a:r>
              <a:rPr lang="en-US" sz="1000" b="0" dirty="0">
                <a:solidFill>
                  <a:srgbClr val="898781"/>
                </a:solidFill>
                <a:latin typeface="Helvetica Neue"/>
              </a:rPr>
              <a:t>1</a:t>
            </a:r>
            <a:endParaRPr sz="1000" b="0" dirty="0">
              <a:solidFill>
                <a:srgbClr val="898781"/>
              </a:solidFill>
              <a:latin typeface="Helvetica Neue"/>
            </a:endParaRPr>
          </a:p>
        </p:txBody>
      </p:sp>
      <p:sp>
        <p:nvSpPr>
          <p:cNvPr id="7" name="TextBox 6"/>
          <p:cNvSpPr txBox="1"/>
          <p:nvPr/>
        </p:nvSpPr>
        <p:spPr>
          <a:xfrm>
            <a:off x="548640" y="1325880"/>
            <a:ext cx="5394959" cy="411480"/>
          </a:xfrm>
          <a:prstGeom prst="rect">
            <a:avLst/>
          </a:prstGeom>
          <a:noFill/>
        </p:spPr>
        <p:txBody>
          <a:bodyPr wrap="square" lIns="27432" tIns="27432" rIns="27432" bIns="27432" anchor="t">
            <a:noAutofit/>
          </a:bodyPr>
          <a:lstStyle/>
          <a:p>
            <a:pPr algn="l">
              <a:lnSpc>
                <a:spcPct val="105000"/>
              </a:lnSpc>
            </a:pPr>
            <a:r>
              <a:rPr sz="1900" b="1">
                <a:solidFill>
                  <a:srgbClr val="0B0B0B"/>
                </a:solidFill>
                <a:latin typeface="Helvetica Neue"/>
              </a:rPr>
              <a:t>Phone / gaming / social media took study time</a:t>
            </a:r>
          </a:p>
        </p:txBody>
      </p:sp>
      <p:pic>
        <p:nvPicPr>
          <p:cNvPr id="8" name="Picture 7" descr="rc_distraction_frequency.png"/>
          <p:cNvPicPr>
            <a:picLocks noChangeAspect="1"/>
          </p:cNvPicPr>
          <p:nvPr/>
        </p:nvPicPr>
        <p:blipFill>
          <a:blip r:embed="rId3"/>
          <a:stretch>
            <a:fillRect/>
          </a:stretch>
        </p:blipFill>
        <p:spPr>
          <a:xfrm>
            <a:off x="665275" y="1783080"/>
            <a:ext cx="5161689" cy="3611880"/>
          </a:xfrm>
          <a:prstGeom prst="rect">
            <a:avLst/>
          </a:prstGeom>
        </p:spPr>
      </p:pic>
      <p:sp>
        <p:nvSpPr>
          <p:cNvPr id="9" name="Rounded Rectangle 8"/>
          <p:cNvSpPr/>
          <p:nvPr/>
        </p:nvSpPr>
        <p:spPr>
          <a:xfrm>
            <a:off x="548640" y="5532120"/>
            <a:ext cx="5394959" cy="6858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500" b="1">
                <a:solidFill>
                  <a:srgbClr val="1F3B5C"/>
                </a:solidFill>
                <a:latin typeface="Helvetica Neue"/>
              </a:rPr>
              <a:t>Often + almost every day: 448 (48.7%)</a:t>
            </a:r>
          </a:p>
        </p:txBody>
      </p:sp>
      <p:sp>
        <p:nvSpPr>
          <p:cNvPr id="10" name="TextBox 9"/>
          <p:cNvSpPr txBox="1"/>
          <p:nvPr/>
        </p:nvSpPr>
        <p:spPr>
          <a:xfrm>
            <a:off x="6217919" y="1325880"/>
            <a:ext cx="5394959" cy="411480"/>
          </a:xfrm>
          <a:prstGeom prst="rect">
            <a:avLst/>
          </a:prstGeom>
          <a:noFill/>
        </p:spPr>
        <p:txBody>
          <a:bodyPr wrap="square" lIns="27432" tIns="27432" rIns="27432" bIns="27432" anchor="t">
            <a:noAutofit/>
          </a:bodyPr>
          <a:lstStyle/>
          <a:p>
            <a:pPr algn="l">
              <a:lnSpc>
                <a:spcPct val="105000"/>
              </a:lnSpc>
            </a:pPr>
            <a:r>
              <a:rPr sz="1900" b="1">
                <a:solidFill>
                  <a:srgbClr val="0B0B0B"/>
                </a:solidFill>
                <a:latin typeface="Helvetica Neue"/>
              </a:rPr>
              <a:t>Outside commitments: tuition, job, club hours</a:t>
            </a:r>
          </a:p>
        </p:txBody>
      </p:sp>
      <p:pic>
        <p:nvPicPr>
          <p:cNvPr id="11" name="Picture 10" descr="rc_weekly_responsibilities.png"/>
          <p:cNvPicPr>
            <a:picLocks noChangeAspect="1"/>
          </p:cNvPicPr>
          <p:nvPr/>
        </p:nvPicPr>
        <p:blipFill>
          <a:blip r:embed="rId4"/>
          <a:stretch>
            <a:fillRect/>
          </a:stretch>
        </p:blipFill>
        <p:spPr>
          <a:xfrm>
            <a:off x="6323702" y="1783080"/>
            <a:ext cx="5183395" cy="3611880"/>
          </a:xfrm>
          <a:prstGeom prst="rect">
            <a:avLst/>
          </a:prstGeom>
        </p:spPr>
      </p:pic>
      <p:sp>
        <p:nvSpPr>
          <p:cNvPr id="12" name="Rounded Rectangle 11"/>
          <p:cNvSpPr/>
          <p:nvPr/>
        </p:nvSpPr>
        <p:spPr>
          <a:xfrm>
            <a:off x="6217919" y="5532120"/>
            <a:ext cx="5394959" cy="6858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500" b="1">
                <a:solidFill>
                  <a:srgbClr val="1F3B5C"/>
                </a:solidFill>
                <a:latin typeface="Helvetica Neue"/>
              </a:rPr>
              <a:t>6 hours or more: 455 (49.5%)</a:t>
            </a:r>
          </a:p>
        </p:txBody>
      </p:sp>
      <p:sp>
        <p:nvSpPr>
          <p:cNvPr id="13" name="SimpleLightSectionLabel">
            <a:extLst>
              <a:ext uri="{FF2B5EF4-FFF2-40B4-BE49-F238E27FC236}">
                <a16:creationId xmlns:a16="http://schemas.microsoft.com/office/drawing/2014/main" id="{52D458FE-4F09-4454-ABF2-D85A1D91A22A}"/>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OBSERVED PATTERNS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WHAT STUDENTS ANSWERED</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Motivation, Support and Study Environment</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dirty="0">
                <a:solidFill>
                  <a:srgbClr val="898781"/>
                </a:solidFill>
                <a:latin typeface="Helvetica Neue"/>
              </a:rPr>
              <a:t>2</a:t>
            </a:r>
            <a:r>
              <a:rPr lang="en-US" sz="1000" b="0" dirty="0">
                <a:solidFill>
                  <a:srgbClr val="898781"/>
                </a:solidFill>
                <a:latin typeface="Helvetica Neue"/>
              </a:rPr>
              <a:t>2</a:t>
            </a:r>
            <a:endParaRPr sz="1000" b="0" dirty="0">
              <a:solidFill>
                <a:srgbClr val="898781"/>
              </a:solidFill>
              <a:latin typeface="Helvetica Neue"/>
            </a:endParaRPr>
          </a:p>
        </p:txBody>
      </p:sp>
      <p:sp>
        <p:nvSpPr>
          <p:cNvPr id="7" name="TextBox 6"/>
          <p:cNvSpPr txBox="1"/>
          <p:nvPr/>
        </p:nvSpPr>
        <p:spPr>
          <a:xfrm>
            <a:off x="548640" y="1325880"/>
            <a:ext cx="3505200" cy="411480"/>
          </a:xfrm>
          <a:prstGeom prst="rect">
            <a:avLst/>
          </a:prstGeom>
          <a:noFill/>
        </p:spPr>
        <p:txBody>
          <a:bodyPr wrap="square" lIns="27432" tIns="27432" rIns="27432" bIns="27432" anchor="t">
            <a:noAutofit/>
          </a:bodyPr>
          <a:lstStyle/>
          <a:p>
            <a:pPr algn="l">
              <a:lnSpc>
                <a:spcPct val="105000"/>
              </a:lnSpc>
            </a:pPr>
            <a:r>
              <a:rPr sz="1900" b="1">
                <a:solidFill>
                  <a:srgbClr val="0B0B0B"/>
                </a:solidFill>
                <a:latin typeface="Helvetica Neue"/>
              </a:rPr>
              <a:t>Got desired department</a:t>
            </a:r>
          </a:p>
        </p:txBody>
      </p:sp>
      <p:pic>
        <p:nvPicPr>
          <p:cNvPr id="8" name="Picture 7" descr="rc_desired_department_match_small.png"/>
          <p:cNvPicPr>
            <a:picLocks noChangeAspect="1"/>
          </p:cNvPicPr>
          <p:nvPr/>
        </p:nvPicPr>
        <p:blipFill>
          <a:blip r:embed="rId3"/>
          <a:stretch>
            <a:fillRect/>
          </a:stretch>
        </p:blipFill>
        <p:spPr>
          <a:xfrm>
            <a:off x="548640" y="1937631"/>
            <a:ext cx="3505200" cy="3348496"/>
          </a:xfrm>
          <a:prstGeom prst="rect">
            <a:avLst/>
          </a:prstGeom>
        </p:spPr>
      </p:pic>
      <p:sp>
        <p:nvSpPr>
          <p:cNvPr id="9" name="Rounded Rectangle 8"/>
          <p:cNvSpPr/>
          <p:nvPr/>
        </p:nvSpPr>
        <p:spPr>
          <a:xfrm>
            <a:off x="548640" y="5532120"/>
            <a:ext cx="3505200" cy="6858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400" b="1">
                <a:solidFill>
                  <a:srgbClr val="1F3B5C"/>
                </a:solidFill>
                <a:latin typeface="Helvetica Neue"/>
              </a:rPr>
              <a:t>Exactly what I wanted: 359 (39.0%)</a:t>
            </a:r>
          </a:p>
        </p:txBody>
      </p:sp>
      <p:sp>
        <p:nvSpPr>
          <p:cNvPr id="10" name="TextBox 9"/>
          <p:cNvSpPr txBox="1"/>
          <p:nvPr/>
        </p:nvSpPr>
        <p:spPr>
          <a:xfrm>
            <a:off x="4328160" y="1325880"/>
            <a:ext cx="3505200" cy="411480"/>
          </a:xfrm>
          <a:prstGeom prst="rect">
            <a:avLst/>
          </a:prstGeom>
          <a:noFill/>
        </p:spPr>
        <p:txBody>
          <a:bodyPr wrap="square" lIns="27432" tIns="27432" rIns="27432" bIns="27432" anchor="t">
            <a:noAutofit/>
          </a:bodyPr>
          <a:lstStyle/>
          <a:p>
            <a:pPr algn="l">
              <a:lnSpc>
                <a:spcPct val="105000"/>
              </a:lnSpc>
            </a:pPr>
            <a:r>
              <a:rPr sz="1900" b="1">
                <a:solidFill>
                  <a:srgbClr val="0B0B0B"/>
                </a:solidFill>
                <a:latin typeface="Helvetica Neue"/>
              </a:rPr>
              <a:t>Family / friend support</a:t>
            </a:r>
          </a:p>
        </p:txBody>
      </p:sp>
      <p:pic>
        <p:nvPicPr>
          <p:cNvPr id="11" name="Picture 10" descr="rc_support_level_small.png"/>
          <p:cNvPicPr>
            <a:picLocks noChangeAspect="1"/>
          </p:cNvPicPr>
          <p:nvPr/>
        </p:nvPicPr>
        <p:blipFill>
          <a:blip r:embed="rId4"/>
          <a:stretch>
            <a:fillRect/>
          </a:stretch>
        </p:blipFill>
        <p:spPr>
          <a:xfrm>
            <a:off x="4328160" y="1945473"/>
            <a:ext cx="3505200" cy="3332813"/>
          </a:xfrm>
          <a:prstGeom prst="rect">
            <a:avLst/>
          </a:prstGeom>
        </p:spPr>
      </p:pic>
      <p:sp>
        <p:nvSpPr>
          <p:cNvPr id="12" name="Rounded Rectangle 11"/>
          <p:cNvSpPr/>
          <p:nvPr/>
        </p:nvSpPr>
        <p:spPr>
          <a:xfrm>
            <a:off x="4328160" y="5532120"/>
            <a:ext cx="3505200" cy="6858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400" b="1">
                <a:solidFill>
                  <a:srgbClr val="1F3B5C"/>
                </a:solidFill>
                <a:latin typeface="Helvetica Neue"/>
              </a:rPr>
              <a:t>Good + strong: 443 (48.2%)</a:t>
            </a:r>
          </a:p>
        </p:txBody>
      </p:sp>
      <p:sp>
        <p:nvSpPr>
          <p:cNvPr id="13" name="TextBox 12"/>
          <p:cNvSpPr txBox="1"/>
          <p:nvPr/>
        </p:nvSpPr>
        <p:spPr>
          <a:xfrm>
            <a:off x="8107680" y="1325880"/>
            <a:ext cx="3505200" cy="411480"/>
          </a:xfrm>
          <a:prstGeom prst="rect">
            <a:avLst/>
          </a:prstGeom>
          <a:noFill/>
        </p:spPr>
        <p:txBody>
          <a:bodyPr wrap="square" lIns="27432" tIns="27432" rIns="27432" bIns="27432" anchor="t">
            <a:noAutofit/>
          </a:bodyPr>
          <a:lstStyle/>
          <a:p>
            <a:pPr algn="l">
              <a:lnSpc>
                <a:spcPct val="105000"/>
              </a:lnSpc>
            </a:pPr>
            <a:r>
              <a:rPr sz="1900" b="1">
                <a:solidFill>
                  <a:srgbClr val="0B0B0B"/>
                </a:solidFill>
                <a:latin typeface="Helvetica Neue"/>
              </a:rPr>
              <a:t>Study-friendly living place</a:t>
            </a:r>
          </a:p>
        </p:txBody>
      </p:sp>
      <p:pic>
        <p:nvPicPr>
          <p:cNvPr id="14" name="Picture 13" descr="rc_study_environment_small.png"/>
          <p:cNvPicPr>
            <a:picLocks noChangeAspect="1"/>
          </p:cNvPicPr>
          <p:nvPr/>
        </p:nvPicPr>
        <p:blipFill>
          <a:blip r:embed="rId5"/>
          <a:stretch>
            <a:fillRect/>
          </a:stretch>
        </p:blipFill>
        <p:spPr>
          <a:xfrm>
            <a:off x="8107680" y="1939598"/>
            <a:ext cx="3505200" cy="3344562"/>
          </a:xfrm>
          <a:prstGeom prst="rect">
            <a:avLst/>
          </a:prstGeom>
        </p:spPr>
      </p:pic>
      <p:sp>
        <p:nvSpPr>
          <p:cNvPr id="15" name="Rounded Rectangle 14"/>
          <p:cNvSpPr/>
          <p:nvPr/>
        </p:nvSpPr>
        <p:spPr>
          <a:xfrm>
            <a:off x="8107680" y="5532120"/>
            <a:ext cx="3505200" cy="685800"/>
          </a:xfrm>
          <a:prstGeom prst="roundRect">
            <a:avLst>
              <a:gd name="adj" fmla="val 8000"/>
            </a:avLst>
          </a:prstGeom>
          <a:solidFill>
            <a:srgbClr val="EAF2FC"/>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400" b="1">
                <a:solidFill>
                  <a:srgbClr val="1F3B5C"/>
                </a:solidFill>
                <a:latin typeface="Helvetica Neue"/>
              </a:rPr>
              <a:t>Mostly suitable + excellent: 442 (48.0%)</a:t>
            </a:r>
          </a:p>
        </p:txBody>
      </p:sp>
      <p:sp>
        <p:nvSpPr>
          <p:cNvPr id="16" name="SimpleLightSectionLabel">
            <a:extLst>
              <a:ext uri="{FF2B5EF4-FFF2-40B4-BE49-F238E27FC236}">
                <a16:creationId xmlns:a16="http://schemas.microsoft.com/office/drawing/2014/main" id="{4C6B15F4-19A2-4FB3-BCA6-480AC9BD5023}"/>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OBSERVED PATTERNS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sz="1200" b="1">
                <a:solidFill>
                  <a:srgbClr val="2A78D6"/>
                </a:solidFill>
                <a:latin typeface="Helvetica Neue"/>
              </a:rPr>
              <a:t>OBSERVED PATTERNS</a:t>
            </a: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a:solidFill>
                  <a:srgbClr val="121212"/>
                </a:solidFill>
                <a:latin typeface="OpenAI Sans" panose="020B0604020202020204" charset="0"/>
              </a:rPr>
              <a:t>Which Student Features Move With CGPA?</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sz="1000" b="0" dirty="0">
                <a:solidFill>
                  <a:srgbClr val="898781"/>
                </a:solidFill>
                <a:latin typeface="Helvetica Neue"/>
              </a:rPr>
              <a:t>2</a:t>
            </a:r>
            <a:r>
              <a:rPr lang="en-US" sz="1000" b="0" dirty="0">
                <a:solidFill>
                  <a:srgbClr val="898781"/>
                </a:solidFill>
                <a:latin typeface="Helvetica Neue"/>
              </a:rPr>
              <a:t>3</a:t>
            </a:r>
            <a:endParaRPr sz="1000" b="0" dirty="0">
              <a:solidFill>
                <a:srgbClr val="898781"/>
              </a:solidFill>
              <a:latin typeface="Helvetica Neue"/>
            </a:endParaRPr>
          </a:p>
        </p:txBody>
      </p:sp>
      <p:pic>
        <p:nvPicPr>
          <p:cNvPr id="7" name="Picture 6" descr="association_strength.png"/>
          <p:cNvPicPr>
            <a:picLocks noChangeAspect="1"/>
          </p:cNvPicPr>
          <p:nvPr/>
        </p:nvPicPr>
        <p:blipFill>
          <a:blip r:embed="rId3"/>
          <a:stretch>
            <a:fillRect/>
          </a:stretch>
        </p:blipFill>
        <p:spPr>
          <a:xfrm>
            <a:off x="789940" y="1280160"/>
            <a:ext cx="6924040" cy="4297680"/>
          </a:xfrm>
          <a:prstGeom prst="rect">
            <a:avLst/>
          </a:prstGeom>
        </p:spPr>
      </p:pic>
      <p:sp>
        <p:nvSpPr>
          <p:cNvPr id="8" name="Rounded Rectangle 7"/>
          <p:cNvSpPr/>
          <p:nvPr/>
        </p:nvSpPr>
        <p:spPr>
          <a:xfrm>
            <a:off x="8229600" y="1371600"/>
            <a:ext cx="3383280" cy="118872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321040" y="1508760"/>
            <a:ext cx="594360" cy="914400"/>
          </a:xfrm>
          <a:prstGeom prst="rect">
            <a:avLst/>
          </a:prstGeom>
          <a:noFill/>
        </p:spPr>
        <p:txBody>
          <a:bodyPr wrap="square" lIns="27432" tIns="27432" rIns="27432" bIns="27432" anchor="ctr">
            <a:noAutofit/>
          </a:bodyPr>
          <a:lstStyle/>
          <a:p>
            <a:pPr algn="l">
              <a:lnSpc>
                <a:spcPct val="105000"/>
              </a:lnSpc>
            </a:pPr>
            <a:r>
              <a:rPr sz="3600" b="1">
                <a:solidFill>
                  <a:srgbClr val="2A78D6"/>
                </a:solidFill>
                <a:latin typeface="Helvetica Neue"/>
              </a:rPr>
              <a:t>⬆</a:t>
            </a:r>
          </a:p>
        </p:txBody>
      </p:sp>
      <p:sp>
        <p:nvSpPr>
          <p:cNvPr id="10" name="TextBox 9"/>
          <p:cNvSpPr txBox="1"/>
          <p:nvPr/>
        </p:nvSpPr>
        <p:spPr>
          <a:xfrm>
            <a:off x="8915400" y="1481328"/>
            <a:ext cx="2651760" cy="502920"/>
          </a:xfrm>
          <a:prstGeom prst="rect">
            <a:avLst/>
          </a:prstGeom>
          <a:noFill/>
        </p:spPr>
        <p:txBody>
          <a:bodyPr wrap="square" lIns="27432" tIns="27432" rIns="27432" bIns="27432" anchor="t">
            <a:noAutofit/>
          </a:bodyPr>
          <a:lstStyle/>
          <a:p>
            <a:pPr algn="l">
              <a:lnSpc>
                <a:spcPct val="105000"/>
              </a:lnSpc>
            </a:pPr>
            <a:r>
              <a:rPr sz="1600" b="1">
                <a:solidFill>
                  <a:srgbClr val="0B0B0B"/>
                </a:solidFill>
                <a:latin typeface="Helvetica Neue"/>
              </a:rPr>
              <a:t>Got desired department</a:t>
            </a:r>
          </a:p>
        </p:txBody>
      </p:sp>
      <p:sp>
        <p:nvSpPr>
          <p:cNvPr id="11" name="TextBox 10"/>
          <p:cNvSpPr txBox="1"/>
          <p:nvPr/>
        </p:nvSpPr>
        <p:spPr>
          <a:xfrm>
            <a:off x="8915400" y="1993392"/>
            <a:ext cx="2651760" cy="502920"/>
          </a:xfrm>
          <a:prstGeom prst="rect">
            <a:avLst/>
          </a:prstGeom>
          <a:noFill/>
        </p:spPr>
        <p:txBody>
          <a:bodyPr wrap="square" lIns="27432" tIns="27432" rIns="27432" bIns="27432" anchor="t">
            <a:noAutofit/>
          </a:bodyPr>
          <a:lstStyle/>
          <a:p>
            <a:pPr algn="l">
              <a:lnSpc>
                <a:spcPct val="105000"/>
              </a:lnSpc>
            </a:pPr>
            <a:r>
              <a:rPr sz="1300" b="0">
                <a:solidFill>
                  <a:srgbClr val="52514E"/>
                </a:solidFill>
                <a:latin typeface="Helvetica Neue"/>
              </a:rPr>
              <a:t>small positive pattern (+0.13)</a:t>
            </a:r>
          </a:p>
        </p:txBody>
      </p:sp>
      <p:sp>
        <p:nvSpPr>
          <p:cNvPr id="12" name="Rounded Rectangle 11"/>
          <p:cNvSpPr/>
          <p:nvPr/>
        </p:nvSpPr>
        <p:spPr>
          <a:xfrm>
            <a:off x="8229600" y="2743200"/>
            <a:ext cx="3383280" cy="118872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321040" y="2880360"/>
            <a:ext cx="594360" cy="914400"/>
          </a:xfrm>
          <a:prstGeom prst="rect">
            <a:avLst/>
          </a:prstGeom>
          <a:noFill/>
        </p:spPr>
        <p:txBody>
          <a:bodyPr wrap="square" lIns="27432" tIns="27432" rIns="27432" bIns="27432" anchor="ctr">
            <a:noAutofit/>
          </a:bodyPr>
          <a:lstStyle/>
          <a:p>
            <a:pPr algn="l">
              <a:lnSpc>
                <a:spcPct val="105000"/>
              </a:lnSpc>
            </a:pPr>
            <a:r>
              <a:rPr sz="3600" b="1">
                <a:solidFill>
                  <a:srgbClr val="2A78D6"/>
                </a:solidFill>
                <a:latin typeface="Helvetica Neue"/>
              </a:rPr>
              <a:t>⬆</a:t>
            </a:r>
          </a:p>
        </p:txBody>
      </p:sp>
      <p:sp>
        <p:nvSpPr>
          <p:cNvPr id="14" name="TextBox 13"/>
          <p:cNvSpPr txBox="1"/>
          <p:nvPr/>
        </p:nvSpPr>
        <p:spPr>
          <a:xfrm>
            <a:off x="8915400" y="2852928"/>
            <a:ext cx="2651760" cy="502920"/>
          </a:xfrm>
          <a:prstGeom prst="rect">
            <a:avLst/>
          </a:prstGeom>
          <a:noFill/>
        </p:spPr>
        <p:txBody>
          <a:bodyPr wrap="square" lIns="27432" tIns="27432" rIns="27432" bIns="27432" anchor="t">
            <a:noAutofit/>
          </a:bodyPr>
          <a:lstStyle/>
          <a:p>
            <a:pPr algn="l">
              <a:lnSpc>
                <a:spcPct val="105000"/>
              </a:lnSpc>
            </a:pPr>
            <a:r>
              <a:rPr sz="1600" b="1">
                <a:solidFill>
                  <a:srgbClr val="0B0B0B"/>
                </a:solidFill>
                <a:latin typeface="Helvetica Neue"/>
              </a:rPr>
              <a:t>Class attendance</a:t>
            </a:r>
          </a:p>
        </p:txBody>
      </p:sp>
      <p:sp>
        <p:nvSpPr>
          <p:cNvPr id="15" name="TextBox 14"/>
          <p:cNvSpPr txBox="1"/>
          <p:nvPr/>
        </p:nvSpPr>
        <p:spPr>
          <a:xfrm>
            <a:off x="8915400" y="3364992"/>
            <a:ext cx="2651760" cy="502920"/>
          </a:xfrm>
          <a:prstGeom prst="rect">
            <a:avLst/>
          </a:prstGeom>
          <a:noFill/>
        </p:spPr>
        <p:txBody>
          <a:bodyPr wrap="square" lIns="27432" tIns="27432" rIns="27432" bIns="27432" anchor="t">
            <a:noAutofit/>
          </a:bodyPr>
          <a:lstStyle/>
          <a:p>
            <a:pPr algn="l">
              <a:lnSpc>
                <a:spcPct val="105000"/>
              </a:lnSpc>
            </a:pPr>
            <a:r>
              <a:rPr sz="1300" b="0">
                <a:solidFill>
                  <a:srgbClr val="52514E"/>
                </a:solidFill>
                <a:latin typeface="Helvetica Neue"/>
              </a:rPr>
              <a:t>small positive pattern (+0.09)</a:t>
            </a:r>
          </a:p>
        </p:txBody>
      </p:sp>
      <p:sp>
        <p:nvSpPr>
          <p:cNvPr id="16" name="Rounded Rectangle 15"/>
          <p:cNvSpPr/>
          <p:nvPr/>
        </p:nvSpPr>
        <p:spPr>
          <a:xfrm>
            <a:off x="8229600" y="4114800"/>
            <a:ext cx="3383280" cy="118872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321040" y="4251960"/>
            <a:ext cx="594360" cy="914400"/>
          </a:xfrm>
          <a:prstGeom prst="rect">
            <a:avLst/>
          </a:prstGeom>
          <a:noFill/>
        </p:spPr>
        <p:txBody>
          <a:bodyPr wrap="square" lIns="27432" tIns="27432" rIns="27432" bIns="27432" anchor="ctr">
            <a:noAutofit/>
          </a:bodyPr>
          <a:lstStyle/>
          <a:p>
            <a:pPr algn="l">
              <a:lnSpc>
                <a:spcPct val="105000"/>
              </a:lnSpc>
            </a:pPr>
            <a:r>
              <a:rPr sz="3600" b="1">
                <a:solidFill>
                  <a:srgbClr val="A83A3A"/>
                </a:solidFill>
                <a:latin typeface="Helvetica Neue"/>
              </a:rPr>
              <a:t>⬇</a:t>
            </a:r>
          </a:p>
        </p:txBody>
      </p:sp>
      <p:sp>
        <p:nvSpPr>
          <p:cNvPr id="18" name="TextBox 17"/>
          <p:cNvSpPr txBox="1"/>
          <p:nvPr/>
        </p:nvSpPr>
        <p:spPr>
          <a:xfrm>
            <a:off x="8915400" y="4224528"/>
            <a:ext cx="2651760" cy="502920"/>
          </a:xfrm>
          <a:prstGeom prst="rect">
            <a:avLst/>
          </a:prstGeom>
          <a:noFill/>
        </p:spPr>
        <p:txBody>
          <a:bodyPr wrap="square" lIns="27432" tIns="27432" rIns="27432" bIns="27432" anchor="t">
            <a:noAutofit/>
          </a:bodyPr>
          <a:lstStyle/>
          <a:p>
            <a:pPr algn="l">
              <a:lnSpc>
                <a:spcPct val="105000"/>
              </a:lnSpc>
            </a:pPr>
            <a:r>
              <a:rPr sz="1600" b="1">
                <a:solidFill>
                  <a:srgbClr val="0B0B0B"/>
                </a:solidFill>
                <a:latin typeface="Helvetica Neue"/>
              </a:rPr>
              <a:t>Outside commitments</a:t>
            </a:r>
          </a:p>
        </p:txBody>
      </p:sp>
      <p:sp>
        <p:nvSpPr>
          <p:cNvPr id="19" name="TextBox 18"/>
          <p:cNvSpPr txBox="1"/>
          <p:nvPr/>
        </p:nvSpPr>
        <p:spPr>
          <a:xfrm>
            <a:off x="8915400" y="4736592"/>
            <a:ext cx="2651760" cy="502920"/>
          </a:xfrm>
          <a:prstGeom prst="rect">
            <a:avLst/>
          </a:prstGeom>
          <a:noFill/>
        </p:spPr>
        <p:txBody>
          <a:bodyPr wrap="square" lIns="27432" tIns="27432" rIns="27432" bIns="27432" anchor="t">
            <a:noAutofit/>
          </a:bodyPr>
          <a:lstStyle/>
          <a:p>
            <a:pPr algn="l">
              <a:lnSpc>
                <a:spcPct val="105000"/>
              </a:lnSpc>
            </a:pPr>
            <a:r>
              <a:rPr sz="1300" b="0">
                <a:solidFill>
                  <a:srgbClr val="52514E"/>
                </a:solidFill>
                <a:latin typeface="Helvetica Neue"/>
              </a:rPr>
              <a:t>small negative pattern (-0.09)</a:t>
            </a:r>
          </a:p>
        </p:txBody>
      </p:sp>
      <p:sp>
        <p:nvSpPr>
          <p:cNvPr id="20" name="Rounded Rectangle 19"/>
          <p:cNvSpPr/>
          <p:nvPr/>
        </p:nvSpPr>
        <p:spPr>
          <a:xfrm>
            <a:off x="548640" y="5669280"/>
            <a:ext cx="11064240" cy="594360"/>
          </a:xfrm>
          <a:prstGeom prst="roundRect">
            <a:avLst>
              <a:gd name="adj" fmla="val 8000"/>
            </a:avLst>
          </a:prstGeom>
          <a:solidFill>
            <a:srgbClr val="FFF1D6"/>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600" b="1">
                <a:solidFill>
                  <a:srgbClr val="8A5A00"/>
                </a:solidFill>
                <a:latin typeface="Helvetica Neue"/>
              </a:rPr>
              <a:t>Larger number = stronger pattern, and all are small. Associations, not causes. Blue = reliable after checking.</a:t>
            </a:r>
          </a:p>
        </p:txBody>
      </p:sp>
      <p:sp>
        <p:nvSpPr>
          <p:cNvPr id="21" name="SimpleLightSectionLabel">
            <a:extLst>
              <a:ext uri="{FF2B5EF4-FFF2-40B4-BE49-F238E27FC236}">
                <a16:creationId xmlns:a16="http://schemas.microsoft.com/office/drawing/2014/main" id="{1A50A1A1-1282-459D-AEF6-2F413F44966D}"/>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OBSERVED PATTERNS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48640" y="329184"/>
            <a:ext cx="457200" cy="6400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201168"/>
            <a:ext cx="7315200" cy="310896"/>
          </a:xfrm>
          <a:prstGeom prst="rect">
            <a:avLst/>
          </a:prstGeom>
          <a:noFill/>
        </p:spPr>
        <p:txBody>
          <a:bodyPr wrap="square" lIns="27432" tIns="27432" rIns="27432" bIns="27432" anchor="t">
            <a:noAutofit/>
          </a:bodyPr>
          <a:lstStyle/>
          <a:p>
            <a:pPr algn="l">
              <a:lnSpc>
                <a:spcPct val="105000"/>
              </a:lnSpc>
            </a:pPr>
            <a:r>
              <a:rPr lang="en-US" sz="1200" b="1">
                <a:solidFill>
                  <a:srgbClr val="2A78D6"/>
                </a:solidFill>
                <a:latin typeface="Helvetica Neue"/>
              </a:rPr>
              <a:t>SGPA + CGPA PATTERNS</a:t>
            </a:r>
            <a:endParaRPr sz="1200" b="1">
              <a:solidFill>
                <a:srgbClr val="2A78D6"/>
              </a:solidFill>
              <a:latin typeface="Helvetica Neue"/>
            </a:endParaRPr>
          </a:p>
        </p:txBody>
      </p:sp>
      <p:sp>
        <p:nvSpPr>
          <p:cNvPr id="4" name="TextBox 3"/>
          <p:cNvSpPr txBox="1"/>
          <p:nvPr/>
        </p:nvSpPr>
        <p:spPr>
          <a:xfrm>
            <a:off x="548640" y="475488"/>
            <a:ext cx="11064240" cy="777240"/>
          </a:xfrm>
          <a:prstGeom prst="rect">
            <a:avLst/>
          </a:prstGeom>
          <a:noFill/>
        </p:spPr>
        <p:txBody>
          <a:bodyPr wrap="square" lIns="27432" tIns="27432" rIns="27432" bIns="27432" anchor="t">
            <a:noAutofit/>
          </a:bodyPr>
          <a:lstStyle/>
          <a:p>
            <a:pPr algn="l">
              <a:lnSpc>
                <a:spcPct val="105000"/>
              </a:lnSpc>
            </a:pPr>
            <a:r>
              <a:rPr sz="3200" b="1" dirty="0">
                <a:solidFill>
                  <a:srgbClr val="121212"/>
                </a:solidFill>
                <a:latin typeface="OpenAI Sans" panose="020B0604020202020204" charset="0"/>
              </a:rPr>
              <a:t>Do SGPA and CGPA Show the Same Patterns?</a:t>
            </a:r>
          </a:p>
        </p:txBody>
      </p:sp>
      <p:sp>
        <p:nvSpPr>
          <p:cNvPr id="5" name="TextBox 4"/>
          <p:cNvSpPr txBox="1"/>
          <p:nvPr/>
        </p:nvSpPr>
        <p:spPr>
          <a:xfrm>
            <a:off x="548640" y="6446520"/>
            <a:ext cx="8229600" cy="274320"/>
          </a:xfrm>
          <a:prstGeom prst="rect">
            <a:avLst/>
          </a:prstGeom>
          <a:noFill/>
        </p:spPr>
        <p:txBody>
          <a:bodyPr wrap="square" lIns="27432" tIns="27432" rIns="27432" bIns="27432" anchor="t">
            <a:noAutofit/>
          </a:bodyPr>
          <a:lstStyle/>
          <a:p>
            <a:pPr algn="l">
              <a:lnSpc>
                <a:spcPct val="105000"/>
              </a:lnSpc>
            </a:pPr>
            <a:r>
              <a:rPr sz="1000" b="0">
                <a:solidFill>
                  <a:srgbClr val="898781"/>
                </a:solidFill>
                <a:latin typeface="Helvetica Neue"/>
              </a:rPr>
              <a:t>CSE 4112 · Machine Learning Lab · What Shapes Student CGPA?</a:t>
            </a:r>
          </a:p>
        </p:txBody>
      </p:sp>
      <p:sp>
        <p:nvSpPr>
          <p:cNvPr id="6" name="TextBox 5"/>
          <p:cNvSpPr txBox="1"/>
          <p:nvPr/>
        </p:nvSpPr>
        <p:spPr>
          <a:xfrm>
            <a:off x="10881360" y="6446520"/>
            <a:ext cx="731520" cy="274320"/>
          </a:xfrm>
          <a:prstGeom prst="rect">
            <a:avLst/>
          </a:prstGeom>
          <a:noFill/>
        </p:spPr>
        <p:txBody>
          <a:bodyPr wrap="square" lIns="27432" tIns="27432" rIns="27432" bIns="27432" anchor="t">
            <a:noAutofit/>
          </a:bodyPr>
          <a:lstStyle/>
          <a:p>
            <a:pPr algn="r">
              <a:lnSpc>
                <a:spcPct val="105000"/>
              </a:lnSpc>
            </a:pPr>
            <a:r>
              <a:rPr lang="en-US" sz="1000" dirty="0">
                <a:solidFill>
                  <a:srgbClr val="898781"/>
                </a:solidFill>
                <a:latin typeface="Helvetica Neue"/>
              </a:rPr>
              <a:t>24</a:t>
            </a:r>
            <a:endParaRPr sz="1000" b="0" dirty="0">
              <a:solidFill>
                <a:srgbClr val="898781"/>
              </a:solidFill>
              <a:latin typeface="Helvetica Neue"/>
            </a:endParaRPr>
          </a:p>
        </p:txBody>
      </p:sp>
      <p:pic>
        <p:nvPicPr>
          <p:cNvPr id="7" name="Picture 6" descr="sgpa_vs_cgpa_pattern.png"/>
          <p:cNvPicPr>
            <a:picLocks noChangeAspect="1"/>
          </p:cNvPicPr>
          <p:nvPr/>
        </p:nvPicPr>
        <p:blipFill>
          <a:blip r:embed="rId3"/>
          <a:stretch>
            <a:fillRect/>
          </a:stretch>
        </p:blipFill>
        <p:spPr>
          <a:xfrm>
            <a:off x="557038" y="1280160"/>
            <a:ext cx="7481282" cy="4983480"/>
          </a:xfrm>
          <a:prstGeom prst="rect">
            <a:avLst/>
          </a:prstGeom>
        </p:spPr>
      </p:pic>
      <p:sp>
        <p:nvSpPr>
          <p:cNvPr id="8" name="Rounded Rectangle 7"/>
          <p:cNvSpPr/>
          <p:nvPr/>
        </p:nvSpPr>
        <p:spPr>
          <a:xfrm>
            <a:off x="8321040" y="1417320"/>
            <a:ext cx="3291840" cy="1234440"/>
          </a:xfrm>
          <a:prstGeom prst="roundRect">
            <a:avLst>
              <a:gd name="adj" fmla="val 8000"/>
            </a:avLst>
          </a:prstGeom>
          <a:solidFill>
            <a:srgbClr val="E3F4E3"/>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l">
              <a:lnSpc>
                <a:spcPct val="105000"/>
              </a:lnSpc>
            </a:pPr>
            <a:r>
              <a:rPr sz="1700" b="1">
                <a:solidFill>
                  <a:srgbClr val="0B6B0B"/>
                </a:solidFill>
                <a:latin typeface="Helvetica Neue"/>
              </a:rPr>
              <a:t>Class attendance</a:t>
            </a:r>
          </a:p>
          <a:p>
            <a:pPr algn="l">
              <a:lnSpc>
                <a:spcPct val="105000"/>
              </a:lnSpc>
            </a:pPr>
            <a:r>
              <a:rPr sz="1300" b="0">
                <a:solidFill>
                  <a:srgbClr val="0B6B0B"/>
                </a:solidFill>
                <a:latin typeface="Helvetica Neue"/>
              </a:rPr>
              <a:t>same direction: SGPA +0.11, CGPA +0.09</a:t>
            </a:r>
          </a:p>
        </p:txBody>
      </p:sp>
      <p:sp>
        <p:nvSpPr>
          <p:cNvPr id="9" name="Rounded Rectangle 8"/>
          <p:cNvSpPr/>
          <p:nvPr/>
        </p:nvSpPr>
        <p:spPr>
          <a:xfrm>
            <a:off x="8321040" y="2788920"/>
            <a:ext cx="3291840" cy="1234440"/>
          </a:xfrm>
          <a:prstGeom prst="roundRect">
            <a:avLst>
              <a:gd name="adj" fmla="val 8000"/>
            </a:avLst>
          </a:prstGeom>
          <a:solidFill>
            <a:srgbClr val="E3F4E3"/>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l">
              <a:lnSpc>
                <a:spcPct val="105000"/>
              </a:lnSpc>
            </a:pPr>
            <a:r>
              <a:rPr sz="1700" b="1">
                <a:solidFill>
                  <a:srgbClr val="0B6B0B"/>
                </a:solidFill>
                <a:latin typeface="Helvetica Neue"/>
              </a:rPr>
              <a:t>Got desired department</a:t>
            </a:r>
          </a:p>
          <a:p>
            <a:pPr algn="l">
              <a:lnSpc>
                <a:spcPct val="105000"/>
              </a:lnSpc>
            </a:pPr>
            <a:r>
              <a:rPr sz="1300" b="0">
                <a:solidFill>
                  <a:srgbClr val="0B6B0B"/>
                </a:solidFill>
                <a:latin typeface="Helvetica Neue"/>
              </a:rPr>
              <a:t>same direction: SGPA +0.14, CGPA +0.13</a:t>
            </a:r>
          </a:p>
        </p:txBody>
      </p:sp>
      <p:sp>
        <p:nvSpPr>
          <p:cNvPr id="10" name="Rounded Rectangle 9"/>
          <p:cNvSpPr/>
          <p:nvPr/>
        </p:nvSpPr>
        <p:spPr>
          <a:xfrm>
            <a:off x="8321040" y="4160520"/>
            <a:ext cx="3291840" cy="146304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l">
              <a:lnSpc>
                <a:spcPct val="105000"/>
              </a:lnSpc>
            </a:pPr>
            <a:r>
              <a:rPr sz="1700" b="1">
                <a:solidFill>
                  <a:srgbClr val="52514E"/>
                </a:solidFill>
                <a:latin typeface="Helvetica Neue"/>
              </a:rPr>
              <a:t>10 other questions</a:t>
            </a:r>
          </a:p>
          <a:p>
            <a:pPr algn="l">
              <a:lnSpc>
                <a:spcPct val="105000"/>
              </a:lnSpc>
            </a:pPr>
            <a:r>
              <a:rPr sz="1300" b="0">
                <a:solidFill>
                  <a:srgbClr val="52514E"/>
                </a:solidFill>
                <a:latin typeface="Helvetica Neue"/>
              </a:rPr>
              <a:t>too weak to claim a matching pattern</a:t>
            </a:r>
          </a:p>
        </p:txBody>
      </p:sp>
      <p:sp>
        <p:nvSpPr>
          <p:cNvPr id="11" name="SimpleLightSectionLabel">
            <a:extLst>
              <a:ext uri="{FF2B5EF4-FFF2-40B4-BE49-F238E27FC236}">
                <a16:creationId xmlns:a16="http://schemas.microsoft.com/office/drawing/2014/main" id="{DBE8BBAD-64AA-49D7-BC63-F36D449C72CB}"/>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SGPA + CGPA PATTERNS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lang="en-US" dirty="0">
                <a:latin typeface="OpenAI Sans" panose="020B0604020202020204" charset="0"/>
                <a:ea typeface="OpenAI Sans" panose="020B0604020202020204" charset="0"/>
                <a:cs typeface="Times New Roman"/>
              </a:rPr>
              <a:t>25</a:t>
            </a:r>
            <a:endParaRPr sz="1000" dirty="0">
              <a:latin typeface="OpenAI Sans" panose="020B0604020202020204" charset="0"/>
              <a:ea typeface="OpenAI Sans" panose="020B0604020202020204" charset="0"/>
              <a:cs typeface="Times New Roman"/>
            </a:endParaRP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b="1" dirty="0">
                <a:latin typeface="OpenAI Sans" panose="020B0604020202020204" charset="0"/>
                <a:ea typeface="OpenAI Sans" panose="020B0604020202020204" charset="0"/>
                <a:cs typeface="Times New Roman"/>
              </a:rPr>
              <a:t>Attendance and CGPA</a:t>
            </a:r>
          </a:p>
        </p:txBody>
      </p:sp>
      <p:sp>
        <p:nvSpPr>
          <p:cNvPr id="534" name="Less than 40%">
            <a:extLst>
              <a:ext uri="{FF2B5EF4-FFF2-40B4-BE49-F238E27FC236}">
                <a16:creationId xmlns:a16="http://schemas.microsoft.com/office/drawing/2014/main" id="{AE12E83A-60EE-432B-A6AD-369AC8EA2273}"/>
              </a:ext>
            </a:extLst>
          </p:cNvPr>
          <p:cNvSpPr>
            <a:spLocks noGrp="1"/>
          </p:cNvSpPr>
          <p:nvPr/>
        </p:nvSpPr>
        <p:spPr>
          <a:xfrm>
            <a:off x="400050" y="19431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dirty="0">
                <a:solidFill>
                  <a:srgbClr val="121212"/>
                </a:solidFill>
                <a:latin typeface="OpenAI Sans" panose="020B0604020202020204" charset="0"/>
                <a:ea typeface="OpenAI Sans" panose="020B0604020202020204" charset="0"/>
                <a:cs typeface="Times New Roman"/>
              </a:rPr>
              <a:t>Less than 40%</a:t>
            </a:r>
          </a:p>
        </p:txBody>
      </p:sp>
      <p:sp>
        <p:nvSpPr>
          <p:cNvPr id="535" name="Rectangle 534">
            <a:extLst>
              <a:ext uri="{FF2B5EF4-FFF2-40B4-BE49-F238E27FC236}">
                <a16:creationId xmlns:a16="http://schemas.microsoft.com/office/drawing/2014/main" id="{8F2FEFD5-83A7-4939-999B-500A9B776B79}"/>
              </a:ext>
            </a:extLst>
          </p:cNvPr>
          <p:cNvSpPr>
            <a:spLocks noGrp="1"/>
          </p:cNvSpPr>
          <p:nvPr/>
        </p:nvSpPr>
        <p:spPr>
          <a:xfrm>
            <a:off x="3667125" y="1905000"/>
            <a:ext cx="2294572"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36" name="30%">
            <a:extLst>
              <a:ext uri="{FF2B5EF4-FFF2-40B4-BE49-F238E27FC236}">
                <a16:creationId xmlns:a16="http://schemas.microsoft.com/office/drawing/2014/main" id="{02404CD3-9935-487A-901F-BB3FCD5C461F}"/>
              </a:ext>
            </a:extLst>
          </p:cNvPr>
          <p:cNvSpPr>
            <a:spLocks noGrp="1"/>
          </p:cNvSpPr>
          <p:nvPr/>
        </p:nvSpPr>
        <p:spPr>
          <a:xfrm>
            <a:off x="3705225" y="2009775"/>
            <a:ext cx="223742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dirty="0">
                <a:solidFill>
                  <a:srgbClr val="FFFFFF"/>
                </a:solidFill>
                <a:latin typeface="OpenAI Sans" panose="020B0604020202020204" charset="0"/>
                <a:ea typeface="OpenAI Sans" panose="020B0604020202020204" charset="0"/>
                <a:cs typeface="Times New Roman"/>
              </a:rPr>
              <a:t>33%</a:t>
            </a:r>
          </a:p>
        </p:txBody>
      </p:sp>
      <p:sp>
        <p:nvSpPr>
          <p:cNvPr id="537" name="Rectangle 536">
            <a:extLst>
              <a:ext uri="{FF2B5EF4-FFF2-40B4-BE49-F238E27FC236}">
                <a16:creationId xmlns:a16="http://schemas.microsoft.com/office/drawing/2014/main" id="{B662595F-20C4-4BCE-9429-F0AFE1C9A088}"/>
              </a:ext>
            </a:extLst>
          </p:cNvPr>
          <p:cNvSpPr>
            <a:spLocks noGrp="1"/>
          </p:cNvSpPr>
          <p:nvPr/>
        </p:nvSpPr>
        <p:spPr>
          <a:xfrm>
            <a:off x="5961697" y="1905000"/>
            <a:ext cx="1182052"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38" name="20%">
            <a:extLst>
              <a:ext uri="{FF2B5EF4-FFF2-40B4-BE49-F238E27FC236}">
                <a16:creationId xmlns:a16="http://schemas.microsoft.com/office/drawing/2014/main" id="{75B88EF2-8FF8-458B-BF9C-166768F7924E}"/>
              </a:ext>
            </a:extLst>
          </p:cNvPr>
          <p:cNvSpPr>
            <a:spLocks noGrp="1"/>
          </p:cNvSpPr>
          <p:nvPr/>
        </p:nvSpPr>
        <p:spPr>
          <a:xfrm>
            <a:off x="5999797" y="2009775"/>
            <a:ext cx="112490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17%</a:t>
            </a:r>
          </a:p>
        </p:txBody>
      </p:sp>
      <p:sp>
        <p:nvSpPr>
          <p:cNvPr id="539" name="Rectangle 538">
            <a:extLst>
              <a:ext uri="{FF2B5EF4-FFF2-40B4-BE49-F238E27FC236}">
                <a16:creationId xmlns:a16="http://schemas.microsoft.com/office/drawing/2014/main" id="{5F086FEB-2EBC-4970-850F-961FD67172CF}"/>
              </a:ext>
            </a:extLst>
          </p:cNvPr>
          <p:cNvSpPr>
            <a:spLocks noGrp="1"/>
          </p:cNvSpPr>
          <p:nvPr/>
        </p:nvSpPr>
        <p:spPr>
          <a:xfrm>
            <a:off x="7143749" y="1905000"/>
            <a:ext cx="2294572"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40" name="20%">
            <a:extLst>
              <a:ext uri="{FF2B5EF4-FFF2-40B4-BE49-F238E27FC236}">
                <a16:creationId xmlns:a16="http://schemas.microsoft.com/office/drawing/2014/main" id="{220F01EB-1750-42AD-B2FF-3CBF36DB46A7}"/>
              </a:ext>
            </a:extLst>
          </p:cNvPr>
          <p:cNvSpPr>
            <a:spLocks noGrp="1"/>
          </p:cNvSpPr>
          <p:nvPr/>
        </p:nvSpPr>
        <p:spPr>
          <a:xfrm>
            <a:off x="7181849" y="2009775"/>
            <a:ext cx="223742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33%</a:t>
            </a:r>
          </a:p>
        </p:txBody>
      </p:sp>
      <p:sp>
        <p:nvSpPr>
          <p:cNvPr id="541" name="Rectangle 540">
            <a:extLst>
              <a:ext uri="{FF2B5EF4-FFF2-40B4-BE49-F238E27FC236}">
                <a16:creationId xmlns:a16="http://schemas.microsoft.com/office/drawing/2014/main" id="{D22B8B00-D0E1-4AB3-A3AA-DCCF11EE88DA}"/>
              </a:ext>
            </a:extLst>
          </p:cNvPr>
          <p:cNvSpPr>
            <a:spLocks noGrp="1"/>
          </p:cNvSpPr>
          <p:nvPr/>
        </p:nvSpPr>
        <p:spPr>
          <a:xfrm>
            <a:off x="9438321" y="1905000"/>
            <a:ext cx="1182054"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42" name="30%">
            <a:extLst>
              <a:ext uri="{FF2B5EF4-FFF2-40B4-BE49-F238E27FC236}">
                <a16:creationId xmlns:a16="http://schemas.microsoft.com/office/drawing/2014/main" id="{BD883531-2ED1-46C4-B734-4583340AD188}"/>
              </a:ext>
            </a:extLst>
          </p:cNvPr>
          <p:cNvSpPr>
            <a:spLocks noGrp="1"/>
          </p:cNvSpPr>
          <p:nvPr/>
        </p:nvSpPr>
        <p:spPr>
          <a:xfrm>
            <a:off x="9476421" y="2009775"/>
            <a:ext cx="1124904"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17%</a:t>
            </a:r>
          </a:p>
        </p:txBody>
      </p:sp>
      <p:sp>
        <p:nvSpPr>
          <p:cNvPr id="543" name="n=10">
            <a:extLst>
              <a:ext uri="{FF2B5EF4-FFF2-40B4-BE49-F238E27FC236}">
                <a16:creationId xmlns:a16="http://schemas.microsoft.com/office/drawing/2014/main" id="{D8D0B816-35F4-4467-BABB-BDB563541156}"/>
              </a:ext>
            </a:extLst>
          </p:cNvPr>
          <p:cNvSpPr>
            <a:spLocks noGrp="1"/>
          </p:cNvSpPr>
          <p:nvPr/>
        </p:nvSpPr>
        <p:spPr>
          <a:xfrm>
            <a:off x="10782300" y="20002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n=6</a:t>
            </a:r>
          </a:p>
        </p:txBody>
      </p:sp>
      <p:sp>
        <p:nvSpPr>
          <p:cNvPr id="544" name="40-59%">
            <a:extLst>
              <a:ext uri="{FF2B5EF4-FFF2-40B4-BE49-F238E27FC236}">
                <a16:creationId xmlns:a16="http://schemas.microsoft.com/office/drawing/2014/main" id="{C7AA33CF-FF4A-40DD-A5B1-64C10B548782}"/>
              </a:ext>
            </a:extLst>
          </p:cNvPr>
          <p:cNvSpPr>
            <a:spLocks noGrp="1"/>
          </p:cNvSpPr>
          <p:nvPr/>
        </p:nvSpPr>
        <p:spPr>
          <a:xfrm>
            <a:off x="400050" y="26670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40-59%</a:t>
            </a:r>
          </a:p>
        </p:txBody>
      </p:sp>
      <p:sp>
        <p:nvSpPr>
          <p:cNvPr id="545" name="Rectangle 544">
            <a:extLst>
              <a:ext uri="{FF2B5EF4-FFF2-40B4-BE49-F238E27FC236}">
                <a16:creationId xmlns:a16="http://schemas.microsoft.com/office/drawing/2014/main" id="{12EA070F-42F7-4033-9E9F-1B5BFA15182D}"/>
              </a:ext>
            </a:extLst>
          </p:cNvPr>
          <p:cNvSpPr>
            <a:spLocks noGrp="1"/>
          </p:cNvSpPr>
          <p:nvPr/>
        </p:nvSpPr>
        <p:spPr>
          <a:xfrm>
            <a:off x="3667125" y="2628900"/>
            <a:ext cx="1460182"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46" name="26%">
            <a:extLst>
              <a:ext uri="{FF2B5EF4-FFF2-40B4-BE49-F238E27FC236}">
                <a16:creationId xmlns:a16="http://schemas.microsoft.com/office/drawing/2014/main" id="{C811AA8E-A500-4C21-8E06-F54A4D25E810}"/>
              </a:ext>
            </a:extLst>
          </p:cNvPr>
          <p:cNvSpPr>
            <a:spLocks noGrp="1"/>
          </p:cNvSpPr>
          <p:nvPr/>
        </p:nvSpPr>
        <p:spPr>
          <a:xfrm>
            <a:off x="3705225" y="2733675"/>
            <a:ext cx="140303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21%</a:t>
            </a:r>
          </a:p>
        </p:txBody>
      </p:sp>
      <p:sp>
        <p:nvSpPr>
          <p:cNvPr id="547" name="Rectangle 546">
            <a:extLst>
              <a:ext uri="{FF2B5EF4-FFF2-40B4-BE49-F238E27FC236}">
                <a16:creationId xmlns:a16="http://schemas.microsoft.com/office/drawing/2014/main" id="{72D8DB3D-B440-4FE3-9965-A8AEA2B0ADE2}"/>
              </a:ext>
            </a:extLst>
          </p:cNvPr>
          <p:cNvSpPr>
            <a:spLocks noGrp="1"/>
          </p:cNvSpPr>
          <p:nvPr/>
        </p:nvSpPr>
        <p:spPr>
          <a:xfrm>
            <a:off x="5127307" y="2628900"/>
            <a:ext cx="2572702"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48" name="30%">
            <a:extLst>
              <a:ext uri="{FF2B5EF4-FFF2-40B4-BE49-F238E27FC236}">
                <a16:creationId xmlns:a16="http://schemas.microsoft.com/office/drawing/2014/main" id="{52337BFD-6AB4-469E-9FEA-D9F8749B1250}"/>
              </a:ext>
            </a:extLst>
          </p:cNvPr>
          <p:cNvSpPr>
            <a:spLocks noGrp="1"/>
          </p:cNvSpPr>
          <p:nvPr/>
        </p:nvSpPr>
        <p:spPr>
          <a:xfrm>
            <a:off x="5165407" y="2733675"/>
            <a:ext cx="251555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37%</a:t>
            </a:r>
          </a:p>
        </p:txBody>
      </p:sp>
      <p:sp>
        <p:nvSpPr>
          <p:cNvPr id="549" name="Rectangle 548">
            <a:extLst>
              <a:ext uri="{FF2B5EF4-FFF2-40B4-BE49-F238E27FC236}">
                <a16:creationId xmlns:a16="http://schemas.microsoft.com/office/drawing/2014/main" id="{887ADC16-D06E-49E0-9497-9E74E3E85AB4}"/>
              </a:ext>
            </a:extLst>
          </p:cNvPr>
          <p:cNvSpPr>
            <a:spLocks noGrp="1"/>
          </p:cNvSpPr>
          <p:nvPr/>
        </p:nvSpPr>
        <p:spPr>
          <a:xfrm>
            <a:off x="7700009" y="2628900"/>
            <a:ext cx="1807845"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50" name="26%">
            <a:extLst>
              <a:ext uri="{FF2B5EF4-FFF2-40B4-BE49-F238E27FC236}">
                <a16:creationId xmlns:a16="http://schemas.microsoft.com/office/drawing/2014/main" id="{F962FD4C-E2C9-48A8-BE18-957074F4437D}"/>
              </a:ext>
            </a:extLst>
          </p:cNvPr>
          <p:cNvSpPr>
            <a:spLocks noGrp="1"/>
          </p:cNvSpPr>
          <p:nvPr/>
        </p:nvSpPr>
        <p:spPr>
          <a:xfrm>
            <a:off x="7738109" y="2733675"/>
            <a:ext cx="175069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26%</a:t>
            </a:r>
          </a:p>
        </p:txBody>
      </p:sp>
      <p:sp>
        <p:nvSpPr>
          <p:cNvPr id="551" name="Rectangle 550">
            <a:extLst>
              <a:ext uri="{FF2B5EF4-FFF2-40B4-BE49-F238E27FC236}">
                <a16:creationId xmlns:a16="http://schemas.microsoft.com/office/drawing/2014/main" id="{0A8237A8-780B-41E6-ABFD-319054E65535}"/>
              </a:ext>
            </a:extLst>
          </p:cNvPr>
          <p:cNvSpPr>
            <a:spLocks noGrp="1"/>
          </p:cNvSpPr>
          <p:nvPr/>
        </p:nvSpPr>
        <p:spPr>
          <a:xfrm>
            <a:off x="9507854" y="2628900"/>
            <a:ext cx="1112521"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52" name="17%">
            <a:extLst>
              <a:ext uri="{FF2B5EF4-FFF2-40B4-BE49-F238E27FC236}">
                <a16:creationId xmlns:a16="http://schemas.microsoft.com/office/drawing/2014/main" id="{C97ED008-598C-4DEA-AE83-3EE7DD222286}"/>
              </a:ext>
            </a:extLst>
          </p:cNvPr>
          <p:cNvSpPr>
            <a:spLocks noGrp="1"/>
          </p:cNvSpPr>
          <p:nvPr/>
        </p:nvSpPr>
        <p:spPr>
          <a:xfrm>
            <a:off x="9545954" y="2733675"/>
            <a:ext cx="1055371"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16%</a:t>
            </a:r>
          </a:p>
        </p:txBody>
      </p:sp>
      <p:sp>
        <p:nvSpPr>
          <p:cNvPr id="553" name="n=23">
            <a:extLst>
              <a:ext uri="{FF2B5EF4-FFF2-40B4-BE49-F238E27FC236}">
                <a16:creationId xmlns:a16="http://schemas.microsoft.com/office/drawing/2014/main" id="{60B59414-BFBD-49E2-959F-ABD19705D3E3}"/>
              </a:ext>
            </a:extLst>
          </p:cNvPr>
          <p:cNvSpPr>
            <a:spLocks noGrp="1"/>
          </p:cNvSpPr>
          <p:nvPr/>
        </p:nvSpPr>
        <p:spPr>
          <a:xfrm>
            <a:off x="10782300" y="27241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n=19</a:t>
            </a:r>
          </a:p>
        </p:txBody>
      </p:sp>
      <p:sp>
        <p:nvSpPr>
          <p:cNvPr id="554" name="60-74%">
            <a:extLst>
              <a:ext uri="{FF2B5EF4-FFF2-40B4-BE49-F238E27FC236}">
                <a16:creationId xmlns:a16="http://schemas.microsoft.com/office/drawing/2014/main" id="{F42C6B45-8864-4E88-8B34-6F528F8F94CD}"/>
              </a:ext>
            </a:extLst>
          </p:cNvPr>
          <p:cNvSpPr>
            <a:spLocks noGrp="1"/>
          </p:cNvSpPr>
          <p:nvPr/>
        </p:nvSpPr>
        <p:spPr>
          <a:xfrm>
            <a:off x="400050" y="33909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60-74%</a:t>
            </a:r>
          </a:p>
        </p:txBody>
      </p:sp>
      <p:sp>
        <p:nvSpPr>
          <p:cNvPr id="555" name="Rectangle 554">
            <a:extLst>
              <a:ext uri="{FF2B5EF4-FFF2-40B4-BE49-F238E27FC236}">
                <a16:creationId xmlns:a16="http://schemas.microsoft.com/office/drawing/2014/main" id="{4EECE117-11A0-4FEA-9906-D5F0F1957E50}"/>
              </a:ext>
            </a:extLst>
          </p:cNvPr>
          <p:cNvSpPr>
            <a:spLocks noGrp="1"/>
          </p:cNvSpPr>
          <p:nvPr/>
        </p:nvSpPr>
        <p:spPr>
          <a:xfrm>
            <a:off x="3667125" y="3352800"/>
            <a:ext cx="1529715"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56" name="25%">
            <a:extLst>
              <a:ext uri="{FF2B5EF4-FFF2-40B4-BE49-F238E27FC236}">
                <a16:creationId xmlns:a16="http://schemas.microsoft.com/office/drawing/2014/main" id="{A849D535-7E2F-406D-834F-03BD403D5250}"/>
              </a:ext>
            </a:extLst>
          </p:cNvPr>
          <p:cNvSpPr>
            <a:spLocks noGrp="1"/>
          </p:cNvSpPr>
          <p:nvPr/>
        </p:nvSpPr>
        <p:spPr>
          <a:xfrm>
            <a:off x="3705225" y="3457575"/>
            <a:ext cx="147256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22%</a:t>
            </a:r>
          </a:p>
        </p:txBody>
      </p:sp>
      <p:sp>
        <p:nvSpPr>
          <p:cNvPr id="557" name="Rectangle 556">
            <a:extLst>
              <a:ext uri="{FF2B5EF4-FFF2-40B4-BE49-F238E27FC236}">
                <a16:creationId xmlns:a16="http://schemas.microsoft.com/office/drawing/2014/main" id="{BB061EAA-9F57-4CA3-8354-D525E0314143}"/>
              </a:ext>
            </a:extLst>
          </p:cNvPr>
          <p:cNvSpPr>
            <a:spLocks noGrp="1"/>
          </p:cNvSpPr>
          <p:nvPr/>
        </p:nvSpPr>
        <p:spPr>
          <a:xfrm>
            <a:off x="5196840" y="3352800"/>
            <a:ext cx="2155508"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58" name="29%">
            <a:extLst>
              <a:ext uri="{FF2B5EF4-FFF2-40B4-BE49-F238E27FC236}">
                <a16:creationId xmlns:a16="http://schemas.microsoft.com/office/drawing/2014/main" id="{953F70AB-BA9E-4C94-BEAC-40169BB9E651}"/>
              </a:ext>
            </a:extLst>
          </p:cNvPr>
          <p:cNvSpPr>
            <a:spLocks noGrp="1"/>
          </p:cNvSpPr>
          <p:nvPr/>
        </p:nvSpPr>
        <p:spPr>
          <a:xfrm>
            <a:off x="5234940" y="3457575"/>
            <a:ext cx="209835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31%</a:t>
            </a:r>
          </a:p>
        </p:txBody>
      </p:sp>
      <p:sp>
        <p:nvSpPr>
          <p:cNvPr id="559" name="Rectangle 558">
            <a:extLst>
              <a:ext uri="{FF2B5EF4-FFF2-40B4-BE49-F238E27FC236}">
                <a16:creationId xmlns:a16="http://schemas.microsoft.com/office/drawing/2014/main" id="{C2BE6111-AC4B-4E17-B072-E3B354F6426B}"/>
              </a:ext>
            </a:extLst>
          </p:cNvPr>
          <p:cNvSpPr>
            <a:spLocks noGrp="1"/>
          </p:cNvSpPr>
          <p:nvPr/>
        </p:nvSpPr>
        <p:spPr>
          <a:xfrm>
            <a:off x="7352348" y="3352800"/>
            <a:ext cx="2085975"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60" name="29%">
            <a:extLst>
              <a:ext uri="{FF2B5EF4-FFF2-40B4-BE49-F238E27FC236}">
                <a16:creationId xmlns:a16="http://schemas.microsoft.com/office/drawing/2014/main" id="{86309F7F-E36D-437D-ACA9-4DFAC7DED7AD}"/>
              </a:ext>
            </a:extLst>
          </p:cNvPr>
          <p:cNvSpPr>
            <a:spLocks noGrp="1"/>
          </p:cNvSpPr>
          <p:nvPr/>
        </p:nvSpPr>
        <p:spPr>
          <a:xfrm>
            <a:off x="7390448" y="3457575"/>
            <a:ext cx="202882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30%</a:t>
            </a:r>
          </a:p>
        </p:txBody>
      </p:sp>
      <p:sp>
        <p:nvSpPr>
          <p:cNvPr id="561" name="Rectangle 560">
            <a:extLst>
              <a:ext uri="{FF2B5EF4-FFF2-40B4-BE49-F238E27FC236}">
                <a16:creationId xmlns:a16="http://schemas.microsoft.com/office/drawing/2014/main" id="{359550D8-3716-412A-B12F-8306E8D6BF45}"/>
              </a:ext>
            </a:extLst>
          </p:cNvPr>
          <p:cNvSpPr>
            <a:spLocks noGrp="1"/>
          </p:cNvSpPr>
          <p:nvPr/>
        </p:nvSpPr>
        <p:spPr>
          <a:xfrm>
            <a:off x="9438323" y="3352800"/>
            <a:ext cx="1182052"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62" name="17%">
            <a:extLst>
              <a:ext uri="{FF2B5EF4-FFF2-40B4-BE49-F238E27FC236}">
                <a16:creationId xmlns:a16="http://schemas.microsoft.com/office/drawing/2014/main" id="{4195C0A2-C00D-4D75-8B60-37BEE670294E}"/>
              </a:ext>
            </a:extLst>
          </p:cNvPr>
          <p:cNvSpPr>
            <a:spLocks noGrp="1"/>
          </p:cNvSpPr>
          <p:nvPr/>
        </p:nvSpPr>
        <p:spPr>
          <a:xfrm>
            <a:off x="9476423" y="3457575"/>
            <a:ext cx="112490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17%</a:t>
            </a:r>
          </a:p>
        </p:txBody>
      </p:sp>
      <p:sp>
        <p:nvSpPr>
          <p:cNvPr id="563" name="n=276">
            <a:extLst>
              <a:ext uri="{FF2B5EF4-FFF2-40B4-BE49-F238E27FC236}">
                <a16:creationId xmlns:a16="http://schemas.microsoft.com/office/drawing/2014/main" id="{1213A360-34B3-4821-8C78-4C118DD5389F}"/>
              </a:ext>
            </a:extLst>
          </p:cNvPr>
          <p:cNvSpPr>
            <a:spLocks noGrp="1"/>
          </p:cNvSpPr>
          <p:nvPr/>
        </p:nvSpPr>
        <p:spPr>
          <a:xfrm>
            <a:off x="10782300" y="34480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n=223</a:t>
            </a:r>
          </a:p>
        </p:txBody>
      </p:sp>
      <p:sp>
        <p:nvSpPr>
          <p:cNvPr id="564" name="75-89%">
            <a:extLst>
              <a:ext uri="{FF2B5EF4-FFF2-40B4-BE49-F238E27FC236}">
                <a16:creationId xmlns:a16="http://schemas.microsoft.com/office/drawing/2014/main" id="{06ABAAEB-E573-418C-8280-4748922B999A}"/>
              </a:ext>
            </a:extLst>
          </p:cNvPr>
          <p:cNvSpPr>
            <a:spLocks noGrp="1"/>
          </p:cNvSpPr>
          <p:nvPr/>
        </p:nvSpPr>
        <p:spPr>
          <a:xfrm>
            <a:off x="400050" y="41148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75-89%</a:t>
            </a:r>
          </a:p>
        </p:txBody>
      </p:sp>
      <p:sp>
        <p:nvSpPr>
          <p:cNvPr id="565" name="Rectangle 564">
            <a:extLst>
              <a:ext uri="{FF2B5EF4-FFF2-40B4-BE49-F238E27FC236}">
                <a16:creationId xmlns:a16="http://schemas.microsoft.com/office/drawing/2014/main" id="{616C7541-83A7-4F6D-A104-6B50EBC7EE6F}"/>
              </a:ext>
            </a:extLst>
          </p:cNvPr>
          <p:cNvSpPr>
            <a:spLocks noGrp="1"/>
          </p:cNvSpPr>
          <p:nvPr/>
        </p:nvSpPr>
        <p:spPr>
          <a:xfrm>
            <a:off x="3667125" y="4076700"/>
            <a:ext cx="1376881"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66" name="21%">
            <a:extLst>
              <a:ext uri="{FF2B5EF4-FFF2-40B4-BE49-F238E27FC236}">
                <a16:creationId xmlns:a16="http://schemas.microsoft.com/office/drawing/2014/main" id="{68A9922F-0927-4306-B67B-AF037B4D645A}"/>
              </a:ext>
            </a:extLst>
          </p:cNvPr>
          <p:cNvSpPr>
            <a:spLocks noGrp="1"/>
          </p:cNvSpPr>
          <p:nvPr/>
        </p:nvSpPr>
        <p:spPr>
          <a:xfrm>
            <a:off x="3705225" y="4181475"/>
            <a:ext cx="1319731"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20%</a:t>
            </a:r>
          </a:p>
        </p:txBody>
      </p:sp>
      <p:sp>
        <p:nvSpPr>
          <p:cNvPr id="567" name="Rectangle 566">
            <a:extLst>
              <a:ext uri="{FF2B5EF4-FFF2-40B4-BE49-F238E27FC236}">
                <a16:creationId xmlns:a16="http://schemas.microsoft.com/office/drawing/2014/main" id="{4C064842-F186-41FD-B8A9-70FDB9B3B6D3}"/>
              </a:ext>
            </a:extLst>
          </p:cNvPr>
          <p:cNvSpPr>
            <a:spLocks noGrp="1"/>
          </p:cNvSpPr>
          <p:nvPr/>
        </p:nvSpPr>
        <p:spPr>
          <a:xfrm>
            <a:off x="5044006" y="4076700"/>
            <a:ext cx="2340698"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68" name="31%">
            <a:extLst>
              <a:ext uri="{FF2B5EF4-FFF2-40B4-BE49-F238E27FC236}">
                <a16:creationId xmlns:a16="http://schemas.microsoft.com/office/drawing/2014/main" id="{8246D488-4AEE-4D5F-B9BB-35C7FC9A4818}"/>
              </a:ext>
            </a:extLst>
          </p:cNvPr>
          <p:cNvSpPr>
            <a:spLocks noGrp="1"/>
          </p:cNvSpPr>
          <p:nvPr/>
        </p:nvSpPr>
        <p:spPr>
          <a:xfrm>
            <a:off x="5082106" y="4181475"/>
            <a:ext cx="228354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34%</a:t>
            </a:r>
          </a:p>
        </p:txBody>
      </p:sp>
      <p:sp>
        <p:nvSpPr>
          <p:cNvPr id="569" name="Rectangle 568">
            <a:extLst>
              <a:ext uri="{FF2B5EF4-FFF2-40B4-BE49-F238E27FC236}">
                <a16:creationId xmlns:a16="http://schemas.microsoft.com/office/drawing/2014/main" id="{AB480511-06DE-4030-8591-BCA9CF5004F8}"/>
              </a:ext>
            </a:extLst>
          </p:cNvPr>
          <p:cNvSpPr>
            <a:spLocks noGrp="1"/>
          </p:cNvSpPr>
          <p:nvPr/>
        </p:nvSpPr>
        <p:spPr>
          <a:xfrm>
            <a:off x="7384704" y="4076700"/>
            <a:ext cx="1927634"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70" name="25%">
            <a:extLst>
              <a:ext uri="{FF2B5EF4-FFF2-40B4-BE49-F238E27FC236}">
                <a16:creationId xmlns:a16="http://schemas.microsoft.com/office/drawing/2014/main" id="{141A2321-E553-4D9C-8051-383D6D69EA77}"/>
              </a:ext>
            </a:extLst>
          </p:cNvPr>
          <p:cNvSpPr>
            <a:spLocks noGrp="1"/>
          </p:cNvSpPr>
          <p:nvPr/>
        </p:nvSpPr>
        <p:spPr>
          <a:xfrm>
            <a:off x="7422804" y="4181475"/>
            <a:ext cx="1870484"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28%</a:t>
            </a:r>
          </a:p>
        </p:txBody>
      </p:sp>
      <p:sp>
        <p:nvSpPr>
          <p:cNvPr id="571" name="Rectangle 570">
            <a:extLst>
              <a:ext uri="{FF2B5EF4-FFF2-40B4-BE49-F238E27FC236}">
                <a16:creationId xmlns:a16="http://schemas.microsoft.com/office/drawing/2014/main" id="{12F7EA68-B272-4F7B-835B-8F553702EAA3}"/>
              </a:ext>
            </a:extLst>
          </p:cNvPr>
          <p:cNvSpPr>
            <a:spLocks noGrp="1"/>
          </p:cNvSpPr>
          <p:nvPr/>
        </p:nvSpPr>
        <p:spPr>
          <a:xfrm>
            <a:off x="9312338" y="4076700"/>
            <a:ext cx="1308037"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72" name="22%">
            <a:extLst>
              <a:ext uri="{FF2B5EF4-FFF2-40B4-BE49-F238E27FC236}">
                <a16:creationId xmlns:a16="http://schemas.microsoft.com/office/drawing/2014/main" id="{E25B7881-6BAA-4439-BB57-44CED5C3CEA2}"/>
              </a:ext>
            </a:extLst>
          </p:cNvPr>
          <p:cNvSpPr>
            <a:spLocks noGrp="1"/>
          </p:cNvSpPr>
          <p:nvPr/>
        </p:nvSpPr>
        <p:spPr>
          <a:xfrm>
            <a:off x="9350438" y="4181475"/>
            <a:ext cx="1250887"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19%</a:t>
            </a:r>
          </a:p>
        </p:txBody>
      </p:sp>
      <p:sp>
        <p:nvSpPr>
          <p:cNvPr id="573" name="n=381">
            <a:extLst>
              <a:ext uri="{FF2B5EF4-FFF2-40B4-BE49-F238E27FC236}">
                <a16:creationId xmlns:a16="http://schemas.microsoft.com/office/drawing/2014/main" id="{0465DDAD-F33A-4CE9-ACAA-629F7B2DC168}"/>
              </a:ext>
            </a:extLst>
          </p:cNvPr>
          <p:cNvSpPr>
            <a:spLocks noGrp="1"/>
          </p:cNvSpPr>
          <p:nvPr/>
        </p:nvSpPr>
        <p:spPr>
          <a:xfrm>
            <a:off x="10782300" y="41719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n=323</a:t>
            </a:r>
          </a:p>
        </p:txBody>
      </p:sp>
      <p:sp>
        <p:nvSpPr>
          <p:cNvPr id="574" name="90% or more">
            <a:extLst>
              <a:ext uri="{FF2B5EF4-FFF2-40B4-BE49-F238E27FC236}">
                <a16:creationId xmlns:a16="http://schemas.microsoft.com/office/drawing/2014/main" id="{F5411FAE-A15F-4452-80E6-DB1199CF1A42}"/>
              </a:ext>
            </a:extLst>
          </p:cNvPr>
          <p:cNvSpPr>
            <a:spLocks noGrp="1"/>
          </p:cNvSpPr>
          <p:nvPr/>
        </p:nvSpPr>
        <p:spPr>
          <a:xfrm>
            <a:off x="400050" y="48387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90% or more</a:t>
            </a:r>
          </a:p>
        </p:txBody>
      </p:sp>
      <p:sp>
        <p:nvSpPr>
          <p:cNvPr id="575" name="Rectangle 574">
            <a:extLst>
              <a:ext uri="{FF2B5EF4-FFF2-40B4-BE49-F238E27FC236}">
                <a16:creationId xmlns:a16="http://schemas.microsoft.com/office/drawing/2014/main" id="{5C93551C-D5B1-4C8C-9C8D-9B0734874F3B}"/>
              </a:ext>
            </a:extLst>
          </p:cNvPr>
          <p:cNvSpPr>
            <a:spLocks noGrp="1"/>
          </p:cNvSpPr>
          <p:nvPr/>
        </p:nvSpPr>
        <p:spPr>
          <a:xfrm>
            <a:off x="3667125" y="4800600"/>
            <a:ext cx="1182052"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76" name="19%">
            <a:extLst>
              <a:ext uri="{FF2B5EF4-FFF2-40B4-BE49-F238E27FC236}">
                <a16:creationId xmlns:a16="http://schemas.microsoft.com/office/drawing/2014/main" id="{AC4EC6DF-5C03-4B2E-95FD-4C8B94E8339D}"/>
              </a:ext>
            </a:extLst>
          </p:cNvPr>
          <p:cNvSpPr>
            <a:spLocks noGrp="1"/>
          </p:cNvSpPr>
          <p:nvPr/>
        </p:nvSpPr>
        <p:spPr>
          <a:xfrm>
            <a:off x="3705225" y="4905375"/>
            <a:ext cx="112490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17%</a:t>
            </a:r>
          </a:p>
        </p:txBody>
      </p:sp>
      <p:sp>
        <p:nvSpPr>
          <p:cNvPr id="577" name="Rectangle 576">
            <a:extLst>
              <a:ext uri="{FF2B5EF4-FFF2-40B4-BE49-F238E27FC236}">
                <a16:creationId xmlns:a16="http://schemas.microsoft.com/office/drawing/2014/main" id="{A27C66C0-686A-43D2-A478-48545E11682F}"/>
              </a:ext>
            </a:extLst>
          </p:cNvPr>
          <p:cNvSpPr>
            <a:spLocks noGrp="1"/>
          </p:cNvSpPr>
          <p:nvPr/>
        </p:nvSpPr>
        <p:spPr>
          <a:xfrm>
            <a:off x="4849177" y="4800600"/>
            <a:ext cx="1946910"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78" name="27%">
            <a:extLst>
              <a:ext uri="{FF2B5EF4-FFF2-40B4-BE49-F238E27FC236}">
                <a16:creationId xmlns:a16="http://schemas.microsoft.com/office/drawing/2014/main" id="{A8D71486-BD82-400E-A2E9-7AE926D0B442}"/>
              </a:ext>
            </a:extLst>
          </p:cNvPr>
          <p:cNvSpPr>
            <a:spLocks noGrp="1"/>
          </p:cNvSpPr>
          <p:nvPr/>
        </p:nvSpPr>
        <p:spPr>
          <a:xfrm>
            <a:off x="4887277" y="4905375"/>
            <a:ext cx="188976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28%</a:t>
            </a:r>
          </a:p>
        </p:txBody>
      </p:sp>
      <p:sp>
        <p:nvSpPr>
          <p:cNvPr id="579" name="Rectangle 578">
            <a:extLst>
              <a:ext uri="{FF2B5EF4-FFF2-40B4-BE49-F238E27FC236}">
                <a16:creationId xmlns:a16="http://schemas.microsoft.com/office/drawing/2014/main" id="{4D7E2659-29DA-47FF-81A3-D9C54017D23C}"/>
              </a:ext>
            </a:extLst>
          </p:cNvPr>
          <p:cNvSpPr>
            <a:spLocks noGrp="1"/>
          </p:cNvSpPr>
          <p:nvPr/>
        </p:nvSpPr>
        <p:spPr>
          <a:xfrm>
            <a:off x="6796087" y="4800600"/>
            <a:ext cx="2016442"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80" name="28%">
            <a:extLst>
              <a:ext uri="{FF2B5EF4-FFF2-40B4-BE49-F238E27FC236}">
                <a16:creationId xmlns:a16="http://schemas.microsoft.com/office/drawing/2014/main" id="{AF42DE66-547E-48CC-917A-8A133A15C046}"/>
              </a:ext>
            </a:extLst>
          </p:cNvPr>
          <p:cNvSpPr>
            <a:spLocks noGrp="1"/>
          </p:cNvSpPr>
          <p:nvPr/>
        </p:nvSpPr>
        <p:spPr>
          <a:xfrm>
            <a:off x="6834187" y="4905375"/>
            <a:ext cx="195929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29%</a:t>
            </a:r>
          </a:p>
        </p:txBody>
      </p:sp>
      <p:sp>
        <p:nvSpPr>
          <p:cNvPr id="581" name="Rectangle 580">
            <a:extLst>
              <a:ext uri="{FF2B5EF4-FFF2-40B4-BE49-F238E27FC236}">
                <a16:creationId xmlns:a16="http://schemas.microsoft.com/office/drawing/2014/main" id="{783F3CD6-D639-447A-A735-5C15E94DDD19}"/>
              </a:ext>
            </a:extLst>
          </p:cNvPr>
          <p:cNvSpPr>
            <a:spLocks noGrp="1"/>
          </p:cNvSpPr>
          <p:nvPr/>
        </p:nvSpPr>
        <p:spPr>
          <a:xfrm>
            <a:off x="8812529" y="4800600"/>
            <a:ext cx="1807846"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82" name="26%">
            <a:extLst>
              <a:ext uri="{FF2B5EF4-FFF2-40B4-BE49-F238E27FC236}">
                <a16:creationId xmlns:a16="http://schemas.microsoft.com/office/drawing/2014/main" id="{FC827F02-5966-4002-AA9E-9F8FF77618FF}"/>
              </a:ext>
            </a:extLst>
          </p:cNvPr>
          <p:cNvSpPr>
            <a:spLocks noGrp="1"/>
          </p:cNvSpPr>
          <p:nvPr/>
        </p:nvSpPr>
        <p:spPr>
          <a:xfrm>
            <a:off x="8850629" y="4905375"/>
            <a:ext cx="1750696"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26%</a:t>
            </a:r>
          </a:p>
        </p:txBody>
      </p:sp>
      <p:sp>
        <p:nvSpPr>
          <p:cNvPr id="583" name="n=418">
            <a:extLst>
              <a:ext uri="{FF2B5EF4-FFF2-40B4-BE49-F238E27FC236}">
                <a16:creationId xmlns:a16="http://schemas.microsoft.com/office/drawing/2014/main" id="{51DE1F61-3779-4D5B-99DB-A08CC2EE173F}"/>
              </a:ext>
            </a:extLst>
          </p:cNvPr>
          <p:cNvSpPr>
            <a:spLocks noGrp="1"/>
          </p:cNvSpPr>
          <p:nvPr/>
        </p:nvSpPr>
        <p:spPr>
          <a:xfrm>
            <a:off x="10782300" y="48958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n=349</a:t>
            </a:r>
          </a:p>
        </p:txBody>
      </p:sp>
      <p:sp>
        <p:nvSpPr>
          <p:cNvPr id="584" name="Rectangle 583">
            <a:extLst>
              <a:ext uri="{FF2B5EF4-FFF2-40B4-BE49-F238E27FC236}">
                <a16:creationId xmlns:a16="http://schemas.microsoft.com/office/drawing/2014/main" id="{8E61EA85-6D73-4892-99C1-DF37B1ECAB69}"/>
              </a:ext>
            </a:extLst>
          </p:cNvPr>
          <p:cNvSpPr>
            <a:spLocks noGrp="1"/>
          </p:cNvSpPr>
          <p:nvPr/>
        </p:nvSpPr>
        <p:spPr>
          <a:xfrm>
            <a:off x="3667125" y="1409700"/>
            <a:ext cx="190500" cy="190500"/>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85" name="C0  &lt; 3.20">
            <a:extLst>
              <a:ext uri="{FF2B5EF4-FFF2-40B4-BE49-F238E27FC236}">
                <a16:creationId xmlns:a16="http://schemas.microsoft.com/office/drawing/2014/main" id="{0A74C96B-5166-4C72-B600-E6CC730BF67C}"/>
              </a:ext>
            </a:extLst>
          </p:cNvPr>
          <p:cNvSpPr>
            <a:spLocks noGrp="1"/>
          </p:cNvSpPr>
          <p:nvPr/>
        </p:nvSpPr>
        <p:spPr>
          <a:xfrm>
            <a:off x="39433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C0  &lt; 3.20</a:t>
            </a:r>
          </a:p>
        </p:txBody>
      </p:sp>
      <p:sp>
        <p:nvSpPr>
          <p:cNvPr id="586" name="Rectangle 585">
            <a:extLst>
              <a:ext uri="{FF2B5EF4-FFF2-40B4-BE49-F238E27FC236}">
                <a16:creationId xmlns:a16="http://schemas.microsoft.com/office/drawing/2014/main" id="{650B9770-DFBA-4FA3-9455-50BA2E76EF8A}"/>
              </a:ext>
            </a:extLst>
          </p:cNvPr>
          <p:cNvSpPr>
            <a:spLocks noGrp="1"/>
          </p:cNvSpPr>
          <p:nvPr/>
        </p:nvSpPr>
        <p:spPr>
          <a:xfrm>
            <a:off x="5476875" y="1409700"/>
            <a:ext cx="190500" cy="190500"/>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87" name="C1  3.20–3.49">
            <a:extLst>
              <a:ext uri="{FF2B5EF4-FFF2-40B4-BE49-F238E27FC236}">
                <a16:creationId xmlns:a16="http://schemas.microsoft.com/office/drawing/2014/main" id="{39687255-2F25-4C7D-8EA8-AA594C397AE8}"/>
              </a:ext>
            </a:extLst>
          </p:cNvPr>
          <p:cNvSpPr>
            <a:spLocks noGrp="1"/>
          </p:cNvSpPr>
          <p:nvPr/>
        </p:nvSpPr>
        <p:spPr>
          <a:xfrm>
            <a:off x="57531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C1  3.20–3.49</a:t>
            </a:r>
          </a:p>
        </p:txBody>
      </p:sp>
      <p:sp>
        <p:nvSpPr>
          <p:cNvPr id="588" name="Rectangle 587">
            <a:extLst>
              <a:ext uri="{FF2B5EF4-FFF2-40B4-BE49-F238E27FC236}">
                <a16:creationId xmlns:a16="http://schemas.microsoft.com/office/drawing/2014/main" id="{0A0860D4-B323-4017-BCDF-FEDE7313D387}"/>
              </a:ext>
            </a:extLst>
          </p:cNvPr>
          <p:cNvSpPr>
            <a:spLocks noGrp="1"/>
          </p:cNvSpPr>
          <p:nvPr/>
        </p:nvSpPr>
        <p:spPr>
          <a:xfrm>
            <a:off x="7286625" y="1409700"/>
            <a:ext cx="190500" cy="190500"/>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89" name="C2  3.50–3.74">
            <a:extLst>
              <a:ext uri="{FF2B5EF4-FFF2-40B4-BE49-F238E27FC236}">
                <a16:creationId xmlns:a16="http://schemas.microsoft.com/office/drawing/2014/main" id="{1BE2B5E4-C7B3-432D-A6A5-C5E92BDDDFEC}"/>
              </a:ext>
            </a:extLst>
          </p:cNvPr>
          <p:cNvSpPr>
            <a:spLocks noGrp="1"/>
          </p:cNvSpPr>
          <p:nvPr/>
        </p:nvSpPr>
        <p:spPr>
          <a:xfrm>
            <a:off x="75628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C2  3.50–3.74</a:t>
            </a:r>
          </a:p>
        </p:txBody>
      </p:sp>
      <p:sp>
        <p:nvSpPr>
          <p:cNvPr id="590" name="Rectangle 589">
            <a:extLst>
              <a:ext uri="{FF2B5EF4-FFF2-40B4-BE49-F238E27FC236}">
                <a16:creationId xmlns:a16="http://schemas.microsoft.com/office/drawing/2014/main" id="{AFACCF0D-0B10-4F36-9556-EC81C65BFF93}"/>
              </a:ext>
            </a:extLst>
          </p:cNvPr>
          <p:cNvSpPr>
            <a:spLocks noGrp="1"/>
          </p:cNvSpPr>
          <p:nvPr/>
        </p:nvSpPr>
        <p:spPr>
          <a:xfrm>
            <a:off x="9096375" y="1409700"/>
            <a:ext cx="190500" cy="190500"/>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91" name="C3  ≥ 3.75">
            <a:extLst>
              <a:ext uri="{FF2B5EF4-FFF2-40B4-BE49-F238E27FC236}">
                <a16:creationId xmlns:a16="http://schemas.microsoft.com/office/drawing/2014/main" id="{17BF479C-AEBD-47FE-B9B6-FC4D08118380}"/>
              </a:ext>
            </a:extLst>
          </p:cNvPr>
          <p:cNvSpPr>
            <a:spLocks noGrp="1"/>
          </p:cNvSpPr>
          <p:nvPr/>
        </p:nvSpPr>
        <p:spPr>
          <a:xfrm>
            <a:off x="93726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C3  ≥ 3.75</a:t>
            </a:r>
          </a:p>
        </p:txBody>
      </p:sp>
      <p:cxnSp>
        <p:nvCxnSpPr>
          <p:cNvPr id="3" name="Straight Arrow Connector 2">
            <a:extLst>
              <a:ext uri="{FF2B5EF4-FFF2-40B4-BE49-F238E27FC236}">
                <a16:creationId xmlns:a16="http://schemas.microsoft.com/office/drawing/2014/main" id="{9A1C4D91-DFFF-DE55-0038-74206E0960FF}"/>
              </a:ext>
            </a:extLst>
          </p:cNvPr>
          <p:cNvCxnSpPr>
            <a:cxnSpLocks/>
          </p:cNvCxnSpPr>
          <p:nvPr/>
        </p:nvCxnSpPr>
        <p:spPr>
          <a:xfrm>
            <a:off x="204107" y="5763986"/>
            <a:ext cx="1057819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87370C7B-D38B-4D8A-0A2F-4319423D0E32}"/>
              </a:ext>
            </a:extLst>
          </p:cNvPr>
          <p:cNvCxnSpPr>
            <a:cxnSpLocks/>
          </p:cNvCxnSpPr>
          <p:nvPr/>
        </p:nvCxnSpPr>
        <p:spPr>
          <a:xfrm flipV="1">
            <a:off x="356507" y="971550"/>
            <a:ext cx="0" cy="49448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E56809DF-2BB9-8D46-F09E-A1FFB0A7DE02}"/>
              </a:ext>
            </a:extLst>
          </p:cNvPr>
          <p:cNvSpPr txBox="1"/>
          <p:nvPr/>
        </p:nvSpPr>
        <p:spPr>
          <a:xfrm>
            <a:off x="5532723" y="5787509"/>
            <a:ext cx="821572" cy="369332"/>
          </a:xfrm>
          <a:prstGeom prst="rect">
            <a:avLst/>
          </a:prstGeom>
          <a:noFill/>
        </p:spPr>
        <p:txBody>
          <a:bodyPr wrap="none" rtlCol="0">
            <a:spAutoFit/>
          </a:bodyPr>
          <a:lstStyle/>
          <a:p>
            <a:r>
              <a:rPr lang="en-US" dirty="0">
                <a:latin typeface="OpenAI Sans" panose="020B0604020202020204" charset="0"/>
                <a:ea typeface="OpenAI Sans" panose="020B0604020202020204" charset="0"/>
              </a:rPr>
              <a:t>CGPA</a:t>
            </a:r>
          </a:p>
        </p:txBody>
      </p:sp>
      <p:sp>
        <p:nvSpPr>
          <p:cNvPr id="12" name="TextBox 11">
            <a:extLst>
              <a:ext uri="{FF2B5EF4-FFF2-40B4-BE49-F238E27FC236}">
                <a16:creationId xmlns:a16="http://schemas.microsoft.com/office/drawing/2014/main" id="{79E311A4-ECB6-FE8F-E074-5FC9C156B4A0}"/>
              </a:ext>
            </a:extLst>
          </p:cNvPr>
          <p:cNvSpPr txBox="1"/>
          <p:nvPr/>
        </p:nvSpPr>
        <p:spPr>
          <a:xfrm rot="16200000">
            <a:off x="-497310" y="2715997"/>
            <a:ext cx="1425390" cy="369332"/>
          </a:xfrm>
          <a:prstGeom prst="rect">
            <a:avLst/>
          </a:prstGeom>
          <a:noFill/>
        </p:spPr>
        <p:txBody>
          <a:bodyPr wrap="none" rtlCol="0">
            <a:spAutoFit/>
          </a:bodyPr>
          <a:lstStyle/>
          <a:p>
            <a:r>
              <a:rPr lang="en-US" dirty="0">
                <a:latin typeface="OpenAI Sans" panose="020B0604020202020204" charset="0"/>
                <a:ea typeface="OpenAI Sans" panose="020B0604020202020204" charset="0"/>
              </a:rPr>
              <a:t>Attendance</a:t>
            </a:r>
          </a:p>
        </p:txBody>
      </p:sp>
    </p:spTree>
    <p:extLst>
      <p:ext uri="{BB962C8B-B14F-4D97-AF65-F5344CB8AC3E}">
        <p14:creationId xmlns:p14="http://schemas.microsoft.com/office/powerpoint/2010/main" val="54622172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dirty="0">
                <a:latin typeface="OpenAI Sans" panose="020B0604020202020204" charset="0"/>
                <a:ea typeface="OpenAI Sans" panose="020B0604020202020204" charset="0"/>
                <a:cs typeface="Times New Roman"/>
              </a:rPr>
              <a:t>26</a:t>
            </a:r>
            <a:endParaRPr sz="1000" dirty="0">
              <a:latin typeface="OpenAI Sans" panose="020B0604020202020204" charset="0"/>
              <a:ea typeface="OpenAI Sans" panose="020B0604020202020204" charset="0"/>
              <a:cs typeface="Times New Roman"/>
            </a:endParaRP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b="1" dirty="0">
                <a:latin typeface="OpenAI Sans" panose="020B0604020202020204" charset="0"/>
                <a:ea typeface="OpenAI Sans" panose="020B0604020202020204" charset="0"/>
                <a:cs typeface="Times New Roman"/>
              </a:rPr>
              <a:t>Weekly study time and CGPA</a:t>
            </a:r>
          </a:p>
        </p:txBody>
      </p:sp>
      <p:sp>
        <p:nvSpPr>
          <p:cNvPr id="534" name="Less than 3 hrs">
            <a:extLst>
              <a:ext uri="{FF2B5EF4-FFF2-40B4-BE49-F238E27FC236}">
                <a16:creationId xmlns:a16="http://schemas.microsoft.com/office/drawing/2014/main" id="{70778BCB-E655-437B-9DD3-E03E58F3C925}"/>
              </a:ext>
            </a:extLst>
          </p:cNvPr>
          <p:cNvSpPr>
            <a:spLocks noGrp="1"/>
          </p:cNvSpPr>
          <p:nvPr/>
        </p:nvSpPr>
        <p:spPr>
          <a:xfrm>
            <a:off x="400050" y="19431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Less than 3 hrs</a:t>
            </a:r>
          </a:p>
        </p:txBody>
      </p:sp>
      <p:sp>
        <p:nvSpPr>
          <p:cNvPr id="535" name="Rectangle 534">
            <a:extLst>
              <a:ext uri="{FF2B5EF4-FFF2-40B4-BE49-F238E27FC236}">
                <a16:creationId xmlns:a16="http://schemas.microsoft.com/office/drawing/2014/main" id="{590C2AEA-6F7A-4912-BDF6-4509D1E7DC8F}"/>
              </a:ext>
            </a:extLst>
          </p:cNvPr>
          <p:cNvSpPr>
            <a:spLocks noGrp="1"/>
          </p:cNvSpPr>
          <p:nvPr/>
        </p:nvSpPr>
        <p:spPr>
          <a:xfrm>
            <a:off x="3667125" y="1905000"/>
            <a:ext cx="1599248"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36" name="24%">
            <a:extLst>
              <a:ext uri="{FF2B5EF4-FFF2-40B4-BE49-F238E27FC236}">
                <a16:creationId xmlns:a16="http://schemas.microsoft.com/office/drawing/2014/main" id="{F2769B4C-70EF-445C-8DB1-516CE7274BF8}"/>
              </a:ext>
            </a:extLst>
          </p:cNvPr>
          <p:cNvSpPr>
            <a:spLocks noGrp="1"/>
          </p:cNvSpPr>
          <p:nvPr/>
        </p:nvSpPr>
        <p:spPr>
          <a:xfrm>
            <a:off x="3705225" y="2009775"/>
            <a:ext cx="154209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23%</a:t>
            </a:r>
          </a:p>
        </p:txBody>
      </p:sp>
      <p:sp>
        <p:nvSpPr>
          <p:cNvPr id="537" name="Rectangle 536">
            <a:extLst>
              <a:ext uri="{FF2B5EF4-FFF2-40B4-BE49-F238E27FC236}">
                <a16:creationId xmlns:a16="http://schemas.microsoft.com/office/drawing/2014/main" id="{1CA4B648-03DB-4FF2-8994-34D50CC193EE}"/>
              </a:ext>
            </a:extLst>
          </p:cNvPr>
          <p:cNvSpPr>
            <a:spLocks noGrp="1"/>
          </p:cNvSpPr>
          <p:nvPr/>
        </p:nvSpPr>
        <p:spPr>
          <a:xfrm>
            <a:off x="5266373" y="1905000"/>
            <a:ext cx="2016442"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38" name="28%">
            <a:extLst>
              <a:ext uri="{FF2B5EF4-FFF2-40B4-BE49-F238E27FC236}">
                <a16:creationId xmlns:a16="http://schemas.microsoft.com/office/drawing/2014/main" id="{CF8C6C7E-A8E8-4854-BEF4-0BCDBFC9D9FC}"/>
              </a:ext>
            </a:extLst>
          </p:cNvPr>
          <p:cNvSpPr>
            <a:spLocks noGrp="1"/>
          </p:cNvSpPr>
          <p:nvPr/>
        </p:nvSpPr>
        <p:spPr>
          <a:xfrm>
            <a:off x="5304473" y="2009775"/>
            <a:ext cx="195929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29%</a:t>
            </a:r>
          </a:p>
        </p:txBody>
      </p:sp>
      <p:sp>
        <p:nvSpPr>
          <p:cNvPr id="539" name="Rectangle 538">
            <a:extLst>
              <a:ext uri="{FF2B5EF4-FFF2-40B4-BE49-F238E27FC236}">
                <a16:creationId xmlns:a16="http://schemas.microsoft.com/office/drawing/2014/main" id="{8FE69750-DEE1-46F4-BEB7-18B27FBCC9C7}"/>
              </a:ext>
            </a:extLst>
          </p:cNvPr>
          <p:cNvSpPr>
            <a:spLocks noGrp="1"/>
          </p:cNvSpPr>
          <p:nvPr/>
        </p:nvSpPr>
        <p:spPr>
          <a:xfrm>
            <a:off x="7282815" y="1905000"/>
            <a:ext cx="2155508"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40" name="29%">
            <a:extLst>
              <a:ext uri="{FF2B5EF4-FFF2-40B4-BE49-F238E27FC236}">
                <a16:creationId xmlns:a16="http://schemas.microsoft.com/office/drawing/2014/main" id="{20ADEF86-D466-4878-B7E8-1E8E089CFF10}"/>
              </a:ext>
            </a:extLst>
          </p:cNvPr>
          <p:cNvSpPr>
            <a:spLocks noGrp="1"/>
          </p:cNvSpPr>
          <p:nvPr/>
        </p:nvSpPr>
        <p:spPr>
          <a:xfrm>
            <a:off x="7320915" y="2009775"/>
            <a:ext cx="209835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31%</a:t>
            </a:r>
          </a:p>
        </p:txBody>
      </p:sp>
      <p:sp>
        <p:nvSpPr>
          <p:cNvPr id="541" name="Rectangle 540">
            <a:extLst>
              <a:ext uri="{FF2B5EF4-FFF2-40B4-BE49-F238E27FC236}">
                <a16:creationId xmlns:a16="http://schemas.microsoft.com/office/drawing/2014/main" id="{07BC572C-CF0C-4BF0-9CF1-D279D9D2BDF5}"/>
              </a:ext>
            </a:extLst>
          </p:cNvPr>
          <p:cNvSpPr>
            <a:spLocks noGrp="1"/>
          </p:cNvSpPr>
          <p:nvPr/>
        </p:nvSpPr>
        <p:spPr>
          <a:xfrm>
            <a:off x="9438323" y="1905000"/>
            <a:ext cx="1182052"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42" name="19%">
            <a:extLst>
              <a:ext uri="{FF2B5EF4-FFF2-40B4-BE49-F238E27FC236}">
                <a16:creationId xmlns:a16="http://schemas.microsoft.com/office/drawing/2014/main" id="{90D7E1D5-D057-46E2-8C35-9C7988D5F133}"/>
              </a:ext>
            </a:extLst>
          </p:cNvPr>
          <p:cNvSpPr>
            <a:spLocks noGrp="1"/>
          </p:cNvSpPr>
          <p:nvPr/>
        </p:nvSpPr>
        <p:spPr>
          <a:xfrm>
            <a:off x="9476423" y="2009775"/>
            <a:ext cx="112490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17%</a:t>
            </a:r>
          </a:p>
        </p:txBody>
      </p:sp>
      <p:sp>
        <p:nvSpPr>
          <p:cNvPr id="543" name="n=235">
            <a:extLst>
              <a:ext uri="{FF2B5EF4-FFF2-40B4-BE49-F238E27FC236}">
                <a16:creationId xmlns:a16="http://schemas.microsoft.com/office/drawing/2014/main" id="{27CC9F38-B2FF-406A-A1A7-AA36ECBF9F11}"/>
              </a:ext>
            </a:extLst>
          </p:cNvPr>
          <p:cNvSpPr>
            <a:spLocks noGrp="1"/>
          </p:cNvSpPr>
          <p:nvPr/>
        </p:nvSpPr>
        <p:spPr>
          <a:xfrm>
            <a:off x="10782300" y="20002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n=194</a:t>
            </a:r>
          </a:p>
        </p:txBody>
      </p:sp>
      <p:sp>
        <p:nvSpPr>
          <p:cNvPr id="544" name="3-6 hrs">
            <a:extLst>
              <a:ext uri="{FF2B5EF4-FFF2-40B4-BE49-F238E27FC236}">
                <a16:creationId xmlns:a16="http://schemas.microsoft.com/office/drawing/2014/main" id="{D07F0436-65F3-4ED3-AFC1-0CD33ACB6CDD}"/>
              </a:ext>
            </a:extLst>
          </p:cNvPr>
          <p:cNvSpPr>
            <a:spLocks noGrp="1"/>
          </p:cNvSpPr>
          <p:nvPr/>
        </p:nvSpPr>
        <p:spPr>
          <a:xfrm>
            <a:off x="400050" y="26670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3-6 hrs</a:t>
            </a:r>
          </a:p>
        </p:txBody>
      </p:sp>
      <p:sp>
        <p:nvSpPr>
          <p:cNvPr id="545" name="Rectangle 544">
            <a:extLst>
              <a:ext uri="{FF2B5EF4-FFF2-40B4-BE49-F238E27FC236}">
                <a16:creationId xmlns:a16="http://schemas.microsoft.com/office/drawing/2014/main" id="{0664C06E-B518-4B5E-BD1F-2CFD392BE599}"/>
              </a:ext>
            </a:extLst>
          </p:cNvPr>
          <p:cNvSpPr>
            <a:spLocks noGrp="1"/>
          </p:cNvSpPr>
          <p:nvPr/>
        </p:nvSpPr>
        <p:spPr>
          <a:xfrm>
            <a:off x="3667125" y="2628900"/>
            <a:ext cx="1668780"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46" name="26%">
            <a:extLst>
              <a:ext uri="{FF2B5EF4-FFF2-40B4-BE49-F238E27FC236}">
                <a16:creationId xmlns:a16="http://schemas.microsoft.com/office/drawing/2014/main" id="{DA377271-797E-4E31-B89A-53E5ED1497B7}"/>
              </a:ext>
            </a:extLst>
          </p:cNvPr>
          <p:cNvSpPr>
            <a:spLocks noGrp="1"/>
          </p:cNvSpPr>
          <p:nvPr/>
        </p:nvSpPr>
        <p:spPr>
          <a:xfrm>
            <a:off x="3705225" y="2733675"/>
            <a:ext cx="161163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24%</a:t>
            </a:r>
          </a:p>
        </p:txBody>
      </p:sp>
      <p:sp>
        <p:nvSpPr>
          <p:cNvPr id="547" name="Rectangle 546">
            <a:extLst>
              <a:ext uri="{FF2B5EF4-FFF2-40B4-BE49-F238E27FC236}">
                <a16:creationId xmlns:a16="http://schemas.microsoft.com/office/drawing/2014/main" id="{324D13B8-6A30-4990-8220-1441E41E9F03}"/>
              </a:ext>
            </a:extLst>
          </p:cNvPr>
          <p:cNvSpPr>
            <a:spLocks noGrp="1"/>
          </p:cNvSpPr>
          <p:nvPr/>
        </p:nvSpPr>
        <p:spPr>
          <a:xfrm>
            <a:off x="5335905" y="2628900"/>
            <a:ext cx="2085975"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48" name="29%">
            <a:extLst>
              <a:ext uri="{FF2B5EF4-FFF2-40B4-BE49-F238E27FC236}">
                <a16:creationId xmlns:a16="http://schemas.microsoft.com/office/drawing/2014/main" id="{597691AB-36B4-44E4-9DF8-D75FAB641BFE}"/>
              </a:ext>
            </a:extLst>
          </p:cNvPr>
          <p:cNvSpPr>
            <a:spLocks noGrp="1"/>
          </p:cNvSpPr>
          <p:nvPr/>
        </p:nvSpPr>
        <p:spPr>
          <a:xfrm>
            <a:off x="5374005" y="2733675"/>
            <a:ext cx="202882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30%</a:t>
            </a:r>
          </a:p>
        </p:txBody>
      </p:sp>
      <p:sp>
        <p:nvSpPr>
          <p:cNvPr id="549" name="Rectangle 548">
            <a:extLst>
              <a:ext uri="{FF2B5EF4-FFF2-40B4-BE49-F238E27FC236}">
                <a16:creationId xmlns:a16="http://schemas.microsoft.com/office/drawing/2014/main" id="{4CA30C58-AB23-411F-90C2-10430F2DE73D}"/>
              </a:ext>
            </a:extLst>
          </p:cNvPr>
          <p:cNvSpPr>
            <a:spLocks noGrp="1"/>
          </p:cNvSpPr>
          <p:nvPr/>
        </p:nvSpPr>
        <p:spPr>
          <a:xfrm>
            <a:off x="7421880" y="2628900"/>
            <a:ext cx="2016442"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50" name="27%">
            <a:extLst>
              <a:ext uri="{FF2B5EF4-FFF2-40B4-BE49-F238E27FC236}">
                <a16:creationId xmlns:a16="http://schemas.microsoft.com/office/drawing/2014/main" id="{593DA408-8A1A-4913-8B4E-086E805E984C}"/>
              </a:ext>
            </a:extLst>
          </p:cNvPr>
          <p:cNvSpPr>
            <a:spLocks noGrp="1"/>
          </p:cNvSpPr>
          <p:nvPr/>
        </p:nvSpPr>
        <p:spPr>
          <a:xfrm>
            <a:off x="7459980" y="2733675"/>
            <a:ext cx="195929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29%</a:t>
            </a:r>
          </a:p>
        </p:txBody>
      </p:sp>
      <p:sp>
        <p:nvSpPr>
          <p:cNvPr id="551" name="Rectangle 550">
            <a:extLst>
              <a:ext uri="{FF2B5EF4-FFF2-40B4-BE49-F238E27FC236}">
                <a16:creationId xmlns:a16="http://schemas.microsoft.com/office/drawing/2014/main" id="{9BA655DE-8304-4EA0-BB9C-71D807F5329E}"/>
              </a:ext>
            </a:extLst>
          </p:cNvPr>
          <p:cNvSpPr>
            <a:spLocks noGrp="1"/>
          </p:cNvSpPr>
          <p:nvPr/>
        </p:nvSpPr>
        <p:spPr>
          <a:xfrm>
            <a:off x="9438322" y="2628900"/>
            <a:ext cx="1182053"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52" name="19%">
            <a:extLst>
              <a:ext uri="{FF2B5EF4-FFF2-40B4-BE49-F238E27FC236}">
                <a16:creationId xmlns:a16="http://schemas.microsoft.com/office/drawing/2014/main" id="{E05CFD60-315B-4EDF-A286-4608BA761D49}"/>
              </a:ext>
            </a:extLst>
          </p:cNvPr>
          <p:cNvSpPr>
            <a:spLocks noGrp="1"/>
          </p:cNvSpPr>
          <p:nvPr/>
        </p:nvSpPr>
        <p:spPr>
          <a:xfrm>
            <a:off x="9476422" y="2733675"/>
            <a:ext cx="1124903"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17%</a:t>
            </a:r>
          </a:p>
        </p:txBody>
      </p:sp>
      <p:sp>
        <p:nvSpPr>
          <p:cNvPr id="553" name="n=281">
            <a:extLst>
              <a:ext uri="{FF2B5EF4-FFF2-40B4-BE49-F238E27FC236}">
                <a16:creationId xmlns:a16="http://schemas.microsoft.com/office/drawing/2014/main" id="{9CFDA46E-1F09-4D69-B6DD-DBFE9176CEC7}"/>
              </a:ext>
            </a:extLst>
          </p:cNvPr>
          <p:cNvSpPr>
            <a:spLocks noGrp="1"/>
          </p:cNvSpPr>
          <p:nvPr/>
        </p:nvSpPr>
        <p:spPr>
          <a:xfrm>
            <a:off x="10782300" y="27241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n=237</a:t>
            </a:r>
          </a:p>
        </p:txBody>
      </p:sp>
      <p:sp>
        <p:nvSpPr>
          <p:cNvPr id="554" name="7-10 hrs">
            <a:extLst>
              <a:ext uri="{FF2B5EF4-FFF2-40B4-BE49-F238E27FC236}">
                <a16:creationId xmlns:a16="http://schemas.microsoft.com/office/drawing/2014/main" id="{8B20D5B9-52AD-47A8-B86B-D18FD006039D}"/>
              </a:ext>
            </a:extLst>
          </p:cNvPr>
          <p:cNvSpPr>
            <a:spLocks noGrp="1"/>
          </p:cNvSpPr>
          <p:nvPr/>
        </p:nvSpPr>
        <p:spPr>
          <a:xfrm>
            <a:off x="400050" y="33909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7-10 hrs</a:t>
            </a:r>
          </a:p>
        </p:txBody>
      </p:sp>
      <p:sp>
        <p:nvSpPr>
          <p:cNvPr id="555" name="Rectangle 554">
            <a:extLst>
              <a:ext uri="{FF2B5EF4-FFF2-40B4-BE49-F238E27FC236}">
                <a16:creationId xmlns:a16="http://schemas.microsoft.com/office/drawing/2014/main" id="{2C0B80F8-0C93-4498-BEDA-96866B71E28C}"/>
              </a:ext>
            </a:extLst>
          </p:cNvPr>
          <p:cNvSpPr>
            <a:spLocks noGrp="1"/>
          </p:cNvSpPr>
          <p:nvPr/>
        </p:nvSpPr>
        <p:spPr>
          <a:xfrm>
            <a:off x="3667125" y="3352800"/>
            <a:ext cx="973455"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56" name="16%">
            <a:extLst>
              <a:ext uri="{FF2B5EF4-FFF2-40B4-BE49-F238E27FC236}">
                <a16:creationId xmlns:a16="http://schemas.microsoft.com/office/drawing/2014/main" id="{E0FDE422-EE85-4091-84A4-42EAA6D985AD}"/>
              </a:ext>
            </a:extLst>
          </p:cNvPr>
          <p:cNvSpPr>
            <a:spLocks noGrp="1"/>
          </p:cNvSpPr>
          <p:nvPr/>
        </p:nvSpPr>
        <p:spPr>
          <a:xfrm>
            <a:off x="3705225" y="3457575"/>
            <a:ext cx="91630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14%</a:t>
            </a:r>
          </a:p>
        </p:txBody>
      </p:sp>
      <p:sp>
        <p:nvSpPr>
          <p:cNvPr id="557" name="Rectangle 556">
            <a:extLst>
              <a:ext uri="{FF2B5EF4-FFF2-40B4-BE49-F238E27FC236}">
                <a16:creationId xmlns:a16="http://schemas.microsoft.com/office/drawing/2014/main" id="{8CE00508-D597-4FD2-BEAF-76E6794B3809}"/>
              </a:ext>
            </a:extLst>
          </p:cNvPr>
          <p:cNvSpPr>
            <a:spLocks noGrp="1"/>
          </p:cNvSpPr>
          <p:nvPr/>
        </p:nvSpPr>
        <p:spPr>
          <a:xfrm>
            <a:off x="4640580" y="3352800"/>
            <a:ext cx="2225040"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58" name="30%">
            <a:extLst>
              <a:ext uri="{FF2B5EF4-FFF2-40B4-BE49-F238E27FC236}">
                <a16:creationId xmlns:a16="http://schemas.microsoft.com/office/drawing/2014/main" id="{E834BA59-4962-4D1E-A1D8-E441EE560A1F}"/>
              </a:ext>
            </a:extLst>
          </p:cNvPr>
          <p:cNvSpPr>
            <a:spLocks noGrp="1"/>
          </p:cNvSpPr>
          <p:nvPr/>
        </p:nvSpPr>
        <p:spPr>
          <a:xfrm>
            <a:off x="4678680" y="3457575"/>
            <a:ext cx="216789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32%</a:t>
            </a:r>
          </a:p>
        </p:txBody>
      </p:sp>
      <p:sp>
        <p:nvSpPr>
          <p:cNvPr id="559" name="Rectangle 558">
            <a:extLst>
              <a:ext uri="{FF2B5EF4-FFF2-40B4-BE49-F238E27FC236}">
                <a16:creationId xmlns:a16="http://schemas.microsoft.com/office/drawing/2014/main" id="{EB8240C7-15D9-4850-89CE-5E70B3D8B77B}"/>
              </a:ext>
            </a:extLst>
          </p:cNvPr>
          <p:cNvSpPr>
            <a:spLocks noGrp="1"/>
          </p:cNvSpPr>
          <p:nvPr/>
        </p:nvSpPr>
        <p:spPr>
          <a:xfrm>
            <a:off x="6865620" y="3352800"/>
            <a:ext cx="2085975"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60" name="30%">
            <a:extLst>
              <a:ext uri="{FF2B5EF4-FFF2-40B4-BE49-F238E27FC236}">
                <a16:creationId xmlns:a16="http://schemas.microsoft.com/office/drawing/2014/main" id="{29B81990-F961-49EB-8FCC-693E440F2F42}"/>
              </a:ext>
            </a:extLst>
          </p:cNvPr>
          <p:cNvSpPr>
            <a:spLocks noGrp="1"/>
          </p:cNvSpPr>
          <p:nvPr/>
        </p:nvSpPr>
        <p:spPr>
          <a:xfrm>
            <a:off x="6903720" y="3457575"/>
            <a:ext cx="202882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30%</a:t>
            </a:r>
          </a:p>
        </p:txBody>
      </p:sp>
      <p:sp>
        <p:nvSpPr>
          <p:cNvPr id="561" name="Rectangle 560">
            <a:extLst>
              <a:ext uri="{FF2B5EF4-FFF2-40B4-BE49-F238E27FC236}">
                <a16:creationId xmlns:a16="http://schemas.microsoft.com/office/drawing/2014/main" id="{CCC73F04-DC4C-4339-900E-073548342F63}"/>
              </a:ext>
            </a:extLst>
          </p:cNvPr>
          <p:cNvSpPr>
            <a:spLocks noGrp="1"/>
          </p:cNvSpPr>
          <p:nvPr/>
        </p:nvSpPr>
        <p:spPr>
          <a:xfrm>
            <a:off x="8951595" y="3352800"/>
            <a:ext cx="1668780"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62" name="24%">
            <a:extLst>
              <a:ext uri="{FF2B5EF4-FFF2-40B4-BE49-F238E27FC236}">
                <a16:creationId xmlns:a16="http://schemas.microsoft.com/office/drawing/2014/main" id="{00524BD5-60CE-4C5F-BC10-DD220CFAB322}"/>
              </a:ext>
            </a:extLst>
          </p:cNvPr>
          <p:cNvSpPr>
            <a:spLocks noGrp="1"/>
          </p:cNvSpPr>
          <p:nvPr/>
        </p:nvSpPr>
        <p:spPr>
          <a:xfrm>
            <a:off x="8989695" y="3457575"/>
            <a:ext cx="161163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24%</a:t>
            </a:r>
          </a:p>
        </p:txBody>
      </p:sp>
      <p:sp>
        <p:nvSpPr>
          <p:cNvPr id="563" name="n=251">
            <a:extLst>
              <a:ext uri="{FF2B5EF4-FFF2-40B4-BE49-F238E27FC236}">
                <a16:creationId xmlns:a16="http://schemas.microsoft.com/office/drawing/2014/main" id="{0CECC818-499B-449F-ABF8-F8F6550B918C}"/>
              </a:ext>
            </a:extLst>
          </p:cNvPr>
          <p:cNvSpPr>
            <a:spLocks noGrp="1"/>
          </p:cNvSpPr>
          <p:nvPr/>
        </p:nvSpPr>
        <p:spPr>
          <a:xfrm>
            <a:off x="10782300" y="34480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n=217</a:t>
            </a:r>
          </a:p>
        </p:txBody>
      </p:sp>
      <p:sp>
        <p:nvSpPr>
          <p:cNvPr id="564" name="11-15 hrs">
            <a:extLst>
              <a:ext uri="{FF2B5EF4-FFF2-40B4-BE49-F238E27FC236}">
                <a16:creationId xmlns:a16="http://schemas.microsoft.com/office/drawing/2014/main" id="{56656A85-AB22-4768-92FB-0F83A58A4B52}"/>
              </a:ext>
            </a:extLst>
          </p:cNvPr>
          <p:cNvSpPr>
            <a:spLocks noGrp="1"/>
          </p:cNvSpPr>
          <p:nvPr/>
        </p:nvSpPr>
        <p:spPr>
          <a:xfrm>
            <a:off x="400050" y="41148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11-15 hrs</a:t>
            </a:r>
          </a:p>
        </p:txBody>
      </p:sp>
      <p:sp>
        <p:nvSpPr>
          <p:cNvPr id="565" name="Rectangle 564">
            <a:extLst>
              <a:ext uri="{FF2B5EF4-FFF2-40B4-BE49-F238E27FC236}">
                <a16:creationId xmlns:a16="http://schemas.microsoft.com/office/drawing/2014/main" id="{42E4A8BB-0FA4-409E-9728-FF592BB73463}"/>
              </a:ext>
            </a:extLst>
          </p:cNvPr>
          <p:cNvSpPr>
            <a:spLocks noGrp="1"/>
          </p:cNvSpPr>
          <p:nvPr/>
        </p:nvSpPr>
        <p:spPr>
          <a:xfrm>
            <a:off x="3667125" y="4076700"/>
            <a:ext cx="1251585"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66" name="18%">
            <a:extLst>
              <a:ext uri="{FF2B5EF4-FFF2-40B4-BE49-F238E27FC236}">
                <a16:creationId xmlns:a16="http://schemas.microsoft.com/office/drawing/2014/main" id="{C36043BA-31A3-4AD5-8E4F-BD8E83F0C4F5}"/>
              </a:ext>
            </a:extLst>
          </p:cNvPr>
          <p:cNvSpPr>
            <a:spLocks noGrp="1"/>
          </p:cNvSpPr>
          <p:nvPr/>
        </p:nvSpPr>
        <p:spPr>
          <a:xfrm>
            <a:off x="3705225" y="4181475"/>
            <a:ext cx="119443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18%</a:t>
            </a:r>
          </a:p>
        </p:txBody>
      </p:sp>
      <p:sp>
        <p:nvSpPr>
          <p:cNvPr id="567" name="Rectangle 566">
            <a:extLst>
              <a:ext uri="{FF2B5EF4-FFF2-40B4-BE49-F238E27FC236}">
                <a16:creationId xmlns:a16="http://schemas.microsoft.com/office/drawing/2014/main" id="{A07D8E76-D99A-4E8E-8664-DC58FD97EB50}"/>
              </a:ext>
            </a:extLst>
          </p:cNvPr>
          <p:cNvSpPr>
            <a:spLocks noGrp="1"/>
          </p:cNvSpPr>
          <p:nvPr/>
        </p:nvSpPr>
        <p:spPr>
          <a:xfrm>
            <a:off x="4918710" y="4076700"/>
            <a:ext cx="2433638"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68" name="31%">
            <a:extLst>
              <a:ext uri="{FF2B5EF4-FFF2-40B4-BE49-F238E27FC236}">
                <a16:creationId xmlns:a16="http://schemas.microsoft.com/office/drawing/2014/main" id="{F4ADD8D5-4CF4-4B25-8ABB-550F01BEF16D}"/>
              </a:ext>
            </a:extLst>
          </p:cNvPr>
          <p:cNvSpPr>
            <a:spLocks noGrp="1"/>
          </p:cNvSpPr>
          <p:nvPr/>
        </p:nvSpPr>
        <p:spPr>
          <a:xfrm>
            <a:off x="4956810" y="4181475"/>
            <a:ext cx="237648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35%</a:t>
            </a:r>
          </a:p>
        </p:txBody>
      </p:sp>
      <p:sp>
        <p:nvSpPr>
          <p:cNvPr id="569" name="Rectangle 568">
            <a:extLst>
              <a:ext uri="{FF2B5EF4-FFF2-40B4-BE49-F238E27FC236}">
                <a16:creationId xmlns:a16="http://schemas.microsoft.com/office/drawing/2014/main" id="{20CEC772-ED85-42E8-B357-F7944AB37A33}"/>
              </a:ext>
            </a:extLst>
          </p:cNvPr>
          <p:cNvSpPr>
            <a:spLocks noGrp="1"/>
          </p:cNvSpPr>
          <p:nvPr/>
        </p:nvSpPr>
        <p:spPr>
          <a:xfrm>
            <a:off x="7352348" y="4076700"/>
            <a:ext cx="1738312"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70" name="24%">
            <a:extLst>
              <a:ext uri="{FF2B5EF4-FFF2-40B4-BE49-F238E27FC236}">
                <a16:creationId xmlns:a16="http://schemas.microsoft.com/office/drawing/2014/main" id="{D43F9CC3-EBDC-4D6B-87D8-D0F6A903063D}"/>
              </a:ext>
            </a:extLst>
          </p:cNvPr>
          <p:cNvSpPr>
            <a:spLocks noGrp="1"/>
          </p:cNvSpPr>
          <p:nvPr/>
        </p:nvSpPr>
        <p:spPr>
          <a:xfrm>
            <a:off x="7390448" y="4181475"/>
            <a:ext cx="168116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25%</a:t>
            </a:r>
          </a:p>
        </p:txBody>
      </p:sp>
      <p:sp>
        <p:nvSpPr>
          <p:cNvPr id="571" name="Rectangle 570">
            <a:extLst>
              <a:ext uri="{FF2B5EF4-FFF2-40B4-BE49-F238E27FC236}">
                <a16:creationId xmlns:a16="http://schemas.microsoft.com/office/drawing/2014/main" id="{F7FCF0AA-C2A2-45E3-8964-4177B237004D}"/>
              </a:ext>
            </a:extLst>
          </p:cNvPr>
          <p:cNvSpPr>
            <a:spLocks noGrp="1"/>
          </p:cNvSpPr>
          <p:nvPr/>
        </p:nvSpPr>
        <p:spPr>
          <a:xfrm>
            <a:off x="9090660" y="4076700"/>
            <a:ext cx="1529715"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72" name="26%">
            <a:extLst>
              <a:ext uri="{FF2B5EF4-FFF2-40B4-BE49-F238E27FC236}">
                <a16:creationId xmlns:a16="http://schemas.microsoft.com/office/drawing/2014/main" id="{C7E82EC8-05A1-485A-BF99-6A85701429F6}"/>
              </a:ext>
            </a:extLst>
          </p:cNvPr>
          <p:cNvSpPr>
            <a:spLocks noGrp="1"/>
          </p:cNvSpPr>
          <p:nvPr/>
        </p:nvSpPr>
        <p:spPr>
          <a:xfrm>
            <a:off x="9128760" y="4181475"/>
            <a:ext cx="147256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22%</a:t>
            </a:r>
          </a:p>
        </p:txBody>
      </p:sp>
      <p:sp>
        <p:nvSpPr>
          <p:cNvPr id="573" name="n=185">
            <a:extLst>
              <a:ext uri="{FF2B5EF4-FFF2-40B4-BE49-F238E27FC236}">
                <a16:creationId xmlns:a16="http://schemas.microsoft.com/office/drawing/2014/main" id="{D98DC9E8-FE24-4CEF-A3DA-C7C9BAEC2088}"/>
              </a:ext>
            </a:extLst>
          </p:cNvPr>
          <p:cNvSpPr>
            <a:spLocks noGrp="1"/>
          </p:cNvSpPr>
          <p:nvPr/>
        </p:nvSpPr>
        <p:spPr>
          <a:xfrm>
            <a:off x="10782300" y="41719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n=142</a:t>
            </a:r>
          </a:p>
        </p:txBody>
      </p:sp>
      <p:sp>
        <p:nvSpPr>
          <p:cNvPr id="574" name="More than 15 hrs">
            <a:extLst>
              <a:ext uri="{FF2B5EF4-FFF2-40B4-BE49-F238E27FC236}">
                <a16:creationId xmlns:a16="http://schemas.microsoft.com/office/drawing/2014/main" id="{C7D50BD3-902C-4904-A403-5A7FD467DA4E}"/>
              </a:ext>
            </a:extLst>
          </p:cNvPr>
          <p:cNvSpPr>
            <a:spLocks noGrp="1"/>
          </p:cNvSpPr>
          <p:nvPr/>
        </p:nvSpPr>
        <p:spPr>
          <a:xfrm>
            <a:off x="400050" y="48387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More than 15 hrs</a:t>
            </a:r>
          </a:p>
        </p:txBody>
      </p:sp>
      <p:sp>
        <p:nvSpPr>
          <p:cNvPr id="575" name="Rectangle 574">
            <a:extLst>
              <a:ext uri="{FF2B5EF4-FFF2-40B4-BE49-F238E27FC236}">
                <a16:creationId xmlns:a16="http://schemas.microsoft.com/office/drawing/2014/main" id="{7383586B-3BE6-4360-A770-B700347FCB79}"/>
              </a:ext>
            </a:extLst>
          </p:cNvPr>
          <p:cNvSpPr>
            <a:spLocks noGrp="1"/>
          </p:cNvSpPr>
          <p:nvPr/>
        </p:nvSpPr>
        <p:spPr>
          <a:xfrm>
            <a:off x="3667125" y="4800600"/>
            <a:ext cx="1334462"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76" name="21%">
            <a:extLst>
              <a:ext uri="{FF2B5EF4-FFF2-40B4-BE49-F238E27FC236}">
                <a16:creationId xmlns:a16="http://schemas.microsoft.com/office/drawing/2014/main" id="{903FBD5A-BD65-4844-A549-D10A303799D7}"/>
              </a:ext>
            </a:extLst>
          </p:cNvPr>
          <p:cNvSpPr>
            <a:spLocks noGrp="1"/>
          </p:cNvSpPr>
          <p:nvPr/>
        </p:nvSpPr>
        <p:spPr>
          <a:xfrm>
            <a:off x="3705225" y="4905375"/>
            <a:ext cx="127731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19%</a:t>
            </a:r>
          </a:p>
        </p:txBody>
      </p:sp>
      <p:sp>
        <p:nvSpPr>
          <p:cNvPr id="577" name="Rectangle 576">
            <a:extLst>
              <a:ext uri="{FF2B5EF4-FFF2-40B4-BE49-F238E27FC236}">
                <a16:creationId xmlns:a16="http://schemas.microsoft.com/office/drawing/2014/main" id="{DA5AF128-524E-4342-A77A-0E462F17ED9A}"/>
              </a:ext>
            </a:extLst>
          </p:cNvPr>
          <p:cNvSpPr>
            <a:spLocks noGrp="1"/>
          </p:cNvSpPr>
          <p:nvPr/>
        </p:nvSpPr>
        <p:spPr>
          <a:xfrm>
            <a:off x="5001587" y="4800600"/>
            <a:ext cx="1966576"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78" name="26%">
            <a:extLst>
              <a:ext uri="{FF2B5EF4-FFF2-40B4-BE49-F238E27FC236}">
                <a16:creationId xmlns:a16="http://schemas.microsoft.com/office/drawing/2014/main" id="{02115BFF-614B-4CAB-92EA-87CF00EA4946}"/>
              </a:ext>
            </a:extLst>
          </p:cNvPr>
          <p:cNvSpPr>
            <a:spLocks noGrp="1"/>
          </p:cNvSpPr>
          <p:nvPr/>
        </p:nvSpPr>
        <p:spPr>
          <a:xfrm>
            <a:off x="5039687" y="4905375"/>
            <a:ext cx="1909426"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28%</a:t>
            </a:r>
          </a:p>
        </p:txBody>
      </p:sp>
      <p:sp>
        <p:nvSpPr>
          <p:cNvPr id="579" name="Rectangle 578">
            <a:extLst>
              <a:ext uri="{FF2B5EF4-FFF2-40B4-BE49-F238E27FC236}">
                <a16:creationId xmlns:a16="http://schemas.microsoft.com/office/drawing/2014/main" id="{49602A28-92A3-4853-9BF4-76EAE0D6ACC1}"/>
              </a:ext>
            </a:extLst>
          </p:cNvPr>
          <p:cNvSpPr>
            <a:spLocks noGrp="1"/>
          </p:cNvSpPr>
          <p:nvPr/>
        </p:nvSpPr>
        <p:spPr>
          <a:xfrm>
            <a:off x="6968163" y="4800600"/>
            <a:ext cx="1826106"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80" name="26%">
            <a:extLst>
              <a:ext uri="{FF2B5EF4-FFF2-40B4-BE49-F238E27FC236}">
                <a16:creationId xmlns:a16="http://schemas.microsoft.com/office/drawing/2014/main" id="{A1205194-473D-43F5-9456-BE4D0E30C2B5}"/>
              </a:ext>
            </a:extLst>
          </p:cNvPr>
          <p:cNvSpPr>
            <a:spLocks noGrp="1"/>
          </p:cNvSpPr>
          <p:nvPr/>
        </p:nvSpPr>
        <p:spPr>
          <a:xfrm>
            <a:off x="7006263" y="4905375"/>
            <a:ext cx="1768956"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26%</a:t>
            </a:r>
          </a:p>
        </p:txBody>
      </p:sp>
      <p:sp>
        <p:nvSpPr>
          <p:cNvPr id="581" name="Rectangle 580">
            <a:extLst>
              <a:ext uri="{FF2B5EF4-FFF2-40B4-BE49-F238E27FC236}">
                <a16:creationId xmlns:a16="http://schemas.microsoft.com/office/drawing/2014/main" id="{24537B98-ABC4-4F7C-A74E-AB91F77420C3}"/>
              </a:ext>
            </a:extLst>
          </p:cNvPr>
          <p:cNvSpPr>
            <a:spLocks noGrp="1"/>
          </p:cNvSpPr>
          <p:nvPr/>
        </p:nvSpPr>
        <p:spPr>
          <a:xfrm>
            <a:off x="8794269" y="4800600"/>
            <a:ext cx="1826106"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82" name="27%">
            <a:extLst>
              <a:ext uri="{FF2B5EF4-FFF2-40B4-BE49-F238E27FC236}">
                <a16:creationId xmlns:a16="http://schemas.microsoft.com/office/drawing/2014/main" id="{49D09081-BEC5-4E8F-A4F7-06810AE30DA0}"/>
              </a:ext>
            </a:extLst>
          </p:cNvPr>
          <p:cNvSpPr>
            <a:spLocks noGrp="1"/>
          </p:cNvSpPr>
          <p:nvPr/>
        </p:nvSpPr>
        <p:spPr>
          <a:xfrm>
            <a:off x="8832369" y="4905375"/>
            <a:ext cx="1768956"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26%</a:t>
            </a:r>
          </a:p>
        </p:txBody>
      </p:sp>
      <p:sp>
        <p:nvSpPr>
          <p:cNvPr id="583" name="n=156">
            <a:extLst>
              <a:ext uri="{FF2B5EF4-FFF2-40B4-BE49-F238E27FC236}">
                <a16:creationId xmlns:a16="http://schemas.microsoft.com/office/drawing/2014/main" id="{6EFC19D9-E0A7-433C-AD1B-10E0EE861BB4}"/>
              </a:ext>
            </a:extLst>
          </p:cNvPr>
          <p:cNvSpPr>
            <a:spLocks noGrp="1"/>
          </p:cNvSpPr>
          <p:nvPr/>
        </p:nvSpPr>
        <p:spPr>
          <a:xfrm>
            <a:off x="10782300" y="48958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n=130</a:t>
            </a:r>
          </a:p>
        </p:txBody>
      </p:sp>
      <p:sp>
        <p:nvSpPr>
          <p:cNvPr id="584" name="Rectangle 583">
            <a:extLst>
              <a:ext uri="{FF2B5EF4-FFF2-40B4-BE49-F238E27FC236}">
                <a16:creationId xmlns:a16="http://schemas.microsoft.com/office/drawing/2014/main" id="{8A570E08-7050-447E-9D07-4E00BF3120D7}"/>
              </a:ext>
            </a:extLst>
          </p:cNvPr>
          <p:cNvSpPr>
            <a:spLocks noGrp="1"/>
          </p:cNvSpPr>
          <p:nvPr/>
        </p:nvSpPr>
        <p:spPr>
          <a:xfrm>
            <a:off x="3667125" y="1409700"/>
            <a:ext cx="190500" cy="190500"/>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85" name="C0  &lt; 3.20">
            <a:extLst>
              <a:ext uri="{FF2B5EF4-FFF2-40B4-BE49-F238E27FC236}">
                <a16:creationId xmlns:a16="http://schemas.microsoft.com/office/drawing/2014/main" id="{09738630-722E-4A07-83DA-6F1945EE29E3}"/>
              </a:ext>
            </a:extLst>
          </p:cNvPr>
          <p:cNvSpPr>
            <a:spLocks noGrp="1"/>
          </p:cNvSpPr>
          <p:nvPr/>
        </p:nvSpPr>
        <p:spPr>
          <a:xfrm>
            <a:off x="39433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C0  &lt; 3.20</a:t>
            </a:r>
          </a:p>
        </p:txBody>
      </p:sp>
      <p:sp>
        <p:nvSpPr>
          <p:cNvPr id="586" name="Rectangle 585">
            <a:extLst>
              <a:ext uri="{FF2B5EF4-FFF2-40B4-BE49-F238E27FC236}">
                <a16:creationId xmlns:a16="http://schemas.microsoft.com/office/drawing/2014/main" id="{5082B37C-6266-4982-A8AB-3A8D9488DC99}"/>
              </a:ext>
            </a:extLst>
          </p:cNvPr>
          <p:cNvSpPr>
            <a:spLocks noGrp="1"/>
          </p:cNvSpPr>
          <p:nvPr/>
        </p:nvSpPr>
        <p:spPr>
          <a:xfrm>
            <a:off x="5476875" y="1409700"/>
            <a:ext cx="190500" cy="190500"/>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87" name="C1  3.20–3.49">
            <a:extLst>
              <a:ext uri="{FF2B5EF4-FFF2-40B4-BE49-F238E27FC236}">
                <a16:creationId xmlns:a16="http://schemas.microsoft.com/office/drawing/2014/main" id="{D2668A20-CC25-4A0B-827B-3A5347FBE1D1}"/>
              </a:ext>
            </a:extLst>
          </p:cNvPr>
          <p:cNvSpPr>
            <a:spLocks noGrp="1"/>
          </p:cNvSpPr>
          <p:nvPr/>
        </p:nvSpPr>
        <p:spPr>
          <a:xfrm>
            <a:off x="57531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C1  3.20–3.49</a:t>
            </a:r>
          </a:p>
        </p:txBody>
      </p:sp>
      <p:sp>
        <p:nvSpPr>
          <p:cNvPr id="588" name="Rectangle 587">
            <a:extLst>
              <a:ext uri="{FF2B5EF4-FFF2-40B4-BE49-F238E27FC236}">
                <a16:creationId xmlns:a16="http://schemas.microsoft.com/office/drawing/2014/main" id="{748C4BD5-DE4C-44E2-BFAD-AB5C6D689AE0}"/>
              </a:ext>
            </a:extLst>
          </p:cNvPr>
          <p:cNvSpPr>
            <a:spLocks noGrp="1"/>
          </p:cNvSpPr>
          <p:nvPr/>
        </p:nvSpPr>
        <p:spPr>
          <a:xfrm>
            <a:off x="7286625" y="1409700"/>
            <a:ext cx="190500" cy="190500"/>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89" name="C2  3.50–3.74">
            <a:extLst>
              <a:ext uri="{FF2B5EF4-FFF2-40B4-BE49-F238E27FC236}">
                <a16:creationId xmlns:a16="http://schemas.microsoft.com/office/drawing/2014/main" id="{BACB4EF2-F521-4C1B-89D7-FA3FE0D0106B}"/>
              </a:ext>
            </a:extLst>
          </p:cNvPr>
          <p:cNvSpPr>
            <a:spLocks noGrp="1"/>
          </p:cNvSpPr>
          <p:nvPr/>
        </p:nvSpPr>
        <p:spPr>
          <a:xfrm>
            <a:off x="75628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C2  3.50–3.74</a:t>
            </a:r>
          </a:p>
        </p:txBody>
      </p:sp>
      <p:sp>
        <p:nvSpPr>
          <p:cNvPr id="590" name="Rectangle 589">
            <a:extLst>
              <a:ext uri="{FF2B5EF4-FFF2-40B4-BE49-F238E27FC236}">
                <a16:creationId xmlns:a16="http://schemas.microsoft.com/office/drawing/2014/main" id="{D40D1489-0AB1-470E-9891-8BEB7DE6D3AE}"/>
              </a:ext>
            </a:extLst>
          </p:cNvPr>
          <p:cNvSpPr>
            <a:spLocks noGrp="1"/>
          </p:cNvSpPr>
          <p:nvPr/>
        </p:nvSpPr>
        <p:spPr>
          <a:xfrm>
            <a:off x="9096375" y="1409700"/>
            <a:ext cx="190500" cy="190500"/>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91" name="C3  ≥ 3.75">
            <a:extLst>
              <a:ext uri="{FF2B5EF4-FFF2-40B4-BE49-F238E27FC236}">
                <a16:creationId xmlns:a16="http://schemas.microsoft.com/office/drawing/2014/main" id="{5DB3B506-DD0D-4DB7-87E0-E357AEC894AD}"/>
              </a:ext>
            </a:extLst>
          </p:cNvPr>
          <p:cNvSpPr>
            <a:spLocks noGrp="1"/>
          </p:cNvSpPr>
          <p:nvPr/>
        </p:nvSpPr>
        <p:spPr>
          <a:xfrm>
            <a:off x="93726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C3  ≥ 3.75</a:t>
            </a:r>
          </a:p>
        </p:txBody>
      </p:sp>
      <p:cxnSp>
        <p:nvCxnSpPr>
          <p:cNvPr id="2" name="Straight Arrow Connector 1">
            <a:extLst>
              <a:ext uri="{FF2B5EF4-FFF2-40B4-BE49-F238E27FC236}">
                <a16:creationId xmlns:a16="http://schemas.microsoft.com/office/drawing/2014/main" id="{ADFA3D6B-541E-E5FF-6DF3-3FBECEC836FC}"/>
              </a:ext>
            </a:extLst>
          </p:cNvPr>
          <p:cNvCxnSpPr>
            <a:cxnSpLocks/>
          </p:cNvCxnSpPr>
          <p:nvPr/>
        </p:nvCxnSpPr>
        <p:spPr>
          <a:xfrm>
            <a:off x="204107" y="5763986"/>
            <a:ext cx="1057819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 name="Straight Arrow Connector 2">
            <a:extLst>
              <a:ext uri="{FF2B5EF4-FFF2-40B4-BE49-F238E27FC236}">
                <a16:creationId xmlns:a16="http://schemas.microsoft.com/office/drawing/2014/main" id="{08F1EA31-2E89-84CD-BF93-FC6F2912B28C}"/>
              </a:ext>
            </a:extLst>
          </p:cNvPr>
          <p:cNvCxnSpPr>
            <a:cxnSpLocks/>
          </p:cNvCxnSpPr>
          <p:nvPr/>
        </p:nvCxnSpPr>
        <p:spPr>
          <a:xfrm flipV="1">
            <a:off x="356507" y="971550"/>
            <a:ext cx="0" cy="49448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D42AA4D3-B08C-BC38-73F0-925900DE4E80}"/>
              </a:ext>
            </a:extLst>
          </p:cNvPr>
          <p:cNvSpPr txBox="1"/>
          <p:nvPr/>
        </p:nvSpPr>
        <p:spPr>
          <a:xfrm>
            <a:off x="5532723" y="5787509"/>
            <a:ext cx="821572" cy="369332"/>
          </a:xfrm>
          <a:prstGeom prst="rect">
            <a:avLst/>
          </a:prstGeom>
          <a:noFill/>
        </p:spPr>
        <p:txBody>
          <a:bodyPr wrap="none" rtlCol="0">
            <a:spAutoFit/>
          </a:bodyPr>
          <a:lstStyle/>
          <a:p>
            <a:r>
              <a:rPr lang="en-US" dirty="0">
                <a:latin typeface="OpenAI Sans" panose="020B0604020202020204" charset="0"/>
                <a:ea typeface="OpenAI Sans" panose="020B0604020202020204" charset="0"/>
              </a:rPr>
              <a:t>CGPA</a:t>
            </a:r>
          </a:p>
        </p:txBody>
      </p:sp>
      <p:sp>
        <p:nvSpPr>
          <p:cNvPr id="5" name="TextBox 4">
            <a:extLst>
              <a:ext uri="{FF2B5EF4-FFF2-40B4-BE49-F238E27FC236}">
                <a16:creationId xmlns:a16="http://schemas.microsoft.com/office/drawing/2014/main" id="{DD7C0EC1-480D-98E6-80DD-A0E71978286E}"/>
              </a:ext>
            </a:extLst>
          </p:cNvPr>
          <p:cNvSpPr txBox="1"/>
          <p:nvPr/>
        </p:nvSpPr>
        <p:spPr>
          <a:xfrm rot="16200000">
            <a:off x="-489443" y="2715997"/>
            <a:ext cx="1393330" cy="369332"/>
          </a:xfrm>
          <a:prstGeom prst="rect">
            <a:avLst/>
          </a:prstGeom>
          <a:noFill/>
        </p:spPr>
        <p:txBody>
          <a:bodyPr wrap="none" rtlCol="0">
            <a:spAutoFit/>
          </a:bodyPr>
          <a:lstStyle/>
          <a:p>
            <a:r>
              <a:rPr lang="en-US" dirty="0">
                <a:latin typeface="OpenAI Sans" panose="020B0604020202020204" charset="0"/>
                <a:ea typeface="OpenAI Sans" panose="020B0604020202020204" charset="0"/>
              </a:rPr>
              <a:t>Study Time</a:t>
            </a:r>
          </a:p>
        </p:txBody>
      </p:sp>
    </p:spTree>
    <p:extLst>
      <p:ext uri="{BB962C8B-B14F-4D97-AF65-F5344CB8AC3E}">
        <p14:creationId xmlns:p14="http://schemas.microsoft.com/office/powerpoint/2010/main" val="289789266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lang="en-US" dirty="0">
                <a:latin typeface="OpenAI Sans" panose="020B0604020202020204" charset="0"/>
                <a:ea typeface="OpenAI Sans" panose="020B0604020202020204" charset="0"/>
                <a:cs typeface="Times New Roman"/>
              </a:rPr>
              <a:t>27</a:t>
            </a:r>
            <a:endParaRPr sz="1000" dirty="0">
              <a:latin typeface="OpenAI Sans" panose="020B0604020202020204" charset="0"/>
              <a:ea typeface="OpenAI Sans" panose="020B0604020202020204" charset="0"/>
              <a:cs typeface="Times New Roman"/>
            </a:endParaRP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b="1">
                <a:latin typeface="OpenAI Sans" panose="020B0604020202020204" charset="0"/>
                <a:ea typeface="OpenAI Sans" panose="020B0604020202020204" charset="0"/>
                <a:cs typeface="Times New Roman"/>
              </a:rPr>
              <a:t>Study style and CGPA</a:t>
            </a:r>
          </a:p>
        </p:txBody>
      </p:sp>
      <p:sp>
        <p:nvSpPr>
          <p:cNvPr id="534" name="Occasionally when necessary">
            <a:extLst>
              <a:ext uri="{FF2B5EF4-FFF2-40B4-BE49-F238E27FC236}">
                <a16:creationId xmlns:a16="http://schemas.microsoft.com/office/drawing/2014/main" id="{54D3D74A-FE82-4D75-A882-3997F3EAAC82}"/>
              </a:ext>
            </a:extLst>
          </p:cNvPr>
          <p:cNvSpPr>
            <a:spLocks noGrp="1"/>
          </p:cNvSpPr>
          <p:nvPr/>
        </p:nvSpPr>
        <p:spPr>
          <a:xfrm>
            <a:off x="400050" y="19431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Occasionally when necessary</a:t>
            </a:r>
          </a:p>
        </p:txBody>
      </p:sp>
      <p:sp>
        <p:nvSpPr>
          <p:cNvPr id="535" name="Rectangle 534">
            <a:extLst>
              <a:ext uri="{FF2B5EF4-FFF2-40B4-BE49-F238E27FC236}">
                <a16:creationId xmlns:a16="http://schemas.microsoft.com/office/drawing/2014/main" id="{6A873BA4-D3DB-4757-988C-8DF037435643}"/>
              </a:ext>
            </a:extLst>
          </p:cNvPr>
          <p:cNvSpPr>
            <a:spLocks noGrp="1"/>
          </p:cNvSpPr>
          <p:nvPr/>
        </p:nvSpPr>
        <p:spPr>
          <a:xfrm>
            <a:off x="3667125" y="1905000"/>
            <a:ext cx="1390650"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36" name="20%">
            <a:extLst>
              <a:ext uri="{FF2B5EF4-FFF2-40B4-BE49-F238E27FC236}">
                <a16:creationId xmlns:a16="http://schemas.microsoft.com/office/drawing/2014/main" id="{95F5E801-6034-42E1-AEF0-DE45F6D122A0}"/>
              </a:ext>
            </a:extLst>
          </p:cNvPr>
          <p:cNvSpPr>
            <a:spLocks noGrp="1"/>
          </p:cNvSpPr>
          <p:nvPr/>
        </p:nvSpPr>
        <p:spPr>
          <a:xfrm>
            <a:off x="3705225" y="2009775"/>
            <a:ext cx="133350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20%</a:t>
            </a:r>
          </a:p>
        </p:txBody>
      </p:sp>
      <p:sp>
        <p:nvSpPr>
          <p:cNvPr id="537" name="Rectangle 536">
            <a:extLst>
              <a:ext uri="{FF2B5EF4-FFF2-40B4-BE49-F238E27FC236}">
                <a16:creationId xmlns:a16="http://schemas.microsoft.com/office/drawing/2014/main" id="{D16EA419-C318-4A4F-9DBF-316CEC290588}"/>
              </a:ext>
            </a:extLst>
          </p:cNvPr>
          <p:cNvSpPr>
            <a:spLocks noGrp="1"/>
          </p:cNvSpPr>
          <p:nvPr/>
        </p:nvSpPr>
        <p:spPr>
          <a:xfrm>
            <a:off x="5057775" y="1905000"/>
            <a:ext cx="1668780"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38" name="24%">
            <a:extLst>
              <a:ext uri="{FF2B5EF4-FFF2-40B4-BE49-F238E27FC236}">
                <a16:creationId xmlns:a16="http://schemas.microsoft.com/office/drawing/2014/main" id="{10519A91-2437-454B-AC1E-5A2A413F9A62}"/>
              </a:ext>
            </a:extLst>
          </p:cNvPr>
          <p:cNvSpPr>
            <a:spLocks noGrp="1"/>
          </p:cNvSpPr>
          <p:nvPr/>
        </p:nvSpPr>
        <p:spPr>
          <a:xfrm>
            <a:off x="5095875" y="2009775"/>
            <a:ext cx="161163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24%</a:t>
            </a:r>
          </a:p>
        </p:txBody>
      </p:sp>
      <p:sp>
        <p:nvSpPr>
          <p:cNvPr id="539" name="Rectangle 538">
            <a:extLst>
              <a:ext uri="{FF2B5EF4-FFF2-40B4-BE49-F238E27FC236}">
                <a16:creationId xmlns:a16="http://schemas.microsoft.com/office/drawing/2014/main" id="{4B234988-F963-4665-B8AA-85AB081DEDFE}"/>
              </a:ext>
            </a:extLst>
          </p:cNvPr>
          <p:cNvSpPr>
            <a:spLocks noGrp="1"/>
          </p:cNvSpPr>
          <p:nvPr/>
        </p:nvSpPr>
        <p:spPr>
          <a:xfrm>
            <a:off x="6726555" y="1905000"/>
            <a:ext cx="2155508"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40" name="30%">
            <a:extLst>
              <a:ext uri="{FF2B5EF4-FFF2-40B4-BE49-F238E27FC236}">
                <a16:creationId xmlns:a16="http://schemas.microsoft.com/office/drawing/2014/main" id="{97519FA0-CA60-44CB-9CCB-E9838F73AA31}"/>
              </a:ext>
            </a:extLst>
          </p:cNvPr>
          <p:cNvSpPr>
            <a:spLocks noGrp="1"/>
          </p:cNvSpPr>
          <p:nvPr/>
        </p:nvSpPr>
        <p:spPr>
          <a:xfrm>
            <a:off x="6764655" y="2009775"/>
            <a:ext cx="209835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31%</a:t>
            </a:r>
          </a:p>
        </p:txBody>
      </p:sp>
      <p:sp>
        <p:nvSpPr>
          <p:cNvPr id="541" name="Rectangle 540">
            <a:extLst>
              <a:ext uri="{FF2B5EF4-FFF2-40B4-BE49-F238E27FC236}">
                <a16:creationId xmlns:a16="http://schemas.microsoft.com/office/drawing/2014/main" id="{372B23EF-7FB6-4A9A-A044-B1557B95F850}"/>
              </a:ext>
            </a:extLst>
          </p:cNvPr>
          <p:cNvSpPr>
            <a:spLocks noGrp="1"/>
          </p:cNvSpPr>
          <p:nvPr/>
        </p:nvSpPr>
        <p:spPr>
          <a:xfrm>
            <a:off x="8882063" y="1905000"/>
            <a:ext cx="1738312"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42" name="26%">
            <a:extLst>
              <a:ext uri="{FF2B5EF4-FFF2-40B4-BE49-F238E27FC236}">
                <a16:creationId xmlns:a16="http://schemas.microsoft.com/office/drawing/2014/main" id="{B7EBD41E-8C09-4AF3-8E65-E3FFC7E4F473}"/>
              </a:ext>
            </a:extLst>
          </p:cNvPr>
          <p:cNvSpPr>
            <a:spLocks noGrp="1"/>
          </p:cNvSpPr>
          <p:nvPr/>
        </p:nvSpPr>
        <p:spPr>
          <a:xfrm>
            <a:off x="8920163" y="2009775"/>
            <a:ext cx="168116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25%</a:t>
            </a:r>
          </a:p>
        </p:txBody>
      </p:sp>
      <p:sp>
        <p:nvSpPr>
          <p:cNvPr id="543" name="n=267">
            <a:extLst>
              <a:ext uri="{FF2B5EF4-FFF2-40B4-BE49-F238E27FC236}">
                <a16:creationId xmlns:a16="http://schemas.microsoft.com/office/drawing/2014/main" id="{AC4877B9-9121-4520-AED8-EDDA772694CB}"/>
              </a:ext>
            </a:extLst>
          </p:cNvPr>
          <p:cNvSpPr>
            <a:spLocks noGrp="1"/>
          </p:cNvSpPr>
          <p:nvPr/>
        </p:nvSpPr>
        <p:spPr>
          <a:xfrm>
            <a:off x="10782300" y="20002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n=240</a:t>
            </a:r>
          </a:p>
        </p:txBody>
      </p:sp>
      <p:sp>
        <p:nvSpPr>
          <p:cNvPr id="544" name="Mostly just before exams">
            <a:extLst>
              <a:ext uri="{FF2B5EF4-FFF2-40B4-BE49-F238E27FC236}">
                <a16:creationId xmlns:a16="http://schemas.microsoft.com/office/drawing/2014/main" id="{A5D29BD6-9532-4800-A5E5-52D895720111}"/>
              </a:ext>
            </a:extLst>
          </p:cNvPr>
          <p:cNvSpPr>
            <a:spLocks noGrp="1"/>
          </p:cNvSpPr>
          <p:nvPr/>
        </p:nvSpPr>
        <p:spPr>
          <a:xfrm>
            <a:off x="400050" y="26670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Mostly just before exams</a:t>
            </a:r>
          </a:p>
        </p:txBody>
      </p:sp>
      <p:sp>
        <p:nvSpPr>
          <p:cNvPr id="545" name="Rectangle 544">
            <a:extLst>
              <a:ext uri="{FF2B5EF4-FFF2-40B4-BE49-F238E27FC236}">
                <a16:creationId xmlns:a16="http://schemas.microsoft.com/office/drawing/2014/main" id="{BC1F8AA0-2143-4F06-8B80-BF144CD0A7E0}"/>
              </a:ext>
            </a:extLst>
          </p:cNvPr>
          <p:cNvSpPr>
            <a:spLocks noGrp="1"/>
          </p:cNvSpPr>
          <p:nvPr/>
        </p:nvSpPr>
        <p:spPr>
          <a:xfrm>
            <a:off x="3667125" y="2628900"/>
            <a:ext cx="1721101"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46" name="24%">
            <a:extLst>
              <a:ext uri="{FF2B5EF4-FFF2-40B4-BE49-F238E27FC236}">
                <a16:creationId xmlns:a16="http://schemas.microsoft.com/office/drawing/2014/main" id="{16D2FF0D-871C-4762-8C9E-CA2073A63D69}"/>
              </a:ext>
            </a:extLst>
          </p:cNvPr>
          <p:cNvSpPr>
            <a:spLocks noGrp="1"/>
          </p:cNvSpPr>
          <p:nvPr/>
        </p:nvSpPr>
        <p:spPr>
          <a:xfrm>
            <a:off x="3705225" y="2733675"/>
            <a:ext cx="1663951"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25%</a:t>
            </a:r>
          </a:p>
        </p:txBody>
      </p:sp>
      <p:sp>
        <p:nvSpPr>
          <p:cNvPr id="547" name="Rectangle 546">
            <a:extLst>
              <a:ext uri="{FF2B5EF4-FFF2-40B4-BE49-F238E27FC236}">
                <a16:creationId xmlns:a16="http://schemas.microsoft.com/office/drawing/2014/main" id="{CFBAE124-F6F5-423E-AA03-FEA3B6B68785}"/>
              </a:ext>
            </a:extLst>
          </p:cNvPr>
          <p:cNvSpPr>
            <a:spLocks noGrp="1"/>
          </p:cNvSpPr>
          <p:nvPr/>
        </p:nvSpPr>
        <p:spPr>
          <a:xfrm>
            <a:off x="5388226" y="2628900"/>
            <a:ext cx="2340698"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48" name="32%">
            <a:extLst>
              <a:ext uri="{FF2B5EF4-FFF2-40B4-BE49-F238E27FC236}">
                <a16:creationId xmlns:a16="http://schemas.microsoft.com/office/drawing/2014/main" id="{55DDB69B-5C81-4B20-BC6B-88CDC294F5C4}"/>
              </a:ext>
            </a:extLst>
          </p:cNvPr>
          <p:cNvSpPr>
            <a:spLocks noGrp="1"/>
          </p:cNvSpPr>
          <p:nvPr/>
        </p:nvSpPr>
        <p:spPr>
          <a:xfrm>
            <a:off x="5426326" y="2733675"/>
            <a:ext cx="228354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34%</a:t>
            </a:r>
          </a:p>
        </p:txBody>
      </p:sp>
      <p:sp>
        <p:nvSpPr>
          <p:cNvPr id="549" name="Rectangle 548">
            <a:extLst>
              <a:ext uri="{FF2B5EF4-FFF2-40B4-BE49-F238E27FC236}">
                <a16:creationId xmlns:a16="http://schemas.microsoft.com/office/drawing/2014/main" id="{D74DCB4C-A399-4AB8-ADE7-A255A181CEFB}"/>
              </a:ext>
            </a:extLst>
          </p:cNvPr>
          <p:cNvSpPr>
            <a:spLocks noGrp="1"/>
          </p:cNvSpPr>
          <p:nvPr/>
        </p:nvSpPr>
        <p:spPr>
          <a:xfrm>
            <a:off x="7728924" y="2628900"/>
            <a:ext cx="1789946"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50" name="26%">
            <a:extLst>
              <a:ext uri="{FF2B5EF4-FFF2-40B4-BE49-F238E27FC236}">
                <a16:creationId xmlns:a16="http://schemas.microsoft.com/office/drawing/2014/main" id="{0D0B3765-7D4D-47EA-A65E-8455D5B6408B}"/>
              </a:ext>
            </a:extLst>
          </p:cNvPr>
          <p:cNvSpPr>
            <a:spLocks noGrp="1"/>
          </p:cNvSpPr>
          <p:nvPr/>
        </p:nvSpPr>
        <p:spPr>
          <a:xfrm>
            <a:off x="7767024" y="2733675"/>
            <a:ext cx="1732796"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26%</a:t>
            </a:r>
          </a:p>
        </p:txBody>
      </p:sp>
      <p:sp>
        <p:nvSpPr>
          <p:cNvPr id="551" name="Rectangle 550">
            <a:extLst>
              <a:ext uri="{FF2B5EF4-FFF2-40B4-BE49-F238E27FC236}">
                <a16:creationId xmlns:a16="http://schemas.microsoft.com/office/drawing/2014/main" id="{72B00EEE-9BDE-4860-9EBB-B1165F8BFF0E}"/>
              </a:ext>
            </a:extLst>
          </p:cNvPr>
          <p:cNvSpPr>
            <a:spLocks noGrp="1"/>
          </p:cNvSpPr>
          <p:nvPr/>
        </p:nvSpPr>
        <p:spPr>
          <a:xfrm>
            <a:off x="9518870" y="2628900"/>
            <a:ext cx="1101505"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52" name="18%">
            <a:extLst>
              <a:ext uri="{FF2B5EF4-FFF2-40B4-BE49-F238E27FC236}">
                <a16:creationId xmlns:a16="http://schemas.microsoft.com/office/drawing/2014/main" id="{7B116D11-3A6F-4370-AA5D-7BCECC845CF9}"/>
              </a:ext>
            </a:extLst>
          </p:cNvPr>
          <p:cNvSpPr>
            <a:spLocks noGrp="1"/>
          </p:cNvSpPr>
          <p:nvPr/>
        </p:nvSpPr>
        <p:spPr>
          <a:xfrm>
            <a:off x="9556970" y="2733675"/>
            <a:ext cx="104435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16%</a:t>
            </a:r>
          </a:p>
        </p:txBody>
      </p:sp>
      <p:sp>
        <p:nvSpPr>
          <p:cNvPr id="553" name="n=296">
            <a:extLst>
              <a:ext uri="{FF2B5EF4-FFF2-40B4-BE49-F238E27FC236}">
                <a16:creationId xmlns:a16="http://schemas.microsoft.com/office/drawing/2014/main" id="{2B8A6883-EE4D-4356-98B1-9D86EABA866E}"/>
              </a:ext>
            </a:extLst>
          </p:cNvPr>
          <p:cNvSpPr>
            <a:spLocks noGrp="1"/>
          </p:cNvSpPr>
          <p:nvPr/>
        </p:nvSpPr>
        <p:spPr>
          <a:xfrm>
            <a:off x="10782300" y="27241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n=257</a:t>
            </a:r>
          </a:p>
        </p:txBody>
      </p:sp>
      <p:sp>
        <p:nvSpPr>
          <p:cNvPr id="554" name="Regularly but not every day">
            <a:extLst>
              <a:ext uri="{FF2B5EF4-FFF2-40B4-BE49-F238E27FC236}">
                <a16:creationId xmlns:a16="http://schemas.microsoft.com/office/drawing/2014/main" id="{A2B5D3B8-F809-481A-BE65-D8144C60811C}"/>
              </a:ext>
            </a:extLst>
          </p:cNvPr>
          <p:cNvSpPr>
            <a:spLocks noGrp="1"/>
          </p:cNvSpPr>
          <p:nvPr/>
        </p:nvSpPr>
        <p:spPr>
          <a:xfrm>
            <a:off x="400050" y="33909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Regularly but not every day</a:t>
            </a:r>
          </a:p>
        </p:txBody>
      </p:sp>
      <p:sp>
        <p:nvSpPr>
          <p:cNvPr id="555" name="Rectangle 554">
            <a:extLst>
              <a:ext uri="{FF2B5EF4-FFF2-40B4-BE49-F238E27FC236}">
                <a16:creationId xmlns:a16="http://schemas.microsoft.com/office/drawing/2014/main" id="{DDC39C02-DF5D-49AD-B474-CE82027A0985}"/>
              </a:ext>
            </a:extLst>
          </p:cNvPr>
          <p:cNvSpPr>
            <a:spLocks noGrp="1"/>
          </p:cNvSpPr>
          <p:nvPr/>
        </p:nvSpPr>
        <p:spPr>
          <a:xfrm>
            <a:off x="3667125" y="3352800"/>
            <a:ext cx="1112520"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56" name="18%">
            <a:extLst>
              <a:ext uri="{FF2B5EF4-FFF2-40B4-BE49-F238E27FC236}">
                <a16:creationId xmlns:a16="http://schemas.microsoft.com/office/drawing/2014/main" id="{159A3473-B2BA-4D7C-9375-4D4D4ED8A0B0}"/>
              </a:ext>
            </a:extLst>
          </p:cNvPr>
          <p:cNvSpPr>
            <a:spLocks noGrp="1"/>
          </p:cNvSpPr>
          <p:nvPr/>
        </p:nvSpPr>
        <p:spPr>
          <a:xfrm>
            <a:off x="3705225" y="3457575"/>
            <a:ext cx="105537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16%</a:t>
            </a:r>
          </a:p>
        </p:txBody>
      </p:sp>
      <p:sp>
        <p:nvSpPr>
          <p:cNvPr id="557" name="Rectangle 556">
            <a:extLst>
              <a:ext uri="{FF2B5EF4-FFF2-40B4-BE49-F238E27FC236}">
                <a16:creationId xmlns:a16="http://schemas.microsoft.com/office/drawing/2014/main" id="{8AD9CB36-48B3-46BF-A102-7E2DAD0C429F}"/>
              </a:ext>
            </a:extLst>
          </p:cNvPr>
          <p:cNvSpPr>
            <a:spLocks noGrp="1"/>
          </p:cNvSpPr>
          <p:nvPr/>
        </p:nvSpPr>
        <p:spPr>
          <a:xfrm>
            <a:off x="4779645" y="3352800"/>
            <a:ext cx="2642235"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58" name="35%">
            <a:extLst>
              <a:ext uri="{FF2B5EF4-FFF2-40B4-BE49-F238E27FC236}">
                <a16:creationId xmlns:a16="http://schemas.microsoft.com/office/drawing/2014/main" id="{242DDA1B-7E75-44FC-BEF4-19AF5C2718E0}"/>
              </a:ext>
            </a:extLst>
          </p:cNvPr>
          <p:cNvSpPr>
            <a:spLocks noGrp="1"/>
          </p:cNvSpPr>
          <p:nvPr/>
        </p:nvSpPr>
        <p:spPr>
          <a:xfrm>
            <a:off x="4817745" y="3457575"/>
            <a:ext cx="258508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38%</a:t>
            </a:r>
          </a:p>
        </p:txBody>
      </p:sp>
      <p:sp>
        <p:nvSpPr>
          <p:cNvPr id="559" name="Rectangle 558">
            <a:extLst>
              <a:ext uri="{FF2B5EF4-FFF2-40B4-BE49-F238E27FC236}">
                <a16:creationId xmlns:a16="http://schemas.microsoft.com/office/drawing/2014/main" id="{DF581EDB-6F0E-4675-8F40-CBD85803D6D0}"/>
              </a:ext>
            </a:extLst>
          </p:cNvPr>
          <p:cNvSpPr>
            <a:spLocks noGrp="1"/>
          </p:cNvSpPr>
          <p:nvPr/>
        </p:nvSpPr>
        <p:spPr>
          <a:xfrm>
            <a:off x="7421880" y="3352800"/>
            <a:ext cx="1946910"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60" name="28%">
            <a:extLst>
              <a:ext uri="{FF2B5EF4-FFF2-40B4-BE49-F238E27FC236}">
                <a16:creationId xmlns:a16="http://schemas.microsoft.com/office/drawing/2014/main" id="{A5FA72EB-65B3-4C9F-867F-16A015C26F8B}"/>
              </a:ext>
            </a:extLst>
          </p:cNvPr>
          <p:cNvSpPr>
            <a:spLocks noGrp="1"/>
          </p:cNvSpPr>
          <p:nvPr/>
        </p:nvSpPr>
        <p:spPr>
          <a:xfrm>
            <a:off x="7459980" y="3457575"/>
            <a:ext cx="188976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28%</a:t>
            </a:r>
          </a:p>
        </p:txBody>
      </p:sp>
      <p:sp>
        <p:nvSpPr>
          <p:cNvPr id="561" name="Rectangle 560">
            <a:extLst>
              <a:ext uri="{FF2B5EF4-FFF2-40B4-BE49-F238E27FC236}">
                <a16:creationId xmlns:a16="http://schemas.microsoft.com/office/drawing/2014/main" id="{4B88A009-A024-45F7-87B5-4EF3D2F477E1}"/>
              </a:ext>
            </a:extLst>
          </p:cNvPr>
          <p:cNvSpPr>
            <a:spLocks noGrp="1"/>
          </p:cNvSpPr>
          <p:nvPr/>
        </p:nvSpPr>
        <p:spPr>
          <a:xfrm>
            <a:off x="9368790" y="3352800"/>
            <a:ext cx="1251585"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62" name="19%">
            <a:extLst>
              <a:ext uri="{FF2B5EF4-FFF2-40B4-BE49-F238E27FC236}">
                <a16:creationId xmlns:a16="http://schemas.microsoft.com/office/drawing/2014/main" id="{6F5FC641-51B4-46F5-8772-042E9938B3CF}"/>
              </a:ext>
            </a:extLst>
          </p:cNvPr>
          <p:cNvSpPr>
            <a:spLocks noGrp="1"/>
          </p:cNvSpPr>
          <p:nvPr/>
        </p:nvSpPr>
        <p:spPr>
          <a:xfrm>
            <a:off x="9406890" y="3457575"/>
            <a:ext cx="119443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18%</a:t>
            </a:r>
          </a:p>
        </p:txBody>
      </p:sp>
      <p:sp>
        <p:nvSpPr>
          <p:cNvPr id="563" name="n=257">
            <a:extLst>
              <a:ext uri="{FF2B5EF4-FFF2-40B4-BE49-F238E27FC236}">
                <a16:creationId xmlns:a16="http://schemas.microsoft.com/office/drawing/2014/main" id="{8F5CC149-FB9D-4FE7-AE5C-B08CB4EAF174}"/>
              </a:ext>
            </a:extLst>
          </p:cNvPr>
          <p:cNvSpPr>
            <a:spLocks noGrp="1"/>
          </p:cNvSpPr>
          <p:nvPr/>
        </p:nvSpPr>
        <p:spPr>
          <a:xfrm>
            <a:off x="10782300" y="34480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n=218</a:t>
            </a:r>
          </a:p>
        </p:txBody>
      </p:sp>
      <p:sp>
        <p:nvSpPr>
          <p:cNvPr id="564" name="Mostly consistent routine">
            <a:extLst>
              <a:ext uri="{FF2B5EF4-FFF2-40B4-BE49-F238E27FC236}">
                <a16:creationId xmlns:a16="http://schemas.microsoft.com/office/drawing/2014/main" id="{D252252E-42F5-4F3B-90ED-D2FB26CA04DB}"/>
              </a:ext>
            </a:extLst>
          </p:cNvPr>
          <p:cNvSpPr>
            <a:spLocks noGrp="1"/>
          </p:cNvSpPr>
          <p:nvPr/>
        </p:nvSpPr>
        <p:spPr>
          <a:xfrm>
            <a:off x="400050" y="41148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Mostly consistent routine</a:t>
            </a:r>
          </a:p>
        </p:txBody>
      </p:sp>
      <p:sp>
        <p:nvSpPr>
          <p:cNvPr id="565" name="Rectangle 564">
            <a:extLst>
              <a:ext uri="{FF2B5EF4-FFF2-40B4-BE49-F238E27FC236}">
                <a16:creationId xmlns:a16="http://schemas.microsoft.com/office/drawing/2014/main" id="{5FAF3D3E-EA52-4E85-B6FF-2F2B23479C43}"/>
              </a:ext>
            </a:extLst>
          </p:cNvPr>
          <p:cNvSpPr>
            <a:spLocks noGrp="1"/>
          </p:cNvSpPr>
          <p:nvPr/>
        </p:nvSpPr>
        <p:spPr>
          <a:xfrm>
            <a:off x="3667125" y="4076700"/>
            <a:ext cx="1321118"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66" name="24%">
            <a:extLst>
              <a:ext uri="{FF2B5EF4-FFF2-40B4-BE49-F238E27FC236}">
                <a16:creationId xmlns:a16="http://schemas.microsoft.com/office/drawing/2014/main" id="{7D2A7AD0-CB91-49C4-96A9-0655C8FEF8FA}"/>
              </a:ext>
            </a:extLst>
          </p:cNvPr>
          <p:cNvSpPr>
            <a:spLocks noGrp="1"/>
          </p:cNvSpPr>
          <p:nvPr/>
        </p:nvSpPr>
        <p:spPr>
          <a:xfrm>
            <a:off x="3705225" y="4181475"/>
            <a:ext cx="126396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19%</a:t>
            </a:r>
          </a:p>
        </p:txBody>
      </p:sp>
      <p:sp>
        <p:nvSpPr>
          <p:cNvPr id="567" name="Rectangle 566">
            <a:extLst>
              <a:ext uri="{FF2B5EF4-FFF2-40B4-BE49-F238E27FC236}">
                <a16:creationId xmlns:a16="http://schemas.microsoft.com/office/drawing/2014/main" id="{D09CDF4A-CB50-4159-A0F7-48ABF044380B}"/>
              </a:ext>
            </a:extLst>
          </p:cNvPr>
          <p:cNvSpPr>
            <a:spLocks noGrp="1"/>
          </p:cNvSpPr>
          <p:nvPr/>
        </p:nvSpPr>
        <p:spPr>
          <a:xfrm>
            <a:off x="4988243" y="4076700"/>
            <a:ext cx="2016442"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68" name="27%">
            <a:extLst>
              <a:ext uri="{FF2B5EF4-FFF2-40B4-BE49-F238E27FC236}">
                <a16:creationId xmlns:a16="http://schemas.microsoft.com/office/drawing/2014/main" id="{428292C7-887B-44DE-B51D-E9E47E37EFE1}"/>
              </a:ext>
            </a:extLst>
          </p:cNvPr>
          <p:cNvSpPr>
            <a:spLocks noGrp="1"/>
          </p:cNvSpPr>
          <p:nvPr/>
        </p:nvSpPr>
        <p:spPr>
          <a:xfrm>
            <a:off x="5026343" y="4181475"/>
            <a:ext cx="195929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29%</a:t>
            </a:r>
          </a:p>
        </p:txBody>
      </p:sp>
      <p:sp>
        <p:nvSpPr>
          <p:cNvPr id="569" name="Rectangle 568">
            <a:extLst>
              <a:ext uri="{FF2B5EF4-FFF2-40B4-BE49-F238E27FC236}">
                <a16:creationId xmlns:a16="http://schemas.microsoft.com/office/drawing/2014/main" id="{F970D7F4-FEE8-4474-B8A2-6F875684459A}"/>
              </a:ext>
            </a:extLst>
          </p:cNvPr>
          <p:cNvSpPr>
            <a:spLocks noGrp="1"/>
          </p:cNvSpPr>
          <p:nvPr/>
        </p:nvSpPr>
        <p:spPr>
          <a:xfrm>
            <a:off x="7004685" y="4076700"/>
            <a:ext cx="2085975"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70" name="25%">
            <a:extLst>
              <a:ext uri="{FF2B5EF4-FFF2-40B4-BE49-F238E27FC236}">
                <a16:creationId xmlns:a16="http://schemas.microsoft.com/office/drawing/2014/main" id="{A094B96C-C21D-4F9D-979B-C17BF1C87196}"/>
              </a:ext>
            </a:extLst>
          </p:cNvPr>
          <p:cNvSpPr>
            <a:spLocks noGrp="1"/>
          </p:cNvSpPr>
          <p:nvPr/>
        </p:nvSpPr>
        <p:spPr>
          <a:xfrm>
            <a:off x="7042785" y="4181475"/>
            <a:ext cx="202882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30%</a:t>
            </a:r>
          </a:p>
        </p:txBody>
      </p:sp>
      <p:sp>
        <p:nvSpPr>
          <p:cNvPr id="571" name="Rectangle 570">
            <a:extLst>
              <a:ext uri="{FF2B5EF4-FFF2-40B4-BE49-F238E27FC236}">
                <a16:creationId xmlns:a16="http://schemas.microsoft.com/office/drawing/2014/main" id="{902AB6B9-6D31-4019-B1D0-E7F8C249A26A}"/>
              </a:ext>
            </a:extLst>
          </p:cNvPr>
          <p:cNvSpPr>
            <a:spLocks noGrp="1"/>
          </p:cNvSpPr>
          <p:nvPr/>
        </p:nvSpPr>
        <p:spPr>
          <a:xfrm>
            <a:off x="9090660" y="4076700"/>
            <a:ext cx="1529715"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72" name="24%">
            <a:extLst>
              <a:ext uri="{FF2B5EF4-FFF2-40B4-BE49-F238E27FC236}">
                <a16:creationId xmlns:a16="http://schemas.microsoft.com/office/drawing/2014/main" id="{A69C0D18-8924-4571-B774-04B2E8746B90}"/>
              </a:ext>
            </a:extLst>
          </p:cNvPr>
          <p:cNvSpPr>
            <a:spLocks noGrp="1"/>
          </p:cNvSpPr>
          <p:nvPr/>
        </p:nvSpPr>
        <p:spPr>
          <a:xfrm>
            <a:off x="9128760" y="4181475"/>
            <a:ext cx="147256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22%</a:t>
            </a:r>
          </a:p>
        </p:txBody>
      </p:sp>
      <p:sp>
        <p:nvSpPr>
          <p:cNvPr id="573" name="n=157">
            <a:extLst>
              <a:ext uri="{FF2B5EF4-FFF2-40B4-BE49-F238E27FC236}">
                <a16:creationId xmlns:a16="http://schemas.microsoft.com/office/drawing/2014/main" id="{949B9123-25D8-4794-942B-788BAE8B48AD}"/>
              </a:ext>
            </a:extLst>
          </p:cNvPr>
          <p:cNvSpPr>
            <a:spLocks noGrp="1"/>
          </p:cNvSpPr>
          <p:nvPr/>
        </p:nvSpPr>
        <p:spPr>
          <a:xfrm>
            <a:off x="10782300" y="41719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n=110</a:t>
            </a:r>
          </a:p>
        </p:txBody>
      </p:sp>
      <p:sp>
        <p:nvSpPr>
          <p:cNvPr id="574" name="Consistent throughout the semester">
            <a:extLst>
              <a:ext uri="{FF2B5EF4-FFF2-40B4-BE49-F238E27FC236}">
                <a16:creationId xmlns:a16="http://schemas.microsoft.com/office/drawing/2014/main" id="{5C96F9EF-FB20-4F21-BF5F-FF681CB5BDAA}"/>
              </a:ext>
            </a:extLst>
          </p:cNvPr>
          <p:cNvSpPr>
            <a:spLocks noGrp="1"/>
          </p:cNvSpPr>
          <p:nvPr/>
        </p:nvSpPr>
        <p:spPr>
          <a:xfrm>
            <a:off x="400050" y="48387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Consistent throughout the semester</a:t>
            </a:r>
          </a:p>
        </p:txBody>
      </p:sp>
      <p:sp>
        <p:nvSpPr>
          <p:cNvPr id="575" name="Rectangle 574">
            <a:extLst>
              <a:ext uri="{FF2B5EF4-FFF2-40B4-BE49-F238E27FC236}">
                <a16:creationId xmlns:a16="http://schemas.microsoft.com/office/drawing/2014/main" id="{A234D04A-9FEE-418F-BF8E-A7112DC84A1D}"/>
              </a:ext>
            </a:extLst>
          </p:cNvPr>
          <p:cNvSpPr>
            <a:spLocks noGrp="1"/>
          </p:cNvSpPr>
          <p:nvPr/>
        </p:nvSpPr>
        <p:spPr>
          <a:xfrm>
            <a:off x="3667125" y="4800600"/>
            <a:ext cx="1112520"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76" name="20%">
            <a:extLst>
              <a:ext uri="{FF2B5EF4-FFF2-40B4-BE49-F238E27FC236}">
                <a16:creationId xmlns:a16="http://schemas.microsoft.com/office/drawing/2014/main" id="{8BC4011F-F4AB-4BE0-A349-1822C4C18AF4}"/>
              </a:ext>
            </a:extLst>
          </p:cNvPr>
          <p:cNvSpPr>
            <a:spLocks noGrp="1"/>
          </p:cNvSpPr>
          <p:nvPr/>
        </p:nvSpPr>
        <p:spPr>
          <a:xfrm>
            <a:off x="3705225" y="4905375"/>
            <a:ext cx="105537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16%</a:t>
            </a:r>
          </a:p>
        </p:txBody>
      </p:sp>
      <p:sp>
        <p:nvSpPr>
          <p:cNvPr id="577" name="Rectangle 576">
            <a:extLst>
              <a:ext uri="{FF2B5EF4-FFF2-40B4-BE49-F238E27FC236}">
                <a16:creationId xmlns:a16="http://schemas.microsoft.com/office/drawing/2014/main" id="{1F4A64E7-CCAB-4B87-B7DE-30E1EF5A4024}"/>
              </a:ext>
            </a:extLst>
          </p:cNvPr>
          <p:cNvSpPr>
            <a:spLocks noGrp="1"/>
          </p:cNvSpPr>
          <p:nvPr/>
        </p:nvSpPr>
        <p:spPr>
          <a:xfrm>
            <a:off x="4779645" y="4800600"/>
            <a:ext cx="1738312"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78" name="24%">
            <a:extLst>
              <a:ext uri="{FF2B5EF4-FFF2-40B4-BE49-F238E27FC236}">
                <a16:creationId xmlns:a16="http://schemas.microsoft.com/office/drawing/2014/main" id="{E34B7E70-80C3-4B20-AAA9-A5D0E88E71C5}"/>
              </a:ext>
            </a:extLst>
          </p:cNvPr>
          <p:cNvSpPr>
            <a:spLocks noGrp="1"/>
          </p:cNvSpPr>
          <p:nvPr/>
        </p:nvSpPr>
        <p:spPr>
          <a:xfrm>
            <a:off x="4817745" y="4905375"/>
            <a:ext cx="168116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25%</a:t>
            </a:r>
          </a:p>
        </p:txBody>
      </p:sp>
      <p:sp>
        <p:nvSpPr>
          <p:cNvPr id="579" name="Rectangle 578">
            <a:extLst>
              <a:ext uri="{FF2B5EF4-FFF2-40B4-BE49-F238E27FC236}">
                <a16:creationId xmlns:a16="http://schemas.microsoft.com/office/drawing/2014/main" id="{2A3B2B2D-3674-4836-B6CC-EEAAFDAF6D45}"/>
              </a:ext>
            </a:extLst>
          </p:cNvPr>
          <p:cNvSpPr>
            <a:spLocks noGrp="1"/>
          </p:cNvSpPr>
          <p:nvPr/>
        </p:nvSpPr>
        <p:spPr>
          <a:xfrm>
            <a:off x="6517957" y="4800600"/>
            <a:ext cx="2225040"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80" name="27%">
            <a:extLst>
              <a:ext uri="{FF2B5EF4-FFF2-40B4-BE49-F238E27FC236}">
                <a16:creationId xmlns:a16="http://schemas.microsoft.com/office/drawing/2014/main" id="{13284156-6768-4D11-A057-FCB01AC640C7}"/>
              </a:ext>
            </a:extLst>
          </p:cNvPr>
          <p:cNvSpPr>
            <a:spLocks noGrp="1"/>
          </p:cNvSpPr>
          <p:nvPr/>
        </p:nvSpPr>
        <p:spPr>
          <a:xfrm>
            <a:off x="6556057" y="4905375"/>
            <a:ext cx="216789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32%</a:t>
            </a:r>
          </a:p>
        </p:txBody>
      </p:sp>
      <p:sp>
        <p:nvSpPr>
          <p:cNvPr id="581" name="Rectangle 580">
            <a:extLst>
              <a:ext uri="{FF2B5EF4-FFF2-40B4-BE49-F238E27FC236}">
                <a16:creationId xmlns:a16="http://schemas.microsoft.com/office/drawing/2014/main" id="{4756183A-AE0C-41B4-A2B8-4C989447E623}"/>
              </a:ext>
            </a:extLst>
          </p:cNvPr>
          <p:cNvSpPr>
            <a:spLocks noGrp="1"/>
          </p:cNvSpPr>
          <p:nvPr/>
        </p:nvSpPr>
        <p:spPr>
          <a:xfrm>
            <a:off x="8742997" y="4800600"/>
            <a:ext cx="1877378"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82" name="28%">
            <a:extLst>
              <a:ext uri="{FF2B5EF4-FFF2-40B4-BE49-F238E27FC236}">
                <a16:creationId xmlns:a16="http://schemas.microsoft.com/office/drawing/2014/main" id="{F789F10D-B47F-488B-BFFC-DFB3E4C4B3B8}"/>
              </a:ext>
            </a:extLst>
          </p:cNvPr>
          <p:cNvSpPr>
            <a:spLocks noGrp="1"/>
          </p:cNvSpPr>
          <p:nvPr/>
        </p:nvSpPr>
        <p:spPr>
          <a:xfrm>
            <a:off x="8781097" y="4905375"/>
            <a:ext cx="182022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27%</a:t>
            </a:r>
          </a:p>
        </p:txBody>
      </p:sp>
      <p:sp>
        <p:nvSpPr>
          <p:cNvPr id="583" name="n=131">
            <a:extLst>
              <a:ext uri="{FF2B5EF4-FFF2-40B4-BE49-F238E27FC236}">
                <a16:creationId xmlns:a16="http://schemas.microsoft.com/office/drawing/2014/main" id="{F99591CD-D969-4E8E-A8F5-09B5641C9F6B}"/>
              </a:ext>
            </a:extLst>
          </p:cNvPr>
          <p:cNvSpPr>
            <a:spLocks noGrp="1"/>
          </p:cNvSpPr>
          <p:nvPr/>
        </p:nvSpPr>
        <p:spPr>
          <a:xfrm>
            <a:off x="10782300" y="48958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n=95</a:t>
            </a:r>
          </a:p>
        </p:txBody>
      </p:sp>
      <p:sp>
        <p:nvSpPr>
          <p:cNvPr id="584" name="Rectangle 583">
            <a:extLst>
              <a:ext uri="{FF2B5EF4-FFF2-40B4-BE49-F238E27FC236}">
                <a16:creationId xmlns:a16="http://schemas.microsoft.com/office/drawing/2014/main" id="{86BD05C8-4C53-4DC1-BA2D-D0F6C2821311}"/>
              </a:ext>
            </a:extLst>
          </p:cNvPr>
          <p:cNvSpPr>
            <a:spLocks noGrp="1"/>
          </p:cNvSpPr>
          <p:nvPr/>
        </p:nvSpPr>
        <p:spPr>
          <a:xfrm>
            <a:off x="3667125" y="1409700"/>
            <a:ext cx="190500" cy="190500"/>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85" name="C0  &lt; 3.20">
            <a:extLst>
              <a:ext uri="{FF2B5EF4-FFF2-40B4-BE49-F238E27FC236}">
                <a16:creationId xmlns:a16="http://schemas.microsoft.com/office/drawing/2014/main" id="{3CECFDAE-1B7B-4854-A84E-9F7104C69828}"/>
              </a:ext>
            </a:extLst>
          </p:cNvPr>
          <p:cNvSpPr>
            <a:spLocks noGrp="1"/>
          </p:cNvSpPr>
          <p:nvPr/>
        </p:nvSpPr>
        <p:spPr>
          <a:xfrm>
            <a:off x="39433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C0  &lt; 3.20</a:t>
            </a:r>
          </a:p>
        </p:txBody>
      </p:sp>
      <p:sp>
        <p:nvSpPr>
          <p:cNvPr id="586" name="Rectangle 585">
            <a:extLst>
              <a:ext uri="{FF2B5EF4-FFF2-40B4-BE49-F238E27FC236}">
                <a16:creationId xmlns:a16="http://schemas.microsoft.com/office/drawing/2014/main" id="{23B3A29E-579B-4385-BBF7-9E86215E4C4F}"/>
              </a:ext>
            </a:extLst>
          </p:cNvPr>
          <p:cNvSpPr>
            <a:spLocks noGrp="1"/>
          </p:cNvSpPr>
          <p:nvPr/>
        </p:nvSpPr>
        <p:spPr>
          <a:xfrm>
            <a:off x="5476875" y="1409700"/>
            <a:ext cx="190500" cy="190500"/>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87" name="C1  3.20–3.49">
            <a:extLst>
              <a:ext uri="{FF2B5EF4-FFF2-40B4-BE49-F238E27FC236}">
                <a16:creationId xmlns:a16="http://schemas.microsoft.com/office/drawing/2014/main" id="{EA3EBBF0-9483-46BA-AD23-B9AE12684DA9}"/>
              </a:ext>
            </a:extLst>
          </p:cNvPr>
          <p:cNvSpPr>
            <a:spLocks noGrp="1"/>
          </p:cNvSpPr>
          <p:nvPr/>
        </p:nvSpPr>
        <p:spPr>
          <a:xfrm>
            <a:off x="57531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C1  3.20–3.49</a:t>
            </a:r>
          </a:p>
        </p:txBody>
      </p:sp>
      <p:sp>
        <p:nvSpPr>
          <p:cNvPr id="588" name="Rectangle 587">
            <a:extLst>
              <a:ext uri="{FF2B5EF4-FFF2-40B4-BE49-F238E27FC236}">
                <a16:creationId xmlns:a16="http://schemas.microsoft.com/office/drawing/2014/main" id="{2614B997-0652-4246-9926-4851ADC0D0FD}"/>
              </a:ext>
            </a:extLst>
          </p:cNvPr>
          <p:cNvSpPr>
            <a:spLocks noGrp="1"/>
          </p:cNvSpPr>
          <p:nvPr/>
        </p:nvSpPr>
        <p:spPr>
          <a:xfrm>
            <a:off x="7286625" y="1409700"/>
            <a:ext cx="190500" cy="190500"/>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89" name="C2  3.50–3.74">
            <a:extLst>
              <a:ext uri="{FF2B5EF4-FFF2-40B4-BE49-F238E27FC236}">
                <a16:creationId xmlns:a16="http://schemas.microsoft.com/office/drawing/2014/main" id="{F31DD538-6FBB-4F13-AF6A-5686FECC28A3}"/>
              </a:ext>
            </a:extLst>
          </p:cNvPr>
          <p:cNvSpPr>
            <a:spLocks noGrp="1"/>
          </p:cNvSpPr>
          <p:nvPr/>
        </p:nvSpPr>
        <p:spPr>
          <a:xfrm>
            <a:off x="75628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C2  3.50–3.74</a:t>
            </a:r>
          </a:p>
        </p:txBody>
      </p:sp>
      <p:sp>
        <p:nvSpPr>
          <p:cNvPr id="590" name="Rectangle 589">
            <a:extLst>
              <a:ext uri="{FF2B5EF4-FFF2-40B4-BE49-F238E27FC236}">
                <a16:creationId xmlns:a16="http://schemas.microsoft.com/office/drawing/2014/main" id="{C10C7523-9D0D-4C17-B662-C22A38E694A2}"/>
              </a:ext>
            </a:extLst>
          </p:cNvPr>
          <p:cNvSpPr>
            <a:spLocks noGrp="1"/>
          </p:cNvSpPr>
          <p:nvPr/>
        </p:nvSpPr>
        <p:spPr>
          <a:xfrm>
            <a:off x="9096375" y="1409700"/>
            <a:ext cx="190500" cy="190500"/>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91" name="C3  ≥ 3.75">
            <a:extLst>
              <a:ext uri="{FF2B5EF4-FFF2-40B4-BE49-F238E27FC236}">
                <a16:creationId xmlns:a16="http://schemas.microsoft.com/office/drawing/2014/main" id="{6E315968-A477-4DA0-A5BB-0B828AFBDA04}"/>
              </a:ext>
            </a:extLst>
          </p:cNvPr>
          <p:cNvSpPr>
            <a:spLocks noGrp="1"/>
          </p:cNvSpPr>
          <p:nvPr/>
        </p:nvSpPr>
        <p:spPr>
          <a:xfrm>
            <a:off x="93726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C3  ≥ 3.75</a:t>
            </a:r>
          </a:p>
        </p:txBody>
      </p:sp>
      <p:cxnSp>
        <p:nvCxnSpPr>
          <p:cNvPr id="2" name="Straight Arrow Connector 1">
            <a:extLst>
              <a:ext uri="{FF2B5EF4-FFF2-40B4-BE49-F238E27FC236}">
                <a16:creationId xmlns:a16="http://schemas.microsoft.com/office/drawing/2014/main" id="{F3691A7B-179E-DF51-4A05-5596A3367835}"/>
              </a:ext>
            </a:extLst>
          </p:cNvPr>
          <p:cNvCxnSpPr>
            <a:cxnSpLocks/>
          </p:cNvCxnSpPr>
          <p:nvPr/>
        </p:nvCxnSpPr>
        <p:spPr>
          <a:xfrm>
            <a:off x="204107" y="5763986"/>
            <a:ext cx="1057819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 name="Straight Arrow Connector 2">
            <a:extLst>
              <a:ext uri="{FF2B5EF4-FFF2-40B4-BE49-F238E27FC236}">
                <a16:creationId xmlns:a16="http://schemas.microsoft.com/office/drawing/2014/main" id="{01BD39BD-57CE-DB79-17BE-8C49E63DFBEE}"/>
              </a:ext>
            </a:extLst>
          </p:cNvPr>
          <p:cNvCxnSpPr>
            <a:cxnSpLocks/>
          </p:cNvCxnSpPr>
          <p:nvPr/>
        </p:nvCxnSpPr>
        <p:spPr>
          <a:xfrm flipV="1">
            <a:off x="356507" y="971550"/>
            <a:ext cx="0" cy="49448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6E6715EA-6DB1-8DE6-9AFC-51409F51B8CF}"/>
              </a:ext>
            </a:extLst>
          </p:cNvPr>
          <p:cNvSpPr txBox="1"/>
          <p:nvPr/>
        </p:nvSpPr>
        <p:spPr>
          <a:xfrm>
            <a:off x="5532723" y="5787509"/>
            <a:ext cx="821572" cy="369332"/>
          </a:xfrm>
          <a:prstGeom prst="rect">
            <a:avLst/>
          </a:prstGeom>
          <a:noFill/>
        </p:spPr>
        <p:txBody>
          <a:bodyPr wrap="none" rtlCol="0">
            <a:spAutoFit/>
          </a:bodyPr>
          <a:lstStyle/>
          <a:p>
            <a:r>
              <a:rPr lang="en-US" dirty="0">
                <a:latin typeface="OpenAI Sans" panose="020B0604020202020204" charset="0"/>
                <a:ea typeface="OpenAI Sans" panose="020B0604020202020204" charset="0"/>
              </a:rPr>
              <a:t>CGPA</a:t>
            </a:r>
          </a:p>
        </p:txBody>
      </p:sp>
      <p:sp>
        <p:nvSpPr>
          <p:cNvPr id="5" name="TextBox 4">
            <a:extLst>
              <a:ext uri="{FF2B5EF4-FFF2-40B4-BE49-F238E27FC236}">
                <a16:creationId xmlns:a16="http://schemas.microsoft.com/office/drawing/2014/main" id="{CE3827BA-1997-00D7-076A-8531F048D392}"/>
              </a:ext>
            </a:extLst>
          </p:cNvPr>
          <p:cNvSpPr txBox="1"/>
          <p:nvPr/>
        </p:nvSpPr>
        <p:spPr>
          <a:xfrm rot="16200000">
            <a:off x="-481279" y="2715997"/>
            <a:ext cx="1393330" cy="369332"/>
          </a:xfrm>
          <a:prstGeom prst="rect">
            <a:avLst/>
          </a:prstGeom>
          <a:noFill/>
        </p:spPr>
        <p:txBody>
          <a:bodyPr wrap="none" rtlCol="0">
            <a:spAutoFit/>
          </a:bodyPr>
          <a:lstStyle/>
          <a:p>
            <a:r>
              <a:rPr lang="en-US" dirty="0">
                <a:latin typeface="OpenAI Sans" panose="020B0604020202020204" charset="0"/>
                <a:ea typeface="OpenAI Sans" panose="020B0604020202020204" charset="0"/>
              </a:rPr>
              <a:t>Study Style</a:t>
            </a:r>
          </a:p>
        </p:txBody>
      </p:sp>
    </p:spTree>
    <p:extLst>
      <p:ext uri="{BB962C8B-B14F-4D97-AF65-F5344CB8AC3E}">
        <p14:creationId xmlns:p14="http://schemas.microsoft.com/office/powerpoint/2010/main" val="23461318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lang="en-US" dirty="0">
                <a:latin typeface="OpenAI Sans" panose="020B0604020202020204" charset="0"/>
                <a:ea typeface="OpenAI Sans" panose="020B0604020202020204" charset="0"/>
                <a:cs typeface="Times New Roman"/>
              </a:rPr>
              <a:t>28</a:t>
            </a:r>
            <a:endParaRPr sz="1000" dirty="0">
              <a:latin typeface="OpenAI Sans" panose="020B0604020202020204" charset="0"/>
              <a:ea typeface="OpenAI Sans" panose="020B0604020202020204" charset="0"/>
              <a:cs typeface="Times New Roman"/>
            </a:endParaRP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b="1">
                <a:latin typeface="OpenAI Sans" panose="020B0604020202020204" charset="0"/>
                <a:ea typeface="OpenAI Sans" panose="020B0604020202020204" charset="0"/>
                <a:cs typeface="Times New Roman"/>
              </a:rPr>
              <a:t>Topic clarity and CGPA</a:t>
            </a:r>
          </a:p>
        </p:txBody>
      </p:sp>
      <p:sp>
        <p:nvSpPr>
          <p:cNvPr id="534" name="Almost nothing">
            <a:extLst>
              <a:ext uri="{FF2B5EF4-FFF2-40B4-BE49-F238E27FC236}">
                <a16:creationId xmlns:a16="http://schemas.microsoft.com/office/drawing/2014/main" id="{728DD5F2-D936-49AF-8C99-480AA72BD719}"/>
              </a:ext>
            </a:extLst>
          </p:cNvPr>
          <p:cNvSpPr>
            <a:spLocks noGrp="1"/>
          </p:cNvSpPr>
          <p:nvPr/>
        </p:nvSpPr>
        <p:spPr>
          <a:xfrm>
            <a:off x="400050" y="19431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Almost nothing</a:t>
            </a:r>
          </a:p>
        </p:txBody>
      </p:sp>
      <p:sp>
        <p:nvSpPr>
          <p:cNvPr id="535" name="Rectangle 534">
            <a:extLst>
              <a:ext uri="{FF2B5EF4-FFF2-40B4-BE49-F238E27FC236}">
                <a16:creationId xmlns:a16="http://schemas.microsoft.com/office/drawing/2014/main" id="{AF3105BC-0124-42C4-8081-CF8696382845}"/>
              </a:ext>
            </a:extLst>
          </p:cNvPr>
          <p:cNvSpPr>
            <a:spLocks noGrp="1"/>
          </p:cNvSpPr>
          <p:nvPr/>
        </p:nvSpPr>
        <p:spPr>
          <a:xfrm>
            <a:off x="3667125" y="1905000"/>
            <a:ext cx="1460182"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36" name="24%">
            <a:extLst>
              <a:ext uri="{FF2B5EF4-FFF2-40B4-BE49-F238E27FC236}">
                <a16:creationId xmlns:a16="http://schemas.microsoft.com/office/drawing/2014/main" id="{3DD396A3-2BB9-4118-9E51-FAB7432A5FAB}"/>
              </a:ext>
            </a:extLst>
          </p:cNvPr>
          <p:cNvSpPr>
            <a:spLocks noGrp="1"/>
          </p:cNvSpPr>
          <p:nvPr/>
        </p:nvSpPr>
        <p:spPr>
          <a:xfrm>
            <a:off x="3705225" y="2009775"/>
            <a:ext cx="140303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21%</a:t>
            </a:r>
          </a:p>
        </p:txBody>
      </p:sp>
      <p:sp>
        <p:nvSpPr>
          <p:cNvPr id="537" name="Rectangle 536">
            <a:extLst>
              <a:ext uri="{FF2B5EF4-FFF2-40B4-BE49-F238E27FC236}">
                <a16:creationId xmlns:a16="http://schemas.microsoft.com/office/drawing/2014/main" id="{5CA9C875-3208-4796-B07B-DC64B61FCEC5}"/>
              </a:ext>
            </a:extLst>
          </p:cNvPr>
          <p:cNvSpPr>
            <a:spLocks noGrp="1"/>
          </p:cNvSpPr>
          <p:nvPr/>
        </p:nvSpPr>
        <p:spPr>
          <a:xfrm>
            <a:off x="5127307" y="1905000"/>
            <a:ext cx="2364105"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38" name="31%">
            <a:extLst>
              <a:ext uri="{FF2B5EF4-FFF2-40B4-BE49-F238E27FC236}">
                <a16:creationId xmlns:a16="http://schemas.microsoft.com/office/drawing/2014/main" id="{688E1CBF-891E-4070-8FE0-7A7371336139}"/>
              </a:ext>
            </a:extLst>
          </p:cNvPr>
          <p:cNvSpPr>
            <a:spLocks noGrp="1"/>
          </p:cNvSpPr>
          <p:nvPr/>
        </p:nvSpPr>
        <p:spPr>
          <a:xfrm>
            <a:off x="5165407" y="2009775"/>
            <a:ext cx="230695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34%</a:t>
            </a:r>
          </a:p>
        </p:txBody>
      </p:sp>
      <p:sp>
        <p:nvSpPr>
          <p:cNvPr id="539" name="Rectangle 538">
            <a:extLst>
              <a:ext uri="{FF2B5EF4-FFF2-40B4-BE49-F238E27FC236}">
                <a16:creationId xmlns:a16="http://schemas.microsoft.com/office/drawing/2014/main" id="{D5E2570C-C6FE-45B7-900C-31EE0867ED92}"/>
              </a:ext>
            </a:extLst>
          </p:cNvPr>
          <p:cNvSpPr>
            <a:spLocks noGrp="1"/>
          </p:cNvSpPr>
          <p:nvPr/>
        </p:nvSpPr>
        <p:spPr>
          <a:xfrm>
            <a:off x="7491412" y="1905000"/>
            <a:ext cx="1877378"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40" name="25%">
            <a:extLst>
              <a:ext uri="{FF2B5EF4-FFF2-40B4-BE49-F238E27FC236}">
                <a16:creationId xmlns:a16="http://schemas.microsoft.com/office/drawing/2014/main" id="{535EFA1F-6C2D-4AAE-8146-D5E512D04886}"/>
              </a:ext>
            </a:extLst>
          </p:cNvPr>
          <p:cNvSpPr>
            <a:spLocks noGrp="1"/>
          </p:cNvSpPr>
          <p:nvPr/>
        </p:nvSpPr>
        <p:spPr>
          <a:xfrm>
            <a:off x="7529512" y="2009775"/>
            <a:ext cx="182022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27%</a:t>
            </a:r>
          </a:p>
        </p:txBody>
      </p:sp>
      <p:sp>
        <p:nvSpPr>
          <p:cNvPr id="541" name="Rectangle 540">
            <a:extLst>
              <a:ext uri="{FF2B5EF4-FFF2-40B4-BE49-F238E27FC236}">
                <a16:creationId xmlns:a16="http://schemas.microsoft.com/office/drawing/2014/main" id="{DD7095CB-703F-43A0-8C86-CD65782504AE}"/>
              </a:ext>
            </a:extLst>
          </p:cNvPr>
          <p:cNvSpPr>
            <a:spLocks noGrp="1"/>
          </p:cNvSpPr>
          <p:nvPr/>
        </p:nvSpPr>
        <p:spPr>
          <a:xfrm>
            <a:off x="9368790" y="1905000"/>
            <a:ext cx="1251585"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42" name="20%">
            <a:extLst>
              <a:ext uri="{FF2B5EF4-FFF2-40B4-BE49-F238E27FC236}">
                <a16:creationId xmlns:a16="http://schemas.microsoft.com/office/drawing/2014/main" id="{64BDE92A-ABB1-48DB-B76F-E31EAA20D15F}"/>
              </a:ext>
            </a:extLst>
          </p:cNvPr>
          <p:cNvSpPr>
            <a:spLocks noGrp="1"/>
          </p:cNvSpPr>
          <p:nvPr/>
        </p:nvSpPr>
        <p:spPr>
          <a:xfrm>
            <a:off x="9406890" y="2009775"/>
            <a:ext cx="119443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18%</a:t>
            </a:r>
          </a:p>
        </p:txBody>
      </p:sp>
      <p:sp>
        <p:nvSpPr>
          <p:cNvPr id="543" name="n=181">
            <a:extLst>
              <a:ext uri="{FF2B5EF4-FFF2-40B4-BE49-F238E27FC236}">
                <a16:creationId xmlns:a16="http://schemas.microsoft.com/office/drawing/2014/main" id="{A02A6DDB-8B68-4D5D-AF92-B712FCF5E963}"/>
              </a:ext>
            </a:extLst>
          </p:cNvPr>
          <p:cNvSpPr>
            <a:spLocks noGrp="1"/>
          </p:cNvSpPr>
          <p:nvPr/>
        </p:nvSpPr>
        <p:spPr>
          <a:xfrm>
            <a:off x="10782300" y="20002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n=149</a:t>
            </a:r>
          </a:p>
        </p:txBody>
      </p:sp>
      <p:sp>
        <p:nvSpPr>
          <p:cNvPr id="544" name="A little">
            <a:extLst>
              <a:ext uri="{FF2B5EF4-FFF2-40B4-BE49-F238E27FC236}">
                <a16:creationId xmlns:a16="http://schemas.microsoft.com/office/drawing/2014/main" id="{FE270BC4-CAFD-43E5-8E7E-BF8FFD597C4F}"/>
              </a:ext>
            </a:extLst>
          </p:cNvPr>
          <p:cNvSpPr>
            <a:spLocks noGrp="1"/>
          </p:cNvSpPr>
          <p:nvPr/>
        </p:nvSpPr>
        <p:spPr>
          <a:xfrm>
            <a:off x="400050" y="26670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A little</a:t>
            </a:r>
          </a:p>
        </p:txBody>
      </p:sp>
      <p:sp>
        <p:nvSpPr>
          <p:cNvPr id="545" name="Rectangle 544">
            <a:extLst>
              <a:ext uri="{FF2B5EF4-FFF2-40B4-BE49-F238E27FC236}">
                <a16:creationId xmlns:a16="http://schemas.microsoft.com/office/drawing/2014/main" id="{52C114DC-5356-44FA-87FE-9041B172D1C7}"/>
              </a:ext>
            </a:extLst>
          </p:cNvPr>
          <p:cNvSpPr>
            <a:spLocks noGrp="1"/>
          </p:cNvSpPr>
          <p:nvPr/>
        </p:nvSpPr>
        <p:spPr>
          <a:xfrm>
            <a:off x="3667125" y="2628900"/>
            <a:ext cx="1460182"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46" name="23%">
            <a:extLst>
              <a:ext uri="{FF2B5EF4-FFF2-40B4-BE49-F238E27FC236}">
                <a16:creationId xmlns:a16="http://schemas.microsoft.com/office/drawing/2014/main" id="{E71A5F7B-45A0-42E6-BA77-C450ABD463D4}"/>
              </a:ext>
            </a:extLst>
          </p:cNvPr>
          <p:cNvSpPr>
            <a:spLocks noGrp="1"/>
          </p:cNvSpPr>
          <p:nvPr/>
        </p:nvSpPr>
        <p:spPr>
          <a:xfrm>
            <a:off x="3705225" y="2733675"/>
            <a:ext cx="140303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21%</a:t>
            </a:r>
          </a:p>
        </p:txBody>
      </p:sp>
      <p:sp>
        <p:nvSpPr>
          <p:cNvPr id="547" name="Rectangle 546">
            <a:extLst>
              <a:ext uri="{FF2B5EF4-FFF2-40B4-BE49-F238E27FC236}">
                <a16:creationId xmlns:a16="http://schemas.microsoft.com/office/drawing/2014/main" id="{5411A477-E296-4DFC-BD29-E3B5A4D2242F}"/>
              </a:ext>
            </a:extLst>
          </p:cNvPr>
          <p:cNvSpPr>
            <a:spLocks noGrp="1"/>
          </p:cNvSpPr>
          <p:nvPr/>
        </p:nvSpPr>
        <p:spPr>
          <a:xfrm>
            <a:off x="5127307" y="2628900"/>
            <a:ext cx="2016442"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48" name="26%">
            <a:extLst>
              <a:ext uri="{FF2B5EF4-FFF2-40B4-BE49-F238E27FC236}">
                <a16:creationId xmlns:a16="http://schemas.microsoft.com/office/drawing/2014/main" id="{7392D2ED-0E80-41FB-B071-273EA5D14AFB}"/>
              </a:ext>
            </a:extLst>
          </p:cNvPr>
          <p:cNvSpPr>
            <a:spLocks noGrp="1"/>
          </p:cNvSpPr>
          <p:nvPr/>
        </p:nvSpPr>
        <p:spPr>
          <a:xfrm>
            <a:off x="5165407" y="2733675"/>
            <a:ext cx="195929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29%</a:t>
            </a:r>
          </a:p>
        </p:txBody>
      </p:sp>
      <p:sp>
        <p:nvSpPr>
          <p:cNvPr id="549" name="Rectangle 548">
            <a:extLst>
              <a:ext uri="{FF2B5EF4-FFF2-40B4-BE49-F238E27FC236}">
                <a16:creationId xmlns:a16="http://schemas.microsoft.com/office/drawing/2014/main" id="{671845DA-9AE8-4F2F-823B-9422686FC321}"/>
              </a:ext>
            </a:extLst>
          </p:cNvPr>
          <p:cNvSpPr>
            <a:spLocks noGrp="1"/>
          </p:cNvSpPr>
          <p:nvPr/>
        </p:nvSpPr>
        <p:spPr>
          <a:xfrm>
            <a:off x="7143749" y="2628900"/>
            <a:ext cx="1807845"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50" name="26%">
            <a:extLst>
              <a:ext uri="{FF2B5EF4-FFF2-40B4-BE49-F238E27FC236}">
                <a16:creationId xmlns:a16="http://schemas.microsoft.com/office/drawing/2014/main" id="{E2617B2E-4948-4CB4-A9CA-D7114785F377}"/>
              </a:ext>
            </a:extLst>
          </p:cNvPr>
          <p:cNvSpPr>
            <a:spLocks noGrp="1"/>
          </p:cNvSpPr>
          <p:nvPr/>
        </p:nvSpPr>
        <p:spPr>
          <a:xfrm>
            <a:off x="7181849" y="2733675"/>
            <a:ext cx="175069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26%</a:t>
            </a:r>
          </a:p>
        </p:txBody>
      </p:sp>
      <p:sp>
        <p:nvSpPr>
          <p:cNvPr id="551" name="Rectangle 550">
            <a:extLst>
              <a:ext uri="{FF2B5EF4-FFF2-40B4-BE49-F238E27FC236}">
                <a16:creationId xmlns:a16="http://schemas.microsoft.com/office/drawing/2014/main" id="{B1292710-161E-4662-B0BF-3B3849B041C1}"/>
              </a:ext>
            </a:extLst>
          </p:cNvPr>
          <p:cNvSpPr>
            <a:spLocks noGrp="1"/>
          </p:cNvSpPr>
          <p:nvPr/>
        </p:nvSpPr>
        <p:spPr>
          <a:xfrm>
            <a:off x="8951594" y="2628900"/>
            <a:ext cx="1668781"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52" name="24%">
            <a:extLst>
              <a:ext uri="{FF2B5EF4-FFF2-40B4-BE49-F238E27FC236}">
                <a16:creationId xmlns:a16="http://schemas.microsoft.com/office/drawing/2014/main" id="{55D4EEF8-6816-4174-B372-B31B763140A2}"/>
              </a:ext>
            </a:extLst>
          </p:cNvPr>
          <p:cNvSpPr>
            <a:spLocks noGrp="1"/>
          </p:cNvSpPr>
          <p:nvPr/>
        </p:nvSpPr>
        <p:spPr>
          <a:xfrm>
            <a:off x="8989694" y="2733675"/>
            <a:ext cx="1611631"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24%</a:t>
            </a:r>
          </a:p>
        </p:txBody>
      </p:sp>
      <p:sp>
        <p:nvSpPr>
          <p:cNvPr id="553" name="n=265">
            <a:extLst>
              <a:ext uri="{FF2B5EF4-FFF2-40B4-BE49-F238E27FC236}">
                <a16:creationId xmlns:a16="http://schemas.microsoft.com/office/drawing/2014/main" id="{66AA2194-760B-41C4-B303-F74839B1F335}"/>
              </a:ext>
            </a:extLst>
          </p:cNvPr>
          <p:cNvSpPr>
            <a:spLocks noGrp="1"/>
          </p:cNvSpPr>
          <p:nvPr/>
        </p:nvSpPr>
        <p:spPr>
          <a:xfrm>
            <a:off x="10782300" y="27241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n=220</a:t>
            </a:r>
          </a:p>
        </p:txBody>
      </p:sp>
      <p:sp>
        <p:nvSpPr>
          <p:cNvPr id="554" name="About half">
            <a:extLst>
              <a:ext uri="{FF2B5EF4-FFF2-40B4-BE49-F238E27FC236}">
                <a16:creationId xmlns:a16="http://schemas.microsoft.com/office/drawing/2014/main" id="{48D24B51-1FCD-4D51-8D2B-B6F80AF0FFEA}"/>
              </a:ext>
            </a:extLst>
          </p:cNvPr>
          <p:cNvSpPr>
            <a:spLocks noGrp="1"/>
          </p:cNvSpPr>
          <p:nvPr/>
        </p:nvSpPr>
        <p:spPr>
          <a:xfrm>
            <a:off x="400050" y="33909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About half</a:t>
            </a:r>
          </a:p>
        </p:txBody>
      </p:sp>
      <p:sp>
        <p:nvSpPr>
          <p:cNvPr id="555" name="Rectangle 554">
            <a:extLst>
              <a:ext uri="{FF2B5EF4-FFF2-40B4-BE49-F238E27FC236}">
                <a16:creationId xmlns:a16="http://schemas.microsoft.com/office/drawing/2014/main" id="{6DE3E3A9-7D0C-4AB0-ADA0-E883A9E5DAE9}"/>
              </a:ext>
            </a:extLst>
          </p:cNvPr>
          <p:cNvSpPr>
            <a:spLocks noGrp="1"/>
          </p:cNvSpPr>
          <p:nvPr/>
        </p:nvSpPr>
        <p:spPr>
          <a:xfrm>
            <a:off x="3667125" y="3352800"/>
            <a:ext cx="1264227"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56" name="19%">
            <a:extLst>
              <a:ext uri="{FF2B5EF4-FFF2-40B4-BE49-F238E27FC236}">
                <a16:creationId xmlns:a16="http://schemas.microsoft.com/office/drawing/2014/main" id="{C769C505-2143-4BC4-A3AC-BB7B2C0B5DAC}"/>
              </a:ext>
            </a:extLst>
          </p:cNvPr>
          <p:cNvSpPr>
            <a:spLocks noGrp="1"/>
          </p:cNvSpPr>
          <p:nvPr/>
        </p:nvSpPr>
        <p:spPr>
          <a:xfrm>
            <a:off x="3705225" y="3457575"/>
            <a:ext cx="1207077"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18%</a:t>
            </a:r>
          </a:p>
        </p:txBody>
      </p:sp>
      <p:sp>
        <p:nvSpPr>
          <p:cNvPr id="557" name="Rectangle 556">
            <a:extLst>
              <a:ext uri="{FF2B5EF4-FFF2-40B4-BE49-F238E27FC236}">
                <a16:creationId xmlns:a16="http://schemas.microsoft.com/office/drawing/2014/main" id="{58F2DC11-6A8E-4A06-A09A-88B78F02E19D}"/>
              </a:ext>
            </a:extLst>
          </p:cNvPr>
          <p:cNvSpPr>
            <a:spLocks noGrp="1"/>
          </p:cNvSpPr>
          <p:nvPr/>
        </p:nvSpPr>
        <p:spPr>
          <a:xfrm>
            <a:off x="4931352" y="3352800"/>
            <a:ext cx="2317750"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58" name="32%">
            <a:extLst>
              <a:ext uri="{FF2B5EF4-FFF2-40B4-BE49-F238E27FC236}">
                <a16:creationId xmlns:a16="http://schemas.microsoft.com/office/drawing/2014/main" id="{C0861014-8E3E-4FB0-89EE-C7CF3987D979}"/>
              </a:ext>
            </a:extLst>
          </p:cNvPr>
          <p:cNvSpPr>
            <a:spLocks noGrp="1"/>
          </p:cNvSpPr>
          <p:nvPr/>
        </p:nvSpPr>
        <p:spPr>
          <a:xfrm>
            <a:off x="4969452" y="3457575"/>
            <a:ext cx="226060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33%</a:t>
            </a:r>
          </a:p>
        </p:txBody>
      </p:sp>
      <p:sp>
        <p:nvSpPr>
          <p:cNvPr id="559" name="Rectangle 558">
            <a:extLst>
              <a:ext uri="{FF2B5EF4-FFF2-40B4-BE49-F238E27FC236}">
                <a16:creationId xmlns:a16="http://schemas.microsoft.com/office/drawing/2014/main" id="{A837C6F1-EC54-47CF-8840-B93836621CD2}"/>
              </a:ext>
            </a:extLst>
          </p:cNvPr>
          <p:cNvSpPr>
            <a:spLocks noGrp="1"/>
          </p:cNvSpPr>
          <p:nvPr/>
        </p:nvSpPr>
        <p:spPr>
          <a:xfrm>
            <a:off x="7249102" y="3352800"/>
            <a:ext cx="2177280"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60" name="29%">
            <a:extLst>
              <a:ext uri="{FF2B5EF4-FFF2-40B4-BE49-F238E27FC236}">
                <a16:creationId xmlns:a16="http://schemas.microsoft.com/office/drawing/2014/main" id="{FD120E4F-E370-469C-A14E-359BCC8A22A9}"/>
              </a:ext>
            </a:extLst>
          </p:cNvPr>
          <p:cNvSpPr>
            <a:spLocks noGrp="1"/>
          </p:cNvSpPr>
          <p:nvPr/>
        </p:nvSpPr>
        <p:spPr>
          <a:xfrm>
            <a:off x="7287202" y="3457575"/>
            <a:ext cx="212013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31%</a:t>
            </a:r>
          </a:p>
        </p:txBody>
      </p:sp>
      <p:sp>
        <p:nvSpPr>
          <p:cNvPr id="561" name="Rectangle 560">
            <a:extLst>
              <a:ext uri="{FF2B5EF4-FFF2-40B4-BE49-F238E27FC236}">
                <a16:creationId xmlns:a16="http://schemas.microsoft.com/office/drawing/2014/main" id="{EC392B0F-9ADF-4413-91BD-5E90BC416D2B}"/>
              </a:ext>
            </a:extLst>
          </p:cNvPr>
          <p:cNvSpPr>
            <a:spLocks noGrp="1"/>
          </p:cNvSpPr>
          <p:nvPr/>
        </p:nvSpPr>
        <p:spPr>
          <a:xfrm>
            <a:off x="9426382" y="3352800"/>
            <a:ext cx="1193993"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62" name="20%">
            <a:extLst>
              <a:ext uri="{FF2B5EF4-FFF2-40B4-BE49-F238E27FC236}">
                <a16:creationId xmlns:a16="http://schemas.microsoft.com/office/drawing/2014/main" id="{E5D18BE6-4548-4959-A7B8-B45D6B32CFA6}"/>
              </a:ext>
            </a:extLst>
          </p:cNvPr>
          <p:cNvSpPr>
            <a:spLocks noGrp="1"/>
          </p:cNvSpPr>
          <p:nvPr/>
        </p:nvSpPr>
        <p:spPr>
          <a:xfrm>
            <a:off x="9464482" y="3457575"/>
            <a:ext cx="1136843"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17%</a:t>
            </a:r>
          </a:p>
        </p:txBody>
      </p:sp>
      <p:sp>
        <p:nvSpPr>
          <p:cNvPr id="563" name="n=312">
            <a:extLst>
              <a:ext uri="{FF2B5EF4-FFF2-40B4-BE49-F238E27FC236}">
                <a16:creationId xmlns:a16="http://schemas.microsoft.com/office/drawing/2014/main" id="{68D06ACE-1C90-4F40-A2EF-81CD6D98FC7C}"/>
              </a:ext>
            </a:extLst>
          </p:cNvPr>
          <p:cNvSpPr>
            <a:spLocks noGrp="1"/>
          </p:cNvSpPr>
          <p:nvPr/>
        </p:nvSpPr>
        <p:spPr>
          <a:xfrm>
            <a:off x="10782300" y="34480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n=267</a:t>
            </a:r>
          </a:p>
        </p:txBody>
      </p:sp>
      <p:sp>
        <p:nvSpPr>
          <p:cNvPr id="564" name="Most of it">
            <a:extLst>
              <a:ext uri="{FF2B5EF4-FFF2-40B4-BE49-F238E27FC236}">
                <a16:creationId xmlns:a16="http://schemas.microsoft.com/office/drawing/2014/main" id="{6421512E-D70F-4393-8BBD-D890064CB3F6}"/>
              </a:ext>
            </a:extLst>
          </p:cNvPr>
          <p:cNvSpPr>
            <a:spLocks noGrp="1"/>
          </p:cNvSpPr>
          <p:nvPr/>
        </p:nvSpPr>
        <p:spPr>
          <a:xfrm>
            <a:off x="400050" y="41148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Most of it</a:t>
            </a:r>
          </a:p>
        </p:txBody>
      </p:sp>
      <p:sp>
        <p:nvSpPr>
          <p:cNvPr id="565" name="Rectangle 564">
            <a:extLst>
              <a:ext uri="{FF2B5EF4-FFF2-40B4-BE49-F238E27FC236}">
                <a16:creationId xmlns:a16="http://schemas.microsoft.com/office/drawing/2014/main" id="{4471D58F-BDC4-4D3D-8B79-AF484ABFD17B}"/>
              </a:ext>
            </a:extLst>
          </p:cNvPr>
          <p:cNvSpPr>
            <a:spLocks noGrp="1"/>
          </p:cNvSpPr>
          <p:nvPr/>
        </p:nvSpPr>
        <p:spPr>
          <a:xfrm>
            <a:off x="3667125" y="4076700"/>
            <a:ext cx="1251585"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66" name="18%">
            <a:extLst>
              <a:ext uri="{FF2B5EF4-FFF2-40B4-BE49-F238E27FC236}">
                <a16:creationId xmlns:a16="http://schemas.microsoft.com/office/drawing/2014/main" id="{D769472D-1A58-486C-81AC-4F8EB22BE05B}"/>
              </a:ext>
            </a:extLst>
          </p:cNvPr>
          <p:cNvSpPr>
            <a:spLocks noGrp="1"/>
          </p:cNvSpPr>
          <p:nvPr/>
        </p:nvSpPr>
        <p:spPr>
          <a:xfrm>
            <a:off x="3705225" y="4181475"/>
            <a:ext cx="119443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18%</a:t>
            </a:r>
          </a:p>
        </p:txBody>
      </p:sp>
      <p:sp>
        <p:nvSpPr>
          <p:cNvPr id="567" name="Rectangle 566">
            <a:extLst>
              <a:ext uri="{FF2B5EF4-FFF2-40B4-BE49-F238E27FC236}">
                <a16:creationId xmlns:a16="http://schemas.microsoft.com/office/drawing/2014/main" id="{E8CA0FAB-59A0-49EA-8423-9172FE4F888F}"/>
              </a:ext>
            </a:extLst>
          </p:cNvPr>
          <p:cNvSpPr>
            <a:spLocks noGrp="1"/>
          </p:cNvSpPr>
          <p:nvPr/>
        </p:nvSpPr>
        <p:spPr>
          <a:xfrm>
            <a:off x="4918710" y="4076700"/>
            <a:ext cx="2016442"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68" name="29%">
            <a:extLst>
              <a:ext uri="{FF2B5EF4-FFF2-40B4-BE49-F238E27FC236}">
                <a16:creationId xmlns:a16="http://schemas.microsoft.com/office/drawing/2014/main" id="{B49D83DC-CA92-4CC3-9272-E8B4638D9A82}"/>
              </a:ext>
            </a:extLst>
          </p:cNvPr>
          <p:cNvSpPr>
            <a:spLocks noGrp="1"/>
          </p:cNvSpPr>
          <p:nvPr/>
        </p:nvSpPr>
        <p:spPr>
          <a:xfrm>
            <a:off x="4956810" y="4181475"/>
            <a:ext cx="195929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29%</a:t>
            </a:r>
          </a:p>
        </p:txBody>
      </p:sp>
      <p:sp>
        <p:nvSpPr>
          <p:cNvPr id="569" name="Rectangle 568">
            <a:extLst>
              <a:ext uri="{FF2B5EF4-FFF2-40B4-BE49-F238E27FC236}">
                <a16:creationId xmlns:a16="http://schemas.microsoft.com/office/drawing/2014/main" id="{110F1807-FA4D-4D42-B518-3557C24A6A22}"/>
              </a:ext>
            </a:extLst>
          </p:cNvPr>
          <p:cNvSpPr>
            <a:spLocks noGrp="1"/>
          </p:cNvSpPr>
          <p:nvPr/>
        </p:nvSpPr>
        <p:spPr>
          <a:xfrm>
            <a:off x="6935152" y="4076700"/>
            <a:ext cx="2225040"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70" name="32%">
            <a:extLst>
              <a:ext uri="{FF2B5EF4-FFF2-40B4-BE49-F238E27FC236}">
                <a16:creationId xmlns:a16="http://schemas.microsoft.com/office/drawing/2014/main" id="{12060D8C-384C-4D66-9B5C-B2C4D1209F97}"/>
              </a:ext>
            </a:extLst>
          </p:cNvPr>
          <p:cNvSpPr>
            <a:spLocks noGrp="1"/>
          </p:cNvSpPr>
          <p:nvPr/>
        </p:nvSpPr>
        <p:spPr>
          <a:xfrm>
            <a:off x="6973252" y="4181475"/>
            <a:ext cx="216789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32%</a:t>
            </a:r>
          </a:p>
        </p:txBody>
      </p:sp>
      <p:sp>
        <p:nvSpPr>
          <p:cNvPr id="571" name="Rectangle 570">
            <a:extLst>
              <a:ext uri="{FF2B5EF4-FFF2-40B4-BE49-F238E27FC236}">
                <a16:creationId xmlns:a16="http://schemas.microsoft.com/office/drawing/2014/main" id="{B2461F02-D6BA-4DCF-A2BE-444E840ED40D}"/>
              </a:ext>
            </a:extLst>
          </p:cNvPr>
          <p:cNvSpPr>
            <a:spLocks noGrp="1"/>
          </p:cNvSpPr>
          <p:nvPr/>
        </p:nvSpPr>
        <p:spPr>
          <a:xfrm>
            <a:off x="9160192" y="4076700"/>
            <a:ext cx="1460183"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72" name="22%">
            <a:extLst>
              <a:ext uri="{FF2B5EF4-FFF2-40B4-BE49-F238E27FC236}">
                <a16:creationId xmlns:a16="http://schemas.microsoft.com/office/drawing/2014/main" id="{53012205-65C8-43C1-BC6E-E242801FDF1A}"/>
              </a:ext>
            </a:extLst>
          </p:cNvPr>
          <p:cNvSpPr>
            <a:spLocks noGrp="1"/>
          </p:cNvSpPr>
          <p:nvPr/>
        </p:nvSpPr>
        <p:spPr>
          <a:xfrm>
            <a:off x="9198292" y="4181475"/>
            <a:ext cx="1403033"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21%</a:t>
            </a:r>
          </a:p>
        </p:txBody>
      </p:sp>
      <p:sp>
        <p:nvSpPr>
          <p:cNvPr id="573" name="n=217">
            <a:extLst>
              <a:ext uri="{FF2B5EF4-FFF2-40B4-BE49-F238E27FC236}">
                <a16:creationId xmlns:a16="http://schemas.microsoft.com/office/drawing/2014/main" id="{38FECF88-E59B-4669-9E46-F562DB215586}"/>
              </a:ext>
            </a:extLst>
          </p:cNvPr>
          <p:cNvSpPr>
            <a:spLocks noGrp="1"/>
          </p:cNvSpPr>
          <p:nvPr/>
        </p:nvSpPr>
        <p:spPr>
          <a:xfrm>
            <a:off x="10782300" y="41719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n=191</a:t>
            </a:r>
          </a:p>
        </p:txBody>
      </p:sp>
      <p:sp>
        <p:nvSpPr>
          <p:cNvPr id="574" name="Almost everything">
            <a:extLst>
              <a:ext uri="{FF2B5EF4-FFF2-40B4-BE49-F238E27FC236}">
                <a16:creationId xmlns:a16="http://schemas.microsoft.com/office/drawing/2014/main" id="{3A552C76-C9F2-49AA-B5CE-1F64570A7018}"/>
              </a:ext>
            </a:extLst>
          </p:cNvPr>
          <p:cNvSpPr>
            <a:spLocks noGrp="1"/>
          </p:cNvSpPr>
          <p:nvPr/>
        </p:nvSpPr>
        <p:spPr>
          <a:xfrm>
            <a:off x="400050" y="48387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Almost everything</a:t>
            </a:r>
          </a:p>
        </p:txBody>
      </p:sp>
      <p:sp>
        <p:nvSpPr>
          <p:cNvPr id="575" name="Rectangle 574">
            <a:extLst>
              <a:ext uri="{FF2B5EF4-FFF2-40B4-BE49-F238E27FC236}">
                <a16:creationId xmlns:a16="http://schemas.microsoft.com/office/drawing/2014/main" id="{1F6F189E-42E7-46E7-B9D6-9E86571F61FE}"/>
              </a:ext>
            </a:extLst>
          </p:cNvPr>
          <p:cNvSpPr>
            <a:spLocks noGrp="1"/>
          </p:cNvSpPr>
          <p:nvPr/>
        </p:nvSpPr>
        <p:spPr>
          <a:xfrm>
            <a:off x="3667125" y="4800600"/>
            <a:ext cx="1583413"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76" name="25%">
            <a:extLst>
              <a:ext uri="{FF2B5EF4-FFF2-40B4-BE49-F238E27FC236}">
                <a16:creationId xmlns:a16="http://schemas.microsoft.com/office/drawing/2014/main" id="{65805CDC-8AFC-4AF1-A20B-AEC20A74D73B}"/>
              </a:ext>
            </a:extLst>
          </p:cNvPr>
          <p:cNvSpPr>
            <a:spLocks noGrp="1"/>
          </p:cNvSpPr>
          <p:nvPr/>
        </p:nvSpPr>
        <p:spPr>
          <a:xfrm>
            <a:off x="3705225" y="4905375"/>
            <a:ext cx="1526263"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23%</a:t>
            </a:r>
          </a:p>
        </p:txBody>
      </p:sp>
      <p:sp>
        <p:nvSpPr>
          <p:cNvPr id="577" name="Rectangle 576">
            <a:extLst>
              <a:ext uri="{FF2B5EF4-FFF2-40B4-BE49-F238E27FC236}">
                <a16:creationId xmlns:a16="http://schemas.microsoft.com/office/drawing/2014/main" id="{0238FF5D-DF2B-47DD-B729-E06FBDB3F15C}"/>
              </a:ext>
            </a:extLst>
          </p:cNvPr>
          <p:cNvSpPr>
            <a:spLocks noGrp="1"/>
          </p:cNvSpPr>
          <p:nvPr/>
        </p:nvSpPr>
        <p:spPr>
          <a:xfrm>
            <a:off x="5250538" y="4800600"/>
            <a:ext cx="1927634"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78" name="26%">
            <a:extLst>
              <a:ext uri="{FF2B5EF4-FFF2-40B4-BE49-F238E27FC236}">
                <a16:creationId xmlns:a16="http://schemas.microsoft.com/office/drawing/2014/main" id="{AF2930B4-605C-42C7-A2A6-5086C164563B}"/>
              </a:ext>
            </a:extLst>
          </p:cNvPr>
          <p:cNvSpPr>
            <a:spLocks noGrp="1"/>
          </p:cNvSpPr>
          <p:nvPr/>
        </p:nvSpPr>
        <p:spPr>
          <a:xfrm>
            <a:off x="5288638" y="4905375"/>
            <a:ext cx="1870484"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28%</a:t>
            </a:r>
          </a:p>
        </p:txBody>
      </p:sp>
      <p:sp>
        <p:nvSpPr>
          <p:cNvPr id="579" name="Rectangle 578">
            <a:extLst>
              <a:ext uri="{FF2B5EF4-FFF2-40B4-BE49-F238E27FC236}">
                <a16:creationId xmlns:a16="http://schemas.microsoft.com/office/drawing/2014/main" id="{C2F23FC6-8456-4ED7-A895-E6C21E569DD6}"/>
              </a:ext>
            </a:extLst>
          </p:cNvPr>
          <p:cNvSpPr>
            <a:spLocks noGrp="1"/>
          </p:cNvSpPr>
          <p:nvPr/>
        </p:nvSpPr>
        <p:spPr>
          <a:xfrm>
            <a:off x="7178172" y="4800600"/>
            <a:ext cx="1583413"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80" name="21%">
            <a:extLst>
              <a:ext uri="{FF2B5EF4-FFF2-40B4-BE49-F238E27FC236}">
                <a16:creationId xmlns:a16="http://schemas.microsoft.com/office/drawing/2014/main" id="{54037535-A91E-44C6-9E73-E03369D6996D}"/>
              </a:ext>
            </a:extLst>
          </p:cNvPr>
          <p:cNvSpPr>
            <a:spLocks noGrp="1"/>
          </p:cNvSpPr>
          <p:nvPr/>
        </p:nvSpPr>
        <p:spPr>
          <a:xfrm>
            <a:off x="7216272" y="4905375"/>
            <a:ext cx="1526263"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23%</a:t>
            </a:r>
          </a:p>
        </p:txBody>
      </p:sp>
      <p:sp>
        <p:nvSpPr>
          <p:cNvPr id="581" name="Rectangle 580">
            <a:extLst>
              <a:ext uri="{FF2B5EF4-FFF2-40B4-BE49-F238E27FC236}">
                <a16:creationId xmlns:a16="http://schemas.microsoft.com/office/drawing/2014/main" id="{6FF74CF7-5BC9-4E14-897C-E8BE237EA514}"/>
              </a:ext>
            </a:extLst>
          </p:cNvPr>
          <p:cNvSpPr>
            <a:spLocks noGrp="1"/>
          </p:cNvSpPr>
          <p:nvPr/>
        </p:nvSpPr>
        <p:spPr>
          <a:xfrm>
            <a:off x="8761585" y="4800600"/>
            <a:ext cx="1858790"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82" name="29%">
            <a:extLst>
              <a:ext uri="{FF2B5EF4-FFF2-40B4-BE49-F238E27FC236}">
                <a16:creationId xmlns:a16="http://schemas.microsoft.com/office/drawing/2014/main" id="{79F526A3-E265-4B72-8E56-98E790739D35}"/>
              </a:ext>
            </a:extLst>
          </p:cNvPr>
          <p:cNvSpPr>
            <a:spLocks noGrp="1"/>
          </p:cNvSpPr>
          <p:nvPr/>
        </p:nvSpPr>
        <p:spPr>
          <a:xfrm>
            <a:off x="8799685" y="4905375"/>
            <a:ext cx="180164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27%</a:t>
            </a:r>
          </a:p>
        </p:txBody>
      </p:sp>
      <p:sp>
        <p:nvSpPr>
          <p:cNvPr id="583" name="n=133">
            <a:extLst>
              <a:ext uri="{FF2B5EF4-FFF2-40B4-BE49-F238E27FC236}">
                <a16:creationId xmlns:a16="http://schemas.microsoft.com/office/drawing/2014/main" id="{FC44BEA1-5B99-4662-88D0-0FD3DD1C32A3}"/>
              </a:ext>
            </a:extLst>
          </p:cNvPr>
          <p:cNvSpPr>
            <a:spLocks noGrp="1"/>
          </p:cNvSpPr>
          <p:nvPr/>
        </p:nvSpPr>
        <p:spPr>
          <a:xfrm>
            <a:off x="10782300" y="48958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n=93</a:t>
            </a:r>
          </a:p>
        </p:txBody>
      </p:sp>
      <p:sp>
        <p:nvSpPr>
          <p:cNvPr id="584" name="Rectangle 583">
            <a:extLst>
              <a:ext uri="{FF2B5EF4-FFF2-40B4-BE49-F238E27FC236}">
                <a16:creationId xmlns:a16="http://schemas.microsoft.com/office/drawing/2014/main" id="{AF2E17A2-15AF-4C80-B797-C101DE914AC8}"/>
              </a:ext>
            </a:extLst>
          </p:cNvPr>
          <p:cNvSpPr>
            <a:spLocks noGrp="1"/>
          </p:cNvSpPr>
          <p:nvPr/>
        </p:nvSpPr>
        <p:spPr>
          <a:xfrm>
            <a:off x="3667125" y="1409700"/>
            <a:ext cx="190500" cy="190500"/>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85" name="C0  &lt; 3.20">
            <a:extLst>
              <a:ext uri="{FF2B5EF4-FFF2-40B4-BE49-F238E27FC236}">
                <a16:creationId xmlns:a16="http://schemas.microsoft.com/office/drawing/2014/main" id="{154D55A6-5488-44D6-8B2A-91176F2537CC}"/>
              </a:ext>
            </a:extLst>
          </p:cNvPr>
          <p:cNvSpPr>
            <a:spLocks noGrp="1"/>
          </p:cNvSpPr>
          <p:nvPr/>
        </p:nvSpPr>
        <p:spPr>
          <a:xfrm>
            <a:off x="39433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C0  &lt; 3.20</a:t>
            </a:r>
          </a:p>
        </p:txBody>
      </p:sp>
      <p:sp>
        <p:nvSpPr>
          <p:cNvPr id="586" name="Rectangle 585">
            <a:extLst>
              <a:ext uri="{FF2B5EF4-FFF2-40B4-BE49-F238E27FC236}">
                <a16:creationId xmlns:a16="http://schemas.microsoft.com/office/drawing/2014/main" id="{F5DE9467-6CB5-499F-92BF-34DDB612788A}"/>
              </a:ext>
            </a:extLst>
          </p:cNvPr>
          <p:cNvSpPr>
            <a:spLocks noGrp="1"/>
          </p:cNvSpPr>
          <p:nvPr/>
        </p:nvSpPr>
        <p:spPr>
          <a:xfrm>
            <a:off x="5476875" y="1409700"/>
            <a:ext cx="190500" cy="190500"/>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87" name="C1  3.20–3.49">
            <a:extLst>
              <a:ext uri="{FF2B5EF4-FFF2-40B4-BE49-F238E27FC236}">
                <a16:creationId xmlns:a16="http://schemas.microsoft.com/office/drawing/2014/main" id="{E6DB8F5E-B53F-4F14-830C-F09C2CCCB205}"/>
              </a:ext>
            </a:extLst>
          </p:cNvPr>
          <p:cNvSpPr>
            <a:spLocks noGrp="1"/>
          </p:cNvSpPr>
          <p:nvPr/>
        </p:nvSpPr>
        <p:spPr>
          <a:xfrm>
            <a:off x="57531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C1  3.20–3.49</a:t>
            </a:r>
          </a:p>
        </p:txBody>
      </p:sp>
      <p:sp>
        <p:nvSpPr>
          <p:cNvPr id="588" name="Rectangle 587">
            <a:extLst>
              <a:ext uri="{FF2B5EF4-FFF2-40B4-BE49-F238E27FC236}">
                <a16:creationId xmlns:a16="http://schemas.microsoft.com/office/drawing/2014/main" id="{AB31E7A5-A0F2-44B5-BF01-312E2B592032}"/>
              </a:ext>
            </a:extLst>
          </p:cNvPr>
          <p:cNvSpPr>
            <a:spLocks noGrp="1"/>
          </p:cNvSpPr>
          <p:nvPr/>
        </p:nvSpPr>
        <p:spPr>
          <a:xfrm>
            <a:off x="7286625" y="1409700"/>
            <a:ext cx="190500" cy="190500"/>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89" name="C2  3.50–3.74">
            <a:extLst>
              <a:ext uri="{FF2B5EF4-FFF2-40B4-BE49-F238E27FC236}">
                <a16:creationId xmlns:a16="http://schemas.microsoft.com/office/drawing/2014/main" id="{D7B2DA2A-72C3-4B1B-AF86-FAC4E6A7C86F}"/>
              </a:ext>
            </a:extLst>
          </p:cNvPr>
          <p:cNvSpPr>
            <a:spLocks noGrp="1"/>
          </p:cNvSpPr>
          <p:nvPr/>
        </p:nvSpPr>
        <p:spPr>
          <a:xfrm>
            <a:off x="75628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C2  3.50–3.74</a:t>
            </a:r>
          </a:p>
        </p:txBody>
      </p:sp>
      <p:sp>
        <p:nvSpPr>
          <p:cNvPr id="590" name="Rectangle 589">
            <a:extLst>
              <a:ext uri="{FF2B5EF4-FFF2-40B4-BE49-F238E27FC236}">
                <a16:creationId xmlns:a16="http://schemas.microsoft.com/office/drawing/2014/main" id="{6E8BAF0F-F548-4A29-A222-A6CB42057E95}"/>
              </a:ext>
            </a:extLst>
          </p:cNvPr>
          <p:cNvSpPr>
            <a:spLocks noGrp="1"/>
          </p:cNvSpPr>
          <p:nvPr/>
        </p:nvSpPr>
        <p:spPr>
          <a:xfrm>
            <a:off x="9096375" y="1409700"/>
            <a:ext cx="190500" cy="190500"/>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91" name="C3  ≥ 3.75">
            <a:extLst>
              <a:ext uri="{FF2B5EF4-FFF2-40B4-BE49-F238E27FC236}">
                <a16:creationId xmlns:a16="http://schemas.microsoft.com/office/drawing/2014/main" id="{F60A1E47-562A-4EF0-9496-D02B0364F97E}"/>
              </a:ext>
            </a:extLst>
          </p:cNvPr>
          <p:cNvSpPr>
            <a:spLocks noGrp="1"/>
          </p:cNvSpPr>
          <p:nvPr/>
        </p:nvSpPr>
        <p:spPr>
          <a:xfrm>
            <a:off x="93726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C3  ≥ 3.75</a:t>
            </a:r>
          </a:p>
        </p:txBody>
      </p:sp>
      <p:cxnSp>
        <p:nvCxnSpPr>
          <p:cNvPr id="2" name="Straight Arrow Connector 1">
            <a:extLst>
              <a:ext uri="{FF2B5EF4-FFF2-40B4-BE49-F238E27FC236}">
                <a16:creationId xmlns:a16="http://schemas.microsoft.com/office/drawing/2014/main" id="{718A55AA-820B-E53E-751B-1DFE828241BD}"/>
              </a:ext>
            </a:extLst>
          </p:cNvPr>
          <p:cNvCxnSpPr>
            <a:cxnSpLocks/>
          </p:cNvCxnSpPr>
          <p:nvPr/>
        </p:nvCxnSpPr>
        <p:spPr>
          <a:xfrm>
            <a:off x="204107" y="5763986"/>
            <a:ext cx="1057819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 name="Straight Arrow Connector 2">
            <a:extLst>
              <a:ext uri="{FF2B5EF4-FFF2-40B4-BE49-F238E27FC236}">
                <a16:creationId xmlns:a16="http://schemas.microsoft.com/office/drawing/2014/main" id="{14908FF0-7172-2B37-8D95-1DD5598B2DE8}"/>
              </a:ext>
            </a:extLst>
          </p:cNvPr>
          <p:cNvCxnSpPr>
            <a:cxnSpLocks/>
          </p:cNvCxnSpPr>
          <p:nvPr/>
        </p:nvCxnSpPr>
        <p:spPr>
          <a:xfrm flipV="1">
            <a:off x="356507" y="971550"/>
            <a:ext cx="0" cy="49448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83A4D126-B348-324A-B399-4CDFF7C1507D}"/>
              </a:ext>
            </a:extLst>
          </p:cNvPr>
          <p:cNvSpPr txBox="1"/>
          <p:nvPr/>
        </p:nvSpPr>
        <p:spPr>
          <a:xfrm>
            <a:off x="5532723" y="5787509"/>
            <a:ext cx="821572" cy="369332"/>
          </a:xfrm>
          <a:prstGeom prst="rect">
            <a:avLst/>
          </a:prstGeom>
          <a:noFill/>
        </p:spPr>
        <p:txBody>
          <a:bodyPr wrap="none" rtlCol="0">
            <a:spAutoFit/>
          </a:bodyPr>
          <a:lstStyle/>
          <a:p>
            <a:r>
              <a:rPr lang="en-US" dirty="0">
                <a:latin typeface="OpenAI Sans" panose="020B0604020202020204" charset="0"/>
                <a:ea typeface="OpenAI Sans" panose="020B0604020202020204" charset="0"/>
              </a:rPr>
              <a:t>CGPA</a:t>
            </a:r>
          </a:p>
        </p:txBody>
      </p:sp>
      <p:sp>
        <p:nvSpPr>
          <p:cNvPr id="5" name="TextBox 4">
            <a:extLst>
              <a:ext uri="{FF2B5EF4-FFF2-40B4-BE49-F238E27FC236}">
                <a16:creationId xmlns:a16="http://schemas.microsoft.com/office/drawing/2014/main" id="{A960FC45-D15A-FBB0-D0D4-8642BC4DF5D5}"/>
              </a:ext>
            </a:extLst>
          </p:cNvPr>
          <p:cNvSpPr txBox="1"/>
          <p:nvPr/>
        </p:nvSpPr>
        <p:spPr>
          <a:xfrm rot="16200000">
            <a:off x="-567338" y="2715997"/>
            <a:ext cx="1532792" cy="369332"/>
          </a:xfrm>
          <a:prstGeom prst="rect">
            <a:avLst/>
          </a:prstGeom>
          <a:noFill/>
        </p:spPr>
        <p:txBody>
          <a:bodyPr wrap="none" rtlCol="0">
            <a:spAutoFit/>
          </a:bodyPr>
          <a:lstStyle/>
          <a:p>
            <a:r>
              <a:rPr lang="en-US" dirty="0">
                <a:latin typeface="OpenAI Sans" panose="020B0604020202020204" charset="0"/>
                <a:ea typeface="OpenAI Sans" panose="020B0604020202020204" charset="0"/>
              </a:rPr>
              <a:t>Topic Clarity</a:t>
            </a:r>
          </a:p>
        </p:txBody>
      </p:sp>
    </p:spTree>
    <p:extLst>
      <p:ext uri="{BB962C8B-B14F-4D97-AF65-F5344CB8AC3E}">
        <p14:creationId xmlns:p14="http://schemas.microsoft.com/office/powerpoint/2010/main" val="39397771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lang="en-US" dirty="0">
                <a:latin typeface="OpenAI Sans" panose="020B0604020202020204" charset="0"/>
                <a:ea typeface="OpenAI Sans" panose="020B0604020202020204" charset="0"/>
                <a:cs typeface="Times New Roman"/>
              </a:rPr>
              <a:t>29</a:t>
            </a:r>
            <a:endParaRPr sz="1000" dirty="0">
              <a:latin typeface="OpenAI Sans" panose="020B0604020202020204" charset="0"/>
              <a:ea typeface="OpenAI Sans" panose="020B0604020202020204" charset="0"/>
              <a:cs typeface="Times New Roman"/>
            </a:endParaRP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b="1" dirty="0">
                <a:latin typeface="OpenAI Sans" panose="020B0604020202020204" charset="0"/>
                <a:ea typeface="OpenAI Sans" panose="020B0604020202020204" charset="0"/>
                <a:cs typeface="Times New Roman"/>
              </a:rPr>
              <a:t>Sleep and CGPA</a:t>
            </a:r>
          </a:p>
        </p:txBody>
      </p:sp>
      <p:sp>
        <p:nvSpPr>
          <p:cNvPr id="534" name="Less than 5 hrs">
            <a:extLst>
              <a:ext uri="{FF2B5EF4-FFF2-40B4-BE49-F238E27FC236}">
                <a16:creationId xmlns:a16="http://schemas.microsoft.com/office/drawing/2014/main" id="{F3DF7095-85D8-4006-B332-2A75FB545611}"/>
              </a:ext>
            </a:extLst>
          </p:cNvPr>
          <p:cNvSpPr>
            <a:spLocks noGrp="1"/>
          </p:cNvSpPr>
          <p:nvPr/>
        </p:nvSpPr>
        <p:spPr>
          <a:xfrm>
            <a:off x="400050" y="19431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Less than 5 hrs</a:t>
            </a:r>
          </a:p>
        </p:txBody>
      </p:sp>
      <p:sp>
        <p:nvSpPr>
          <p:cNvPr id="535" name="Rectangle 534">
            <a:extLst>
              <a:ext uri="{FF2B5EF4-FFF2-40B4-BE49-F238E27FC236}">
                <a16:creationId xmlns:a16="http://schemas.microsoft.com/office/drawing/2014/main" id="{FD06A6E2-3D79-4516-8749-43ECF98996DF}"/>
              </a:ext>
            </a:extLst>
          </p:cNvPr>
          <p:cNvSpPr>
            <a:spLocks noGrp="1"/>
          </p:cNvSpPr>
          <p:nvPr/>
        </p:nvSpPr>
        <p:spPr>
          <a:xfrm>
            <a:off x="3667125" y="1905000"/>
            <a:ext cx="1264227"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36" name="22%">
            <a:extLst>
              <a:ext uri="{FF2B5EF4-FFF2-40B4-BE49-F238E27FC236}">
                <a16:creationId xmlns:a16="http://schemas.microsoft.com/office/drawing/2014/main" id="{EFFA381E-B597-4939-B957-0C57D363AC8B}"/>
              </a:ext>
            </a:extLst>
          </p:cNvPr>
          <p:cNvSpPr>
            <a:spLocks noGrp="1"/>
          </p:cNvSpPr>
          <p:nvPr/>
        </p:nvSpPr>
        <p:spPr>
          <a:xfrm>
            <a:off x="3705225" y="2009775"/>
            <a:ext cx="1207077"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18%</a:t>
            </a:r>
          </a:p>
        </p:txBody>
      </p:sp>
      <p:sp>
        <p:nvSpPr>
          <p:cNvPr id="537" name="Rectangle 536">
            <a:extLst>
              <a:ext uri="{FF2B5EF4-FFF2-40B4-BE49-F238E27FC236}">
                <a16:creationId xmlns:a16="http://schemas.microsoft.com/office/drawing/2014/main" id="{8B383FC1-3504-4F02-A1F7-0B0D72ABE8BD}"/>
              </a:ext>
            </a:extLst>
          </p:cNvPr>
          <p:cNvSpPr>
            <a:spLocks noGrp="1"/>
          </p:cNvSpPr>
          <p:nvPr/>
        </p:nvSpPr>
        <p:spPr>
          <a:xfrm>
            <a:off x="4931352" y="1905000"/>
            <a:ext cx="2668924"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38" name="35%">
            <a:extLst>
              <a:ext uri="{FF2B5EF4-FFF2-40B4-BE49-F238E27FC236}">
                <a16:creationId xmlns:a16="http://schemas.microsoft.com/office/drawing/2014/main" id="{3B670E97-AA2F-4A82-BD9E-28FA882CE331}"/>
              </a:ext>
            </a:extLst>
          </p:cNvPr>
          <p:cNvSpPr>
            <a:spLocks noGrp="1"/>
          </p:cNvSpPr>
          <p:nvPr/>
        </p:nvSpPr>
        <p:spPr>
          <a:xfrm>
            <a:off x="4969452" y="2009775"/>
            <a:ext cx="2611774"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38%</a:t>
            </a:r>
          </a:p>
        </p:txBody>
      </p:sp>
      <p:sp>
        <p:nvSpPr>
          <p:cNvPr id="539" name="Rectangle 538">
            <a:extLst>
              <a:ext uri="{FF2B5EF4-FFF2-40B4-BE49-F238E27FC236}">
                <a16:creationId xmlns:a16="http://schemas.microsoft.com/office/drawing/2014/main" id="{581934B2-7891-4D1F-A20C-90F73C6B4BF0}"/>
              </a:ext>
            </a:extLst>
          </p:cNvPr>
          <p:cNvSpPr>
            <a:spLocks noGrp="1"/>
          </p:cNvSpPr>
          <p:nvPr/>
        </p:nvSpPr>
        <p:spPr>
          <a:xfrm>
            <a:off x="7600276" y="1905000"/>
            <a:ext cx="1755871"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40" name="24%">
            <a:extLst>
              <a:ext uri="{FF2B5EF4-FFF2-40B4-BE49-F238E27FC236}">
                <a16:creationId xmlns:a16="http://schemas.microsoft.com/office/drawing/2014/main" id="{8A08817D-4633-4F4C-9F33-CCEF3BC31492}"/>
              </a:ext>
            </a:extLst>
          </p:cNvPr>
          <p:cNvSpPr>
            <a:spLocks noGrp="1"/>
          </p:cNvSpPr>
          <p:nvPr/>
        </p:nvSpPr>
        <p:spPr>
          <a:xfrm>
            <a:off x="7638376" y="2009775"/>
            <a:ext cx="1698721"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25%</a:t>
            </a:r>
          </a:p>
        </p:txBody>
      </p:sp>
      <p:sp>
        <p:nvSpPr>
          <p:cNvPr id="541" name="Rectangle 540">
            <a:extLst>
              <a:ext uri="{FF2B5EF4-FFF2-40B4-BE49-F238E27FC236}">
                <a16:creationId xmlns:a16="http://schemas.microsoft.com/office/drawing/2014/main" id="{9C8683B5-29C0-415B-8DE5-9FA435ECEB54}"/>
              </a:ext>
            </a:extLst>
          </p:cNvPr>
          <p:cNvSpPr>
            <a:spLocks noGrp="1"/>
          </p:cNvSpPr>
          <p:nvPr/>
        </p:nvSpPr>
        <p:spPr>
          <a:xfrm>
            <a:off x="9356147" y="1905000"/>
            <a:ext cx="1264228"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42" name="19%">
            <a:extLst>
              <a:ext uri="{FF2B5EF4-FFF2-40B4-BE49-F238E27FC236}">
                <a16:creationId xmlns:a16="http://schemas.microsoft.com/office/drawing/2014/main" id="{D46F16EF-DE05-4D79-94DE-340468CFD4CA}"/>
              </a:ext>
            </a:extLst>
          </p:cNvPr>
          <p:cNvSpPr>
            <a:spLocks noGrp="1"/>
          </p:cNvSpPr>
          <p:nvPr/>
        </p:nvSpPr>
        <p:spPr>
          <a:xfrm>
            <a:off x="9394247" y="2009775"/>
            <a:ext cx="120707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18%</a:t>
            </a:r>
          </a:p>
        </p:txBody>
      </p:sp>
      <p:sp>
        <p:nvSpPr>
          <p:cNvPr id="543" name="n=181">
            <a:extLst>
              <a:ext uri="{FF2B5EF4-FFF2-40B4-BE49-F238E27FC236}">
                <a16:creationId xmlns:a16="http://schemas.microsoft.com/office/drawing/2014/main" id="{02952132-C799-4B3E-A115-D928C94FF737}"/>
              </a:ext>
            </a:extLst>
          </p:cNvPr>
          <p:cNvSpPr>
            <a:spLocks noGrp="1"/>
          </p:cNvSpPr>
          <p:nvPr/>
        </p:nvSpPr>
        <p:spPr>
          <a:xfrm>
            <a:off x="10782300" y="20002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n=146</a:t>
            </a:r>
          </a:p>
        </p:txBody>
      </p:sp>
      <p:sp>
        <p:nvSpPr>
          <p:cNvPr id="544" name="5-6 hrs">
            <a:extLst>
              <a:ext uri="{FF2B5EF4-FFF2-40B4-BE49-F238E27FC236}">
                <a16:creationId xmlns:a16="http://schemas.microsoft.com/office/drawing/2014/main" id="{E07C1FCB-36A7-4409-9E21-99CA59113A83}"/>
              </a:ext>
            </a:extLst>
          </p:cNvPr>
          <p:cNvSpPr>
            <a:spLocks noGrp="1"/>
          </p:cNvSpPr>
          <p:nvPr/>
        </p:nvSpPr>
        <p:spPr>
          <a:xfrm>
            <a:off x="400050" y="26670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5-6 hrs</a:t>
            </a:r>
          </a:p>
        </p:txBody>
      </p:sp>
      <p:sp>
        <p:nvSpPr>
          <p:cNvPr id="545" name="Rectangle 544">
            <a:extLst>
              <a:ext uri="{FF2B5EF4-FFF2-40B4-BE49-F238E27FC236}">
                <a16:creationId xmlns:a16="http://schemas.microsoft.com/office/drawing/2014/main" id="{510C40D5-AD58-40A9-9470-AFE26A173175}"/>
              </a:ext>
            </a:extLst>
          </p:cNvPr>
          <p:cNvSpPr>
            <a:spLocks noGrp="1"/>
          </p:cNvSpPr>
          <p:nvPr/>
        </p:nvSpPr>
        <p:spPr>
          <a:xfrm>
            <a:off x="3667125" y="2628900"/>
            <a:ext cx="1404697"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46" name="21%">
            <a:extLst>
              <a:ext uri="{FF2B5EF4-FFF2-40B4-BE49-F238E27FC236}">
                <a16:creationId xmlns:a16="http://schemas.microsoft.com/office/drawing/2014/main" id="{8994B669-DF78-4892-ABB3-07F29443EC9F}"/>
              </a:ext>
            </a:extLst>
          </p:cNvPr>
          <p:cNvSpPr>
            <a:spLocks noGrp="1"/>
          </p:cNvSpPr>
          <p:nvPr/>
        </p:nvSpPr>
        <p:spPr>
          <a:xfrm>
            <a:off x="3705225" y="2733675"/>
            <a:ext cx="1347547"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20%</a:t>
            </a:r>
          </a:p>
        </p:txBody>
      </p:sp>
      <p:sp>
        <p:nvSpPr>
          <p:cNvPr id="547" name="Rectangle 546">
            <a:extLst>
              <a:ext uri="{FF2B5EF4-FFF2-40B4-BE49-F238E27FC236}">
                <a16:creationId xmlns:a16="http://schemas.microsoft.com/office/drawing/2014/main" id="{C1DCD715-BD65-4375-979A-C59B6E9ED91D}"/>
              </a:ext>
            </a:extLst>
          </p:cNvPr>
          <p:cNvSpPr>
            <a:spLocks noGrp="1"/>
          </p:cNvSpPr>
          <p:nvPr/>
        </p:nvSpPr>
        <p:spPr>
          <a:xfrm>
            <a:off x="5071822" y="2628900"/>
            <a:ext cx="1896341"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48" name="26%">
            <a:extLst>
              <a:ext uri="{FF2B5EF4-FFF2-40B4-BE49-F238E27FC236}">
                <a16:creationId xmlns:a16="http://schemas.microsoft.com/office/drawing/2014/main" id="{EA00C5A4-C2FF-4111-9F96-E9F08357262E}"/>
              </a:ext>
            </a:extLst>
          </p:cNvPr>
          <p:cNvSpPr>
            <a:spLocks noGrp="1"/>
          </p:cNvSpPr>
          <p:nvPr/>
        </p:nvSpPr>
        <p:spPr>
          <a:xfrm>
            <a:off x="5109922" y="2733675"/>
            <a:ext cx="1839191"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27%</a:t>
            </a:r>
          </a:p>
        </p:txBody>
      </p:sp>
      <p:sp>
        <p:nvSpPr>
          <p:cNvPr id="549" name="Rectangle 548">
            <a:extLst>
              <a:ext uri="{FF2B5EF4-FFF2-40B4-BE49-F238E27FC236}">
                <a16:creationId xmlns:a16="http://schemas.microsoft.com/office/drawing/2014/main" id="{ABCB1226-7961-4076-B9E0-1AB3E3E2DE2D}"/>
              </a:ext>
            </a:extLst>
          </p:cNvPr>
          <p:cNvSpPr>
            <a:spLocks noGrp="1"/>
          </p:cNvSpPr>
          <p:nvPr/>
        </p:nvSpPr>
        <p:spPr>
          <a:xfrm>
            <a:off x="6968163" y="2628900"/>
            <a:ext cx="2247515"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50" name="31%">
            <a:extLst>
              <a:ext uri="{FF2B5EF4-FFF2-40B4-BE49-F238E27FC236}">
                <a16:creationId xmlns:a16="http://schemas.microsoft.com/office/drawing/2014/main" id="{70932471-6AB1-4EB5-9988-E2858E67D25B}"/>
              </a:ext>
            </a:extLst>
          </p:cNvPr>
          <p:cNvSpPr>
            <a:spLocks noGrp="1"/>
          </p:cNvSpPr>
          <p:nvPr/>
        </p:nvSpPr>
        <p:spPr>
          <a:xfrm>
            <a:off x="7006263" y="2733675"/>
            <a:ext cx="219036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32%</a:t>
            </a:r>
          </a:p>
        </p:txBody>
      </p:sp>
      <p:sp>
        <p:nvSpPr>
          <p:cNvPr id="551" name="Rectangle 550">
            <a:extLst>
              <a:ext uri="{FF2B5EF4-FFF2-40B4-BE49-F238E27FC236}">
                <a16:creationId xmlns:a16="http://schemas.microsoft.com/office/drawing/2014/main" id="{ABE01831-6636-4F32-9C94-48C438DEA99C}"/>
              </a:ext>
            </a:extLst>
          </p:cNvPr>
          <p:cNvSpPr>
            <a:spLocks noGrp="1"/>
          </p:cNvSpPr>
          <p:nvPr/>
        </p:nvSpPr>
        <p:spPr>
          <a:xfrm>
            <a:off x="9215678" y="2628900"/>
            <a:ext cx="1404697"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52" name="22%">
            <a:extLst>
              <a:ext uri="{FF2B5EF4-FFF2-40B4-BE49-F238E27FC236}">
                <a16:creationId xmlns:a16="http://schemas.microsoft.com/office/drawing/2014/main" id="{B0E65ADD-1946-488F-9F3E-412F74F27CF6}"/>
              </a:ext>
            </a:extLst>
          </p:cNvPr>
          <p:cNvSpPr>
            <a:spLocks noGrp="1"/>
          </p:cNvSpPr>
          <p:nvPr/>
        </p:nvSpPr>
        <p:spPr>
          <a:xfrm>
            <a:off x="9253778" y="2733675"/>
            <a:ext cx="1347547"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20%</a:t>
            </a:r>
          </a:p>
        </p:txBody>
      </p:sp>
      <p:sp>
        <p:nvSpPr>
          <p:cNvPr id="553" name="n=310">
            <a:extLst>
              <a:ext uri="{FF2B5EF4-FFF2-40B4-BE49-F238E27FC236}">
                <a16:creationId xmlns:a16="http://schemas.microsoft.com/office/drawing/2014/main" id="{A789972D-D81F-4274-AD95-7909A2EB0D2C}"/>
              </a:ext>
            </a:extLst>
          </p:cNvPr>
          <p:cNvSpPr>
            <a:spLocks noGrp="1"/>
          </p:cNvSpPr>
          <p:nvPr/>
        </p:nvSpPr>
        <p:spPr>
          <a:xfrm>
            <a:off x="10782300" y="27241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n=262</a:t>
            </a:r>
          </a:p>
        </p:txBody>
      </p:sp>
      <p:sp>
        <p:nvSpPr>
          <p:cNvPr id="554" name="6-7 hrs">
            <a:extLst>
              <a:ext uri="{FF2B5EF4-FFF2-40B4-BE49-F238E27FC236}">
                <a16:creationId xmlns:a16="http://schemas.microsoft.com/office/drawing/2014/main" id="{995572E7-6EC7-45BF-B550-C5AF42266428}"/>
              </a:ext>
            </a:extLst>
          </p:cNvPr>
          <p:cNvSpPr>
            <a:spLocks noGrp="1"/>
          </p:cNvSpPr>
          <p:nvPr/>
        </p:nvSpPr>
        <p:spPr>
          <a:xfrm>
            <a:off x="400050" y="33909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6-7 hrs</a:t>
            </a:r>
          </a:p>
        </p:txBody>
      </p:sp>
      <p:sp>
        <p:nvSpPr>
          <p:cNvPr id="555" name="Rectangle 554">
            <a:extLst>
              <a:ext uri="{FF2B5EF4-FFF2-40B4-BE49-F238E27FC236}">
                <a16:creationId xmlns:a16="http://schemas.microsoft.com/office/drawing/2014/main" id="{AC916197-F7D3-4EF1-9241-B453C19D49DF}"/>
              </a:ext>
            </a:extLst>
          </p:cNvPr>
          <p:cNvSpPr>
            <a:spLocks noGrp="1"/>
          </p:cNvSpPr>
          <p:nvPr/>
        </p:nvSpPr>
        <p:spPr>
          <a:xfrm>
            <a:off x="3667125" y="3352800"/>
            <a:ext cx="1334462"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56" name="20%">
            <a:extLst>
              <a:ext uri="{FF2B5EF4-FFF2-40B4-BE49-F238E27FC236}">
                <a16:creationId xmlns:a16="http://schemas.microsoft.com/office/drawing/2014/main" id="{26384405-E510-4392-BE28-CFFCC2191883}"/>
              </a:ext>
            </a:extLst>
          </p:cNvPr>
          <p:cNvSpPr>
            <a:spLocks noGrp="1"/>
          </p:cNvSpPr>
          <p:nvPr/>
        </p:nvSpPr>
        <p:spPr>
          <a:xfrm>
            <a:off x="3705225" y="3457575"/>
            <a:ext cx="127731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19%</a:t>
            </a:r>
          </a:p>
        </p:txBody>
      </p:sp>
      <p:sp>
        <p:nvSpPr>
          <p:cNvPr id="557" name="Rectangle 556">
            <a:extLst>
              <a:ext uri="{FF2B5EF4-FFF2-40B4-BE49-F238E27FC236}">
                <a16:creationId xmlns:a16="http://schemas.microsoft.com/office/drawing/2014/main" id="{30806C5A-6FF6-4D67-B266-E7C7AE8D69A5}"/>
              </a:ext>
            </a:extLst>
          </p:cNvPr>
          <p:cNvSpPr>
            <a:spLocks noGrp="1"/>
          </p:cNvSpPr>
          <p:nvPr/>
        </p:nvSpPr>
        <p:spPr>
          <a:xfrm>
            <a:off x="5001587" y="3352800"/>
            <a:ext cx="2387985"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58" name="32%">
            <a:extLst>
              <a:ext uri="{FF2B5EF4-FFF2-40B4-BE49-F238E27FC236}">
                <a16:creationId xmlns:a16="http://schemas.microsoft.com/office/drawing/2014/main" id="{8E540F2E-C603-4BE2-A077-74BA404AE181}"/>
              </a:ext>
            </a:extLst>
          </p:cNvPr>
          <p:cNvSpPr>
            <a:spLocks noGrp="1"/>
          </p:cNvSpPr>
          <p:nvPr/>
        </p:nvSpPr>
        <p:spPr>
          <a:xfrm>
            <a:off x="5039687" y="3457575"/>
            <a:ext cx="233083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34%</a:t>
            </a:r>
          </a:p>
        </p:txBody>
      </p:sp>
      <p:sp>
        <p:nvSpPr>
          <p:cNvPr id="559" name="Rectangle 558">
            <a:extLst>
              <a:ext uri="{FF2B5EF4-FFF2-40B4-BE49-F238E27FC236}">
                <a16:creationId xmlns:a16="http://schemas.microsoft.com/office/drawing/2014/main" id="{585CB4A7-4F2E-4A9E-92E5-D3BE6E2A26B5}"/>
              </a:ext>
            </a:extLst>
          </p:cNvPr>
          <p:cNvSpPr>
            <a:spLocks noGrp="1"/>
          </p:cNvSpPr>
          <p:nvPr/>
        </p:nvSpPr>
        <p:spPr>
          <a:xfrm>
            <a:off x="7389572" y="3352800"/>
            <a:ext cx="1896341"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60" name="26%">
            <a:extLst>
              <a:ext uri="{FF2B5EF4-FFF2-40B4-BE49-F238E27FC236}">
                <a16:creationId xmlns:a16="http://schemas.microsoft.com/office/drawing/2014/main" id="{933DA2DC-AF1F-4EA7-BDFA-236C38444802}"/>
              </a:ext>
            </a:extLst>
          </p:cNvPr>
          <p:cNvSpPr>
            <a:spLocks noGrp="1"/>
          </p:cNvSpPr>
          <p:nvPr/>
        </p:nvSpPr>
        <p:spPr>
          <a:xfrm>
            <a:off x="7427672" y="3457575"/>
            <a:ext cx="1839191"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27%</a:t>
            </a:r>
          </a:p>
        </p:txBody>
      </p:sp>
      <p:sp>
        <p:nvSpPr>
          <p:cNvPr id="561" name="Rectangle 560">
            <a:extLst>
              <a:ext uri="{FF2B5EF4-FFF2-40B4-BE49-F238E27FC236}">
                <a16:creationId xmlns:a16="http://schemas.microsoft.com/office/drawing/2014/main" id="{C41F3676-7703-47D5-BD2E-7CD3949D0588}"/>
              </a:ext>
            </a:extLst>
          </p:cNvPr>
          <p:cNvSpPr>
            <a:spLocks noGrp="1"/>
          </p:cNvSpPr>
          <p:nvPr/>
        </p:nvSpPr>
        <p:spPr>
          <a:xfrm>
            <a:off x="9285913" y="3352800"/>
            <a:ext cx="1334462"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62" name="22%">
            <a:extLst>
              <a:ext uri="{FF2B5EF4-FFF2-40B4-BE49-F238E27FC236}">
                <a16:creationId xmlns:a16="http://schemas.microsoft.com/office/drawing/2014/main" id="{E53E8D33-676F-4224-8408-99E21DB1CAB6}"/>
              </a:ext>
            </a:extLst>
          </p:cNvPr>
          <p:cNvSpPr>
            <a:spLocks noGrp="1"/>
          </p:cNvSpPr>
          <p:nvPr/>
        </p:nvSpPr>
        <p:spPr>
          <a:xfrm>
            <a:off x="9324013" y="3457575"/>
            <a:ext cx="127731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19%</a:t>
            </a:r>
          </a:p>
        </p:txBody>
      </p:sp>
      <p:sp>
        <p:nvSpPr>
          <p:cNvPr id="563" name="n=286">
            <a:extLst>
              <a:ext uri="{FF2B5EF4-FFF2-40B4-BE49-F238E27FC236}">
                <a16:creationId xmlns:a16="http://schemas.microsoft.com/office/drawing/2014/main" id="{D9A9414A-C747-4354-B6F6-06C2CB938463}"/>
              </a:ext>
            </a:extLst>
          </p:cNvPr>
          <p:cNvSpPr>
            <a:spLocks noGrp="1"/>
          </p:cNvSpPr>
          <p:nvPr/>
        </p:nvSpPr>
        <p:spPr>
          <a:xfrm>
            <a:off x="10782300" y="34480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n=255</a:t>
            </a:r>
          </a:p>
        </p:txBody>
      </p:sp>
      <p:sp>
        <p:nvSpPr>
          <p:cNvPr id="564" name="7-8 hrs">
            <a:extLst>
              <a:ext uri="{FF2B5EF4-FFF2-40B4-BE49-F238E27FC236}">
                <a16:creationId xmlns:a16="http://schemas.microsoft.com/office/drawing/2014/main" id="{145558ED-7500-4D2B-AE1E-A3D133F814DF}"/>
              </a:ext>
            </a:extLst>
          </p:cNvPr>
          <p:cNvSpPr>
            <a:spLocks noGrp="1"/>
          </p:cNvSpPr>
          <p:nvPr/>
        </p:nvSpPr>
        <p:spPr>
          <a:xfrm>
            <a:off x="400050" y="41148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7-8 hrs</a:t>
            </a:r>
          </a:p>
        </p:txBody>
      </p:sp>
      <p:sp>
        <p:nvSpPr>
          <p:cNvPr id="565" name="Rectangle 564">
            <a:extLst>
              <a:ext uri="{FF2B5EF4-FFF2-40B4-BE49-F238E27FC236}">
                <a16:creationId xmlns:a16="http://schemas.microsoft.com/office/drawing/2014/main" id="{EA24939C-50C5-4632-A235-DEB65AC2D3FC}"/>
              </a:ext>
            </a:extLst>
          </p:cNvPr>
          <p:cNvSpPr>
            <a:spLocks noGrp="1"/>
          </p:cNvSpPr>
          <p:nvPr/>
        </p:nvSpPr>
        <p:spPr>
          <a:xfrm>
            <a:off x="3667125" y="4076700"/>
            <a:ext cx="1251585"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66" name="20%">
            <a:extLst>
              <a:ext uri="{FF2B5EF4-FFF2-40B4-BE49-F238E27FC236}">
                <a16:creationId xmlns:a16="http://schemas.microsoft.com/office/drawing/2014/main" id="{CBC1E457-BA1D-44F6-B252-92394D9DFA4D}"/>
              </a:ext>
            </a:extLst>
          </p:cNvPr>
          <p:cNvSpPr>
            <a:spLocks noGrp="1"/>
          </p:cNvSpPr>
          <p:nvPr/>
        </p:nvSpPr>
        <p:spPr>
          <a:xfrm>
            <a:off x="3705225" y="4181475"/>
            <a:ext cx="119443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18%</a:t>
            </a:r>
          </a:p>
        </p:txBody>
      </p:sp>
      <p:sp>
        <p:nvSpPr>
          <p:cNvPr id="567" name="Rectangle 566">
            <a:extLst>
              <a:ext uri="{FF2B5EF4-FFF2-40B4-BE49-F238E27FC236}">
                <a16:creationId xmlns:a16="http://schemas.microsoft.com/office/drawing/2014/main" id="{885F5512-97CC-4089-8B41-511ABB611332}"/>
              </a:ext>
            </a:extLst>
          </p:cNvPr>
          <p:cNvSpPr>
            <a:spLocks noGrp="1"/>
          </p:cNvSpPr>
          <p:nvPr/>
        </p:nvSpPr>
        <p:spPr>
          <a:xfrm>
            <a:off x="4918710" y="4076700"/>
            <a:ext cx="1946910"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68" name="29%">
            <a:extLst>
              <a:ext uri="{FF2B5EF4-FFF2-40B4-BE49-F238E27FC236}">
                <a16:creationId xmlns:a16="http://schemas.microsoft.com/office/drawing/2014/main" id="{61063409-B905-4BCC-A7C4-E70A2C485123}"/>
              </a:ext>
            </a:extLst>
          </p:cNvPr>
          <p:cNvSpPr>
            <a:spLocks noGrp="1"/>
          </p:cNvSpPr>
          <p:nvPr/>
        </p:nvSpPr>
        <p:spPr>
          <a:xfrm>
            <a:off x="4956810" y="4181475"/>
            <a:ext cx="188976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28%</a:t>
            </a:r>
          </a:p>
        </p:txBody>
      </p:sp>
      <p:sp>
        <p:nvSpPr>
          <p:cNvPr id="569" name="Rectangle 568">
            <a:extLst>
              <a:ext uri="{FF2B5EF4-FFF2-40B4-BE49-F238E27FC236}">
                <a16:creationId xmlns:a16="http://schemas.microsoft.com/office/drawing/2014/main" id="{B07F84D0-33EB-48F7-B237-DA7A43FAD16E}"/>
              </a:ext>
            </a:extLst>
          </p:cNvPr>
          <p:cNvSpPr>
            <a:spLocks noGrp="1"/>
          </p:cNvSpPr>
          <p:nvPr/>
        </p:nvSpPr>
        <p:spPr>
          <a:xfrm>
            <a:off x="6865620" y="4076700"/>
            <a:ext cx="1946910"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70" name="25%">
            <a:extLst>
              <a:ext uri="{FF2B5EF4-FFF2-40B4-BE49-F238E27FC236}">
                <a16:creationId xmlns:a16="http://schemas.microsoft.com/office/drawing/2014/main" id="{5D27EACF-D3CD-4DFC-8111-F51DC4B1C474}"/>
              </a:ext>
            </a:extLst>
          </p:cNvPr>
          <p:cNvSpPr>
            <a:spLocks noGrp="1"/>
          </p:cNvSpPr>
          <p:nvPr/>
        </p:nvSpPr>
        <p:spPr>
          <a:xfrm>
            <a:off x="6903720" y="4181475"/>
            <a:ext cx="188976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28%</a:t>
            </a:r>
          </a:p>
        </p:txBody>
      </p:sp>
      <p:sp>
        <p:nvSpPr>
          <p:cNvPr id="571" name="Rectangle 570">
            <a:extLst>
              <a:ext uri="{FF2B5EF4-FFF2-40B4-BE49-F238E27FC236}">
                <a16:creationId xmlns:a16="http://schemas.microsoft.com/office/drawing/2014/main" id="{151ED6C2-DB0C-448E-A59B-842E00B7485B}"/>
              </a:ext>
            </a:extLst>
          </p:cNvPr>
          <p:cNvSpPr>
            <a:spLocks noGrp="1"/>
          </p:cNvSpPr>
          <p:nvPr/>
        </p:nvSpPr>
        <p:spPr>
          <a:xfrm>
            <a:off x="8812530" y="4076700"/>
            <a:ext cx="1807845"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72" name="26%">
            <a:extLst>
              <a:ext uri="{FF2B5EF4-FFF2-40B4-BE49-F238E27FC236}">
                <a16:creationId xmlns:a16="http://schemas.microsoft.com/office/drawing/2014/main" id="{4632412D-E888-484E-A395-C407075E24D3}"/>
              </a:ext>
            </a:extLst>
          </p:cNvPr>
          <p:cNvSpPr>
            <a:spLocks noGrp="1"/>
          </p:cNvSpPr>
          <p:nvPr/>
        </p:nvSpPr>
        <p:spPr>
          <a:xfrm>
            <a:off x="8850630" y="4181475"/>
            <a:ext cx="175069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26%</a:t>
            </a:r>
          </a:p>
        </p:txBody>
      </p:sp>
      <p:sp>
        <p:nvSpPr>
          <p:cNvPr id="573" name="n=216">
            <a:extLst>
              <a:ext uri="{FF2B5EF4-FFF2-40B4-BE49-F238E27FC236}">
                <a16:creationId xmlns:a16="http://schemas.microsoft.com/office/drawing/2014/main" id="{1AC0477C-EC21-4A6E-BD6D-842A8A3AFF17}"/>
              </a:ext>
            </a:extLst>
          </p:cNvPr>
          <p:cNvSpPr>
            <a:spLocks noGrp="1"/>
          </p:cNvSpPr>
          <p:nvPr/>
        </p:nvSpPr>
        <p:spPr>
          <a:xfrm>
            <a:off x="10782300" y="41719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n=177</a:t>
            </a:r>
          </a:p>
        </p:txBody>
      </p:sp>
      <p:sp>
        <p:nvSpPr>
          <p:cNvPr id="574" name="More than 8 hrs">
            <a:extLst>
              <a:ext uri="{FF2B5EF4-FFF2-40B4-BE49-F238E27FC236}">
                <a16:creationId xmlns:a16="http://schemas.microsoft.com/office/drawing/2014/main" id="{68A4EAED-0189-48F7-AD7C-795745ABCC71}"/>
              </a:ext>
            </a:extLst>
          </p:cNvPr>
          <p:cNvSpPr>
            <a:spLocks noGrp="1"/>
          </p:cNvSpPr>
          <p:nvPr/>
        </p:nvSpPr>
        <p:spPr>
          <a:xfrm>
            <a:off x="400050" y="48387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More than 8 hrs</a:t>
            </a:r>
          </a:p>
        </p:txBody>
      </p:sp>
      <p:sp>
        <p:nvSpPr>
          <p:cNvPr id="575" name="Rectangle 574">
            <a:extLst>
              <a:ext uri="{FF2B5EF4-FFF2-40B4-BE49-F238E27FC236}">
                <a16:creationId xmlns:a16="http://schemas.microsoft.com/office/drawing/2014/main" id="{4DCD466A-B09E-4C1D-887A-1574581E5858}"/>
              </a:ext>
            </a:extLst>
          </p:cNvPr>
          <p:cNvSpPr>
            <a:spLocks noGrp="1"/>
          </p:cNvSpPr>
          <p:nvPr/>
        </p:nvSpPr>
        <p:spPr>
          <a:xfrm>
            <a:off x="3667125" y="4800600"/>
            <a:ext cx="1807845"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76" name="28%">
            <a:extLst>
              <a:ext uri="{FF2B5EF4-FFF2-40B4-BE49-F238E27FC236}">
                <a16:creationId xmlns:a16="http://schemas.microsoft.com/office/drawing/2014/main" id="{9691B53D-D313-47D1-9FE5-1C9386B08E41}"/>
              </a:ext>
            </a:extLst>
          </p:cNvPr>
          <p:cNvSpPr>
            <a:spLocks noGrp="1"/>
          </p:cNvSpPr>
          <p:nvPr/>
        </p:nvSpPr>
        <p:spPr>
          <a:xfrm>
            <a:off x="3705225" y="4905375"/>
            <a:ext cx="175069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26%</a:t>
            </a:r>
          </a:p>
        </p:txBody>
      </p:sp>
      <p:sp>
        <p:nvSpPr>
          <p:cNvPr id="577" name="Rectangle 576">
            <a:extLst>
              <a:ext uri="{FF2B5EF4-FFF2-40B4-BE49-F238E27FC236}">
                <a16:creationId xmlns:a16="http://schemas.microsoft.com/office/drawing/2014/main" id="{BBF95E5D-9704-4A28-BCE7-635FB42E22AA}"/>
              </a:ext>
            </a:extLst>
          </p:cNvPr>
          <p:cNvSpPr>
            <a:spLocks noGrp="1"/>
          </p:cNvSpPr>
          <p:nvPr/>
        </p:nvSpPr>
        <p:spPr>
          <a:xfrm>
            <a:off x="5474970" y="4800600"/>
            <a:ext cx="1738312"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78" name="19%">
            <a:extLst>
              <a:ext uri="{FF2B5EF4-FFF2-40B4-BE49-F238E27FC236}">
                <a16:creationId xmlns:a16="http://schemas.microsoft.com/office/drawing/2014/main" id="{DAE50840-C72B-43AF-BD72-955F2739F910}"/>
              </a:ext>
            </a:extLst>
          </p:cNvPr>
          <p:cNvSpPr>
            <a:spLocks noGrp="1"/>
          </p:cNvSpPr>
          <p:nvPr/>
        </p:nvSpPr>
        <p:spPr>
          <a:xfrm>
            <a:off x="5513070" y="4905375"/>
            <a:ext cx="168116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25%</a:t>
            </a:r>
          </a:p>
        </p:txBody>
      </p:sp>
      <p:sp>
        <p:nvSpPr>
          <p:cNvPr id="579" name="Rectangle 578">
            <a:extLst>
              <a:ext uri="{FF2B5EF4-FFF2-40B4-BE49-F238E27FC236}">
                <a16:creationId xmlns:a16="http://schemas.microsoft.com/office/drawing/2014/main" id="{7DC172DB-AF2A-462E-B0E2-782DCE325E88}"/>
              </a:ext>
            </a:extLst>
          </p:cNvPr>
          <p:cNvSpPr>
            <a:spLocks noGrp="1"/>
          </p:cNvSpPr>
          <p:nvPr/>
        </p:nvSpPr>
        <p:spPr>
          <a:xfrm>
            <a:off x="7213282" y="4800600"/>
            <a:ext cx="2016442"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80" name="30%">
            <a:extLst>
              <a:ext uri="{FF2B5EF4-FFF2-40B4-BE49-F238E27FC236}">
                <a16:creationId xmlns:a16="http://schemas.microsoft.com/office/drawing/2014/main" id="{766572DC-5F32-41AA-8A40-A4EC2EF271BF}"/>
              </a:ext>
            </a:extLst>
          </p:cNvPr>
          <p:cNvSpPr>
            <a:spLocks noGrp="1"/>
          </p:cNvSpPr>
          <p:nvPr/>
        </p:nvSpPr>
        <p:spPr>
          <a:xfrm>
            <a:off x="7251382" y="4905375"/>
            <a:ext cx="195929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29%</a:t>
            </a:r>
          </a:p>
        </p:txBody>
      </p:sp>
      <p:sp>
        <p:nvSpPr>
          <p:cNvPr id="581" name="Rectangle 580">
            <a:extLst>
              <a:ext uri="{FF2B5EF4-FFF2-40B4-BE49-F238E27FC236}">
                <a16:creationId xmlns:a16="http://schemas.microsoft.com/office/drawing/2014/main" id="{C7E421DB-DEEC-40BB-B09C-9C0812A2DEB5}"/>
              </a:ext>
            </a:extLst>
          </p:cNvPr>
          <p:cNvSpPr>
            <a:spLocks noGrp="1"/>
          </p:cNvSpPr>
          <p:nvPr/>
        </p:nvSpPr>
        <p:spPr>
          <a:xfrm>
            <a:off x="9229724" y="4800600"/>
            <a:ext cx="1390651"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82" name="23%">
            <a:extLst>
              <a:ext uri="{FF2B5EF4-FFF2-40B4-BE49-F238E27FC236}">
                <a16:creationId xmlns:a16="http://schemas.microsoft.com/office/drawing/2014/main" id="{BF9E844A-7E3A-4E10-962D-78B6E2FEE871}"/>
              </a:ext>
            </a:extLst>
          </p:cNvPr>
          <p:cNvSpPr>
            <a:spLocks noGrp="1"/>
          </p:cNvSpPr>
          <p:nvPr/>
        </p:nvSpPr>
        <p:spPr>
          <a:xfrm>
            <a:off x="9267824" y="4905375"/>
            <a:ext cx="1333501"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20%</a:t>
            </a:r>
          </a:p>
        </p:txBody>
      </p:sp>
      <p:sp>
        <p:nvSpPr>
          <p:cNvPr id="583" name="n=115">
            <a:extLst>
              <a:ext uri="{FF2B5EF4-FFF2-40B4-BE49-F238E27FC236}">
                <a16:creationId xmlns:a16="http://schemas.microsoft.com/office/drawing/2014/main" id="{935A2D00-0E09-4B4D-82B2-DD89F81B46AA}"/>
              </a:ext>
            </a:extLst>
          </p:cNvPr>
          <p:cNvSpPr>
            <a:spLocks noGrp="1"/>
          </p:cNvSpPr>
          <p:nvPr/>
        </p:nvSpPr>
        <p:spPr>
          <a:xfrm>
            <a:off x="10782300" y="48958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n=80</a:t>
            </a:r>
          </a:p>
        </p:txBody>
      </p:sp>
      <p:sp>
        <p:nvSpPr>
          <p:cNvPr id="584" name="Rectangle 583">
            <a:extLst>
              <a:ext uri="{FF2B5EF4-FFF2-40B4-BE49-F238E27FC236}">
                <a16:creationId xmlns:a16="http://schemas.microsoft.com/office/drawing/2014/main" id="{41BABA3E-8044-4E0C-8412-2575F1C25848}"/>
              </a:ext>
            </a:extLst>
          </p:cNvPr>
          <p:cNvSpPr>
            <a:spLocks noGrp="1"/>
          </p:cNvSpPr>
          <p:nvPr/>
        </p:nvSpPr>
        <p:spPr>
          <a:xfrm>
            <a:off x="3667125" y="1409700"/>
            <a:ext cx="190500" cy="190500"/>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85" name="C0  &lt; 3.20">
            <a:extLst>
              <a:ext uri="{FF2B5EF4-FFF2-40B4-BE49-F238E27FC236}">
                <a16:creationId xmlns:a16="http://schemas.microsoft.com/office/drawing/2014/main" id="{0E1D5672-34C0-4869-B27C-F3304042ED17}"/>
              </a:ext>
            </a:extLst>
          </p:cNvPr>
          <p:cNvSpPr>
            <a:spLocks noGrp="1"/>
          </p:cNvSpPr>
          <p:nvPr/>
        </p:nvSpPr>
        <p:spPr>
          <a:xfrm>
            <a:off x="39433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C0  &lt; 3.20</a:t>
            </a:r>
          </a:p>
        </p:txBody>
      </p:sp>
      <p:sp>
        <p:nvSpPr>
          <p:cNvPr id="586" name="Rectangle 585">
            <a:extLst>
              <a:ext uri="{FF2B5EF4-FFF2-40B4-BE49-F238E27FC236}">
                <a16:creationId xmlns:a16="http://schemas.microsoft.com/office/drawing/2014/main" id="{518A434A-83D4-43EE-B82F-89281B7511A9}"/>
              </a:ext>
            </a:extLst>
          </p:cNvPr>
          <p:cNvSpPr>
            <a:spLocks noGrp="1"/>
          </p:cNvSpPr>
          <p:nvPr/>
        </p:nvSpPr>
        <p:spPr>
          <a:xfrm>
            <a:off x="5476875" y="1409700"/>
            <a:ext cx="190500" cy="190500"/>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87" name="C1  3.20–3.49">
            <a:extLst>
              <a:ext uri="{FF2B5EF4-FFF2-40B4-BE49-F238E27FC236}">
                <a16:creationId xmlns:a16="http://schemas.microsoft.com/office/drawing/2014/main" id="{65CF8668-CFAC-4A84-938B-8B13BBDFC590}"/>
              </a:ext>
            </a:extLst>
          </p:cNvPr>
          <p:cNvSpPr>
            <a:spLocks noGrp="1"/>
          </p:cNvSpPr>
          <p:nvPr/>
        </p:nvSpPr>
        <p:spPr>
          <a:xfrm>
            <a:off x="57531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C1  3.20–3.49</a:t>
            </a:r>
          </a:p>
        </p:txBody>
      </p:sp>
      <p:sp>
        <p:nvSpPr>
          <p:cNvPr id="588" name="Rectangle 587">
            <a:extLst>
              <a:ext uri="{FF2B5EF4-FFF2-40B4-BE49-F238E27FC236}">
                <a16:creationId xmlns:a16="http://schemas.microsoft.com/office/drawing/2014/main" id="{9F86DF02-905C-4686-97AB-E0D5B970B3AB}"/>
              </a:ext>
            </a:extLst>
          </p:cNvPr>
          <p:cNvSpPr>
            <a:spLocks noGrp="1"/>
          </p:cNvSpPr>
          <p:nvPr/>
        </p:nvSpPr>
        <p:spPr>
          <a:xfrm>
            <a:off x="7286625" y="1409700"/>
            <a:ext cx="190500" cy="190500"/>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89" name="C2  3.50–3.74">
            <a:extLst>
              <a:ext uri="{FF2B5EF4-FFF2-40B4-BE49-F238E27FC236}">
                <a16:creationId xmlns:a16="http://schemas.microsoft.com/office/drawing/2014/main" id="{1EAAA1FF-2AE4-4BA3-B345-DFD255A2723A}"/>
              </a:ext>
            </a:extLst>
          </p:cNvPr>
          <p:cNvSpPr>
            <a:spLocks noGrp="1"/>
          </p:cNvSpPr>
          <p:nvPr/>
        </p:nvSpPr>
        <p:spPr>
          <a:xfrm>
            <a:off x="75628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C2  3.50–3.74</a:t>
            </a:r>
          </a:p>
        </p:txBody>
      </p:sp>
      <p:sp>
        <p:nvSpPr>
          <p:cNvPr id="590" name="Rectangle 589">
            <a:extLst>
              <a:ext uri="{FF2B5EF4-FFF2-40B4-BE49-F238E27FC236}">
                <a16:creationId xmlns:a16="http://schemas.microsoft.com/office/drawing/2014/main" id="{D7F1D0C3-FC03-4C29-80BC-B194E593D132}"/>
              </a:ext>
            </a:extLst>
          </p:cNvPr>
          <p:cNvSpPr>
            <a:spLocks noGrp="1"/>
          </p:cNvSpPr>
          <p:nvPr/>
        </p:nvSpPr>
        <p:spPr>
          <a:xfrm>
            <a:off x="9096375" y="1409700"/>
            <a:ext cx="190500" cy="190500"/>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91" name="C3  ≥ 3.75">
            <a:extLst>
              <a:ext uri="{FF2B5EF4-FFF2-40B4-BE49-F238E27FC236}">
                <a16:creationId xmlns:a16="http://schemas.microsoft.com/office/drawing/2014/main" id="{8EE1ADA1-CD9A-4662-A4B8-70B84E5DB563}"/>
              </a:ext>
            </a:extLst>
          </p:cNvPr>
          <p:cNvSpPr>
            <a:spLocks noGrp="1"/>
          </p:cNvSpPr>
          <p:nvPr/>
        </p:nvSpPr>
        <p:spPr>
          <a:xfrm>
            <a:off x="93726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C3  ≥ 3.75</a:t>
            </a:r>
          </a:p>
        </p:txBody>
      </p:sp>
      <p:cxnSp>
        <p:nvCxnSpPr>
          <p:cNvPr id="2" name="Straight Arrow Connector 1">
            <a:extLst>
              <a:ext uri="{FF2B5EF4-FFF2-40B4-BE49-F238E27FC236}">
                <a16:creationId xmlns:a16="http://schemas.microsoft.com/office/drawing/2014/main" id="{B5DCFF11-EC79-AEB1-1EAC-89E4A2FB56C4}"/>
              </a:ext>
            </a:extLst>
          </p:cNvPr>
          <p:cNvCxnSpPr>
            <a:cxnSpLocks/>
          </p:cNvCxnSpPr>
          <p:nvPr/>
        </p:nvCxnSpPr>
        <p:spPr>
          <a:xfrm>
            <a:off x="204107" y="5763986"/>
            <a:ext cx="1057819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 name="Straight Arrow Connector 2">
            <a:extLst>
              <a:ext uri="{FF2B5EF4-FFF2-40B4-BE49-F238E27FC236}">
                <a16:creationId xmlns:a16="http://schemas.microsoft.com/office/drawing/2014/main" id="{8EACC69A-08E5-0EC2-23E1-B9C4BEDD517B}"/>
              </a:ext>
            </a:extLst>
          </p:cNvPr>
          <p:cNvCxnSpPr>
            <a:cxnSpLocks/>
          </p:cNvCxnSpPr>
          <p:nvPr/>
        </p:nvCxnSpPr>
        <p:spPr>
          <a:xfrm flipV="1">
            <a:off x="356507" y="971550"/>
            <a:ext cx="0" cy="49448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A5B9396E-E5BF-1ADD-ADB5-FA2033A85575}"/>
              </a:ext>
            </a:extLst>
          </p:cNvPr>
          <p:cNvSpPr txBox="1"/>
          <p:nvPr/>
        </p:nvSpPr>
        <p:spPr>
          <a:xfrm>
            <a:off x="5532723" y="5787509"/>
            <a:ext cx="821572" cy="369332"/>
          </a:xfrm>
          <a:prstGeom prst="rect">
            <a:avLst/>
          </a:prstGeom>
          <a:noFill/>
        </p:spPr>
        <p:txBody>
          <a:bodyPr wrap="none" rtlCol="0">
            <a:spAutoFit/>
          </a:bodyPr>
          <a:lstStyle/>
          <a:p>
            <a:r>
              <a:rPr lang="en-US" dirty="0">
                <a:latin typeface="OpenAI Sans" panose="020B0604020202020204" charset="0"/>
                <a:ea typeface="OpenAI Sans" panose="020B0604020202020204" charset="0"/>
              </a:rPr>
              <a:t>CGPA</a:t>
            </a:r>
          </a:p>
        </p:txBody>
      </p:sp>
      <p:sp>
        <p:nvSpPr>
          <p:cNvPr id="5" name="TextBox 4">
            <a:extLst>
              <a:ext uri="{FF2B5EF4-FFF2-40B4-BE49-F238E27FC236}">
                <a16:creationId xmlns:a16="http://schemas.microsoft.com/office/drawing/2014/main" id="{C222C401-4996-E9B7-03A8-8D9D15B7B490}"/>
              </a:ext>
            </a:extLst>
          </p:cNvPr>
          <p:cNvSpPr txBox="1"/>
          <p:nvPr/>
        </p:nvSpPr>
        <p:spPr>
          <a:xfrm rot="16200000">
            <a:off x="-171900" y="2715997"/>
            <a:ext cx="774571" cy="369332"/>
          </a:xfrm>
          <a:prstGeom prst="rect">
            <a:avLst/>
          </a:prstGeom>
          <a:noFill/>
        </p:spPr>
        <p:txBody>
          <a:bodyPr wrap="none" rtlCol="0">
            <a:spAutoFit/>
          </a:bodyPr>
          <a:lstStyle/>
          <a:p>
            <a:r>
              <a:rPr lang="en-US" dirty="0">
                <a:latin typeface="OpenAI Sans" panose="020B0604020202020204" charset="0"/>
                <a:ea typeface="OpenAI Sans" panose="020B0604020202020204" charset="0"/>
              </a:rPr>
              <a:t>Sleep</a:t>
            </a:r>
          </a:p>
        </p:txBody>
      </p:sp>
    </p:spTree>
    <p:extLst>
      <p:ext uri="{BB962C8B-B14F-4D97-AF65-F5344CB8AC3E}">
        <p14:creationId xmlns:p14="http://schemas.microsoft.com/office/powerpoint/2010/main" val="32578680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lang="en-US" dirty="0">
                <a:latin typeface="OpenAI Sans" panose="020B0604020202020204" charset="0"/>
                <a:ea typeface="OpenAI Sans" panose="020B0604020202020204" charset="0"/>
                <a:cs typeface="Times New Roman"/>
              </a:rPr>
              <a:t>30</a:t>
            </a:r>
            <a:endParaRPr sz="1000" dirty="0">
              <a:latin typeface="OpenAI Sans" panose="020B0604020202020204" charset="0"/>
              <a:ea typeface="OpenAI Sans" panose="020B0604020202020204" charset="0"/>
              <a:cs typeface="Times New Roman"/>
            </a:endParaRP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b="1">
                <a:latin typeface="OpenAI Sans" panose="020B0604020202020204" charset="0"/>
                <a:ea typeface="OpenAI Sans" panose="020B0604020202020204" charset="0"/>
                <a:cs typeface="Times New Roman"/>
              </a:rPr>
              <a:t>Stress and CGPA</a:t>
            </a:r>
          </a:p>
        </p:txBody>
      </p:sp>
      <p:sp>
        <p:nvSpPr>
          <p:cNvPr id="534" name="Never">
            <a:extLst>
              <a:ext uri="{FF2B5EF4-FFF2-40B4-BE49-F238E27FC236}">
                <a16:creationId xmlns:a16="http://schemas.microsoft.com/office/drawing/2014/main" id="{B180C138-1091-4A3A-B5BB-518E3DE1F03A}"/>
              </a:ext>
            </a:extLst>
          </p:cNvPr>
          <p:cNvSpPr>
            <a:spLocks noGrp="1"/>
          </p:cNvSpPr>
          <p:nvPr/>
        </p:nvSpPr>
        <p:spPr>
          <a:xfrm>
            <a:off x="400050" y="19431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Never</a:t>
            </a:r>
          </a:p>
        </p:txBody>
      </p:sp>
      <p:sp>
        <p:nvSpPr>
          <p:cNvPr id="535" name="Rectangle 534">
            <a:extLst>
              <a:ext uri="{FF2B5EF4-FFF2-40B4-BE49-F238E27FC236}">
                <a16:creationId xmlns:a16="http://schemas.microsoft.com/office/drawing/2014/main" id="{5BF87C44-0FEC-489E-B01A-25406C9E39E2}"/>
              </a:ext>
            </a:extLst>
          </p:cNvPr>
          <p:cNvSpPr>
            <a:spLocks noGrp="1"/>
          </p:cNvSpPr>
          <p:nvPr/>
        </p:nvSpPr>
        <p:spPr>
          <a:xfrm>
            <a:off x="3667125" y="1905000"/>
            <a:ext cx="1445725"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36" name="24%">
            <a:extLst>
              <a:ext uri="{FF2B5EF4-FFF2-40B4-BE49-F238E27FC236}">
                <a16:creationId xmlns:a16="http://schemas.microsoft.com/office/drawing/2014/main" id="{73EE8629-D994-475E-BC8D-0BB4CDA00E2D}"/>
              </a:ext>
            </a:extLst>
          </p:cNvPr>
          <p:cNvSpPr>
            <a:spLocks noGrp="1"/>
          </p:cNvSpPr>
          <p:nvPr/>
        </p:nvSpPr>
        <p:spPr>
          <a:xfrm>
            <a:off x="3705225" y="2009775"/>
            <a:ext cx="138857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21%</a:t>
            </a:r>
          </a:p>
        </p:txBody>
      </p:sp>
      <p:sp>
        <p:nvSpPr>
          <p:cNvPr id="537" name="Rectangle 536">
            <a:extLst>
              <a:ext uri="{FF2B5EF4-FFF2-40B4-BE49-F238E27FC236}">
                <a16:creationId xmlns:a16="http://schemas.microsoft.com/office/drawing/2014/main" id="{D64EB400-A0D1-4638-ACEE-6A76FE11A829}"/>
              </a:ext>
            </a:extLst>
          </p:cNvPr>
          <p:cNvSpPr>
            <a:spLocks noGrp="1"/>
          </p:cNvSpPr>
          <p:nvPr/>
        </p:nvSpPr>
        <p:spPr>
          <a:xfrm>
            <a:off x="5112850" y="1905000"/>
            <a:ext cx="2271854"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38" name="29%">
            <a:extLst>
              <a:ext uri="{FF2B5EF4-FFF2-40B4-BE49-F238E27FC236}">
                <a16:creationId xmlns:a16="http://schemas.microsoft.com/office/drawing/2014/main" id="{83877F0A-478A-4A7F-9778-09C067F18F21}"/>
              </a:ext>
            </a:extLst>
          </p:cNvPr>
          <p:cNvSpPr>
            <a:spLocks noGrp="1"/>
          </p:cNvSpPr>
          <p:nvPr/>
        </p:nvSpPr>
        <p:spPr>
          <a:xfrm>
            <a:off x="5150950" y="2009775"/>
            <a:ext cx="2214704"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33%</a:t>
            </a:r>
          </a:p>
        </p:txBody>
      </p:sp>
      <p:sp>
        <p:nvSpPr>
          <p:cNvPr id="539" name="Rectangle 538">
            <a:extLst>
              <a:ext uri="{FF2B5EF4-FFF2-40B4-BE49-F238E27FC236}">
                <a16:creationId xmlns:a16="http://schemas.microsoft.com/office/drawing/2014/main" id="{A3C83AD7-2FF6-43EB-9365-798F57FFC378}"/>
              </a:ext>
            </a:extLst>
          </p:cNvPr>
          <p:cNvSpPr>
            <a:spLocks noGrp="1"/>
          </p:cNvSpPr>
          <p:nvPr/>
        </p:nvSpPr>
        <p:spPr>
          <a:xfrm>
            <a:off x="7384704" y="1905000"/>
            <a:ext cx="1721101"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40" name="25%">
            <a:extLst>
              <a:ext uri="{FF2B5EF4-FFF2-40B4-BE49-F238E27FC236}">
                <a16:creationId xmlns:a16="http://schemas.microsoft.com/office/drawing/2014/main" id="{609D6585-367D-4807-8EDA-0FAB21B464FC}"/>
              </a:ext>
            </a:extLst>
          </p:cNvPr>
          <p:cNvSpPr>
            <a:spLocks noGrp="1"/>
          </p:cNvSpPr>
          <p:nvPr/>
        </p:nvSpPr>
        <p:spPr>
          <a:xfrm>
            <a:off x="7422804" y="2009775"/>
            <a:ext cx="1663951"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25%</a:t>
            </a:r>
          </a:p>
        </p:txBody>
      </p:sp>
      <p:sp>
        <p:nvSpPr>
          <p:cNvPr id="541" name="Rectangle 540">
            <a:extLst>
              <a:ext uri="{FF2B5EF4-FFF2-40B4-BE49-F238E27FC236}">
                <a16:creationId xmlns:a16="http://schemas.microsoft.com/office/drawing/2014/main" id="{FF861B48-AE84-4CBE-A60C-B58EB2D1C9C3}"/>
              </a:ext>
            </a:extLst>
          </p:cNvPr>
          <p:cNvSpPr>
            <a:spLocks noGrp="1"/>
          </p:cNvSpPr>
          <p:nvPr/>
        </p:nvSpPr>
        <p:spPr>
          <a:xfrm>
            <a:off x="9105805" y="1905000"/>
            <a:ext cx="1514570"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42" name="22%">
            <a:extLst>
              <a:ext uri="{FF2B5EF4-FFF2-40B4-BE49-F238E27FC236}">
                <a16:creationId xmlns:a16="http://schemas.microsoft.com/office/drawing/2014/main" id="{E305BCF2-5B20-4EFF-BAFA-61F3D8B6E3B9}"/>
              </a:ext>
            </a:extLst>
          </p:cNvPr>
          <p:cNvSpPr>
            <a:spLocks noGrp="1"/>
          </p:cNvSpPr>
          <p:nvPr/>
        </p:nvSpPr>
        <p:spPr>
          <a:xfrm>
            <a:off x="9143905" y="2009775"/>
            <a:ext cx="145742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22%</a:t>
            </a:r>
          </a:p>
        </p:txBody>
      </p:sp>
      <p:sp>
        <p:nvSpPr>
          <p:cNvPr id="543" name="n=129">
            <a:extLst>
              <a:ext uri="{FF2B5EF4-FFF2-40B4-BE49-F238E27FC236}">
                <a16:creationId xmlns:a16="http://schemas.microsoft.com/office/drawing/2014/main" id="{33A8C08B-7FB1-47AD-862D-D99BE0A6F89F}"/>
              </a:ext>
            </a:extLst>
          </p:cNvPr>
          <p:cNvSpPr>
            <a:spLocks noGrp="1"/>
          </p:cNvSpPr>
          <p:nvPr/>
        </p:nvSpPr>
        <p:spPr>
          <a:xfrm>
            <a:off x="10782300" y="20002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n=101</a:t>
            </a:r>
          </a:p>
        </p:txBody>
      </p:sp>
      <p:sp>
        <p:nvSpPr>
          <p:cNvPr id="544" name="Rarely">
            <a:extLst>
              <a:ext uri="{FF2B5EF4-FFF2-40B4-BE49-F238E27FC236}">
                <a16:creationId xmlns:a16="http://schemas.microsoft.com/office/drawing/2014/main" id="{8695E0D0-6D14-4F14-9F8F-6593A9B1C65C}"/>
              </a:ext>
            </a:extLst>
          </p:cNvPr>
          <p:cNvSpPr>
            <a:spLocks noGrp="1"/>
          </p:cNvSpPr>
          <p:nvPr/>
        </p:nvSpPr>
        <p:spPr>
          <a:xfrm>
            <a:off x="400050" y="26670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Rarely</a:t>
            </a:r>
          </a:p>
        </p:txBody>
      </p:sp>
      <p:sp>
        <p:nvSpPr>
          <p:cNvPr id="545" name="Rectangle 544">
            <a:extLst>
              <a:ext uri="{FF2B5EF4-FFF2-40B4-BE49-F238E27FC236}">
                <a16:creationId xmlns:a16="http://schemas.microsoft.com/office/drawing/2014/main" id="{7F378D2F-04BE-4F05-BAF5-08CB6DBE53DA}"/>
              </a:ext>
            </a:extLst>
          </p:cNvPr>
          <p:cNvSpPr>
            <a:spLocks noGrp="1"/>
          </p:cNvSpPr>
          <p:nvPr/>
        </p:nvSpPr>
        <p:spPr>
          <a:xfrm>
            <a:off x="3667125" y="2628900"/>
            <a:ext cx="1239193"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46" name="23%">
            <a:extLst>
              <a:ext uri="{FF2B5EF4-FFF2-40B4-BE49-F238E27FC236}">
                <a16:creationId xmlns:a16="http://schemas.microsoft.com/office/drawing/2014/main" id="{B6295E0B-9AE4-4C36-B9E4-EFFF32266E82}"/>
              </a:ext>
            </a:extLst>
          </p:cNvPr>
          <p:cNvSpPr>
            <a:spLocks noGrp="1"/>
          </p:cNvSpPr>
          <p:nvPr/>
        </p:nvSpPr>
        <p:spPr>
          <a:xfrm>
            <a:off x="3705225" y="2733675"/>
            <a:ext cx="1182043"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18%</a:t>
            </a:r>
          </a:p>
        </p:txBody>
      </p:sp>
      <p:sp>
        <p:nvSpPr>
          <p:cNvPr id="547" name="Rectangle 546">
            <a:extLst>
              <a:ext uri="{FF2B5EF4-FFF2-40B4-BE49-F238E27FC236}">
                <a16:creationId xmlns:a16="http://schemas.microsoft.com/office/drawing/2014/main" id="{4BA95F61-D409-420F-82AD-3C444F628D81}"/>
              </a:ext>
            </a:extLst>
          </p:cNvPr>
          <p:cNvSpPr>
            <a:spLocks noGrp="1"/>
          </p:cNvSpPr>
          <p:nvPr/>
        </p:nvSpPr>
        <p:spPr>
          <a:xfrm>
            <a:off x="4906318" y="2628900"/>
            <a:ext cx="1927634"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48" name="24%">
            <a:extLst>
              <a:ext uri="{FF2B5EF4-FFF2-40B4-BE49-F238E27FC236}">
                <a16:creationId xmlns:a16="http://schemas.microsoft.com/office/drawing/2014/main" id="{D660CBCF-0B8A-4D64-9012-8D78ED181155}"/>
              </a:ext>
            </a:extLst>
          </p:cNvPr>
          <p:cNvSpPr>
            <a:spLocks noGrp="1"/>
          </p:cNvSpPr>
          <p:nvPr/>
        </p:nvSpPr>
        <p:spPr>
          <a:xfrm>
            <a:off x="4944418" y="2733675"/>
            <a:ext cx="1870484"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28%</a:t>
            </a:r>
          </a:p>
        </p:txBody>
      </p:sp>
      <p:sp>
        <p:nvSpPr>
          <p:cNvPr id="549" name="Rectangle 548">
            <a:extLst>
              <a:ext uri="{FF2B5EF4-FFF2-40B4-BE49-F238E27FC236}">
                <a16:creationId xmlns:a16="http://schemas.microsoft.com/office/drawing/2014/main" id="{E9B8DEA1-225B-4D8C-B980-93E72ABF75CC}"/>
              </a:ext>
            </a:extLst>
          </p:cNvPr>
          <p:cNvSpPr>
            <a:spLocks noGrp="1"/>
          </p:cNvSpPr>
          <p:nvPr/>
        </p:nvSpPr>
        <p:spPr>
          <a:xfrm>
            <a:off x="6833952" y="2628900"/>
            <a:ext cx="2616074"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50" name="34%">
            <a:extLst>
              <a:ext uri="{FF2B5EF4-FFF2-40B4-BE49-F238E27FC236}">
                <a16:creationId xmlns:a16="http://schemas.microsoft.com/office/drawing/2014/main" id="{58B74E3E-13BD-401E-A26D-0FC64F469473}"/>
              </a:ext>
            </a:extLst>
          </p:cNvPr>
          <p:cNvSpPr>
            <a:spLocks noGrp="1"/>
          </p:cNvSpPr>
          <p:nvPr/>
        </p:nvSpPr>
        <p:spPr>
          <a:xfrm>
            <a:off x="6872052" y="2733675"/>
            <a:ext cx="2558924"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38%</a:t>
            </a:r>
          </a:p>
        </p:txBody>
      </p:sp>
      <p:sp>
        <p:nvSpPr>
          <p:cNvPr id="551" name="Rectangle 550">
            <a:extLst>
              <a:ext uri="{FF2B5EF4-FFF2-40B4-BE49-F238E27FC236}">
                <a16:creationId xmlns:a16="http://schemas.microsoft.com/office/drawing/2014/main" id="{A9EE9641-EFCA-4BB8-8E39-59919F3CDA77}"/>
              </a:ext>
            </a:extLst>
          </p:cNvPr>
          <p:cNvSpPr>
            <a:spLocks noGrp="1"/>
          </p:cNvSpPr>
          <p:nvPr/>
        </p:nvSpPr>
        <p:spPr>
          <a:xfrm>
            <a:off x="9450026" y="2628900"/>
            <a:ext cx="1170349"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52" name="19%">
            <a:extLst>
              <a:ext uri="{FF2B5EF4-FFF2-40B4-BE49-F238E27FC236}">
                <a16:creationId xmlns:a16="http://schemas.microsoft.com/office/drawing/2014/main" id="{B2241433-4BB6-4655-81D2-A65E78167A1A}"/>
              </a:ext>
            </a:extLst>
          </p:cNvPr>
          <p:cNvSpPr>
            <a:spLocks noGrp="1"/>
          </p:cNvSpPr>
          <p:nvPr/>
        </p:nvSpPr>
        <p:spPr>
          <a:xfrm>
            <a:off x="9488126" y="2733675"/>
            <a:ext cx="1113199"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17%</a:t>
            </a:r>
          </a:p>
        </p:txBody>
      </p:sp>
      <p:sp>
        <p:nvSpPr>
          <p:cNvPr id="553" name="n=236">
            <a:extLst>
              <a:ext uri="{FF2B5EF4-FFF2-40B4-BE49-F238E27FC236}">
                <a16:creationId xmlns:a16="http://schemas.microsoft.com/office/drawing/2014/main" id="{4C7BEBCF-C893-496B-A10E-F2BCDCE3F8BB}"/>
              </a:ext>
            </a:extLst>
          </p:cNvPr>
          <p:cNvSpPr>
            <a:spLocks noGrp="1"/>
          </p:cNvSpPr>
          <p:nvPr/>
        </p:nvSpPr>
        <p:spPr>
          <a:xfrm>
            <a:off x="10782300" y="27241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n=184</a:t>
            </a:r>
          </a:p>
        </p:txBody>
      </p:sp>
      <p:sp>
        <p:nvSpPr>
          <p:cNvPr id="554" name="Sometimes">
            <a:extLst>
              <a:ext uri="{FF2B5EF4-FFF2-40B4-BE49-F238E27FC236}">
                <a16:creationId xmlns:a16="http://schemas.microsoft.com/office/drawing/2014/main" id="{500FF9F7-AFF4-41EC-8559-B5BFB65CB30B}"/>
              </a:ext>
            </a:extLst>
          </p:cNvPr>
          <p:cNvSpPr>
            <a:spLocks noGrp="1"/>
          </p:cNvSpPr>
          <p:nvPr/>
        </p:nvSpPr>
        <p:spPr>
          <a:xfrm>
            <a:off x="400050" y="33909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Sometimes</a:t>
            </a:r>
          </a:p>
        </p:txBody>
      </p:sp>
      <p:sp>
        <p:nvSpPr>
          <p:cNvPr id="555" name="Rectangle 554">
            <a:extLst>
              <a:ext uri="{FF2B5EF4-FFF2-40B4-BE49-F238E27FC236}">
                <a16:creationId xmlns:a16="http://schemas.microsoft.com/office/drawing/2014/main" id="{50D07462-E611-4DD0-917B-F8D2B3EDCD30}"/>
              </a:ext>
            </a:extLst>
          </p:cNvPr>
          <p:cNvSpPr>
            <a:spLocks noGrp="1"/>
          </p:cNvSpPr>
          <p:nvPr/>
        </p:nvSpPr>
        <p:spPr>
          <a:xfrm>
            <a:off x="3667125" y="3352800"/>
            <a:ext cx="1112520"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56" name="17%">
            <a:extLst>
              <a:ext uri="{FF2B5EF4-FFF2-40B4-BE49-F238E27FC236}">
                <a16:creationId xmlns:a16="http://schemas.microsoft.com/office/drawing/2014/main" id="{43518822-8E84-43E0-AA73-B623896ADB8A}"/>
              </a:ext>
            </a:extLst>
          </p:cNvPr>
          <p:cNvSpPr>
            <a:spLocks noGrp="1"/>
          </p:cNvSpPr>
          <p:nvPr/>
        </p:nvSpPr>
        <p:spPr>
          <a:xfrm>
            <a:off x="3705225" y="3457575"/>
            <a:ext cx="105537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16%</a:t>
            </a:r>
          </a:p>
        </p:txBody>
      </p:sp>
      <p:sp>
        <p:nvSpPr>
          <p:cNvPr id="557" name="Rectangle 556">
            <a:extLst>
              <a:ext uri="{FF2B5EF4-FFF2-40B4-BE49-F238E27FC236}">
                <a16:creationId xmlns:a16="http://schemas.microsoft.com/office/drawing/2014/main" id="{AB458823-423B-43AE-AB91-D8E4F9EB5B14}"/>
              </a:ext>
            </a:extLst>
          </p:cNvPr>
          <p:cNvSpPr>
            <a:spLocks noGrp="1"/>
          </p:cNvSpPr>
          <p:nvPr/>
        </p:nvSpPr>
        <p:spPr>
          <a:xfrm>
            <a:off x="4779645" y="3352800"/>
            <a:ext cx="2364105"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58" name="33%">
            <a:extLst>
              <a:ext uri="{FF2B5EF4-FFF2-40B4-BE49-F238E27FC236}">
                <a16:creationId xmlns:a16="http://schemas.microsoft.com/office/drawing/2014/main" id="{D8ACBC79-EA75-4126-9B22-7C0E144F7B3F}"/>
              </a:ext>
            </a:extLst>
          </p:cNvPr>
          <p:cNvSpPr>
            <a:spLocks noGrp="1"/>
          </p:cNvSpPr>
          <p:nvPr/>
        </p:nvSpPr>
        <p:spPr>
          <a:xfrm>
            <a:off x="4817745" y="3457575"/>
            <a:ext cx="230695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34%</a:t>
            </a:r>
          </a:p>
        </p:txBody>
      </p:sp>
      <p:sp>
        <p:nvSpPr>
          <p:cNvPr id="559" name="Rectangle 558">
            <a:extLst>
              <a:ext uri="{FF2B5EF4-FFF2-40B4-BE49-F238E27FC236}">
                <a16:creationId xmlns:a16="http://schemas.microsoft.com/office/drawing/2014/main" id="{BC88CDFD-CA1C-48DA-A970-BCFAD80534F0}"/>
              </a:ext>
            </a:extLst>
          </p:cNvPr>
          <p:cNvSpPr>
            <a:spLocks noGrp="1"/>
          </p:cNvSpPr>
          <p:nvPr/>
        </p:nvSpPr>
        <p:spPr>
          <a:xfrm>
            <a:off x="7143750" y="3352800"/>
            <a:ext cx="1877378"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60" name="25%">
            <a:extLst>
              <a:ext uri="{FF2B5EF4-FFF2-40B4-BE49-F238E27FC236}">
                <a16:creationId xmlns:a16="http://schemas.microsoft.com/office/drawing/2014/main" id="{E6F28B75-C9CA-482B-AD0A-763124340AC5}"/>
              </a:ext>
            </a:extLst>
          </p:cNvPr>
          <p:cNvSpPr>
            <a:spLocks noGrp="1"/>
          </p:cNvSpPr>
          <p:nvPr/>
        </p:nvSpPr>
        <p:spPr>
          <a:xfrm>
            <a:off x="7181850" y="3457575"/>
            <a:ext cx="182022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27%</a:t>
            </a:r>
          </a:p>
        </p:txBody>
      </p:sp>
      <p:sp>
        <p:nvSpPr>
          <p:cNvPr id="561" name="Rectangle 560">
            <a:extLst>
              <a:ext uri="{FF2B5EF4-FFF2-40B4-BE49-F238E27FC236}">
                <a16:creationId xmlns:a16="http://schemas.microsoft.com/office/drawing/2014/main" id="{44626A1A-74C7-4362-92CE-E3CADDAE651E}"/>
              </a:ext>
            </a:extLst>
          </p:cNvPr>
          <p:cNvSpPr>
            <a:spLocks noGrp="1"/>
          </p:cNvSpPr>
          <p:nvPr/>
        </p:nvSpPr>
        <p:spPr>
          <a:xfrm>
            <a:off x="9021128" y="3352800"/>
            <a:ext cx="1599247"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62" name="26%">
            <a:extLst>
              <a:ext uri="{FF2B5EF4-FFF2-40B4-BE49-F238E27FC236}">
                <a16:creationId xmlns:a16="http://schemas.microsoft.com/office/drawing/2014/main" id="{3C8C6C0B-0FCB-4F1C-911D-0A1530AD1083}"/>
              </a:ext>
            </a:extLst>
          </p:cNvPr>
          <p:cNvSpPr>
            <a:spLocks noGrp="1"/>
          </p:cNvSpPr>
          <p:nvPr/>
        </p:nvSpPr>
        <p:spPr>
          <a:xfrm>
            <a:off x="9059228" y="3457575"/>
            <a:ext cx="1542097"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23%</a:t>
            </a:r>
          </a:p>
        </p:txBody>
      </p:sp>
      <p:sp>
        <p:nvSpPr>
          <p:cNvPr id="563" name="n=302">
            <a:extLst>
              <a:ext uri="{FF2B5EF4-FFF2-40B4-BE49-F238E27FC236}">
                <a16:creationId xmlns:a16="http://schemas.microsoft.com/office/drawing/2014/main" id="{338CF3AA-0C9E-4323-8760-0A62949AA25F}"/>
              </a:ext>
            </a:extLst>
          </p:cNvPr>
          <p:cNvSpPr>
            <a:spLocks noGrp="1"/>
          </p:cNvSpPr>
          <p:nvPr/>
        </p:nvSpPr>
        <p:spPr>
          <a:xfrm>
            <a:off x="10782300" y="34480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n=259</a:t>
            </a:r>
          </a:p>
        </p:txBody>
      </p:sp>
      <p:sp>
        <p:nvSpPr>
          <p:cNvPr id="564" name="Often">
            <a:extLst>
              <a:ext uri="{FF2B5EF4-FFF2-40B4-BE49-F238E27FC236}">
                <a16:creationId xmlns:a16="http://schemas.microsoft.com/office/drawing/2014/main" id="{DF5BE59F-58CA-40AF-9381-EF119B610FE6}"/>
              </a:ext>
            </a:extLst>
          </p:cNvPr>
          <p:cNvSpPr>
            <a:spLocks noGrp="1"/>
          </p:cNvSpPr>
          <p:nvPr/>
        </p:nvSpPr>
        <p:spPr>
          <a:xfrm>
            <a:off x="400050" y="41148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Often</a:t>
            </a:r>
          </a:p>
        </p:txBody>
      </p:sp>
      <p:sp>
        <p:nvSpPr>
          <p:cNvPr id="565" name="Rectangle 564">
            <a:extLst>
              <a:ext uri="{FF2B5EF4-FFF2-40B4-BE49-F238E27FC236}">
                <a16:creationId xmlns:a16="http://schemas.microsoft.com/office/drawing/2014/main" id="{8FD74BBD-3A15-4D8B-9F3C-F35A2F9F72DE}"/>
              </a:ext>
            </a:extLst>
          </p:cNvPr>
          <p:cNvSpPr>
            <a:spLocks noGrp="1"/>
          </p:cNvSpPr>
          <p:nvPr/>
        </p:nvSpPr>
        <p:spPr>
          <a:xfrm>
            <a:off x="3667125" y="4076700"/>
            <a:ext cx="1404697"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66" name="20%">
            <a:extLst>
              <a:ext uri="{FF2B5EF4-FFF2-40B4-BE49-F238E27FC236}">
                <a16:creationId xmlns:a16="http://schemas.microsoft.com/office/drawing/2014/main" id="{284759EE-E2EE-46AC-9B36-8FDAA77C3619}"/>
              </a:ext>
            </a:extLst>
          </p:cNvPr>
          <p:cNvSpPr>
            <a:spLocks noGrp="1"/>
          </p:cNvSpPr>
          <p:nvPr/>
        </p:nvSpPr>
        <p:spPr>
          <a:xfrm>
            <a:off x="3705225" y="4181475"/>
            <a:ext cx="1347547"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20%</a:t>
            </a:r>
          </a:p>
        </p:txBody>
      </p:sp>
      <p:sp>
        <p:nvSpPr>
          <p:cNvPr id="567" name="Rectangle 566">
            <a:extLst>
              <a:ext uri="{FF2B5EF4-FFF2-40B4-BE49-F238E27FC236}">
                <a16:creationId xmlns:a16="http://schemas.microsoft.com/office/drawing/2014/main" id="{5894D387-F45E-427E-BB95-117B483AB895}"/>
              </a:ext>
            </a:extLst>
          </p:cNvPr>
          <p:cNvSpPr>
            <a:spLocks noGrp="1"/>
          </p:cNvSpPr>
          <p:nvPr/>
        </p:nvSpPr>
        <p:spPr>
          <a:xfrm>
            <a:off x="5071822" y="4076700"/>
            <a:ext cx="2458220"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68" name="35%">
            <a:extLst>
              <a:ext uri="{FF2B5EF4-FFF2-40B4-BE49-F238E27FC236}">
                <a16:creationId xmlns:a16="http://schemas.microsoft.com/office/drawing/2014/main" id="{EF1BB90C-BDA4-40D6-A510-962CA507BD54}"/>
              </a:ext>
            </a:extLst>
          </p:cNvPr>
          <p:cNvSpPr>
            <a:spLocks noGrp="1"/>
          </p:cNvSpPr>
          <p:nvPr/>
        </p:nvSpPr>
        <p:spPr>
          <a:xfrm>
            <a:off x="5109922" y="4181475"/>
            <a:ext cx="240107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35%</a:t>
            </a:r>
          </a:p>
        </p:txBody>
      </p:sp>
      <p:sp>
        <p:nvSpPr>
          <p:cNvPr id="569" name="Rectangle 568">
            <a:extLst>
              <a:ext uri="{FF2B5EF4-FFF2-40B4-BE49-F238E27FC236}">
                <a16:creationId xmlns:a16="http://schemas.microsoft.com/office/drawing/2014/main" id="{E0483293-20B6-4BEC-9DBE-262DE8F11DD8}"/>
              </a:ext>
            </a:extLst>
          </p:cNvPr>
          <p:cNvSpPr>
            <a:spLocks noGrp="1"/>
          </p:cNvSpPr>
          <p:nvPr/>
        </p:nvSpPr>
        <p:spPr>
          <a:xfrm>
            <a:off x="7530042" y="4076700"/>
            <a:ext cx="1545167"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70" name="23%">
            <a:extLst>
              <a:ext uri="{FF2B5EF4-FFF2-40B4-BE49-F238E27FC236}">
                <a16:creationId xmlns:a16="http://schemas.microsoft.com/office/drawing/2014/main" id="{EECD7402-5BD1-4F31-BB19-1094985F4D78}"/>
              </a:ext>
            </a:extLst>
          </p:cNvPr>
          <p:cNvSpPr>
            <a:spLocks noGrp="1"/>
          </p:cNvSpPr>
          <p:nvPr/>
        </p:nvSpPr>
        <p:spPr>
          <a:xfrm>
            <a:off x="7568142" y="4181475"/>
            <a:ext cx="1488017"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22%</a:t>
            </a:r>
          </a:p>
        </p:txBody>
      </p:sp>
      <p:sp>
        <p:nvSpPr>
          <p:cNvPr id="571" name="Rectangle 570">
            <a:extLst>
              <a:ext uri="{FF2B5EF4-FFF2-40B4-BE49-F238E27FC236}">
                <a16:creationId xmlns:a16="http://schemas.microsoft.com/office/drawing/2014/main" id="{9D355CD4-7DD0-4422-B731-EE800B9929D8}"/>
              </a:ext>
            </a:extLst>
          </p:cNvPr>
          <p:cNvSpPr>
            <a:spLocks noGrp="1"/>
          </p:cNvSpPr>
          <p:nvPr/>
        </p:nvSpPr>
        <p:spPr>
          <a:xfrm>
            <a:off x="9075209" y="4076700"/>
            <a:ext cx="1545166"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72" name="22%">
            <a:extLst>
              <a:ext uri="{FF2B5EF4-FFF2-40B4-BE49-F238E27FC236}">
                <a16:creationId xmlns:a16="http://schemas.microsoft.com/office/drawing/2014/main" id="{E64772BC-BD7E-42E5-B97C-93859D3F0FEB}"/>
              </a:ext>
            </a:extLst>
          </p:cNvPr>
          <p:cNvSpPr>
            <a:spLocks noGrp="1"/>
          </p:cNvSpPr>
          <p:nvPr/>
        </p:nvSpPr>
        <p:spPr>
          <a:xfrm>
            <a:off x="9113309" y="4181475"/>
            <a:ext cx="1488016"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22%</a:t>
            </a:r>
          </a:p>
        </p:txBody>
      </p:sp>
      <p:sp>
        <p:nvSpPr>
          <p:cNvPr id="573" name="n=249">
            <a:extLst>
              <a:ext uri="{FF2B5EF4-FFF2-40B4-BE49-F238E27FC236}">
                <a16:creationId xmlns:a16="http://schemas.microsoft.com/office/drawing/2014/main" id="{0736DEEC-C7BB-401A-A921-42C08E989F31}"/>
              </a:ext>
            </a:extLst>
          </p:cNvPr>
          <p:cNvSpPr>
            <a:spLocks noGrp="1"/>
          </p:cNvSpPr>
          <p:nvPr/>
        </p:nvSpPr>
        <p:spPr>
          <a:xfrm>
            <a:off x="10782300" y="41719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n=218</a:t>
            </a:r>
          </a:p>
        </p:txBody>
      </p:sp>
      <p:sp>
        <p:nvSpPr>
          <p:cNvPr id="574" name="Almost always">
            <a:extLst>
              <a:ext uri="{FF2B5EF4-FFF2-40B4-BE49-F238E27FC236}">
                <a16:creationId xmlns:a16="http://schemas.microsoft.com/office/drawing/2014/main" id="{A545B364-40CB-48E6-BB41-2277AD655AF4}"/>
              </a:ext>
            </a:extLst>
          </p:cNvPr>
          <p:cNvSpPr>
            <a:spLocks noGrp="1"/>
          </p:cNvSpPr>
          <p:nvPr/>
        </p:nvSpPr>
        <p:spPr>
          <a:xfrm>
            <a:off x="400050" y="48387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Almost always</a:t>
            </a:r>
          </a:p>
        </p:txBody>
      </p:sp>
      <p:sp>
        <p:nvSpPr>
          <p:cNvPr id="575" name="Rectangle 574">
            <a:extLst>
              <a:ext uri="{FF2B5EF4-FFF2-40B4-BE49-F238E27FC236}">
                <a16:creationId xmlns:a16="http://schemas.microsoft.com/office/drawing/2014/main" id="{FDC3E031-5617-4F7D-9236-CAC4F36B90AD}"/>
              </a:ext>
            </a:extLst>
          </p:cNvPr>
          <p:cNvSpPr>
            <a:spLocks noGrp="1"/>
          </p:cNvSpPr>
          <p:nvPr/>
        </p:nvSpPr>
        <p:spPr>
          <a:xfrm>
            <a:off x="3667125" y="4800600"/>
            <a:ext cx="1877378"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76" name="26%">
            <a:extLst>
              <a:ext uri="{FF2B5EF4-FFF2-40B4-BE49-F238E27FC236}">
                <a16:creationId xmlns:a16="http://schemas.microsoft.com/office/drawing/2014/main" id="{7AB5FFC2-FF74-4F00-9810-4A1634B19186}"/>
              </a:ext>
            </a:extLst>
          </p:cNvPr>
          <p:cNvSpPr>
            <a:spLocks noGrp="1"/>
          </p:cNvSpPr>
          <p:nvPr/>
        </p:nvSpPr>
        <p:spPr>
          <a:xfrm>
            <a:off x="3705225" y="4905375"/>
            <a:ext cx="182022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27%</a:t>
            </a:r>
          </a:p>
        </p:txBody>
      </p:sp>
      <p:sp>
        <p:nvSpPr>
          <p:cNvPr id="577" name="Rectangle 576">
            <a:extLst>
              <a:ext uri="{FF2B5EF4-FFF2-40B4-BE49-F238E27FC236}">
                <a16:creationId xmlns:a16="http://schemas.microsoft.com/office/drawing/2014/main" id="{B01543B3-FB43-438C-929A-A432DAA45164}"/>
              </a:ext>
            </a:extLst>
          </p:cNvPr>
          <p:cNvSpPr>
            <a:spLocks noGrp="1"/>
          </p:cNvSpPr>
          <p:nvPr/>
        </p:nvSpPr>
        <p:spPr>
          <a:xfrm>
            <a:off x="5544503" y="4800600"/>
            <a:ext cx="1529715"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78" name="22%">
            <a:extLst>
              <a:ext uri="{FF2B5EF4-FFF2-40B4-BE49-F238E27FC236}">
                <a16:creationId xmlns:a16="http://schemas.microsoft.com/office/drawing/2014/main" id="{B38A0195-200D-4437-9538-34AEAE2735CA}"/>
              </a:ext>
            </a:extLst>
          </p:cNvPr>
          <p:cNvSpPr>
            <a:spLocks noGrp="1"/>
          </p:cNvSpPr>
          <p:nvPr/>
        </p:nvSpPr>
        <p:spPr>
          <a:xfrm>
            <a:off x="5582603" y="4905375"/>
            <a:ext cx="147256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22%</a:t>
            </a:r>
          </a:p>
        </p:txBody>
      </p:sp>
      <p:sp>
        <p:nvSpPr>
          <p:cNvPr id="579" name="Rectangle 578">
            <a:extLst>
              <a:ext uri="{FF2B5EF4-FFF2-40B4-BE49-F238E27FC236}">
                <a16:creationId xmlns:a16="http://schemas.microsoft.com/office/drawing/2014/main" id="{74FA46FA-CC71-4CE0-8991-D563EEE866CF}"/>
              </a:ext>
            </a:extLst>
          </p:cNvPr>
          <p:cNvSpPr>
            <a:spLocks noGrp="1"/>
          </p:cNvSpPr>
          <p:nvPr/>
        </p:nvSpPr>
        <p:spPr>
          <a:xfrm>
            <a:off x="7074218" y="4800600"/>
            <a:ext cx="2294572"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80" name="31%">
            <a:extLst>
              <a:ext uri="{FF2B5EF4-FFF2-40B4-BE49-F238E27FC236}">
                <a16:creationId xmlns:a16="http://schemas.microsoft.com/office/drawing/2014/main" id="{46F3D874-9AEA-400D-A98D-97EBA310A1B7}"/>
              </a:ext>
            </a:extLst>
          </p:cNvPr>
          <p:cNvSpPr>
            <a:spLocks noGrp="1"/>
          </p:cNvSpPr>
          <p:nvPr/>
        </p:nvSpPr>
        <p:spPr>
          <a:xfrm>
            <a:off x="7112318" y="4905375"/>
            <a:ext cx="223742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33%</a:t>
            </a:r>
          </a:p>
        </p:txBody>
      </p:sp>
      <p:sp>
        <p:nvSpPr>
          <p:cNvPr id="581" name="Rectangle 580">
            <a:extLst>
              <a:ext uri="{FF2B5EF4-FFF2-40B4-BE49-F238E27FC236}">
                <a16:creationId xmlns:a16="http://schemas.microsoft.com/office/drawing/2014/main" id="{543DD36C-31B3-47FE-A02B-9D4116A22EC5}"/>
              </a:ext>
            </a:extLst>
          </p:cNvPr>
          <p:cNvSpPr>
            <a:spLocks noGrp="1"/>
          </p:cNvSpPr>
          <p:nvPr/>
        </p:nvSpPr>
        <p:spPr>
          <a:xfrm>
            <a:off x="9368790" y="4800600"/>
            <a:ext cx="1251585"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82" name="21%">
            <a:extLst>
              <a:ext uri="{FF2B5EF4-FFF2-40B4-BE49-F238E27FC236}">
                <a16:creationId xmlns:a16="http://schemas.microsoft.com/office/drawing/2014/main" id="{D5515542-A20C-4FAE-9D37-F5BFECD6C783}"/>
              </a:ext>
            </a:extLst>
          </p:cNvPr>
          <p:cNvSpPr>
            <a:spLocks noGrp="1"/>
          </p:cNvSpPr>
          <p:nvPr/>
        </p:nvSpPr>
        <p:spPr>
          <a:xfrm>
            <a:off x="9406890" y="4905375"/>
            <a:ext cx="119443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18%</a:t>
            </a:r>
          </a:p>
        </p:txBody>
      </p:sp>
      <p:sp>
        <p:nvSpPr>
          <p:cNvPr id="583" name="n=192">
            <a:extLst>
              <a:ext uri="{FF2B5EF4-FFF2-40B4-BE49-F238E27FC236}">
                <a16:creationId xmlns:a16="http://schemas.microsoft.com/office/drawing/2014/main" id="{5EF1799B-0F23-43F6-9CDA-04F7E1F3D781}"/>
              </a:ext>
            </a:extLst>
          </p:cNvPr>
          <p:cNvSpPr>
            <a:spLocks noGrp="1"/>
          </p:cNvSpPr>
          <p:nvPr/>
        </p:nvSpPr>
        <p:spPr>
          <a:xfrm>
            <a:off x="10782300" y="48958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n=158</a:t>
            </a:r>
          </a:p>
        </p:txBody>
      </p:sp>
      <p:sp>
        <p:nvSpPr>
          <p:cNvPr id="584" name="Rectangle 583">
            <a:extLst>
              <a:ext uri="{FF2B5EF4-FFF2-40B4-BE49-F238E27FC236}">
                <a16:creationId xmlns:a16="http://schemas.microsoft.com/office/drawing/2014/main" id="{1DD43469-7158-4356-8749-8E02D2D3B537}"/>
              </a:ext>
            </a:extLst>
          </p:cNvPr>
          <p:cNvSpPr>
            <a:spLocks noGrp="1"/>
          </p:cNvSpPr>
          <p:nvPr/>
        </p:nvSpPr>
        <p:spPr>
          <a:xfrm>
            <a:off x="3667125" y="1409700"/>
            <a:ext cx="190500" cy="190500"/>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85" name="C0  &lt; 3.20">
            <a:extLst>
              <a:ext uri="{FF2B5EF4-FFF2-40B4-BE49-F238E27FC236}">
                <a16:creationId xmlns:a16="http://schemas.microsoft.com/office/drawing/2014/main" id="{2D85C876-4B3A-4C7F-BEDB-48AE3C73F089}"/>
              </a:ext>
            </a:extLst>
          </p:cNvPr>
          <p:cNvSpPr>
            <a:spLocks noGrp="1"/>
          </p:cNvSpPr>
          <p:nvPr/>
        </p:nvSpPr>
        <p:spPr>
          <a:xfrm>
            <a:off x="39433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C0  &lt; 3.20</a:t>
            </a:r>
          </a:p>
        </p:txBody>
      </p:sp>
      <p:sp>
        <p:nvSpPr>
          <p:cNvPr id="586" name="Rectangle 585">
            <a:extLst>
              <a:ext uri="{FF2B5EF4-FFF2-40B4-BE49-F238E27FC236}">
                <a16:creationId xmlns:a16="http://schemas.microsoft.com/office/drawing/2014/main" id="{E681E399-CBC3-4591-80FF-A1D6F1C312AA}"/>
              </a:ext>
            </a:extLst>
          </p:cNvPr>
          <p:cNvSpPr>
            <a:spLocks noGrp="1"/>
          </p:cNvSpPr>
          <p:nvPr/>
        </p:nvSpPr>
        <p:spPr>
          <a:xfrm>
            <a:off x="5476875" y="1409700"/>
            <a:ext cx="190500" cy="190500"/>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87" name="C1  3.20–3.49">
            <a:extLst>
              <a:ext uri="{FF2B5EF4-FFF2-40B4-BE49-F238E27FC236}">
                <a16:creationId xmlns:a16="http://schemas.microsoft.com/office/drawing/2014/main" id="{2B93B68B-898E-4B4F-9A0E-9C334AE31E84}"/>
              </a:ext>
            </a:extLst>
          </p:cNvPr>
          <p:cNvSpPr>
            <a:spLocks noGrp="1"/>
          </p:cNvSpPr>
          <p:nvPr/>
        </p:nvSpPr>
        <p:spPr>
          <a:xfrm>
            <a:off x="57531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C1  3.20–3.49</a:t>
            </a:r>
          </a:p>
        </p:txBody>
      </p:sp>
      <p:sp>
        <p:nvSpPr>
          <p:cNvPr id="588" name="Rectangle 587">
            <a:extLst>
              <a:ext uri="{FF2B5EF4-FFF2-40B4-BE49-F238E27FC236}">
                <a16:creationId xmlns:a16="http://schemas.microsoft.com/office/drawing/2014/main" id="{7AA853B8-BACE-4176-89C1-6E5031BAC0EC}"/>
              </a:ext>
            </a:extLst>
          </p:cNvPr>
          <p:cNvSpPr>
            <a:spLocks noGrp="1"/>
          </p:cNvSpPr>
          <p:nvPr/>
        </p:nvSpPr>
        <p:spPr>
          <a:xfrm>
            <a:off x="7286625" y="1409700"/>
            <a:ext cx="190500" cy="190500"/>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89" name="C2  3.50–3.74">
            <a:extLst>
              <a:ext uri="{FF2B5EF4-FFF2-40B4-BE49-F238E27FC236}">
                <a16:creationId xmlns:a16="http://schemas.microsoft.com/office/drawing/2014/main" id="{6797C5EF-285B-4FEC-B78C-6405AE1F6632}"/>
              </a:ext>
            </a:extLst>
          </p:cNvPr>
          <p:cNvSpPr>
            <a:spLocks noGrp="1"/>
          </p:cNvSpPr>
          <p:nvPr/>
        </p:nvSpPr>
        <p:spPr>
          <a:xfrm>
            <a:off x="75628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C2  3.50–3.74</a:t>
            </a:r>
          </a:p>
        </p:txBody>
      </p:sp>
      <p:sp>
        <p:nvSpPr>
          <p:cNvPr id="590" name="Rectangle 589">
            <a:extLst>
              <a:ext uri="{FF2B5EF4-FFF2-40B4-BE49-F238E27FC236}">
                <a16:creationId xmlns:a16="http://schemas.microsoft.com/office/drawing/2014/main" id="{55D77CD7-AC6C-4956-94B9-A0401AE85BB2}"/>
              </a:ext>
            </a:extLst>
          </p:cNvPr>
          <p:cNvSpPr>
            <a:spLocks noGrp="1"/>
          </p:cNvSpPr>
          <p:nvPr/>
        </p:nvSpPr>
        <p:spPr>
          <a:xfrm>
            <a:off x="9096375" y="1409700"/>
            <a:ext cx="190500" cy="190500"/>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91" name="C3  ≥ 3.75">
            <a:extLst>
              <a:ext uri="{FF2B5EF4-FFF2-40B4-BE49-F238E27FC236}">
                <a16:creationId xmlns:a16="http://schemas.microsoft.com/office/drawing/2014/main" id="{6FF864FE-F07A-48AD-879E-48A7112B0F8E}"/>
              </a:ext>
            </a:extLst>
          </p:cNvPr>
          <p:cNvSpPr>
            <a:spLocks noGrp="1"/>
          </p:cNvSpPr>
          <p:nvPr/>
        </p:nvSpPr>
        <p:spPr>
          <a:xfrm>
            <a:off x="93726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C3  ≥ 3.75</a:t>
            </a:r>
          </a:p>
        </p:txBody>
      </p:sp>
      <p:cxnSp>
        <p:nvCxnSpPr>
          <p:cNvPr id="2" name="Straight Arrow Connector 1">
            <a:extLst>
              <a:ext uri="{FF2B5EF4-FFF2-40B4-BE49-F238E27FC236}">
                <a16:creationId xmlns:a16="http://schemas.microsoft.com/office/drawing/2014/main" id="{C3D36535-0E35-02CB-1897-9EE0E1466233}"/>
              </a:ext>
            </a:extLst>
          </p:cNvPr>
          <p:cNvCxnSpPr>
            <a:cxnSpLocks/>
          </p:cNvCxnSpPr>
          <p:nvPr/>
        </p:nvCxnSpPr>
        <p:spPr>
          <a:xfrm>
            <a:off x="204107" y="5763986"/>
            <a:ext cx="1057819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 name="Straight Arrow Connector 2">
            <a:extLst>
              <a:ext uri="{FF2B5EF4-FFF2-40B4-BE49-F238E27FC236}">
                <a16:creationId xmlns:a16="http://schemas.microsoft.com/office/drawing/2014/main" id="{8E76A9D0-B92C-AE02-871D-E8AD19C2D4FA}"/>
              </a:ext>
            </a:extLst>
          </p:cNvPr>
          <p:cNvCxnSpPr>
            <a:cxnSpLocks/>
          </p:cNvCxnSpPr>
          <p:nvPr/>
        </p:nvCxnSpPr>
        <p:spPr>
          <a:xfrm flipV="1">
            <a:off x="356507" y="971550"/>
            <a:ext cx="0" cy="49448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E877473B-EA48-2E6D-D944-AF3C77629A47}"/>
              </a:ext>
            </a:extLst>
          </p:cNvPr>
          <p:cNvSpPr txBox="1"/>
          <p:nvPr/>
        </p:nvSpPr>
        <p:spPr>
          <a:xfrm>
            <a:off x="5532723" y="5787509"/>
            <a:ext cx="821572" cy="369332"/>
          </a:xfrm>
          <a:prstGeom prst="rect">
            <a:avLst/>
          </a:prstGeom>
          <a:noFill/>
        </p:spPr>
        <p:txBody>
          <a:bodyPr wrap="none" rtlCol="0">
            <a:spAutoFit/>
          </a:bodyPr>
          <a:lstStyle/>
          <a:p>
            <a:r>
              <a:rPr lang="en-US" dirty="0">
                <a:latin typeface="OpenAI Sans" panose="020B0604020202020204" charset="0"/>
                <a:ea typeface="OpenAI Sans" panose="020B0604020202020204" charset="0"/>
              </a:rPr>
              <a:t>CGPA</a:t>
            </a:r>
          </a:p>
        </p:txBody>
      </p:sp>
      <p:sp>
        <p:nvSpPr>
          <p:cNvPr id="5" name="TextBox 4">
            <a:extLst>
              <a:ext uri="{FF2B5EF4-FFF2-40B4-BE49-F238E27FC236}">
                <a16:creationId xmlns:a16="http://schemas.microsoft.com/office/drawing/2014/main" id="{7A004FC3-A210-65EA-3AD3-266B0B5EC468}"/>
              </a:ext>
            </a:extLst>
          </p:cNvPr>
          <p:cNvSpPr txBox="1"/>
          <p:nvPr/>
        </p:nvSpPr>
        <p:spPr>
          <a:xfrm rot="16200000">
            <a:off x="-210372" y="2715997"/>
            <a:ext cx="851515" cy="369332"/>
          </a:xfrm>
          <a:prstGeom prst="rect">
            <a:avLst/>
          </a:prstGeom>
          <a:noFill/>
        </p:spPr>
        <p:txBody>
          <a:bodyPr wrap="none" rtlCol="0">
            <a:spAutoFit/>
          </a:bodyPr>
          <a:lstStyle/>
          <a:p>
            <a:r>
              <a:rPr lang="en-US" dirty="0">
                <a:latin typeface="OpenAI Sans" panose="020B0604020202020204" charset="0"/>
                <a:ea typeface="OpenAI Sans" panose="020B0604020202020204" charset="0"/>
              </a:rPr>
              <a:t>Stress</a:t>
            </a:r>
          </a:p>
        </p:txBody>
      </p:sp>
    </p:spTree>
    <p:extLst>
      <p:ext uri="{BB962C8B-B14F-4D97-AF65-F5344CB8AC3E}">
        <p14:creationId xmlns:p14="http://schemas.microsoft.com/office/powerpoint/2010/main" val="174106887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lang="en-US" dirty="0">
                <a:latin typeface="OpenAI Sans" panose="020B0604020202020204" charset="0"/>
                <a:ea typeface="OpenAI Sans" panose="020B0604020202020204" charset="0"/>
                <a:cs typeface="Times New Roman"/>
              </a:rPr>
              <a:t>31</a:t>
            </a:r>
            <a:endParaRPr sz="1000" dirty="0">
              <a:latin typeface="OpenAI Sans" panose="020B0604020202020204" charset="0"/>
              <a:ea typeface="OpenAI Sans" panose="020B0604020202020204" charset="0"/>
              <a:cs typeface="Times New Roman"/>
            </a:endParaRP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b="1">
                <a:latin typeface="OpenAI Sans" panose="020B0604020202020204" charset="0"/>
                <a:ea typeface="OpenAI Sans" panose="020B0604020202020204" charset="0"/>
                <a:cs typeface="Times New Roman"/>
              </a:rPr>
              <a:t>Phone distraction and CGPA</a:t>
            </a:r>
          </a:p>
        </p:txBody>
      </p:sp>
      <p:sp>
        <p:nvSpPr>
          <p:cNvPr id="534" name="Never">
            <a:extLst>
              <a:ext uri="{FF2B5EF4-FFF2-40B4-BE49-F238E27FC236}">
                <a16:creationId xmlns:a16="http://schemas.microsoft.com/office/drawing/2014/main" id="{51EC90A5-1DF9-4612-8391-70341B2FF5D8}"/>
              </a:ext>
            </a:extLst>
          </p:cNvPr>
          <p:cNvSpPr>
            <a:spLocks noGrp="1"/>
          </p:cNvSpPr>
          <p:nvPr/>
        </p:nvSpPr>
        <p:spPr>
          <a:xfrm>
            <a:off x="400050" y="19431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Never</a:t>
            </a:r>
          </a:p>
        </p:txBody>
      </p:sp>
      <p:sp>
        <p:nvSpPr>
          <p:cNvPr id="535" name="Rectangle 534">
            <a:extLst>
              <a:ext uri="{FF2B5EF4-FFF2-40B4-BE49-F238E27FC236}">
                <a16:creationId xmlns:a16="http://schemas.microsoft.com/office/drawing/2014/main" id="{89861678-73E3-4F9C-9C12-3A55228E5D14}"/>
              </a:ext>
            </a:extLst>
          </p:cNvPr>
          <p:cNvSpPr>
            <a:spLocks noGrp="1"/>
          </p:cNvSpPr>
          <p:nvPr/>
        </p:nvSpPr>
        <p:spPr>
          <a:xfrm>
            <a:off x="3667125" y="1905000"/>
            <a:ext cx="1474932"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36" name="23%">
            <a:extLst>
              <a:ext uri="{FF2B5EF4-FFF2-40B4-BE49-F238E27FC236}">
                <a16:creationId xmlns:a16="http://schemas.microsoft.com/office/drawing/2014/main" id="{BA0B6792-9838-428C-9967-36AFEA4FDEAC}"/>
              </a:ext>
            </a:extLst>
          </p:cNvPr>
          <p:cNvSpPr>
            <a:spLocks noGrp="1"/>
          </p:cNvSpPr>
          <p:nvPr/>
        </p:nvSpPr>
        <p:spPr>
          <a:xfrm>
            <a:off x="3705225" y="2009775"/>
            <a:ext cx="141778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21%</a:t>
            </a:r>
          </a:p>
        </p:txBody>
      </p:sp>
      <p:sp>
        <p:nvSpPr>
          <p:cNvPr id="537" name="Rectangle 536">
            <a:extLst>
              <a:ext uri="{FF2B5EF4-FFF2-40B4-BE49-F238E27FC236}">
                <a16:creationId xmlns:a16="http://schemas.microsoft.com/office/drawing/2014/main" id="{247F012C-F7ED-4433-AB85-3ECF8BC54346}"/>
              </a:ext>
            </a:extLst>
          </p:cNvPr>
          <p:cNvSpPr>
            <a:spLocks noGrp="1"/>
          </p:cNvSpPr>
          <p:nvPr/>
        </p:nvSpPr>
        <p:spPr>
          <a:xfrm>
            <a:off x="5142057" y="1905000"/>
            <a:ext cx="1404697"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38" name="19%">
            <a:extLst>
              <a:ext uri="{FF2B5EF4-FFF2-40B4-BE49-F238E27FC236}">
                <a16:creationId xmlns:a16="http://schemas.microsoft.com/office/drawing/2014/main" id="{F59E8521-D586-48C9-95EC-4391030D0A15}"/>
              </a:ext>
            </a:extLst>
          </p:cNvPr>
          <p:cNvSpPr>
            <a:spLocks noGrp="1"/>
          </p:cNvSpPr>
          <p:nvPr/>
        </p:nvSpPr>
        <p:spPr>
          <a:xfrm>
            <a:off x="5180157" y="2009775"/>
            <a:ext cx="1347547"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20%</a:t>
            </a:r>
          </a:p>
        </p:txBody>
      </p:sp>
      <p:sp>
        <p:nvSpPr>
          <p:cNvPr id="539" name="Rectangle 538">
            <a:extLst>
              <a:ext uri="{FF2B5EF4-FFF2-40B4-BE49-F238E27FC236}">
                <a16:creationId xmlns:a16="http://schemas.microsoft.com/office/drawing/2014/main" id="{F4007075-0209-46D9-9520-C5DB61C4E8EF}"/>
              </a:ext>
            </a:extLst>
          </p:cNvPr>
          <p:cNvSpPr>
            <a:spLocks noGrp="1"/>
          </p:cNvSpPr>
          <p:nvPr/>
        </p:nvSpPr>
        <p:spPr>
          <a:xfrm>
            <a:off x="6546754" y="1905000"/>
            <a:ext cx="2317750"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40" name="31%">
            <a:extLst>
              <a:ext uri="{FF2B5EF4-FFF2-40B4-BE49-F238E27FC236}">
                <a16:creationId xmlns:a16="http://schemas.microsoft.com/office/drawing/2014/main" id="{1BA2DDCA-8A77-4CAD-89CA-D1F66BC1C037}"/>
              </a:ext>
            </a:extLst>
          </p:cNvPr>
          <p:cNvSpPr>
            <a:spLocks noGrp="1"/>
          </p:cNvSpPr>
          <p:nvPr/>
        </p:nvSpPr>
        <p:spPr>
          <a:xfrm>
            <a:off x="6584854" y="2009775"/>
            <a:ext cx="226060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33%</a:t>
            </a:r>
          </a:p>
        </p:txBody>
      </p:sp>
      <p:sp>
        <p:nvSpPr>
          <p:cNvPr id="541" name="Rectangle 540">
            <a:extLst>
              <a:ext uri="{FF2B5EF4-FFF2-40B4-BE49-F238E27FC236}">
                <a16:creationId xmlns:a16="http://schemas.microsoft.com/office/drawing/2014/main" id="{14137148-F681-498A-9554-E73F20C47902}"/>
              </a:ext>
            </a:extLst>
          </p:cNvPr>
          <p:cNvSpPr>
            <a:spLocks noGrp="1"/>
          </p:cNvSpPr>
          <p:nvPr/>
        </p:nvSpPr>
        <p:spPr>
          <a:xfrm>
            <a:off x="8864504" y="1905000"/>
            <a:ext cx="1755871"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42" name="27%">
            <a:extLst>
              <a:ext uri="{FF2B5EF4-FFF2-40B4-BE49-F238E27FC236}">
                <a16:creationId xmlns:a16="http://schemas.microsoft.com/office/drawing/2014/main" id="{38B9DB2B-1B04-41D6-805F-389AE9DA0502}"/>
              </a:ext>
            </a:extLst>
          </p:cNvPr>
          <p:cNvSpPr>
            <a:spLocks noGrp="1"/>
          </p:cNvSpPr>
          <p:nvPr/>
        </p:nvSpPr>
        <p:spPr>
          <a:xfrm>
            <a:off x="8902604" y="2009775"/>
            <a:ext cx="1698721"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25%</a:t>
            </a:r>
          </a:p>
        </p:txBody>
      </p:sp>
      <p:sp>
        <p:nvSpPr>
          <p:cNvPr id="543" name="n=118">
            <a:extLst>
              <a:ext uri="{FF2B5EF4-FFF2-40B4-BE49-F238E27FC236}">
                <a16:creationId xmlns:a16="http://schemas.microsoft.com/office/drawing/2014/main" id="{890BCD84-8EF1-4A42-8EA3-106A19CE2F04}"/>
              </a:ext>
            </a:extLst>
          </p:cNvPr>
          <p:cNvSpPr>
            <a:spLocks noGrp="1"/>
          </p:cNvSpPr>
          <p:nvPr/>
        </p:nvSpPr>
        <p:spPr>
          <a:xfrm>
            <a:off x="10782300" y="20002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n=84</a:t>
            </a:r>
          </a:p>
        </p:txBody>
      </p:sp>
      <p:sp>
        <p:nvSpPr>
          <p:cNvPr id="544" name="Rarely">
            <a:extLst>
              <a:ext uri="{FF2B5EF4-FFF2-40B4-BE49-F238E27FC236}">
                <a16:creationId xmlns:a16="http://schemas.microsoft.com/office/drawing/2014/main" id="{1FEF9248-3983-432E-BBB1-DABBDF405758}"/>
              </a:ext>
            </a:extLst>
          </p:cNvPr>
          <p:cNvSpPr>
            <a:spLocks noGrp="1"/>
          </p:cNvSpPr>
          <p:nvPr/>
        </p:nvSpPr>
        <p:spPr>
          <a:xfrm>
            <a:off x="400050" y="26670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Rarely</a:t>
            </a:r>
          </a:p>
        </p:txBody>
      </p:sp>
      <p:sp>
        <p:nvSpPr>
          <p:cNvPr id="545" name="Rectangle 544">
            <a:extLst>
              <a:ext uri="{FF2B5EF4-FFF2-40B4-BE49-F238E27FC236}">
                <a16:creationId xmlns:a16="http://schemas.microsoft.com/office/drawing/2014/main" id="{694620A7-8050-412A-AC4E-37B4AF124167}"/>
              </a:ext>
            </a:extLst>
          </p:cNvPr>
          <p:cNvSpPr>
            <a:spLocks noGrp="1"/>
          </p:cNvSpPr>
          <p:nvPr/>
        </p:nvSpPr>
        <p:spPr>
          <a:xfrm>
            <a:off x="3667125" y="2628900"/>
            <a:ext cx="1460182"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46" name="22%">
            <a:extLst>
              <a:ext uri="{FF2B5EF4-FFF2-40B4-BE49-F238E27FC236}">
                <a16:creationId xmlns:a16="http://schemas.microsoft.com/office/drawing/2014/main" id="{12C1C337-35B3-43D8-B24C-8D033081D021}"/>
              </a:ext>
            </a:extLst>
          </p:cNvPr>
          <p:cNvSpPr>
            <a:spLocks noGrp="1"/>
          </p:cNvSpPr>
          <p:nvPr/>
        </p:nvSpPr>
        <p:spPr>
          <a:xfrm>
            <a:off x="3705225" y="2733675"/>
            <a:ext cx="140303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21%</a:t>
            </a:r>
          </a:p>
        </p:txBody>
      </p:sp>
      <p:sp>
        <p:nvSpPr>
          <p:cNvPr id="547" name="Rectangle 546">
            <a:extLst>
              <a:ext uri="{FF2B5EF4-FFF2-40B4-BE49-F238E27FC236}">
                <a16:creationId xmlns:a16="http://schemas.microsoft.com/office/drawing/2014/main" id="{EF30A451-6664-4BB9-8688-B0A2FAE1BCB1}"/>
              </a:ext>
            </a:extLst>
          </p:cNvPr>
          <p:cNvSpPr>
            <a:spLocks noGrp="1"/>
          </p:cNvSpPr>
          <p:nvPr/>
        </p:nvSpPr>
        <p:spPr>
          <a:xfrm>
            <a:off x="5127307" y="2628900"/>
            <a:ext cx="1877378"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48" name="27%">
            <a:extLst>
              <a:ext uri="{FF2B5EF4-FFF2-40B4-BE49-F238E27FC236}">
                <a16:creationId xmlns:a16="http://schemas.microsoft.com/office/drawing/2014/main" id="{36A97571-E14A-4192-A8F0-DCC5D4EFE8C0}"/>
              </a:ext>
            </a:extLst>
          </p:cNvPr>
          <p:cNvSpPr>
            <a:spLocks noGrp="1"/>
          </p:cNvSpPr>
          <p:nvPr/>
        </p:nvSpPr>
        <p:spPr>
          <a:xfrm>
            <a:off x="5165407" y="2733675"/>
            <a:ext cx="182022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27%</a:t>
            </a:r>
          </a:p>
        </p:txBody>
      </p:sp>
      <p:sp>
        <p:nvSpPr>
          <p:cNvPr id="549" name="Rectangle 548">
            <a:extLst>
              <a:ext uri="{FF2B5EF4-FFF2-40B4-BE49-F238E27FC236}">
                <a16:creationId xmlns:a16="http://schemas.microsoft.com/office/drawing/2014/main" id="{D8C02268-EA67-49C8-A487-E7BFE4527F30}"/>
              </a:ext>
            </a:extLst>
          </p:cNvPr>
          <p:cNvSpPr>
            <a:spLocks noGrp="1"/>
          </p:cNvSpPr>
          <p:nvPr/>
        </p:nvSpPr>
        <p:spPr>
          <a:xfrm>
            <a:off x="7004685" y="2628900"/>
            <a:ext cx="2433638"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50" name="31%">
            <a:extLst>
              <a:ext uri="{FF2B5EF4-FFF2-40B4-BE49-F238E27FC236}">
                <a16:creationId xmlns:a16="http://schemas.microsoft.com/office/drawing/2014/main" id="{253EAFC3-AD66-4B9D-B5FC-CF331D93A291}"/>
              </a:ext>
            </a:extLst>
          </p:cNvPr>
          <p:cNvSpPr>
            <a:spLocks noGrp="1"/>
          </p:cNvSpPr>
          <p:nvPr/>
        </p:nvSpPr>
        <p:spPr>
          <a:xfrm>
            <a:off x="7042785" y="2733675"/>
            <a:ext cx="237648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35%</a:t>
            </a:r>
          </a:p>
        </p:txBody>
      </p:sp>
      <p:sp>
        <p:nvSpPr>
          <p:cNvPr id="551" name="Rectangle 550">
            <a:extLst>
              <a:ext uri="{FF2B5EF4-FFF2-40B4-BE49-F238E27FC236}">
                <a16:creationId xmlns:a16="http://schemas.microsoft.com/office/drawing/2014/main" id="{2238E98C-7E79-4794-AD08-BA3BF0157DED}"/>
              </a:ext>
            </a:extLst>
          </p:cNvPr>
          <p:cNvSpPr>
            <a:spLocks noGrp="1"/>
          </p:cNvSpPr>
          <p:nvPr/>
        </p:nvSpPr>
        <p:spPr>
          <a:xfrm>
            <a:off x="9438323" y="2628900"/>
            <a:ext cx="1182052"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52" name="19%">
            <a:extLst>
              <a:ext uri="{FF2B5EF4-FFF2-40B4-BE49-F238E27FC236}">
                <a16:creationId xmlns:a16="http://schemas.microsoft.com/office/drawing/2014/main" id="{4A751709-2020-424B-ABB1-016D7D8B03B5}"/>
              </a:ext>
            </a:extLst>
          </p:cNvPr>
          <p:cNvSpPr>
            <a:spLocks noGrp="1"/>
          </p:cNvSpPr>
          <p:nvPr/>
        </p:nvSpPr>
        <p:spPr>
          <a:xfrm>
            <a:off x="9476423" y="2733675"/>
            <a:ext cx="112490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17%</a:t>
            </a:r>
          </a:p>
        </p:txBody>
      </p:sp>
      <p:sp>
        <p:nvSpPr>
          <p:cNvPr id="553" name="n=162">
            <a:extLst>
              <a:ext uri="{FF2B5EF4-FFF2-40B4-BE49-F238E27FC236}">
                <a16:creationId xmlns:a16="http://schemas.microsoft.com/office/drawing/2014/main" id="{67F6CD3B-9FFA-4AF0-97C8-AC029A5F7C71}"/>
              </a:ext>
            </a:extLst>
          </p:cNvPr>
          <p:cNvSpPr>
            <a:spLocks noGrp="1"/>
          </p:cNvSpPr>
          <p:nvPr/>
        </p:nvSpPr>
        <p:spPr>
          <a:xfrm>
            <a:off x="10782300" y="27241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n=133</a:t>
            </a:r>
          </a:p>
        </p:txBody>
      </p:sp>
      <p:sp>
        <p:nvSpPr>
          <p:cNvPr id="554" name="Sometimes">
            <a:extLst>
              <a:ext uri="{FF2B5EF4-FFF2-40B4-BE49-F238E27FC236}">
                <a16:creationId xmlns:a16="http://schemas.microsoft.com/office/drawing/2014/main" id="{637C514F-02FB-4718-9B31-E063E6768192}"/>
              </a:ext>
            </a:extLst>
          </p:cNvPr>
          <p:cNvSpPr>
            <a:spLocks noGrp="1"/>
          </p:cNvSpPr>
          <p:nvPr/>
        </p:nvSpPr>
        <p:spPr>
          <a:xfrm>
            <a:off x="400050" y="33909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Sometimes</a:t>
            </a:r>
          </a:p>
        </p:txBody>
      </p:sp>
      <p:sp>
        <p:nvSpPr>
          <p:cNvPr id="555" name="Rectangle 554">
            <a:extLst>
              <a:ext uri="{FF2B5EF4-FFF2-40B4-BE49-F238E27FC236}">
                <a16:creationId xmlns:a16="http://schemas.microsoft.com/office/drawing/2014/main" id="{51FB84BC-DAC6-45BD-B777-4C6EDCDF52F9}"/>
              </a:ext>
            </a:extLst>
          </p:cNvPr>
          <p:cNvSpPr>
            <a:spLocks noGrp="1"/>
          </p:cNvSpPr>
          <p:nvPr/>
        </p:nvSpPr>
        <p:spPr>
          <a:xfrm>
            <a:off x="3667125" y="3352800"/>
            <a:ext cx="1182052"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56" name="18%">
            <a:extLst>
              <a:ext uri="{FF2B5EF4-FFF2-40B4-BE49-F238E27FC236}">
                <a16:creationId xmlns:a16="http://schemas.microsoft.com/office/drawing/2014/main" id="{38FB3DD0-7A68-4203-92D5-64C3E7E6C7DB}"/>
              </a:ext>
            </a:extLst>
          </p:cNvPr>
          <p:cNvSpPr>
            <a:spLocks noGrp="1"/>
          </p:cNvSpPr>
          <p:nvPr/>
        </p:nvSpPr>
        <p:spPr>
          <a:xfrm>
            <a:off x="3705225" y="3457575"/>
            <a:ext cx="112490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17%</a:t>
            </a:r>
          </a:p>
        </p:txBody>
      </p:sp>
      <p:sp>
        <p:nvSpPr>
          <p:cNvPr id="557" name="Rectangle 556">
            <a:extLst>
              <a:ext uri="{FF2B5EF4-FFF2-40B4-BE49-F238E27FC236}">
                <a16:creationId xmlns:a16="http://schemas.microsoft.com/office/drawing/2014/main" id="{D03A5E37-AA18-47A0-B3E3-E8ADD7701D7E}"/>
              </a:ext>
            </a:extLst>
          </p:cNvPr>
          <p:cNvSpPr>
            <a:spLocks noGrp="1"/>
          </p:cNvSpPr>
          <p:nvPr/>
        </p:nvSpPr>
        <p:spPr>
          <a:xfrm>
            <a:off x="4849177" y="3352800"/>
            <a:ext cx="2503170"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58" name="33%">
            <a:extLst>
              <a:ext uri="{FF2B5EF4-FFF2-40B4-BE49-F238E27FC236}">
                <a16:creationId xmlns:a16="http://schemas.microsoft.com/office/drawing/2014/main" id="{C619F5FD-3F1C-4276-A578-AFD5C23E5525}"/>
              </a:ext>
            </a:extLst>
          </p:cNvPr>
          <p:cNvSpPr>
            <a:spLocks noGrp="1"/>
          </p:cNvSpPr>
          <p:nvPr/>
        </p:nvSpPr>
        <p:spPr>
          <a:xfrm>
            <a:off x="4887277" y="3457575"/>
            <a:ext cx="244602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36%</a:t>
            </a:r>
          </a:p>
        </p:txBody>
      </p:sp>
      <p:sp>
        <p:nvSpPr>
          <p:cNvPr id="559" name="Rectangle 558">
            <a:extLst>
              <a:ext uri="{FF2B5EF4-FFF2-40B4-BE49-F238E27FC236}">
                <a16:creationId xmlns:a16="http://schemas.microsoft.com/office/drawing/2014/main" id="{F29F9A2A-A0C9-40C2-886C-0BEA581898C5}"/>
              </a:ext>
            </a:extLst>
          </p:cNvPr>
          <p:cNvSpPr>
            <a:spLocks noGrp="1"/>
          </p:cNvSpPr>
          <p:nvPr/>
        </p:nvSpPr>
        <p:spPr>
          <a:xfrm>
            <a:off x="7352347" y="3352800"/>
            <a:ext cx="2016442"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60" name="28%">
            <a:extLst>
              <a:ext uri="{FF2B5EF4-FFF2-40B4-BE49-F238E27FC236}">
                <a16:creationId xmlns:a16="http://schemas.microsoft.com/office/drawing/2014/main" id="{F01E2228-1700-41A4-89FB-A8760F47A360}"/>
              </a:ext>
            </a:extLst>
          </p:cNvPr>
          <p:cNvSpPr>
            <a:spLocks noGrp="1"/>
          </p:cNvSpPr>
          <p:nvPr/>
        </p:nvSpPr>
        <p:spPr>
          <a:xfrm>
            <a:off x="7390447" y="3457575"/>
            <a:ext cx="195929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29%</a:t>
            </a:r>
          </a:p>
        </p:txBody>
      </p:sp>
      <p:sp>
        <p:nvSpPr>
          <p:cNvPr id="561" name="Rectangle 560">
            <a:extLst>
              <a:ext uri="{FF2B5EF4-FFF2-40B4-BE49-F238E27FC236}">
                <a16:creationId xmlns:a16="http://schemas.microsoft.com/office/drawing/2014/main" id="{AADEC357-5665-4A1C-9AB7-11D15729FBE5}"/>
              </a:ext>
            </a:extLst>
          </p:cNvPr>
          <p:cNvSpPr>
            <a:spLocks noGrp="1"/>
          </p:cNvSpPr>
          <p:nvPr/>
        </p:nvSpPr>
        <p:spPr>
          <a:xfrm>
            <a:off x="9368789" y="3352800"/>
            <a:ext cx="1251586"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62" name="21%">
            <a:extLst>
              <a:ext uri="{FF2B5EF4-FFF2-40B4-BE49-F238E27FC236}">
                <a16:creationId xmlns:a16="http://schemas.microsoft.com/office/drawing/2014/main" id="{2547E506-2A17-4619-A70D-3BC03EB43345}"/>
              </a:ext>
            </a:extLst>
          </p:cNvPr>
          <p:cNvSpPr>
            <a:spLocks noGrp="1"/>
          </p:cNvSpPr>
          <p:nvPr/>
        </p:nvSpPr>
        <p:spPr>
          <a:xfrm>
            <a:off x="9406889" y="3457575"/>
            <a:ext cx="1194436"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18%</a:t>
            </a:r>
          </a:p>
        </p:txBody>
      </p:sp>
      <p:sp>
        <p:nvSpPr>
          <p:cNvPr id="563" name="n=300">
            <a:extLst>
              <a:ext uri="{FF2B5EF4-FFF2-40B4-BE49-F238E27FC236}">
                <a16:creationId xmlns:a16="http://schemas.microsoft.com/office/drawing/2014/main" id="{B4E17E6C-1758-4116-A565-10842200994D}"/>
              </a:ext>
            </a:extLst>
          </p:cNvPr>
          <p:cNvSpPr>
            <a:spLocks noGrp="1"/>
          </p:cNvSpPr>
          <p:nvPr/>
        </p:nvSpPr>
        <p:spPr>
          <a:xfrm>
            <a:off x="10782300" y="34480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n=255</a:t>
            </a:r>
          </a:p>
        </p:txBody>
      </p:sp>
      <p:sp>
        <p:nvSpPr>
          <p:cNvPr id="564" name="Often">
            <a:extLst>
              <a:ext uri="{FF2B5EF4-FFF2-40B4-BE49-F238E27FC236}">
                <a16:creationId xmlns:a16="http://schemas.microsoft.com/office/drawing/2014/main" id="{0594DB75-1338-45D1-B098-3DDBE405A997}"/>
              </a:ext>
            </a:extLst>
          </p:cNvPr>
          <p:cNvSpPr>
            <a:spLocks noGrp="1"/>
          </p:cNvSpPr>
          <p:nvPr/>
        </p:nvSpPr>
        <p:spPr>
          <a:xfrm>
            <a:off x="400050" y="41148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Often</a:t>
            </a:r>
          </a:p>
        </p:txBody>
      </p:sp>
      <p:sp>
        <p:nvSpPr>
          <p:cNvPr id="565" name="Rectangle 564">
            <a:extLst>
              <a:ext uri="{FF2B5EF4-FFF2-40B4-BE49-F238E27FC236}">
                <a16:creationId xmlns:a16="http://schemas.microsoft.com/office/drawing/2014/main" id="{18B3E242-61F9-4338-9092-0E0909AEAB36}"/>
              </a:ext>
            </a:extLst>
          </p:cNvPr>
          <p:cNvSpPr>
            <a:spLocks noGrp="1"/>
          </p:cNvSpPr>
          <p:nvPr/>
        </p:nvSpPr>
        <p:spPr>
          <a:xfrm>
            <a:off x="3667125" y="4076700"/>
            <a:ext cx="1321118"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66" name="20%">
            <a:extLst>
              <a:ext uri="{FF2B5EF4-FFF2-40B4-BE49-F238E27FC236}">
                <a16:creationId xmlns:a16="http://schemas.microsoft.com/office/drawing/2014/main" id="{7D2F10D3-983B-4652-B4ED-DDFD0328DE4E}"/>
              </a:ext>
            </a:extLst>
          </p:cNvPr>
          <p:cNvSpPr>
            <a:spLocks noGrp="1"/>
          </p:cNvSpPr>
          <p:nvPr/>
        </p:nvSpPr>
        <p:spPr>
          <a:xfrm>
            <a:off x="3705225" y="4181475"/>
            <a:ext cx="126396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19%</a:t>
            </a:r>
          </a:p>
        </p:txBody>
      </p:sp>
      <p:sp>
        <p:nvSpPr>
          <p:cNvPr id="567" name="Rectangle 566">
            <a:extLst>
              <a:ext uri="{FF2B5EF4-FFF2-40B4-BE49-F238E27FC236}">
                <a16:creationId xmlns:a16="http://schemas.microsoft.com/office/drawing/2014/main" id="{BB79B03B-E89C-4111-83EC-34BBE1542444}"/>
              </a:ext>
            </a:extLst>
          </p:cNvPr>
          <p:cNvSpPr>
            <a:spLocks noGrp="1"/>
          </p:cNvSpPr>
          <p:nvPr/>
        </p:nvSpPr>
        <p:spPr>
          <a:xfrm>
            <a:off x="4988243" y="4076700"/>
            <a:ext cx="2294572"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68" name="31%">
            <a:extLst>
              <a:ext uri="{FF2B5EF4-FFF2-40B4-BE49-F238E27FC236}">
                <a16:creationId xmlns:a16="http://schemas.microsoft.com/office/drawing/2014/main" id="{1147633D-DE12-49A1-91ED-F66329448679}"/>
              </a:ext>
            </a:extLst>
          </p:cNvPr>
          <p:cNvSpPr>
            <a:spLocks noGrp="1"/>
          </p:cNvSpPr>
          <p:nvPr/>
        </p:nvSpPr>
        <p:spPr>
          <a:xfrm>
            <a:off x="5026343" y="4181475"/>
            <a:ext cx="223742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33%</a:t>
            </a:r>
          </a:p>
        </p:txBody>
      </p:sp>
      <p:sp>
        <p:nvSpPr>
          <p:cNvPr id="569" name="Rectangle 568">
            <a:extLst>
              <a:ext uri="{FF2B5EF4-FFF2-40B4-BE49-F238E27FC236}">
                <a16:creationId xmlns:a16="http://schemas.microsoft.com/office/drawing/2014/main" id="{F5088481-6960-4F21-81A2-F35FD6EFB355}"/>
              </a:ext>
            </a:extLst>
          </p:cNvPr>
          <p:cNvSpPr>
            <a:spLocks noGrp="1"/>
          </p:cNvSpPr>
          <p:nvPr/>
        </p:nvSpPr>
        <p:spPr>
          <a:xfrm>
            <a:off x="7282815" y="4076700"/>
            <a:ext cx="1807845"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70" name="26%">
            <a:extLst>
              <a:ext uri="{FF2B5EF4-FFF2-40B4-BE49-F238E27FC236}">
                <a16:creationId xmlns:a16="http://schemas.microsoft.com/office/drawing/2014/main" id="{F246AAA2-48ED-4886-8D59-5C02BCBED049}"/>
              </a:ext>
            </a:extLst>
          </p:cNvPr>
          <p:cNvSpPr>
            <a:spLocks noGrp="1"/>
          </p:cNvSpPr>
          <p:nvPr/>
        </p:nvSpPr>
        <p:spPr>
          <a:xfrm>
            <a:off x="7320915" y="4181475"/>
            <a:ext cx="175069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26%</a:t>
            </a:r>
          </a:p>
        </p:txBody>
      </p:sp>
      <p:sp>
        <p:nvSpPr>
          <p:cNvPr id="571" name="Rectangle 570">
            <a:extLst>
              <a:ext uri="{FF2B5EF4-FFF2-40B4-BE49-F238E27FC236}">
                <a16:creationId xmlns:a16="http://schemas.microsoft.com/office/drawing/2014/main" id="{E771E050-B47D-4BD6-887A-1C7F0E1F6B55}"/>
              </a:ext>
            </a:extLst>
          </p:cNvPr>
          <p:cNvSpPr>
            <a:spLocks noGrp="1"/>
          </p:cNvSpPr>
          <p:nvPr/>
        </p:nvSpPr>
        <p:spPr>
          <a:xfrm>
            <a:off x="9090660" y="4076700"/>
            <a:ext cx="1529715"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72" name="23%">
            <a:extLst>
              <a:ext uri="{FF2B5EF4-FFF2-40B4-BE49-F238E27FC236}">
                <a16:creationId xmlns:a16="http://schemas.microsoft.com/office/drawing/2014/main" id="{1336BB8D-3B27-4877-BE3D-02097978EE23}"/>
              </a:ext>
            </a:extLst>
          </p:cNvPr>
          <p:cNvSpPr>
            <a:spLocks noGrp="1"/>
          </p:cNvSpPr>
          <p:nvPr/>
        </p:nvSpPr>
        <p:spPr>
          <a:xfrm>
            <a:off x="9128760" y="4181475"/>
            <a:ext cx="147256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22%</a:t>
            </a:r>
          </a:p>
        </p:txBody>
      </p:sp>
      <p:sp>
        <p:nvSpPr>
          <p:cNvPr id="573" name="n=292">
            <a:extLst>
              <a:ext uri="{FF2B5EF4-FFF2-40B4-BE49-F238E27FC236}">
                <a16:creationId xmlns:a16="http://schemas.microsoft.com/office/drawing/2014/main" id="{FA16AB85-F9B6-417C-A997-77DA7FBB9A84}"/>
              </a:ext>
            </a:extLst>
          </p:cNvPr>
          <p:cNvSpPr>
            <a:spLocks noGrp="1"/>
          </p:cNvSpPr>
          <p:nvPr/>
        </p:nvSpPr>
        <p:spPr>
          <a:xfrm>
            <a:off x="10782300" y="41719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n=249</a:t>
            </a:r>
          </a:p>
        </p:txBody>
      </p:sp>
      <p:sp>
        <p:nvSpPr>
          <p:cNvPr id="574" name="Almost every day">
            <a:extLst>
              <a:ext uri="{FF2B5EF4-FFF2-40B4-BE49-F238E27FC236}">
                <a16:creationId xmlns:a16="http://schemas.microsoft.com/office/drawing/2014/main" id="{852654AD-2429-4AE4-9C5C-1EC7D3A01508}"/>
              </a:ext>
            </a:extLst>
          </p:cNvPr>
          <p:cNvSpPr>
            <a:spLocks noGrp="1"/>
          </p:cNvSpPr>
          <p:nvPr/>
        </p:nvSpPr>
        <p:spPr>
          <a:xfrm>
            <a:off x="400050" y="48387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Almost every day</a:t>
            </a:r>
          </a:p>
        </p:txBody>
      </p:sp>
      <p:sp>
        <p:nvSpPr>
          <p:cNvPr id="575" name="Rectangle 574">
            <a:extLst>
              <a:ext uri="{FF2B5EF4-FFF2-40B4-BE49-F238E27FC236}">
                <a16:creationId xmlns:a16="http://schemas.microsoft.com/office/drawing/2014/main" id="{6393A1BE-0C69-4928-97C1-2480E76C25A9}"/>
              </a:ext>
            </a:extLst>
          </p:cNvPr>
          <p:cNvSpPr>
            <a:spLocks noGrp="1"/>
          </p:cNvSpPr>
          <p:nvPr/>
        </p:nvSpPr>
        <p:spPr>
          <a:xfrm>
            <a:off x="3667125" y="4800600"/>
            <a:ext cx="1583413"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76" name="25%">
            <a:extLst>
              <a:ext uri="{FF2B5EF4-FFF2-40B4-BE49-F238E27FC236}">
                <a16:creationId xmlns:a16="http://schemas.microsoft.com/office/drawing/2014/main" id="{6773BF48-828E-48F8-AE82-184E8A7CB857}"/>
              </a:ext>
            </a:extLst>
          </p:cNvPr>
          <p:cNvSpPr>
            <a:spLocks noGrp="1"/>
          </p:cNvSpPr>
          <p:nvPr/>
        </p:nvSpPr>
        <p:spPr>
          <a:xfrm>
            <a:off x="3705225" y="4905375"/>
            <a:ext cx="1526263"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23%</a:t>
            </a:r>
          </a:p>
        </p:txBody>
      </p:sp>
      <p:sp>
        <p:nvSpPr>
          <p:cNvPr id="577" name="Rectangle 576">
            <a:extLst>
              <a:ext uri="{FF2B5EF4-FFF2-40B4-BE49-F238E27FC236}">
                <a16:creationId xmlns:a16="http://schemas.microsoft.com/office/drawing/2014/main" id="{93B05832-2C90-4161-BE7C-8E19A5EF4C89}"/>
              </a:ext>
            </a:extLst>
          </p:cNvPr>
          <p:cNvSpPr>
            <a:spLocks noGrp="1"/>
          </p:cNvSpPr>
          <p:nvPr/>
        </p:nvSpPr>
        <p:spPr>
          <a:xfrm>
            <a:off x="5250538" y="4800600"/>
            <a:ext cx="1996478"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78" name="28%">
            <a:extLst>
              <a:ext uri="{FF2B5EF4-FFF2-40B4-BE49-F238E27FC236}">
                <a16:creationId xmlns:a16="http://schemas.microsoft.com/office/drawing/2014/main" id="{BD68F51F-EB0E-421C-88A3-63A808DE6D1B}"/>
              </a:ext>
            </a:extLst>
          </p:cNvPr>
          <p:cNvSpPr>
            <a:spLocks noGrp="1"/>
          </p:cNvSpPr>
          <p:nvPr/>
        </p:nvSpPr>
        <p:spPr>
          <a:xfrm>
            <a:off x="5288638" y="4905375"/>
            <a:ext cx="193932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29%</a:t>
            </a:r>
          </a:p>
        </p:txBody>
      </p:sp>
      <p:sp>
        <p:nvSpPr>
          <p:cNvPr id="579" name="Rectangle 578">
            <a:extLst>
              <a:ext uri="{FF2B5EF4-FFF2-40B4-BE49-F238E27FC236}">
                <a16:creationId xmlns:a16="http://schemas.microsoft.com/office/drawing/2014/main" id="{2E61A240-900B-4D66-82F9-8144461A15E6}"/>
              </a:ext>
            </a:extLst>
          </p:cNvPr>
          <p:cNvSpPr>
            <a:spLocks noGrp="1"/>
          </p:cNvSpPr>
          <p:nvPr/>
        </p:nvSpPr>
        <p:spPr>
          <a:xfrm>
            <a:off x="7247016" y="4800600"/>
            <a:ext cx="1789946"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80" name="24%">
            <a:extLst>
              <a:ext uri="{FF2B5EF4-FFF2-40B4-BE49-F238E27FC236}">
                <a16:creationId xmlns:a16="http://schemas.microsoft.com/office/drawing/2014/main" id="{257F30A3-9026-457F-B34F-A44A58538EE1}"/>
              </a:ext>
            </a:extLst>
          </p:cNvPr>
          <p:cNvSpPr>
            <a:spLocks noGrp="1"/>
          </p:cNvSpPr>
          <p:nvPr/>
        </p:nvSpPr>
        <p:spPr>
          <a:xfrm>
            <a:off x="7285116" y="4905375"/>
            <a:ext cx="1732796"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26%</a:t>
            </a:r>
          </a:p>
        </p:txBody>
      </p:sp>
      <p:sp>
        <p:nvSpPr>
          <p:cNvPr id="581" name="Rectangle 580">
            <a:extLst>
              <a:ext uri="{FF2B5EF4-FFF2-40B4-BE49-F238E27FC236}">
                <a16:creationId xmlns:a16="http://schemas.microsoft.com/office/drawing/2014/main" id="{3464327D-BFF4-459E-9F85-E3BEBFED8499}"/>
              </a:ext>
            </a:extLst>
          </p:cNvPr>
          <p:cNvSpPr>
            <a:spLocks noGrp="1"/>
          </p:cNvSpPr>
          <p:nvPr/>
        </p:nvSpPr>
        <p:spPr>
          <a:xfrm>
            <a:off x="9036962" y="4800600"/>
            <a:ext cx="1583413"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82" name="24%">
            <a:extLst>
              <a:ext uri="{FF2B5EF4-FFF2-40B4-BE49-F238E27FC236}">
                <a16:creationId xmlns:a16="http://schemas.microsoft.com/office/drawing/2014/main" id="{9638882E-77B8-4B01-A7F6-248B2743B7B8}"/>
              </a:ext>
            </a:extLst>
          </p:cNvPr>
          <p:cNvSpPr>
            <a:spLocks noGrp="1"/>
          </p:cNvSpPr>
          <p:nvPr/>
        </p:nvSpPr>
        <p:spPr>
          <a:xfrm>
            <a:off x="9075062" y="4905375"/>
            <a:ext cx="1526263"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23%</a:t>
            </a:r>
          </a:p>
        </p:txBody>
      </p:sp>
      <p:sp>
        <p:nvSpPr>
          <p:cNvPr id="583" name="n=236">
            <a:extLst>
              <a:ext uri="{FF2B5EF4-FFF2-40B4-BE49-F238E27FC236}">
                <a16:creationId xmlns:a16="http://schemas.microsoft.com/office/drawing/2014/main" id="{5216C554-FC22-4464-97B7-D7C0F4911E28}"/>
              </a:ext>
            </a:extLst>
          </p:cNvPr>
          <p:cNvSpPr>
            <a:spLocks noGrp="1"/>
          </p:cNvSpPr>
          <p:nvPr/>
        </p:nvSpPr>
        <p:spPr>
          <a:xfrm>
            <a:off x="10782300" y="48958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n=199</a:t>
            </a:r>
          </a:p>
        </p:txBody>
      </p:sp>
      <p:sp>
        <p:nvSpPr>
          <p:cNvPr id="584" name="Rectangle 583">
            <a:extLst>
              <a:ext uri="{FF2B5EF4-FFF2-40B4-BE49-F238E27FC236}">
                <a16:creationId xmlns:a16="http://schemas.microsoft.com/office/drawing/2014/main" id="{7D213B97-6A03-4099-957A-DA7603390A7D}"/>
              </a:ext>
            </a:extLst>
          </p:cNvPr>
          <p:cNvSpPr>
            <a:spLocks noGrp="1"/>
          </p:cNvSpPr>
          <p:nvPr/>
        </p:nvSpPr>
        <p:spPr>
          <a:xfrm>
            <a:off x="3667125" y="1409700"/>
            <a:ext cx="190500" cy="190500"/>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85" name="C0  &lt; 3.20">
            <a:extLst>
              <a:ext uri="{FF2B5EF4-FFF2-40B4-BE49-F238E27FC236}">
                <a16:creationId xmlns:a16="http://schemas.microsoft.com/office/drawing/2014/main" id="{22DFB10E-BD2E-4C7E-A12D-1DFE3D8FED7A}"/>
              </a:ext>
            </a:extLst>
          </p:cNvPr>
          <p:cNvSpPr>
            <a:spLocks noGrp="1"/>
          </p:cNvSpPr>
          <p:nvPr/>
        </p:nvSpPr>
        <p:spPr>
          <a:xfrm>
            <a:off x="39433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C0  &lt; 3.20</a:t>
            </a:r>
          </a:p>
        </p:txBody>
      </p:sp>
      <p:sp>
        <p:nvSpPr>
          <p:cNvPr id="586" name="Rectangle 585">
            <a:extLst>
              <a:ext uri="{FF2B5EF4-FFF2-40B4-BE49-F238E27FC236}">
                <a16:creationId xmlns:a16="http://schemas.microsoft.com/office/drawing/2014/main" id="{66043DDC-E47F-41DA-9CDC-3CE21C3C69B6}"/>
              </a:ext>
            </a:extLst>
          </p:cNvPr>
          <p:cNvSpPr>
            <a:spLocks noGrp="1"/>
          </p:cNvSpPr>
          <p:nvPr/>
        </p:nvSpPr>
        <p:spPr>
          <a:xfrm>
            <a:off x="5476875" y="1409700"/>
            <a:ext cx="190500" cy="190500"/>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87" name="C1  3.20–3.49">
            <a:extLst>
              <a:ext uri="{FF2B5EF4-FFF2-40B4-BE49-F238E27FC236}">
                <a16:creationId xmlns:a16="http://schemas.microsoft.com/office/drawing/2014/main" id="{FAD25904-9E7B-41ED-BD14-63BDD86F7F32}"/>
              </a:ext>
            </a:extLst>
          </p:cNvPr>
          <p:cNvSpPr>
            <a:spLocks noGrp="1"/>
          </p:cNvSpPr>
          <p:nvPr/>
        </p:nvSpPr>
        <p:spPr>
          <a:xfrm>
            <a:off x="57531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C1  3.20–3.49</a:t>
            </a:r>
          </a:p>
        </p:txBody>
      </p:sp>
      <p:sp>
        <p:nvSpPr>
          <p:cNvPr id="588" name="Rectangle 587">
            <a:extLst>
              <a:ext uri="{FF2B5EF4-FFF2-40B4-BE49-F238E27FC236}">
                <a16:creationId xmlns:a16="http://schemas.microsoft.com/office/drawing/2014/main" id="{5C5AC57A-D5D1-4F0B-9AE5-7E5F1608FC07}"/>
              </a:ext>
            </a:extLst>
          </p:cNvPr>
          <p:cNvSpPr>
            <a:spLocks noGrp="1"/>
          </p:cNvSpPr>
          <p:nvPr/>
        </p:nvSpPr>
        <p:spPr>
          <a:xfrm>
            <a:off x="7286625" y="1409700"/>
            <a:ext cx="190500" cy="190500"/>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89" name="C2  3.50–3.74">
            <a:extLst>
              <a:ext uri="{FF2B5EF4-FFF2-40B4-BE49-F238E27FC236}">
                <a16:creationId xmlns:a16="http://schemas.microsoft.com/office/drawing/2014/main" id="{EDB5EC64-3288-4DD9-9B00-E514B18F3B60}"/>
              </a:ext>
            </a:extLst>
          </p:cNvPr>
          <p:cNvSpPr>
            <a:spLocks noGrp="1"/>
          </p:cNvSpPr>
          <p:nvPr/>
        </p:nvSpPr>
        <p:spPr>
          <a:xfrm>
            <a:off x="75628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C2  3.50–3.74</a:t>
            </a:r>
          </a:p>
        </p:txBody>
      </p:sp>
      <p:sp>
        <p:nvSpPr>
          <p:cNvPr id="590" name="Rectangle 589">
            <a:extLst>
              <a:ext uri="{FF2B5EF4-FFF2-40B4-BE49-F238E27FC236}">
                <a16:creationId xmlns:a16="http://schemas.microsoft.com/office/drawing/2014/main" id="{D7EF505B-BD78-4B21-BE2E-09D181F05DFA}"/>
              </a:ext>
            </a:extLst>
          </p:cNvPr>
          <p:cNvSpPr>
            <a:spLocks noGrp="1"/>
          </p:cNvSpPr>
          <p:nvPr/>
        </p:nvSpPr>
        <p:spPr>
          <a:xfrm>
            <a:off x="9096375" y="1409700"/>
            <a:ext cx="190500" cy="190500"/>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91" name="C3  ≥ 3.75">
            <a:extLst>
              <a:ext uri="{FF2B5EF4-FFF2-40B4-BE49-F238E27FC236}">
                <a16:creationId xmlns:a16="http://schemas.microsoft.com/office/drawing/2014/main" id="{8E1ED000-D5DC-48C5-AEC5-CC9CC9C31336}"/>
              </a:ext>
            </a:extLst>
          </p:cNvPr>
          <p:cNvSpPr>
            <a:spLocks noGrp="1"/>
          </p:cNvSpPr>
          <p:nvPr/>
        </p:nvSpPr>
        <p:spPr>
          <a:xfrm>
            <a:off x="93726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C3  ≥ 3.75</a:t>
            </a:r>
          </a:p>
        </p:txBody>
      </p:sp>
      <p:sp>
        <p:nvSpPr>
          <p:cNvPr id="592" name="Each bar = 100% of students choosing that answer. Descr">
            <a:extLst>
              <a:ext uri="{FF2B5EF4-FFF2-40B4-BE49-F238E27FC236}">
                <a16:creationId xmlns:a16="http://schemas.microsoft.com/office/drawing/2014/main" id="{E6B51464-5FA8-4872-994F-E68F20070F13}"/>
              </a:ext>
            </a:extLst>
          </p:cNvPr>
          <p:cNvSpPr>
            <a:spLocks noGrp="1"/>
          </p:cNvSpPr>
          <p:nvPr/>
        </p:nvSpPr>
        <p:spPr>
          <a:xfrm>
            <a:off x="400050" y="6057900"/>
            <a:ext cx="11049000" cy="285750"/>
          </a:xfrm>
          <a:prstGeom prst="rect">
            <a:avLst/>
          </a:prstGeom>
          <a:noFill/>
          <a:ln w="0">
            <a:noFill/>
          </a:ln>
        </p:spPr>
        <p:txBody>
          <a:bodyPr anchor="t">
            <a:noAutofit/>
          </a:bodyPr>
          <a:lstStyle/>
          <a:p>
            <a:pPr>
              <a:defRPr sz="1275" b="0">
                <a:solidFill>
                  <a:srgbClr val="585858"/>
                </a:solidFill>
                <a:latin typeface="Times New Roman"/>
                <a:ea typeface="Times New Roman"/>
                <a:cs typeface="Times New Roman"/>
              </a:defRPr>
            </a:pPr>
            <a:r>
              <a:rPr sz="1275" b="0">
                <a:solidFill>
                  <a:srgbClr val="585858"/>
                </a:solidFill>
                <a:latin typeface="OpenAI Sans" panose="020B0604020202020204" charset="0"/>
                <a:ea typeface="OpenAI Sans" panose="020B0604020202020204" charset="0"/>
                <a:cs typeface="Times New Roman"/>
              </a:rPr>
              <a:t>Each bar = 100% of students choosing that answer. Descriptive association, N = 920.</a:t>
            </a:r>
          </a:p>
        </p:txBody>
      </p:sp>
      <p:cxnSp>
        <p:nvCxnSpPr>
          <p:cNvPr id="2" name="Straight Arrow Connector 1">
            <a:extLst>
              <a:ext uri="{FF2B5EF4-FFF2-40B4-BE49-F238E27FC236}">
                <a16:creationId xmlns:a16="http://schemas.microsoft.com/office/drawing/2014/main" id="{ED70984D-D058-B8B3-9313-33D0A89130B5}"/>
              </a:ext>
            </a:extLst>
          </p:cNvPr>
          <p:cNvCxnSpPr>
            <a:cxnSpLocks/>
          </p:cNvCxnSpPr>
          <p:nvPr/>
        </p:nvCxnSpPr>
        <p:spPr>
          <a:xfrm>
            <a:off x="204107" y="5763986"/>
            <a:ext cx="1057819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 name="Straight Arrow Connector 2">
            <a:extLst>
              <a:ext uri="{FF2B5EF4-FFF2-40B4-BE49-F238E27FC236}">
                <a16:creationId xmlns:a16="http://schemas.microsoft.com/office/drawing/2014/main" id="{CA6FA82A-02F2-E0C2-3D84-BA55C1E3B595}"/>
              </a:ext>
            </a:extLst>
          </p:cNvPr>
          <p:cNvCxnSpPr>
            <a:cxnSpLocks/>
          </p:cNvCxnSpPr>
          <p:nvPr/>
        </p:nvCxnSpPr>
        <p:spPr>
          <a:xfrm flipV="1">
            <a:off x="356507" y="971550"/>
            <a:ext cx="0" cy="49448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E3844927-1DFB-A686-E115-BCF186E04BEC}"/>
              </a:ext>
            </a:extLst>
          </p:cNvPr>
          <p:cNvSpPr txBox="1"/>
          <p:nvPr/>
        </p:nvSpPr>
        <p:spPr>
          <a:xfrm>
            <a:off x="5532723" y="5787509"/>
            <a:ext cx="821572" cy="369332"/>
          </a:xfrm>
          <a:prstGeom prst="rect">
            <a:avLst/>
          </a:prstGeom>
          <a:noFill/>
        </p:spPr>
        <p:txBody>
          <a:bodyPr wrap="none" rtlCol="0">
            <a:spAutoFit/>
          </a:bodyPr>
          <a:lstStyle/>
          <a:p>
            <a:r>
              <a:rPr lang="en-US" dirty="0">
                <a:latin typeface="OpenAI Sans" panose="020B0604020202020204" charset="0"/>
                <a:ea typeface="OpenAI Sans" panose="020B0604020202020204" charset="0"/>
              </a:rPr>
              <a:t>CGPA</a:t>
            </a:r>
          </a:p>
        </p:txBody>
      </p:sp>
      <p:sp>
        <p:nvSpPr>
          <p:cNvPr id="5" name="TextBox 4">
            <a:extLst>
              <a:ext uri="{FF2B5EF4-FFF2-40B4-BE49-F238E27FC236}">
                <a16:creationId xmlns:a16="http://schemas.microsoft.com/office/drawing/2014/main" id="{A84DB131-FA70-8AE8-D9C2-9A8835A96EB3}"/>
              </a:ext>
            </a:extLst>
          </p:cNvPr>
          <p:cNvSpPr txBox="1"/>
          <p:nvPr/>
        </p:nvSpPr>
        <p:spPr>
          <a:xfrm rot="16200000">
            <a:off x="-821918" y="2715997"/>
            <a:ext cx="2074607" cy="369332"/>
          </a:xfrm>
          <a:prstGeom prst="rect">
            <a:avLst/>
          </a:prstGeom>
          <a:noFill/>
        </p:spPr>
        <p:txBody>
          <a:bodyPr wrap="none" rtlCol="0">
            <a:spAutoFit/>
          </a:bodyPr>
          <a:lstStyle/>
          <a:p>
            <a:r>
              <a:rPr lang="en-US" dirty="0">
                <a:latin typeface="OpenAI Sans" panose="020B0604020202020204" charset="0"/>
                <a:ea typeface="OpenAI Sans" panose="020B0604020202020204" charset="0"/>
              </a:rPr>
              <a:t>Phone Distraction</a:t>
            </a:r>
          </a:p>
        </p:txBody>
      </p:sp>
    </p:spTree>
    <p:extLst>
      <p:ext uri="{BB962C8B-B14F-4D97-AF65-F5344CB8AC3E}">
        <p14:creationId xmlns:p14="http://schemas.microsoft.com/office/powerpoint/2010/main" val="183895813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sz="1000" dirty="0">
                <a:latin typeface="OpenAI Sans" panose="020B0604020202020204" charset="0"/>
                <a:ea typeface="OpenAI Sans" panose="020B0604020202020204" charset="0"/>
                <a:cs typeface="Times New Roman"/>
              </a:rPr>
              <a:t>32</a:t>
            </a: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b="1">
                <a:latin typeface="OpenAI Sans" panose="020B0604020202020204" charset="0"/>
                <a:ea typeface="OpenAI Sans" panose="020B0604020202020204" charset="0"/>
                <a:cs typeface="Times New Roman"/>
              </a:rPr>
              <a:t>Outside commitments and CGPA</a:t>
            </a:r>
          </a:p>
        </p:txBody>
      </p:sp>
      <p:sp>
        <p:nvSpPr>
          <p:cNvPr id="534" name="None">
            <a:extLst>
              <a:ext uri="{FF2B5EF4-FFF2-40B4-BE49-F238E27FC236}">
                <a16:creationId xmlns:a16="http://schemas.microsoft.com/office/drawing/2014/main" id="{06F73B64-2A9A-44AE-B5B8-2E1DD35B3684}"/>
              </a:ext>
            </a:extLst>
          </p:cNvPr>
          <p:cNvSpPr>
            <a:spLocks noGrp="1"/>
          </p:cNvSpPr>
          <p:nvPr/>
        </p:nvSpPr>
        <p:spPr>
          <a:xfrm>
            <a:off x="400050" y="19431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None</a:t>
            </a:r>
          </a:p>
        </p:txBody>
      </p:sp>
      <p:sp>
        <p:nvSpPr>
          <p:cNvPr id="535" name="Rectangle 534">
            <a:extLst>
              <a:ext uri="{FF2B5EF4-FFF2-40B4-BE49-F238E27FC236}">
                <a16:creationId xmlns:a16="http://schemas.microsoft.com/office/drawing/2014/main" id="{0533FF35-5E33-4C6D-A482-94241812BC77}"/>
              </a:ext>
            </a:extLst>
          </p:cNvPr>
          <p:cNvSpPr>
            <a:spLocks noGrp="1"/>
          </p:cNvSpPr>
          <p:nvPr/>
        </p:nvSpPr>
        <p:spPr>
          <a:xfrm>
            <a:off x="3667125" y="1905000"/>
            <a:ext cx="1376881"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36" name="20%">
            <a:extLst>
              <a:ext uri="{FF2B5EF4-FFF2-40B4-BE49-F238E27FC236}">
                <a16:creationId xmlns:a16="http://schemas.microsoft.com/office/drawing/2014/main" id="{A2E048ED-831E-4188-B98F-70C01D360B46}"/>
              </a:ext>
            </a:extLst>
          </p:cNvPr>
          <p:cNvSpPr>
            <a:spLocks noGrp="1"/>
          </p:cNvSpPr>
          <p:nvPr/>
        </p:nvSpPr>
        <p:spPr>
          <a:xfrm>
            <a:off x="3705225" y="2009775"/>
            <a:ext cx="1319731"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20%</a:t>
            </a:r>
          </a:p>
        </p:txBody>
      </p:sp>
      <p:sp>
        <p:nvSpPr>
          <p:cNvPr id="537" name="Rectangle 536">
            <a:extLst>
              <a:ext uri="{FF2B5EF4-FFF2-40B4-BE49-F238E27FC236}">
                <a16:creationId xmlns:a16="http://schemas.microsoft.com/office/drawing/2014/main" id="{58BA7B73-60B0-4DC9-BEAF-3A87948C91BF}"/>
              </a:ext>
            </a:extLst>
          </p:cNvPr>
          <p:cNvSpPr>
            <a:spLocks noGrp="1"/>
          </p:cNvSpPr>
          <p:nvPr/>
        </p:nvSpPr>
        <p:spPr>
          <a:xfrm>
            <a:off x="5044006" y="1905000"/>
            <a:ext cx="1789946"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38" name="24%">
            <a:extLst>
              <a:ext uri="{FF2B5EF4-FFF2-40B4-BE49-F238E27FC236}">
                <a16:creationId xmlns:a16="http://schemas.microsoft.com/office/drawing/2014/main" id="{9684E1E3-D626-4FE0-A099-A90B4D8633CF}"/>
              </a:ext>
            </a:extLst>
          </p:cNvPr>
          <p:cNvSpPr>
            <a:spLocks noGrp="1"/>
          </p:cNvSpPr>
          <p:nvPr/>
        </p:nvSpPr>
        <p:spPr>
          <a:xfrm>
            <a:off x="5082106" y="2009775"/>
            <a:ext cx="1732796"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26%</a:t>
            </a:r>
          </a:p>
        </p:txBody>
      </p:sp>
      <p:sp>
        <p:nvSpPr>
          <p:cNvPr id="539" name="Rectangle 538">
            <a:extLst>
              <a:ext uri="{FF2B5EF4-FFF2-40B4-BE49-F238E27FC236}">
                <a16:creationId xmlns:a16="http://schemas.microsoft.com/office/drawing/2014/main" id="{B42106E5-2E2B-4C48-9B73-28D953B8DCE6}"/>
              </a:ext>
            </a:extLst>
          </p:cNvPr>
          <p:cNvSpPr>
            <a:spLocks noGrp="1"/>
          </p:cNvSpPr>
          <p:nvPr/>
        </p:nvSpPr>
        <p:spPr>
          <a:xfrm>
            <a:off x="6833952" y="1905000"/>
            <a:ext cx="1996478"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40" name="28%">
            <a:extLst>
              <a:ext uri="{FF2B5EF4-FFF2-40B4-BE49-F238E27FC236}">
                <a16:creationId xmlns:a16="http://schemas.microsoft.com/office/drawing/2014/main" id="{ACBAC976-DFB0-4F79-A3A5-AFD1D44D7812}"/>
              </a:ext>
            </a:extLst>
          </p:cNvPr>
          <p:cNvSpPr>
            <a:spLocks noGrp="1"/>
          </p:cNvSpPr>
          <p:nvPr/>
        </p:nvSpPr>
        <p:spPr>
          <a:xfrm>
            <a:off x="6872052" y="2009775"/>
            <a:ext cx="193932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29%</a:t>
            </a:r>
          </a:p>
        </p:txBody>
      </p:sp>
      <p:sp>
        <p:nvSpPr>
          <p:cNvPr id="541" name="Rectangle 540">
            <a:extLst>
              <a:ext uri="{FF2B5EF4-FFF2-40B4-BE49-F238E27FC236}">
                <a16:creationId xmlns:a16="http://schemas.microsoft.com/office/drawing/2014/main" id="{6199AB25-9023-40C8-AED9-8891FA07C6CF}"/>
              </a:ext>
            </a:extLst>
          </p:cNvPr>
          <p:cNvSpPr>
            <a:spLocks noGrp="1"/>
          </p:cNvSpPr>
          <p:nvPr/>
        </p:nvSpPr>
        <p:spPr>
          <a:xfrm>
            <a:off x="8830430" y="1905000"/>
            <a:ext cx="1789945"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42" name="28%">
            <a:extLst>
              <a:ext uri="{FF2B5EF4-FFF2-40B4-BE49-F238E27FC236}">
                <a16:creationId xmlns:a16="http://schemas.microsoft.com/office/drawing/2014/main" id="{3934E198-843A-4DF2-9234-346483A6D42E}"/>
              </a:ext>
            </a:extLst>
          </p:cNvPr>
          <p:cNvSpPr>
            <a:spLocks noGrp="1"/>
          </p:cNvSpPr>
          <p:nvPr/>
        </p:nvSpPr>
        <p:spPr>
          <a:xfrm>
            <a:off x="8868530" y="2009775"/>
            <a:ext cx="173279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26%</a:t>
            </a:r>
          </a:p>
        </p:txBody>
      </p:sp>
      <p:sp>
        <p:nvSpPr>
          <p:cNvPr id="543" name="n=274">
            <a:extLst>
              <a:ext uri="{FF2B5EF4-FFF2-40B4-BE49-F238E27FC236}">
                <a16:creationId xmlns:a16="http://schemas.microsoft.com/office/drawing/2014/main" id="{0EB77608-C8CC-43D9-87DB-96DEDF4A8740}"/>
              </a:ext>
            </a:extLst>
          </p:cNvPr>
          <p:cNvSpPr>
            <a:spLocks noGrp="1"/>
          </p:cNvSpPr>
          <p:nvPr/>
        </p:nvSpPr>
        <p:spPr>
          <a:xfrm>
            <a:off x="10782300" y="20002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n=234</a:t>
            </a:r>
          </a:p>
        </p:txBody>
      </p:sp>
      <p:sp>
        <p:nvSpPr>
          <p:cNvPr id="544" name="1-5 hrs">
            <a:extLst>
              <a:ext uri="{FF2B5EF4-FFF2-40B4-BE49-F238E27FC236}">
                <a16:creationId xmlns:a16="http://schemas.microsoft.com/office/drawing/2014/main" id="{2BF9A136-326C-4564-9D4A-08F26E956CB8}"/>
              </a:ext>
            </a:extLst>
          </p:cNvPr>
          <p:cNvSpPr>
            <a:spLocks noGrp="1"/>
          </p:cNvSpPr>
          <p:nvPr/>
        </p:nvSpPr>
        <p:spPr>
          <a:xfrm>
            <a:off x="400050" y="26670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1-5 hrs</a:t>
            </a:r>
          </a:p>
        </p:txBody>
      </p:sp>
      <p:sp>
        <p:nvSpPr>
          <p:cNvPr id="545" name="Rectangle 544">
            <a:extLst>
              <a:ext uri="{FF2B5EF4-FFF2-40B4-BE49-F238E27FC236}">
                <a16:creationId xmlns:a16="http://schemas.microsoft.com/office/drawing/2014/main" id="{3103342D-DADA-4D50-BB8F-3F2906179F74}"/>
              </a:ext>
            </a:extLst>
          </p:cNvPr>
          <p:cNvSpPr>
            <a:spLocks noGrp="1"/>
          </p:cNvSpPr>
          <p:nvPr/>
        </p:nvSpPr>
        <p:spPr>
          <a:xfrm>
            <a:off x="3667125" y="2628900"/>
            <a:ext cx="1376881"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46" name="20%">
            <a:extLst>
              <a:ext uri="{FF2B5EF4-FFF2-40B4-BE49-F238E27FC236}">
                <a16:creationId xmlns:a16="http://schemas.microsoft.com/office/drawing/2014/main" id="{D1221AC4-0867-4F35-B210-5CD437F7CFC2}"/>
              </a:ext>
            </a:extLst>
          </p:cNvPr>
          <p:cNvSpPr>
            <a:spLocks noGrp="1"/>
          </p:cNvSpPr>
          <p:nvPr/>
        </p:nvSpPr>
        <p:spPr>
          <a:xfrm>
            <a:off x="3705225" y="2733675"/>
            <a:ext cx="1319731"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20%</a:t>
            </a:r>
          </a:p>
        </p:txBody>
      </p:sp>
      <p:sp>
        <p:nvSpPr>
          <p:cNvPr id="547" name="Rectangle 546">
            <a:extLst>
              <a:ext uri="{FF2B5EF4-FFF2-40B4-BE49-F238E27FC236}">
                <a16:creationId xmlns:a16="http://schemas.microsoft.com/office/drawing/2014/main" id="{455AD0F1-C86A-4216-A7E5-0E94AEF22D25}"/>
              </a:ext>
            </a:extLst>
          </p:cNvPr>
          <p:cNvSpPr>
            <a:spLocks noGrp="1"/>
          </p:cNvSpPr>
          <p:nvPr/>
        </p:nvSpPr>
        <p:spPr>
          <a:xfrm>
            <a:off x="5044006" y="2628900"/>
            <a:ext cx="1996478"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48" name="27%">
            <a:extLst>
              <a:ext uri="{FF2B5EF4-FFF2-40B4-BE49-F238E27FC236}">
                <a16:creationId xmlns:a16="http://schemas.microsoft.com/office/drawing/2014/main" id="{E3CB562C-C30B-4F35-9555-EEDD06AA3DF4}"/>
              </a:ext>
            </a:extLst>
          </p:cNvPr>
          <p:cNvSpPr>
            <a:spLocks noGrp="1"/>
          </p:cNvSpPr>
          <p:nvPr/>
        </p:nvSpPr>
        <p:spPr>
          <a:xfrm>
            <a:off x="5082106" y="2733675"/>
            <a:ext cx="193932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29%</a:t>
            </a:r>
          </a:p>
        </p:txBody>
      </p:sp>
      <p:sp>
        <p:nvSpPr>
          <p:cNvPr id="549" name="Rectangle 548">
            <a:extLst>
              <a:ext uri="{FF2B5EF4-FFF2-40B4-BE49-F238E27FC236}">
                <a16:creationId xmlns:a16="http://schemas.microsoft.com/office/drawing/2014/main" id="{FA6374F7-B994-4E84-900E-740EB0BCA3CA}"/>
              </a:ext>
            </a:extLst>
          </p:cNvPr>
          <p:cNvSpPr>
            <a:spLocks noGrp="1"/>
          </p:cNvSpPr>
          <p:nvPr/>
        </p:nvSpPr>
        <p:spPr>
          <a:xfrm>
            <a:off x="7040484" y="2628900"/>
            <a:ext cx="1927634"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50" name="27%">
            <a:extLst>
              <a:ext uri="{FF2B5EF4-FFF2-40B4-BE49-F238E27FC236}">
                <a16:creationId xmlns:a16="http://schemas.microsoft.com/office/drawing/2014/main" id="{1EE2E7AD-93D1-489D-A761-7E7096AEB4D1}"/>
              </a:ext>
            </a:extLst>
          </p:cNvPr>
          <p:cNvSpPr>
            <a:spLocks noGrp="1"/>
          </p:cNvSpPr>
          <p:nvPr/>
        </p:nvSpPr>
        <p:spPr>
          <a:xfrm>
            <a:off x="7078584" y="2733675"/>
            <a:ext cx="1870484"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28%</a:t>
            </a:r>
          </a:p>
        </p:txBody>
      </p:sp>
      <p:sp>
        <p:nvSpPr>
          <p:cNvPr id="551" name="Rectangle 550">
            <a:extLst>
              <a:ext uri="{FF2B5EF4-FFF2-40B4-BE49-F238E27FC236}">
                <a16:creationId xmlns:a16="http://schemas.microsoft.com/office/drawing/2014/main" id="{7CD6CAAF-D6FB-4015-914D-EE3764E64A4A}"/>
              </a:ext>
            </a:extLst>
          </p:cNvPr>
          <p:cNvSpPr>
            <a:spLocks noGrp="1"/>
          </p:cNvSpPr>
          <p:nvPr/>
        </p:nvSpPr>
        <p:spPr>
          <a:xfrm>
            <a:off x="8968118" y="2628900"/>
            <a:ext cx="1652257"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52" name="25%">
            <a:extLst>
              <a:ext uri="{FF2B5EF4-FFF2-40B4-BE49-F238E27FC236}">
                <a16:creationId xmlns:a16="http://schemas.microsoft.com/office/drawing/2014/main" id="{4D15D9B5-8EBE-40A8-AB3A-BD5FA08EE01A}"/>
              </a:ext>
            </a:extLst>
          </p:cNvPr>
          <p:cNvSpPr>
            <a:spLocks noGrp="1"/>
          </p:cNvSpPr>
          <p:nvPr/>
        </p:nvSpPr>
        <p:spPr>
          <a:xfrm>
            <a:off x="9006218" y="2733675"/>
            <a:ext cx="1595107"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24%</a:t>
            </a:r>
          </a:p>
        </p:txBody>
      </p:sp>
      <p:sp>
        <p:nvSpPr>
          <p:cNvPr id="553" name="n=263">
            <a:extLst>
              <a:ext uri="{FF2B5EF4-FFF2-40B4-BE49-F238E27FC236}">
                <a16:creationId xmlns:a16="http://schemas.microsoft.com/office/drawing/2014/main" id="{F27A5FD8-E001-4E0A-93C5-C709308FB011}"/>
              </a:ext>
            </a:extLst>
          </p:cNvPr>
          <p:cNvSpPr>
            <a:spLocks noGrp="1"/>
          </p:cNvSpPr>
          <p:nvPr/>
        </p:nvSpPr>
        <p:spPr>
          <a:xfrm>
            <a:off x="10782300" y="27241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n=231</a:t>
            </a:r>
          </a:p>
        </p:txBody>
      </p:sp>
      <p:sp>
        <p:nvSpPr>
          <p:cNvPr id="554" name="6-10 hrs">
            <a:extLst>
              <a:ext uri="{FF2B5EF4-FFF2-40B4-BE49-F238E27FC236}">
                <a16:creationId xmlns:a16="http://schemas.microsoft.com/office/drawing/2014/main" id="{AE587873-1B78-46C6-9ED9-941EFBA5DB63}"/>
              </a:ext>
            </a:extLst>
          </p:cNvPr>
          <p:cNvSpPr>
            <a:spLocks noGrp="1"/>
          </p:cNvSpPr>
          <p:nvPr/>
        </p:nvSpPr>
        <p:spPr>
          <a:xfrm>
            <a:off x="400050" y="33909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6-10 hrs</a:t>
            </a:r>
          </a:p>
        </p:txBody>
      </p:sp>
      <p:sp>
        <p:nvSpPr>
          <p:cNvPr id="555" name="Rectangle 554">
            <a:extLst>
              <a:ext uri="{FF2B5EF4-FFF2-40B4-BE49-F238E27FC236}">
                <a16:creationId xmlns:a16="http://schemas.microsoft.com/office/drawing/2014/main" id="{66055E24-EB83-435F-8430-12F038719890}"/>
              </a:ext>
            </a:extLst>
          </p:cNvPr>
          <p:cNvSpPr>
            <a:spLocks noGrp="1"/>
          </p:cNvSpPr>
          <p:nvPr/>
        </p:nvSpPr>
        <p:spPr>
          <a:xfrm>
            <a:off x="3667125" y="3352800"/>
            <a:ext cx="1123758"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56" name="20%">
            <a:extLst>
              <a:ext uri="{FF2B5EF4-FFF2-40B4-BE49-F238E27FC236}">
                <a16:creationId xmlns:a16="http://schemas.microsoft.com/office/drawing/2014/main" id="{BF5479A6-9D96-40A1-9EF1-CDEA2C6EA4A6}"/>
              </a:ext>
            </a:extLst>
          </p:cNvPr>
          <p:cNvSpPr>
            <a:spLocks noGrp="1"/>
          </p:cNvSpPr>
          <p:nvPr/>
        </p:nvSpPr>
        <p:spPr>
          <a:xfrm>
            <a:off x="3705225" y="3457575"/>
            <a:ext cx="106660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16%</a:t>
            </a:r>
          </a:p>
        </p:txBody>
      </p:sp>
      <p:sp>
        <p:nvSpPr>
          <p:cNvPr id="557" name="Rectangle 556">
            <a:extLst>
              <a:ext uri="{FF2B5EF4-FFF2-40B4-BE49-F238E27FC236}">
                <a16:creationId xmlns:a16="http://schemas.microsoft.com/office/drawing/2014/main" id="{EB3C9F75-1C4A-4CCA-86A8-D0ED3AF565FB}"/>
              </a:ext>
            </a:extLst>
          </p:cNvPr>
          <p:cNvSpPr>
            <a:spLocks noGrp="1"/>
          </p:cNvSpPr>
          <p:nvPr/>
        </p:nvSpPr>
        <p:spPr>
          <a:xfrm>
            <a:off x="4790883" y="3352800"/>
            <a:ext cx="2598689"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58" name="34%">
            <a:extLst>
              <a:ext uri="{FF2B5EF4-FFF2-40B4-BE49-F238E27FC236}">
                <a16:creationId xmlns:a16="http://schemas.microsoft.com/office/drawing/2014/main" id="{7D463A22-BDCA-456B-9C48-6B6EB7000D39}"/>
              </a:ext>
            </a:extLst>
          </p:cNvPr>
          <p:cNvSpPr>
            <a:spLocks noGrp="1"/>
          </p:cNvSpPr>
          <p:nvPr/>
        </p:nvSpPr>
        <p:spPr>
          <a:xfrm>
            <a:off x="4828983" y="3457575"/>
            <a:ext cx="2541539"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37%</a:t>
            </a:r>
          </a:p>
        </p:txBody>
      </p:sp>
      <p:sp>
        <p:nvSpPr>
          <p:cNvPr id="559" name="Rectangle 558">
            <a:extLst>
              <a:ext uri="{FF2B5EF4-FFF2-40B4-BE49-F238E27FC236}">
                <a16:creationId xmlns:a16="http://schemas.microsoft.com/office/drawing/2014/main" id="{5DC6573E-B281-405F-91D7-58A9C7343C38}"/>
              </a:ext>
            </a:extLst>
          </p:cNvPr>
          <p:cNvSpPr>
            <a:spLocks noGrp="1"/>
          </p:cNvSpPr>
          <p:nvPr/>
        </p:nvSpPr>
        <p:spPr>
          <a:xfrm>
            <a:off x="7389572" y="3352800"/>
            <a:ext cx="2107045"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60" name="28%">
            <a:extLst>
              <a:ext uri="{FF2B5EF4-FFF2-40B4-BE49-F238E27FC236}">
                <a16:creationId xmlns:a16="http://schemas.microsoft.com/office/drawing/2014/main" id="{12171C3A-FFD1-4EB3-ACE7-310BF7AC76FD}"/>
              </a:ext>
            </a:extLst>
          </p:cNvPr>
          <p:cNvSpPr>
            <a:spLocks noGrp="1"/>
          </p:cNvSpPr>
          <p:nvPr/>
        </p:nvSpPr>
        <p:spPr>
          <a:xfrm>
            <a:off x="7427672" y="3457575"/>
            <a:ext cx="204989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30%</a:t>
            </a:r>
          </a:p>
        </p:txBody>
      </p:sp>
      <p:sp>
        <p:nvSpPr>
          <p:cNvPr id="561" name="Rectangle 560">
            <a:extLst>
              <a:ext uri="{FF2B5EF4-FFF2-40B4-BE49-F238E27FC236}">
                <a16:creationId xmlns:a16="http://schemas.microsoft.com/office/drawing/2014/main" id="{AABD8618-8E51-474B-ACD6-831CA7A4D733}"/>
              </a:ext>
            </a:extLst>
          </p:cNvPr>
          <p:cNvSpPr>
            <a:spLocks noGrp="1"/>
          </p:cNvSpPr>
          <p:nvPr/>
        </p:nvSpPr>
        <p:spPr>
          <a:xfrm>
            <a:off x="9496617" y="3352800"/>
            <a:ext cx="1123758"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62" name="18%">
            <a:extLst>
              <a:ext uri="{FF2B5EF4-FFF2-40B4-BE49-F238E27FC236}">
                <a16:creationId xmlns:a16="http://schemas.microsoft.com/office/drawing/2014/main" id="{4AEE8657-0D1D-4377-AE1E-50BA3BA09558}"/>
              </a:ext>
            </a:extLst>
          </p:cNvPr>
          <p:cNvSpPr>
            <a:spLocks noGrp="1"/>
          </p:cNvSpPr>
          <p:nvPr/>
        </p:nvSpPr>
        <p:spPr>
          <a:xfrm>
            <a:off x="9534717" y="3457575"/>
            <a:ext cx="106660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16%</a:t>
            </a:r>
          </a:p>
        </p:txBody>
      </p:sp>
      <p:sp>
        <p:nvSpPr>
          <p:cNvPr id="563" name="n=232">
            <a:extLst>
              <a:ext uri="{FF2B5EF4-FFF2-40B4-BE49-F238E27FC236}">
                <a16:creationId xmlns:a16="http://schemas.microsoft.com/office/drawing/2014/main" id="{A8D2ADFC-18B9-487E-9868-7E153FF53B88}"/>
              </a:ext>
            </a:extLst>
          </p:cNvPr>
          <p:cNvSpPr>
            <a:spLocks noGrp="1"/>
          </p:cNvSpPr>
          <p:nvPr/>
        </p:nvSpPr>
        <p:spPr>
          <a:xfrm>
            <a:off x="10782300" y="34480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n=195</a:t>
            </a:r>
          </a:p>
        </p:txBody>
      </p:sp>
      <p:sp>
        <p:nvSpPr>
          <p:cNvPr id="564" name="11-15 hrs">
            <a:extLst>
              <a:ext uri="{FF2B5EF4-FFF2-40B4-BE49-F238E27FC236}">
                <a16:creationId xmlns:a16="http://schemas.microsoft.com/office/drawing/2014/main" id="{540113E8-EDF3-4CE5-8922-D16422B00E8D}"/>
              </a:ext>
            </a:extLst>
          </p:cNvPr>
          <p:cNvSpPr>
            <a:spLocks noGrp="1"/>
          </p:cNvSpPr>
          <p:nvPr/>
        </p:nvSpPr>
        <p:spPr>
          <a:xfrm>
            <a:off x="400050" y="41148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11-15 hrs</a:t>
            </a:r>
          </a:p>
        </p:txBody>
      </p:sp>
      <p:sp>
        <p:nvSpPr>
          <p:cNvPr id="565" name="Rectangle 564">
            <a:extLst>
              <a:ext uri="{FF2B5EF4-FFF2-40B4-BE49-F238E27FC236}">
                <a16:creationId xmlns:a16="http://schemas.microsoft.com/office/drawing/2014/main" id="{49EF01FD-11E1-4FED-A5BF-73FF8AFFACDF}"/>
              </a:ext>
            </a:extLst>
          </p:cNvPr>
          <p:cNvSpPr>
            <a:spLocks noGrp="1"/>
          </p:cNvSpPr>
          <p:nvPr/>
        </p:nvSpPr>
        <p:spPr>
          <a:xfrm>
            <a:off x="3667125" y="4076700"/>
            <a:ext cx="1545167"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66" name="25%">
            <a:extLst>
              <a:ext uri="{FF2B5EF4-FFF2-40B4-BE49-F238E27FC236}">
                <a16:creationId xmlns:a16="http://schemas.microsoft.com/office/drawing/2014/main" id="{DA0C6208-6F09-4E38-88FD-0F8C0882D535}"/>
              </a:ext>
            </a:extLst>
          </p:cNvPr>
          <p:cNvSpPr>
            <a:spLocks noGrp="1"/>
          </p:cNvSpPr>
          <p:nvPr/>
        </p:nvSpPr>
        <p:spPr>
          <a:xfrm>
            <a:off x="3705225" y="4181475"/>
            <a:ext cx="1488017"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22%</a:t>
            </a:r>
          </a:p>
        </p:txBody>
      </p:sp>
      <p:sp>
        <p:nvSpPr>
          <p:cNvPr id="567" name="Rectangle 566">
            <a:extLst>
              <a:ext uri="{FF2B5EF4-FFF2-40B4-BE49-F238E27FC236}">
                <a16:creationId xmlns:a16="http://schemas.microsoft.com/office/drawing/2014/main" id="{4E7794F8-08C8-4743-A081-2A383B9EAD94}"/>
              </a:ext>
            </a:extLst>
          </p:cNvPr>
          <p:cNvSpPr>
            <a:spLocks noGrp="1"/>
          </p:cNvSpPr>
          <p:nvPr/>
        </p:nvSpPr>
        <p:spPr>
          <a:xfrm>
            <a:off x="5212292" y="4076700"/>
            <a:ext cx="2177280"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68" name="29%">
            <a:extLst>
              <a:ext uri="{FF2B5EF4-FFF2-40B4-BE49-F238E27FC236}">
                <a16:creationId xmlns:a16="http://schemas.microsoft.com/office/drawing/2014/main" id="{1697362B-47CC-4300-A13A-4321B444AD3A}"/>
              </a:ext>
            </a:extLst>
          </p:cNvPr>
          <p:cNvSpPr>
            <a:spLocks noGrp="1"/>
          </p:cNvSpPr>
          <p:nvPr/>
        </p:nvSpPr>
        <p:spPr>
          <a:xfrm>
            <a:off x="5250392" y="4181475"/>
            <a:ext cx="212013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31%</a:t>
            </a:r>
          </a:p>
        </p:txBody>
      </p:sp>
      <p:sp>
        <p:nvSpPr>
          <p:cNvPr id="569" name="Rectangle 568">
            <a:extLst>
              <a:ext uri="{FF2B5EF4-FFF2-40B4-BE49-F238E27FC236}">
                <a16:creationId xmlns:a16="http://schemas.microsoft.com/office/drawing/2014/main" id="{41E41954-CBDA-4147-88EA-17457D099289}"/>
              </a:ext>
            </a:extLst>
          </p:cNvPr>
          <p:cNvSpPr>
            <a:spLocks noGrp="1"/>
          </p:cNvSpPr>
          <p:nvPr/>
        </p:nvSpPr>
        <p:spPr>
          <a:xfrm>
            <a:off x="7389572" y="4076700"/>
            <a:ext cx="2107045"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70" name="27%">
            <a:extLst>
              <a:ext uri="{FF2B5EF4-FFF2-40B4-BE49-F238E27FC236}">
                <a16:creationId xmlns:a16="http://schemas.microsoft.com/office/drawing/2014/main" id="{FADA3301-091C-40F6-96CB-0FFC697D2F19}"/>
              </a:ext>
            </a:extLst>
          </p:cNvPr>
          <p:cNvSpPr>
            <a:spLocks noGrp="1"/>
          </p:cNvSpPr>
          <p:nvPr/>
        </p:nvSpPr>
        <p:spPr>
          <a:xfrm>
            <a:off x="7427672" y="4181475"/>
            <a:ext cx="204989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30%</a:t>
            </a:r>
          </a:p>
        </p:txBody>
      </p:sp>
      <p:sp>
        <p:nvSpPr>
          <p:cNvPr id="571" name="Rectangle 570">
            <a:extLst>
              <a:ext uri="{FF2B5EF4-FFF2-40B4-BE49-F238E27FC236}">
                <a16:creationId xmlns:a16="http://schemas.microsoft.com/office/drawing/2014/main" id="{2F54900E-7D4D-4571-B5F2-422543A7ACBC}"/>
              </a:ext>
            </a:extLst>
          </p:cNvPr>
          <p:cNvSpPr>
            <a:spLocks noGrp="1"/>
          </p:cNvSpPr>
          <p:nvPr/>
        </p:nvSpPr>
        <p:spPr>
          <a:xfrm>
            <a:off x="9496617" y="4076700"/>
            <a:ext cx="1123758"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72" name="19%">
            <a:extLst>
              <a:ext uri="{FF2B5EF4-FFF2-40B4-BE49-F238E27FC236}">
                <a16:creationId xmlns:a16="http://schemas.microsoft.com/office/drawing/2014/main" id="{A181E119-AE8D-4E44-AFF7-55A201D78152}"/>
              </a:ext>
            </a:extLst>
          </p:cNvPr>
          <p:cNvSpPr>
            <a:spLocks noGrp="1"/>
          </p:cNvSpPr>
          <p:nvPr/>
        </p:nvSpPr>
        <p:spPr>
          <a:xfrm>
            <a:off x="9534717" y="4181475"/>
            <a:ext cx="106660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16%</a:t>
            </a:r>
          </a:p>
        </p:txBody>
      </p:sp>
      <p:sp>
        <p:nvSpPr>
          <p:cNvPr id="573" name="n=191">
            <a:extLst>
              <a:ext uri="{FF2B5EF4-FFF2-40B4-BE49-F238E27FC236}">
                <a16:creationId xmlns:a16="http://schemas.microsoft.com/office/drawing/2014/main" id="{CBEEAF55-4EB3-4E5C-AE9E-0C0B9978595D}"/>
              </a:ext>
            </a:extLst>
          </p:cNvPr>
          <p:cNvSpPr>
            <a:spLocks noGrp="1"/>
          </p:cNvSpPr>
          <p:nvPr/>
        </p:nvSpPr>
        <p:spPr>
          <a:xfrm>
            <a:off x="10782300" y="41719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n=147</a:t>
            </a:r>
          </a:p>
        </p:txBody>
      </p:sp>
      <p:sp>
        <p:nvSpPr>
          <p:cNvPr id="574" name="More than 15 hrs">
            <a:extLst>
              <a:ext uri="{FF2B5EF4-FFF2-40B4-BE49-F238E27FC236}">
                <a16:creationId xmlns:a16="http://schemas.microsoft.com/office/drawing/2014/main" id="{9D6BE75D-6DBB-49BF-A353-17BFEC4FD8FD}"/>
              </a:ext>
            </a:extLst>
          </p:cNvPr>
          <p:cNvSpPr>
            <a:spLocks noGrp="1"/>
          </p:cNvSpPr>
          <p:nvPr/>
        </p:nvSpPr>
        <p:spPr>
          <a:xfrm>
            <a:off x="400050" y="48387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More than 15 hrs</a:t>
            </a:r>
          </a:p>
        </p:txBody>
      </p:sp>
      <p:sp>
        <p:nvSpPr>
          <p:cNvPr id="575" name="Rectangle 574">
            <a:extLst>
              <a:ext uri="{FF2B5EF4-FFF2-40B4-BE49-F238E27FC236}">
                <a16:creationId xmlns:a16="http://schemas.microsoft.com/office/drawing/2014/main" id="{56F9BEF3-33E3-4842-9CE5-FD4F96E47E47}"/>
              </a:ext>
            </a:extLst>
          </p:cNvPr>
          <p:cNvSpPr>
            <a:spLocks noGrp="1"/>
          </p:cNvSpPr>
          <p:nvPr/>
        </p:nvSpPr>
        <p:spPr>
          <a:xfrm>
            <a:off x="3667125" y="4800600"/>
            <a:ext cx="1529715"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76" name="23%">
            <a:extLst>
              <a:ext uri="{FF2B5EF4-FFF2-40B4-BE49-F238E27FC236}">
                <a16:creationId xmlns:a16="http://schemas.microsoft.com/office/drawing/2014/main" id="{A7887C4E-4D36-4BE2-B490-E472FFCD2EFD}"/>
              </a:ext>
            </a:extLst>
          </p:cNvPr>
          <p:cNvSpPr>
            <a:spLocks noGrp="1"/>
          </p:cNvSpPr>
          <p:nvPr/>
        </p:nvSpPr>
        <p:spPr>
          <a:xfrm>
            <a:off x="3705225" y="4905375"/>
            <a:ext cx="147256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22%</a:t>
            </a:r>
          </a:p>
        </p:txBody>
      </p:sp>
      <p:sp>
        <p:nvSpPr>
          <p:cNvPr id="577" name="Rectangle 576">
            <a:extLst>
              <a:ext uri="{FF2B5EF4-FFF2-40B4-BE49-F238E27FC236}">
                <a16:creationId xmlns:a16="http://schemas.microsoft.com/office/drawing/2014/main" id="{80DDF048-BC34-4895-B364-7C6CCFDBB0DE}"/>
              </a:ext>
            </a:extLst>
          </p:cNvPr>
          <p:cNvSpPr>
            <a:spLocks noGrp="1"/>
          </p:cNvSpPr>
          <p:nvPr/>
        </p:nvSpPr>
        <p:spPr>
          <a:xfrm>
            <a:off x="5196840" y="4800600"/>
            <a:ext cx="2433638"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78" name="32%">
            <a:extLst>
              <a:ext uri="{FF2B5EF4-FFF2-40B4-BE49-F238E27FC236}">
                <a16:creationId xmlns:a16="http://schemas.microsoft.com/office/drawing/2014/main" id="{79CA9FA5-1A72-48CD-898A-7CC6347295B9}"/>
              </a:ext>
            </a:extLst>
          </p:cNvPr>
          <p:cNvSpPr>
            <a:spLocks noGrp="1"/>
          </p:cNvSpPr>
          <p:nvPr/>
        </p:nvSpPr>
        <p:spPr>
          <a:xfrm>
            <a:off x="5234940" y="4905375"/>
            <a:ext cx="237648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35%</a:t>
            </a:r>
          </a:p>
        </p:txBody>
      </p:sp>
      <p:sp>
        <p:nvSpPr>
          <p:cNvPr id="579" name="Rectangle 578">
            <a:extLst>
              <a:ext uri="{FF2B5EF4-FFF2-40B4-BE49-F238E27FC236}">
                <a16:creationId xmlns:a16="http://schemas.microsoft.com/office/drawing/2014/main" id="{71BF492F-8C6E-4879-8F52-89D1D3A2E5D1}"/>
              </a:ext>
            </a:extLst>
          </p:cNvPr>
          <p:cNvSpPr>
            <a:spLocks noGrp="1"/>
          </p:cNvSpPr>
          <p:nvPr/>
        </p:nvSpPr>
        <p:spPr>
          <a:xfrm>
            <a:off x="7630478" y="4800600"/>
            <a:ext cx="1877378"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80" name="25%">
            <a:extLst>
              <a:ext uri="{FF2B5EF4-FFF2-40B4-BE49-F238E27FC236}">
                <a16:creationId xmlns:a16="http://schemas.microsoft.com/office/drawing/2014/main" id="{988098A0-5280-4C72-84B9-3CFAAAD3F012}"/>
              </a:ext>
            </a:extLst>
          </p:cNvPr>
          <p:cNvSpPr>
            <a:spLocks noGrp="1"/>
          </p:cNvSpPr>
          <p:nvPr/>
        </p:nvSpPr>
        <p:spPr>
          <a:xfrm>
            <a:off x="7668578" y="4905375"/>
            <a:ext cx="182022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27%</a:t>
            </a:r>
          </a:p>
        </p:txBody>
      </p:sp>
      <p:sp>
        <p:nvSpPr>
          <p:cNvPr id="581" name="Rectangle 580">
            <a:extLst>
              <a:ext uri="{FF2B5EF4-FFF2-40B4-BE49-F238E27FC236}">
                <a16:creationId xmlns:a16="http://schemas.microsoft.com/office/drawing/2014/main" id="{6C89BD47-8D30-46BB-AF8C-9E8F67546147}"/>
              </a:ext>
            </a:extLst>
          </p:cNvPr>
          <p:cNvSpPr>
            <a:spLocks noGrp="1"/>
          </p:cNvSpPr>
          <p:nvPr/>
        </p:nvSpPr>
        <p:spPr>
          <a:xfrm>
            <a:off x="9507856" y="4800600"/>
            <a:ext cx="1112519"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82" name="20%">
            <a:extLst>
              <a:ext uri="{FF2B5EF4-FFF2-40B4-BE49-F238E27FC236}">
                <a16:creationId xmlns:a16="http://schemas.microsoft.com/office/drawing/2014/main" id="{53766011-626B-4CE2-9353-7FDF56C0EFD6}"/>
              </a:ext>
            </a:extLst>
          </p:cNvPr>
          <p:cNvSpPr>
            <a:spLocks noGrp="1"/>
          </p:cNvSpPr>
          <p:nvPr/>
        </p:nvSpPr>
        <p:spPr>
          <a:xfrm>
            <a:off x="9545956" y="4905375"/>
            <a:ext cx="1055369"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16%</a:t>
            </a:r>
          </a:p>
        </p:txBody>
      </p:sp>
      <p:sp>
        <p:nvSpPr>
          <p:cNvPr id="583" name="n=148">
            <a:extLst>
              <a:ext uri="{FF2B5EF4-FFF2-40B4-BE49-F238E27FC236}">
                <a16:creationId xmlns:a16="http://schemas.microsoft.com/office/drawing/2014/main" id="{AEE1BA63-0A9C-4AF6-90C5-1027DB121F48}"/>
              </a:ext>
            </a:extLst>
          </p:cNvPr>
          <p:cNvSpPr>
            <a:spLocks noGrp="1"/>
          </p:cNvSpPr>
          <p:nvPr/>
        </p:nvSpPr>
        <p:spPr>
          <a:xfrm>
            <a:off x="10782300" y="48958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n=113</a:t>
            </a:r>
          </a:p>
        </p:txBody>
      </p:sp>
      <p:sp>
        <p:nvSpPr>
          <p:cNvPr id="584" name="Rectangle 583">
            <a:extLst>
              <a:ext uri="{FF2B5EF4-FFF2-40B4-BE49-F238E27FC236}">
                <a16:creationId xmlns:a16="http://schemas.microsoft.com/office/drawing/2014/main" id="{922ED1F0-CF14-4998-9ADA-1E739A6D3C10}"/>
              </a:ext>
            </a:extLst>
          </p:cNvPr>
          <p:cNvSpPr>
            <a:spLocks noGrp="1"/>
          </p:cNvSpPr>
          <p:nvPr/>
        </p:nvSpPr>
        <p:spPr>
          <a:xfrm>
            <a:off x="3667125" y="1409700"/>
            <a:ext cx="190500" cy="190500"/>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85" name="C0  &lt; 3.20">
            <a:extLst>
              <a:ext uri="{FF2B5EF4-FFF2-40B4-BE49-F238E27FC236}">
                <a16:creationId xmlns:a16="http://schemas.microsoft.com/office/drawing/2014/main" id="{CF3A29F5-E008-4AB0-974E-795047E8504F}"/>
              </a:ext>
            </a:extLst>
          </p:cNvPr>
          <p:cNvSpPr>
            <a:spLocks noGrp="1"/>
          </p:cNvSpPr>
          <p:nvPr/>
        </p:nvSpPr>
        <p:spPr>
          <a:xfrm>
            <a:off x="39433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C0  &lt; 3.20</a:t>
            </a:r>
          </a:p>
        </p:txBody>
      </p:sp>
      <p:sp>
        <p:nvSpPr>
          <p:cNvPr id="586" name="Rectangle 585">
            <a:extLst>
              <a:ext uri="{FF2B5EF4-FFF2-40B4-BE49-F238E27FC236}">
                <a16:creationId xmlns:a16="http://schemas.microsoft.com/office/drawing/2014/main" id="{C9266015-FE9E-433C-9399-F0FA1AB1FC34}"/>
              </a:ext>
            </a:extLst>
          </p:cNvPr>
          <p:cNvSpPr>
            <a:spLocks noGrp="1"/>
          </p:cNvSpPr>
          <p:nvPr/>
        </p:nvSpPr>
        <p:spPr>
          <a:xfrm>
            <a:off x="5476875" y="1409700"/>
            <a:ext cx="190500" cy="190500"/>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87" name="C1  3.20–3.49">
            <a:extLst>
              <a:ext uri="{FF2B5EF4-FFF2-40B4-BE49-F238E27FC236}">
                <a16:creationId xmlns:a16="http://schemas.microsoft.com/office/drawing/2014/main" id="{A180E62E-1B54-4A06-B55E-C5F40D0848C6}"/>
              </a:ext>
            </a:extLst>
          </p:cNvPr>
          <p:cNvSpPr>
            <a:spLocks noGrp="1"/>
          </p:cNvSpPr>
          <p:nvPr/>
        </p:nvSpPr>
        <p:spPr>
          <a:xfrm>
            <a:off x="57531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C1  3.20–3.49</a:t>
            </a:r>
          </a:p>
        </p:txBody>
      </p:sp>
      <p:sp>
        <p:nvSpPr>
          <p:cNvPr id="588" name="Rectangle 587">
            <a:extLst>
              <a:ext uri="{FF2B5EF4-FFF2-40B4-BE49-F238E27FC236}">
                <a16:creationId xmlns:a16="http://schemas.microsoft.com/office/drawing/2014/main" id="{FF770ABB-CBBE-4CD7-B5A5-263E034DE0C7}"/>
              </a:ext>
            </a:extLst>
          </p:cNvPr>
          <p:cNvSpPr>
            <a:spLocks noGrp="1"/>
          </p:cNvSpPr>
          <p:nvPr/>
        </p:nvSpPr>
        <p:spPr>
          <a:xfrm>
            <a:off x="7286625" y="1409700"/>
            <a:ext cx="190500" cy="190500"/>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89" name="C2  3.50–3.74">
            <a:extLst>
              <a:ext uri="{FF2B5EF4-FFF2-40B4-BE49-F238E27FC236}">
                <a16:creationId xmlns:a16="http://schemas.microsoft.com/office/drawing/2014/main" id="{4179D3BE-519E-4319-B324-AD630D49D849}"/>
              </a:ext>
            </a:extLst>
          </p:cNvPr>
          <p:cNvSpPr>
            <a:spLocks noGrp="1"/>
          </p:cNvSpPr>
          <p:nvPr/>
        </p:nvSpPr>
        <p:spPr>
          <a:xfrm>
            <a:off x="75628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C2  3.50–3.74</a:t>
            </a:r>
          </a:p>
        </p:txBody>
      </p:sp>
      <p:sp>
        <p:nvSpPr>
          <p:cNvPr id="590" name="Rectangle 589">
            <a:extLst>
              <a:ext uri="{FF2B5EF4-FFF2-40B4-BE49-F238E27FC236}">
                <a16:creationId xmlns:a16="http://schemas.microsoft.com/office/drawing/2014/main" id="{C79B2415-C853-4C02-B729-8CC6B39437E8}"/>
              </a:ext>
            </a:extLst>
          </p:cNvPr>
          <p:cNvSpPr>
            <a:spLocks noGrp="1"/>
          </p:cNvSpPr>
          <p:nvPr/>
        </p:nvSpPr>
        <p:spPr>
          <a:xfrm>
            <a:off x="9096375" y="1409700"/>
            <a:ext cx="190500" cy="190500"/>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91" name="C3  ≥ 3.75">
            <a:extLst>
              <a:ext uri="{FF2B5EF4-FFF2-40B4-BE49-F238E27FC236}">
                <a16:creationId xmlns:a16="http://schemas.microsoft.com/office/drawing/2014/main" id="{3CD76AEB-2410-4AD6-BAFC-6877A2939B07}"/>
              </a:ext>
            </a:extLst>
          </p:cNvPr>
          <p:cNvSpPr>
            <a:spLocks noGrp="1"/>
          </p:cNvSpPr>
          <p:nvPr/>
        </p:nvSpPr>
        <p:spPr>
          <a:xfrm>
            <a:off x="93726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C3  ≥ 3.75</a:t>
            </a:r>
          </a:p>
        </p:txBody>
      </p:sp>
      <p:cxnSp>
        <p:nvCxnSpPr>
          <p:cNvPr id="2" name="Straight Arrow Connector 1">
            <a:extLst>
              <a:ext uri="{FF2B5EF4-FFF2-40B4-BE49-F238E27FC236}">
                <a16:creationId xmlns:a16="http://schemas.microsoft.com/office/drawing/2014/main" id="{5F3B55B8-BCD2-EAF0-C419-872CD991936C}"/>
              </a:ext>
            </a:extLst>
          </p:cNvPr>
          <p:cNvCxnSpPr>
            <a:cxnSpLocks/>
          </p:cNvCxnSpPr>
          <p:nvPr/>
        </p:nvCxnSpPr>
        <p:spPr>
          <a:xfrm>
            <a:off x="204107" y="5763986"/>
            <a:ext cx="1057819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 name="Straight Arrow Connector 2">
            <a:extLst>
              <a:ext uri="{FF2B5EF4-FFF2-40B4-BE49-F238E27FC236}">
                <a16:creationId xmlns:a16="http://schemas.microsoft.com/office/drawing/2014/main" id="{E4F9009D-57AB-34D0-60DC-8AD95FBB6DBD}"/>
              </a:ext>
            </a:extLst>
          </p:cNvPr>
          <p:cNvCxnSpPr>
            <a:cxnSpLocks/>
          </p:cNvCxnSpPr>
          <p:nvPr/>
        </p:nvCxnSpPr>
        <p:spPr>
          <a:xfrm flipV="1">
            <a:off x="356507" y="971550"/>
            <a:ext cx="0" cy="49448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640AE33F-FD45-5104-DF03-8C70B72F6A1E}"/>
              </a:ext>
            </a:extLst>
          </p:cNvPr>
          <p:cNvSpPr txBox="1"/>
          <p:nvPr/>
        </p:nvSpPr>
        <p:spPr>
          <a:xfrm>
            <a:off x="5532723" y="5787509"/>
            <a:ext cx="821572" cy="369332"/>
          </a:xfrm>
          <a:prstGeom prst="rect">
            <a:avLst/>
          </a:prstGeom>
          <a:noFill/>
        </p:spPr>
        <p:txBody>
          <a:bodyPr wrap="none" rtlCol="0">
            <a:spAutoFit/>
          </a:bodyPr>
          <a:lstStyle/>
          <a:p>
            <a:r>
              <a:rPr lang="en-US" dirty="0">
                <a:latin typeface="OpenAI Sans" panose="020B0604020202020204" charset="0"/>
                <a:ea typeface="OpenAI Sans" panose="020B0604020202020204" charset="0"/>
              </a:rPr>
              <a:t>CGPA</a:t>
            </a:r>
          </a:p>
        </p:txBody>
      </p:sp>
      <p:sp>
        <p:nvSpPr>
          <p:cNvPr id="5" name="TextBox 4">
            <a:extLst>
              <a:ext uri="{FF2B5EF4-FFF2-40B4-BE49-F238E27FC236}">
                <a16:creationId xmlns:a16="http://schemas.microsoft.com/office/drawing/2014/main" id="{7750D1E8-53CB-7753-59BD-F5B3E8B74B9D}"/>
              </a:ext>
            </a:extLst>
          </p:cNvPr>
          <p:cNvSpPr txBox="1"/>
          <p:nvPr/>
        </p:nvSpPr>
        <p:spPr>
          <a:xfrm rot="16200000">
            <a:off x="-1057558" y="2715997"/>
            <a:ext cx="2545890" cy="369332"/>
          </a:xfrm>
          <a:prstGeom prst="rect">
            <a:avLst/>
          </a:prstGeom>
          <a:noFill/>
        </p:spPr>
        <p:txBody>
          <a:bodyPr wrap="none" rtlCol="0">
            <a:spAutoFit/>
          </a:bodyPr>
          <a:lstStyle/>
          <a:p>
            <a:r>
              <a:rPr lang="en-US" dirty="0">
                <a:latin typeface="OpenAI Sans" panose="020B0604020202020204" charset="0"/>
                <a:ea typeface="OpenAI Sans" panose="020B0604020202020204" charset="0"/>
              </a:rPr>
              <a:t>Outside commitments</a:t>
            </a:r>
          </a:p>
        </p:txBody>
      </p:sp>
    </p:spTree>
    <p:extLst>
      <p:ext uri="{BB962C8B-B14F-4D97-AF65-F5344CB8AC3E}">
        <p14:creationId xmlns:p14="http://schemas.microsoft.com/office/powerpoint/2010/main" val="106123058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lang="en-US" dirty="0">
                <a:latin typeface="OpenAI Sans" panose="020B0604020202020204" charset="0"/>
                <a:ea typeface="OpenAI Sans" panose="020B0604020202020204" charset="0"/>
                <a:cs typeface="Times New Roman"/>
              </a:rPr>
              <a:t>33</a:t>
            </a:r>
            <a:endParaRPr sz="1000" dirty="0">
              <a:latin typeface="OpenAI Sans" panose="020B0604020202020204" charset="0"/>
              <a:ea typeface="OpenAI Sans" panose="020B0604020202020204" charset="0"/>
              <a:cs typeface="Times New Roman"/>
            </a:endParaRP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b="1">
                <a:latin typeface="OpenAI Sans" panose="020B0604020202020204" charset="0"/>
                <a:ea typeface="OpenAI Sans" panose="020B0604020202020204" charset="0"/>
                <a:cs typeface="Times New Roman"/>
              </a:rPr>
              <a:t>Desired department and CGPA</a:t>
            </a:r>
          </a:p>
        </p:txBody>
      </p:sp>
      <p:sp>
        <p:nvSpPr>
          <p:cNvPr id="534" name="Not at all what I wanted">
            <a:extLst>
              <a:ext uri="{FF2B5EF4-FFF2-40B4-BE49-F238E27FC236}">
                <a16:creationId xmlns:a16="http://schemas.microsoft.com/office/drawing/2014/main" id="{1F50F564-D3C8-487B-8BB3-4E920B47E3D5}"/>
              </a:ext>
            </a:extLst>
          </p:cNvPr>
          <p:cNvSpPr>
            <a:spLocks noGrp="1"/>
          </p:cNvSpPr>
          <p:nvPr/>
        </p:nvSpPr>
        <p:spPr>
          <a:xfrm>
            <a:off x="400050" y="19431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Not at all what I wanted</a:t>
            </a:r>
          </a:p>
        </p:txBody>
      </p:sp>
      <p:sp>
        <p:nvSpPr>
          <p:cNvPr id="535" name="Rectangle 534">
            <a:extLst>
              <a:ext uri="{FF2B5EF4-FFF2-40B4-BE49-F238E27FC236}">
                <a16:creationId xmlns:a16="http://schemas.microsoft.com/office/drawing/2014/main" id="{BD4ABE00-6890-4E70-8F34-3D49F74821F8}"/>
              </a:ext>
            </a:extLst>
          </p:cNvPr>
          <p:cNvSpPr>
            <a:spLocks noGrp="1"/>
          </p:cNvSpPr>
          <p:nvPr/>
        </p:nvSpPr>
        <p:spPr>
          <a:xfrm>
            <a:off x="3667125" y="1905000"/>
            <a:ext cx="1807845"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36" name="28%">
            <a:extLst>
              <a:ext uri="{FF2B5EF4-FFF2-40B4-BE49-F238E27FC236}">
                <a16:creationId xmlns:a16="http://schemas.microsoft.com/office/drawing/2014/main" id="{E43DC5BF-F574-4B95-A051-20D00EA286C9}"/>
              </a:ext>
            </a:extLst>
          </p:cNvPr>
          <p:cNvSpPr>
            <a:spLocks noGrp="1"/>
          </p:cNvSpPr>
          <p:nvPr/>
        </p:nvSpPr>
        <p:spPr>
          <a:xfrm>
            <a:off x="3705225" y="2009775"/>
            <a:ext cx="175069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26%</a:t>
            </a:r>
          </a:p>
        </p:txBody>
      </p:sp>
      <p:sp>
        <p:nvSpPr>
          <p:cNvPr id="537" name="Rectangle 536">
            <a:extLst>
              <a:ext uri="{FF2B5EF4-FFF2-40B4-BE49-F238E27FC236}">
                <a16:creationId xmlns:a16="http://schemas.microsoft.com/office/drawing/2014/main" id="{4F40EB25-E1CC-4372-BBB8-3F885198EFD8}"/>
              </a:ext>
            </a:extLst>
          </p:cNvPr>
          <p:cNvSpPr>
            <a:spLocks noGrp="1"/>
          </p:cNvSpPr>
          <p:nvPr/>
        </p:nvSpPr>
        <p:spPr>
          <a:xfrm>
            <a:off x="5474970" y="1905000"/>
            <a:ext cx="2294572"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38" name="31%">
            <a:extLst>
              <a:ext uri="{FF2B5EF4-FFF2-40B4-BE49-F238E27FC236}">
                <a16:creationId xmlns:a16="http://schemas.microsoft.com/office/drawing/2014/main" id="{EA51A354-775C-45BC-A9B6-A5811B086CF8}"/>
              </a:ext>
            </a:extLst>
          </p:cNvPr>
          <p:cNvSpPr>
            <a:spLocks noGrp="1"/>
          </p:cNvSpPr>
          <p:nvPr/>
        </p:nvSpPr>
        <p:spPr>
          <a:xfrm>
            <a:off x="5513070" y="2009775"/>
            <a:ext cx="223742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33%</a:t>
            </a:r>
          </a:p>
        </p:txBody>
      </p:sp>
      <p:sp>
        <p:nvSpPr>
          <p:cNvPr id="539" name="Rectangle 538">
            <a:extLst>
              <a:ext uri="{FF2B5EF4-FFF2-40B4-BE49-F238E27FC236}">
                <a16:creationId xmlns:a16="http://schemas.microsoft.com/office/drawing/2014/main" id="{C9F2B437-F675-4C03-B3D1-E1E4B0EA7D19}"/>
              </a:ext>
            </a:extLst>
          </p:cNvPr>
          <p:cNvSpPr>
            <a:spLocks noGrp="1"/>
          </p:cNvSpPr>
          <p:nvPr/>
        </p:nvSpPr>
        <p:spPr>
          <a:xfrm>
            <a:off x="7769542" y="1905000"/>
            <a:ext cx="1807845"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40" name="23%">
            <a:extLst>
              <a:ext uri="{FF2B5EF4-FFF2-40B4-BE49-F238E27FC236}">
                <a16:creationId xmlns:a16="http://schemas.microsoft.com/office/drawing/2014/main" id="{59D0EC28-B218-45F9-84B9-5194CCB6B21F}"/>
              </a:ext>
            </a:extLst>
          </p:cNvPr>
          <p:cNvSpPr>
            <a:spLocks noGrp="1"/>
          </p:cNvSpPr>
          <p:nvPr/>
        </p:nvSpPr>
        <p:spPr>
          <a:xfrm>
            <a:off x="7807642" y="2009775"/>
            <a:ext cx="175069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26%</a:t>
            </a:r>
          </a:p>
        </p:txBody>
      </p:sp>
      <p:sp>
        <p:nvSpPr>
          <p:cNvPr id="541" name="Rectangle 540">
            <a:extLst>
              <a:ext uri="{FF2B5EF4-FFF2-40B4-BE49-F238E27FC236}">
                <a16:creationId xmlns:a16="http://schemas.microsoft.com/office/drawing/2014/main" id="{6463D124-ABD5-49AA-B43B-DFEFE8C07156}"/>
              </a:ext>
            </a:extLst>
          </p:cNvPr>
          <p:cNvSpPr>
            <a:spLocks noGrp="1"/>
          </p:cNvSpPr>
          <p:nvPr/>
        </p:nvSpPr>
        <p:spPr>
          <a:xfrm>
            <a:off x="9577387" y="1905000"/>
            <a:ext cx="1042988"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42" name="18%">
            <a:extLst>
              <a:ext uri="{FF2B5EF4-FFF2-40B4-BE49-F238E27FC236}">
                <a16:creationId xmlns:a16="http://schemas.microsoft.com/office/drawing/2014/main" id="{E25F6198-B4D4-4E87-9251-6B065D2B2ADE}"/>
              </a:ext>
            </a:extLst>
          </p:cNvPr>
          <p:cNvSpPr>
            <a:spLocks noGrp="1"/>
          </p:cNvSpPr>
          <p:nvPr/>
        </p:nvSpPr>
        <p:spPr>
          <a:xfrm>
            <a:off x="9615487" y="2009775"/>
            <a:ext cx="98583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15%</a:t>
            </a:r>
          </a:p>
        </p:txBody>
      </p:sp>
      <p:sp>
        <p:nvSpPr>
          <p:cNvPr id="543" name="n=144">
            <a:extLst>
              <a:ext uri="{FF2B5EF4-FFF2-40B4-BE49-F238E27FC236}">
                <a16:creationId xmlns:a16="http://schemas.microsoft.com/office/drawing/2014/main" id="{9424D5B4-F87D-4680-9615-6A7A095AF7F8}"/>
              </a:ext>
            </a:extLst>
          </p:cNvPr>
          <p:cNvSpPr>
            <a:spLocks noGrp="1"/>
          </p:cNvSpPr>
          <p:nvPr/>
        </p:nvSpPr>
        <p:spPr>
          <a:xfrm>
            <a:off x="10782300" y="20002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n=110</a:t>
            </a:r>
          </a:p>
        </p:txBody>
      </p:sp>
      <p:sp>
        <p:nvSpPr>
          <p:cNvPr id="544" name="Mostly different">
            <a:extLst>
              <a:ext uri="{FF2B5EF4-FFF2-40B4-BE49-F238E27FC236}">
                <a16:creationId xmlns:a16="http://schemas.microsoft.com/office/drawing/2014/main" id="{3718D5B7-61FC-402A-ACC8-10E365A90DE2}"/>
              </a:ext>
            </a:extLst>
          </p:cNvPr>
          <p:cNvSpPr>
            <a:spLocks noGrp="1"/>
          </p:cNvSpPr>
          <p:nvPr/>
        </p:nvSpPr>
        <p:spPr>
          <a:xfrm>
            <a:off x="400050" y="26670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Mostly different</a:t>
            </a:r>
          </a:p>
        </p:txBody>
      </p:sp>
      <p:sp>
        <p:nvSpPr>
          <p:cNvPr id="545" name="Rectangle 544">
            <a:extLst>
              <a:ext uri="{FF2B5EF4-FFF2-40B4-BE49-F238E27FC236}">
                <a16:creationId xmlns:a16="http://schemas.microsoft.com/office/drawing/2014/main" id="{090FCFFA-3990-4B07-BB4E-464D59B0C868}"/>
              </a:ext>
            </a:extLst>
          </p:cNvPr>
          <p:cNvSpPr>
            <a:spLocks noGrp="1"/>
          </p:cNvSpPr>
          <p:nvPr/>
        </p:nvSpPr>
        <p:spPr>
          <a:xfrm>
            <a:off x="3667125" y="2628900"/>
            <a:ext cx="2340698"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46" name="33%">
            <a:extLst>
              <a:ext uri="{FF2B5EF4-FFF2-40B4-BE49-F238E27FC236}">
                <a16:creationId xmlns:a16="http://schemas.microsoft.com/office/drawing/2014/main" id="{5D7C3CF4-AFD9-474D-BFA0-018CD1C85BAD}"/>
              </a:ext>
            </a:extLst>
          </p:cNvPr>
          <p:cNvSpPr>
            <a:spLocks noGrp="1"/>
          </p:cNvSpPr>
          <p:nvPr/>
        </p:nvSpPr>
        <p:spPr>
          <a:xfrm>
            <a:off x="3705225" y="2733675"/>
            <a:ext cx="228354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34%</a:t>
            </a:r>
          </a:p>
        </p:txBody>
      </p:sp>
      <p:sp>
        <p:nvSpPr>
          <p:cNvPr id="547" name="Rectangle 546">
            <a:extLst>
              <a:ext uri="{FF2B5EF4-FFF2-40B4-BE49-F238E27FC236}">
                <a16:creationId xmlns:a16="http://schemas.microsoft.com/office/drawing/2014/main" id="{3108A24A-99A4-4300-A6B6-016DD7A03F60}"/>
              </a:ext>
            </a:extLst>
          </p:cNvPr>
          <p:cNvSpPr>
            <a:spLocks noGrp="1"/>
          </p:cNvSpPr>
          <p:nvPr/>
        </p:nvSpPr>
        <p:spPr>
          <a:xfrm>
            <a:off x="6007823" y="2628900"/>
            <a:ext cx="1583413"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48" name="24%">
            <a:extLst>
              <a:ext uri="{FF2B5EF4-FFF2-40B4-BE49-F238E27FC236}">
                <a16:creationId xmlns:a16="http://schemas.microsoft.com/office/drawing/2014/main" id="{D880C110-517B-45A1-AD0C-3307361774F3}"/>
              </a:ext>
            </a:extLst>
          </p:cNvPr>
          <p:cNvSpPr>
            <a:spLocks noGrp="1"/>
          </p:cNvSpPr>
          <p:nvPr/>
        </p:nvSpPr>
        <p:spPr>
          <a:xfrm>
            <a:off x="6045923" y="2733675"/>
            <a:ext cx="1526263"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23%</a:t>
            </a:r>
          </a:p>
        </p:txBody>
      </p:sp>
      <p:sp>
        <p:nvSpPr>
          <p:cNvPr id="549" name="Rectangle 548">
            <a:extLst>
              <a:ext uri="{FF2B5EF4-FFF2-40B4-BE49-F238E27FC236}">
                <a16:creationId xmlns:a16="http://schemas.microsoft.com/office/drawing/2014/main" id="{854E0E9B-2775-447D-B7DF-E9E6E0E91CEC}"/>
              </a:ext>
            </a:extLst>
          </p:cNvPr>
          <p:cNvSpPr>
            <a:spLocks noGrp="1"/>
          </p:cNvSpPr>
          <p:nvPr/>
        </p:nvSpPr>
        <p:spPr>
          <a:xfrm>
            <a:off x="7591236" y="2628900"/>
            <a:ext cx="1652257"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50" name="22%">
            <a:extLst>
              <a:ext uri="{FF2B5EF4-FFF2-40B4-BE49-F238E27FC236}">
                <a16:creationId xmlns:a16="http://schemas.microsoft.com/office/drawing/2014/main" id="{CC078C4D-5E42-44CD-BA09-B8A70C2556DD}"/>
              </a:ext>
            </a:extLst>
          </p:cNvPr>
          <p:cNvSpPr>
            <a:spLocks noGrp="1"/>
          </p:cNvSpPr>
          <p:nvPr/>
        </p:nvSpPr>
        <p:spPr>
          <a:xfrm>
            <a:off x="7629336" y="2733675"/>
            <a:ext cx="1595107"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24%</a:t>
            </a:r>
          </a:p>
        </p:txBody>
      </p:sp>
      <p:sp>
        <p:nvSpPr>
          <p:cNvPr id="551" name="Rectangle 550">
            <a:extLst>
              <a:ext uri="{FF2B5EF4-FFF2-40B4-BE49-F238E27FC236}">
                <a16:creationId xmlns:a16="http://schemas.microsoft.com/office/drawing/2014/main" id="{02C69F7F-8BB2-41CB-A167-4388D3114C5A}"/>
              </a:ext>
            </a:extLst>
          </p:cNvPr>
          <p:cNvSpPr>
            <a:spLocks noGrp="1"/>
          </p:cNvSpPr>
          <p:nvPr/>
        </p:nvSpPr>
        <p:spPr>
          <a:xfrm>
            <a:off x="9243493" y="2628900"/>
            <a:ext cx="1376882"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52" name="20%">
            <a:extLst>
              <a:ext uri="{FF2B5EF4-FFF2-40B4-BE49-F238E27FC236}">
                <a16:creationId xmlns:a16="http://schemas.microsoft.com/office/drawing/2014/main" id="{8CDD0D83-2FE2-474D-B9B1-939FA8935755}"/>
              </a:ext>
            </a:extLst>
          </p:cNvPr>
          <p:cNvSpPr>
            <a:spLocks noGrp="1"/>
          </p:cNvSpPr>
          <p:nvPr/>
        </p:nvSpPr>
        <p:spPr>
          <a:xfrm>
            <a:off x="9281593" y="2733675"/>
            <a:ext cx="131973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20%</a:t>
            </a:r>
          </a:p>
        </p:txBody>
      </p:sp>
      <p:sp>
        <p:nvSpPr>
          <p:cNvPr id="553" name="n=138">
            <a:extLst>
              <a:ext uri="{FF2B5EF4-FFF2-40B4-BE49-F238E27FC236}">
                <a16:creationId xmlns:a16="http://schemas.microsoft.com/office/drawing/2014/main" id="{22CE227A-168E-4680-B739-65E4305AF22B}"/>
              </a:ext>
            </a:extLst>
          </p:cNvPr>
          <p:cNvSpPr>
            <a:spLocks noGrp="1"/>
          </p:cNvSpPr>
          <p:nvPr/>
        </p:nvSpPr>
        <p:spPr>
          <a:xfrm>
            <a:off x="10782300" y="27241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n=101</a:t>
            </a:r>
          </a:p>
        </p:txBody>
      </p:sp>
      <p:sp>
        <p:nvSpPr>
          <p:cNvPr id="554" name="Somewhat different">
            <a:extLst>
              <a:ext uri="{FF2B5EF4-FFF2-40B4-BE49-F238E27FC236}">
                <a16:creationId xmlns:a16="http://schemas.microsoft.com/office/drawing/2014/main" id="{6F2E9840-8612-4BBB-8603-0F449190DC6D}"/>
              </a:ext>
            </a:extLst>
          </p:cNvPr>
          <p:cNvSpPr>
            <a:spLocks noGrp="1"/>
          </p:cNvSpPr>
          <p:nvPr/>
        </p:nvSpPr>
        <p:spPr>
          <a:xfrm>
            <a:off x="400050" y="33909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Somewhat different</a:t>
            </a:r>
          </a:p>
        </p:txBody>
      </p:sp>
      <p:sp>
        <p:nvSpPr>
          <p:cNvPr id="555" name="Rectangle 554">
            <a:extLst>
              <a:ext uri="{FF2B5EF4-FFF2-40B4-BE49-F238E27FC236}">
                <a16:creationId xmlns:a16="http://schemas.microsoft.com/office/drawing/2014/main" id="{6D44FDAB-8872-4653-B23C-DE07D928707C}"/>
              </a:ext>
            </a:extLst>
          </p:cNvPr>
          <p:cNvSpPr>
            <a:spLocks noGrp="1"/>
          </p:cNvSpPr>
          <p:nvPr/>
        </p:nvSpPr>
        <p:spPr>
          <a:xfrm>
            <a:off x="3667125" y="3352800"/>
            <a:ext cx="1474932"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56" name="21%">
            <a:extLst>
              <a:ext uri="{FF2B5EF4-FFF2-40B4-BE49-F238E27FC236}">
                <a16:creationId xmlns:a16="http://schemas.microsoft.com/office/drawing/2014/main" id="{C02C37CC-A4F3-4DBC-B5BE-486A4A768B25}"/>
              </a:ext>
            </a:extLst>
          </p:cNvPr>
          <p:cNvSpPr>
            <a:spLocks noGrp="1"/>
          </p:cNvSpPr>
          <p:nvPr/>
        </p:nvSpPr>
        <p:spPr>
          <a:xfrm>
            <a:off x="3705225" y="3457575"/>
            <a:ext cx="141778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21%</a:t>
            </a:r>
          </a:p>
        </p:txBody>
      </p:sp>
      <p:sp>
        <p:nvSpPr>
          <p:cNvPr id="557" name="Rectangle 556">
            <a:extLst>
              <a:ext uri="{FF2B5EF4-FFF2-40B4-BE49-F238E27FC236}">
                <a16:creationId xmlns:a16="http://schemas.microsoft.com/office/drawing/2014/main" id="{97B6D807-9F22-47BD-944B-EBA0B0DA76A7}"/>
              </a:ext>
            </a:extLst>
          </p:cNvPr>
          <p:cNvSpPr>
            <a:spLocks noGrp="1"/>
          </p:cNvSpPr>
          <p:nvPr/>
        </p:nvSpPr>
        <p:spPr>
          <a:xfrm>
            <a:off x="5142057" y="3352800"/>
            <a:ext cx="2668924"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58" name="33%">
            <a:extLst>
              <a:ext uri="{FF2B5EF4-FFF2-40B4-BE49-F238E27FC236}">
                <a16:creationId xmlns:a16="http://schemas.microsoft.com/office/drawing/2014/main" id="{60A36C94-3EFE-43EE-AB10-D15C2B0F04C7}"/>
              </a:ext>
            </a:extLst>
          </p:cNvPr>
          <p:cNvSpPr>
            <a:spLocks noGrp="1"/>
          </p:cNvSpPr>
          <p:nvPr/>
        </p:nvSpPr>
        <p:spPr>
          <a:xfrm>
            <a:off x="5180157" y="3457575"/>
            <a:ext cx="2611774"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38%</a:t>
            </a:r>
          </a:p>
        </p:txBody>
      </p:sp>
      <p:sp>
        <p:nvSpPr>
          <p:cNvPr id="559" name="Rectangle 558">
            <a:extLst>
              <a:ext uri="{FF2B5EF4-FFF2-40B4-BE49-F238E27FC236}">
                <a16:creationId xmlns:a16="http://schemas.microsoft.com/office/drawing/2014/main" id="{54674443-474D-451D-A9B9-0E634EBC8924}"/>
              </a:ext>
            </a:extLst>
          </p:cNvPr>
          <p:cNvSpPr>
            <a:spLocks noGrp="1"/>
          </p:cNvSpPr>
          <p:nvPr/>
        </p:nvSpPr>
        <p:spPr>
          <a:xfrm>
            <a:off x="7810981" y="3352800"/>
            <a:ext cx="1826106"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60" name="28%">
            <a:extLst>
              <a:ext uri="{FF2B5EF4-FFF2-40B4-BE49-F238E27FC236}">
                <a16:creationId xmlns:a16="http://schemas.microsoft.com/office/drawing/2014/main" id="{D9FE81B1-1AEA-496A-A63A-08409DE89CE0}"/>
              </a:ext>
            </a:extLst>
          </p:cNvPr>
          <p:cNvSpPr>
            <a:spLocks noGrp="1"/>
          </p:cNvSpPr>
          <p:nvPr/>
        </p:nvSpPr>
        <p:spPr>
          <a:xfrm>
            <a:off x="7849081" y="3457575"/>
            <a:ext cx="1768956"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26%</a:t>
            </a:r>
          </a:p>
        </p:txBody>
      </p:sp>
      <p:sp>
        <p:nvSpPr>
          <p:cNvPr id="561" name="Rectangle 560">
            <a:extLst>
              <a:ext uri="{FF2B5EF4-FFF2-40B4-BE49-F238E27FC236}">
                <a16:creationId xmlns:a16="http://schemas.microsoft.com/office/drawing/2014/main" id="{8D7EEA3C-1AE0-4923-A697-02EEDA3A6B42}"/>
              </a:ext>
            </a:extLst>
          </p:cNvPr>
          <p:cNvSpPr>
            <a:spLocks noGrp="1"/>
          </p:cNvSpPr>
          <p:nvPr/>
        </p:nvSpPr>
        <p:spPr>
          <a:xfrm>
            <a:off x="9637087" y="3352800"/>
            <a:ext cx="983288"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62" name="18%">
            <a:extLst>
              <a:ext uri="{FF2B5EF4-FFF2-40B4-BE49-F238E27FC236}">
                <a16:creationId xmlns:a16="http://schemas.microsoft.com/office/drawing/2014/main" id="{AB1F7F42-B041-4CA6-AADD-46728146297D}"/>
              </a:ext>
            </a:extLst>
          </p:cNvPr>
          <p:cNvSpPr>
            <a:spLocks noGrp="1"/>
          </p:cNvSpPr>
          <p:nvPr/>
        </p:nvSpPr>
        <p:spPr>
          <a:xfrm>
            <a:off x="9675187" y="3457575"/>
            <a:ext cx="92613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14%</a:t>
            </a:r>
          </a:p>
        </p:txBody>
      </p:sp>
      <p:sp>
        <p:nvSpPr>
          <p:cNvPr id="563" name="n=174">
            <a:extLst>
              <a:ext uri="{FF2B5EF4-FFF2-40B4-BE49-F238E27FC236}">
                <a16:creationId xmlns:a16="http://schemas.microsoft.com/office/drawing/2014/main" id="{236D3C60-1ED1-46B0-969A-49CD864D49F5}"/>
              </a:ext>
            </a:extLst>
          </p:cNvPr>
          <p:cNvSpPr>
            <a:spLocks noGrp="1"/>
          </p:cNvSpPr>
          <p:nvPr/>
        </p:nvSpPr>
        <p:spPr>
          <a:xfrm>
            <a:off x="10782300" y="34480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n=138</a:t>
            </a:r>
          </a:p>
        </p:txBody>
      </p:sp>
      <p:sp>
        <p:nvSpPr>
          <p:cNvPr id="564" name="Close to what I wanted">
            <a:extLst>
              <a:ext uri="{FF2B5EF4-FFF2-40B4-BE49-F238E27FC236}">
                <a16:creationId xmlns:a16="http://schemas.microsoft.com/office/drawing/2014/main" id="{821F7993-5330-467B-B031-AB6F7ABDD6DE}"/>
              </a:ext>
            </a:extLst>
          </p:cNvPr>
          <p:cNvSpPr>
            <a:spLocks noGrp="1"/>
          </p:cNvSpPr>
          <p:nvPr/>
        </p:nvSpPr>
        <p:spPr>
          <a:xfrm>
            <a:off x="400050" y="41148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Close to what I wanted</a:t>
            </a:r>
          </a:p>
        </p:txBody>
      </p:sp>
      <p:sp>
        <p:nvSpPr>
          <p:cNvPr id="565" name="Rectangle 564">
            <a:extLst>
              <a:ext uri="{FF2B5EF4-FFF2-40B4-BE49-F238E27FC236}">
                <a16:creationId xmlns:a16="http://schemas.microsoft.com/office/drawing/2014/main" id="{68C45CA7-9530-4B34-968D-C6F0F94D1C0B}"/>
              </a:ext>
            </a:extLst>
          </p:cNvPr>
          <p:cNvSpPr>
            <a:spLocks noGrp="1"/>
          </p:cNvSpPr>
          <p:nvPr/>
        </p:nvSpPr>
        <p:spPr>
          <a:xfrm>
            <a:off x="3667125" y="4076700"/>
            <a:ext cx="1239193"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66" name="18%">
            <a:extLst>
              <a:ext uri="{FF2B5EF4-FFF2-40B4-BE49-F238E27FC236}">
                <a16:creationId xmlns:a16="http://schemas.microsoft.com/office/drawing/2014/main" id="{DE166358-509D-46FF-A1CE-E0E27D118E8A}"/>
              </a:ext>
            </a:extLst>
          </p:cNvPr>
          <p:cNvSpPr>
            <a:spLocks noGrp="1"/>
          </p:cNvSpPr>
          <p:nvPr/>
        </p:nvSpPr>
        <p:spPr>
          <a:xfrm>
            <a:off x="3705225" y="4181475"/>
            <a:ext cx="1182043"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18%</a:t>
            </a:r>
          </a:p>
        </p:txBody>
      </p:sp>
      <p:sp>
        <p:nvSpPr>
          <p:cNvPr id="567" name="Rectangle 566">
            <a:extLst>
              <a:ext uri="{FF2B5EF4-FFF2-40B4-BE49-F238E27FC236}">
                <a16:creationId xmlns:a16="http://schemas.microsoft.com/office/drawing/2014/main" id="{A2E1F0AE-B349-452B-99E8-CF750ED06C6F}"/>
              </a:ext>
            </a:extLst>
          </p:cNvPr>
          <p:cNvSpPr>
            <a:spLocks noGrp="1"/>
          </p:cNvSpPr>
          <p:nvPr/>
        </p:nvSpPr>
        <p:spPr>
          <a:xfrm>
            <a:off x="4906318" y="4076700"/>
            <a:ext cx="1996478"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68" name="28%">
            <a:extLst>
              <a:ext uri="{FF2B5EF4-FFF2-40B4-BE49-F238E27FC236}">
                <a16:creationId xmlns:a16="http://schemas.microsoft.com/office/drawing/2014/main" id="{A7CFBDB7-75D5-4280-B7EB-E1955458A8FE}"/>
              </a:ext>
            </a:extLst>
          </p:cNvPr>
          <p:cNvSpPr>
            <a:spLocks noGrp="1"/>
          </p:cNvSpPr>
          <p:nvPr/>
        </p:nvSpPr>
        <p:spPr>
          <a:xfrm>
            <a:off x="4944418" y="4181475"/>
            <a:ext cx="193932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29%</a:t>
            </a:r>
          </a:p>
        </p:txBody>
      </p:sp>
      <p:sp>
        <p:nvSpPr>
          <p:cNvPr id="569" name="Rectangle 568">
            <a:extLst>
              <a:ext uri="{FF2B5EF4-FFF2-40B4-BE49-F238E27FC236}">
                <a16:creationId xmlns:a16="http://schemas.microsoft.com/office/drawing/2014/main" id="{5EC45747-03BB-4773-9A51-89C7748AAF35}"/>
              </a:ext>
            </a:extLst>
          </p:cNvPr>
          <p:cNvSpPr>
            <a:spLocks noGrp="1"/>
          </p:cNvSpPr>
          <p:nvPr/>
        </p:nvSpPr>
        <p:spPr>
          <a:xfrm>
            <a:off x="6902796" y="4076700"/>
            <a:ext cx="1996478"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70" name="27%">
            <a:extLst>
              <a:ext uri="{FF2B5EF4-FFF2-40B4-BE49-F238E27FC236}">
                <a16:creationId xmlns:a16="http://schemas.microsoft.com/office/drawing/2014/main" id="{0753EC11-5217-4B35-8B9A-D7881BFEAEAF}"/>
              </a:ext>
            </a:extLst>
          </p:cNvPr>
          <p:cNvSpPr>
            <a:spLocks noGrp="1"/>
          </p:cNvSpPr>
          <p:nvPr/>
        </p:nvSpPr>
        <p:spPr>
          <a:xfrm>
            <a:off x="6940896" y="4181475"/>
            <a:ext cx="193932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29%</a:t>
            </a:r>
          </a:p>
        </p:txBody>
      </p:sp>
      <p:sp>
        <p:nvSpPr>
          <p:cNvPr id="571" name="Rectangle 570">
            <a:extLst>
              <a:ext uri="{FF2B5EF4-FFF2-40B4-BE49-F238E27FC236}">
                <a16:creationId xmlns:a16="http://schemas.microsoft.com/office/drawing/2014/main" id="{17B67E4D-2F33-492B-8C3C-ABB42C8184FC}"/>
              </a:ext>
            </a:extLst>
          </p:cNvPr>
          <p:cNvSpPr>
            <a:spLocks noGrp="1"/>
          </p:cNvSpPr>
          <p:nvPr/>
        </p:nvSpPr>
        <p:spPr>
          <a:xfrm>
            <a:off x="8899274" y="4076700"/>
            <a:ext cx="1721101"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72" name="27%">
            <a:extLst>
              <a:ext uri="{FF2B5EF4-FFF2-40B4-BE49-F238E27FC236}">
                <a16:creationId xmlns:a16="http://schemas.microsoft.com/office/drawing/2014/main" id="{6E315094-8541-49BD-A729-EBDAFE8D16E3}"/>
              </a:ext>
            </a:extLst>
          </p:cNvPr>
          <p:cNvSpPr>
            <a:spLocks noGrp="1"/>
          </p:cNvSpPr>
          <p:nvPr/>
        </p:nvSpPr>
        <p:spPr>
          <a:xfrm>
            <a:off x="8937374" y="4181475"/>
            <a:ext cx="1663951"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25%</a:t>
            </a:r>
          </a:p>
        </p:txBody>
      </p:sp>
      <p:sp>
        <p:nvSpPr>
          <p:cNvPr id="573" name="n=244">
            <a:extLst>
              <a:ext uri="{FF2B5EF4-FFF2-40B4-BE49-F238E27FC236}">
                <a16:creationId xmlns:a16="http://schemas.microsoft.com/office/drawing/2014/main" id="{C2A30120-DD03-4CE5-B517-DECE4EA41912}"/>
              </a:ext>
            </a:extLst>
          </p:cNvPr>
          <p:cNvSpPr>
            <a:spLocks noGrp="1"/>
          </p:cNvSpPr>
          <p:nvPr/>
        </p:nvSpPr>
        <p:spPr>
          <a:xfrm>
            <a:off x="10782300" y="41719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n=212</a:t>
            </a:r>
          </a:p>
        </p:txBody>
      </p:sp>
      <p:sp>
        <p:nvSpPr>
          <p:cNvPr id="574" name="Yes, exactly what I wanted">
            <a:extLst>
              <a:ext uri="{FF2B5EF4-FFF2-40B4-BE49-F238E27FC236}">
                <a16:creationId xmlns:a16="http://schemas.microsoft.com/office/drawing/2014/main" id="{D36F2B64-533C-4B56-919E-987E797D978F}"/>
              </a:ext>
            </a:extLst>
          </p:cNvPr>
          <p:cNvSpPr>
            <a:spLocks noGrp="1"/>
          </p:cNvSpPr>
          <p:nvPr/>
        </p:nvSpPr>
        <p:spPr>
          <a:xfrm>
            <a:off x="400050" y="48387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Yes, exactly what I wanted</a:t>
            </a:r>
          </a:p>
        </p:txBody>
      </p:sp>
      <p:sp>
        <p:nvSpPr>
          <p:cNvPr id="575" name="Rectangle 574">
            <a:extLst>
              <a:ext uri="{FF2B5EF4-FFF2-40B4-BE49-F238E27FC236}">
                <a16:creationId xmlns:a16="http://schemas.microsoft.com/office/drawing/2014/main" id="{0DD4F495-BBF5-4EB3-95C8-4E5CEE634E81}"/>
              </a:ext>
            </a:extLst>
          </p:cNvPr>
          <p:cNvSpPr>
            <a:spLocks noGrp="1"/>
          </p:cNvSpPr>
          <p:nvPr/>
        </p:nvSpPr>
        <p:spPr>
          <a:xfrm>
            <a:off x="3667125" y="4800600"/>
            <a:ext cx="973455"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76" name="17%">
            <a:extLst>
              <a:ext uri="{FF2B5EF4-FFF2-40B4-BE49-F238E27FC236}">
                <a16:creationId xmlns:a16="http://schemas.microsoft.com/office/drawing/2014/main" id="{B113C637-9D0F-4D24-BC87-E3E755E52245}"/>
              </a:ext>
            </a:extLst>
          </p:cNvPr>
          <p:cNvSpPr>
            <a:spLocks noGrp="1"/>
          </p:cNvSpPr>
          <p:nvPr/>
        </p:nvSpPr>
        <p:spPr>
          <a:xfrm>
            <a:off x="3705225" y="4905375"/>
            <a:ext cx="91630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14%</a:t>
            </a:r>
          </a:p>
        </p:txBody>
      </p:sp>
      <p:sp>
        <p:nvSpPr>
          <p:cNvPr id="577" name="Rectangle 576">
            <a:extLst>
              <a:ext uri="{FF2B5EF4-FFF2-40B4-BE49-F238E27FC236}">
                <a16:creationId xmlns:a16="http://schemas.microsoft.com/office/drawing/2014/main" id="{48A759BE-7919-4A75-B596-F2071B817B42}"/>
              </a:ext>
            </a:extLst>
          </p:cNvPr>
          <p:cNvSpPr>
            <a:spLocks noGrp="1"/>
          </p:cNvSpPr>
          <p:nvPr/>
        </p:nvSpPr>
        <p:spPr>
          <a:xfrm>
            <a:off x="4640580" y="4800600"/>
            <a:ext cx="2155508"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78" name="29%">
            <a:extLst>
              <a:ext uri="{FF2B5EF4-FFF2-40B4-BE49-F238E27FC236}">
                <a16:creationId xmlns:a16="http://schemas.microsoft.com/office/drawing/2014/main" id="{00CB7921-B8E2-4BB7-83F8-E9CBD09FC45F}"/>
              </a:ext>
            </a:extLst>
          </p:cNvPr>
          <p:cNvSpPr>
            <a:spLocks noGrp="1"/>
          </p:cNvSpPr>
          <p:nvPr/>
        </p:nvSpPr>
        <p:spPr>
          <a:xfrm>
            <a:off x="4678680" y="4905375"/>
            <a:ext cx="209835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31%</a:t>
            </a:r>
          </a:p>
        </p:txBody>
      </p:sp>
      <p:sp>
        <p:nvSpPr>
          <p:cNvPr id="579" name="Rectangle 578">
            <a:extLst>
              <a:ext uri="{FF2B5EF4-FFF2-40B4-BE49-F238E27FC236}">
                <a16:creationId xmlns:a16="http://schemas.microsoft.com/office/drawing/2014/main" id="{42C36EFD-BCB5-4FC2-B6D2-2AE10CB771CD}"/>
              </a:ext>
            </a:extLst>
          </p:cNvPr>
          <p:cNvSpPr>
            <a:spLocks noGrp="1"/>
          </p:cNvSpPr>
          <p:nvPr/>
        </p:nvSpPr>
        <p:spPr>
          <a:xfrm>
            <a:off x="6796088" y="4800600"/>
            <a:ext cx="2225040"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80" name="31%">
            <a:extLst>
              <a:ext uri="{FF2B5EF4-FFF2-40B4-BE49-F238E27FC236}">
                <a16:creationId xmlns:a16="http://schemas.microsoft.com/office/drawing/2014/main" id="{E9B0B2BB-405D-44FB-B5FC-CF27F05D31D3}"/>
              </a:ext>
            </a:extLst>
          </p:cNvPr>
          <p:cNvSpPr>
            <a:spLocks noGrp="1"/>
          </p:cNvSpPr>
          <p:nvPr/>
        </p:nvSpPr>
        <p:spPr>
          <a:xfrm>
            <a:off x="6834188" y="4905375"/>
            <a:ext cx="216789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32%</a:t>
            </a:r>
          </a:p>
        </p:txBody>
      </p:sp>
      <p:sp>
        <p:nvSpPr>
          <p:cNvPr id="581" name="Rectangle 580">
            <a:extLst>
              <a:ext uri="{FF2B5EF4-FFF2-40B4-BE49-F238E27FC236}">
                <a16:creationId xmlns:a16="http://schemas.microsoft.com/office/drawing/2014/main" id="{F593C7DA-9BDA-43D4-A69B-623942EE4AD5}"/>
              </a:ext>
            </a:extLst>
          </p:cNvPr>
          <p:cNvSpPr>
            <a:spLocks noGrp="1"/>
          </p:cNvSpPr>
          <p:nvPr/>
        </p:nvSpPr>
        <p:spPr>
          <a:xfrm>
            <a:off x="9021128" y="4800600"/>
            <a:ext cx="1599247"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82" name="24%">
            <a:extLst>
              <a:ext uri="{FF2B5EF4-FFF2-40B4-BE49-F238E27FC236}">
                <a16:creationId xmlns:a16="http://schemas.microsoft.com/office/drawing/2014/main" id="{8FB37369-9759-49A2-AA5C-3EB62A1E58F9}"/>
              </a:ext>
            </a:extLst>
          </p:cNvPr>
          <p:cNvSpPr>
            <a:spLocks noGrp="1"/>
          </p:cNvSpPr>
          <p:nvPr/>
        </p:nvSpPr>
        <p:spPr>
          <a:xfrm>
            <a:off x="9059228" y="4905375"/>
            <a:ext cx="1542097"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23%</a:t>
            </a:r>
          </a:p>
        </p:txBody>
      </p:sp>
      <p:sp>
        <p:nvSpPr>
          <p:cNvPr id="583" name="n=408">
            <a:extLst>
              <a:ext uri="{FF2B5EF4-FFF2-40B4-BE49-F238E27FC236}">
                <a16:creationId xmlns:a16="http://schemas.microsoft.com/office/drawing/2014/main" id="{CB7939D6-C78B-45CF-94CB-4548E85F403F}"/>
              </a:ext>
            </a:extLst>
          </p:cNvPr>
          <p:cNvSpPr>
            <a:spLocks noGrp="1"/>
          </p:cNvSpPr>
          <p:nvPr/>
        </p:nvSpPr>
        <p:spPr>
          <a:xfrm>
            <a:off x="10782300" y="48958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n=359</a:t>
            </a:r>
          </a:p>
        </p:txBody>
      </p:sp>
      <p:sp>
        <p:nvSpPr>
          <p:cNvPr id="584" name="Rectangle 583">
            <a:extLst>
              <a:ext uri="{FF2B5EF4-FFF2-40B4-BE49-F238E27FC236}">
                <a16:creationId xmlns:a16="http://schemas.microsoft.com/office/drawing/2014/main" id="{74D08ECF-D0E5-4CD8-9F53-4A23D580AD41}"/>
              </a:ext>
            </a:extLst>
          </p:cNvPr>
          <p:cNvSpPr>
            <a:spLocks noGrp="1"/>
          </p:cNvSpPr>
          <p:nvPr/>
        </p:nvSpPr>
        <p:spPr>
          <a:xfrm>
            <a:off x="3667125" y="1409700"/>
            <a:ext cx="190500" cy="190500"/>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85" name="C0  &lt; 3.20">
            <a:extLst>
              <a:ext uri="{FF2B5EF4-FFF2-40B4-BE49-F238E27FC236}">
                <a16:creationId xmlns:a16="http://schemas.microsoft.com/office/drawing/2014/main" id="{7D26BC27-9378-4915-A399-F0A7AA382978}"/>
              </a:ext>
            </a:extLst>
          </p:cNvPr>
          <p:cNvSpPr>
            <a:spLocks noGrp="1"/>
          </p:cNvSpPr>
          <p:nvPr/>
        </p:nvSpPr>
        <p:spPr>
          <a:xfrm>
            <a:off x="39433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C0  &lt; 3.20</a:t>
            </a:r>
          </a:p>
        </p:txBody>
      </p:sp>
      <p:sp>
        <p:nvSpPr>
          <p:cNvPr id="586" name="Rectangle 585">
            <a:extLst>
              <a:ext uri="{FF2B5EF4-FFF2-40B4-BE49-F238E27FC236}">
                <a16:creationId xmlns:a16="http://schemas.microsoft.com/office/drawing/2014/main" id="{D5474C4B-59A0-443B-BD04-1D21C6710CBB}"/>
              </a:ext>
            </a:extLst>
          </p:cNvPr>
          <p:cNvSpPr>
            <a:spLocks noGrp="1"/>
          </p:cNvSpPr>
          <p:nvPr/>
        </p:nvSpPr>
        <p:spPr>
          <a:xfrm>
            <a:off x="5476875" y="1409700"/>
            <a:ext cx="190500" cy="190500"/>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87" name="C1  3.20–3.49">
            <a:extLst>
              <a:ext uri="{FF2B5EF4-FFF2-40B4-BE49-F238E27FC236}">
                <a16:creationId xmlns:a16="http://schemas.microsoft.com/office/drawing/2014/main" id="{011B52F7-C3BE-4439-8578-EECDC4AF5221}"/>
              </a:ext>
            </a:extLst>
          </p:cNvPr>
          <p:cNvSpPr>
            <a:spLocks noGrp="1"/>
          </p:cNvSpPr>
          <p:nvPr/>
        </p:nvSpPr>
        <p:spPr>
          <a:xfrm>
            <a:off x="57531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C1  3.20–3.49</a:t>
            </a:r>
          </a:p>
        </p:txBody>
      </p:sp>
      <p:sp>
        <p:nvSpPr>
          <p:cNvPr id="588" name="Rectangle 587">
            <a:extLst>
              <a:ext uri="{FF2B5EF4-FFF2-40B4-BE49-F238E27FC236}">
                <a16:creationId xmlns:a16="http://schemas.microsoft.com/office/drawing/2014/main" id="{59786784-23B1-4DC3-AFE3-850ADB7AB105}"/>
              </a:ext>
            </a:extLst>
          </p:cNvPr>
          <p:cNvSpPr>
            <a:spLocks noGrp="1"/>
          </p:cNvSpPr>
          <p:nvPr/>
        </p:nvSpPr>
        <p:spPr>
          <a:xfrm>
            <a:off x="7286625" y="1409700"/>
            <a:ext cx="190500" cy="190500"/>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89" name="C2  3.50–3.74">
            <a:extLst>
              <a:ext uri="{FF2B5EF4-FFF2-40B4-BE49-F238E27FC236}">
                <a16:creationId xmlns:a16="http://schemas.microsoft.com/office/drawing/2014/main" id="{E11F95B9-E3EB-4E4E-8798-78D6C13C648A}"/>
              </a:ext>
            </a:extLst>
          </p:cNvPr>
          <p:cNvSpPr>
            <a:spLocks noGrp="1"/>
          </p:cNvSpPr>
          <p:nvPr/>
        </p:nvSpPr>
        <p:spPr>
          <a:xfrm>
            <a:off x="75628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C2  3.50–3.74</a:t>
            </a:r>
          </a:p>
        </p:txBody>
      </p:sp>
      <p:sp>
        <p:nvSpPr>
          <p:cNvPr id="590" name="Rectangle 589">
            <a:extLst>
              <a:ext uri="{FF2B5EF4-FFF2-40B4-BE49-F238E27FC236}">
                <a16:creationId xmlns:a16="http://schemas.microsoft.com/office/drawing/2014/main" id="{B9D36B1E-8514-4892-839E-909C9126D411}"/>
              </a:ext>
            </a:extLst>
          </p:cNvPr>
          <p:cNvSpPr>
            <a:spLocks noGrp="1"/>
          </p:cNvSpPr>
          <p:nvPr/>
        </p:nvSpPr>
        <p:spPr>
          <a:xfrm>
            <a:off x="9096375" y="1409700"/>
            <a:ext cx="190500" cy="190500"/>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91" name="C3  ≥ 3.75">
            <a:extLst>
              <a:ext uri="{FF2B5EF4-FFF2-40B4-BE49-F238E27FC236}">
                <a16:creationId xmlns:a16="http://schemas.microsoft.com/office/drawing/2014/main" id="{BA4D24B2-2775-4150-8BFA-56441621BC7E}"/>
              </a:ext>
            </a:extLst>
          </p:cNvPr>
          <p:cNvSpPr>
            <a:spLocks noGrp="1"/>
          </p:cNvSpPr>
          <p:nvPr/>
        </p:nvSpPr>
        <p:spPr>
          <a:xfrm>
            <a:off x="93726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C3  ≥ 3.75</a:t>
            </a:r>
          </a:p>
        </p:txBody>
      </p:sp>
      <p:cxnSp>
        <p:nvCxnSpPr>
          <p:cNvPr id="2" name="Straight Arrow Connector 1">
            <a:extLst>
              <a:ext uri="{FF2B5EF4-FFF2-40B4-BE49-F238E27FC236}">
                <a16:creationId xmlns:a16="http://schemas.microsoft.com/office/drawing/2014/main" id="{5C3537C9-52E9-4EEA-D25F-6104A8F97FEE}"/>
              </a:ext>
            </a:extLst>
          </p:cNvPr>
          <p:cNvCxnSpPr>
            <a:cxnSpLocks/>
          </p:cNvCxnSpPr>
          <p:nvPr/>
        </p:nvCxnSpPr>
        <p:spPr>
          <a:xfrm>
            <a:off x="204107" y="5763986"/>
            <a:ext cx="1057819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 name="Straight Arrow Connector 2">
            <a:extLst>
              <a:ext uri="{FF2B5EF4-FFF2-40B4-BE49-F238E27FC236}">
                <a16:creationId xmlns:a16="http://schemas.microsoft.com/office/drawing/2014/main" id="{1C45820A-9ECB-3FB3-F472-2F0D262A4EB3}"/>
              </a:ext>
            </a:extLst>
          </p:cNvPr>
          <p:cNvCxnSpPr>
            <a:cxnSpLocks/>
          </p:cNvCxnSpPr>
          <p:nvPr/>
        </p:nvCxnSpPr>
        <p:spPr>
          <a:xfrm flipV="1">
            <a:off x="356507" y="971550"/>
            <a:ext cx="0" cy="49448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4931C8C5-2E4B-B136-3EA7-116C0ABD0DBD}"/>
              </a:ext>
            </a:extLst>
          </p:cNvPr>
          <p:cNvSpPr txBox="1"/>
          <p:nvPr/>
        </p:nvSpPr>
        <p:spPr>
          <a:xfrm>
            <a:off x="5532723" y="5787509"/>
            <a:ext cx="821572" cy="369332"/>
          </a:xfrm>
          <a:prstGeom prst="rect">
            <a:avLst/>
          </a:prstGeom>
          <a:noFill/>
        </p:spPr>
        <p:txBody>
          <a:bodyPr wrap="none" rtlCol="0">
            <a:spAutoFit/>
          </a:bodyPr>
          <a:lstStyle/>
          <a:p>
            <a:r>
              <a:rPr lang="en-US" dirty="0">
                <a:latin typeface="OpenAI Sans" panose="020B0604020202020204" charset="0"/>
                <a:ea typeface="OpenAI Sans" panose="020B0604020202020204" charset="0"/>
              </a:rPr>
              <a:t>CGPA</a:t>
            </a:r>
          </a:p>
        </p:txBody>
      </p:sp>
      <p:sp>
        <p:nvSpPr>
          <p:cNvPr id="5" name="TextBox 4">
            <a:extLst>
              <a:ext uri="{FF2B5EF4-FFF2-40B4-BE49-F238E27FC236}">
                <a16:creationId xmlns:a16="http://schemas.microsoft.com/office/drawing/2014/main" id="{B88198EF-C9A3-A6AA-FF0B-A4B6098BC436}"/>
              </a:ext>
            </a:extLst>
          </p:cNvPr>
          <p:cNvSpPr txBox="1"/>
          <p:nvPr/>
        </p:nvSpPr>
        <p:spPr>
          <a:xfrm rot="16200000">
            <a:off x="-948553" y="2715997"/>
            <a:ext cx="2327881" cy="369332"/>
          </a:xfrm>
          <a:prstGeom prst="rect">
            <a:avLst/>
          </a:prstGeom>
          <a:noFill/>
        </p:spPr>
        <p:txBody>
          <a:bodyPr wrap="none" rtlCol="0">
            <a:spAutoFit/>
          </a:bodyPr>
          <a:lstStyle/>
          <a:p>
            <a:r>
              <a:rPr lang="en-US" dirty="0">
                <a:latin typeface="OpenAI Sans" panose="020B0604020202020204" charset="0"/>
                <a:ea typeface="OpenAI Sans" panose="020B0604020202020204" charset="0"/>
              </a:rPr>
              <a:t>Desired Department</a:t>
            </a:r>
          </a:p>
        </p:txBody>
      </p:sp>
    </p:spTree>
    <p:extLst>
      <p:ext uri="{BB962C8B-B14F-4D97-AF65-F5344CB8AC3E}">
        <p14:creationId xmlns:p14="http://schemas.microsoft.com/office/powerpoint/2010/main" val="351357554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lang="en-US" dirty="0">
                <a:latin typeface="OpenAI Sans" panose="020B0604020202020204" charset="0"/>
                <a:ea typeface="OpenAI Sans" panose="020B0604020202020204" charset="0"/>
                <a:cs typeface="Times New Roman"/>
              </a:rPr>
              <a:t>34</a:t>
            </a:r>
            <a:endParaRPr sz="1000" dirty="0">
              <a:latin typeface="OpenAI Sans" panose="020B0604020202020204" charset="0"/>
              <a:ea typeface="OpenAI Sans" panose="020B0604020202020204" charset="0"/>
              <a:cs typeface="Times New Roman"/>
            </a:endParaRP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b="1">
                <a:latin typeface="OpenAI Sans" panose="020B0604020202020204" charset="0"/>
                <a:ea typeface="OpenAI Sans" panose="020B0604020202020204" charset="0"/>
                <a:cs typeface="Times New Roman"/>
              </a:rPr>
              <a:t>Support and CGPA</a:t>
            </a:r>
          </a:p>
        </p:txBody>
      </p:sp>
      <p:sp>
        <p:nvSpPr>
          <p:cNvPr id="534" name="No support">
            <a:extLst>
              <a:ext uri="{FF2B5EF4-FFF2-40B4-BE49-F238E27FC236}">
                <a16:creationId xmlns:a16="http://schemas.microsoft.com/office/drawing/2014/main" id="{D1E0881A-FF0B-4C60-976E-53F5A3524696}"/>
              </a:ext>
            </a:extLst>
          </p:cNvPr>
          <p:cNvSpPr>
            <a:spLocks noGrp="1"/>
          </p:cNvSpPr>
          <p:nvPr/>
        </p:nvSpPr>
        <p:spPr>
          <a:xfrm>
            <a:off x="400050" y="19431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No support</a:t>
            </a:r>
          </a:p>
        </p:txBody>
      </p:sp>
      <p:sp>
        <p:nvSpPr>
          <p:cNvPr id="535" name="Rectangle 534">
            <a:extLst>
              <a:ext uri="{FF2B5EF4-FFF2-40B4-BE49-F238E27FC236}">
                <a16:creationId xmlns:a16="http://schemas.microsoft.com/office/drawing/2014/main" id="{57B0AF86-F1D6-40F6-81D4-057AC0321FEE}"/>
              </a:ext>
            </a:extLst>
          </p:cNvPr>
          <p:cNvSpPr>
            <a:spLocks noGrp="1"/>
          </p:cNvSpPr>
          <p:nvPr/>
        </p:nvSpPr>
        <p:spPr>
          <a:xfrm>
            <a:off x="3667125" y="1905000"/>
            <a:ext cx="1599248"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36" name="25%">
            <a:extLst>
              <a:ext uri="{FF2B5EF4-FFF2-40B4-BE49-F238E27FC236}">
                <a16:creationId xmlns:a16="http://schemas.microsoft.com/office/drawing/2014/main" id="{85F701B8-3297-4C7F-89CA-674EEA88CE3B}"/>
              </a:ext>
            </a:extLst>
          </p:cNvPr>
          <p:cNvSpPr>
            <a:spLocks noGrp="1"/>
          </p:cNvSpPr>
          <p:nvPr/>
        </p:nvSpPr>
        <p:spPr>
          <a:xfrm>
            <a:off x="3705225" y="2009775"/>
            <a:ext cx="154209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23%</a:t>
            </a:r>
          </a:p>
        </p:txBody>
      </p:sp>
      <p:sp>
        <p:nvSpPr>
          <p:cNvPr id="537" name="Rectangle 536">
            <a:extLst>
              <a:ext uri="{FF2B5EF4-FFF2-40B4-BE49-F238E27FC236}">
                <a16:creationId xmlns:a16="http://schemas.microsoft.com/office/drawing/2014/main" id="{F71E70B5-20C8-4CA6-8B63-0AD86D5A8B7E}"/>
              </a:ext>
            </a:extLst>
          </p:cNvPr>
          <p:cNvSpPr>
            <a:spLocks noGrp="1"/>
          </p:cNvSpPr>
          <p:nvPr/>
        </p:nvSpPr>
        <p:spPr>
          <a:xfrm>
            <a:off x="5266373" y="1905000"/>
            <a:ext cx="1807845"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38" name="26%">
            <a:extLst>
              <a:ext uri="{FF2B5EF4-FFF2-40B4-BE49-F238E27FC236}">
                <a16:creationId xmlns:a16="http://schemas.microsoft.com/office/drawing/2014/main" id="{94D1E499-4749-46EC-A3B1-27EC88F5C51E}"/>
              </a:ext>
            </a:extLst>
          </p:cNvPr>
          <p:cNvSpPr>
            <a:spLocks noGrp="1"/>
          </p:cNvSpPr>
          <p:nvPr/>
        </p:nvSpPr>
        <p:spPr>
          <a:xfrm>
            <a:off x="5304473" y="2009775"/>
            <a:ext cx="175069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26%</a:t>
            </a:r>
          </a:p>
        </p:txBody>
      </p:sp>
      <p:sp>
        <p:nvSpPr>
          <p:cNvPr id="539" name="Rectangle 538">
            <a:extLst>
              <a:ext uri="{FF2B5EF4-FFF2-40B4-BE49-F238E27FC236}">
                <a16:creationId xmlns:a16="http://schemas.microsoft.com/office/drawing/2014/main" id="{494465DC-282B-40A8-AAB6-3B8634FDA850}"/>
              </a:ext>
            </a:extLst>
          </p:cNvPr>
          <p:cNvSpPr>
            <a:spLocks noGrp="1"/>
          </p:cNvSpPr>
          <p:nvPr/>
        </p:nvSpPr>
        <p:spPr>
          <a:xfrm>
            <a:off x="7074218" y="1905000"/>
            <a:ext cx="2155508"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40" name="26%">
            <a:extLst>
              <a:ext uri="{FF2B5EF4-FFF2-40B4-BE49-F238E27FC236}">
                <a16:creationId xmlns:a16="http://schemas.microsoft.com/office/drawing/2014/main" id="{316CB0D3-2CB2-4A82-B612-F651BD3293C0}"/>
              </a:ext>
            </a:extLst>
          </p:cNvPr>
          <p:cNvSpPr>
            <a:spLocks noGrp="1"/>
          </p:cNvSpPr>
          <p:nvPr/>
        </p:nvSpPr>
        <p:spPr>
          <a:xfrm>
            <a:off x="7112318" y="2009775"/>
            <a:ext cx="209835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31%</a:t>
            </a:r>
          </a:p>
        </p:txBody>
      </p:sp>
      <p:sp>
        <p:nvSpPr>
          <p:cNvPr id="541" name="Rectangle 540">
            <a:extLst>
              <a:ext uri="{FF2B5EF4-FFF2-40B4-BE49-F238E27FC236}">
                <a16:creationId xmlns:a16="http://schemas.microsoft.com/office/drawing/2014/main" id="{622BE65A-DA39-436A-B2FE-6F7DBBFE8E1A}"/>
              </a:ext>
            </a:extLst>
          </p:cNvPr>
          <p:cNvSpPr>
            <a:spLocks noGrp="1"/>
          </p:cNvSpPr>
          <p:nvPr/>
        </p:nvSpPr>
        <p:spPr>
          <a:xfrm>
            <a:off x="9229726" y="1905000"/>
            <a:ext cx="1390649"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42" name="23%">
            <a:extLst>
              <a:ext uri="{FF2B5EF4-FFF2-40B4-BE49-F238E27FC236}">
                <a16:creationId xmlns:a16="http://schemas.microsoft.com/office/drawing/2014/main" id="{67B000F3-616A-4A70-A485-45201F4B8D24}"/>
              </a:ext>
            </a:extLst>
          </p:cNvPr>
          <p:cNvSpPr>
            <a:spLocks noGrp="1"/>
          </p:cNvSpPr>
          <p:nvPr/>
        </p:nvSpPr>
        <p:spPr>
          <a:xfrm>
            <a:off x="9267826" y="2009775"/>
            <a:ext cx="1333499"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20%</a:t>
            </a:r>
          </a:p>
        </p:txBody>
      </p:sp>
      <p:sp>
        <p:nvSpPr>
          <p:cNvPr id="543" name="n=150">
            <a:extLst>
              <a:ext uri="{FF2B5EF4-FFF2-40B4-BE49-F238E27FC236}">
                <a16:creationId xmlns:a16="http://schemas.microsoft.com/office/drawing/2014/main" id="{1F7BD537-A4C5-44F2-9665-84B7763E6ADA}"/>
              </a:ext>
            </a:extLst>
          </p:cNvPr>
          <p:cNvSpPr>
            <a:spLocks noGrp="1"/>
          </p:cNvSpPr>
          <p:nvPr/>
        </p:nvSpPr>
        <p:spPr>
          <a:xfrm>
            <a:off x="10782300" y="20002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n=116</a:t>
            </a:r>
          </a:p>
        </p:txBody>
      </p:sp>
      <p:sp>
        <p:nvSpPr>
          <p:cNvPr id="544" name="Very little support">
            <a:extLst>
              <a:ext uri="{FF2B5EF4-FFF2-40B4-BE49-F238E27FC236}">
                <a16:creationId xmlns:a16="http://schemas.microsoft.com/office/drawing/2014/main" id="{CD4CE4CE-4EA7-4109-9734-E910A86B5058}"/>
              </a:ext>
            </a:extLst>
          </p:cNvPr>
          <p:cNvSpPr>
            <a:spLocks noGrp="1"/>
          </p:cNvSpPr>
          <p:nvPr/>
        </p:nvSpPr>
        <p:spPr>
          <a:xfrm>
            <a:off x="400050" y="26670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Very little support</a:t>
            </a:r>
          </a:p>
        </p:txBody>
      </p:sp>
      <p:sp>
        <p:nvSpPr>
          <p:cNvPr id="545" name="Rectangle 544">
            <a:extLst>
              <a:ext uri="{FF2B5EF4-FFF2-40B4-BE49-F238E27FC236}">
                <a16:creationId xmlns:a16="http://schemas.microsoft.com/office/drawing/2014/main" id="{98110E0B-2E47-427C-B95B-75AE5522F1B7}"/>
              </a:ext>
            </a:extLst>
          </p:cNvPr>
          <p:cNvSpPr>
            <a:spLocks noGrp="1"/>
          </p:cNvSpPr>
          <p:nvPr/>
        </p:nvSpPr>
        <p:spPr>
          <a:xfrm>
            <a:off x="3667125" y="2628900"/>
            <a:ext cx="1858790"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46" name="28%">
            <a:extLst>
              <a:ext uri="{FF2B5EF4-FFF2-40B4-BE49-F238E27FC236}">
                <a16:creationId xmlns:a16="http://schemas.microsoft.com/office/drawing/2014/main" id="{4058CE26-E860-4463-A1D1-8E5E8298F65C}"/>
              </a:ext>
            </a:extLst>
          </p:cNvPr>
          <p:cNvSpPr>
            <a:spLocks noGrp="1"/>
          </p:cNvSpPr>
          <p:nvPr/>
        </p:nvSpPr>
        <p:spPr>
          <a:xfrm>
            <a:off x="3705225" y="2733675"/>
            <a:ext cx="180164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27%</a:t>
            </a:r>
          </a:p>
        </p:txBody>
      </p:sp>
      <p:sp>
        <p:nvSpPr>
          <p:cNvPr id="547" name="Rectangle 546">
            <a:extLst>
              <a:ext uri="{FF2B5EF4-FFF2-40B4-BE49-F238E27FC236}">
                <a16:creationId xmlns:a16="http://schemas.microsoft.com/office/drawing/2014/main" id="{A0D56D3E-70DC-4D70-B610-049CCA3BFBDC}"/>
              </a:ext>
            </a:extLst>
          </p:cNvPr>
          <p:cNvSpPr>
            <a:spLocks noGrp="1"/>
          </p:cNvSpPr>
          <p:nvPr/>
        </p:nvSpPr>
        <p:spPr>
          <a:xfrm>
            <a:off x="5525915" y="2628900"/>
            <a:ext cx="1858790"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48" name="25%">
            <a:extLst>
              <a:ext uri="{FF2B5EF4-FFF2-40B4-BE49-F238E27FC236}">
                <a16:creationId xmlns:a16="http://schemas.microsoft.com/office/drawing/2014/main" id="{1D40E7A0-A045-4968-B2A7-052B475F87E3}"/>
              </a:ext>
            </a:extLst>
          </p:cNvPr>
          <p:cNvSpPr>
            <a:spLocks noGrp="1"/>
          </p:cNvSpPr>
          <p:nvPr/>
        </p:nvSpPr>
        <p:spPr>
          <a:xfrm>
            <a:off x="5564015" y="2733675"/>
            <a:ext cx="180164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27%</a:t>
            </a:r>
          </a:p>
        </p:txBody>
      </p:sp>
      <p:sp>
        <p:nvSpPr>
          <p:cNvPr id="549" name="Rectangle 548">
            <a:extLst>
              <a:ext uri="{FF2B5EF4-FFF2-40B4-BE49-F238E27FC236}">
                <a16:creationId xmlns:a16="http://schemas.microsoft.com/office/drawing/2014/main" id="{DABC3684-7076-4DF6-A5E3-37B05E4B4D25}"/>
              </a:ext>
            </a:extLst>
          </p:cNvPr>
          <p:cNvSpPr>
            <a:spLocks noGrp="1"/>
          </p:cNvSpPr>
          <p:nvPr/>
        </p:nvSpPr>
        <p:spPr>
          <a:xfrm>
            <a:off x="7384705" y="2628900"/>
            <a:ext cx="1858790"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50" name="24%">
            <a:extLst>
              <a:ext uri="{FF2B5EF4-FFF2-40B4-BE49-F238E27FC236}">
                <a16:creationId xmlns:a16="http://schemas.microsoft.com/office/drawing/2014/main" id="{23CA0931-A240-4A36-A329-AAE4E8CACA6E}"/>
              </a:ext>
            </a:extLst>
          </p:cNvPr>
          <p:cNvSpPr>
            <a:spLocks noGrp="1"/>
          </p:cNvSpPr>
          <p:nvPr/>
        </p:nvSpPr>
        <p:spPr>
          <a:xfrm>
            <a:off x="7422805" y="2733675"/>
            <a:ext cx="180164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27%</a:t>
            </a:r>
          </a:p>
        </p:txBody>
      </p:sp>
      <p:sp>
        <p:nvSpPr>
          <p:cNvPr id="551" name="Rectangle 550">
            <a:extLst>
              <a:ext uri="{FF2B5EF4-FFF2-40B4-BE49-F238E27FC236}">
                <a16:creationId xmlns:a16="http://schemas.microsoft.com/office/drawing/2014/main" id="{4DC8E9F8-445B-4822-9FC9-D6E3039FB06A}"/>
              </a:ext>
            </a:extLst>
          </p:cNvPr>
          <p:cNvSpPr>
            <a:spLocks noGrp="1"/>
          </p:cNvSpPr>
          <p:nvPr/>
        </p:nvSpPr>
        <p:spPr>
          <a:xfrm>
            <a:off x="9243495" y="2628900"/>
            <a:ext cx="1376880"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52" name="22%">
            <a:extLst>
              <a:ext uri="{FF2B5EF4-FFF2-40B4-BE49-F238E27FC236}">
                <a16:creationId xmlns:a16="http://schemas.microsoft.com/office/drawing/2014/main" id="{1CDE1EB6-7BF1-4FEE-ACED-98014DF9FC9C}"/>
              </a:ext>
            </a:extLst>
          </p:cNvPr>
          <p:cNvSpPr>
            <a:spLocks noGrp="1"/>
          </p:cNvSpPr>
          <p:nvPr/>
        </p:nvSpPr>
        <p:spPr>
          <a:xfrm>
            <a:off x="9281595" y="2733675"/>
            <a:ext cx="131973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20%</a:t>
            </a:r>
          </a:p>
        </p:txBody>
      </p:sp>
      <p:sp>
        <p:nvSpPr>
          <p:cNvPr id="553" name="n=172">
            <a:extLst>
              <a:ext uri="{FF2B5EF4-FFF2-40B4-BE49-F238E27FC236}">
                <a16:creationId xmlns:a16="http://schemas.microsoft.com/office/drawing/2014/main" id="{B092F0A8-CD89-4608-90D8-E79E886073BE}"/>
              </a:ext>
            </a:extLst>
          </p:cNvPr>
          <p:cNvSpPr>
            <a:spLocks noGrp="1"/>
          </p:cNvSpPr>
          <p:nvPr/>
        </p:nvSpPr>
        <p:spPr>
          <a:xfrm>
            <a:off x="10782300" y="27241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n=128</a:t>
            </a:r>
          </a:p>
        </p:txBody>
      </p:sp>
      <p:sp>
        <p:nvSpPr>
          <p:cNvPr id="554" name="Some support">
            <a:extLst>
              <a:ext uri="{FF2B5EF4-FFF2-40B4-BE49-F238E27FC236}">
                <a16:creationId xmlns:a16="http://schemas.microsoft.com/office/drawing/2014/main" id="{B7E00B0F-6843-4F14-AE08-930521672D88}"/>
              </a:ext>
            </a:extLst>
          </p:cNvPr>
          <p:cNvSpPr>
            <a:spLocks noGrp="1"/>
          </p:cNvSpPr>
          <p:nvPr/>
        </p:nvSpPr>
        <p:spPr>
          <a:xfrm>
            <a:off x="400050" y="33909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Some support</a:t>
            </a:r>
          </a:p>
        </p:txBody>
      </p:sp>
      <p:sp>
        <p:nvSpPr>
          <p:cNvPr id="555" name="Rectangle 554">
            <a:extLst>
              <a:ext uri="{FF2B5EF4-FFF2-40B4-BE49-F238E27FC236}">
                <a16:creationId xmlns:a16="http://schemas.microsoft.com/office/drawing/2014/main" id="{B830FE8D-CAE5-4CE0-A502-BA51D16BF8EF}"/>
              </a:ext>
            </a:extLst>
          </p:cNvPr>
          <p:cNvSpPr>
            <a:spLocks noGrp="1"/>
          </p:cNvSpPr>
          <p:nvPr/>
        </p:nvSpPr>
        <p:spPr>
          <a:xfrm>
            <a:off x="3667125" y="3352800"/>
            <a:ext cx="1264227"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56" name="19%">
            <a:extLst>
              <a:ext uri="{FF2B5EF4-FFF2-40B4-BE49-F238E27FC236}">
                <a16:creationId xmlns:a16="http://schemas.microsoft.com/office/drawing/2014/main" id="{58091ECD-E5F7-4666-B3FD-1FA6BF2AC21E}"/>
              </a:ext>
            </a:extLst>
          </p:cNvPr>
          <p:cNvSpPr>
            <a:spLocks noGrp="1"/>
          </p:cNvSpPr>
          <p:nvPr/>
        </p:nvSpPr>
        <p:spPr>
          <a:xfrm>
            <a:off x="3705225" y="3457575"/>
            <a:ext cx="1207077"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18%</a:t>
            </a:r>
          </a:p>
        </p:txBody>
      </p:sp>
      <p:sp>
        <p:nvSpPr>
          <p:cNvPr id="557" name="Rectangle 556">
            <a:extLst>
              <a:ext uri="{FF2B5EF4-FFF2-40B4-BE49-F238E27FC236}">
                <a16:creationId xmlns:a16="http://schemas.microsoft.com/office/drawing/2014/main" id="{0C02A49D-45D1-46D3-8F2C-E69D502CB5AD}"/>
              </a:ext>
            </a:extLst>
          </p:cNvPr>
          <p:cNvSpPr>
            <a:spLocks noGrp="1"/>
          </p:cNvSpPr>
          <p:nvPr/>
        </p:nvSpPr>
        <p:spPr>
          <a:xfrm>
            <a:off x="4931352" y="3352800"/>
            <a:ext cx="2809394"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58" name="37%">
            <a:extLst>
              <a:ext uri="{FF2B5EF4-FFF2-40B4-BE49-F238E27FC236}">
                <a16:creationId xmlns:a16="http://schemas.microsoft.com/office/drawing/2014/main" id="{15AEFED7-A8E5-4214-9AEC-F88FE03ECDAA}"/>
              </a:ext>
            </a:extLst>
          </p:cNvPr>
          <p:cNvSpPr>
            <a:spLocks noGrp="1"/>
          </p:cNvSpPr>
          <p:nvPr/>
        </p:nvSpPr>
        <p:spPr>
          <a:xfrm>
            <a:off x="4969452" y="3457575"/>
            <a:ext cx="2752244"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40%</a:t>
            </a:r>
          </a:p>
        </p:txBody>
      </p:sp>
      <p:sp>
        <p:nvSpPr>
          <p:cNvPr id="559" name="Rectangle 558">
            <a:extLst>
              <a:ext uri="{FF2B5EF4-FFF2-40B4-BE49-F238E27FC236}">
                <a16:creationId xmlns:a16="http://schemas.microsoft.com/office/drawing/2014/main" id="{585A4FDC-1DB4-450A-91B8-FD95584EE070}"/>
              </a:ext>
            </a:extLst>
          </p:cNvPr>
          <p:cNvSpPr>
            <a:spLocks noGrp="1"/>
          </p:cNvSpPr>
          <p:nvPr/>
        </p:nvSpPr>
        <p:spPr>
          <a:xfrm>
            <a:off x="7740746" y="3352800"/>
            <a:ext cx="1685636"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60" name="25%">
            <a:extLst>
              <a:ext uri="{FF2B5EF4-FFF2-40B4-BE49-F238E27FC236}">
                <a16:creationId xmlns:a16="http://schemas.microsoft.com/office/drawing/2014/main" id="{5581858B-8030-48E4-BE84-E25814135F67}"/>
              </a:ext>
            </a:extLst>
          </p:cNvPr>
          <p:cNvSpPr>
            <a:spLocks noGrp="1"/>
          </p:cNvSpPr>
          <p:nvPr/>
        </p:nvSpPr>
        <p:spPr>
          <a:xfrm>
            <a:off x="7778846" y="3457575"/>
            <a:ext cx="1628486"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24%</a:t>
            </a:r>
          </a:p>
        </p:txBody>
      </p:sp>
      <p:sp>
        <p:nvSpPr>
          <p:cNvPr id="561" name="Rectangle 560">
            <a:extLst>
              <a:ext uri="{FF2B5EF4-FFF2-40B4-BE49-F238E27FC236}">
                <a16:creationId xmlns:a16="http://schemas.microsoft.com/office/drawing/2014/main" id="{7517621A-017C-4E43-A52B-285AAD8B1588}"/>
              </a:ext>
            </a:extLst>
          </p:cNvPr>
          <p:cNvSpPr>
            <a:spLocks noGrp="1"/>
          </p:cNvSpPr>
          <p:nvPr/>
        </p:nvSpPr>
        <p:spPr>
          <a:xfrm>
            <a:off x="9426382" y="3352800"/>
            <a:ext cx="1193993"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62" name="18%">
            <a:extLst>
              <a:ext uri="{FF2B5EF4-FFF2-40B4-BE49-F238E27FC236}">
                <a16:creationId xmlns:a16="http://schemas.microsoft.com/office/drawing/2014/main" id="{FD6AD43E-F2D2-4827-9C2F-2A407B979E8D}"/>
              </a:ext>
            </a:extLst>
          </p:cNvPr>
          <p:cNvSpPr>
            <a:spLocks noGrp="1"/>
          </p:cNvSpPr>
          <p:nvPr/>
        </p:nvSpPr>
        <p:spPr>
          <a:xfrm>
            <a:off x="9464482" y="3457575"/>
            <a:ext cx="1136843"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17%</a:t>
            </a:r>
          </a:p>
        </p:txBody>
      </p:sp>
      <p:sp>
        <p:nvSpPr>
          <p:cNvPr id="563" name="n=271">
            <a:extLst>
              <a:ext uri="{FF2B5EF4-FFF2-40B4-BE49-F238E27FC236}">
                <a16:creationId xmlns:a16="http://schemas.microsoft.com/office/drawing/2014/main" id="{6C58C922-2F3D-4EBF-BB43-85C3F1CF6059}"/>
              </a:ext>
            </a:extLst>
          </p:cNvPr>
          <p:cNvSpPr>
            <a:spLocks noGrp="1"/>
          </p:cNvSpPr>
          <p:nvPr/>
        </p:nvSpPr>
        <p:spPr>
          <a:xfrm>
            <a:off x="10782300" y="34480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n=233</a:t>
            </a:r>
          </a:p>
        </p:txBody>
      </p:sp>
      <p:sp>
        <p:nvSpPr>
          <p:cNvPr id="564" name="Good support">
            <a:extLst>
              <a:ext uri="{FF2B5EF4-FFF2-40B4-BE49-F238E27FC236}">
                <a16:creationId xmlns:a16="http://schemas.microsoft.com/office/drawing/2014/main" id="{7D8B9FEF-AD98-4819-A2A2-6C217508F7C1}"/>
              </a:ext>
            </a:extLst>
          </p:cNvPr>
          <p:cNvSpPr>
            <a:spLocks noGrp="1"/>
          </p:cNvSpPr>
          <p:nvPr/>
        </p:nvSpPr>
        <p:spPr>
          <a:xfrm>
            <a:off x="400050" y="41148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Good support</a:t>
            </a:r>
          </a:p>
        </p:txBody>
      </p:sp>
      <p:sp>
        <p:nvSpPr>
          <p:cNvPr id="565" name="Rectangle 564">
            <a:extLst>
              <a:ext uri="{FF2B5EF4-FFF2-40B4-BE49-F238E27FC236}">
                <a16:creationId xmlns:a16="http://schemas.microsoft.com/office/drawing/2014/main" id="{BE15EE7F-69EF-4974-87E3-7CF063E27DFE}"/>
              </a:ext>
            </a:extLst>
          </p:cNvPr>
          <p:cNvSpPr>
            <a:spLocks noGrp="1"/>
          </p:cNvSpPr>
          <p:nvPr/>
        </p:nvSpPr>
        <p:spPr>
          <a:xfrm>
            <a:off x="3667125" y="4076700"/>
            <a:ext cx="1042988"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66" name="18%">
            <a:extLst>
              <a:ext uri="{FF2B5EF4-FFF2-40B4-BE49-F238E27FC236}">
                <a16:creationId xmlns:a16="http://schemas.microsoft.com/office/drawing/2014/main" id="{4E910F36-9AE7-4BA5-9557-9817B8199CD3}"/>
              </a:ext>
            </a:extLst>
          </p:cNvPr>
          <p:cNvSpPr>
            <a:spLocks noGrp="1"/>
          </p:cNvSpPr>
          <p:nvPr/>
        </p:nvSpPr>
        <p:spPr>
          <a:xfrm>
            <a:off x="3705225" y="4181475"/>
            <a:ext cx="98583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15%</a:t>
            </a:r>
          </a:p>
        </p:txBody>
      </p:sp>
      <p:sp>
        <p:nvSpPr>
          <p:cNvPr id="567" name="Rectangle 566">
            <a:extLst>
              <a:ext uri="{FF2B5EF4-FFF2-40B4-BE49-F238E27FC236}">
                <a16:creationId xmlns:a16="http://schemas.microsoft.com/office/drawing/2014/main" id="{B6A27BE1-BAE0-4E5E-911E-5FA9D65F2BF0}"/>
              </a:ext>
            </a:extLst>
          </p:cNvPr>
          <p:cNvSpPr>
            <a:spLocks noGrp="1"/>
          </p:cNvSpPr>
          <p:nvPr/>
        </p:nvSpPr>
        <p:spPr>
          <a:xfrm>
            <a:off x="4710113" y="4076700"/>
            <a:ext cx="2016442"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68" name="27%">
            <a:extLst>
              <a:ext uri="{FF2B5EF4-FFF2-40B4-BE49-F238E27FC236}">
                <a16:creationId xmlns:a16="http://schemas.microsoft.com/office/drawing/2014/main" id="{21F55102-44E5-4370-A933-1FD88B4BA3E5}"/>
              </a:ext>
            </a:extLst>
          </p:cNvPr>
          <p:cNvSpPr>
            <a:spLocks noGrp="1"/>
          </p:cNvSpPr>
          <p:nvPr/>
        </p:nvSpPr>
        <p:spPr>
          <a:xfrm>
            <a:off x="4748213" y="4181475"/>
            <a:ext cx="195929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29%</a:t>
            </a:r>
          </a:p>
        </p:txBody>
      </p:sp>
      <p:sp>
        <p:nvSpPr>
          <p:cNvPr id="569" name="Rectangle 568">
            <a:extLst>
              <a:ext uri="{FF2B5EF4-FFF2-40B4-BE49-F238E27FC236}">
                <a16:creationId xmlns:a16="http://schemas.microsoft.com/office/drawing/2014/main" id="{F032DF45-E24A-498C-97E4-7C3C470B2D59}"/>
              </a:ext>
            </a:extLst>
          </p:cNvPr>
          <p:cNvSpPr>
            <a:spLocks noGrp="1"/>
          </p:cNvSpPr>
          <p:nvPr/>
        </p:nvSpPr>
        <p:spPr>
          <a:xfrm>
            <a:off x="6726555" y="4076700"/>
            <a:ext cx="2225040"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70" name="31%">
            <a:extLst>
              <a:ext uri="{FF2B5EF4-FFF2-40B4-BE49-F238E27FC236}">
                <a16:creationId xmlns:a16="http://schemas.microsoft.com/office/drawing/2014/main" id="{2FD8DAAF-236C-4637-B387-107E94D67DB2}"/>
              </a:ext>
            </a:extLst>
          </p:cNvPr>
          <p:cNvSpPr>
            <a:spLocks noGrp="1"/>
          </p:cNvSpPr>
          <p:nvPr/>
        </p:nvSpPr>
        <p:spPr>
          <a:xfrm>
            <a:off x="6764655" y="4181475"/>
            <a:ext cx="216789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32%</a:t>
            </a:r>
          </a:p>
        </p:txBody>
      </p:sp>
      <p:sp>
        <p:nvSpPr>
          <p:cNvPr id="571" name="Rectangle 570">
            <a:extLst>
              <a:ext uri="{FF2B5EF4-FFF2-40B4-BE49-F238E27FC236}">
                <a16:creationId xmlns:a16="http://schemas.microsoft.com/office/drawing/2014/main" id="{F46D1DA7-5C30-40E9-A4FB-707630FA6514}"/>
              </a:ext>
            </a:extLst>
          </p:cNvPr>
          <p:cNvSpPr>
            <a:spLocks noGrp="1"/>
          </p:cNvSpPr>
          <p:nvPr/>
        </p:nvSpPr>
        <p:spPr>
          <a:xfrm>
            <a:off x="8951595" y="4076700"/>
            <a:ext cx="1668780"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72" name="25%">
            <a:extLst>
              <a:ext uri="{FF2B5EF4-FFF2-40B4-BE49-F238E27FC236}">
                <a16:creationId xmlns:a16="http://schemas.microsoft.com/office/drawing/2014/main" id="{36771207-707B-4529-8194-667225274A1A}"/>
              </a:ext>
            </a:extLst>
          </p:cNvPr>
          <p:cNvSpPr>
            <a:spLocks noGrp="1"/>
          </p:cNvSpPr>
          <p:nvPr/>
        </p:nvSpPr>
        <p:spPr>
          <a:xfrm>
            <a:off x="8989695" y="4181475"/>
            <a:ext cx="161163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24%</a:t>
            </a:r>
          </a:p>
        </p:txBody>
      </p:sp>
      <p:sp>
        <p:nvSpPr>
          <p:cNvPr id="573" name="n=314">
            <a:extLst>
              <a:ext uri="{FF2B5EF4-FFF2-40B4-BE49-F238E27FC236}">
                <a16:creationId xmlns:a16="http://schemas.microsoft.com/office/drawing/2014/main" id="{BCBB3716-5D89-4926-8B26-6E0588DD3E8C}"/>
              </a:ext>
            </a:extLst>
          </p:cNvPr>
          <p:cNvSpPr>
            <a:spLocks noGrp="1"/>
          </p:cNvSpPr>
          <p:nvPr/>
        </p:nvSpPr>
        <p:spPr>
          <a:xfrm>
            <a:off x="10782300" y="41719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n=278</a:t>
            </a:r>
          </a:p>
        </p:txBody>
      </p:sp>
      <p:sp>
        <p:nvSpPr>
          <p:cNvPr id="574" name="Strong support">
            <a:extLst>
              <a:ext uri="{FF2B5EF4-FFF2-40B4-BE49-F238E27FC236}">
                <a16:creationId xmlns:a16="http://schemas.microsoft.com/office/drawing/2014/main" id="{4DB1932D-042A-4760-8E39-8F7D94262594}"/>
              </a:ext>
            </a:extLst>
          </p:cNvPr>
          <p:cNvSpPr>
            <a:spLocks noGrp="1"/>
          </p:cNvSpPr>
          <p:nvPr/>
        </p:nvSpPr>
        <p:spPr>
          <a:xfrm>
            <a:off x="400050" y="48387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Strong support</a:t>
            </a:r>
          </a:p>
        </p:txBody>
      </p:sp>
      <p:sp>
        <p:nvSpPr>
          <p:cNvPr id="575" name="Rectangle 574">
            <a:extLst>
              <a:ext uri="{FF2B5EF4-FFF2-40B4-BE49-F238E27FC236}">
                <a16:creationId xmlns:a16="http://schemas.microsoft.com/office/drawing/2014/main" id="{CE1D37DA-CA2F-4DA9-968D-26855310D7C2}"/>
              </a:ext>
            </a:extLst>
          </p:cNvPr>
          <p:cNvSpPr>
            <a:spLocks noGrp="1"/>
          </p:cNvSpPr>
          <p:nvPr/>
        </p:nvSpPr>
        <p:spPr>
          <a:xfrm>
            <a:off x="3667125" y="4800600"/>
            <a:ext cx="1514569"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76" name="22%">
            <a:extLst>
              <a:ext uri="{FF2B5EF4-FFF2-40B4-BE49-F238E27FC236}">
                <a16:creationId xmlns:a16="http://schemas.microsoft.com/office/drawing/2014/main" id="{C1B3CD1A-6567-42C2-8F01-DFB89988DEAA}"/>
              </a:ext>
            </a:extLst>
          </p:cNvPr>
          <p:cNvSpPr>
            <a:spLocks noGrp="1"/>
          </p:cNvSpPr>
          <p:nvPr/>
        </p:nvSpPr>
        <p:spPr>
          <a:xfrm>
            <a:off x="3705225" y="4905375"/>
            <a:ext cx="1457419"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22%</a:t>
            </a:r>
          </a:p>
        </p:txBody>
      </p:sp>
      <p:sp>
        <p:nvSpPr>
          <p:cNvPr id="577" name="Rectangle 576">
            <a:extLst>
              <a:ext uri="{FF2B5EF4-FFF2-40B4-BE49-F238E27FC236}">
                <a16:creationId xmlns:a16="http://schemas.microsoft.com/office/drawing/2014/main" id="{2FC0835B-691D-4614-B05F-12D4BFB986B1}"/>
              </a:ext>
            </a:extLst>
          </p:cNvPr>
          <p:cNvSpPr>
            <a:spLocks noGrp="1"/>
          </p:cNvSpPr>
          <p:nvPr/>
        </p:nvSpPr>
        <p:spPr>
          <a:xfrm>
            <a:off x="5181694" y="4800600"/>
            <a:ext cx="1927634"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78" name="26%">
            <a:extLst>
              <a:ext uri="{FF2B5EF4-FFF2-40B4-BE49-F238E27FC236}">
                <a16:creationId xmlns:a16="http://schemas.microsoft.com/office/drawing/2014/main" id="{72190EC2-871C-4840-A88D-E3E67F035880}"/>
              </a:ext>
            </a:extLst>
          </p:cNvPr>
          <p:cNvSpPr>
            <a:spLocks noGrp="1"/>
          </p:cNvSpPr>
          <p:nvPr/>
        </p:nvSpPr>
        <p:spPr>
          <a:xfrm>
            <a:off x="5219794" y="4905375"/>
            <a:ext cx="1870484"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28%</a:t>
            </a:r>
          </a:p>
        </p:txBody>
      </p:sp>
      <p:sp>
        <p:nvSpPr>
          <p:cNvPr id="579" name="Rectangle 578">
            <a:extLst>
              <a:ext uri="{FF2B5EF4-FFF2-40B4-BE49-F238E27FC236}">
                <a16:creationId xmlns:a16="http://schemas.microsoft.com/office/drawing/2014/main" id="{77D1342B-CD93-4725-BEA9-F0126DAC7680}"/>
              </a:ext>
            </a:extLst>
          </p:cNvPr>
          <p:cNvSpPr>
            <a:spLocks noGrp="1"/>
          </p:cNvSpPr>
          <p:nvPr/>
        </p:nvSpPr>
        <p:spPr>
          <a:xfrm>
            <a:off x="7109328" y="4800600"/>
            <a:ext cx="2065322"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80" name="28%">
            <a:extLst>
              <a:ext uri="{FF2B5EF4-FFF2-40B4-BE49-F238E27FC236}">
                <a16:creationId xmlns:a16="http://schemas.microsoft.com/office/drawing/2014/main" id="{30BE69D9-6C49-46FE-96D5-947CA01036FD}"/>
              </a:ext>
            </a:extLst>
          </p:cNvPr>
          <p:cNvSpPr>
            <a:spLocks noGrp="1"/>
          </p:cNvSpPr>
          <p:nvPr/>
        </p:nvSpPr>
        <p:spPr>
          <a:xfrm>
            <a:off x="7147428" y="4905375"/>
            <a:ext cx="200817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30%</a:t>
            </a:r>
          </a:p>
        </p:txBody>
      </p:sp>
      <p:sp>
        <p:nvSpPr>
          <p:cNvPr id="581" name="Rectangle 580">
            <a:extLst>
              <a:ext uri="{FF2B5EF4-FFF2-40B4-BE49-F238E27FC236}">
                <a16:creationId xmlns:a16="http://schemas.microsoft.com/office/drawing/2014/main" id="{276E5891-B529-4F5E-B493-045F152985C8}"/>
              </a:ext>
            </a:extLst>
          </p:cNvPr>
          <p:cNvSpPr>
            <a:spLocks noGrp="1"/>
          </p:cNvSpPr>
          <p:nvPr/>
        </p:nvSpPr>
        <p:spPr>
          <a:xfrm>
            <a:off x="9174650" y="4800600"/>
            <a:ext cx="1445725"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82" name="24%">
            <a:extLst>
              <a:ext uri="{FF2B5EF4-FFF2-40B4-BE49-F238E27FC236}">
                <a16:creationId xmlns:a16="http://schemas.microsoft.com/office/drawing/2014/main" id="{7162DF20-05E7-4364-8775-B8825EB8B9FB}"/>
              </a:ext>
            </a:extLst>
          </p:cNvPr>
          <p:cNvSpPr>
            <a:spLocks noGrp="1"/>
          </p:cNvSpPr>
          <p:nvPr/>
        </p:nvSpPr>
        <p:spPr>
          <a:xfrm>
            <a:off x="9212750" y="4905375"/>
            <a:ext cx="138857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21%</a:t>
            </a:r>
          </a:p>
        </p:txBody>
      </p:sp>
      <p:sp>
        <p:nvSpPr>
          <p:cNvPr id="583" name="n=201">
            <a:extLst>
              <a:ext uri="{FF2B5EF4-FFF2-40B4-BE49-F238E27FC236}">
                <a16:creationId xmlns:a16="http://schemas.microsoft.com/office/drawing/2014/main" id="{93100880-3DD4-4315-824E-0FA5CDA5AA9F}"/>
              </a:ext>
            </a:extLst>
          </p:cNvPr>
          <p:cNvSpPr>
            <a:spLocks noGrp="1"/>
          </p:cNvSpPr>
          <p:nvPr/>
        </p:nvSpPr>
        <p:spPr>
          <a:xfrm>
            <a:off x="10782300" y="48958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n=165</a:t>
            </a:r>
          </a:p>
        </p:txBody>
      </p:sp>
      <p:sp>
        <p:nvSpPr>
          <p:cNvPr id="584" name="Rectangle 583">
            <a:extLst>
              <a:ext uri="{FF2B5EF4-FFF2-40B4-BE49-F238E27FC236}">
                <a16:creationId xmlns:a16="http://schemas.microsoft.com/office/drawing/2014/main" id="{FCF6C6EA-1BC6-47C0-BF48-303FF3DC4408}"/>
              </a:ext>
            </a:extLst>
          </p:cNvPr>
          <p:cNvSpPr>
            <a:spLocks noGrp="1"/>
          </p:cNvSpPr>
          <p:nvPr/>
        </p:nvSpPr>
        <p:spPr>
          <a:xfrm>
            <a:off x="3667125" y="1409700"/>
            <a:ext cx="190500" cy="190500"/>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85" name="C0  &lt; 3.20">
            <a:extLst>
              <a:ext uri="{FF2B5EF4-FFF2-40B4-BE49-F238E27FC236}">
                <a16:creationId xmlns:a16="http://schemas.microsoft.com/office/drawing/2014/main" id="{5A1EFBEB-384B-4DE6-9F93-87D0FED7DC2F}"/>
              </a:ext>
            </a:extLst>
          </p:cNvPr>
          <p:cNvSpPr>
            <a:spLocks noGrp="1"/>
          </p:cNvSpPr>
          <p:nvPr/>
        </p:nvSpPr>
        <p:spPr>
          <a:xfrm>
            <a:off x="39433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C0  &lt; 3.20</a:t>
            </a:r>
          </a:p>
        </p:txBody>
      </p:sp>
      <p:sp>
        <p:nvSpPr>
          <p:cNvPr id="586" name="Rectangle 585">
            <a:extLst>
              <a:ext uri="{FF2B5EF4-FFF2-40B4-BE49-F238E27FC236}">
                <a16:creationId xmlns:a16="http://schemas.microsoft.com/office/drawing/2014/main" id="{806F7266-9161-4B26-BBDF-D81D07010070}"/>
              </a:ext>
            </a:extLst>
          </p:cNvPr>
          <p:cNvSpPr>
            <a:spLocks noGrp="1"/>
          </p:cNvSpPr>
          <p:nvPr/>
        </p:nvSpPr>
        <p:spPr>
          <a:xfrm>
            <a:off x="5476875" y="1409700"/>
            <a:ext cx="190500" cy="190500"/>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87" name="C1  3.20–3.49">
            <a:extLst>
              <a:ext uri="{FF2B5EF4-FFF2-40B4-BE49-F238E27FC236}">
                <a16:creationId xmlns:a16="http://schemas.microsoft.com/office/drawing/2014/main" id="{76B9B6C4-B86A-4234-A60F-C5E6302CFB7C}"/>
              </a:ext>
            </a:extLst>
          </p:cNvPr>
          <p:cNvSpPr>
            <a:spLocks noGrp="1"/>
          </p:cNvSpPr>
          <p:nvPr/>
        </p:nvSpPr>
        <p:spPr>
          <a:xfrm>
            <a:off x="57531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C1  3.20–3.49</a:t>
            </a:r>
          </a:p>
        </p:txBody>
      </p:sp>
      <p:sp>
        <p:nvSpPr>
          <p:cNvPr id="588" name="Rectangle 587">
            <a:extLst>
              <a:ext uri="{FF2B5EF4-FFF2-40B4-BE49-F238E27FC236}">
                <a16:creationId xmlns:a16="http://schemas.microsoft.com/office/drawing/2014/main" id="{0B7E115B-C96E-4694-BEA7-FED612AD2B61}"/>
              </a:ext>
            </a:extLst>
          </p:cNvPr>
          <p:cNvSpPr>
            <a:spLocks noGrp="1"/>
          </p:cNvSpPr>
          <p:nvPr/>
        </p:nvSpPr>
        <p:spPr>
          <a:xfrm>
            <a:off x="7286625" y="1409700"/>
            <a:ext cx="190500" cy="190500"/>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89" name="C2  3.50–3.74">
            <a:extLst>
              <a:ext uri="{FF2B5EF4-FFF2-40B4-BE49-F238E27FC236}">
                <a16:creationId xmlns:a16="http://schemas.microsoft.com/office/drawing/2014/main" id="{6E9DFA9E-3B16-43F8-B79D-E22189D40FAB}"/>
              </a:ext>
            </a:extLst>
          </p:cNvPr>
          <p:cNvSpPr>
            <a:spLocks noGrp="1"/>
          </p:cNvSpPr>
          <p:nvPr/>
        </p:nvSpPr>
        <p:spPr>
          <a:xfrm>
            <a:off x="75628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C2  3.50–3.74</a:t>
            </a:r>
          </a:p>
        </p:txBody>
      </p:sp>
      <p:sp>
        <p:nvSpPr>
          <p:cNvPr id="590" name="Rectangle 589">
            <a:extLst>
              <a:ext uri="{FF2B5EF4-FFF2-40B4-BE49-F238E27FC236}">
                <a16:creationId xmlns:a16="http://schemas.microsoft.com/office/drawing/2014/main" id="{39E44298-AEA9-43FE-9D5A-D1BADF2224F3}"/>
              </a:ext>
            </a:extLst>
          </p:cNvPr>
          <p:cNvSpPr>
            <a:spLocks noGrp="1"/>
          </p:cNvSpPr>
          <p:nvPr/>
        </p:nvSpPr>
        <p:spPr>
          <a:xfrm>
            <a:off x="9096375" y="1409700"/>
            <a:ext cx="190500" cy="190500"/>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91" name="C3  ≥ 3.75">
            <a:extLst>
              <a:ext uri="{FF2B5EF4-FFF2-40B4-BE49-F238E27FC236}">
                <a16:creationId xmlns:a16="http://schemas.microsoft.com/office/drawing/2014/main" id="{9628939C-5E31-43EF-81BC-7A945B8974DD}"/>
              </a:ext>
            </a:extLst>
          </p:cNvPr>
          <p:cNvSpPr>
            <a:spLocks noGrp="1"/>
          </p:cNvSpPr>
          <p:nvPr/>
        </p:nvSpPr>
        <p:spPr>
          <a:xfrm>
            <a:off x="93726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C3  ≥ 3.75</a:t>
            </a:r>
          </a:p>
        </p:txBody>
      </p:sp>
      <p:cxnSp>
        <p:nvCxnSpPr>
          <p:cNvPr id="2" name="Straight Arrow Connector 1">
            <a:extLst>
              <a:ext uri="{FF2B5EF4-FFF2-40B4-BE49-F238E27FC236}">
                <a16:creationId xmlns:a16="http://schemas.microsoft.com/office/drawing/2014/main" id="{EC9CC2F0-BB95-4644-2374-B7E59F7A76EB}"/>
              </a:ext>
            </a:extLst>
          </p:cNvPr>
          <p:cNvCxnSpPr>
            <a:cxnSpLocks/>
          </p:cNvCxnSpPr>
          <p:nvPr/>
        </p:nvCxnSpPr>
        <p:spPr>
          <a:xfrm>
            <a:off x="204107" y="5763986"/>
            <a:ext cx="1057819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 name="Straight Arrow Connector 2">
            <a:extLst>
              <a:ext uri="{FF2B5EF4-FFF2-40B4-BE49-F238E27FC236}">
                <a16:creationId xmlns:a16="http://schemas.microsoft.com/office/drawing/2014/main" id="{9D2B13A4-70D4-F6D9-3879-0BB68DEC1C85}"/>
              </a:ext>
            </a:extLst>
          </p:cNvPr>
          <p:cNvCxnSpPr>
            <a:cxnSpLocks/>
          </p:cNvCxnSpPr>
          <p:nvPr/>
        </p:nvCxnSpPr>
        <p:spPr>
          <a:xfrm flipV="1">
            <a:off x="356507" y="971550"/>
            <a:ext cx="0" cy="49448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5DA3E04C-6E72-EA71-F413-E3FAB419103F}"/>
              </a:ext>
            </a:extLst>
          </p:cNvPr>
          <p:cNvSpPr txBox="1"/>
          <p:nvPr/>
        </p:nvSpPr>
        <p:spPr>
          <a:xfrm>
            <a:off x="5532723" y="5787509"/>
            <a:ext cx="821572" cy="369332"/>
          </a:xfrm>
          <a:prstGeom prst="rect">
            <a:avLst/>
          </a:prstGeom>
          <a:noFill/>
        </p:spPr>
        <p:txBody>
          <a:bodyPr wrap="none" rtlCol="0">
            <a:spAutoFit/>
          </a:bodyPr>
          <a:lstStyle/>
          <a:p>
            <a:r>
              <a:rPr lang="en-US" dirty="0">
                <a:latin typeface="OpenAI Sans" panose="020B0604020202020204" charset="0"/>
                <a:ea typeface="OpenAI Sans" panose="020B0604020202020204" charset="0"/>
              </a:rPr>
              <a:t>CGPA</a:t>
            </a:r>
          </a:p>
        </p:txBody>
      </p:sp>
      <p:sp>
        <p:nvSpPr>
          <p:cNvPr id="5" name="TextBox 4">
            <a:extLst>
              <a:ext uri="{FF2B5EF4-FFF2-40B4-BE49-F238E27FC236}">
                <a16:creationId xmlns:a16="http://schemas.microsoft.com/office/drawing/2014/main" id="{88E328D4-2A91-0362-7CCC-7C8C7F82F7B6}"/>
              </a:ext>
            </a:extLst>
          </p:cNvPr>
          <p:cNvSpPr txBox="1"/>
          <p:nvPr/>
        </p:nvSpPr>
        <p:spPr>
          <a:xfrm rot="16200000">
            <a:off x="-685661" y="2715997"/>
            <a:ext cx="1802096" cy="369332"/>
          </a:xfrm>
          <a:prstGeom prst="rect">
            <a:avLst/>
          </a:prstGeom>
          <a:noFill/>
        </p:spPr>
        <p:txBody>
          <a:bodyPr wrap="none" rtlCol="0">
            <a:spAutoFit/>
          </a:bodyPr>
          <a:lstStyle/>
          <a:p>
            <a:r>
              <a:rPr lang="en-US" dirty="0">
                <a:latin typeface="OpenAI Sans" panose="020B0604020202020204" charset="0"/>
                <a:ea typeface="OpenAI Sans" panose="020B0604020202020204" charset="0"/>
              </a:rPr>
              <a:t>Family Support</a:t>
            </a:r>
          </a:p>
        </p:txBody>
      </p:sp>
    </p:spTree>
    <p:extLst>
      <p:ext uri="{BB962C8B-B14F-4D97-AF65-F5344CB8AC3E}">
        <p14:creationId xmlns:p14="http://schemas.microsoft.com/office/powerpoint/2010/main" val="147954253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lang="en-US" dirty="0">
                <a:latin typeface="OpenAI Sans" panose="020B0604020202020204" charset="0"/>
                <a:ea typeface="OpenAI Sans" panose="020B0604020202020204" charset="0"/>
                <a:cs typeface="Times New Roman"/>
              </a:rPr>
              <a:t>35</a:t>
            </a:r>
            <a:endParaRPr sz="1000" dirty="0">
              <a:latin typeface="OpenAI Sans" panose="020B0604020202020204" charset="0"/>
              <a:ea typeface="OpenAI Sans" panose="020B0604020202020204" charset="0"/>
              <a:cs typeface="Times New Roman"/>
            </a:endParaRP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b="1">
                <a:latin typeface="OpenAI Sans" panose="020B0604020202020204" charset="0"/>
                <a:ea typeface="OpenAI Sans" panose="020B0604020202020204" charset="0"/>
                <a:cs typeface="Times New Roman"/>
              </a:rPr>
              <a:t>Study environment and CGPA</a:t>
            </a:r>
          </a:p>
        </p:txBody>
      </p:sp>
      <p:sp>
        <p:nvSpPr>
          <p:cNvPr id="534" name="Very distracting">
            <a:extLst>
              <a:ext uri="{FF2B5EF4-FFF2-40B4-BE49-F238E27FC236}">
                <a16:creationId xmlns:a16="http://schemas.microsoft.com/office/drawing/2014/main" id="{3C6762E4-36B0-4625-ADF0-3420C9EA6070}"/>
              </a:ext>
            </a:extLst>
          </p:cNvPr>
          <p:cNvSpPr>
            <a:spLocks noGrp="1"/>
          </p:cNvSpPr>
          <p:nvPr/>
        </p:nvSpPr>
        <p:spPr>
          <a:xfrm>
            <a:off x="400050" y="19431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Very distracting</a:t>
            </a:r>
          </a:p>
        </p:txBody>
      </p:sp>
      <p:sp>
        <p:nvSpPr>
          <p:cNvPr id="535" name="Rectangle 534">
            <a:extLst>
              <a:ext uri="{FF2B5EF4-FFF2-40B4-BE49-F238E27FC236}">
                <a16:creationId xmlns:a16="http://schemas.microsoft.com/office/drawing/2014/main" id="{12D9992D-F387-40DC-A966-5B6A25DBBF45}"/>
              </a:ext>
            </a:extLst>
          </p:cNvPr>
          <p:cNvSpPr>
            <a:spLocks noGrp="1"/>
          </p:cNvSpPr>
          <p:nvPr/>
        </p:nvSpPr>
        <p:spPr>
          <a:xfrm>
            <a:off x="3667125" y="1905000"/>
            <a:ext cx="2271854"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36" name="30%">
            <a:extLst>
              <a:ext uri="{FF2B5EF4-FFF2-40B4-BE49-F238E27FC236}">
                <a16:creationId xmlns:a16="http://schemas.microsoft.com/office/drawing/2014/main" id="{F769A0F2-11B7-45BE-B96A-0ED7E65B826B}"/>
              </a:ext>
            </a:extLst>
          </p:cNvPr>
          <p:cNvSpPr>
            <a:spLocks noGrp="1"/>
          </p:cNvSpPr>
          <p:nvPr/>
        </p:nvSpPr>
        <p:spPr>
          <a:xfrm>
            <a:off x="3705225" y="2009775"/>
            <a:ext cx="2214704"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33%</a:t>
            </a:r>
          </a:p>
        </p:txBody>
      </p:sp>
      <p:sp>
        <p:nvSpPr>
          <p:cNvPr id="537" name="Rectangle 536">
            <a:extLst>
              <a:ext uri="{FF2B5EF4-FFF2-40B4-BE49-F238E27FC236}">
                <a16:creationId xmlns:a16="http://schemas.microsoft.com/office/drawing/2014/main" id="{12E56304-C6A4-4349-8CEA-38190A68270E}"/>
              </a:ext>
            </a:extLst>
          </p:cNvPr>
          <p:cNvSpPr>
            <a:spLocks noGrp="1"/>
          </p:cNvSpPr>
          <p:nvPr/>
        </p:nvSpPr>
        <p:spPr>
          <a:xfrm>
            <a:off x="5938979" y="1905000"/>
            <a:ext cx="1652257"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38" name="24%">
            <a:extLst>
              <a:ext uri="{FF2B5EF4-FFF2-40B4-BE49-F238E27FC236}">
                <a16:creationId xmlns:a16="http://schemas.microsoft.com/office/drawing/2014/main" id="{3FE33EB8-FC2B-4B0E-8DAF-62CE8E544D9A}"/>
              </a:ext>
            </a:extLst>
          </p:cNvPr>
          <p:cNvSpPr>
            <a:spLocks noGrp="1"/>
          </p:cNvSpPr>
          <p:nvPr/>
        </p:nvSpPr>
        <p:spPr>
          <a:xfrm>
            <a:off x="5977079" y="2009775"/>
            <a:ext cx="1595107"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24%</a:t>
            </a:r>
          </a:p>
        </p:txBody>
      </p:sp>
      <p:sp>
        <p:nvSpPr>
          <p:cNvPr id="539" name="Rectangle 538">
            <a:extLst>
              <a:ext uri="{FF2B5EF4-FFF2-40B4-BE49-F238E27FC236}">
                <a16:creationId xmlns:a16="http://schemas.microsoft.com/office/drawing/2014/main" id="{487D883A-8E25-4AF7-B2BE-2ACC198C23D9}"/>
              </a:ext>
            </a:extLst>
          </p:cNvPr>
          <p:cNvSpPr>
            <a:spLocks noGrp="1"/>
          </p:cNvSpPr>
          <p:nvPr/>
        </p:nvSpPr>
        <p:spPr>
          <a:xfrm>
            <a:off x="7591236" y="1905000"/>
            <a:ext cx="1583413"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40" name="23%">
            <a:extLst>
              <a:ext uri="{FF2B5EF4-FFF2-40B4-BE49-F238E27FC236}">
                <a16:creationId xmlns:a16="http://schemas.microsoft.com/office/drawing/2014/main" id="{A39A8C17-28E5-4970-AFF3-AD822EA23E9D}"/>
              </a:ext>
            </a:extLst>
          </p:cNvPr>
          <p:cNvSpPr>
            <a:spLocks noGrp="1"/>
          </p:cNvSpPr>
          <p:nvPr/>
        </p:nvSpPr>
        <p:spPr>
          <a:xfrm>
            <a:off x="7629336" y="2009775"/>
            <a:ext cx="1526263"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23%</a:t>
            </a:r>
          </a:p>
        </p:txBody>
      </p:sp>
      <p:sp>
        <p:nvSpPr>
          <p:cNvPr id="541" name="Rectangle 540">
            <a:extLst>
              <a:ext uri="{FF2B5EF4-FFF2-40B4-BE49-F238E27FC236}">
                <a16:creationId xmlns:a16="http://schemas.microsoft.com/office/drawing/2014/main" id="{F96780B4-8227-448A-B078-26851FE5C660}"/>
              </a:ext>
            </a:extLst>
          </p:cNvPr>
          <p:cNvSpPr>
            <a:spLocks noGrp="1"/>
          </p:cNvSpPr>
          <p:nvPr/>
        </p:nvSpPr>
        <p:spPr>
          <a:xfrm>
            <a:off x="9174649" y="1905000"/>
            <a:ext cx="1445726"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42" name="24%">
            <a:extLst>
              <a:ext uri="{FF2B5EF4-FFF2-40B4-BE49-F238E27FC236}">
                <a16:creationId xmlns:a16="http://schemas.microsoft.com/office/drawing/2014/main" id="{60EE6C17-A886-46B8-95AF-F2BC2C2CCC86}"/>
              </a:ext>
            </a:extLst>
          </p:cNvPr>
          <p:cNvSpPr>
            <a:spLocks noGrp="1"/>
          </p:cNvSpPr>
          <p:nvPr/>
        </p:nvSpPr>
        <p:spPr>
          <a:xfrm>
            <a:off x="9212749" y="2009775"/>
            <a:ext cx="1388576"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21%</a:t>
            </a:r>
          </a:p>
        </p:txBody>
      </p:sp>
      <p:sp>
        <p:nvSpPr>
          <p:cNvPr id="543" name="n=153">
            <a:extLst>
              <a:ext uri="{FF2B5EF4-FFF2-40B4-BE49-F238E27FC236}">
                <a16:creationId xmlns:a16="http://schemas.microsoft.com/office/drawing/2014/main" id="{FF65287A-93A2-4C3C-B5AE-D3545BAF0579}"/>
              </a:ext>
            </a:extLst>
          </p:cNvPr>
          <p:cNvSpPr>
            <a:spLocks noGrp="1"/>
          </p:cNvSpPr>
          <p:nvPr/>
        </p:nvSpPr>
        <p:spPr>
          <a:xfrm>
            <a:off x="10782300" y="20002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n=106</a:t>
            </a:r>
          </a:p>
        </p:txBody>
      </p:sp>
      <p:sp>
        <p:nvSpPr>
          <p:cNvPr id="544" name="Somewhat distracting">
            <a:extLst>
              <a:ext uri="{FF2B5EF4-FFF2-40B4-BE49-F238E27FC236}">
                <a16:creationId xmlns:a16="http://schemas.microsoft.com/office/drawing/2014/main" id="{827FDE7C-ADA8-44CB-B33B-7AA09759391D}"/>
              </a:ext>
            </a:extLst>
          </p:cNvPr>
          <p:cNvSpPr>
            <a:spLocks noGrp="1"/>
          </p:cNvSpPr>
          <p:nvPr/>
        </p:nvSpPr>
        <p:spPr>
          <a:xfrm>
            <a:off x="400050" y="26670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Somewhat distracting</a:t>
            </a:r>
          </a:p>
        </p:txBody>
      </p:sp>
      <p:sp>
        <p:nvSpPr>
          <p:cNvPr id="545" name="Rectangle 544">
            <a:extLst>
              <a:ext uri="{FF2B5EF4-FFF2-40B4-BE49-F238E27FC236}">
                <a16:creationId xmlns:a16="http://schemas.microsoft.com/office/drawing/2014/main" id="{BA27ADC3-99A7-4161-BD30-F390590A4914}"/>
              </a:ext>
            </a:extLst>
          </p:cNvPr>
          <p:cNvSpPr>
            <a:spLocks noGrp="1"/>
          </p:cNvSpPr>
          <p:nvPr/>
        </p:nvSpPr>
        <p:spPr>
          <a:xfrm>
            <a:off x="3667125" y="2628900"/>
            <a:ext cx="1460182"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46" name="21%">
            <a:extLst>
              <a:ext uri="{FF2B5EF4-FFF2-40B4-BE49-F238E27FC236}">
                <a16:creationId xmlns:a16="http://schemas.microsoft.com/office/drawing/2014/main" id="{9F073EE8-B3B4-497E-8107-2AADF38562B0}"/>
              </a:ext>
            </a:extLst>
          </p:cNvPr>
          <p:cNvSpPr>
            <a:spLocks noGrp="1"/>
          </p:cNvSpPr>
          <p:nvPr/>
        </p:nvSpPr>
        <p:spPr>
          <a:xfrm>
            <a:off x="3705225" y="2733675"/>
            <a:ext cx="140303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21%</a:t>
            </a:r>
          </a:p>
        </p:txBody>
      </p:sp>
      <p:sp>
        <p:nvSpPr>
          <p:cNvPr id="547" name="Rectangle 546">
            <a:extLst>
              <a:ext uri="{FF2B5EF4-FFF2-40B4-BE49-F238E27FC236}">
                <a16:creationId xmlns:a16="http://schemas.microsoft.com/office/drawing/2014/main" id="{6F6C5BAE-BA07-406C-A3E4-465CF76C53EF}"/>
              </a:ext>
            </a:extLst>
          </p:cNvPr>
          <p:cNvSpPr>
            <a:spLocks noGrp="1"/>
          </p:cNvSpPr>
          <p:nvPr/>
        </p:nvSpPr>
        <p:spPr>
          <a:xfrm>
            <a:off x="5127307" y="2628900"/>
            <a:ext cx="2225040"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48" name="31%">
            <a:extLst>
              <a:ext uri="{FF2B5EF4-FFF2-40B4-BE49-F238E27FC236}">
                <a16:creationId xmlns:a16="http://schemas.microsoft.com/office/drawing/2014/main" id="{EF8C5ABA-9F84-4568-BC2D-5F365A223D76}"/>
              </a:ext>
            </a:extLst>
          </p:cNvPr>
          <p:cNvSpPr>
            <a:spLocks noGrp="1"/>
          </p:cNvSpPr>
          <p:nvPr/>
        </p:nvSpPr>
        <p:spPr>
          <a:xfrm>
            <a:off x="5165407" y="2733675"/>
            <a:ext cx="216789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32%</a:t>
            </a:r>
          </a:p>
        </p:txBody>
      </p:sp>
      <p:sp>
        <p:nvSpPr>
          <p:cNvPr id="549" name="Rectangle 548">
            <a:extLst>
              <a:ext uri="{FF2B5EF4-FFF2-40B4-BE49-F238E27FC236}">
                <a16:creationId xmlns:a16="http://schemas.microsoft.com/office/drawing/2014/main" id="{FD25CC75-749A-4776-8BED-8C33E9C39F60}"/>
              </a:ext>
            </a:extLst>
          </p:cNvPr>
          <p:cNvSpPr>
            <a:spLocks noGrp="1"/>
          </p:cNvSpPr>
          <p:nvPr/>
        </p:nvSpPr>
        <p:spPr>
          <a:xfrm>
            <a:off x="7352347" y="2628900"/>
            <a:ext cx="1738312"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50" name="24%">
            <a:extLst>
              <a:ext uri="{FF2B5EF4-FFF2-40B4-BE49-F238E27FC236}">
                <a16:creationId xmlns:a16="http://schemas.microsoft.com/office/drawing/2014/main" id="{B6204180-D0AD-4E12-BDC8-265E032A92D7}"/>
              </a:ext>
            </a:extLst>
          </p:cNvPr>
          <p:cNvSpPr>
            <a:spLocks noGrp="1"/>
          </p:cNvSpPr>
          <p:nvPr/>
        </p:nvSpPr>
        <p:spPr>
          <a:xfrm>
            <a:off x="7390447" y="2733675"/>
            <a:ext cx="168116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25%</a:t>
            </a:r>
          </a:p>
        </p:txBody>
      </p:sp>
      <p:sp>
        <p:nvSpPr>
          <p:cNvPr id="551" name="Rectangle 550">
            <a:extLst>
              <a:ext uri="{FF2B5EF4-FFF2-40B4-BE49-F238E27FC236}">
                <a16:creationId xmlns:a16="http://schemas.microsoft.com/office/drawing/2014/main" id="{9AD147B4-4BAB-4269-903C-153B76FC0E77}"/>
              </a:ext>
            </a:extLst>
          </p:cNvPr>
          <p:cNvSpPr>
            <a:spLocks noGrp="1"/>
          </p:cNvSpPr>
          <p:nvPr/>
        </p:nvSpPr>
        <p:spPr>
          <a:xfrm>
            <a:off x="9090659" y="2628900"/>
            <a:ext cx="1529716"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52" name="24%">
            <a:extLst>
              <a:ext uri="{FF2B5EF4-FFF2-40B4-BE49-F238E27FC236}">
                <a16:creationId xmlns:a16="http://schemas.microsoft.com/office/drawing/2014/main" id="{DB2DF94A-BB63-4115-9A35-72378E04DF2E}"/>
              </a:ext>
            </a:extLst>
          </p:cNvPr>
          <p:cNvSpPr>
            <a:spLocks noGrp="1"/>
          </p:cNvSpPr>
          <p:nvPr/>
        </p:nvSpPr>
        <p:spPr>
          <a:xfrm>
            <a:off x="9128759" y="2733675"/>
            <a:ext cx="1472566"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22%</a:t>
            </a:r>
          </a:p>
        </p:txBody>
      </p:sp>
      <p:sp>
        <p:nvSpPr>
          <p:cNvPr id="553" name="n=185">
            <a:extLst>
              <a:ext uri="{FF2B5EF4-FFF2-40B4-BE49-F238E27FC236}">
                <a16:creationId xmlns:a16="http://schemas.microsoft.com/office/drawing/2014/main" id="{273001DA-0323-404C-8EB8-A38E583B0F68}"/>
              </a:ext>
            </a:extLst>
          </p:cNvPr>
          <p:cNvSpPr>
            <a:spLocks noGrp="1"/>
          </p:cNvSpPr>
          <p:nvPr/>
        </p:nvSpPr>
        <p:spPr>
          <a:xfrm>
            <a:off x="10782300" y="27241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n=151</a:t>
            </a:r>
          </a:p>
        </p:txBody>
      </p:sp>
      <p:sp>
        <p:nvSpPr>
          <p:cNvPr id="554" name="Neither good nor bad">
            <a:extLst>
              <a:ext uri="{FF2B5EF4-FFF2-40B4-BE49-F238E27FC236}">
                <a16:creationId xmlns:a16="http://schemas.microsoft.com/office/drawing/2014/main" id="{A4673D16-A0D1-483B-9492-B36D6BAC3141}"/>
              </a:ext>
            </a:extLst>
          </p:cNvPr>
          <p:cNvSpPr>
            <a:spLocks noGrp="1"/>
          </p:cNvSpPr>
          <p:nvPr/>
        </p:nvSpPr>
        <p:spPr>
          <a:xfrm>
            <a:off x="400050" y="33909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Neither good nor bad</a:t>
            </a:r>
          </a:p>
        </p:txBody>
      </p:sp>
      <p:sp>
        <p:nvSpPr>
          <p:cNvPr id="555" name="Rectangle 554">
            <a:extLst>
              <a:ext uri="{FF2B5EF4-FFF2-40B4-BE49-F238E27FC236}">
                <a16:creationId xmlns:a16="http://schemas.microsoft.com/office/drawing/2014/main" id="{46276AD3-C576-48CA-91E5-5290A5B0E839}"/>
              </a:ext>
            </a:extLst>
          </p:cNvPr>
          <p:cNvSpPr>
            <a:spLocks noGrp="1"/>
          </p:cNvSpPr>
          <p:nvPr/>
        </p:nvSpPr>
        <p:spPr>
          <a:xfrm>
            <a:off x="3667125" y="3352800"/>
            <a:ext cx="1042988"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56" name="18%">
            <a:extLst>
              <a:ext uri="{FF2B5EF4-FFF2-40B4-BE49-F238E27FC236}">
                <a16:creationId xmlns:a16="http://schemas.microsoft.com/office/drawing/2014/main" id="{D5D9D6AB-6647-4FB7-81AE-72E3884BAF47}"/>
              </a:ext>
            </a:extLst>
          </p:cNvPr>
          <p:cNvSpPr>
            <a:spLocks noGrp="1"/>
          </p:cNvSpPr>
          <p:nvPr/>
        </p:nvSpPr>
        <p:spPr>
          <a:xfrm>
            <a:off x="3705225" y="3457575"/>
            <a:ext cx="98583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15%</a:t>
            </a:r>
          </a:p>
        </p:txBody>
      </p:sp>
      <p:sp>
        <p:nvSpPr>
          <p:cNvPr id="557" name="Rectangle 556">
            <a:extLst>
              <a:ext uri="{FF2B5EF4-FFF2-40B4-BE49-F238E27FC236}">
                <a16:creationId xmlns:a16="http://schemas.microsoft.com/office/drawing/2014/main" id="{1FFAC337-5C31-4DF6-9D36-00EFB3956B16}"/>
              </a:ext>
            </a:extLst>
          </p:cNvPr>
          <p:cNvSpPr>
            <a:spLocks noGrp="1"/>
          </p:cNvSpPr>
          <p:nvPr/>
        </p:nvSpPr>
        <p:spPr>
          <a:xfrm>
            <a:off x="4710113" y="3352800"/>
            <a:ext cx="2433638"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58" name="33%">
            <a:extLst>
              <a:ext uri="{FF2B5EF4-FFF2-40B4-BE49-F238E27FC236}">
                <a16:creationId xmlns:a16="http://schemas.microsoft.com/office/drawing/2014/main" id="{7B29B3D2-F8E5-4C06-8E66-A1845328D11B}"/>
              </a:ext>
            </a:extLst>
          </p:cNvPr>
          <p:cNvSpPr>
            <a:spLocks noGrp="1"/>
          </p:cNvSpPr>
          <p:nvPr/>
        </p:nvSpPr>
        <p:spPr>
          <a:xfrm>
            <a:off x="4748213" y="3457575"/>
            <a:ext cx="237648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35%</a:t>
            </a:r>
          </a:p>
        </p:txBody>
      </p:sp>
      <p:sp>
        <p:nvSpPr>
          <p:cNvPr id="559" name="Rectangle 558">
            <a:extLst>
              <a:ext uri="{FF2B5EF4-FFF2-40B4-BE49-F238E27FC236}">
                <a16:creationId xmlns:a16="http://schemas.microsoft.com/office/drawing/2014/main" id="{14B45D88-03DB-404B-A3FB-7966626E6887}"/>
              </a:ext>
            </a:extLst>
          </p:cNvPr>
          <p:cNvSpPr>
            <a:spLocks noGrp="1"/>
          </p:cNvSpPr>
          <p:nvPr/>
        </p:nvSpPr>
        <p:spPr>
          <a:xfrm>
            <a:off x="7143751" y="3352800"/>
            <a:ext cx="2155508"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60" name="29%">
            <a:extLst>
              <a:ext uri="{FF2B5EF4-FFF2-40B4-BE49-F238E27FC236}">
                <a16:creationId xmlns:a16="http://schemas.microsoft.com/office/drawing/2014/main" id="{13CDB6EE-7E1F-496F-BEEF-75A627043F41}"/>
              </a:ext>
            </a:extLst>
          </p:cNvPr>
          <p:cNvSpPr>
            <a:spLocks noGrp="1"/>
          </p:cNvSpPr>
          <p:nvPr/>
        </p:nvSpPr>
        <p:spPr>
          <a:xfrm>
            <a:off x="7181851" y="3457575"/>
            <a:ext cx="209835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31%</a:t>
            </a:r>
          </a:p>
        </p:txBody>
      </p:sp>
      <p:sp>
        <p:nvSpPr>
          <p:cNvPr id="561" name="Rectangle 560">
            <a:extLst>
              <a:ext uri="{FF2B5EF4-FFF2-40B4-BE49-F238E27FC236}">
                <a16:creationId xmlns:a16="http://schemas.microsoft.com/office/drawing/2014/main" id="{75D66631-B4B2-4E3E-A636-F026301BE3D2}"/>
              </a:ext>
            </a:extLst>
          </p:cNvPr>
          <p:cNvSpPr>
            <a:spLocks noGrp="1"/>
          </p:cNvSpPr>
          <p:nvPr/>
        </p:nvSpPr>
        <p:spPr>
          <a:xfrm>
            <a:off x="9299259" y="3352800"/>
            <a:ext cx="1321116"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62" name="21%">
            <a:extLst>
              <a:ext uri="{FF2B5EF4-FFF2-40B4-BE49-F238E27FC236}">
                <a16:creationId xmlns:a16="http://schemas.microsoft.com/office/drawing/2014/main" id="{E958FFF8-E2D1-455C-90A7-18392BB0B850}"/>
              </a:ext>
            </a:extLst>
          </p:cNvPr>
          <p:cNvSpPr>
            <a:spLocks noGrp="1"/>
          </p:cNvSpPr>
          <p:nvPr/>
        </p:nvSpPr>
        <p:spPr>
          <a:xfrm>
            <a:off x="9337359" y="3457575"/>
            <a:ext cx="1263966"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19%</a:t>
            </a:r>
          </a:p>
        </p:txBody>
      </p:sp>
      <p:sp>
        <p:nvSpPr>
          <p:cNvPr id="563" name="n=266">
            <a:extLst>
              <a:ext uri="{FF2B5EF4-FFF2-40B4-BE49-F238E27FC236}">
                <a16:creationId xmlns:a16="http://schemas.microsoft.com/office/drawing/2014/main" id="{7DBB85C9-2683-4747-B5D0-D72B1192C287}"/>
              </a:ext>
            </a:extLst>
          </p:cNvPr>
          <p:cNvSpPr>
            <a:spLocks noGrp="1"/>
          </p:cNvSpPr>
          <p:nvPr/>
        </p:nvSpPr>
        <p:spPr>
          <a:xfrm>
            <a:off x="10782300" y="34480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n=221</a:t>
            </a:r>
          </a:p>
        </p:txBody>
      </p:sp>
      <p:sp>
        <p:nvSpPr>
          <p:cNvPr id="564" name="Mostly suitable">
            <a:extLst>
              <a:ext uri="{FF2B5EF4-FFF2-40B4-BE49-F238E27FC236}">
                <a16:creationId xmlns:a16="http://schemas.microsoft.com/office/drawing/2014/main" id="{38094381-B0E9-4BAD-9CD8-0BABEB986474}"/>
              </a:ext>
            </a:extLst>
          </p:cNvPr>
          <p:cNvSpPr>
            <a:spLocks noGrp="1"/>
          </p:cNvSpPr>
          <p:nvPr/>
        </p:nvSpPr>
        <p:spPr>
          <a:xfrm>
            <a:off x="400050" y="41148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Mostly suitable</a:t>
            </a:r>
          </a:p>
        </p:txBody>
      </p:sp>
      <p:sp>
        <p:nvSpPr>
          <p:cNvPr id="565" name="Rectangle 564">
            <a:extLst>
              <a:ext uri="{FF2B5EF4-FFF2-40B4-BE49-F238E27FC236}">
                <a16:creationId xmlns:a16="http://schemas.microsoft.com/office/drawing/2014/main" id="{8C07C373-7D52-4334-8415-580951B4346C}"/>
              </a:ext>
            </a:extLst>
          </p:cNvPr>
          <p:cNvSpPr>
            <a:spLocks noGrp="1"/>
          </p:cNvSpPr>
          <p:nvPr/>
        </p:nvSpPr>
        <p:spPr>
          <a:xfrm>
            <a:off x="3667125" y="4076700"/>
            <a:ext cx="1032661"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66" name="17%">
            <a:extLst>
              <a:ext uri="{FF2B5EF4-FFF2-40B4-BE49-F238E27FC236}">
                <a16:creationId xmlns:a16="http://schemas.microsoft.com/office/drawing/2014/main" id="{49857BB4-98E3-420B-AC89-711E653D3967}"/>
              </a:ext>
            </a:extLst>
          </p:cNvPr>
          <p:cNvSpPr>
            <a:spLocks noGrp="1"/>
          </p:cNvSpPr>
          <p:nvPr/>
        </p:nvSpPr>
        <p:spPr>
          <a:xfrm>
            <a:off x="3705225" y="4181475"/>
            <a:ext cx="975511"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15%</a:t>
            </a:r>
          </a:p>
        </p:txBody>
      </p:sp>
      <p:sp>
        <p:nvSpPr>
          <p:cNvPr id="567" name="Rectangle 566">
            <a:extLst>
              <a:ext uri="{FF2B5EF4-FFF2-40B4-BE49-F238E27FC236}">
                <a16:creationId xmlns:a16="http://schemas.microsoft.com/office/drawing/2014/main" id="{8BFBE54E-6D0C-4A64-AE0B-E26137A3DD4A}"/>
              </a:ext>
            </a:extLst>
          </p:cNvPr>
          <p:cNvSpPr>
            <a:spLocks noGrp="1"/>
          </p:cNvSpPr>
          <p:nvPr/>
        </p:nvSpPr>
        <p:spPr>
          <a:xfrm>
            <a:off x="4699786" y="4076700"/>
            <a:ext cx="2134166"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68" name="29%">
            <a:extLst>
              <a:ext uri="{FF2B5EF4-FFF2-40B4-BE49-F238E27FC236}">
                <a16:creationId xmlns:a16="http://schemas.microsoft.com/office/drawing/2014/main" id="{09164897-6969-41EF-B58E-4F6CE49470AC}"/>
              </a:ext>
            </a:extLst>
          </p:cNvPr>
          <p:cNvSpPr>
            <a:spLocks noGrp="1"/>
          </p:cNvSpPr>
          <p:nvPr/>
        </p:nvSpPr>
        <p:spPr>
          <a:xfrm>
            <a:off x="4737886" y="4181475"/>
            <a:ext cx="2077016"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31%</a:t>
            </a:r>
          </a:p>
        </p:txBody>
      </p:sp>
      <p:sp>
        <p:nvSpPr>
          <p:cNvPr id="569" name="Rectangle 568">
            <a:extLst>
              <a:ext uri="{FF2B5EF4-FFF2-40B4-BE49-F238E27FC236}">
                <a16:creationId xmlns:a16="http://schemas.microsoft.com/office/drawing/2014/main" id="{CB2489A1-8FCE-4A0E-9C70-7D465239FBF7}"/>
              </a:ext>
            </a:extLst>
          </p:cNvPr>
          <p:cNvSpPr>
            <a:spLocks noGrp="1"/>
          </p:cNvSpPr>
          <p:nvPr/>
        </p:nvSpPr>
        <p:spPr>
          <a:xfrm>
            <a:off x="6833952" y="4076700"/>
            <a:ext cx="2340698"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70" name="33%">
            <a:extLst>
              <a:ext uri="{FF2B5EF4-FFF2-40B4-BE49-F238E27FC236}">
                <a16:creationId xmlns:a16="http://schemas.microsoft.com/office/drawing/2014/main" id="{CA89A13C-92EB-461B-B7CC-93C48C99A801}"/>
              </a:ext>
            </a:extLst>
          </p:cNvPr>
          <p:cNvSpPr>
            <a:spLocks noGrp="1"/>
          </p:cNvSpPr>
          <p:nvPr/>
        </p:nvSpPr>
        <p:spPr>
          <a:xfrm>
            <a:off x="6872052" y="4181475"/>
            <a:ext cx="228354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34%</a:t>
            </a:r>
          </a:p>
        </p:txBody>
      </p:sp>
      <p:sp>
        <p:nvSpPr>
          <p:cNvPr id="571" name="Rectangle 570">
            <a:extLst>
              <a:ext uri="{FF2B5EF4-FFF2-40B4-BE49-F238E27FC236}">
                <a16:creationId xmlns:a16="http://schemas.microsoft.com/office/drawing/2014/main" id="{F7F6082F-E860-4006-9CF4-FBC59A5FD1D3}"/>
              </a:ext>
            </a:extLst>
          </p:cNvPr>
          <p:cNvSpPr>
            <a:spLocks noGrp="1"/>
          </p:cNvSpPr>
          <p:nvPr/>
        </p:nvSpPr>
        <p:spPr>
          <a:xfrm>
            <a:off x="9174650" y="4076700"/>
            <a:ext cx="1445725"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72" name="22%">
            <a:extLst>
              <a:ext uri="{FF2B5EF4-FFF2-40B4-BE49-F238E27FC236}">
                <a16:creationId xmlns:a16="http://schemas.microsoft.com/office/drawing/2014/main" id="{92BFE5EB-989A-4676-B7A3-8FA14230F6B5}"/>
              </a:ext>
            </a:extLst>
          </p:cNvPr>
          <p:cNvSpPr>
            <a:spLocks noGrp="1"/>
          </p:cNvSpPr>
          <p:nvPr/>
        </p:nvSpPr>
        <p:spPr>
          <a:xfrm>
            <a:off x="9212750" y="4181475"/>
            <a:ext cx="138857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21%</a:t>
            </a:r>
          </a:p>
        </p:txBody>
      </p:sp>
      <p:sp>
        <p:nvSpPr>
          <p:cNvPr id="573" name="n=341">
            <a:extLst>
              <a:ext uri="{FF2B5EF4-FFF2-40B4-BE49-F238E27FC236}">
                <a16:creationId xmlns:a16="http://schemas.microsoft.com/office/drawing/2014/main" id="{1DFDF717-2C45-472C-92B1-B162F07E7CBF}"/>
              </a:ext>
            </a:extLst>
          </p:cNvPr>
          <p:cNvSpPr>
            <a:spLocks noGrp="1"/>
          </p:cNvSpPr>
          <p:nvPr/>
        </p:nvSpPr>
        <p:spPr>
          <a:xfrm>
            <a:off x="10782300" y="41719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n=310</a:t>
            </a:r>
          </a:p>
        </p:txBody>
      </p:sp>
      <p:sp>
        <p:nvSpPr>
          <p:cNvPr id="574" name="Excellent for focused study">
            <a:extLst>
              <a:ext uri="{FF2B5EF4-FFF2-40B4-BE49-F238E27FC236}">
                <a16:creationId xmlns:a16="http://schemas.microsoft.com/office/drawing/2014/main" id="{2D344112-20C0-4D7D-8E64-8D0F91864DB1}"/>
              </a:ext>
            </a:extLst>
          </p:cNvPr>
          <p:cNvSpPr>
            <a:spLocks noGrp="1"/>
          </p:cNvSpPr>
          <p:nvPr/>
        </p:nvSpPr>
        <p:spPr>
          <a:xfrm>
            <a:off x="400050" y="48387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Excellent for focused study</a:t>
            </a:r>
          </a:p>
        </p:txBody>
      </p:sp>
      <p:sp>
        <p:nvSpPr>
          <p:cNvPr id="575" name="Rectangle 574">
            <a:extLst>
              <a:ext uri="{FF2B5EF4-FFF2-40B4-BE49-F238E27FC236}">
                <a16:creationId xmlns:a16="http://schemas.microsoft.com/office/drawing/2014/main" id="{1F16E975-3270-47F8-8648-ECCD3C5B207B}"/>
              </a:ext>
            </a:extLst>
          </p:cNvPr>
          <p:cNvSpPr>
            <a:spLocks noGrp="1"/>
          </p:cNvSpPr>
          <p:nvPr/>
        </p:nvSpPr>
        <p:spPr>
          <a:xfrm>
            <a:off x="3667125" y="4800600"/>
            <a:ext cx="1877378"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76" name="28%">
            <a:extLst>
              <a:ext uri="{FF2B5EF4-FFF2-40B4-BE49-F238E27FC236}">
                <a16:creationId xmlns:a16="http://schemas.microsoft.com/office/drawing/2014/main" id="{70BCE0BF-C0A6-43CB-A797-93D6BC45373F}"/>
              </a:ext>
            </a:extLst>
          </p:cNvPr>
          <p:cNvSpPr>
            <a:spLocks noGrp="1"/>
          </p:cNvSpPr>
          <p:nvPr/>
        </p:nvSpPr>
        <p:spPr>
          <a:xfrm>
            <a:off x="3705225" y="4905375"/>
            <a:ext cx="182022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27%</a:t>
            </a:r>
          </a:p>
        </p:txBody>
      </p:sp>
      <p:sp>
        <p:nvSpPr>
          <p:cNvPr id="577" name="Rectangle 576">
            <a:extLst>
              <a:ext uri="{FF2B5EF4-FFF2-40B4-BE49-F238E27FC236}">
                <a16:creationId xmlns:a16="http://schemas.microsoft.com/office/drawing/2014/main" id="{AA0DFA16-4CB4-43A7-BDD1-4472BC8C9896}"/>
              </a:ext>
            </a:extLst>
          </p:cNvPr>
          <p:cNvSpPr>
            <a:spLocks noGrp="1"/>
          </p:cNvSpPr>
          <p:nvPr/>
        </p:nvSpPr>
        <p:spPr>
          <a:xfrm>
            <a:off x="5544503" y="4800600"/>
            <a:ext cx="1946910"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78" name="26%">
            <a:extLst>
              <a:ext uri="{FF2B5EF4-FFF2-40B4-BE49-F238E27FC236}">
                <a16:creationId xmlns:a16="http://schemas.microsoft.com/office/drawing/2014/main" id="{35164519-DA78-495D-92A5-240F75F7FC27}"/>
              </a:ext>
            </a:extLst>
          </p:cNvPr>
          <p:cNvSpPr>
            <a:spLocks noGrp="1"/>
          </p:cNvSpPr>
          <p:nvPr/>
        </p:nvSpPr>
        <p:spPr>
          <a:xfrm>
            <a:off x="5582603" y="4905375"/>
            <a:ext cx="188976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28%</a:t>
            </a:r>
          </a:p>
        </p:txBody>
      </p:sp>
      <p:sp>
        <p:nvSpPr>
          <p:cNvPr id="579" name="Rectangle 578">
            <a:extLst>
              <a:ext uri="{FF2B5EF4-FFF2-40B4-BE49-F238E27FC236}">
                <a16:creationId xmlns:a16="http://schemas.microsoft.com/office/drawing/2014/main" id="{F73B20E5-19E6-4BE3-9965-64CB94675AFB}"/>
              </a:ext>
            </a:extLst>
          </p:cNvPr>
          <p:cNvSpPr>
            <a:spLocks noGrp="1"/>
          </p:cNvSpPr>
          <p:nvPr/>
        </p:nvSpPr>
        <p:spPr>
          <a:xfrm>
            <a:off x="7491413" y="4800600"/>
            <a:ext cx="1529715"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80" name="22%">
            <a:extLst>
              <a:ext uri="{FF2B5EF4-FFF2-40B4-BE49-F238E27FC236}">
                <a16:creationId xmlns:a16="http://schemas.microsoft.com/office/drawing/2014/main" id="{C6ADB859-DC8E-42E7-87CC-33337111FCCA}"/>
              </a:ext>
            </a:extLst>
          </p:cNvPr>
          <p:cNvSpPr>
            <a:spLocks noGrp="1"/>
          </p:cNvSpPr>
          <p:nvPr/>
        </p:nvSpPr>
        <p:spPr>
          <a:xfrm>
            <a:off x="7529513" y="4905375"/>
            <a:ext cx="147256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22%</a:t>
            </a:r>
          </a:p>
        </p:txBody>
      </p:sp>
      <p:sp>
        <p:nvSpPr>
          <p:cNvPr id="581" name="Rectangle 580">
            <a:extLst>
              <a:ext uri="{FF2B5EF4-FFF2-40B4-BE49-F238E27FC236}">
                <a16:creationId xmlns:a16="http://schemas.microsoft.com/office/drawing/2014/main" id="{04533AB1-5482-41B1-9A81-36CFD9FE7CAC}"/>
              </a:ext>
            </a:extLst>
          </p:cNvPr>
          <p:cNvSpPr>
            <a:spLocks noGrp="1"/>
          </p:cNvSpPr>
          <p:nvPr/>
        </p:nvSpPr>
        <p:spPr>
          <a:xfrm>
            <a:off x="9021128" y="4800600"/>
            <a:ext cx="1599247"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82" name="23%">
            <a:extLst>
              <a:ext uri="{FF2B5EF4-FFF2-40B4-BE49-F238E27FC236}">
                <a16:creationId xmlns:a16="http://schemas.microsoft.com/office/drawing/2014/main" id="{C47F34B8-F288-420B-8050-CB083574086D}"/>
              </a:ext>
            </a:extLst>
          </p:cNvPr>
          <p:cNvSpPr>
            <a:spLocks noGrp="1"/>
          </p:cNvSpPr>
          <p:nvPr/>
        </p:nvSpPr>
        <p:spPr>
          <a:xfrm>
            <a:off x="9059228" y="4905375"/>
            <a:ext cx="1542097"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23%</a:t>
            </a:r>
          </a:p>
        </p:txBody>
      </p:sp>
      <p:sp>
        <p:nvSpPr>
          <p:cNvPr id="583" name="n=163">
            <a:extLst>
              <a:ext uri="{FF2B5EF4-FFF2-40B4-BE49-F238E27FC236}">
                <a16:creationId xmlns:a16="http://schemas.microsoft.com/office/drawing/2014/main" id="{67A25A3A-65A5-4E4D-8A65-046A1F8F4CBA}"/>
              </a:ext>
            </a:extLst>
          </p:cNvPr>
          <p:cNvSpPr>
            <a:spLocks noGrp="1"/>
          </p:cNvSpPr>
          <p:nvPr/>
        </p:nvSpPr>
        <p:spPr>
          <a:xfrm>
            <a:off x="10782300" y="48958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n=132</a:t>
            </a:r>
          </a:p>
        </p:txBody>
      </p:sp>
      <p:sp>
        <p:nvSpPr>
          <p:cNvPr id="584" name="Rectangle 583">
            <a:extLst>
              <a:ext uri="{FF2B5EF4-FFF2-40B4-BE49-F238E27FC236}">
                <a16:creationId xmlns:a16="http://schemas.microsoft.com/office/drawing/2014/main" id="{8C0C630E-33D3-4739-8E15-97E92E223AF1}"/>
              </a:ext>
            </a:extLst>
          </p:cNvPr>
          <p:cNvSpPr>
            <a:spLocks noGrp="1"/>
          </p:cNvSpPr>
          <p:nvPr/>
        </p:nvSpPr>
        <p:spPr>
          <a:xfrm>
            <a:off x="3667125" y="1409700"/>
            <a:ext cx="190500" cy="190500"/>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85" name="C0  &lt; 3.20">
            <a:extLst>
              <a:ext uri="{FF2B5EF4-FFF2-40B4-BE49-F238E27FC236}">
                <a16:creationId xmlns:a16="http://schemas.microsoft.com/office/drawing/2014/main" id="{DFBCD036-660D-4C00-8FC0-2E3621A85065}"/>
              </a:ext>
            </a:extLst>
          </p:cNvPr>
          <p:cNvSpPr>
            <a:spLocks noGrp="1"/>
          </p:cNvSpPr>
          <p:nvPr/>
        </p:nvSpPr>
        <p:spPr>
          <a:xfrm>
            <a:off x="39433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C0  &lt; 3.20</a:t>
            </a:r>
          </a:p>
        </p:txBody>
      </p:sp>
      <p:sp>
        <p:nvSpPr>
          <p:cNvPr id="586" name="Rectangle 585">
            <a:extLst>
              <a:ext uri="{FF2B5EF4-FFF2-40B4-BE49-F238E27FC236}">
                <a16:creationId xmlns:a16="http://schemas.microsoft.com/office/drawing/2014/main" id="{8B958EC1-9891-4330-AE17-DBBAF795A6F5}"/>
              </a:ext>
            </a:extLst>
          </p:cNvPr>
          <p:cNvSpPr>
            <a:spLocks noGrp="1"/>
          </p:cNvSpPr>
          <p:nvPr/>
        </p:nvSpPr>
        <p:spPr>
          <a:xfrm>
            <a:off x="5476875" y="1409700"/>
            <a:ext cx="190500" cy="190500"/>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87" name="C1  3.20–3.49">
            <a:extLst>
              <a:ext uri="{FF2B5EF4-FFF2-40B4-BE49-F238E27FC236}">
                <a16:creationId xmlns:a16="http://schemas.microsoft.com/office/drawing/2014/main" id="{9DB36425-8C4B-4553-B317-1D935B8A7220}"/>
              </a:ext>
            </a:extLst>
          </p:cNvPr>
          <p:cNvSpPr>
            <a:spLocks noGrp="1"/>
          </p:cNvSpPr>
          <p:nvPr/>
        </p:nvSpPr>
        <p:spPr>
          <a:xfrm>
            <a:off x="57531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C1  3.20–3.49</a:t>
            </a:r>
          </a:p>
        </p:txBody>
      </p:sp>
      <p:sp>
        <p:nvSpPr>
          <p:cNvPr id="588" name="Rectangle 587">
            <a:extLst>
              <a:ext uri="{FF2B5EF4-FFF2-40B4-BE49-F238E27FC236}">
                <a16:creationId xmlns:a16="http://schemas.microsoft.com/office/drawing/2014/main" id="{4086C98A-4651-483C-8D90-11F3C5D98F53}"/>
              </a:ext>
            </a:extLst>
          </p:cNvPr>
          <p:cNvSpPr>
            <a:spLocks noGrp="1"/>
          </p:cNvSpPr>
          <p:nvPr/>
        </p:nvSpPr>
        <p:spPr>
          <a:xfrm>
            <a:off x="7286625" y="1409700"/>
            <a:ext cx="190500" cy="190500"/>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89" name="C2  3.50–3.74">
            <a:extLst>
              <a:ext uri="{FF2B5EF4-FFF2-40B4-BE49-F238E27FC236}">
                <a16:creationId xmlns:a16="http://schemas.microsoft.com/office/drawing/2014/main" id="{B733F10F-31F2-48A3-99F4-FBBEF9494838}"/>
              </a:ext>
            </a:extLst>
          </p:cNvPr>
          <p:cNvSpPr>
            <a:spLocks noGrp="1"/>
          </p:cNvSpPr>
          <p:nvPr/>
        </p:nvSpPr>
        <p:spPr>
          <a:xfrm>
            <a:off x="75628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C2  3.50–3.74</a:t>
            </a:r>
          </a:p>
        </p:txBody>
      </p:sp>
      <p:sp>
        <p:nvSpPr>
          <p:cNvPr id="590" name="Rectangle 589">
            <a:extLst>
              <a:ext uri="{FF2B5EF4-FFF2-40B4-BE49-F238E27FC236}">
                <a16:creationId xmlns:a16="http://schemas.microsoft.com/office/drawing/2014/main" id="{FF756141-B772-4F84-86BC-E900EFC7EFFA}"/>
              </a:ext>
            </a:extLst>
          </p:cNvPr>
          <p:cNvSpPr>
            <a:spLocks noGrp="1"/>
          </p:cNvSpPr>
          <p:nvPr/>
        </p:nvSpPr>
        <p:spPr>
          <a:xfrm>
            <a:off x="9096375" y="1409700"/>
            <a:ext cx="190500" cy="190500"/>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91" name="C3  ≥ 3.75">
            <a:extLst>
              <a:ext uri="{FF2B5EF4-FFF2-40B4-BE49-F238E27FC236}">
                <a16:creationId xmlns:a16="http://schemas.microsoft.com/office/drawing/2014/main" id="{0C619846-4FC8-4E1B-9A8D-F7258CA6DB19}"/>
              </a:ext>
            </a:extLst>
          </p:cNvPr>
          <p:cNvSpPr>
            <a:spLocks noGrp="1"/>
          </p:cNvSpPr>
          <p:nvPr/>
        </p:nvSpPr>
        <p:spPr>
          <a:xfrm>
            <a:off x="93726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C3  ≥ 3.75</a:t>
            </a:r>
          </a:p>
        </p:txBody>
      </p:sp>
      <p:cxnSp>
        <p:nvCxnSpPr>
          <p:cNvPr id="2" name="Straight Arrow Connector 1">
            <a:extLst>
              <a:ext uri="{FF2B5EF4-FFF2-40B4-BE49-F238E27FC236}">
                <a16:creationId xmlns:a16="http://schemas.microsoft.com/office/drawing/2014/main" id="{7BDEA0EB-0D83-5B48-88E3-BC10D3F527D9}"/>
              </a:ext>
            </a:extLst>
          </p:cNvPr>
          <p:cNvCxnSpPr>
            <a:cxnSpLocks/>
          </p:cNvCxnSpPr>
          <p:nvPr/>
        </p:nvCxnSpPr>
        <p:spPr>
          <a:xfrm>
            <a:off x="204107" y="5763986"/>
            <a:ext cx="1057819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 name="Straight Arrow Connector 2">
            <a:extLst>
              <a:ext uri="{FF2B5EF4-FFF2-40B4-BE49-F238E27FC236}">
                <a16:creationId xmlns:a16="http://schemas.microsoft.com/office/drawing/2014/main" id="{9BA72B32-85D0-6658-D8A2-9DF5B4FBA7A2}"/>
              </a:ext>
            </a:extLst>
          </p:cNvPr>
          <p:cNvCxnSpPr>
            <a:cxnSpLocks/>
          </p:cNvCxnSpPr>
          <p:nvPr/>
        </p:nvCxnSpPr>
        <p:spPr>
          <a:xfrm flipV="1">
            <a:off x="356507" y="971550"/>
            <a:ext cx="0" cy="49448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FDE257D2-4E4E-2EEB-AFAF-60CD2BB567DA}"/>
              </a:ext>
            </a:extLst>
          </p:cNvPr>
          <p:cNvSpPr txBox="1"/>
          <p:nvPr/>
        </p:nvSpPr>
        <p:spPr>
          <a:xfrm>
            <a:off x="5532723" y="5787509"/>
            <a:ext cx="821572" cy="369332"/>
          </a:xfrm>
          <a:prstGeom prst="rect">
            <a:avLst/>
          </a:prstGeom>
          <a:noFill/>
        </p:spPr>
        <p:txBody>
          <a:bodyPr wrap="none" rtlCol="0">
            <a:spAutoFit/>
          </a:bodyPr>
          <a:lstStyle/>
          <a:p>
            <a:r>
              <a:rPr lang="en-US" dirty="0">
                <a:latin typeface="OpenAI Sans" panose="020B0604020202020204" charset="0"/>
                <a:ea typeface="OpenAI Sans" panose="020B0604020202020204" charset="0"/>
              </a:rPr>
              <a:t>CGPA</a:t>
            </a:r>
          </a:p>
        </p:txBody>
      </p:sp>
      <p:sp>
        <p:nvSpPr>
          <p:cNvPr id="5" name="TextBox 4">
            <a:extLst>
              <a:ext uri="{FF2B5EF4-FFF2-40B4-BE49-F238E27FC236}">
                <a16:creationId xmlns:a16="http://schemas.microsoft.com/office/drawing/2014/main" id="{C0DD057E-1EEB-CD3F-18EB-F29BB74DFB30}"/>
              </a:ext>
            </a:extLst>
          </p:cNvPr>
          <p:cNvSpPr txBox="1"/>
          <p:nvPr/>
        </p:nvSpPr>
        <p:spPr>
          <a:xfrm rot="16200000">
            <a:off x="-895654" y="2715997"/>
            <a:ext cx="2222083" cy="369332"/>
          </a:xfrm>
          <a:prstGeom prst="rect">
            <a:avLst/>
          </a:prstGeom>
          <a:noFill/>
        </p:spPr>
        <p:txBody>
          <a:bodyPr wrap="none" rtlCol="0">
            <a:spAutoFit/>
          </a:bodyPr>
          <a:lstStyle/>
          <a:p>
            <a:r>
              <a:rPr lang="en-US" dirty="0">
                <a:latin typeface="OpenAI Sans" panose="020B0604020202020204" charset="0"/>
                <a:ea typeface="OpenAI Sans" panose="020B0604020202020204" charset="0"/>
              </a:rPr>
              <a:t>Study Environment</a:t>
            </a:r>
          </a:p>
        </p:txBody>
      </p:sp>
    </p:spTree>
    <p:extLst>
      <p:ext uri="{BB962C8B-B14F-4D97-AF65-F5344CB8AC3E}">
        <p14:creationId xmlns:p14="http://schemas.microsoft.com/office/powerpoint/2010/main" val="216994560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lang="en-US" dirty="0">
                <a:latin typeface="OpenAI Sans" panose="020B0604020202020204" charset="0"/>
                <a:ea typeface="OpenAI Sans" panose="020B0604020202020204" charset="0"/>
                <a:cs typeface="Times New Roman"/>
              </a:rPr>
              <a:t>36</a:t>
            </a:r>
            <a:endParaRPr sz="1000" dirty="0">
              <a:latin typeface="OpenAI Sans" panose="020B0604020202020204" charset="0"/>
              <a:ea typeface="OpenAI Sans" panose="020B0604020202020204" charset="0"/>
              <a:cs typeface="Times New Roman"/>
            </a:endParaRP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b="1">
                <a:latin typeface="OpenAI Sans" panose="020B0604020202020204" charset="0"/>
                <a:ea typeface="OpenAI Sans" panose="020B0604020202020204" charset="0"/>
                <a:cs typeface="Times New Roman"/>
              </a:rPr>
              <a:t>Routine manageability and CGPA</a:t>
            </a:r>
          </a:p>
        </p:txBody>
      </p:sp>
      <p:sp>
        <p:nvSpPr>
          <p:cNvPr id="534" name="Completely unmanageable">
            <a:extLst>
              <a:ext uri="{FF2B5EF4-FFF2-40B4-BE49-F238E27FC236}">
                <a16:creationId xmlns:a16="http://schemas.microsoft.com/office/drawing/2014/main" id="{3E7F35A0-98BC-4886-8A7F-980CBF22A2AD}"/>
              </a:ext>
            </a:extLst>
          </p:cNvPr>
          <p:cNvSpPr>
            <a:spLocks noGrp="1"/>
          </p:cNvSpPr>
          <p:nvPr/>
        </p:nvSpPr>
        <p:spPr>
          <a:xfrm>
            <a:off x="400050" y="19431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Completely unmanageable</a:t>
            </a:r>
          </a:p>
        </p:txBody>
      </p:sp>
      <p:sp>
        <p:nvSpPr>
          <p:cNvPr id="535" name="Rectangle 534">
            <a:extLst>
              <a:ext uri="{FF2B5EF4-FFF2-40B4-BE49-F238E27FC236}">
                <a16:creationId xmlns:a16="http://schemas.microsoft.com/office/drawing/2014/main" id="{76C2C2B2-A13E-49F1-8319-6F91051E0544}"/>
              </a:ext>
            </a:extLst>
          </p:cNvPr>
          <p:cNvSpPr>
            <a:spLocks noGrp="1"/>
          </p:cNvSpPr>
          <p:nvPr/>
        </p:nvSpPr>
        <p:spPr>
          <a:xfrm>
            <a:off x="3667125" y="1905000"/>
            <a:ext cx="1877378"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36" name="27%">
            <a:extLst>
              <a:ext uri="{FF2B5EF4-FFF2-40B4-BE49-F238E27FC236}">
                <a16:creationId xmlns:a16="http://schemas.microsoft.com/office/drawing/2014/main" id="{937228A8-928B-4680-ABB9-EF0C17409BA7}"/>
              </a:ext>
            </a:extLst>
          </p:cNvPr>
          <p:cNvSpPr>
            <a:spLocks noGrp="1"/>
          </p:cNvSpPr>
          <p:nvPr/>
        </p:nvSpPr>
        <p:spPr>
          <a:xfrm>
            <a:off x="3705225" y="2009775"/>
            <a:ext cx="182022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27%</a:t>
            </a:r>
          </a:p>
        </p:txBody>
      </p:sp>
      <p:sp>
        <p:nvSpPr>
          <p:cNvPr id="537" name="Rectangle 536">
            <a:extLst>
              <a:ext uri="{FF2B5EF4-FFF2-40B4-BE49-F238E27FC236}">
                <a16:creationId xmlns:a16="http://schemas.microsoft.com/office/drawing/2014/main" id="{1AFE1B95-1164-4978-A231-BC45C7509DCF}"/>
              </a:ext>
            </a:extLst>
          </p:cNvPr>
          <p:cNvSpPr>
            <a:spLocks noGrp="1"/>
          </p:cNvSpPr>
          <p:nvPr/>
        </p:nvSpPr>
        <p:spPr>
          <a:xfrm>
            <a:off x="5544503" y="1905000"/>
            <a:ext cx="2225040"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38" name="27%">
            <a:extLst>
              <a:ext uri="{FF2B5EF4-FFF2-40B4-BE49-F238E27FC236}">
                <a16:creationId xmlns:a16="http://schemas.microsoft.com/office/drawing/2014/main" id="{8CC2207C-838E-446C-A3BD-FFD49218A38A}"/>
              </a:ext>
            </a:extLst>
          </p:cNvPr>
          <p:cNvSpPr>
            <a:spLocks noGrp="1"/>
          </p:cNvSpPr>
          <p:nvPr/>
        </p:nvSpPr>
        <p:spPr>
          <a:xfrm>
            <a:off x="5582603" y="2009775"/>
            <a:ext cx="216789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32%</a:t>
            </a:r>
          </a:p>
        </p:txBody>
      </p:sp>
      <p:sp>
        <p:nvSpPr>
          <p:cNvPr id="539" name="Rectangle 538">
            <a:extLst>
              <a:ext uri="{FF2B5EF4-FFF2-40B4-BE49-F238E27FC236}">
                <a16:creationId xmlns:a16="http://schemas.microsoft.com/office/drawing/2014/main" id="{D603BA1C-224E-46B1-AECD-71E3368FF55A}"/>
              </a:ext>
            </a:extLst>
          </p:cNvPr>
          <p:cNvSpPr>
            <a:spLocks noGrp="1"/>
          </p:cNvSpPr>
          <p:nvPr/>
        </p:nvSpPr>
        <p:spPr>
          <a:xfrm>
            <a:off x="7769543" y="1905000"/>
            <a:ext cx="2155508"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40" name="32%">
            <a:extLst>
              <a:ext uri="{FF2B5EF4-FFF2-40B4-BE49-F238E27FC236}">
                <a16:creationId xmlns:a16="http://schemas.microsoft.com/office/drawing/2014/main" id="{137C22D4-E8DC-4D85-AF7C-BB44506DD0F2}"/>
              </a:ext>
            </a:extLst>
          </p:cNvPr>
          <p:cNvSpPr>
            <a:spLocks noGrp="1"/>
          </p:cNvSpPr>
          <p:nvPr/>
        </p:nvSpPr>
        <p:spPr>
          <a:xfrm>
            <a:off x="7807643" y="2009775"/>
            <a:ext cx="209835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31%</a:t>
            </a:r>
          </a:p>
        </p:txBody>
      </p:sp>
      <p:sp>
        <p:nvSpPr>
          <p:cNvPr id="541" name="Rectangle 540">
            <a:extLst>
              <a:ext uri="{FF2B5EF4-FFF2-40B4-BE49-F238E27FC236}">
                <a16:creationId xmlns:a16="http://schemas.microsoft.com/office/drawing/2014/main" id="{9171EB80-CE86-4EE8-988D-CD85F3E9835E}"/>
              </a:ext>
            </a:extLst>
          </p:cNvPr>
          <p:cNvSpPr>
            <a:spLocks noGrp="1"/>
          </p:cNvSpPr>
          <p:nvPr/>
        </p:nvSpPr>
        <p:spPr>
          <a:xfrm>
            <a:off x="9925051" y="1905000"/>
            <a:ext cx="695324"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42" name="14%">
            <a:extLst>
              <a:ext uri="{FF2B5EF4-FFF2-40B4-BE49-F238E27FC236}">
                <a16:creationId xmlns:a16="http://schemas.microsoft.com/office/drawing/2014/main" id="{22ECD036-73BB-46B3-9F53-5F386E4BD9F6}"/>
              </a:ext>
            </a:extLst>
          </p:cNvPr>
          <p:cNvSpPr>
            <a:spLocks noGrp="1"/>
          </p:cNvSpPr>
          <p:nvPr/>
        </p:nvSpPr>
        <p:spPr>
          <a:xfrm>
            <a:off x="9963151" y="2009775"/>
            <a:ext cx="638174"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10%</a:t>
            </a:r>
          </a:p>
        </p:txBody>
      </p:sp>
      <p:sp>
        <p:nvSpPr>
          <p:cNvPr id="543" name="n=165">
            <a:extLst>
              <a:ext uri="{FF2B5EF4-FFF2-40B4-BE49-F238E27FC236}">
                <a16:creationId xmlns:a16="http://schemas.microsoft.com/office/drawing/2014/main" id="{402DA344-57FF-4511-9FD6-89CCAF6B5CF5}"/>
              </a:ext>
            </a:extLst>
          </p:cNvPr>
          <p:cNvSpPr>
            <a:spLocks noGrp="1"/>
          </p:cNvSpPr>
          <p:nvPr/>
        </p:nvSpPr>
        <p:spPr>
          <a:xfrm>
            <a:off x="10782300" y="20002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n=127</a:t>
            </a:r>
          </a:p>
        </p:txBody>
      </p:sp>
      <p:sp>
        <p:nvSpPr>
          <p:cNvPr id="544" name="Difficult to manage">
            <a:extLst>
              <a:ext uri="{FF2B5EF4-FFF2-40B4-BE49-F238E27FC236}">
                <a16:creationId xmlns:a16="http://schemas.microsoft.com/office/drawing/2014/main" id="{5D315D28-CA58-4F6D-833D-5C3E5B7890E9}"/>
              </a:ext>
            </a:extLst>
          </p:cNvPr>
          <p:cNvSpPr>
            <a:spLocks noGrp="1"/>
          </p:cNvSpPr>
          <p:nvPr/>
        </p:nvSpPr>
        <p:spPr>
          <a:xfrm>
            <a:off x="400050" y="26670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Difficult to manage</a:t>
            </a:r>
          </a:p>
        </p:txBody>
      </p:sp>
      <p:sp>
        <p:nvSpPr>
          <p:cNvPr id="545" name="Rectangle 544">
            <a:extLst>
              <a:ext uri="{FF2B5EF4-FFF2-40B4-BE49-F238E27FC236}">
                <a16:creationId xmlns:a16="http://schemas.microsoft.com/office/drawing/2014/main" id="{3FBC8498-C278-4D16-941E-59FAB820A61D}"/>
              </a:ext>
            </a:extLst>
          </p:cNvPr>
          <p:cNvSpPr>
            <a:spLocks noGrp="1"/>
          </p:cNvSpPr>
          <p:nvPr/>
        </p:nvSpPr>
        <p:spPr>
          <a:xfrm>
            <a:off x="3667125" y="2628900"/>
            <a:ext cx="1460182"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46" name="21%">
            <a:extLst>
              <a:ext uri="{FF2B5EF4-FFF2-40B4-BE49-F238E27FC236}">
                <a16:creationId xmlns:a16="http://schemas.microsoft.com/office/drawing/2014/main" id="{85E9DD1E-CCF1-45EB-95C3-3DB1765CD396}"/>
              </a:ext>
            </a:extLst>
          </p:cNvPr>
          <p:cNvSpPr>
            <a:spLocks noGrp="1"/>
          </p:cNvSpPr>
          <p:nvPr/>
        </p:nvSpPr>
        <p:spPr>
          <a:xfrm>
            <a:off x="3705225" y="2733675"/>
            <a:ext cx="140303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21%</a:t>
            </a:r>
          </a:p>
        </p:txBody>
      </p:sp>
      <p:sp>
        <p:nvSpPr>
          <p:cNvPr id="547" name="Rectangle 546">
            <a:extLst>
              <a:ext uri="{FF2B5EF4-FFF2-40B4-BE49-F238E27FC236}">
                <a16:creationId xmlns:a16="http://schemas.microsoft.com/office/drawing/2014/main" id="{6C760118-E611-4BA4-99C3-1C6978924941}"/>
              </a:ext>
            </a:extLst>
          </p:cNvPr>
          <p:cNvSpPr>
            <a:spLocks noGrp="1"/>
          </p:cNvSpPr>
          <p:nvPr/>
        </p:nvSpPr>
        <p:spPr>
          <a:xfrm>
            <a:off x="5127307" y="2628900"/>
            <a:ext cx="2085975"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48" name="30%">
            <a:extLst>
              <a:ext uri="{FF2B5EF4-FFF2-40B4-BE49-F238E27FC236}">
                <a16:creationId xmlns:a16="http://schemas.microsoft.com/office/drawing/2014/main" id="{F8FF8904-48D2-4210-9C53-D9B294F17F5F}"/>
              </a:ext>
            </a:extLst>
          </p:cNvPr>
          <p:cNvSpPr>
            <a:spLocks noGrp="1"/>
          </p:cNvSpPr>
          <p:nvPr/>
        </p:nvSpPr>
        <p:spPr>
          <a:xfrm>
            <a:off x="5165407" y="2733675"/>
            <a:ext cx="2028825"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30%</a:t>
            </a:r>
          </a:p>
        </p:txBody>
      </p:sp>
      <p:sp>
        <p:nvSpPr>
          <p:cNvPr id="549" name="Rectangle 548">
            <a:extLst>
              <a:ext uri="{FF2B5EF4-FFF2-40B4-BE49-F238E27FC236}">
                <a16:creationId xmlns:a16="http://schemas.microsoft.com/office/drawing/2014/main" id="{A1F64836-1FF4-438B-81A5-4FD072CB3BD8}"/>
              </a:ext>
            </a:extLst>
          </p:cNvPr>
          <p:cNvSpPr>
            <a:spLocks noGrp="1"/>
          </p:cNvSpPr>
          <p:nvPr/>
        </p:nvSpPr>
        <p:spPr>
          <a:xfrm>
            <a:off x="7213282" y="2628900"/>
            <a:ext cx="1460182"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50" name="19%">
            <a:extLst>
              <a:ext uri="{FF2B5EF4-FFF2-40B4-BE49-F238E27FC236}">
                <a16:creationId xmlns:a16="http://schemas.microsoft.com/office/drawing/2014/main" id="{CEA84195-8B0E-400D-BC48-352CC7782E5A}"/>
              </a:ext>
            </a:extLst>
          </p:cNvPr>
          <p:cNvSpPr>
            <a:spLocks noGrp="1"/>
          </p:cNvSpPr>
          <p:nvPr/>
        </p:nvSpPr>
        <p:spPr>
          <a:xfrm>
            <a:off x="7251382" y="2733675"/>
            <a:ext cx="140303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21%</a:t>
            </a:r>
          </a:p>
        </p:txBody>
      </p:sp>
      <p:sp>
        <p:nvSpPr>
          <p:cNvPr id="551" name="Rectangle 550">
            <a:extLst>
              <a:ext uri="{FF2B5EF4-FFF2-40B4-BE49-F238E27FC236}">
                <a16:creationId xmlns:a16="http://schemas.microsoft.com/office/drawing/2014/main" id="{7E915CF4-366C-4F3F-A3D1-C3DF4056761E}"/>
              </a:ext>
            </a:extLst>
          </p:cNvPr>
          <p:cNvSpPr>
            <a:spLocks noGrp="1"/>
          </p:cNvSpPr>
          <p:nvPr/>
        </p:nvSpPr>
        <p:spPr>
          <a:xfrm>
            <a:off x="8673464" y="2628900"/>
            <a:ext cx="1946911"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52" name="29%">
            <a:extLst>
              <a:ext uri="{FF2B5EF4-FFF2-40B4-BE49-F238E27FC236}">
                <a16:creationId xmlns:a16="http://schemas.microsoft.com/office/drawing/2014/main" id="{48466A17-1747-458E-8236-1BD51271414D}"/>
              </a:ext>
            </a:extLst>
          </p:cNvPr>
          <p:cNvSpPr>
            <a:spLocks noGrp="1"/>
          </p:cNvSpPr>
          <p:nvPr/>
        </p:nvSpPr>
        <p:spPr>
          <a:xfrm>
            <a:off x="8711564" y="2733675"/>
            <a:ext cx="1889761"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28%</a:t>
            </a:r>
          </a:p>
        </p:txBody>
      </p:sp>
      <p:sp>
        <p:nvSpPr>
          <p:cNvPr id="553" name="n=263">
            <a:extLst>
              <a:ext uri="{FF2B5EF4-FFF2-40B4-BE49-F238E27FC236}">
                <a16:creationId xmlns:a16="http://schemas.microsoft.com/office/drawing/2014/main" id="{AA0A1423-802D-44D8-B75C-A73EB74E3E74}"/>
              </a:ext>
            </a:extLst>
          </p:cNvPr>
          <p:cNvSpPr>
            <a:spLocks noGrp="1"/>
          </p:cNvSpPr>
          <p:nvPr/>
        </p:nvSpPr>
        <p:spPr>
          <a:xfrm>
            <a:off x="10782300" y="27241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n=226</a:t>
            </a:r>
          </a:p>
        </p:txBody>
      </p:sp>
      <p:sp>
        <p:nvSpPr>
          <p:cNvPr id="554" name="Average">
            <a:extLst>
              <a:ext uri="{FF2B5EF4-FFF2-40B4-BE49-F238E27FC236}">
                <a16:creationId xmlns:a16="http://schemas.microsoft.com/office/drawing/2014/main" id="{A9A418D8-693C-4000-8BCA-F55535AD9D83}"/>
              </a:ext>
            </a:extLst>
          </p:cNvPr>
          <p:cNvSpPr>
            <a:spLocks noGrp="1"/>
          </p:cNvSpPr>
          <p:nvPr/>
        </p:nvSpPr>
        <p:spPr>
          <a:xfrm>
            <a:off x="400050" y="33909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Average</a:t>
            </a:r>
          </a:p>
        </p:txBody>
      </p:sp>
      <p:sp>
        <p:nvSpPr>
          <p:cNvPr id="555" name="Rectangle 554">
            <a:extLst>
              <a:ext uri="{FF2B5EF4-FFF2-40B4-BE49-F238E27FC236}">
                <a16:creationId xmlns:a16="http://schemas.microsoft.com/office/drawing/2014/main" id="{0E3BBCB2-7AA0-4578-A1BB-99F48D7194FA}"/>
              </a:ext>
            </a:extLst>
          </p:cNvPr>
          <p:cNvSpPr>
            <a:spLocks noGrp="1"/>
          </p:cNvSpPr>
          <p:nvPr/>
        </p:nvSpPr>
        <p:spPr>
          <a:xfrm>
            <a:off x="3667125" y="3352800"/>
            <a:ext cx="1112520"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56" name="18%">
            <a:extLst>
              <a:ext uri="{FF2B5EF4-FFF2-40B4-BE49-F238E27FC236}">
                <a16:creationId xmlns:a16="http://schemas.microsoft.com/office/drawing/2014/main" id="{046D4389-4F3F-491C-B2CC-4AFECC3E566A}"/>
              </a:ext>
            </a:extLst>
          </p:cNvPr>
          <p:cNvSpPr>
            <a:spLocks noGrp="1"/>
          </p:cNvSpPr>
          <p:nvPr/>
        </p:nvSpPr>
        <p:spPr>
          <a:xfrm>
            <a:off x="3705225" y="3457575"/>
            <a:ext cx="105537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16%</a:t>
            </a:r>
          </a:p>
        </p:txBody>
      </p:sp>
      <p:sp>
        <p:nvSpPr>
          <p:cNvPr id="557" name="Rectangle 556">
            <a:extLst>
              <a:ext uri="{FF2B5EF4-FFF2-40B4-BE49-F238E27FC236}">
                <a16:creationId xmlns:a16="http://schemas.microsoft.com/office/drawing/2014/main" id="{8FD43389-EB72-4DED-B124-199F66C8DE4F}"/>
              </a:ext>
            </a:extLst>
          </p:cNvPr>
          <p:cNvSpPr>
            <a:spLocks noGrp="1"/>
          </p:cNvSpPr>
          <p:nvPr/>
        </p:nvSpPr>
        <p:spPr>
          <a:xfrm>
            <a:off x="4779645" y="3352800"/>
            <a:ext cx="2294572"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58" name="32%">
            <a:extLst>
              <a:ext uri="{FF2B5EF4-FFF2-40B4-BE49-F238E27FC236}">
                <a16:creationId xmlns:a16="http://schemas.microsoft.com/office/drawing/2014/main" id="{95B6A70C-353C-4F3F-AB98-2949B31CDBB5}"/>
              </a:ext>
            </a:extLst>
          </p:cNvPr>
          <p:cNvSpPr>
            <a:spLocks noGrp="1"/>
          </p:cNvSpPr>
          <p:nvPr/>
        </p:nvSpPr>
        <p:spPr>
          <a:xfrm>
            <a:off x="4817745" y="3457575"/>
            <a:ext cx="223742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33%</a:t>
            </a:r>
          </a:p>
        </p:txBody>
      </p:sp>
      <p:sp>
        <p:nvSpPr>
          <p:cNvPr id="559" name="Rectangle 558">
            <a:extLst>
              <a:ext uri="{FF2B5EF4-FFF2-40B4-BE49-F238E27FC236}">
                <a16:creationId xmlns:a16="http://schemas.microsoft.com/office/drawing/2014/main" id="{197B879D-E750-4B4F-90B5-EB6205414D76}"/>
              </a:ext>
            </a:extLst>
          </p:cNvPr>
          <p:cNvSpPr>
            <a:spLocks noGrp="1"/>
          </p:cNvSpPr>
          <p:nvPr/>
        </p:nvSpPr>
        <p:spPr>
          <a:xfrm>
            <a:off x="7074217" y="3352800"/>
            <a:ext cx="2225040"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60" name="30%">
            <a:extLst>
              <a:ext uri="{FF2B5EF4-FFF2-40B4-BE49-F238E27FC236}">
                <a16:creationId xmlns:a16="http://schemas.microsoft.com/office/drawing/2014/main" id="{78D1E63A-EE2C-435C-B041-8AD61C41A553}"/>
              </a:ext>
            </a:extLst>
          </p:cNvPr>
          <p:cNvSpPr>
            <a:spLocks noGrp="1"/>
          </p:cNvSpPr>
          <p:nvPr/>
        </p:nvSpPr>
        <p:spPr>
          <a:xfrm>
            <a:off x="7112317" y="3457575"/>
            <a:ext cx="216789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32%</a:t>
            </a:r>
          </a:p>
        </p:txBody>
      </p:sp>
      <p:sp>
        <p:nvSpPr>
          <p:cNvPr id="561" name="Rectangle 560">
            <a:extLst>
              <a:ext uri="{FF2B5EF4-FFF2-40B4-BE49-F238E27FC236}">
                <a16:creationId xmlns:a16="http://schemas.microsoft.com/office/drawing/2014/main" id="{36F4EC8C-8383-493E-805E-8B89FA18B9FC}"/>
              </a:ext>
            </a:extLst>
          </p:cNvPr>
          <p:cNvSpPr>
            <a:spLocks noGrp="1"/>
          </p:cNvSpPr>
          <p:nvPr/>
        </p:nvSpPr>
        <p:spPr>
          <a:xfrm>
            <a:off x="9299257" y="3352800"/>
            <a:ext cx="1321118"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62" name="20%">
            <a:extLst>
              <a:ext uri="{FF2B5EF4-FFF2-40B4-BE49-F238E27FC236}">
                <a16:creationId xmlns:a16="http://schemas.microsoft.com/office/drawing/2014/main" id="{589E2576-FE19-462D-9BC2-8F8EA75D6E83}"/>
              </a:ext>
            </a:extLst>
          </p:cNvPr>
          <p:cNvSpPr>
            <a:spLocks noGrp="1"/>
          </p:cNvSpPr>
          <p:nvPr/>
        </p:nvSpPr>
        <p:spPr>
          <a:xfrm>
            <a:off x="9337357" y="3457575"/>
            <a:ext cx="126396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19%</a:t>
            </a:r>
          </a:p>
        </p:txBody>
      </p:sp>
      <p:sp>
        <p:nvSpPr>
          <p:cNvPr id="563" name="n=332">
            <a:extLst>
              <a:ext uri="{FF2B5EF4-FFF2-40B4-BE49-F238E27FC236}">
                <a16:creationId xmlns:a16="http://schemas.microsoft.com/office/drawing/2014/main" id="{F94B50DD-36E0-4A49-882F-C3A8A807C4B8}"/>
              </a:ext>
            </a:extLst>
          </p:cNvPr>
          <p:cNvSpPr>
            <a:spLocks noGrp="1"/>
          </p:cNvSpPr>
          <p:nvPr/>
        </p:nvSpPr>
        <p:spPr>
          <a:xfrm>
            <a:off x="10782300" y="34480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n=290</a:t>
            </a:r>
          </a:p>
        </p:txBody>
      </p:sp>
      <p:sp>
        <p:nvSpPr>
          <p:cNvPr id="564" name="Mostly manageable">
            <a:extLst>
              <a:ext uri="{FF2B5EF4-FFF2-40B4-BE49-F238E27FC236}">
                <a16:creationId xmlns:a16="http://schemas.microsoft.com/office/drawing/2014/main" id="{4D7A617E-413D-44FC-B445-9BE5CA2B44FA}"/>
              </a:ext>
            </a:extLst>
          </p:cNvPr>
          <p:cNvSpPr>
            <a:spLocks noGrp="1"/>
          </p:cNvSpPr>
          <p:nvPr/>
        </p:nvSpPr>
        <p:spPr>
          <a:xfrm>
            <a:off x="400050" y="41148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Mostly manageable</a:t>
            </a:r>
          </a:p>
        </p:txBody>
      </p:sp>
      <p:sp>
        <p:nvSpPr>
          <p:cNvPr id="565" name="Rectangle 564">
            <a:extLst>
              <a:ext uri="{FF2B5EF4-FFF2-40B4-BE49-F238E27FC236}">
                <a16:creationId xmlns:a16="http://schemas.microsoft.com/office/drawing/2014/main" id="{54E16F0D-20F3-4B42-8BD9-81FDE1AAC952}"/>
              </a:ext>
            </a:extLst>
          </p:cNvPr>
          <p:cNvSpPr>
            <a:spLocks noGrp="1"/>
          </p:cNvSpPr>
          <p:nvPr/>
        </p:nvSpPr>
        <p:spPr>
          <a:xfrm>
            <a:off x="3667125" y="4076700"/>
            <a:ext cx="1170349"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66" name="20%">
            <a:extLst>
              <a:ext uri="{FF2B5EF4-FFF2-40B4-BE49-F238E27FC236}">
                <a16:creationId xmlns:a16="http://schemas.microsoft.com/office/drawing/2014/main" id="{9192329C-F09F-4819-914E-73EC1F024EDF}"/>
              </a:ext>
            </a:extLst>
          </p:cNvPr>
          <p:cNvSpPr>
            <a:spLocks noGrp="1"/>
          </p:cNvSpPr>
          <p:nvPr/>
        </p:nvSpPr>
        <p:spPr>
          <a:xfrm>
            <a:off x="3705225" y="4181475"/>
            <a:ext cx="1113199"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17%</a:t>
            </a:r>
          </a:p>
        </p:txBody>
      </p:sp>
      <p:sp>
        <p:nvSpPr>
          <p:cNvPr id="567" name="Rectangle 566">
            <a:extLst>
              <a:ext uri="{FF2B5EF4-FFF2-40B4-BE49-F238E27FC236}">
                <a16:creationId xmlns:a16="http://schemas.microsoft.com/office/drawing/2014/main" id="{DF967116-C6AC-44E5-BB00-A066506099DF}"/>
              </a:ext>
            </a:extLst>
          </p:cNvPr>
          <p:cNvSpPr>
            <a:spLocks noGrp="1"/>
          </p:cNvSpPr>
          <p:nvPr/>
        </p:nvSpPr>
        <p:spPr>
          <a:xfrm>
            <a:off x="4837474" y="4076700"/>
            <a:ext cx="2065322"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68" name="27%">
            <a:extLst>
              <a:ext uri="{FF2B5EF4-FFF2-40B4-BE49-F238E27FC236}">
                <a16:creationId xmlns:a16="http://schemas.microsoft.com/office/drawing/2014/main" id="{0663B37E-0065-42C0-827B-1A79195AD7ED}"/>
              </a:ext>
            </a:extLst>
          </p:cNvPr>
          <p:cNvSpPr>
            <a:spLocks noGrp="1"/>
          </p:cNvSpPr>
          <p:nvPr/>
        </p:nvSpPr>
        <p:spPr>
          <a:xfrm>
            <a:off x="4875574" y="4181475"/>
            <a:ext cx="200817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30%</a:t>
            </a:r>
          </a:p>
        </p:txBody>
      </p:sp>
      <p:sp>
        <p:nvSpPr>
          <p:cNvPr id="569" name="Rectangle 568">
            <a:extLst>
              <a:ext uri="{FF2B5EF4-FFF2-40B4-BE49-F238E27FC236}">
                <a16:creationId xmlns:a16="http://schemas.microsoft.com/office/drawing/2014/main" id="{A9FD31E1-7562-48FD-A3B6-237BA81ADBA3}"/>
              </a:ext>
            </a:extLst>
          </p:cNvPr>
          <p:cNvSpPr>
            <a:spLocks noGrp="1"/>
          </p:cNvSpPr>
          <p:nvPr/>
        </p:nvSpPr>
        <p:spPr>
          <a:xfrm>
            <a:off x="6902796" y="4076700"/>
            <a:ext cx="2203010"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70" name="30%">
            <a:extLst>
              <a:ext uri="{FF2B5EF4-FFF2-40B4-BE49-F238E27FC236}">
                <a16:creationId xmlns:a16="http://schemas.microsoft.com/office/drawing/2014/main" id="{90E5CD6A-F510-4D81-9FA5-5999AA186248}"/>
              </a:ext>
            </a:extLst>
          </p:cNvPr>
          <p:cNvSpPr>
            <a:spLocks noGrp="1"/>
          </p:cNvSpPr>
          <p:nvPr/>
        </p:nvSpPr>
        <p:spPr>
          <a:xfrm>
            <a:off x="6940896" y="4181475"/>
            <a:ext cx="214586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32%</a:t>
            </a:r>
          </a:p>
        </p:txBody>
      </p:sp>
      <p:sp>
        <p:nvSpPr>
          <p:cNvPr id="571" name="Rectangle 570">
            <a:extLst>
              <a:ext uri="{FF2B5EF4-FFF2-40B4-BE49-F238E27FC236}">
                <a16:creationId xmlns:a16="http://schemas.microsoft.com/office/drawing/2014/main" id="{F8EFAECF-242F-4C11-9482-C9792B9545BD}"/>
              </a:ext>
            </a:extLst>
          </p:cNvPr>
          <p:cNvSpPr>
            <a:spLocks noGrp="1"/>
          </p:cNvSpPr>
          <p:nvPr/>
        </p:nvSpPr>
        <p:spPr>
          <a:xfrm>
            <a:off x="9105806" y="4076700"/>
            <a:ext cx="1514569"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72" name="23%">
            <a:extLst>
              <a:ext uri="{FF2B5EF4-FFF2-40B4-BE49-F238E27FC236}">
                <a16:creationId xmlns:a16="http://schemas.microsoft.com/office/drawing/2014/main" id="{0724A395-17D1-4342-9FB1-02B0935574B6}"/>
              </a:ext>
            </a:extLst>
          </p:cNvPr>
          <p:cNvSpPr>
            <a:spLocks noGrp="1"/>
          </p:cNvSpPr>
          <p:nvPr/>
        </p:nvSpPr>
        <p:spPr>
          <a:xfrm>
            <a:off x="9143906" y="4181475"/>
            <a:ext cx="1457419"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22%</a:t>
            </a:r>
          </a:p>
        </p:txBody>
      </p:sp>
      <p:sp>
        <p:nvSpPr>
          <p:cNvPr id="573" name="n=233">
            <a:extLst>
              <a:ext uri="{FF2B5EF4-FFF2-40B4-BE49-F238E27FC236}">
                <a16:creationId xmlns:a16="http://schemas.microsoft.com/office/drawing/2014/main" id="{1A81B232-22E8-4385-86F0-81D97F726BE2}"/>
              </a:ext>
            </a:extLst>
          </p:cNvPr>
          <p:cNvSpPr>
            <a:spLocks noGrp="1"/>
          </p:cNvSpPr>
          <p:nvPr/>
        </p:nvSpPr>
        <p:spPr>
          <a:xfrm>
            <a:off x="10782300" y="41719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n=195</a:t>
            </a:r>
          </a:p>
        </p:txBody>
      </p:sp>
      <p:sp>
        <p:nvSpPr>
          <p:cNvPr id="574" name="Very healthy and balanced">
            <a:extLst>
              <a:ext uri="{FF2B5EF4-FFF2-40B4-BE49-F238E27FC236}">
                <a16:creationId xmlns:a16="http://schemas.microsoft.com/office/drawing/2014/main" id="{01225E59-899E-4BD3-9C75-346C2A9C8B9B}"/>
              </a:ext>
            </a:extLst>
          </p:cNvPr>
          <p:cNvSpPr>
            <a:spLocks noGrp="1"/>
          </p:cNvSpPr>
          <p:nvPr/>
        </p:nvSpPr>
        <p:spPr>
          <a:xfrm>
            <a:off x="400050" y="4838700"/>
            <a:ext cx="3124200" cy="619125"/>
          </a:xfrm>
          <a:prstGeom prst="rect">
            <a:avLst/>
          </a:prstGeom>
          <a:noFill/>
          <a:ln w="0">
            <a:noFill/>
          </a:ln>
        </p:spPr>
        <p:txBody>
          <a:bodyPr anchor="t">
            <a:noAutofit/>
          </a:bodyPr>
          <a:lstStyle/>
          <a:p>
            <a:pPr>
              <a:defRPr sz="1800" b="0">
                <a:solidFill>
                  <a:srgbClr val="121212"/>
                </a:solidFill>
                <a:latin typeface="Times New Roman"/>
                <a:ea typeface="Times New Roman"/>
                <a:cs typeface="Times New Roman"/>
              </a:defRPr>
            </a:pPr>
            <a:r>
              <a:rPr sz="1800" b="0">
                <a:solidFill>
                  <a:srgbClr val="121212"/>
                </a:solidFill>
                <a:latin typeface="OpenAI Sans" panose="020B0604020202020204" charset="0"/>
                <a:ea typeface="OpenAI Sans" panose="020B0604020202020204" charset="0"/>
                <a:cs typeface="Times New Roman"/>
              </a:rPr>
              <a:t>Very healthy and balanced</a:t>
            </a:r>
          </a:p>
        </p:txBody>
      </p:sp>
      <p:sp>
        <p:nvSpPr>
          <p:cNvPr id="575" name="Rectangle 574">
            <a:extLst>
              <a:ext uri="{FF2B5EF4-FFF2-40B4-BE49-F238E27FC236}">
                <a16:creationId xmlns:a16="http://schemas.microsoft.com/office/drawing/2014/main" id="{0543B520-ADAF-4C76-98FF-DDD685EE21FF}"/>
              </a:ext>
            </a:extLst>
          </p:cNvPr>
          <p:cNvSpPr>
            <a:spLocks noGrp="1"/>
          </p:cNvSpPr>
          <p:nvPr/>
        </p:nvSpPr>
        <p:spPr>
          <a:xfrm>
            <a:off x="3667125" y="4800600"/>
            <a:ext cx="1668780" cy="447675"/>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76" name="25%">
            <a:extLst>
              <a:ext uri="{FF2B5EF4-FFF2-40B4-BE49-F238E27FC236}">
                <a16:creationId xmlns:a16="http://schemas.microsoft.com/office/drawing/2014/main" id="{C9D1D9F5-EE20-49F4-95DF-CAD543967C90}"/>
              </a:ext>
            </a:extLst>
          </p:cNvPr>
          <p:cNvSpPr>
            <a:spLocks noGrp="1"/>
          </p:cNvSpPr>
          <p:nvPr/>
        </p:nvSpPr>
        <p:spPr>
          <a:xfrm>
            <a:off x="3705225" y="4905375"/>
            <a:ext cx="161163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24%</a:t>
            </a:r>
          </a:p>
        </p:txBody>
      </p:sp>
      <p:sp>
        <p:nvSpPr>
          <p:cNvPr id="577" name="Rectangle 576">
            <a:extLst>
              <a:ext uri="{FF2B5EF4-FFF2-40B4-BE49-F238E27FC236}">
                <a16:creationId xmlns:a16="http://schemas.microsoft.com/office/drawing/2014/main" id="{7692E0F0-8BA1-46DB-868D-D5301DD75F11}"/>
              </a:ext>
            </a:extLst>
          </p:cNvPr>
          <p:cNvSpPr>
            <a:spLocks noGrp="1"/>
          </p:cNvSpPr>
          <p:nvPr/>
        </p:nvSpPr>
        <p:spPr>
          <a:xfrm>
            <a:off x="5335905" y="4800600"/>
            <a:ext cx="1877378" cy="447675"/>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78" name="24%">
            <a:extLst>
              <a:ext uri="{FF2B5EF4-FFF2-40B4-BE49-F238E27FC236}">
                <a16:creationId xmlns:a16="http://schemas.microsoft.com/office/drawing/2014/main" id="{1AE690E4-9954-4D07-91D6-67454D014CB1}"/>
              </a:ext>
            </a:extLst>
          </p:cNvPr>
          <p:cNvSpPr>
            <a:spLocks noGrp="1"/>
          </p:cNvSpPr>
          <p:nvPr/>
        </p:nvSpPr>
        <p:spPr>
          <a:xfrm>
            <a:off x="5374005" y="4905375"/>
            <a:ext cx="1820228"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27%</a:t>
            </a:r>
          </a:p>
        </p:txBody>
      </p:sp>
      <p:sp>
        <p:nvSpPr>
          <p:cNvPr id="579" name="Rectangle 578">
            <a:extLst>
              <a:ext uri="{FF2B5EF4-FFF2-40B4-BE49-F238E27FC236}">
                <a16:creationId xmlns:a16="http://schemas.microsoft.com/office/drawing/2014/main" id="{24B975B4-B56B-4EA6-8AA8-23A109A46705}"/>
              </a:ext>
            </a:extLst>
          </p:cNvPr>
          <p:cNvSpPr>
            <a:spLocks noGrp="1"/>
          </p:cNvSpPr>
          <p:nvPr/>
        </p:nvSpPr>
        <p:spPr>
          <a:xfrm>
            <a:off x="7213283" y="4800600"/>
            <a:ext cx="1946910" cy="447675"/>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80" name="26%">
            <a:extLst>
              <a:ext uri="{FF2B5EF4-FFF2-40B4-BE49-F238E27FC236}">
                <a16:creationId xmlns:a16="http://schemas.microsoft.com/office/drawing/2014/main" id="{F451F49A-CB72-49A9-88F1-E6F244F552F3}"/>
              </a:ext>
            </a:extLst>
          </p:cNvPr>
          <p:cNvSpPr>
            <a:spLocks noGrp="1"/>
          </p:cNvSpPr>
          <p:nvPr/>
        </p:nvSpPr>
        <p:spPr>
          <a:xfrm>
            <a:off x="7251383" y="4905375"/>
            <a:ext cx="1889760"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28%</a:t>
            </a:r>
          </a:p>
        </p:txBody>
      </p:sp>
      <p:sp>
        <p:nvSpPr>
          <p:cNvPr id="581" name="Rectangle 580">
            <a:extLst>
              <a:ext uri="{FF2B5EF4-FFF2-40B4-BE49-F238E27FC236}">
                <a16:creationId xmlns:a16="http://schemas.microsoft.com/office/drawing/2014/main" id="{BBC6995C-6D83-41EA-9A0C-5830034EEC81}"/>
              </a:ext>
            </a:extLst>
          </p:cNvPr>
          <p:cNvSpPr>
            <a:spLocks noGrp="1"/>
          </p:cNvSpPr>
          <p:nvPr/>
        </p:nvSpPr>
        <p:spPr>
          <a:xfrm>
            <a:off x="9160193" y="4800600"/>
            <a:ext cx="1460182" cy="447675"/>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82" name="24%">
            <a:extLst>
              <a:ext uri="{FF2B5EF4-FFF2-40B4-BE49-F238E27FC236}">
                <a16:creationId xmlns:a16="http://schemas.microsoft.com/office/drawing/2014/main" id="{E6213C9F-0162-47F5-B53B-A16709D3997D}"/>
              </a:ext>
            </a:extLst>
          </p:cNvPr>
          <p:cNvSpPr>
            <a:spLocks noGrp="1"/>
          </p:cNvSpPr>
          <p:nvPr/>
        </p:nvSpPr>
        <p:spPr>
          <a:xfrm>
            <a:off x="9198293" y="4905375"/>
            <a:ext cx="1403032" cy="285750"/>
          </a:xfrm>
          <a:prstGeom prst="rect">
            <a:avLst/>
          </a:prstGeom>
          <a:noFill/>
          <a:ln w="0">
            <a:noFill/>
          </a:ln>
        </p:spPr>
        <p:txBody>
          <a:bodyPr anchor="t">
            <a:noAutofit/>
          </a:bodyPr>
          <a:lstStyle/>
          <a:p>
            <a:pPr>
              <a:defRPr sz="1425" b="0">
                <a:solidFill>
                  <a:srgbClr val="FFFFFF"/>
                </a:solidFill>
                <a:latin typeface="Times New Roman"/>
                <a:ea typeface="Times New Roman"/>
                <a:cs typeface="Times New Roman"/>
              </a:defRPr>
            </a:pPr>
            <a:r>
              <a:rPr sz="1425" b="0">
                <a:solidFill>
                  <a:srgbClr val="FFFFFF"/>
                </a:solidFill>
                <a:latin typeface="OpenAI Sans" panose="020B0604020202020204" charset="0"/>
                <a:ea typeface="OpenAI Sans" panose="020B0604020202020204" charset="0"/>
                <a:cs typeface="Times New Roman"/>
              </a:rPr>
              <a:t>21%</a:t>
            </a:r>
          </a:p>
        </p:txBody>
      </p:sp>
      <p:sp>
        <p:nvSpPr>
          <p:cNvPr id="583" name="n=115">
            <a:extLst>
              <a:ext uri="{FF2B5EF4-FFF2-40B4-BE49-F238E27FC236}">
                <a16:creationId xmlns:a16="http://schemas.microsoft.com/office/drawing/2014/main" id="{DB4B7F31-1219-465C-82EB-8954BA14EE0F}"/>
              </a:ext>
            </a:extLst>
          </p:cNvPr>
          <p:cNvSpPr>
            <a:spLocks noGrp="1"/>
          </p:cNvSpPr>
          <p:nvPr/>
        </p:nvSpPr>
        <p:spPr>
          <a:xfrm>
            <a:off x="10782300" y="4895850"/>
            <a:ext cx="981075" cy="38100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OpenAI Sans" panose="020B0604020202020204" charset="0"/>
                <a:ea typeface="OpenAI Sans" panose="020B0604020202020204" charset="0"/>
                <a:cs typeface="Times New Roman"/>
              </a:rPr>
              <a:t>n=82</a:t>
            </a:r>
          </a:p>
        </p:txBody>
      </p:sp>
      <p:sp>
        <p:nvSpPr>
          <p:cNvPr id="584" name="Rectangle 583">
            <a:extLst>
              <a:ext uri="{FF2B5EF4-FFF2-40B4-BE49-F238E27FC236}">
                <a16:creationId xmlns:a16="http://schemas.microsoft.com/office/drawing/2014/main" id="{D9441059-6148-4CAC-B5BC-6426A870FD6F}"/>
              </a:ext>
            </a:extLst>
          </p:cNvPr>
          <p:cNvSpPr>
            <a:spLocks noGrp="1"/>
          </p:cNvSpPr>
          <p:nvPr/>
        </p:nvSpPr>
        <p:spPr>
          <a:xfrm>
            <a:off x="3667125" y="1409700"/>
            <a:ext cx="190500" cy="190500"/>
          </a:xfrm>
          <a:prstGeom prst="rect">
            <a:avLst/>
          </a:prstGeom>
          <a:solidFill>
            <a:srgbClr val="A83A3A"/>
          </a:solidFill>
          <a:ln w="0">
            <a:noFill/>
          </a:ln>
        </p:spPr>
        <p:txBody>
          <a:bodyPr/>
          <a:lstStyle/>
          <a:p>
            <a:endParaRPr lang="en-US">
              <a:latin typeface="OpenAI Sans" panose="020B0604020202020204" charset="0"/>
              <a:ea typeface="OpenAI Sans" panose="020B0604020202020204" charset="0"/>
            </a:endParaRPr>
          </a:p>
        </p:txBody>
      </p:sp>
      <p:sp>
        <p:nvSpPr>
          <p:cNvPr id="585" name="C0  &lt; 3.20">
            <a:extLst>
              <a:ext uri="{FF2B5EF4-FFF2-40B4-BE49-F238E27FC236}">
                <a16:creationId xmlns:a16="http://schemas.microsoft.com/office/drawing/2014/main" id="{CA7820B6-AA00-4377-B75F-972F14C380C5}"/>
              </a:ext>
            </a:extLst>
          </p:cNvPr>
          <p:cNvSpPr>
            <a:spLocks noGrp="1"/>
          </p:cNvSpPr>
          <p:nvPr/>
        </p:nvSpPr>
        <p:spPr>
          <a:xfrm>
            <a:off x="39433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C0  &lt; 3.20</a:t>
            </a:r>
          </a:p>
        </p:txBody>
      </p:sp>
      <p:sp>
        <p:nvSpPr>
          <p:cNvPr id="586" name="Rectangle 585">
            <a:extLst>
              <a:ext uri="{FF2B5EF4-FFF2-40B4-BE49-F238E27FC236}">
                <a16:creationId xmlns:a16="http://schemas.microsoft.com/office/drawing/2014/main" id="{83D141F2-87DF-49FF-A075-C3216456BF05}"/>
              </a:ext>
            </a:extLst>
          </p:cNvPr>
          <p:cNvSpPr>
            <a:spLocks noGrp="1"/>
          </p:cNvSpPr>
          <p:nvPr/>
        </p:nvSpPr>
        <p:spPr>
          <a:xfrm>
            <a:off x="5476875" y="1409700"/>
            <a:ext cx="190500" cy="190500"/>
          </a:xfrm>
          <a:prstGeom prst="rect">
            <a:avLst/>
          </a:prstGeom>
          <a:solidFill>
            <a:srgbClr val="DC713D"/>
          </a:solidFill>
          <a:ln w="0">
            <a:noFill/>
          </a:ln>
        </p:spPr>
        <p:txBody>
          <a:bodyPr/>
          <a:lstStyle/>
          <a:p>
            <a:endParaRPr lang="en-US">
              <a:latin typeface="OpenAI Sans" panose="020B0604020202020204" charset="0"/>
              <a:ea typeface="OpenAI Sans" panose="020B0604020202020204" charset="0"/>
            </a:endParaRPr>
          </a:p>
        </p:txBody>
      </p:sp>
      <p:sp>
        <p:nvSpPr>
          <p:cNvPr id="587" name="C1  3.20–3.49">
            <a:extLst>
              <a:ext uri="{FF2B5EF4-FFF2-40B4-BE49-F238E27FC236}">
                <a16:creationId xmlns:a16="http://schemas.microsoft.com/office/drawing/2014/main" id="{214D1088-896D-4989-9D87-A78E4C47B17E}"/>
              </a:ext>
            </a:extLst>
          </p:cNvPr>
          <p:cNvSpPr>
            <a:spLocks noGrp="1"/>
          </p:cNvSpPr>
          <p:nvPr/>
        </p:nvSpPr>
        <p:spPr>
          <a:xfrm>
            <a:off x="57531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C1  3.20–3.49</a:t>
            </a:r>
          </a:p>
        </p:txBody>
      </p:sp>
      <p:sp>
        <p:nvSpPr>
          <p:cNvPr id="588" name="Rectangle 587">
            <a:extLst>
              <a:ext uri="{FF2B5EF4-FFF2-40B4-BE49-F238E27FC236}">
                <a16:creationId xmlns:a16="http://schemas.microsoft.com/office/drawing/2014/main" id="{516A69C6-371F-41D1-8789-00C2F3861583}"/>
              </a:ext>
            </a:extLst>
          </p:cNvPr>
          <p:cNvSpPr>
            <a:spLocks noGrp="1"/>
          </p:cNvSpPr>
          <p:nvPr/>
        </p:nvSpPr>
        <p:spPr>
          <a:xfrm>
            <a:off x="7286625" y="1409700"/>
            <a:ext cx="190500" cy="190500"/>
          </a:xfrm>
          <a:prstGeom prst="rect">
            <a:avLst/>
          </a:prstGeom>
          <a:solidFill>
            <a:srgbClr val="4C91D8"/>
          </a:solidFill>
          <a:ln w="0">
            <a:noFill/>
          </a:ln>
        </p:spPr>
        <p:txBody>
          <a:bodyPr/>
          <a:lstStyle/>
          <a:p>
            <a:endParaRPr lang="en-US">
              <a:latin typeface="OpenAI Sans" panose="020B0604020202020204" charset="0"/>
              <a:ea typeface="OpenAI Sans" panose="020B0604020202020204" charset="0"/>
            </a:endParaRPr>
          </a:p>
        </p:txBody>
      </p:sp>
      <p:sp>
        <p:nvSpPr>
          <p:cNvPr id="589" name="C2  3.50–3.74">
            <a:extLst>
              <a:ext uri="{FF2B5EF4-FFF2-40B4-BE49-F238E27FC236}">
                <a16:creationId xmlns:a16="http://schemas.microsoft.com/office/drawing/2014/main" id="{19DE4266-CE0D-4F1D-A478-582DA84A1A2F}"/>
              </a:ext>
            </a:extLst>
          </p:cNvPr>
          <p:cNvSpPr>
            <a:spLocks noGrp="1"/>
          </p:cNvSpPr>
          <p:nvPr/>
        </p:nvSpPr>
        <p:spPr>
          <a:xfrm>
            <a:off x="756285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C2  3.50–3.74</a:t>
            </a:r>
          </a:p>
        </p:txBody>
      </p:sp>
      <p:sp>
        <p:nvSpPr>
          <p:cNvPr id="590" name="Rectangle 589">
            <a:extLst>
              <a:ext uri="{FF2B5EF4-FFF2-40B4-BE49-F238E27FC236}">
                <a16:creationId xmlns:a16="http://schemas.microsoft.com/office/drawing/2014/main" id="{8A5329BA-B6CA-4368-BA1C-92863BC7D040}"/>
              </a:ext>
            </a:extLst>
          </p:cNvPr>
          <p:cNvSpPr>
            <a:spLocks noGrp="1"/>
          </p:cNvSpPr>
          <p:nvPr/>
        </p:nvSpPr>
        <p:spPr>
          <a:xfrm>
            <a:off x="9096375" y="1409700"/>
            <a:ext cx="190500" cy="190500"/>
          </a:xfrm>
          <a:prstGeom prst="rect">
            <a:avLst/>
          </a:prstGeom>
          <a:solidFill>
            <a:srgbClr val="285B9F"/>
          </a:solidFill>
          <a:ln w="0">
            <a:noFill/>
          </a:ln>
        </p:spPr>
        <p:txBody>
          <a:bodyPr/>
          <a:lstStyle/>
          <a:p>
            <a:endParaRPr lang="en-US">
              <a:latin typeface="OpenAI Sans" panose="020B0604020202020204" charset="0"/>
              <a:ea typeface="OpenAI Sans" panose="020B0604020202020204" charset="0"/>
            </a:endParaRPr>
          </a:p>
        </p:txBody>
      </p:sp>
      <p:sp>
        <p:nvSpPr>
          <p:cNvPr id="591" name="C3  ≥ 3.75">
            <a:extLst>
              <a:ext uri="{FF2B5EF4-FFF2-40B4-BE49-F238E27FC236}">
                <a16:creationId xmlns:a16="http://schemas.microsoft.com/office/drawing/2014/main" id="{AD089DC8-45FD-4109-ADB0-D45C40E5FD53}"/>
              </a:ext>
            </a:extLst>
          </p:cNvPr>
          <p:cNvSpPr>
            <a:spLocks noGrp="1"/>
          </p:cNvSpPr>
          <p:nvPr/>
        </p:nvSpPr>
        <p:spPr>
          <a:xfrm>
            <a:off x="9372600" y="1362075"/>
            <a:ext cx="1524000" cy="304800"/>
          </a:xfrm>
          <a:prstGeom prst="rect">
            <a:avLst/>
          </a:prstGeom>
          <a:noFill/>
          <a:ln w="0">
            <a:noFill/>
          </a:ln>
        </p:spPr>
        <p:txBody>
          <a:bodyPr anchor="t">
            <a:noAutofit/>
          </a:bodyPr>
          <a:lstStyle/>
          <a:p>
            <a:pPr>
              <a:defRPr sz="1350" b="0">
                <a:solidFill>
                  <a:srgbClr val="121212"/>
                </a:solidFill>
                <a:latin typeface="Times New Roman"/>
                <a:ea typeface="Times New Roman"/>
                <a:cs typeface="Times New Roman"/>
              </a:defRPr>
            </a:pPr>
            <a:r>
              <a:rPr sz="1350" b="0">
                <a:solidFill>
                  <a:srgbClr val="121212"/>
                </a:solidFill>
                <a:latin typeface="OpenAI Sans" panose="020B0604020202020204" charset="0"/>
                <a:ea typeface="OpenAI Sans" panose="020B0604020202020204" charset="0"/>
                <a:cs typeface="Times New Roman"/>
              </a:rPr>
              <a:t>C3  ≥ 3.75</a:t>
            </a:r>
          </a:p>
        </p:txBody>
      </p:sp>
      <p:cxnSp>
        <p:nvCxnSpPr>
          <p:cNvPr id="2" name="Straight Arrow Connector 1">
            <a:extLst>
              <a:ext uri="{FF2B5EF4-FFF2-40B4-BE49-F238E27FC236}">
                <a16:creationId xmlns:a16="http://schemas.microsoft.com/office/drawing/2014/main" id="{F69DCD1D-F3CE-3C89-BDDD-4A8311832CFB}"/>
              </a:ext>
            </a:extLst>
          </p:cNvPr>
          <p:cNvCxnSpPr>
            <a:cxnSpLocks/>
          </p:cNvCxnSpPr>
          <p:nvPr/>
        </p:nvCxnSpPr>
        <p:spPr>
          <a:xfrm>
            <a:off x="204107" y="5763986"/>
            <a:ext cx="1057819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 name="Straight Arrow Connector 2">
            <a:extLst>
              <a:ext uri="{FF2B5EF4-FFF2-40B4-BE49-F238E27FC236}">
                <a16:creationId xmlns:a16="http://schemas.microsoft.com/office/drawing/2014/main" id="{D8797FAF-0DD0-D81C-1434-A39C6BB22F69}"/>
              </a:ext>
            </a:extLst>
          </p:cNvPr>
          <p:cNvCxnSpPr>
            <a:cxnSpLocks/>
          </p:cNvCxnSpPr>
          <p:nvPr/>
        </p:nvCxnSpPr>
        <p:spPr>
          <a:xfrm flipV="1">
            <a:off x="356507" y="971550"/>
            <a:ext cx="0" cy="49448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8CDA531B-5568-3EA8-1908-0B8B57DB1C3D}"/>
              </a:ext>
            </a:extLst>
          </p:cNvPr>
          <p:cNvSpPr txBox="1"/>
          <p:nvPr/>
        </p:nvSpPr>
        <p:spPr>
          <a:xfrm>
            <a:off x="5532723" y="5787509"/>
            <a:ext cx="821572" cy="369332"/>
          </a:xfrm>
          <a:prstGeom prst="rect">
            <a:avLst/>
          </a:prstGeom>
          <a:noFill/>
        </p:spPr>
        <p:txBody>
          <a:bodyPr wrap="none" rtlCol="0">
            <a:spAutoFit/>
          </a:bodyPr>
          <a:lstStyle/>
          <a:p>
            <a:r>
              <a:rPr lang="en-US" dirty="0">
                <a:latin typeface="OpenAI Sans" panose="020B0604020202020204" charset="0"/>
                <a:ea typeface="OpenAI Sans" panose="020B0604020202020204" charset="0"/>
              </a:rPr>
              <a:t>CGPA</a:t>
            </a:r>
          </a:p>
        </p:txBody>
      </p:sp>
      <p:sp>
        <p:nvSpPr>
          <p:cNvPr id="5" name="TextBox 4">
            <a:extLst>
              <a:ext uri="{FF2B5EF4-FFF2-40B4-BE49-F238E27FC236}">
                <a16:creationId xmlns:a16="http://schemas.microsoft.com/office/drawing/2014/main" id="{C1E524B4-14BF-C25E-36E4-9531F63CF44A}"/>
              </a:ext>
            </a:extLst>
          </p:cNvPr>
          <p:cNvSpPr txBox="1"/>
          <p:nvPr/>
        </p:nvSpPr>
        <p:spPr>
          <a:xfrm rot="16200000">
            <a:off x="-1080299" y="2715997"/>
            <a:ext cx="2558714" cy="369332"/>
          </a:xfrm>
          <a:prstGeom prst="rect">
            <a:avLst/>
          </a:prstGeom>
          <a:noFill/>
        </p:spPr>
        <p:txBody>
          <a:bodyPr wrap="none" rtlCol="0">
            <a:spAutoFit/>
          </a:bodyPr>
          <a:lstStyle/>
          <a:p>
            <a:r>
              <a:rPr lang="en-US" dirty="0">
                <a:latin typeface="OpenAI Sans" panose="020B0604020202020204" charset="0"/>
                <a:ea typeface="OpenAI Sans" panose="020B0604020202020204" charset="0"/>
              </a:rPr>
              <a:t>Routine manageability</a:t>
            </a:r>
          </a:p>
        </p:txBody>
      </p:sp>
    </p:spTree>
    <p:extLst>
      <p:ext uri="{BB962C8B-B14F-4D97-AF65-F5344CB8AC3E}">
        <p14:creationId xmlns:p14="http://schemas.microsoft.com/office/powerpoint/2010/main" val="1812709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sz="1000" dirty="0">
                <a:latin typeface="OpenAI Sans" panose="020B0604020202020204" charset="0"/>
                <a:ea typeface="OpenAI Sans" panose="020B0604020202020204" charset="0"/>
                <a:cs typeface="Times New Roman"/>
              </a:rPr>
              <a:t>37</a:t>
            </a: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b="1" dirty="0">
                <a:latin typeface="OpenAI Sans" panose="020B0604020202020204" charset="0"/>
                <a:ea typeface="OpenAI Sans" panose="020B0604020202020204" charset="0"/>
                <a:cs typeface="Times New Roman"/>
              </a:rPr>
              <a:t>WEKA target-specific model results</a:t>
            </a:r>
          </a:p>
        </p:txBody>
      </p:sp>
      <p:graphicFrame>
        <p:nvGraphicFramePr>
          <p:cNvPr id="540" name="Table 539"/>
          <p:cNvGraphicFramePr/>
          <p:nvPr>
            <p:extLst>
              <p:ext uri="{D42A27DB-BD31-4B8C-83A1-F6EECF244321}">
                <p14:modId xmlns:p14="http://schemas.microsoft.com/office/powerpoint/2010/main" val="3864529670"/>
              </p:ext>
            </p:extLst>
          </p:nvPr>
        </p:nvGraphicFramePr>
        <p:xfrm>
          <a:off x="400050" y="1952625"/>
          <a:ext cx="11391900" cy="3602082"/>
        </p:xfrm>
        <a:graphic>
          <a:graphicData uri="http://schemas.openxmlformats.org/drawingml/2006/table">
            <a:tbl>
              <a:tblPr/>
              <a:tblGrid>
                <a:gridCol w="2857500">
                  <a:extLst>
                    <a:ext uri="{9D8B030D-6E8A-4147-A177-3AD203B41FA5}">
                      <a16:colId xmlns:a16="http://schemas.microsoft.com/office/drawing/2014/main" val="20000"/>
                    </a:ext>
                  </a:extLst>
                </a:gridCol>
                <a:gridCol w="2714625">
                  <a:extLst>
                    <a:ext uri="{9D8B030D-6E8A-4147-A177-3AD203B41FA5}">
                      <a16:colId xmlns:a16="http://schemas.microsoft.com/office/drawing/2014/main" val="20001"/>
                    </a:ext>
                  </a:extLst>
                </a:gridCol>
                <a:gridCol w="3105150">
                  <a:extLst>
                    <a:ext uri="{9D8B030D-6E8A-4147-A177-3AD203B41FA5}">
                      <a16:colId xmlns:a16="http://schemas.microsoft.com/office/drawing/2014/main" val="20002"/>
                    </a:ext>
                  </a:extLst>
                </a:gridCol>
                <a:gridCol w="2714625">
                  <a:extLst>
                    <a:ext uri="{9D8B030D-6E8A-4147-A177-3AD203B41FA5}">
                      <a16:colId xmlns:a16="http://schemas.microsoft.com/office/drawing/2014/main" val="20003"/>
                    </a:ext>
                  </a:extLst>
                </a:gridCol>
              </a:tblGrid>
              <a:tr h="489857">
                <a:tc>
                  <a:txBody>
                    <a:bodyPr/>
                    <a:lstStyle/>
                    <a:p>
                      <a:r>
                        <a:rPr sz="1875" b="1">
                          <a:solidFill>
                            <a:srgbClr val="121212"/>
                          </a:solidFill>
                          <a:latin typeface="OpenAI Sans" panose="020B0604020202020204" charset="0"/>
                          <a:ea typeface="OpenAI Sans" panose="020B0604020202020204" charset="0"/>
                          <a:cs typeface="Times New Roman"/>
                        </a:rPr>
                        <a:t>WEKA model</a:t>
                      </a:r>
                    </a:p>
                  </a:txBody>
                  <a:tcPr>
                    <a:solidFill>
                      <a:srgbClr val="EEEEEE"/>
                    </a:solidFill>
                  </a:tcPr>
                </a:tc>
                <a:tc>
                  <a:txBody>
                    <a:bodyPr/>
                    <a:lstStyle/>
                    <a:p>
                      <a:r>
                        <a:rPr lang="en-US" sz="1875" b="1" dirty="0">
                          <a:solidFill>
                            <a:srgbClr val="121212"/>
                          </a:solidFill>
                          <a:latin typeface="OpenAI Sans" panose="020B0604020202020204" charset="0"/>
                          <a:ea typeface="OpenAI Sans" panose="020B0604020202020204" charset="0"/>
                          <a:cs typeface="Times New Roman"/>
                        </a:rPr>
                        <a:t>QNA -&gt;</a:t>
                      </a:r>
                      <a:r>
                        <a:rPr sz="1875" b="1" dirty="0">
                          <a:solidFill>
                            <a:srgbClr val="121212"/>
                          </a:solidFill>
                          <a:latin typeface="OpenAI Sans" panose="020B0604020202020204" charset="0"/>
                          <a:ea typeface="OpenAI Sans" panose="020B0604020202020204" charset="0"/>
                          <a:cs typeface="Times New Roman"/>
                        </a:rPr>
                        <a:t> SGPA</a:t>
                      </a:r>
                      <a:r>
                        <a:rPr lang="en-US" sz="1875" b="1" dirty="0">
                          <a:solidFill>
                            <a:srgbClr val="121212"/>
                          </a:solidFill>
                          <a:latin typeface="OpenAI Sans" panose="020B0604020202020204" charset="0"/>
                          <a:ea typeface="OpenAI Sans" panose="020B0604020202020204" charset="0"/>
                          <a:cs typeface="Times New Roman"/>
                        </a:rPr>
                        <a:t> prediction</a:t>
                      </a:r>
                      <a:endParaRPr sz="1875" b="1" dirty="0">
                        <a:solidFill>
                          <a:srgbClr val="121212"/>
                        </a:solidFill>
                        <a:latin typeface="OpenAI Sans" panose="020B0604020202020204" charset="0"/>
                        <a:ea typeface="OpenAI Sans" panose="020B0604020202020204" charset="0"/>
                        <a:cs typeface="Times New Roman"/>
                      </a:endParaRPr>
                    </a:p>
                  </a:txBody>
                  <a:tcPr>
                    <a:solidFill>
                      <a:srgbClr val="EEEEEE"/>
                    </a:solidFill>
                  </a:tcPr>
                </a:tc>
                <a:tc>
                  <a:txBody>
                    <a:bodyPr/>
                    <a:lstStyle/>
                    <a:p>
                      <a:r>
                        <a:rPr lang="en-US" sz="1875" b="1" dirty="0">
                          <a:solidFill>
                            <a:srgbClr val="121212"/>
                          </a:solidFill>
                          <a:latin typeface="OpenAI Sans" panose="020B0604020202020204" charset="0"/>
                          <a:ea typeface="OpenAI Sans" panose="020B0604020202020204" charset="0"/>
                          <a:cs typeface="Times New Roman"/>
                        </a:rPr>
                        <a:t>QNA -&gt; </a:t>
                      </a:r>
                      <a:r>
                        <a:rPr sz="1875" b="1" dirty="0">
                          <a:solidFill>
                            <a:srgbClr val="121212"/>
                          </a:solidFill>
                          <a:latin typeface="OpenAI Sans" panose="020B0604020202020204" charset="0"/>
                          <a:ea typeface="OpenAI Sans" panose="020B0604020202020204" charset="0"/>
                          <a:cs typeface="Times New Roman"/>
                        </a:rPr>
                        <a:t>CGPA</a:t>
                      </a:r>
                      <a:r>
                        <a:rPr lang="en-US" sz="1875" b="1" dirty="0">
                          <a:solidFill>
                            <a:srgbClr val="121212"/>
                          </a:solidFill>
                          <a:latin typeface="OpenAI Sans" panose="020B0604020202020204" charset="0"/>
                          <a:ea typeface="OpenAI Sans" panose="020B0604020202020204" charset="0"/>
                          <a:cs typeface="Times New Roman"/>
                        </a:rPr>
                        <a:t> Prediction</a:t>
                      </a:r>
                      <a:endParaRPr sz="1875" b="1" dirty="0">
                        <a:solidFill>
                          <a:srgbClr val="121212"/>
                        </a:solidFill>
                        <a:latin typeface="OpenAI Sans" panose="020B0604020202020204" charset="0"/>
                        <a:ea typeface="OpenAI Sans" panose="020B0604020202020204" charset="0"/>
                        <a:cs typeface="Times New Roman"/>
                      </a:endParaRPr>
                    </a:p>
                  </a:txBody>
                  <a:tcPr>
                    <a:solidFill>
                      <a:srgbClr val="EEEEEE"/>
                    </a:solidFill>
                  </a:tcPr>
                </a:tc>
                <a:tc>
                  <a:txBody>
                    <a:bodyPr/>
                    <a:lstStyle/>
                    <a:p>
                      <a:r>
                        <a:rPr lang="en-US" sz="1875" b="1" dirty="0">
                          <a:solidFill>
                            <a:srgbClr val="121212"/>
                          </a:solidFill>
                          <a:latin typeface="OpenAI Sans" panose="020B0604020202020204" charset="0"/>
                          <a:ea typeface="OpenAI Sans" panose="020B0604020202020204" charset="0"/>
                          <a:cs typeface="Times New Roman"/>
                        </a:rPr>
                        <a:t>QNA + SGPA -&gt; </a:t>
                      </a:r>
                      <a:r>
                        <a:rPr sz="1875" b="1" dirty="0">
                          <a:solidFill>
                            <a:srgbClr val="121212"/>
                          </a:solidFill>
                          <a:latin typeface="OpenAI Sans" panose="020B0604020202020204" charset="0"/>
                          <a:ea typeface="OpenAI Sans" panose="020B0604020202020204" charset="0"/>
                          <a:cs typeface="Times New Roman"/>
                        </a:rPr>
                        <a:t>CGPA</a:t>
                      </a:r>
                      <a:r>
                        <a:rPr lang="en-US" sz="1875" b="1" dirty="0">
                          <a:solidFill>
                            <a:srgbClr val="121212"/>
                          </a:solidFill>
                          <a:latin typeface="OpenAI Sans" panose="020B0604020202020204" charset="0"/>
                          <a:ea typeface="OpenAI Sans" panose="020B0604020202020204" charset="0"/>
                          <a:cs typeface="Times New Roman"/>
                        </a:rPr>
                        <a:t> Prediction</a:t>
                      </a:r>
                      <a:endParaRPr sz="1875" b="1" dirty="0">
                        <a:solidFill>
                          <a:srgbClr val="121212"/>
                        </a:solidFill>
                        <a:latin typeface="OpenAI Sans" panose="020B0604020202020204" charset="0"/>
                        <a:ea typeface="OpenAI Sans" panose="020B0604020202020204" charset="0"/>
                        <a:cs typeface="Times New Roman"/>
                      </a:endParaRPr>
                    </a:p>
                  </a:txBody>
                  <a:tcPr>
                    <a:solidFill>
                      <a:srgbClr val="EEEEEE"/>
                    </a:solidFill>
                  </a:tcPr>
                </a:tc>
                <a:extLst>
                  <a:ext uri="{0D108BD9-81ED-4DB2-BD59-A6C34878D82A}">
                    <a16:rowId xmlns:a16="http://schemas.microsoft.com/office/drawing/2014/main" val="10000"/>
                  </a:ext>
                </a:extLst>
              </a:tr>
              <a:tr h="489857">
                <a:tc>
                  <a:txBody>
                    <a:bodyPr/>
                    <a:lstStyle/>
                    <a:p>
                      <a:r>
                        <a:rPr sz="1875" b="0" dirty="0">
                          <a:solidFill>
                            <a:srgbClr val="121212"/>
                          </a:solidFill>
                          <a:latin typeface="OpenAI Sans" panose="020B0604020202020204" charset="0"/>
                          <a:ea typeface="OpenAI Sans" panose="020B0604020202020204" charset="0"/>
                          <a:cs typeface="Times New Roman"/>
                        </a:rPr>
                        <a:t>J48</a:t>
                      </a:r>
                    </a:p>
                  </a:txBody>
                  <a:tcPr>
                    <a:solidFill>
                      <a:srgbClr val="FFFFFF"/>
                    </a:solidFill>
                  </a:tcPr>
                </a:tc>
                <a:tc>
                  <a:txBody>
                    <a:bodyPr/>
                    <a:lstStyle/>
                    <a:p>
                      <a:r>
                        <a:rPr sz="1875" b="0" dirty="0">
                          <a:solidFill>
                            <a:srgbClr val="121212"/>
                          </a:solidFill>
                          <a:latin typeface="OpenAI Sans" panose="020B0604020202020204" charset="0"/>
                          <a:ea typeface="OpenAI Sans" panose="020B0604020202020204" charset="0"/>
                          <a:cs typeface="Times New Roman"/>
                        </a:rPr>
                        <a:t>26.30%</a:t>
                      </a:r>
                    </a:p>
                  </a:txBody>
                  <a:tcPr>
                    <a:solidFill>
                      <a:srgbClr val="FFFFFF"/>
                    </a:solidFill>
                  </a:tcPr>
                </a:tc>
                <a:tc>
                  <a:txBody>
                    <a:bodyPr/>
                    <a:lstStyle/>
                    <a:p>
                      <a:r>
                        <a:rPr sz="1875" b="0" dirty="0">
                          <a:solidFill>
                            <a:srgbClr val="121212"/>
                          </a:solidFill>
                          <a:latin typeface="OpenAI Sans" panose="020B0604020202020204" charset="0"/>
                          <a:ea typeface="OpenAI Sans" panose="020B0604020202020204" charset="0"/>
                          <a:cs typeface="Times New Roman"/>
                        </a:rPr>
                        <a:t>27.83%</a:t>
                      </a:r>
                    </a:p>
                  </a:txBody>
                  <a:tcPr>
                    <a:solidFill>
                      <a:srgbClr val="FFFFFF"/>
                    </a:solidFill>
                  </a:tcPr>
                </a:tc>
                <a:tc>
                  <a:txBody>
                    <a:bodyPr/>
                    <a:lstStyle/>
                    <a:p>
                      <a:r>
                        <a:rPr sz="1875" b="0" dirty="0">
                          <a:solidFill>
                            <a:srgbClr val="121212"/>
                          </a:solidFill>
                          <a:latin typeface="OpenAI Sans" panose="020B0604020202020204" charset="0"/>
                          <a:ea typeface="OpenAI Sans" panose="020B0604020202020204" charset="0"/>
                          <a:cs typeface="Times New Roman"/>
                        </a:rPr>
                        <a:t>54.35%</a:t>
                      </a:r>
                    </a:p>
                  </a:txBody>
                  <a:tcPr>
                    <a:solidFill>
                      <a:srgbClr val="FFFFFF"/>
                    </a:solidFill>
                  </a:tcPr>
                </a:tc>
                <a:extLst>
                  <a:ext uri="{0D108BD9-81ED-4DB2-BD59-A6C34878D82A}">
                    <a16:rowId xmlns:a16="http://schemas.microsoft.com/office/drawing/2014/main" val="10001"/>
                  </a:ext>
                </a:extLst>
              </a:tr>
              <a:tr h="489857">
                <a:tc>
                  <a:txBody>
                    <a:bodyPr/>
                    <a:lstStyle/>
                    <a:p>
                      <a:r>
                        <a:rPr sz="1875" b="0">
                          <a:solidFill>
                            <a:srgbClr val="121212"/>
                          </a:solidFill>
                          <a:latin typeface="OpenAI Sans" panose="020B0604020202020204" charset="0"/>
                          <a:ea typeface="OpenAI Sans" panose="020B0604020202020204" charset="0"/>
                          <a:cs typeface="Times New Roman"/>
                        </a:rPr>
                        <a:t>Random Forest</a:t>
                      </a:r>
                    </a:p>
                  </a:txBody>
                  <a:tcPr>
                    <a:solidFill>
                      <a:srgbClr val="FFFFFF"/>
                    </a:solidFill>
                  </a:tcPr>
                </a:tc>
                <a:tc>
                  <a:txBody>
                    <a:bodyPr/>
                    <a:lstStyle/>
                    <a:p>
                      <a:r>
                        <a:rPr sz="1875" b="0">
                          <a:solidFill>
                            <a:srgbClr val="121212"/>
                          </a:solidFill>
                          <a:latin typeface="OpenAI Sans" panose="020B0604020202020204" charset="0"/>
                          <a:ea typeface="OpenAI Sans" panose="020B0604020202020204" charset="0"/>
                          <a:cs typeface="Times New Roman"/>
                        </a:rPr>
                        <a:t>32.39%</a:t>
                      </a:r>
                    </a:p>
                  </a:txBody>
                  <a:tcPr>
                    <a:solidFill>
                      <a:srgbClr val="FFFFFF"/>
                    </a:solidFill>
                  </a:tcPr>
                </a:tc>
                <a:tc>
                  <a:txBody>
                    <a:bodyPr/>
                    <a:lstStyle/>
                    <a:p>
                      <a:r>
                        <a:rPr sz="1875" b="0">
                          <a:solidFill>
                            <a:srgbClr val="121212"/>
                          </a:solidFill>
                          <a:latin typeface="OpenAI Sans" panose="020B0604020202020204" charset="0"/>
                          <a:ea typeface="OpenAI Sans" panose="020B0604020202020204" charset="0"/>
                          <a:cs typeface="Times New Roman"/>
                        </a:rPr>
                        <a:t>30.54%</a:t>
                      </a:r>
                    </a:p>
                  </a:txBody>
                  <a:tcPr>
                    <a:solidFill>
                      <a:srgbClr val="FFFFFF"/>
                    </a:solidFill>
                  </a:tcPr>
                </a:tc>
                <a:tc>
                  <a:txBody>
                    <a:bodyPr/>
                    <a:lstStyle/>
                    <a:p>
                      <a:r>
                        <a:rPr sz="1875" b="0" dirty="0">
                          <a:solidFill>
                            <a:srgbClr val="121212"/>
                          </a:solidFill>
                          <a:latin typeface="OpenAI Sans" panose="020B0604020202020204" charset="0"/>
                          <a:ea typeface="OpenAI Sans" panose="020B0604020202020204" charset="0"/>
                          <a:cs typeface="Times New Roman"/>
                        </a:rPr>
                        <a:t>54.24%</a:t>
                      </a:r>
                    </a:p>
                  </a:txBody>
                  <a:tcPr>
                    <a:solidFill>
                      <a:srgbClr val="FFFFFF"/>
                    </a:solidFill>
                  </a:tcPr>
                </a:tc>
                <a:extLst>
                  <a:ext uri="{0D108BD9-81ED-4DB2-BD59-A6C34878D82A}">
                    <a16:rowId xmlns:a16="http://schemas.microsoft.com/office/drawing/2014/main" val="10002"/>
                  </a:ext>
                </a:extLst>
              </a:tr>
              <a:tr h="489857">
                <a:tc>
                  <a:txBody>
                    <a:bodyPr/>
                    <a:lstStyle/>
                    <a:p>
                      <a:r>
                        <a:rPr sz="1875" b="0">
                          <a:solidFill>
                            <a:srgbClr val="121212"/>
                          </a:solidFill>
                          <a:latin typeface="OpenAI Sans" panose="020B0604020202020204" charset="0"/>
                          <a:ea typeface="OpenAI Sans" panose="020B0604020202020204" charset="0"/>
                          <a:cs typeface="Times New Roman"/>
                        </a:rPr>
                        <a:t>SMO</a:t>
                      </a:r>
                    </a:p>
                  </a:txBody>
                  <a:tcPr>
                    <a:solidFill>
                      <a:srgbClr val="FFFFFF"/>
                    </a:solidFill>
                  </a:tcPr>
                </a:tc>
                <a:tc>
                  <a:txBody>
                    <a:bodyPr/>
                    <a:lstStyle/>
                    <a:p>
                      <a:r>
                        <a:rPr sz="1875" b="0">
                          <a:solidFill>
                            <a:srgbClr val="121212"/>
                          </a:solidFill>
                          <a:latin typeface="OpenAI Sans" panose="020B0604020202020204" charset="0"/>
                          <a:ea typeface="OpenAI Sans" panose="020B0604020202020204" charset="0"/>
                          <a:cs typeface="Times New Roman"/>
                        </a:rPr>
                        <a:t>27.93%</a:t>
                      </a:r>
                    </a:p>
                  </a:txBody>
                  <a:tcPr>
                    <a:solidFill>
                      <a:srgbClr val="FFFFFF"/>
                    </a:solidFill>
                  </a:tcPr>
                </a:tc>
                <a:tc>
                  <a:txBody>
                    <a:bodyPr/>
                    <a:lstStyle/>
                    <a:p>
                      <a:r>
                        <a:rPr sz="1875" b="0">
                          <a:solidFill>
                            <a:srgbClr val="121212"/>
                          </a:solidFill>
                          <a:latin typeface="OpenAI Sans" panose="020B0604020202020204" charset="0"/>
                          <a:ea typeface="OpenAI Sans" panose="020B0604020202020204" charset="0"/>
                          <a:cs typeface="Times New Roman"/>
                        </a:rPr>
                        <a:t>28.15%</a:t>
                      </a:r>
                    </a:p>
                  </a:txBody>
                  <a:tcPr>
                    <a:solidFill>
                      <a:srgbClr val="FFFFFF"/>
                    </a:solidFill>
                  </a:tcPr>
                </a:tc>
                <a:tc>
                  <a:txBody>
                    <a:bodyPr/>
                    <a:lstStyle/>
                    <a:p>
                      <a:r>
                        <a:rPr sz="1875" b="0">
                          <a:solidFill>
                            <a:srgbClr val="121212"/>
                          </a:solidFill>
                          <a:latin typeface="OpenAI Sans" panose="020B0604020202020204" charset="0"/>
                          <a:ea typeface="OpenAI Sans" panose="020B0604020202020204" charset="0"/>
                          <a:cs typeface="Times New Roman"/>
                        </a:rPr>
                        <a:t>55.22%</a:t>
                      </a:r>
                    </a:p>
                  </a:txBody>
                  <a:tcPr>
                    <a:solidFill>
                      <a:srgbClr val="FFFFFF"/>
                    </a:solidFill>
                  </a:tcPr>
                </a:tc>
                <a:extLst>
                  <a:ext uri="{0D108BD9-81ED-4DB2-BD59-A6C34878D82A}">
                    <a16:rowId xmlns:a16="http://schemas.microsoft.com/office/drawing/2014/main" val="10003"/>
                  </a:ext>
                </a:extLst>
              </a:tr>
              <a:tr h="489857">
                <a:tc>
                  <a:txBody>
                    <a:bodyPr/>
                    <a:lstStyle/>
                    <a:p>
                      <a:r>
                        <a:rPr sz="1875" b="0">
                          <a:solidFill>
                            <a:srgbClr val="121212"/>
                          </a:solidFill>
                          <a:latin typeface="OpenAI Sans" panose="020B0604020202020204" charset="0"/>
                          <a:ea typeface="OpenAI Sans" panose="020B0604020202020204" charset="0"/>
                          <a:cs typeface="Times New Roman"/>
                        </a:rPr>
                        <a:t>Logistic</a:t>
                      </a:r>
                    </a:p>
                  </a:txBody>
                  <a:tcPr>
                    <a:solidFill>
                      <a:srgbClr val="FFFFFF"/>
                    </a:solidFill>
                  </a:tcPr>
                </a:tc>
                <a:tc>
                  <a:txBody>
                    <a:bodyPr/>
                    <a:lstStyle/>
                    <a:p>
                      <a:r>
                        <a:rPr sz="1875" b="0">
                          <a:solidFill>
                            <a:srgbClr val="121212"/>
                          </a:solidFill>
                          <a:latin typeface="OpenAI Sans" panose="020B0604020202020204" charset="0"/>
                          <a:ea typeface="OpenAI Sans" panose="020B0604020202020204" charset="0"/>
                          <a:cs typeface="Times New Roman"/>
                        </a:rPr>
                        <a:t>29.02%</a:t>
                      </a:r>
                    </a:p>
                  </a:txBody>
                  <a:tcPr>
                    <a:solidFill>
                      <a:srgbClr val="FFFFFF"/>
                    </a:solidFill>
                  </a:tcPr>
                </a:tc>
                <a:tc>
                  <a:txBody>
                    <a:bodyPr/>
                    <a:lstStyle/>
                    <a:p>
                      <a:r>
                        <a:rPr sz="1875" b="0">
                          <a:solidFill>
                            <a:srgbClr val="121212"/>
                          </a:solidFill>
                          <a:latin typeface="OpenAI Sans" panose="020B0604020202020204" charset="0"/>
                          <a:ea typeface="OpenAI Sans" panose="020B0604020202020204" charset="0"/>
                          <a:cs typeface="Times New Roman"/>
                        </a:rPr>
                        <a:t>30.11%</a:t>
                      </a:r>
                    </a:p>
                  </a:txBody>
                  <a:tcPr>
                    <a:solidFill>
                      <a:srgbClr val="FFFFFF"/>
                    </a:solidFill>
                  </a:tcPr>
                </a:tc>
                <a:tc>
                  <a:txBody>
                    <a:bodyPr/>
                    <a:lstStyle/>
                    <a:p>
                      <a:r>
                        <a:rPr sz="1875" b="0">
                          <a:solidFill>
                            <a:srgbClr val="121212"/>
                          </a:solidFill>
                          <a:latin typeface="OpenAI Sans" panose="020B0604020202020204" charset="0"/>
                          <a:ea typeface="OpenAI Sans" panose="020B0604020202020204" charset="0"/>
                          <a:cs typeface="Times New Roman"/>
                        </a:rPr>
                        <a:t>54.67%</a:t>
                      </a:r>
                    </a:p>
                  </a:txBody>
                  <a:tcPr>
                    <a:solidFill>
                      <a:srgbClr val="FFFFFF"/>
                    </a:solidFill>
                  </a:tcPr>
                </a:tc>
                <a:extLst>
                  <a:ext uri="{0D108BD9-81ED-4DB2-BD59-A6C34878D82A}">
                    <a16:rowId xmlns:a16="http://schemas.microsoft.com/office/drawing/2014/main" val="10004"/>
                  </a:ext>
                </a:extLst>
              </a:tr>
              <a:tr h="489857">
                <a:tc>
                  <a:txBody>
                    <a:bodyPr/>
                    <a:lstStyle/>
                    <a:p>
                      <a:r>
                        <a:rPr sz="1875" b="0">
                          <a:solidFill>
                            <a:srgbClr val="121212"/>
                          </a:solidFill>
                          <a:latin typeface="OpenAI Sans" panose="020B0604020202020204" charset="0"/>
                          <a:ea typeface="OpenAI Sans" panose="020B0604020202020204" charset="0"/>
                          <a:cs typeface="Times New Roman"/>
                        </a:rPr>
                        <a:t>Naive Bayes</a:t>
                      </a:r>
                    </a:p>
                  </a:txBody>
                  <a:tcPr>
                    <a:solidFill>
                      <a:srgbClr val="FFFFFF"/>
                    </a:solidFill>
                  </a:tcPr>
                </a:tc>
                <a:tc>
                  <a:txBody>
                    <a:bodyPr/>
                    <a:lstStyle/>
                    <a:p>
                      <a:r>
                        <a:rPr sz="1875" b="0">
                          <a:solidFill>
                            <a:srgbClr val="121212"/>
                          </a:solidFill>
                          <a:latin typeface="OpenAI Sans" panose="020B0604020202020204" charset="0"/>
                          <a:ea typeface="OpenAI Sans" panose="020B0604020202020204" charset="0"/>
                          <a:cs typeface="Times New Roman"/>
                        </a:rPr>
                        <a:t>30.00%</a:t>
                      </a:r>
                    </a:p>
                  </a:txBody>
                  <a:tcPr>
                    <a:solidFill>
                      <a:srgbClr val="FFFFFF"/>
                    </a:solidFill>
                  </a:tcPr>
                </a:tc>
                <a:tc>
                  <a:txBody>
                    <a:bodyPr/>
                    <a:lstStyle/>
                    <a:p>
                      <a:r>
                        <a:rPr sz="1875" b="0">
                          <a:solidFill>
                            <a:srgbClr val="121212"/>
                          </a:solidFill>
                          <a:latin typeface="OpenAI Sans" panose="020B0604020202020204" charset="0"/>
                          <a:ea typeface="OpenAI Sans" panose="020B0604020202020204" charset="0"/>
                          <a:cs typeface="Times New Roman"/>
                        </a:rPr>
                        <a:t>31.20%</a:t>
                      </a:r>
                    </a:p>
                  </a:txBody>
                  <a:tcPr>
                    <a:solidFill>
                      <a:srgbClr val="FFFFFF"/>
                    </a:solidFill>
                  </a:tcPr>
                </a:tc>
                <a:tc>
                  <a:txBody>
                    <a:bodyPr/>
                    <a:lstStyle/>
                    <a:p>
                      <a:r>
                        <a:rPr sz="1875" b="0">
                          <a:solidFill>
                            <a:srgbClr val="121212"/>
                          </a:solidFill>
                          <a:latin typeface="OpenAI Sans" panose="020B0604020202020204" charset="0"/>
                          <a:ea typeface="OpenAI Sans" panose="020B0604020202020204" charset="0"/>
                          <a:cs typeface="Times New Roman"/>
                        </a:rPr>
                        <a:t>54.46%</a:t>
                      </a:r>
                    </a:p>
                  </a:txBody>
                  <a:tcPr>
                    <a:solidFill>
                      <a:srgbClr val="FFFFFF"/>
                    </a:solidFill>
                  </a:tcPr>
                </a:tc>
                <a:extLst>
                  <a:ext uri="{0D108BD9-81ED-4DB2-BD59-A6C34878D82A}">
                    <a16:rowId xmlns:a16="http://schemas.microsoft.com/office/drawing/2014/main" val="10005"/>
                  </a:ext>
                </a:extLst>
              </a:tr>
              <a:tr h="489857">
                <a:tc>
                  <a:txBody>
                    <a:bodyPr/>
                    <a:lstStyle/>
                    <a:p>
                      <a:r>
                        <a:rPr sz="1875" b="0">
                          <a:solidFill>
                            <a:srgbClr val="121212"/>
                          </a:solidFill>
                          <a:latin typeface="OpenAI Sans" panose="020B0604020202020204" charset="0"/>
                          <a:ea typeface="OpenAI Sans" panose="020B0604020202020204" charset="0"/>
                          <a:cs typeface="Times New Roman"/>
                        </a:rPr>
                        <a:t>ZeroR</a:t>
                      </a:r>
                    </a:p>
                  </a:txBody>
                  <a:tcPr>
                    <a:solidFill>
                      <a:srgbClr val="FFFFFF"/>
                    </a:solidFill>
                  </a:tcPr>
                </a:tc>
                <a:tc>
                  <a:txBody>
                    <a:bodyPr/>
                    <a:lstStyle/>
                    <a:p>
                      <a:r>
                        <a:rPr sz="1875" b="0">
                          <a:solidFill>
                            <a:srgbClr val="121212"/>
                          </a:solidFill>
                          <a:latin typeface="OpenAI Sans" panose="020B0604020202020204" charset="0"/>
                          <a:ea typeface="OpenAI Sans" panose="020B0604020202020204" charset="0"/>
                          <a:cs typeface="Times New Roman"/>
                        </a:rPr>
                        <a:t>29.24%</a:t>
                      </a:r>
                    </a:p>
                  </a:txBody>
                  <a:tcPr>
                    <a:solidFill>
                      <a:srgbClr val="FFFFFF"/>
                    </a:solidFill>
                  </a:tcPr>
                </a:tc>
                <a:tc>
                  <a:txBody>
                    <a:bodyPr/>
                    <a:lstStyle/>
                    <a:p>
                      <a:r>
                        <a:rPr sz="1875" b="0">
                          <a:solidFill>
                            <a:srgbClr val="121212"/>
                          </a:solidFill>
                          <a:latin typeface="OpenAI Sans" panose="020B0604020202020204" charset="0"/>
                          <a:ea typeface="OpenAI Sans" panose="020B0604020202020204" charset="0"/>
                          <a:cs typeface="Times New Roman"/>
                        </a:rPr>
                        <a:t>30.87%</a:t>
                      </a:r>
                    </a:p>
                  </a:txBody>
                  <a:tcPr>
                    <a:solidFill>
                      <a:srgbClr val="FFFFFF"/>
                    </a:solidFill>
                  </a:tcPr>
                </a:tc>
                <a:tc>
                  <a:txBody>
                    <a:bodyPr/>
                    <a:lstStyle/>
                    <a:p>
                      <a:r>
                        <a:rPr sz="1875" b="0" dirty="0">
                          <a:solidFill>
                            <a:srgbClr val="121212"/>
                          </a:solidFill>
                          <a:latin typeface="OpenAI Sans" panose="020B0604020202020204" charset="0"/>
                          <a:ea typeface="OpenAI Sans" panose="020B0604020202020204" charset="0"/>
                          <a:cs typeface="Times New Roman"/>
                        </a:rPr>
                        <a:t>30.87%</a:t>
                      </a:r>
                    </a:p>
                  </a:txBody>
                  <a:tcPr>
                    <a:solidFill>
                      <a:srgbClr val="FFFFFF"/>
                    </a:solidFill>
                  </a:tcPr>
                </a:tc>
                <a:extLst>
                  <a:ext uri="{0D108BD9-81ED-4DB2-BD59-A6C34878D82A}">
                    <a16:rowId xmlns:a16="http://schemas.microsoft.com/office/drawing/2014/main" val="10006"/>
                  </a:ext>
                </a:extLst>
              </a:tr>
            </a:tbl>
          </a:graphicData>
        </a:graphic>
      </p:graphicFrame>
      <p:sp>
        <p:nvSpPr>
          <p:cNvPr id="535" name="Stratified 10-fold cross-validation, seed 1">
            <a:extLst>
              <a:ext uri="{FF2B5EF4-FFF2-40B4-BE49-F238E27FC236}">
                <a16:creationId xmlns:a16="http://schemas.microsoft.com/office/drawing/2014/main" id="{0537DC0A-7A21-405A-AF24-2B61CF92B394}"/>
              </a:ext>
            </a:extLst>
          </p:cNvPr>
          <p:cNvSpPr>
            <a:spLocks noGrp="1"/>
          </p:cNvSpPr>
          <p:nvPr/>
        </p:nvSpPr>
        <p:spPr>
          <a:xfrm>
            <a:off x="400050" y="1362075"/>
            <a:ext cx="10953750" cy="381000"/>
          </a:xfrm>
          <a:prstGeom prst="rect">
            <a:avLst/>
          </a:prstGeom>
          <a:noFill/>
          <a:ln w="0">
            <a:noFill/>
          </a:ln>
        </p:spPr>
        <p:txBody>
          <a:bodyPr anchor="t">
            <a:noAutofit/>
          </a:bodyPr>
          <a:lstStyle/>
          <a:p>
            <a:pPr>
              <a:defRPr sz="1950" b="0">
                <a:solidFill>
                  <a:srgbClr val="121212"/>
                </a:solidFill>
                <a:latin typeface="Times New Roman"/>
                <a:ea typeface="Times New Roman"/>
                <a:cs typeface="Times New Roman"/>
              </a:defRPr>
            </a:pPr>
            <a:r>
              <a:rPr sz="1950" b="0">
                <a:solidFill>
                  <a:srgbClr val="121212"/>
                </a:solidFill>
                <a:latin typeface="OpenAI Sans" panose="020B0604020202020204" charset="0"/>
                <a:ea typeface="OpenAI Sans" panose="020B0604020202020204" charset="0"/>
                <a:cs typeface="Times New Roman"/>
              </a:rPr>
              <a:t>Stratified 5-fold cross-validation, seed 1</a:t>
            </a:r>
          </a:p>
        </p:txBody>
      </p:sp>
      <p:sp>
        <p:nvSpPr>
          <p:cNvPr id="536" name="Same 1,102 records. Questionnaire: 12 inputs. Main CGPA">
            <a:extLst>
              <a:ext uri="{FF2B5EF4-FFF2-40B4-BE49-F238E27FC236}">
                <a16:creationId xmlns:a16="http://schemas.microsoft.com/office/drawing/2014/main" id="{67D35FFE-1E24-4572-832D-037749D4D1AD}"/>
              </a:ext>
            </a:extLst>
          </p:cNvPr>
          <p:cNvSpPr>
            <a:spLocks noGrp="1"/>
          </p:cNvSpPr>
          <p:nvPr/>
        </p:nvSpPr>
        <p:spPr>
          <a:xfrm>
            <a:off x="400050" y="5830083"/>
            <a:ext cx="11049000" cy="285750"/>
          </a:xfrm>
          <a:prstGeom prst="rect">
            <a:avLst/>
          </a:prstGeom>
          <a:noFill/>
          <a:ln w="0">
            <a:noFill/>
          </a:ln>
        </p:spPr>
        <p:txBody>
          <a:bodyPr anchor="t">
            <a:noAutofit/>
          </a:bodyPr>
          <a:lstStyle/>
          <a:p>
            <a:pPr>
              <a:defRPr sz="1275" b="0">
                <a:solidFill>
                  <a:srgbClr val="585858"/>
                </a:solidFill>
                <a:latin typeface="Times New Roman"/>
                <a:ea typeface="Times New Roman"/>
                <a:cs typeface="Times New Roman"/>
              </a:defRPr>
            </a:pPr>
            <a:r>
              <a:rPr sz="1275" b="0" dirty="0">
                <a:solidFill>
                  <a:srgbClr val="585858"/>
                </a:solidFill>
                <a:latin typeface="OpenAI Sans" panose="020B0604020202020204" charset="0"/>
                <a:ea typeface="OpenAI Sans" panose="020B0604020202020204" charset="0"/>
                <a:cs typeface="Times New Roman"/>
              </a:rPr>
              <a:t>Same 920 students. Questionnaire: 12 inputs. Main CGPA: same inputs + recent SGPA.</a:t>
            </a:r>
          </a:p>
        </p:txBody>
      </p:sp>
    </p:spTree>
    <p:extLst>
      <p:ext uri="{BB962C8B-B14F-4D97-AF65-F5344CB8AC3E}">
        <p14:creationId xmlns:p14="http://schemas.microsoft.com/office/powerpoint/2010/main" val="282617487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1FCD99-6E54-3DB7-419A-43D988E97601}"/>
            </a:ext>
          </a:extLst>
        </p:cNvPr>
        <p:cNvGrpSpPr/>
        <p:nvPr/>
      </p:nvGrpSpPr>
      <p:grpSpPr>
        <a:xfrm>
          <a:off x="0" y="0"/>
          <a:ext cx="0" cy="0"/>
          <a:chOff x="0" y="0"/>
          <a:chExt cx="0" cy="0"/>
        </a:xfrm>
      </p:grpSpPr>
      <p:sp>
        <p:nvSpPr>
          <p:cNvPr id="532" name="Google Shape;532;p58">
            <a:extLst>
              <a:ext uri="{FF2B5EF4-FFF2-40B4-BE49-F238E27FC236}">
                <a16:creationId xmlns:a16="http://schemas.microsoft.com/office/drawing/2014/main" id="{432C8798-1FAA-956E-7C6D-F1B0AAFE325D}"/>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sz="1000" dirty="0">
                <a:latin typeface="OpenAI Sans" panose="020B0604020202020204" charset="0"/>
                <a:ea typeface="OpenAI Sans" panose="020B0604020202020204" charset="0"/>
                <a:cs typeface="Times New Roman"/>
              </a:rPr>
              <a:t>38</a:t>
            </a:r>
          </a:p>
        </p:txBody>
      </p:sp>
      <p:sp>
        <p:nvSpPr>
          <p:cNvPr id="533" name="Google Shape;533;p58">
            <a:extLst>
              <a:ext uri="{FF2B5EF4-FFF2-40B4-BE49-F238E27FC236}">
                <a16:creationId xmlns:a16="http://schemas.microsoft.com/office/drawing/2014/main" id="{7D4541FE-0A03-AD81-B46F-569975BD1E0A}"/>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b="1" dirty="0">
                <a:latin typeface="OpenAI Sans" panose="020B0604020202020204" charset="0"/>
                <a:ea typeface="OpenAI Sans" panose="020B0604020202020204" charset="0"/>
                <a:cs typeface="Times New Roman"/>
              </a:rPr>
              <a:t>WEKA target-specific model results</a:t>
            </a:r>
          </a:p>
        </p:txBody>
      </p:sp>
      <p:graphicFrame>
        <p:nvGraphicFramePr>
          <p:cNvPr id="540" name="Table 539">
            <a:extLst>
              <a:ext uri="{FF2B5EF4-FFF2-40B4-BE49-F238E27FC236}">
                <a16:creationId xmlns:a16="http://schemas.microsoft.com/office/drawing/2014/main" id="{348B2A47-5768-AEA3-0073-742F42A3BB1E}"/>
              </a:ext>
            </a:extLst>
          </p:cNvPr>
          <p:cNvGraphicFramePr/>
          <p:nvPr>
            <p:extLst>
              <p:ext uri="{D42A27DB-BD31-4B8C-83A1-F6EECF244321}">
                <p14:modId xmlns:p14="http://schemas.microsoft.com/office/powerpoint/2010/main" val="2691235810"/>
              </p:ext>
            </p:extLst>
          </p:nvPr>
        </p:nvGraphicFramePr>
        <p:xfrm>
          <a:off x="400050" y="1952625"/>
          <a:ext cx="11391900" cy="3602082"/>
        </p:xfrm>
        <a:graphic>
          <a:graphicData uri="http://schemas.openxmlformats.org/drawingml/2006/table">
            <a:tbl>
              <a:tblPr/>
              <a:tblGrid>
                <a:gridCol w="2857500">
                  <a:extLst>
                    <a:ext uri="{9D8B030D-6E8A-4147-A177-3AD203B41FA5}">
                      <a16:colId xmlns:a16="http://schemas.microsoft.com/office/drawing/2014/main" val="20000"/>
                    </a:ext>
                  </a:extLst>
                </a:gridCol>
                <a:gridCol w="2714625">
                  <a:extLst>
                    <a:ext uri="{9D8B030D-6E8A-4147-A177-3AD203B41FA5}">
                      <a16:colId xmlns:a16="http://schemas.microsoft.com/office/drawing/2014/main" val="20001"/>
                    </a:ext>
                  </a:extLst>
                </a:gridCol>
                <a:gridCol w="3105150">
                  <a:extLst>
                    <a:ext uri="{9D8B030D-6E8A-4147-A177-3AD203B41FA5}">
                      <a16:colId xmlns:a16="http://schemas.microsoft.com/office/drawing/2014/main" val="20002"/>
                    </a:ext>
                  </a:extLst>
                </a:gridCol>
                <a:gridCol w="2714625">
                  <a:extLst>
                    <a:ext uri="{9D8B030D-6E8A-4147-A177-3AD203B41FA5}">
                      <a16:colId xmlns:a16="http://schemas.microsoft.com/office/drawing/2014/main" val="20003"/>
                    </a:ext>
                  </a:extLst>
                </a:gridCol>
              </a:tblGrid>
              <a:tr h="489857">
                <a:tc>
                  <a:txBody>
                    <a:bodyPr/>
                    <a:lstStyle/>
                    <a:p>
                      <a:r>
                        <a:rPr sz="1875" b="1">
                          <a:solidFill>
                            <a:srgbClr val="121212"/>
                          </a:solidFill>
                          <a:latin typeface="OpenAI Sans" panose="020B0604020202020204" charset="0"/>
                          <a:ea typeface="OpenAI Sans" panose="020B0604020202020204" charset="0"/>
                          <a:cs typeface="Times New Roman"/>
                        </a:rPr>
                        <a:t>WEKA model</a:t>
                      </a:r>
                    </a:p>
                  </a:txBody>
                  <a:tcPr>
                    <a:solidFill>
                      <a:srgbClr val="EEEEEE"/>
                    </a:solidFill>
                  </a:tcPr>
                </a:tc>
                <a:tc>
                  <a:txBody>
                    <a:bodyPr/>
                    <a:lstStyle/>
                    <a:p>
                      <a:r>
                        <a:rPr lang="en-US" sz="1875" b="1" dirty="0">
                          <a:solidFill>
                            <a:srgbClr val="121212"/>
                          </a:solidFill>
                          <a:latin typeface="OpenAI Sans" panose="020B0604020202020204" charset="0"/>
                          <a:ea typeface="OpenAI Sans" panose="020B0604020202020204" charset="0"/>
                          <a:cs typeface="Times New Roman"/>
                        </a:rPr>
                        <a:t>QNA -&gt;</a:t>
                      </a:r>
                      <a:r>
                        <a:rPr sz="1875" b="1" dirty="0">
                          <a:solidFill>
                            <a:srgbClr val="121212"/>
                          </a:solidFill>
                          <a:latin typeface="OpenAI Sans" panose="020B0604020202020204" charset="0"/>
                          <a:ea typeface="OpenAI Sans" panose="020B0604020202020204" charset="0"/>
                          <a:cs typeface="Times New Roman"/>
                        </a:rPr>
                        <a:t> SGPA</a:t>
                      </a:r>
                      <a:r>
                        <a:rPr lang="en-US" sz="1875" b="1" dirty="0">
                          <a:solidFill>
                            <a:srgbClr val="121212"/>
                          </a:solidFill>
                          <a:latin typeface="OpenAI Sans" panose="020B0604020202020204" charset="0"/>
                          <a:ea typeface="OpenAI Sans" panose="020B0604020202020204" charset="0"/>
                          <a:cs typeface="Times New Roman"/>
                        </a:rPr>
                        <a:t> prediction</a:t>
                      </a:r>
                      <a:endParaRPr sz="1875" b="1" dirty="0">
                        <a:solidFill>
                          <a:srgbClr val="121212"/>
                        </a:solidFill>
                        <a:latin typeface="OpenAI Sans" panose="020B0604020202020204" charset="0"/>
                        <a:ea typeface="OpenAI Sans" panose="020B0604020202020204" charset="0"/>
                        <a:cs typeface="Times New Roman"/>
                      </a:endParaRPr>
                    </a:p>
                  </a:txBody>
                  <a:tcPr>
                    <a:solidFill>
                      <a:srgbClr val="EEEEEE"/>
                    </a:solidFill>
                  </a:tcPr>
                </a:tc>
                <a:tc>
                  <a:txBody>
                    <a:bodyPr/>
                    <a:lstStyle/>
                    <a:p>
                      <a:r>
                        <a:rPr lang="en-US" sz="1875" b="1" dirty="0">
                          <a:solidFill>
                            <a:srgbClr val="121212"/>
                          </a:solidFill>
                          <a:latin typeface="OpenAI Sans" panose="020B0604020202020204" charset="0"/>
                          <a:ea typeface="OpenAI Sans" panose="020B0604020202020204" charset="0"/>
                          <a:cs typeface="Times New Roman"/>
                        </a:rPr>
                        <a:t>QNA -&gt; </a:t>
                      </a:r>
                      <a:r>
                        <a:rPr sz="1875" b="1" dirty="0">
                          <a:solidFill>
                            <a:srgbClr val="121212"/>
                          </a:solidFill>
                          <a:latin typeface="OpenAI Sans" panose="020B0604020202020204" charset="0"/>
                          <a:ea typeface="OpenAI Sans" panose="020B0604020202020204" charset="0"/>
                          <a:cs typeface="Times New Roman"/>
                        </a:rPr>
                        <a:t>CGPA</a:t>
                      </a:r>
                      <a:r>
                        <a:rPr lang="en-US" sz="1875" b="1" dirty="0">
                          <a:solidFill>
                            <a:srgbClr val="121212"/>
                          </a:solidFill>
                          <a:latin typeface="OpenAI Sans" panose="020B0604020202020204" charset="0"/>
                          <a:ea typeface="OpenAI Sans" panose="020B0604020202020204" charset="0"/>
                          <a:cs typeface="Times New Roman"/>
                        </a:rPr>
                        <a:t> Prediction</a:t>
                      </a:r>
                      <a:endParaRPr sz="1875" b="1" dirty="0">
                        <a:solidFill>
                          <a:srgbClr val="121212"/>
                        </a:solidFill>
                        <a:latin typeface="OpenAI Sans" panose="020B0604020202020204" charset="0"/>
                        <a:ea typeface="OpenAI Sans" panose="020B0604020202020204" charset="0"/>
                        <a:cs typeface="Times New Roman"/>
                      </a:endParaRPr>
                    </a:p>
                  </a:txBody>
                  <a:tcPr>
                    <a:solidFill>
                      <a:srgbClr val="EEEEEE"/>
                    </a:solidFill>
                  </a:tcPr>
                </a:tc>
                <a:tc>
                  <a:txBody>
                    <a:bodyPr/>
                    <a:lstStyle/>
                    <a:p>
                      <a:r>
                        <a:rPr lang="en-US" sz="1875" b="1" dirty="0">
                          <a:solidFill>
                            <a:srgbClr val="121212"/>
                          </a:solidFill>
                          <a:latin typeface="OpenAI Sans" panose="020B0604020202020204" charset="0"/>
                          <a:ea typeface="OpenAI Sans" panose="020B0604020202020204" charset="0"/>
                          <a:cs typeface="Times New Roman"/>
                        </a:rPr>
                        <a:t>QNA + SGPA -&gt; </a:t>
                      </a:r>
                      <a:r>
                        <a:rPr sz="1875" b="1" dirty="0">
                          <a:solidFill>
                            <a:srgbClr val="121212"/>
                          </a:solidFill>
                          <a:latin typeface="OpenAI Sans" panose="020B0604020202020204" charset="0"/>
                          <a:ea typeface="OpenAI Sans" panose="020B0604020202020204" charset="0"/>
                          <a:cs typeface="Times New Roman"/>
                        </a:rPr>
                        <a:t>CGPA</a:t>
                      </a:r>
                      <a:r>
                        <a:rPr lang="en-US" sz="1875" b="1" dirty="0">
                          <a:solidFill>
                            <a:srgbClr val="121212"/>
                          </a:solidFill>
                          <a:latin typeface="OpenAI Sans" panose="020B0604020202020204" charset="0"/>
                          <a:ea typeface="OpenAI Sans" panose="020B0604020202020204" charset="0"/>
                          <a:cs typeface="Times New Roman"/>
                        </a:rPr>
                        <a:t> Prediction</a:t>
                      </a:r>
                      <a:endParaRPr sz="1875" b="1" dirty="0">
                        <a:solidFill>
                          <a:srgbClr val="121212"/>
                        </a:solidFill>
                        <a:latin typeface="OpenAI Sans" panose="020B0604020202020204" charset="0"/>
                        <a:ea typeface="OpenAI Sans" panose="020B0604020202020204" charset="0"/>
                        <a:cs typeface="Times New Roman"/>
                      </a:endParaRPr>
                    </a:p>
                  </a:txBody>
                  <a:tcPr>
                    <a:solidFill>
                      <a:srgbClr val="EEEEEE"/>
                    </a:solidFill>
                  </a:tcPr>
                </a:tc>
                <a:extLst>
                  <a:ext uri="{0D108BD9-81ED-4DB2-BD59-A6C34878D82A}">
                    <a16:rowId xmlns:a16="http://schemas.microsoft.com/office/drawing/2014/main" val="10000"/>
                  </a:ext>
                </a:extLst>
              </a:tr>
              <a:tr h="489857">
                <a:tc>
                  <a:txBody>
                    <a:bodyPr/>
                    <a:lstStyle/>
                    <a:p>
                      <a:r>
                        <a:rPr sz="1875" b="0">
                          <a:solidFill>
                            <a:srgbClr val="121212"/>
                          </a:solidFill>
                          <a:latin typeface="OpenAI Sans" panose="020B0604020202020204" charset="0"/>
                          <a:ea typeface="OpenAI Sans" panose="020B0604020202020204" charset="0"/>
                          <a:cs typeface="Times New Roman"/>
                        </a:rPr>
                        <a:t>J48</a:t>
                      </a:r>
                    </a:p>
                  </a:txBody>
                  <a:tcPr>
                    <a:solidFill>
                      <a:srgbClr val="FFFFFF"/>
                    </a:solidFill>
                  </a:tcPr>
                </a:tc>
                <a:tc>
                  <a:txBody>
                    <a:bodyPr/>
                    <a:lstStyle/>
                    <a:p>
                      <a:r>
                        <a:rPr lang="en-US" sz="1875" b="0" dirty="0">
                          <a:solidFill>
                            <a:srgbClr val="121212"/>
                          </a:solidFill>
                          <a:latin typeface="OpenAI Sans" panose="020B0604020202020204" charset="0"/>
                          <a:ea typeface="OpenAI Sans" panose="020B0604020202020204" charset="0"/>
                          <a:cs typeface="Times New Roman"/>
                        </a:rPr>
                        <a:t>27.17</a:t>
                      </a:r>
                      <a:r>
                        <a:rPr sz="1875" b="0" dirty="0">
                          <a:solidFill>
                            <a:srgbClr val="121212"/>
                          </a:solidFill>
                          <a:latin typeface="OpenAI Sans" panose="020B0604020202020204" charset="0"/>
                          <a:ea typeface="OpenAI Sans" panose="020B0604020202020204" charset="0"/>
                          <a:cs typeface="Times New Roman"/>
                        </a:rPr>
                        <a:t>%</a:t>
                      </a:r>
                    </a:p>
                  </a:txBody>
                  <a:tcPr>
                    <a:solidFill>
                      <a:srgbClr val="FFFFFF"/>
                    </a:solidFill>
                  </a:tcPr>
                </a:tc>
                <a:tc>
                  <a:txBody>
                    <a:bodyPr/>
                    <a:lstStyle/>
                    <a:p>
                      <a:r>
                        <a:rPr lang="en-US" sz="1875" b="0" dirty="0">
                          <a:solidFill>
                            <a:srgbClr val="121212"/>
                          </a:solidFill>
                          <a:latin typeface="OpenAI Sans" panose="020B0604020202020204" charset="0"/>
                          <a:ea typeface="OpenAI Sans" panose="020B0604020202020204" charset="0"/>
                          <a:cs typeface="Times New Roman"/>
                        </a:rPr>
                        <a:t>33.15</a:t>
                      </a:r>
                      <a:r>
                        <a:rPr sz="1875" b="0" dirty="0">
                          <a:solidFill>
                            <a:srgbClr val="121212"/>
                          </a:solidFill>
                          <a:latin typeface="OpenAI Sans" panose="020B0604020202020204" charset="0"/>
                          <a:ea typeface="OpenAI Sans" panose="020B0604020202020204" charset="0"/>
                          <a:cs typeface="Times New Roman"/>
                        </a:rPr>
                        <a:t>%</a:t>
                      </a:r>
                    </a:p>
                  </a:txBody>
                  <a:tcPr>
                    <a:solidFill>
                      <a:srgbClr val="FFFFFF"/>
                    </a:solidFill>
                  </a:tcPr>
                </a:tc>
                <a:tc>
                  <a:txBody>
                    <a:bodyPr/>
                    <a:lstStyle/>
                    <a:p>
                      <a:r>
                        <a:rPr lang="en-US" sz="1875" b="0" dirty="0">
                          <a:solidFill>
                            <a:srgbClr val="121212"/>
                          </a:solidFill>
                          <a:latin typeface="OpenAI Sans" panose="020B0604020202020204" charset="0"/>
                          <a:ea typeface="OpenAI Sans" panose="020B0604020202020204" charset="0"/>
                          <a:cs typeface="Times New Roman"/>
                        </a:rPr>
                        <a:t>51.09</a:t>
                      </a:r>
                      <a:r>
                        <a:rPr sz="1875" b="0" dirty="0">
                          <a:solidFill>
                            <a:srgbClr val="121212"/>
                          </a:solidFill>
                          <a:latin typeface="OpenAI Sans" panose="020B0604020202020204" charset="0"/>
                          <a:ea typeface="OpenAI Sans" panose="020B0604020202020204" charset="0"/>
                          <a:cs typeface="Times New Roman"/>
                        </a:rPr>
                        <a:t>%</a:t>
                      </a:r>
                    </a:p>
                  </a:txBody>
                  <a:tcPr>
                    <a:solidFill>
                      <a:srgbClr val="FFFFFF"/>
                    </a:solidFill>
                  </a:tcPr>
                </a:tc>
                <a:extLst>
                  <a:ext uri="{0D108BD9-81ED-4DB2-BD59-A6C34878D82A}">
                    <a16:rowId xmlns:a16="http://schemas.microsoft.com/office/drawing/2014/main" val="10001"/>
                  </a:ext>
                </a:extLst>
              </a:tr>
              <a:tr h="489857">
                <a:tc>
                  <a:txBody>
                    <a:bodyPr/>
                    <a:lstStyle/>
                    <a:p>
                      <a:r>
                        <a:rPr sz="1875" b="0">
                          <a:solidFill>
                            <a:srgbClr val="121212"/>
                          </a:solidFill>
                          <a:latin typeface="OpenAI Sans" panose="020B0604020202020204" charset="0"/>
                          <a:ea typeface="OpenAI Sans" panose="020B0604020202020204" charset="0"/>
                          <a:cs typeface="Times New Roman"/>
                        </a:rPr>
                        <a:t>Random Forest</a:t>
                      </a:r>
                    </a:p>
                  </a:txBody>
                  <a:tcPr>
                    <a:solidFill>
                      <a:srgbClr val="FFFFFF"/>
                    </a:solidFill>
                  </a:tcPr>
                </a:tc>
                <a:tc>
                  <a:txBody>
                    <a:bodyPr/>
                    <a:lstStyle/>
                    <a:p>
                      <a:r>
                        <a:rPr sz="1875" b="0" dirty="0">
                          <a:solidFill>
                            <a:srgbClr val="121212"/>
                          </a:solidFill>
                          <a:latin typeface="OpenAI Sans" panose="020B0604020202020204" charset="0"/>
                          <a:ea typeface="OpenAI Sans" panose="020B0604020202020204" charset="0"/>
                          <a:cs typeface="Times New Roman"/>
                        </a:rPr>
                        <a:t>3</a:t>
                      </a:r>
                      <a:r>
                        <a:rPr lang="en-US" sz="1875" b="0" dirty="0">
                          <a:solidFill>
                            <a:srgbClr val="121212"/>
                          </a:solidFill>
                          <a:latin typeface="OpenAI Sans" panose="020B0604020202020204" charset="0"/>
                          <a:ea typeface="OpenAI Sans" panose="020B0604020202020204" charset="0"/>
                          <a:cs typeface="Times New Roman"/>
                        </a:rPr>
                        <a:t>3.15</a:t>
                      </a:r>
                      <a:r>
                        <a:rPr sz="1875" b="0" dirty="0">
                          <a:solidFill>
                            <a:srgbClr val="121212"/>
                          </a:solidFill>
                          <a:latin typeface="OpenAI Sans" panose="020B0604020202020204" charset="0"/>
                          <a:ea typeface="OpenAI Sans" panose="020B0604020202020204" charset="0"/>
                          <a:cs typeface="Times New Roman"/>
                        </a:rPr>
                        <a:t>%</a:t>
                      </a:r>
                    </a:p>
                  </a:txBody>
                  <a:tcPr>
                    <a:solidFill>
                      <a:srgbClr val="FFFFFF"/>
                    </a:solidFill>
                  </a:tcPr>
                </a:tc>
                <a:tc>
                  <a:txBody>
                    <a:bodyPr/>
                    <a:lstStyle/>
                    <a:p>
                      <a:r>
                        <a:rPr lang="en-US" sz="1875" b="0" dirty="0">
                          <a:solidFill>
                            <a:srgbClr val="121212"/>
                          </a:solidFill>
                          <a:latin typeface="OpenAI Sans" panose="020B0604020202020204" charset="0"/>
                          <a:ea typeface="OpenAI Sans" panose="020B0604020202020204" charset="0"/>
                          <a:cs typeface="Times New Roman"/>
                        </a:rPr>
                        <a:t>26.63</a:t>
                      </a:r>
                      <a:r>
                        <a:rPr sz="1875" b="0" dirty="0">
                          <a:solidFill>
                            <a:srgbClr val="121212"/>
                          </a:solidFill>
                          <a:latin typeface="OpenAI Sans" panose="020B0604020202020204" charset="0"/>
                          <a:ea typeface="OpenAI Sans" panose="020B0604020202020204" charset="0"/>
                          <a:cs typeface="Times New Roman"/>
                        </a:rPr>
                        <a:t>%</a:t>
                      </a:r>
                    </a:p>
                  </a:txBody>
                  <a:tcPr>
                    <a:solidFill>
                      <a:srgbClr val="FFFFFF"/>
                    </a:solidFill>
                  </a:tcPr>
                </a:tc>
                <a:tc>
                  <a:txBody>
                    <a:bodyPr/>
                    <a:lstStyle/>
                    <a:p>
                      <a:r>
                        <a:rPr lang="en-US" sz="1875" b="0" dirty="0">
                          <a:solidFill>
                            <a:srgbClr val="121212"/>
                          </a:solidFill>
                          <a:latin typeface="OpenAI Sans" panose="020B0604020202020204" charset="0"/>
                          <a:ea typeface="OpenAI Sans" panose="020B0604020202020204" charset="0"/>
                          <a:cs typeface="Times New Roman"/>
                        </a:rPr>
                        <a:t>45.65</a:t>
                      </a:r>
                      <a:r>
                        <a:rPr sz="1875" b="0" dirty="0">
                          <a:solidFill>
                            <a:srgbClr val="121212"/>
                          </a:solidFill>
                          <a:latin typeface="OpenAI Sans" panose="020B0604020202020204" charset="0"/>
                          <a:ea typeface="OpenAI Sans" panose="020B0604020202020204" charset="0"/>
                          <a:cs typeface="Times New Roman"/>
                        </a:rPr>
                        <a:t>%</a:t>
                      </a:r>
                    </a:p>
                  </a:txBody>
                  <a:tcPr>
                    <a:solidFill>
                      <a:srgbClr val="FFFFFF"/>
                    </a:solidFill>
                  </a:tcPr>
                </a:tc>
                <a:extLst>
                  <a:ext uri="{0D108BD9-81ED-4DB2-BD59-A6C34878D82A}">
                    <a16:rowId xmlns:a16="http://schemas.microsoft.com/office/drawing/2014/main" val="10002"/>
                  </a:ext>
                </a:extLst>
              </a:tr>
              <a:tr h="489857">
                <a:tc>
                  <a:txBody>
                    <a:bodyPr/>
                    <a:lstStyle/>
                    <a:p>
                      <a:r>
                        <a:rPr sz="1875" b="0">
                          <a:solidFill>
                            <a:srgbClr val="121212"/>
                          </a:solidFill>
                          <a:latin typeface="OpenAI Sans" panose="020B0604020202020204" charset="0"/>
                          <a:ea typeface="OpenAI Sans" panose="020B0604020202020204" charset="0"/>
                          <a:cs typeface="Times New Roman"/>
                        </a:rPr>
                        <a:t>SMO</a:t>
                      </a:r>
                    </a:p>
                  </a:txBody>
                  <a:tcPr>
                    <a:solidFill>
                      <a:srgbClr val="FFFFFF"/>
                    </a:solidFill>
                  </a:tcPr>
                </a:tc>
                <a:tc>
                  <a:txBody>
                    <a:bodyPr/>
                    <a:lstStyle/>
                    <a:p>
                      <a:r>
                        <a:rPr sz="1875" b="0" dirty="0">
                          <a:solidFill>
                            <a:srgbClr val="121212"/>
                          </a:solidFill>
                          <a:latin typeface="OpenAI Sans" panose="020B0604020202020204" charset="0"/>
                          <a:ea typeface="OpenAI Sans" panose="020B0604020202020204" charset="0"/>
                          <a:cs typeface="Times New Roman"/>
                        </a:rPr>
                        <a:t>2</a:t>
                      </a:r>
                      <a:r>
                        <a:rPr lang="en-US" sz="1875" b="0" dirty="0">
                          <a:solidFill>
                            <a:srgbClr val="121212"/>
                          </a:solidFill>
                          <a:latin typeface="OpenAI Sans" panose="020B0604020202020204" charset="0"/>
                          <a:ea typeface="OpenAI Sans" panose="020B0604020202020204" charset="0"/>
                          <a:cs typeface="Times New Roman"/>
                        </a:rPr>
                        <a:t>5.54</a:t>
                      </a:r>
                      <a:r>
                        <a:rPr sz="1875" b="0" dirty="0">
                          <a:solidFill>
                            <a:srgbClr val="121212"/>
                          </a:solidFill>
                          <a:latin typeface="OpenAI Sans" panose="020B0604020202020204" charset="0"/>
                          <a:ea typeface="OpenAI Sans" panose="020B0604020202020204" charset="0"/>
                          <a:cs typeface="Times New Roman"/>
                        </a:rPr>
                        <a:t>%</a:t>
                      </a:r>
                    </a:p>
                  </a:txBody>
                  <a:tcPr>
                    <a:solidFill>
                      <a:srgbClr val="FFFFFF"/>
                    </a:solidFill>
                  </a:tcPr>
                </a:tc>
                <a:tc>
                  <a:txBody>
                    <a:bodyPr/>
                    <a:lstStyle/>
                    <a:p>
                      <a:r>
                        <a:rPr sz="1875" b="0" dirty="0">
                          <a:solidFill>
                            <a:srgbClr val="121212"/>
                          </a:solidFill>
                          <a:latin typeface="OpenAI Sans" panose="020B0604020202020204" charset="0"/>
                          <a:ea typeface="OpenAI Sans" panose="020B0604020202020204" charset="0"/>
                          <a:cs typeface="Times New Roman"/>
                        </a:rPr>
                        <a:t>2</a:t>
                      </a:r>
                      <a:r>
                        <a:rPr lang="en-US" sz="1875" b="0" dirty="0">
                          <a:solidFill>
                            <a:srgbClr val="121212"/>
                          </a:solidFill>
                          <a:latin typeface="OpenAI Sans" panose="020B0604020202020204" charset="0"/>
                          <a:ea typeface="OpenAI Sans" panose="020B0604020202020204" charset="0"/>
                          <a:cs typeface="Times New Roman"/>
                        </a:rPr>
                        <a:t>9.35</a:t>
                      </a:r>
                      <a:r>
                        <a:rPr sz="1875" b="0" dirty="0">
                          <a:solidFill>
                            <a:srgbClr val="121212"/>
                          </a:solidFill>
                          <a:latin typeface="OpenAI Sans" panose="020B0604020202020204" charset="0"/>
                          <a:ea typeface="OpenAI Sans" panose="020B0604020202020204" charset="0"/>
                          <a:cs typeface="Times New Roman"/>
                        </a:rPr>
                        <a:t>%</a:t>
                      </a:r>
                    </a:p>
                  </a:txBody>
                  <a:tcPr>
                    <a:solidFill>
                      <a:srgbClr val="FFFFFF"/>
                    </a:solidFill>
                  </a:tcPr>
                </a:tc>
                <a:tc>
                  <a:txBody>
                    <a:bodyPr/>
                    <a:lstStyle/>
                    <a:p>
                      <a:r>
                        <a:rPr sz="1875" b="0" dirty="0">
                          <a:solidFill>
                            <a:srgbClr val="121212"/>
                          </a:solidFill>
                          <a:latin typeface="OpenAI Sans" panose="020B0604020202020204" charset="0"/>
                          <a:ea typeface="OpenAI Sans" panose="020B0604020202020204" charset="0"/>
                          <a:cs typeface="Times New Roman"/>
                        </a:rPr>
                        <a:t>5</a:t>
                      </a:r>
                      <a:r>
                        <a:rPr lang="en-US" sz="1875" b="0" dirty="0">
                          <a:solidFill>
                            <a:srgbClr val="121212"/>
                          </a:solidFill>
                          <a:latin typeface="OpenAI Sans" panose="020B0604020202020204" charset="0"/>
                          <a:ea typeface="OpenAI Sans" panose="020B0604020202020204" charset="0"/>
                          <a:cs typeface="Times New Roman"/>
                        </a:rPr>
                        <a:t>1.09</a:t>
                      </a:r>
                      <a:r>
                        <a:rPr sz="1875" b="0" dirty="0">
                          <a:solidFill>
                            <a:srgbClr val="121212"/>
                          </a:solidFill>
                          <a:latin typeface="OpenAI Sans" panose="020B0604020202020204" charset="0"/>
                          <a:ea typeface="OpenAI Sans" panose="020B0604020202020204" charset="0"/>
                          <a:cs typeface="Times New Roman"/>
                        </a:rPr>
                        <a:t>%</a:t>
                      </a:r>
                    </a:p>
                  </a:txBody>
                  <a:tcPr>
                    <a:solidFill>
                      <a:srgbClr val="FFFFFF"/>
                    </a:solidFill>
                  </a:tcPr>
                </a:tc>
                <a:extLst>
                  <a:ext uri="{0D108BD9-81ED-4DB2-BD59-A6C34878D82A}">
                    <a16:rowId xmlns:a16="http://schemas.microsoft.com/office/drawing/2014/main" val="10003"/>
                  </a:ext>
                </a:extLst>
              </a:tr>
              <a:tr h="489857">
                <a:tc>
                  <a:txBody>
                    <a:bodyPr/>
                    <a:lstStyle/>
                    <a:p>
                      <a:r>
                        <a:rPr sz="1875" b="0">
                          <a:solidFill>
                            <a:srgbClr val="121212"/>
                          </a:solidFill>
                          <a:latin typeface="OpenAI Sans" panose="020B0604020202020204" charset="0"/>
                          <a:ea typeface="OpenAI Sans" panose="020B0604020202020204" charset="0"/>
                          <a:cs typeface="Times New Roman"/>
                        </a:rPr>
                        <a:t>Logistic</a:t>
                      </a:r>
                    </a:p>
                  </a:txBody>
                  <a:tcPr>
                    <a:solidFill>
                      <a:srgbClr val="FFFFFF"/>
                    </a:solidFill>
                  </a:tcPr>
                </a:tc>
                <a:tc>
                  <a:txBody>
                    <a:bodyPr/>
                    <a:lstStyle/>
                    <a:p>
                      <a:r>
                        <a:rPr sz="1875" b="0" dirty="0">
                          <a:solidFill>
                            <a:srgbClr val="121212"/>
                          </a:solidFill>
                          <a:latin typeface="OpenAI Sans" panose="020B0604020202020204" charset="0"/>
                          <a:ea typeface="OpenAI Sans" panose="020B0604020202020204" charset="0"/>
                          <a:cs typeface="Times New Roman"/>
                        </a:rPr>
                        <a:t>2</a:t>
                      </a:r>
                      <a:r>
                        <a:rPr lang="en-US" sz="1875" b="0" dirty="0">
                          <a:solidFill>
                            <a:srgbClr val="121212"/>
                          </a:solidFill>
                          <a:latin typeface="OpenAI Sans" panose="020B0604020202020204" charset="0"/>
                          <a:ea typeface="OpenAI Sans" panose="020B0604020202020204" charset="0"/>
                          <a:cs typeface="Times New Roman"/>
                        </a:rPr>
                        <a:t>8.80</a:t>
                      </a:r>
                      <a:r>
                        <a:rPr sz="1875" b="0" dirty="0">
                          <a:solidFill>
                            <a:srgbClr val="121212"/>
                          </a:solidFill>
                          <a:latin typeface="OpenAI Sans" panose="020B0604020202020204" charset="0"/>
                          <a:ea typeface="OpenAI Sans" panose="020B0604020202020204" charset="0"/>
                          <a:cs typeface="Times New Roman"/>
                        </a:rPr>
                        <a:t>%</a:t>
                      </a:r>
                    </a:p>
                  </a:txBody>
                  <a:tcPr>
                    <a:solidFill>
                      <a:srgbClr val="FFFFFF"/>
                    </a:solidFill>
                  </a:tcPr>
                </a:tc>
                <a:tc>
                  <a:txBody>
                    <a:bodyPr/>
                    <a:lstStyle/>
                    <a:p>
                      <a:r>
                        <a:rPr lang="en-US" sz="1875" b="0" dirty="0">
                          <a:solidFill>
                            <a:srgbClr val="121212"/>
                          </a:solidFill>
                          <a:latin typeface="OpenAI Sans" panose="020B0604020202020204" charset="0"/>
                          <a:ea typeface="OpenAI Sans" panose="020B0604020202020204" charset="0"/>
                          <a:cs typeface="Times New Roman"/>
                        </a:rPr>
                        <a:t>27.72</a:t>
                      </a:r>
                      <a:r>
                        <a:rPr sz="1875" b="0" dirty="0">
                          <a:solidFill>
                            <a:srgbClr val="121212"/>
                          </a:solidFill>
                          <a:latin typeface="OpenAI Sans" panose="020B0604020202020204" charset="0"/>
                          <a:ea typeface="OpenAI Sans" panose="020B0604020202020204" charset="0"/>
                          <a:cs typeface="Times New Roman"/>
                        </a:rPr>
                        <a:t>%</a:t>
                      </a:r>
                    </a:p>
                  </a:txBody>
                  <a:tcPr>
                    <a:solidFill>
                      <a:srgbClr val="FFFFFF"/>
                    </a:solidFill>
                  </a:tcPr>
                </a:tc>
                <a:tc>
                  <a:txBody>
                    <a:bodyPr/>
                    <a:lstStyle/>
                    <a:p>
                      <a:r>
                        <a:rPr sz="1875" b="0" dirty="0">
                          <a:solidFill>
                            <a:srgbClr val="121212"/>
                          </a:solidFill>
                          <a:latin typeface="OpenAI Sans" panose="020B0604020202020204" charset="0"/>
                          <a:ea typeface="OpenAI Sans" panose="020B0604020202020204" charset="0"/>
                          <a:cs typeface="Times New Roman"/>
                        </a:rPr>
                        <a:t>5</a:t>
                      </a:r>
                      <a:r>
                        <a:rPr lang="en-US" sz="1875" b="0" dirty="0">
                          <a:solidFill>
                            <a:srgbClr val="121212"/>
                          </a:solidFill>
                          <a:latin typeface="OpenAI Sans" panose="020B0604020202020204" charset="0"/>
                          <a:ea typeface="OpenAI Sans" panose="020B0604020202020204" charset="0"/>
                          <a:cs typeface="Times New Roman"/>
                        </a:rPr>
                        <a:t>0</a:t>
                      </a:r>
                      <a:r>
                        <a:rPr sz="1875" b="0" dirty="0">
                          <a:solidFill>
                            <a:srgbClr val="121212"/>
                          </a:solidFill>
                          <a:latin typeface="OpenAI Sans" panose="020B0604020202020204" charset="0"/>
                          <a:ea typeface="OpenAI Sans" panose="020B0604020202020204" charset="0"/>
                          <a:cs typeface="Times New Roman"/>
                        </a:rPr>
                        <a:t>%</a:t>
                      </a:r>
                    </a:p>
                  </a:txBody>
                  <a:tcPr>
                    <a:solidFill>
                      <a:srgbClr val="FFFFFF"/>
                    </a:solidFill>
                  </a:tcPr>
                </a:tc>
                <a:extLst>
                  <a:ext uri="{0D108BD9-81ED-4DB2-BD59-A6C34878D82A}">
                    <a16:rowId xmlns:a16="http://schemas.microsoft.com/office/drawing/2014/main" val="10004"/>
                  </a:ext>
                </a:extLst>
              </a:tr>
              <a:tr h="489857">
                <a:tc>
                  <a:txBody>
                    <a:bodyPr/>
                    <a:lstStyle/>
                    <a:p>
                      <a:r>
                        <a:rPr sz="1875" b="0">
                          <a:solidFill>
                            <a:srgbClr val="121212"/>
                          </a:solidFill>
                          <a:latin typeface="OpenAI Sans" panose="020B0604020202020204" charset="0"/>
                          <a:ea typeface="OpenAI Sans" panose="020B0604020202020204" charset="0"/>
                          <a:cs typeface="Times New Roman"/>
                        </a:rPr>
                        <a:t>Naive Bayes</a:t>
                      </a:r>
                    </a:p>
                  </a:txBody>
                  <a:tcPr>
                    <a:solidFill>
                      <a:srgbClr val="FFFFFF"/>
                    </a:solidFill>
                  </a:tcPr>
                </a:tc>
                <a:tc>
                  <a:txBody>
                    <a:bodyPr/>
                    <a:lstStyle/>
                    <a:p>
                      <a:r>
                        <a:rPr lang="en-US" sz="1875" b="0" dirty="0">
                          <a:solidFill>
                            <a:srgbClr val="121212"/>
                          </a:solidFill>
                          <a:latin typeface="OpenAI Sans" panose="020B0604020202020204" charset="0"/>
                          <a:ea typeface="OpenAI Sans" panose="020B0604020202020204" charset="0"/>
                          <a:cs typeface="Times New Roman"/>
                        </a:rPr>
                        <a:t>26.63</a:t>
                      </a:r>
                      <a:r>
                        <a:rPr sz="1875" b="0" dirty="0">
                          <a:solidFill>
                            <a:srgbClr val="121212"/>
                          </a:solidFill>
                          <a:latin typeface="OpenAI Sans" panose="020B0604020202020204" charset="0"/>
                          <a:ea typeface="OpenAI Sans" panose="020B0604020202020204" charset="0"/>
                          <a:cs typeface="Times New Roman"/>
                        </a:rPr>
                        <a:t>%</a:t>
                      </a:r>
                    </a:p>
                  </a:txBody>
                  <a:tcPr>
                    <a:solidFill>
                      <a:srgbClr val="FFFFFF"/>
                    </a:solidFill>
                  </a:tcPr>
                </a:tc>
                <a:tc>
                  <a:txBody>
                    <a:bodyPr/>
                    <a:lstStyle/>
                    <a:p>
                      <a:r>
                        <a:rPr lang="en-US" sz="1875" b="0" dirty="0">
                          <a:solidFill>
                            <a:srgbClr val="121212"/>
                          </a:solidFill>
                          <a:latin typeface="OpenAI Sans" panose="020B0604020202020204" charset="0"/>
                          <a:ea typeface="OpenAI Sans" panose="020B0604020202020204" charset="0"/>
                          <a:cs typeface="Times New Roman"/>
                        </a:rPr>
                        <a:t>28.80</a:t>
                      </a:r>
                      <a:r>
                        <a:rPr sz="1875" b="0" dirty="0">
                          <a:solidFill>
                            <a:srgbClr val="121212"/>
                          </a:solidFill>
                          <a:latin typeface="OpenAI Sans" panose="020B0604020202020204" charset="0"/>
                          <a:ea typeface="OpenAI Sans" panose="020B0604020202020204" charset="0"/>
                          <a:cs typeface="Times New Roman"/>
                        </a:rPr>
                        <a:t>%</a:t>
                      </a:r>
                    </a:p>
                  </a:txBody>
                  <a:tcPr>
                    <a:solidFill>
                      <a:srgbClr val="FFFFFF"/>
                    </a:solidFill>
                  </a:tcPr>
                </a:tc>
                <a:tc>
                  <a:txBody>
                    <a:bodyPr/>
                    <a:lstStyle/>
                    <a:p>
                      <a:r>
                        <a:rPr sz="1875" b="0" dirty="0">
                          <a:solidFill>
                            <a:srgbClr val="121212"/>
                          </a:solidFill>
                          <a:latin typeface="OpenAI Sans" panose="020B0604020202020204" charset="0"/>
                          <a:ea typeface="OpenAI Sans" panose="020B0604020202020204" charset="0"/>
                          <a:cs typeface="Times New Roman"/>
                        </a:rPr>
                        <a:t>5</a:t>
                      </a:r>
                      <a:r>
                        <a:rPr lang="en-US" sz="1875" b="0" dirty="0">
                          <a:solidFill>
                            <a:srgbClr val="121212"/>
                          </a:solidFill>
                          <a:latin typeface="OpenAI Sans" panose="020B0604020202020204" charset="0"/>
                          <a:ea typeface="OpenAI Sans" panose="020B0604020202020204" charset="0"/>
                          <a:cs typeface="Times New Roman"/>
                        </a:rPr>
                        <a:t>2.17</a:t>
                      </a:r>
                      <a:r>
                        <a:rPr sz="1875" b="0" dirty="0">
                          <a:solidFill>
                            <a:srgbClr val="121212"/>
                          </a:solidFill>
                          <a:latin typeface="OpenAI Sans" panose="020B0604020202020204" charset="0"/>
                          <a:ea typeface="OpenAI Sans" panose="020B0604020202020204" charset="0"/>
                          <a:cs typeface="Times New Roman"/>
                        </a:rPr>
                        <a:t>%</a:t>
                      </a:r>
                    </a:p>
                  </a:txBody>
                  <a:tcPr>
                    <a:solidFill>
                      <a:srgbClr val="FFFFFF"/>
                    </a:solidFill>
                  </a:tcPr>
                </a:tc>
                <a:extLst>
                  <a:ext uri="{0D108BD9-81ED-4DB2-BD59-A6C34878D82A}">
                    <a16:rowId xmlns:a16="http://schemas.microsoft.com/office/drawing/2014/main" val="10005"/>
                  </a:ext>
                </a:extLst>
              </a:tr>
              <a:tr h="489857">
                <a:tc>
                  <a:txBody>
                    <a:bodyPr/>
                    <a:lstStyle/>
                    <a:p>
                      <a:r>
                        <a:rPr sz="1875" b="0">
                          <a:solidFill>
                            <a:srgbClr val="121212"/>
                          </a:solidFill>
                          <a:latin typeface="OpenAI Sans" panose="020B0604020202020204" charset="0"/>
                          <a:ea typeface="OpenAI Sans" panose="020B0604020202020204" charset="0"/>
                          <a:cs typeface="Times New Roman"/>
                        </a:rPr>
                        <a:t>ZeroR</a:t>
                      </a:r>
                    </a:p>
                  </a:txBody>
                  <a:tcPr>
                    <a:solidFill>
                      <a:srgbClr val="FFFFFF"/>
                    </a:solidFill>
                  </a:tcPr>
                </a:tc>
                <a:tc>
                  <a:txBody>
                    <a:bodyPr/>
                    <a:lstStyle/>
                    <a:p>
                      <a:r>
                        <a:rPr lang="en-US" sz="1875" b="0" dirty="0">
                          <a:solidFill>
                            <a:srgbClr val="121212"/>
                          </a:solidFill>
                          <a:latin typeface="OpenAI Sans" panose="020B0604020202020204" charset="0"/>
                          <a:ea typeface="OpenAI Sans" panose="020B0604020202020204" charset="0"/>
                          <a:cs typeface="Times New Roman"/>
                        </a:rPr>
                        <a:t>30.43</a:t>
                      </a:r>
                      <a:r>
                        <a:rPr sz="1875" b="0" dirty="0">
                          <a:solidFill>
                            <a:srgbClr val="121212"/>
                          </a:solidFill>
                          <a:latin typeface="OpenAI Sans" panose="020B0604020202020204" charset="0"/>
                          <a:ea typeface="OpenAI Sans" panose="020B0604020202020204" charset="0"/>
                          <a:cs typeface="Times New Roman"/>
                        </a:rPr>
                        <a:t>%</a:t>
                      </a:r>
                    </a:p>
                  </a:txBody>
                  <a:tcPr>
                    <a:solidFill>
                      <a:srgbClr val="FFFFFF"/>
                    </a:solidFill>
                  </a:tcPr>
                </a:tc>
                <a:tc>
                  <a:txBody>
                    <a:bodyPr/>
                    <a:lstStyle/>
                    <a:p>
                      <a:r>
                        <a:rPr sz="1875" b="0" dirty="0">
                          <a:solidFill>
                            <a:srgbClr val="121212"/>
                          </a:solidFill>
                          <a:latin typeface="OpenAI Sans" panose="020B0604020202020204" charset="0"/>
                          <a:ea typeface="OpenAI Sans" panose="020B0604020202020204" charset="0"/>
                          <a:cs typeface="Times New Roman"/>
                        </a:rPr>
                        <a:t>3</a:t>
                      </a:r>
                      <a:r>
                        <a:rPr lang="en-US" sz="1875" b="0" dirty="0">
                          <a:solidFill>
                            <a:srgbClr val="121212"/>
                          </a:solidFill>
                          <a:latin typeface="OpenAI Sans" panose="020B0604020202020204" charset="0"/>
                          <a:ea typeface="OpenAI Sans" panose="020B0604020202020204" charset="0"/>
                          <a:cs typeface="Times New Roman"/>
                        </a:rPr>
                        <a:t>5.87</a:t>
                      </a:r>
                      <a:r>
                        <a:rPr sz="1875" b="0" dirty="0">
                          <a:solidFill>
                            <a:srgbClr val="121212"/>
                          </a:solidFill>
                          <a:latin typeface="OpenAI Sans" panose="020B0604020202020204" charset="0"/>
                          <a:ea typeface="OpenAI Sans" panose="020B0604020202020204" charset="0"/>
                          <a:cs typeface="Times New Roman"/>
                        </a:rPr>
                        <a:t>%</a:t>
                      </a:r>
                    </a:p>
                  </a:txBody>
                  <a:tcPr>
                    <a:solidFill>
                      <a:srgbClr val="FFFFFF"/>
                    </a:solidFill>
                  </a:tcPr>
                </a:tc>
                <a:tc>
                  <a:txBody>
                    <a:bodyPr/>
                    <a:lstStyle/>
                    <a:p>
                      <a:r>
                        <a:rPr sz="1875" b="0" dirty="0">
                          <a:solidFill>
                            <a:srgbClr val="121212"/>
                          </a:solidFill>
                          <a:latin typeface="OpenAI Sans" panose="020B0604020202020204" charset="0"/>
                          <a:ea typeface="OpenAI Sans" panose="020B0604020202020204" charset="0"/>
                          <a:cs typeface="Times New Roman"/>
                        </a:rPr>
                        <a:t>3</a:t>
                      </a:r>
                      <a:r>
                        <a:rPr lang="en-US" sz="1875" b="0" dirty="0">
                          <a:solidFill>
                            <a:srgbClr val="121212"/>
                          </a:solidFill>
                          <a:latin typeface="OpenAI Sans" panose="020B0604020202020204" charset="0"/>
                          <a:ea typeface="OpenAI Sans" panose="020B0604020202020204" charset="0"/>
                          <a:cs typeface="Times New Roman"/>
                        </a:rPr>
                        <a:t>5.87</a:t>
                      </a:r>
                      <a:r>
                        <a:rPr sz="1875" b="0" dirty="0">
                          <a:solidFill>
                            <a:srgbClr val="121212"/>
                          </a:solidFill>
                          <a:latin typeface="OpenAI Sans" panose="020B0604020202020204" charset="0"/>
                          <a:ea typeface="OpenAI Sans" panose="020B0604020202020204" charset="0"/>
                          <a:cs typeface="Times New Roman"/>
                        </a:rPr>
                        <a:t>%</a:t>
                      </a:r>
                    </a:p>
                  </a:txBody>
                  <a:tcPr>
                    <a:solidFill>
                      <a:srgbClr val="FFFFFF"/>
                    </a:solidFill>
                  </a:tcPr>
                </a:tc>
                <a:extLst>
                  <a:ext uri="{0D108BD9-81ED-4DB2-BD59-A6C34878D82A}">
                    <a16:rowId xmlns:a16="http://schemas.microsoft.com/office/drawing/2014/main" val="10006"/>
                  </a:ext>
                </a:extLst>
              </a:tr>
            </a:tbl>
          </a:graphicData>
        </a:graphic>
      </p:graphicFrame>
      <p:sp>
        <p:nvSpPr>
          <p:cNvPr id="535" name="Stratified 10-fold cross-validation, seed 1">
            <a:extLst>
              <a:ext uri="{FF2B5EF4-FFF2-40B4-BE49-F238E27FC236}">
                <a16:creationId xmlns:a16="http://schemas.microsoft.com/office/drawing/2014/main" id="{9395B71A-F2AC-4A90-13E0-063C70669ECE}"/>
              </a:ext>
            </a:extLst>
          </p:cNvPr>
          <p:cNvSpPr>
            <a:spLocks noGrp="1"/>
          </p:cNvSpPr>
          <p:nvPr/>
        </p:nvSpPr>
        <p:spPr>
          <a:xfrm>
            <a:off x="400050" y="1362075"/>
            <a:ext cx="10953750" cy="381000"/>
          </a:xfrm>
          <a:prstGeom prst="rect">
            <a:avLst/>
          </a:prstGeom>
          <a:noFill/>
          <a:ln w="0">
            <a:noFill/>
          </a:ln>
        </p:spPr>
        <p:txBody>
          <a:bodyPr anchor="t">
            <a:noAutofit/>
          </a:bodyPr>
          <a:lstStyle/>
          <a:p>
            <a:pPr>
              <a:defRPr sz="1950" b="0">
                <a:solidFill>
                  <a:srgbClr val="121212"/>
                </a:solidFill>
                <a:latin typeface="Times New Roman"/>
                <a:ea typeface="Times New Roman"/>
                <a:cs typeface="Times New Roman"/>
              </a:defRPr>
            </a:pPr>
            <a:r>
              <a:rPr sz="1950" b="0" dirty="0">
                <a:solidFill>
                  <a:srgbClr val="121212"/>
                </a:solidFill>
                <a:latin typeface="OpenAI Sans" panose="020B0604020202020204" charset="0"/>
                <a:ea typeface="OpenAI Sans" panose="020B0604020202020204" charset="0"/>
                <a:cs typeface="Times New Roman"/>
              </a:rPr>
              <a:t>Stratified</a:t>
            </a:r>
            <a:r>
              <a:rPr lang="en-US" sz="1950" b="0" dirty="0">
                <a:solidFill>
                  <a:srgbClr val="121212"/>
                </a:solidFill>
                <a:latin typeface="OpenAI Sans" panose="020B0604020202020204" charset="0"/>
                <a:ea typeface="OpenAI Sans" panose="020B0604020202020204" charset="0"/>
                <a:cs typeface="Times New Roman"/>
              </a:rPr>
              <a:t> 80/20 split 184 test students</a:t>
            </a:r>
            <a:r>
              <a:rPr sz="1950" b="0" dirty="0">
                <a:solidFill>
                  <a:srgbClr val="121212"/>
                </a:solidFill>
                <a:latin typeface="OpenAI Sans" panose="020B0604020202020204" charset="0"/>
                <a:ea typeface="OpenAI Sans" panose="020B0604020202020204" charset="0"/>
                <a:cs typeface="Times New Roman"/>
              </a:rPr>
              <a:t>, seed 1</a:t>
            </a:r>
          </a:p>
        </p:txBody>
      </p:sp>
      <p:sp>
        <p:nvSpPr>
          <p:cNvPr id="536" name="Same 1,102 records. Questionnaire: 12 inputs. Main CGPA">
            <a:extLst>
              <a:ext uri="{FF2B5EF4-FFF2-40B4-BE49-F238E27FC236}">
                <a16:creationId xmlns:a16="http://schemas.microsoft.com/office/drawing/2014/main" id="{3EF459E8-B354-293F-CF8B-C9C021C330D3}"/>
              </a:ext>
            </a:extLst>
          </p:cNvPr>
          <p:cNvSpPr>
            <a:spLocks noGrp="1"/>
          </p:cNvSpPr>
          <p:nvPr/>
        </p:nvSpPr>
        <p:spPr>
          <a:xfrm>
            <a:off x="400050" y="5830083"/>
            <a:ext cx="11049000" cy="285750"/>
          </a:xfrm>
          <a:prstGeom prst="rect">
            <a:avLst/>
          </a:prstGeom>
          <a:noFill/>
          <a:ln w="0">
            <a:noFill/>
          </a:ln>
        </p:spPr>
        <p:txBody>
          <a:bodyPr anchor="t">
            <a:noAutofit/>
          </a:bodyPr>
          <a:lstStyle/>
          <a:p>
            <a:pPr>
              <a:defRPr sz="1275" b="0">
                <a:solidFill>
                  <a:srgbClr val="585858"/>
                </a:solidFill>
                <a:latin typeface="Times New Roman"/>
                <a:ea typeface="Times New Roman"/>
                <a:cs typeface="Times New Roman"/>
              </a:defRPr>
            </a:pPr>
            <a:r>
              <a:rPr sz="1275" b="0" dirty="0">
                <a:solidFill>
                  <a:srgbClr val="585858"/>
                </a:solidFill>
                <a:latin typeface="OpenAI Sans" panose="020B0604020202020204" charset="0"/>
                <a:ea typeface="OpenAI Sans" panose="020B0604020202020204" charset="0"/>
                <a:cs typeface="Times New Roman"/>
              </a:rPr>
              <a:t>Same 920 students. Questionnaire: 12 inputs. Main CGPA: same inputs + recent SGPA.</a:t>
            </a:r>
          </a:p>
        </p:txBody>
      </p:sp>
    </p:spTree>
    <p:extLst>
      <p:ext uri="{BB962C8B-B14F-4D97-AF65-F5344CB8AC3E}">
        <p14:creationId xmlns:p14="http://schemas.microsoft.com/office/powerpoint/2010/main" val="40118369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sz="1000" dirty="0">
                <a:latin typeface="OpenAI Sans" panose="020B0604020202020204" charset="0"/>
                <a:ea typeface="OpenAI Sans" panose="020B0604020202020204" charset="0"/>
                <a:cs typeface="Times New Roman"/>
              </a:rPr>
              <a:t>39</a:t>
            </a: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b="1">
                <a:latin typeface="OpenAI Sans" panose="020B0604020202020204" charset="0"/>
                <a:ea typeface="OpenAI Sans" panose="020B0604020202020204" charset="0"/>
                <a:cs typeface="Times New Roman"/>
              </a:rPr>
              <a:t>WEKA J48: Recent SGPA</a:t>
            </a:r>
          </a:p>
        </p:txBody>
      </p:sp>
      <p:pic>
        <p:nvPicPr>
          <p:cNvPr id="539" name="Picture 538"/>
          <p:cNvPicPr>
            <a:picLocks noChangeAspect="1"/>
          </p:cNvPicPr>
          <p:nvPr/>
        </p:nvPicPr>
        <p:blipFill>
          <a:blip r:embed="rId3"/>
          <a:stretch/>
        </p:blipFill>
        <p:spPr>
          <a:xfrm>
            <a:off x="1809750" y="1381125"/>
            <a:ext cx="8572500" cy="4524375"/>
          </a:xfrm>
          <a:prstGeom prst="rect">
            <a:avLst/>
          </a:prstGeom>
        </p:spPr>
      </p:pic>
      <p:sp>
        <p:nvSpPr>
          <p:cNvPr id="535" name="WEKA J48 -C 0.25 -M 40. Recent SGPA. Test: 29.86%. Zero">
            <a:extLst>
              <a:ext uri="{FF2B5EF4-FFF2-40B4-BE49-F238E27FC236}">
                <a16:creationId xmlns:a16="http://schemas.microsoft.com/office/drawing/2014/main" id="{870F424A-6913-4706-BC51-202D4308CB91}"/>
              </a:ext>
            </a:extLst>
          </p:cNvPr>
          <p:cNvSpPr>
            <a:spLocks noGrp="1"/>
          </p:cNvSpPr>
          <p:nvPr/>
        </p:nvSpPr>
        <p:spPr>
          <a:xfrm>
            <a:off x="400050" y="6057900"/>
            <a:ext cx="11049000" cy="285750"/>
          </a:xfrm>
          <a:prstGeom prst="rect">
            <a:avLst/>
          </a:prstGeom>
          <a:noFill/>
          <a:ln w="0">
            <a:noFill/>
          </a:ln>
        </p:spPr>
        <p:txBody>
          <a:bodyPr anchor="t">
            <a:noAutofit/>
          </a:bodyPr>
          <a:lstStyle/>
          <a:p>
            <a:pPr>
              <a:defRPr sz="1275" b="0">
                <a:solidFill>
                  <a:srgbClr val="585858"/>
                </a:solidFill>
                <a:latin typeface="Times New Roman"/>
                <a:ea typeface="Times New Roman"/>
                <a:cs typeface="Times New Roman"/>
              </a:defRPr>
            </a:pPr>
            <a:r>
              <a:rPr sz="1275" b="0">
                <a:solidFill>
                  <a:srgbClr val="585858"/>
                </a:solidFill>
                <a:latin typeface="OpenAI Sans" panose="020B0604020202020204" charset="0"/>
                <a:ea typeface="OpenAI Sans" panose="020B0604020202020204" charset="0"/>
                <a:cs typeface="Times New Roman"/>
              </a:rPr>
              <a:t>WEKA J48 -C 0.25 -M 40, built on all 920 students. Recent SGPA. 5-fold CV: 26.30%. ZeroR: 29.24%.</a:t>
            </a:r>
          </a:p>
        </p:txBody>
      </p:sp>
    </p:spTree>
    <p:extLst>
      <p:ext uri="{BB962C8B-B14F-4D97-AF65-F5344CB8AC3E}">
        <p14:creationId xmlns:p14="http://schemas.microsoft.com/office/powerpoint/2010/main" val="42045372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lang="en-US" dirty="0">
                <a:latin typeface="OpenAI Sans" panose="020B0604020202020204" charset="0"/>
                <a:ea typeface="OpenAI Sans" panose="020B0604020202020204" charset="0"/>
                <a:cs typeface="Times New Roman"/>
              </a:rPr>
              <a:t>40</a:t>
            </a:r>
            <a:endParaRPr sz="1000" dirty="0">
              <a:latin typeface="OpenAI Sans" panose="020B0604020202020204" charset="0"/>
              <a:ea typeface="OpenAI Sans" panose="020B0604020202020204" charset="0"/>
              <a:cs typeface="Times New Roman"/>
            </a:endParaRP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b="1">
                <a:latin typeface="OpenAI Sans" panose="020B0604020202020204" charset="0"/>
                <a:ea typeface="OpenAI Sans" panose="020B0604020202020204" charset="0"/>
                <a:cs typeface="Times New Roman"/>
              </a:rPr>
              <a:t>WEKA J48: SGPA rules</a:t>
            </a:r>
          </a:p>
        </p:txBody>
      </p:sp>
      <p:sp>
        <p:nvSpPr>
          <p:cNvPr id="534" name="Rectangle 533">
            <a:extLst>
              <a:ext uri="{FF2B5EF4-FFF2-40B4-BE49-F238E27FC236}">
                <a16:creationId xmlns:a16="http://schemas.microsoft.com/office/drawing/2014/main" id="{10A5DB4B-BED9-4A8B-876C-6F51D1CD9A24}"/>
              </a:ext>
            </a:extLst>
          </p:cNvPr>
          <p:cNvSpPr>
            <a:spLocks noGrp="1"/>
          </p:cNvSpPr>
          <p:nvPr/>
        </p:nvSpPr>
        <p:spPr>
          <a:xfrm>
            <a:off x="400050" y="1743075"/>
            <a:ext cx="9715500" cy="1238250"/>
          </a:xfrm>
          <a:prstGeom prst="rect">
            <a:avLst/>
          </a:prstGeom>
          <a:solidFill>
            <a:srgbClr val="F1F1F1"/>
          </a:solidFill>
          <a:ln w="0">
            <a:noFill/>
          </a:ln>
        </p:spPr>
        <p:txBody>
          <a:bodyPr/>
          <a:lstStyle/>
          <a:p>
            <a:endParaRPr lang="en-US">
              <a:latin typeface="OpenAI Sans" panose="020B0604020202020204" charset="0"/>
              <a:ea typeface="OpenAI Sans" panose="020B0604020202020204" charset="0"/>
            </a:endParaRPr>
          </a:p>
        </p:txBody>
      </p:sp>
      <p:sp>
        <p:nvSpPr>
          <p:cNvPr id="535" name="IF routine is completely unmanageable">
            <a:extLst>
              <a:ext uri="{FF2B5EF4-FFF2-40B4-BE49-F238E27FC236}">
                <a16:creationId xmlns:a16="http://schemas.microsoft.com/office/drawing/2014/main" id="{08EF0E4B-75FE-4494-81AF-0DA4210D3251}"/>
              </a:ext>
            </a:extLst>
          </p:cNvPr>
          <p:cNvSpPr>
            <a:spLocks noGrp="1"/>
          </p:cNvSpPr>
          <p:nvPr/>
        </p:nvSpPr>
        <p:spPr>
          <a:xfrm>
            <a:off x="590550" y="1914525"/>
            <a:ext cx="9048750" cy="942975"/>
          </a:xfrm>
          <a:prstGeom prst="rect">
            <a:avLst/>
          </a:prstGeom>
          <a:noFill/>
          <a:ln w="0">
            <a:noFill/>
          </a:ln>
        </p:spPr>
        <p:txBody>
          <a:bodyPr anchor="t">
            <a:noAutofit/>
          </a:bodyPr>
          <a:lstStyle/>
          <a:p>
            <a:pPr>
              <a:defRPr sz="2250" b="0">
                <a:solidFill>
                  <a:srgbClr val="121212"/>
                </a:solidFill>
                <a:latin typeface="Times New Roman"/>
                <a:ea typeface="Times New Roman"/>
                <a:cs typeface="Times New Roman"/>
              </a:defRPr>
            </a:pPr>
            <a:r>
              <a:rPr sz="2250" b="0">
                <a:solidFill>
                  <a:srgbClr val="121212"/>
                </a:solidFill>
                <a:latin typeface="OpenAI Sans" panose="020B0604020202020204" charset="0"/>
                <a:ea typeface="OpenAI Sans" panose="020B0604020202020204" charset="0"/>
                <a:cs typeface="Times New Roman"/>
              </a:rPr>
              <a:t>IF the student did not get the desired department</a:t>
            </a:r>
          </a:p>
          <a:p>
            <a:pPr>
              <a:defRPr sz="2250" b="0">
                <a:solidFill>
                  <a:srgbClr val="121212"/>
                </a:solidFill>
                <a:latin typeface="Times New Roman"/>
                <a:ea typeface="Times New Roman"/>
                <a:cs typeface="Times New Roman"/>
              </a:defRPr>
            </a:pPr>
            <a:r>
              <a:rPr sz="2250" b="0">
                <a:solidFill>
                  <a:srgbClr val="121212"/>
                </a:solidFill>
                <a:latin typeface="OpenAI Sans" panose="020B0604020202020204" charset="0"/>
                <a:ea typeface="OpenAI Sans" panose="020B0604020202020204" charset="0"/>
                <a:cs typeface="Times New Roman"/>
              </a:rPr>
              <a:t>AND phone does not take study time almost every day</a:t>
            </a:r>
          </a:p>
        </p:txBody>
      </p:sp>
      <p:sp>
        <p:nvSpPr>
          <p:cNvPr id="536" name="Arrow: Right 535">
            <a:extLst>
              <a:ext uri="{FF2B5EF4-FFF2-40B4-BE49-F238E27FC236}">
                <a16:creationId xmlns:a16="http://schemas.microsoft.com/office/drawing/2014/main" id="{6C1F8BB4-1613-441F-9C12-F97E4B8F3B65}"/>
              </a:ext>
            </a:extLst>
          </p:cNvPr>
          <p:cNvSpPr>
            <a:spLocks noGrp="1"/>
          </p:cNvSpPr>
          <p:nvPr/>
        </p:nvSpPr>
        <p:spPr>
          <a:xfrm>
            <a:off x="10287000" y="2066925"/>
            <a:ext cx="400050" cy="190500"/>
          </a:xfrm>
          <a:prstGeom prst="rightArrow">
            <a:avLst/>
          </a:prstGeom>
          <a:solidFill>
            <a:srgbClr val="AAAAAA"/>
          </a:solidFill>
          <a:ln w="0">
            <a:noFill/>
          </a:ln>
        </p:spPr>
        <p:txBody>
          <a:bodyPr/>
          <a:lstStyle/>
          <a:p>
            <a:endParaRPr lang="en-US">
              <a:latin typeface="OpenAI Sans" panose="020B0604020202020204" charset="0"/>
              <a:ea typeface="OpenAI Sans" panose="020B0604020202020204" charset="0"/>
            </a:endParaRPr>
          </a:p>
        </p:txBody>
      </p:sp>
      <p:sp>
        <p:nvSpPr>
          <p:cNvPr id="537" name="C1">
            <a:extLst>
              <a:ext uri="{FF2B5EF4-FFF2-40B4-BE49-F238E27FC236}">
                <a16:creationId xmlns:a16="http://schemas.microsoft.com/office/drawing/2014/main" id="{FB5E2785-F583-40B5-B3F4-FB65C53DA633}"/>
              </a:ext>
            </a:extLst>
          </p:cNvPr>
          <p:cNvSpPr>
            <a:spLocks noGrp="1"/>
          </p:cNvSpPr>
          <p:nvPr/>
        </p:nvSpPr>
        <p:spPr>
          <a:xfrm>
            <a:off x="10953750" y="1952625"/>
            <a:ext cx="857250" cy="571500"/>
          </a:xfrm>
          <a:prstGeom prst="rect">
            <a:avLst/>
          </a:prstGeom>
          <a:noFill/>
          <a:ln w="0">
            <a:noFill/>
          </a:ln>
        </p:spPr>
        <p:txBody>
          <a:bodyPr anchor="t">
            <a:noAutofit/>
          </a:bodyPr>
          <a:lstStyle/>
          <a:p>
            <a:pPr>
              <a:defRPr sz="2850" b="0">
                <a:solidFill>
                  <a:srgbClr val="DC713D"/>
                </a:solidFill>
                <a:latin typeface="Times New Roman"/>
                <a:ea typeface="Times New Roman"/>
                <a:cs typeface="Times New Roman"/>
              </a:defRPr>
            </a:pPr>
            <a:r>
              <a:rPr sz="2850" b="0">
                <a:solidFill>
                  <a:srgbClr val="DC713D"/>
                </a:solidFill>
                <a:latin typeface="OpenAI Sans" panose="020B0604020202020204" charset="0"/>
                <a:ea typeface="OpenAI Sans" panose="020B0604020202020204" charset="0"/>
                <a:cs typeface="Times New Roman"/>
              </a:rPr>
              <a:t>C1</a:t>
            </a:r>
          </a:p>
        </p:txBody>
      </p:sp>
      <p:sp>
        <p:nvSpPr>
          <p:cNvPr id="538" name="Rectangle 537">
            <a:extLst>
              <a:ext uri="{FF2B5EF4-FFF2-40B4-BE49-F238E27FC236}">
                <a16:creationId xmlns:a16="http://schemas.microsoft.com/office/drawing/2014/main" id="{16882513-7069-4EA2-9A2F-44BB9906EAED}"/>
              </a:ext>
            </a:extLst>
          </p:cNvPr>
          <p:cNvSpPr>
            <a:spLocks noGrp="1"/>
          </p:cNvSpPr>
          <p:nvPr/>
        </p:nvSpPr>
        <p:spPr>
          <a:xfrm>
            <a:off x="400050" y="3495675"/>
            <a:ext cx="9715500" cy="1238250"/>
          </a:xfrm>
          <a:prstGeom prst="rect">
            <a:avLst/>
          </a:prstGeom>
          <a:solidFill>
            <a:srgbClr val="F1F1F1"/>
          </a:solidFill>
          <a:ln w="0">
            <a:noFill/>
          </a:ln>
        </p:spPr>
        <p:txBody>
          <a:bodyPr/>
          <a:lstStyle/>
          <a:p>
            <a:endParaRPr lang="en-US">
              <a:latin typeface="OpenAI Sans" panose="020B0604020202020204" charset="0"/>
              <a:ea typeface="OpenAI Sans" panose="020B0604020202020204" charset="0"/>
            </a:endParaRPr>
          </a:p>
        </p:txBody>
      </p:sp>
      <p:sp>
        <p:nvSpPr>
          <p:cNvPr id="539" name="IF routine is above completely unmanageable&#10;AND almost ">
            <a:extLst>
              <a:ext uri="{FF2B5EF4-FFF2-40B4-BE49-F238E27FC236}">
                <a16:creationId xmlns:a16="http://schemas.microsoft.com/office/drawing/2014/main" id="{8556B067-BBE3-4AC8-BD48-2887ED3BBAEC}"/>
              </a:ext>
            </a:extLst>
          </p:cNvPr>
          <p:cNvSpPr>
            <a:spLocks noGrp="1"/>
          </p:cNvSpPr>
          <p:nvPr/>
        </p:nvSpPr>
        <p:spPr>
          <a:xfrm>
            <a:off x="590550" y="3667125"/>
            <a:ext cx="9048750" cy="942975"/>
          </a:xfrm>
          <a:prstGeom prst="rect">
            <a:avLst/>
          </a:prstGeom>
          <a:noFill/>
          <a:ln w="0">
            <a:noFill/>
          </a:ln>
        </p:spPr>
        <p:txBody>
          <a:bodyPr anchor="t">
            <a:noAutofit/>
          </a:bodyPr>
          <a:lstStyle/>
          <a:p>
            <a:pPr>
              <a:defRPr sz="2250" b="0">
                <a:solidFill>
                  <a:srgbClr val="121212"/>
                </a:solidFill>
                <a:latin typeface="Times New Roman"/>
                <a:ea typeface="Times New Roman"/>
                <a:cs typeface="Times New Roman"/>
              </a:defRPr>
            </a:pPr>
            <a:r>
              <a:rPr sz="2250" b="0">
                <a:solidFill>
                  <a:srgbClr val="121212"/>
                </a:solidFill>
                <a:latin typeface="OpenAI Sans" panose="020B0604020202020204" charset="0"/>
                <a:ea typeface="OpenAI Sans" panose="020B0604020202020204" charset="0"/>
                <a:cs typeface="Times New Roman"/>
              </a:rPr>
              <a:t>IF got the desired department AND attendance 90% or more</a:t>
            </a:r>
          </a:p>
          <a:p>
            <a:pPr>
              <a:defRPr sz="2250" b="0">
                <a:solidFill>
                  <a:srgbClr val="121212"/>
                </a:solidFill>
                <a:latin typeface="Times New Roman"/>
                <a:ea typeface="Times New Roman"/>
                <a:cs typeface="Times New Roman"/>
              </a:defRPr>
            </a:pPr>
            <a:r>
              <a:rPr sz="2250" b="0">
                <a:solidFill>
                  <a:srgbClr val="121212"/>
                </a:solidFill>
                <a:latin typeface="OpenAI Sans" panose="020B0604020202020204" charset="0"/>
                <a:ea typeface="OpenAI Sans" panose="020B0604020202020204" charset="0"/>
                <a:cs typeface="Times New Roman"/>
              </a:rPr>
              <a:t>AND self-study is 7 or more hours a week</a:t>
            </a:r>
          </a:p>
        </p:txBody>
      </p:sp>
      <p:sp>
        <p:nvSpPr>
          <p:cNvPr id="540" name="Arrow: Right 539">
            <a:extLst>
              <a:ext uri="{FF2B5EF4-FFF2-40B4-BE49-F238E27FC236}">
                <a16:creationId xmlns:a16="http://schemas.microsoft.com/office/drawing/2014/main" id="{1D5ED54F-1B59-4F8F-8BBC-169D9E8DA029}"/>
              </a:ext>
            </a:extLst>
          </p:cNvPr>
          <p:cNvSpPr>
            <a:spLocks noGrp="1"/>
          </p:cNvSpPr>
          <p:nvPr/>
        </p:nvSpPr>
        <p:spPr>
          <a:xfrm>
            <a:off x="10287000" y="3819525"/>
            <a:ext cx="400050" cy="190500"/>
          </a:xfrm>
          <a:prstGeom prst="rightArrow">
            <a:avLst/>
          </a:prstGeom>
          <a:solidFill>
            <a:srgbClr val="AAAAAA"/>
          </a:solidFill>
          <a:ln w="0">
            <a:noFill/>
          </a:ln>
        </p:spPr>
        <p:txBody>
          <a:bodyPr/>
          <a:lstStyle/>
          <a:p>
            <a:endParaRPr lang="en-US">
              <a:latin typeface="OpenAI Sans" panose="020B0604020202020204" charset="0"/>
              <a:ea typeface="OpenAI Sans" panose="020B0604020202020204" charset="0"/>
            </a:endParaRPr>
          </a:p>
        </p:txBody>
      </p:sp>
      <p:sp>
        <p:nvSpPr>
          <p:cNvPr id="541" name="C0">
            <a:extLst>
              <a:ext uri="{FF2B5EF4-FFF2-40B4-BE49-F238E27FC236}">
                <a16:creationId xmlns:a16="http://schemas.microsoft.com/office/drawing/2014/main" id="{06149850-AEBD-4367-9457-27AE8BF0E945}"/>
              </a:ext>
            </a:extLst>
          </p:cNvPr>
          <p:cNvSpPr>
            <a:spLocks noGrp="1"/>
          </p:cNvSpPr>
          <p:nvPr/>
        </p:nvSpPr>
        <p:spPr>
          <a:xfrm>
            <a:off x="10953750" y="3705225"/>
            <a:ext cx="857250" cy="571500"/>
          </a:xfrm>
          <a:prstGeom prst="rect">
            <a:avLst/>
          </a:prstGeom>
          <a:noFill/>
          <a:ln w="0">
            <a:noFill/>
          </a:ln>
        </p:spPr>
        <p:txBody>
          <a:bodyPr anchor="t">
            <a:noAutofit/>
          </a:bodyPr>
          <a:lstStyle/>
          <a:p>
            <a:pPr>
              <a:defRPr sz="2850" b="0">
                <a:solidFill>
                  <a:srgbClr val="A83A3A"/>
                </a:solidFill>
                <a:latin typeface="Times New Roman"/>
                <a:ea typeface="Times New Roman"/>
                <a:cs typeface="Times New Roman"/>
              </a:defRPr>
            </a:pPr>
            <a:r>
              <a:rPr sz="2850" b="0">
                <a:solidFill>
                  <a:srgbClr val="285B9F"/>
                </a:solidFill>
                <a:latin typeface="OpenAI Sans" panose="020B0604020202020204" charset="0"/>
                <a:ea typeface="OpenAI Sans" panose="020B0604020202020204" charset="0"/>
                <a:cs typeface="Times New Roman"/>
              </a:rPr>
              <a:t>C3</a:t>
            </a:r>
          </a:p>
        </p:txBody>
      </p:sp>
      <p:sp>
        <p:nvSpPr>
          <p:cNvPr id="542" name="Selected branches from the preceding WEKA J48 tree. Ful">
            <a:extLst>
              <a:ext uri="{FF2B5EF4-FFF2-40B4-BE49-F238E27FC236}">
                <a16:creationId xmlns:a16="http://schemas.microsoft.com/office/drawing/2014/main" id="{1ADCFD7D-8343-49B0-81F4-9126B880A422}"/>
              </a:ext>
            </a:extLst>
          </p:cNvPr>
          <p:cNvSpPr>
            <a:spLocks noGrp="1"/>
          </p:cNvSpPr>
          <p:nvPr/>
        </p:nvSpPr>
        <p:spPr>
          <a:xfrm>
            <a:off x="400050" y="6057900"/>
            <a:ext cx="11049000" cy="285750"/>
          </a:xfrm>
          <a:prstGeom prst="rect">
            <a:avLst/>
          </a:prstGeom>
          <a:noFill/>
          <a:ln w="0">
            <a:noFill/>
          </a:ln>
        </p:spPr>
        <p:txBody>
          <a:bodyPr anchor="t">
            <a:noAutofit/>
          </a:bodyPr>
          <a:lstStyle/>
          <a:p>
            <a:pPr>
              <a:defRPr sz="1275" b="0">
                <a:solidFill>
                  <a:srgbClr val="585858"/>
                </a:solidFill>
                <a:latin typeface="Times New Roman"/>
                <a:ea typeface="Times New Roman"/>
                <a:cs typeface="Times New Roman"/>
              </a:defRPr>
            </a:pPr>
            <a:r>
              <a:rPr sz="1275" b="0">
                <a:solidFill>
                  <a:srgbClr val="585858"/>
                </a:solidFill>
                <a:latin typeface="OpenAI Sans" panose="020B0604020202020204" charset="0"/>
                <a:ea typeface="OpenAI Sans" panose="020B0604020202020204" charset="0"/>
                <a:cs typeface="Times New Roman"/>
              </a:rPr>
              <a:t>Selected branches from the preceding WEKA J48 tree. Full text and option codes in backup.</a:t>
            </a:r>
          </a:p>
        </p:txBody>
      </p:sp>
    </p:spTree>
    <p:extLst>
      <p:ext uri="{BB962C8B-B14F-4D97-AF65-F5344CB8AC3E}">
        <p14:creationId xmlns:p14="http://schemas.microsoft.com/office/powerpoint/2010/main" val="306302839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sz="1000" dirty="0">
                <a:latin typeface="OpenAI Sans" panose="020B0604020202020204" charset="0"/>
                <a:ea typeface="OpenAI Sans" panose="020B0604020202020204" charset="0"/>
                <a:cs typeface="Times New Roman"/>
              </a:rPr>
              <a:t>41</a:t>
            </a: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b="1">
                <a:latin typeface="OpenAI Sans" panose="020B0604020202020204" charset="0"/>
                <a:ea typeface="OpenAI Sans" panose="020B0604020202020204" charset="0"/>
                <a:cs typeface="Times New Roman"/>
              </a:rPr>
              <a:t>WEKA J48: CGPA from questionnaire variables</a:t>
            </a:r>
          </a:p>
        </p:txBody>
      </p:sp>
      <p:pic>
        <p:nvPicPr>
          <p:cNvPr id="539" name="Picture 538"/>
          <p:cNvPicPr>
            <a:picLocks noChangeAspect="1"/>
          </p:cNvPicPr>
          <p:nvPr/>
        </p:nvPicPr>
        <p:blipFill>
          <a:blip r:embed="rId3"/>
          <a:stretch/>
        </p:blipFill>
        <p:spPr>
          <a:xfrm>
            <a:off x="1809750" y="1381125"/>
            <a:ext cx="8572500" cy="4524375"/>
          </a:xfrm>
          <a:prstGeom prst="rect">
            <a:avLst/>
          </a:prstGeom>
        </p:spPr>
      </p:pic>
      <p:sp>
        <p:nvSpPr>
          <p:cNvPr id="535" name="WEKA J48 -C 0.25 -M 40. CGPA from questionnaire variabl">
            <a:extLst>
              <a:ext uri="{FF2B5EF4-FFF2-40B4-BE49-F238E27FC236}">
                <a16:creationId xmlns:a16="http://schemas.microsoft.com/office/drawing/2014/main" id="{8B7AE20C-ED04-4DA9-85ED-BB7012732B78}"/>
              </a:ext>
            </a:extLst>
          </p:cNvPr>
          <p:cNvSpPr>
            <a:spLocks noGrp="1"/>
          </p:cNvSpPr>
          <p:nvPr/>
        </p:nvSpPr>
        <p:spPr>
          <a:xfrm>
            <a:off x="400050" y="6057900"/>
            <a:ext cx="11049000" cy="285750"/>
          </a:xfrm>
          <a:prstGeom prst="rect">
            <a:avLst/>
          </a:prstGeom>
          <a:noFill/>
          <a:ln w="0">
            <a:noFill/>
          </a:ln>
        </p:spPr>
        <p:txBody>
          <a:bodyPr anchor="t">
            <a:noAutofit/>
          </a:bodyPr>
          <a:lstStyle/>
          <a:p>
            <a:pPr>
              <a:defRPr sz="1275" b="0">
                <a:solidFill>
                  <a:srgbClr val="585858"/>
                </a:solidFill>
                <a:latin typeface="Times New Roman"/>
                <a:ea typeface="Times New Roman"/>
                <a:cs typeface="Times New Roman"/>
              </a:defRPr>
            </a:pPr>
            <a:r>
              <a:rPr sz="1275" b="0">
                <a:solidFill>
                  <a:srgbClr val="585858"/>
                </a:solidFill>
                <a:latin typeface="OpenAI Sans" panose="020B0604020202020204" charset="0"/>
                <a:ea typeface="OpenAI Sans" panose="020B0604020202020204" charset="0"/>
                <a:cs typeface="Times New Roman"/>
              </a:rPr>
              <a:t>WEKA J48 -C 0.25 -M 40, built on all 920 students. CGPA from questionnaire variables. 5-fold CV: 27.83%. ZeroR: 30.87%.</a:t>
            </a:r>
          </a:p>
        </p:txBody>
      </p:sp>
    </p:spTree>
    <p:extLst>
      <p:ext uri="{BB962C8B-B14F-4D97-AF65-F5344CB8AC3E}">
        <p14:creationId xmlns:p14="http://schemas.microsoft.com/office/powerpoint/2010/main" val="283049502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lang="en-US" dirty="0">
                <a:latin typeface="OpenAI Sans" panose="020B0604020202020204" charset="0"/>
                <a:ea typeface="OpenAI Sans" panose="020B0604020202020204" charset="0"/>
                <a:cs typeface="Times New Roman"/>
              </a:rPr>
              <a:t>42</a:t>
            </a:r>
            <a:endParaRPr sz="1000" dirty="0">
              <a:latin typeface="OpenAI Sans" panose="020B0604020202020204" charset="0"/>
              <a:ea typeface="OpenAI Sans" panose="020B0604020202020204" charset="0"/>
              <a:cs typeface="Times New Roman"/>
            </a:endParaRP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b="1">
                <a:latin typeface="OpenAI Sans" panose="020B0604020202020204" charset="0"/>
                <a:ea typeface="OpenAI Sans" panose="020B0604020202020204" charset="0"/>
                <a:cs typeface="Times New Roman"/>
              </a:rPr>
              <a:t>Questionnaire J48 rules</a:t>
            </a:r>
          </a:p>
        </p:txBody>
      </p:sp>
      <p:sp>
        <p:nvSpPr>
          <p:cNvPr id="534" name="Rectangle 533">
            <a:extLst>
              <a:ext uri="{FF2B5EF4-FFF2-40B4-BE49-F238E27FC236}">
                <a16:creationId xmlns:a16="http://schemas.microsoft.com/office/drawing/2014/main" id="{E1485ED6-186D-4363-B098-5A0772549701}"/>
              </a:ext>
            </a:extLst>
          </p:cNvPr>
          <p:cNvSpPr>
            <a:spLocks noGrp="1"/>
          </p:cNvSpPr>
          <p:nvPr/>
        </p:nvSpPr>
        <p:spPr>
          <a:xfrm>
            <a:off x="400050" y="1743075"/>
            <a:ext cx="9715500" cy="1238250"/>
          </a:xfrm>
          <a:prstGeom prst="rect">
            <a:avLst/>
          </a:prstGeom>
          <a:solidFill>
            <a:srgbClr val="F1F1F1"/>
          </a:solidFill>
          <a:ln w="0">
            <a:noFill/>
          </a:ln>
        </p:spPr>
        <p:txBody>
          <a:bodyPr/>
          <a:lstStyle/>
          <a:p>
            <a:endParaRPr lang="en-US">
              <a:latin typeface="OpenAI Sans" panose="020B0604020202020204" charset="0"/>
              <a:ea typeface="OpenAI Sans" panose="020B0604020202020204" charset="0"/>
            </a:endParaRPr>
          </a:p>
        </p:txBody>
      </p:sp>
      <p:sp>
        <p:nvSpPr>
          <p:cNvPr id="535" name="IF study environment is very distracting">
            <a:extLst>
              <a:ext uri="{FF2B5EF4-FFF2-40B4-BE49-F238E27FC236}">
                <a16:creationId xmlns:a16="http://schemas.microsoft.com/office/drawing/2014/main" id="{4E3E6202-DDE4-45D5-B952-39FDAFF25841}"/>
              </a:ext>
            </a:extLst>
          </p:cNvPr>
          <p:cNvSpPr>
            <a:spLocks noGrp="1"/>
          </p:cNvSpPr>
          <p:nvPr/>
        </p:nvSpPr>
        <p:spPr>
          <a:xfrm>
            <a:off x="590550" y="1914525"/>
            <a:ext cx="9048750" cy="942975"/>
          </a:xfrm>
          <a:prstGeom prst="rect">
            <a:avLst/>
          </a:prstGeom>
          <a:noFill/>
          <a:ln w="0">
            <a:noFill/>
          </a:ln>
        </p:spPr>
        <p:txBody>
          <a:bodyPr anchor="t">
            <a:noAutofit/>
          </a:bodyPr>
          <a:lstStyle/>
          <a:p>
            <a:pPr>
              <a:defRPr sz="2250" b="0">
                <a:solidFill>
                  <a:srgbClr val="121212"/>
                </a:solidFill>
                <a:latin typeface="Times New Roman"/>
                <a:ea typeface="Times New Roman"/>
                <a:cs typeface="Times New Roman"/>
              </a:defRPr>
            </a:pPr>
            <a:r>
              <a:rPr sz="2250" b="0">
                <a:solidFill>
                  <a:srgbClr val="121212"/>
                </a:solidFill>
                <a:latin typeface="OpenAI Sans" panose="020B0604020202020204" charset="0"/>
                <a:ea typeface="OpenAI Sans" panose="020B0604020202020204" charset="0"/>
                <a:cs typeface="Times New Roman"/>
              </a:rPr>
              <a:t>IF the living place is very distracting</a:t>
            </a:r>
          </a:p>
          <a:p>
            <a:pPr>
              <a:defRPr sz="2250" b="0">
                <a:solidFill>
                  <a:srgbClr val="121212"/>
                </a:solidFill>
                <a:latin typeface="Times New Roman"/>
                <a:ea typeface="Times New Roman"/>
                <a:cs typeface="Times New Roman"/>
              </a:defRPr>
            </a:pPr>
            <a:r>
              <a:rPr sz="2250" b="0">
                <a:solidFill>
                  <a:srgbClr val="121212"/>
                </a:solidFill>
                <a:latin typeface="OpenAI Sans" panose="020B0604020202020204" charset="0"/>
                <a:ea typeface="OpenAI Sans" panose="020B0604020202020204" charset="0"/>
                <a:cs typeface="Times New Roman"/>
              </a:rPr>
              <a:t>AND the student did not get the desired department</a:t>
            </a:r>
          </a:p>
        </p:txBody>
      </p:sp>
      <p:sp>
        <p:nvSpPr>
          <p:cNvPr id="536" name="Arrow: Right 535">
            <a:extLst>
              <a:ext uri="{FF2B5EF4-FFF2-40B4-BE49-F238E27FC236}">
                <a16:creationId xmlns:a16="http://schemas.microsoft.com/office/drawing/2014/main" id="{69A359B7-8299-4D6B-A375-ADCB9019830E}"/>
              </a:ext>
            </a:extLst>
          </p:cNvPr>
          <p:cNvSpPr>
            <a:spLocks noGrp="1"/>
          </p:cNvSpPr>
          <p:nvPr/>
        </p:nvSpPr>
        <p:spPr>
          <a:xfrm>
            <a:off x="10287000" y="2066925"/>
            <a:ext cx="400050" cy="190500"/>
          </a:xfrm>
          <a:prstGeom prst="rightArrow">
            <a:avLst/>
          </a:prstGeom>
          <a:solidFill>
            <a:srgbClr val="AAAAAA"/>
          </a:solidFill>
          <a:ln w="0">
            <a:noFill/>
          </a:ln>
        </p:spPr>
        <p:txBody>
          <a:bodyPr/>
          <a:lstStyle/>
          <a:p>
            <a:endParaRPr lang="en-US">
              <a:latin typeface="OpenAI Sans" panose="020B0604020202020204" charset="0"/>
              <a:ea typeface="OpenAI Sans" panose="020B0604020202020204" charset="0"/>
            </a:endParaRPr>
          </a:p>
        </p:txBody>
      </p:sp>
      <p:sp>
        <p:nvSpPr>
          <p:cNvPr id="537" name="C0">
            <a:extLst>
              <a:ext uri="{FF2B5EF4-FFF2-40B4-BE49-F238E27FC236}">
                <a16:creationId xmlns:a16="http://schemas.microsoft.com/office/drawing/2014/main" id="{2BCE12CF-972C-441C-8628-F0F2D4AADDDF}"/>
              </a:ext>
            </a:extLst>
          </p:cNvPr>
          <p:cNvSpPr>
            <a:spLocks noGrp="1"/>
          </p:cNvSpPr>
          <p:nvPr/>
        </p:nvSpPr>
        <p:spPr>
          <a:xfrm>
            <a:off x="10953750" y="1952625"/>
            <a:ext cx="857250" cy="571500"/>
          </a:xfrm>
          <a:prstGeom prst="rect">
            <a:avLst/>
          </a:prstGeom>
          <a:noFill/>
          <a:ln w="0">
            <a:noFill/>
          </a:ln>
        </p:spPr>
        <p:txBody>
          <a:bodyPr anchor="t">
            <a:noAutofit/>
          </a:bodyPr>
          <a:lstStyle/>
          <a:p>
            <a:pPr>
              <a:defRPr sz="2850" b="0">
                <a:solidFill>
                  <a:srgbClr val="A83A3A"/>
                </a:solidFill>
                <a:latin typeface="Times New Roman"/>
                <a:ea typeface="Times New Roman"/>
                <a:cs typeface="Times New Roman"/>
              </a:defRPr>
            </a:pPr>
            <a:r>
              <a:rPr sz="2850" b="0">
                <a:solidFill>
                  <a:srgbClr val="A83A3A"/>
                </a:solidFill>
                <a:latin typeface="OpenAI Sans" panose="020B0604020202020204" charset="0"/>
                <a:ea typeface="OpenAI Sans" panose="020B0604020202020204" charset="0"/>
                <a:cs typeface="Times New Roman"/>
              </a:rPr>
              <a:t>C0</a:t>
            </a:r>
          </a:p>
        </p:txBody>
      </p:sp>
      <p:sp>
        <p:nvSpPr>
          <p:cNvPr id="538" name="Rectangle 537">
            <a:extLst>
              <a:ext uri="{FF2B5EF4-FFF2-40B4-BE49-F238E27FC236}">
                <a16:creationId xmlns:a16="http://schemas.microsoft.com/office/drawing/2014/main" id="{B7A5A759-28EF-4B55-92ED-7EDF7FC69FD2}"/>
              </a:ext>
            </a:extLst>
          </p:cNvPr>
          <p:cNvSpPr>
            <a:spLocks noGrp="1"/>
          </p:cNvSpPr>
          <p:nvPr/>
        </p:nvSpPr>
        <p:spPr>
          <a:xfrm>
            <a:off x="400050" y="3495675"/>
            <a:ext cx="9715500" cy="1238250"/>
          </a:xfrm>
          <a:prstGeom prst="rect">
            <a:avLst/>
          </a:prstGeom>
          <a:solidFill>
            <a:srgbClr val="F1F1F1"/>
          </a:solidFill>
          <a:ln w="0">
            <a:noFill/>
          </a:ln>
        </p:spPr>
        <p:txBody>
          <a:bodyPr/>
          <a:lstStyle/>
          <a:p>
            <a:endParaRPr lang="en-US">
              <a:latin typeface="OpenAI Sans" panose="020B0604020202020204" charset="0"/>
              <a:ea typeface="OpenAI Sans" panose="020B0604020202020204" charset="0"/>
            </a:endParaRPr>
          </a:p>
        </p:txBody>
      </p:sp>
      <p:sp>
        <p:nvSpPr>
          <p:cNvPr id="539" name="IF environment is excellent for focused study&#10;AND atten">
            <a:extLst>
              <a:ext uri="{FF2B5EF4-FFF2-40B4-BE49-F238E27FC236}">
                <a16:creationId xmlns:a16="http://schemas.microsoft.com/office/drawing/2014/main" id="{B3DA30AC-A96C-4AF4-A7CD-E8373B9CD8E3}"/>
              </a:ext>
            </a:extLst>
          </p:cNvPr>
          <p:cNvSpPr>
            <a:spLocks noGrp="1"/>
          </p:cNvSpPr>
          <p:nvPr/>
        </p:nvSpPr>
        <p:spPr>
          <a:xfrm>
            <a:off x="590550" y="3667125"/>
            <a:ext cx="9048750" cy="942975"/>
          </a:xfrm>
          <a:prstGeom prst="rect">
            <a:avLst/>
          </a:prstGeom>
          <a:noFill/>
          <a:ln w="0">
            <a:noFill/>
          </a:ln>
        </p:spPr>
        <p:txBody>
          <a:bodyPr anchor="t">
            <a:noAutofit/>
          </a:bodyPr>
          <a:lstStyle/>
          <a:p>
            <a:pPr>
              <a:defRPr sz="2250" b="0">
                <a:solidFill>
                  <a:srgbClr val="121212"/>
                </a:solidFill>
                <a:latin typeface="Times New Roman"/>
                <a:ea typeface="Times New Roman"/>
                <a:cs typeface="Times New Roman"/>
              </a:defRPr>
            </a:pPr>
            <a:r>
              <a:rPr sz="2250" b="0">
                <a:solidFill>
                  <a:srgbClr val="121212"/>
                </a:solidFill>
                <a:latin typeface="OpenAI Sans" panose="020B0604020202020204" charset="0"/>
                <a:ea typeface="OpenAI Sans" panose="020B0604020202020204" charset="0"/>
                <a:cs typeface="Times New Roman"/>
              </a:rPr>
              <a:t>IF the living place is not very distracting</a:t>
            </a:r>
          </a:p>
          <a:p>
            <a:pPr>
              <a:defRPr sz="2250" b="0">
                <a:solidFill>
                  <a:srgbClr val="121212"/>
                </a:solidFill>
                <a:latin typeface="Times New Roman"/>
                <a:ea typeface="Times New Roman"/>
                <a:cs typeface="Times New Roman"/>
              </a:defRPr>
            </a:pPr>
            <a:r>
              <a:rPr sz="2250" b="0">
                <a:solidFill>
                  <a:srgbClr val="121212"/>
                </a:solidFill>
                <a:latin typeface="OpenAI Sans" panose="020B0604020202020204" charset="0"/>
                <a:ea typeface="OpenAI Sans" panose="020B0604020202020204" charset="0"/>
                <a:cs typeface="Times New Roman"/>
              </a:rPr>
              <a:t>AND stress almost always made studying difficult</a:t>
            </a:r>
          </a:p>
        </p:txBody>
      </p:sp>
      <p:sp>
        <p:nvSpPr>
          <p:cNvPr id="540" name="Arrow: Right 539">
            <a:extLst>
              <a:ext uri="{FF2B5EF4-FFF2-40B4-BE49-F238E27FC236}">
                <a16:creationId xmlns:a16="http://schemas.microsoft.com/office/drawing/2014/main" id="{7B8198B3-717C-4D20-AA0E-BE8ACB3CBCF6}"/>
              </a:ext>
            </a:extLst>
          </p:cNvPr>
          <p:cNvSpPr>
            <a:spLocks noGrp="1"/>
          </p:cNvSpPr>
          <p:nvPr/>
        </p:nvSpPr>
        <p:spPr>
          <a:xfrm>
            <a:off x="10287000" y="3819525"/>
            <a:ext cx="400050" cy="190500"/>
          </a:xfrm>
          <a:prstGeom prst="rightArrow">
            <a:avLst/>
          </a:prstGeom>
          <a:solidFill>
            <a:srgbClr val="AAAAAA"/>
          </a:solidFill>
          <a:ln w="0">
            <a:noFill/>
          </a:ln>
        </p:spPr>
        <p:txBody>
          <a:bodyPr/>
          <a:lstStyle/>
          <a:p>
            <a:endParaRPr lang="en-US">
              <a:latin typeface="OpenAI Sans" panose="020B0604020202020204" charset="0"/>
              <a:ea typeface="OpenAI Sans" panose="020B0604020202020204" charset="0"/>
            </a:endParaRPr>
          </a:p>
        </p:txBody>
      </p:sp>
      <p:sp>
        <p:nvSpPr>
          <p:cNvPr id="541" name="C3">
            <a:extLst>
              <a:ext uri="{FF2B5EF4-FFF2-40B4-BE49-F238E27FC236}">
                <a16:creationId xmlns:a16="http://schemas.microsoft.com/office/drawing/2014/main" id="{F2AC624A-44AA-4706-B57E-C04A6B477945}"/>
              </a:ext>
            </a:extLst>
          </p:cNvPr>
          <p:cNvSpPr>
            <a:spLocks noGrp="1"/>
          </p:cNvSpPr>
          <p:nvPr/>
        </p:nvSpPr>
        <p:spPr>
          <a:xfrm>
            <a:off x="10953750" y="3705225"/>
            <a:ext cx="857250" cy="571500"/>
          </a:xfrm>
          <a:prstGeom prst="rect">
            <a:avLst/>
          </a:prstGeom>
          <a:noFill/>
          <a:ln w="0">
            <a:noFill/>
          </a:ln>
        </p:spPr>
        <p:txBody>
          <a:bodyPr anchor="t">
            <a:noAutofit/>
          </a:bodyPr>
          <a:lstStyle/>
          <a:p>
            <a:pPr>
              <a:defRPr sz="2850" b="0">
                <a:solidFill>
                  <a:srgbClr val="285B9F"/>
                </a:solidFill>
                <a:latin typeface="Times New Roman"/>
                <a:ea typeface="Times New Roman"/>
                <a:cs typeface="Times New Roman"/>
              </a:defRPr>
            </a:pPr>
            <a:r>
              <a:rPr sz="2850" b="0" dirty="0">
                <a:solidFill>
                  <a:srgbClr val="4C91D8"/>
                </a:solidFill>
                <a:latin typeface="OpenAI Sans" panose="020B0604020202020204" charset="0"/>
                <a:ea typeface="OpenAI Sans" panose="020B0604020202020204" charset="0"/>
                <a:cs typeface="Times New Roman"/>
              </a:rPr>
              <a:t>C2</a:t>
            </a:r>
          </a:p>
        </p:txBody>
      </p:sp>
      <p:sp>
        <p:nvSpPr>
          <p:cNvPr id="542" name="Selected branches from the preceding WEKA J48 tree. Ful">
            <a:extLst>
              <a:ext uri="{FF2B5EF4-FFF2-40B4-BE49-F238E27FC236}">
                <a16:creationId xmlns:a16="http://schemas.microsoft.com/office/drawing/2014/main" id="{0A027E74-81A3-4844-9D8D-1E0C1F0D717F}"/>
              </a:ext>
            </a:extLst>
          </p:cNvPr>
          <p:cNvSpPr>
            <a:spLocks noGrp="1"/>
          </p:cNvSpPr>
          <p:nvPr/>
        </p:nvSpPr>
        <p:spPr>
          <a:xfrm>
            <a:off x="400050" y="6057900"/>
            <a:ext cx="11049000" cy="285750"/>
          </a:xfrm>
          <a:prstGeom prst="rect">
            <a:avLst/>
          </a:prstGeom>
          <a:noFill/>
          <a:ln w="0">
            <a:noFill/>
          </a:ln>
        </p:spPr>
        <p:txBody>
          <a:bodyPr anchor="t">
            <a:noAutofit/>
          </a:bodyPr>
          <a:lstStyle/>
          <a:p>
            <a:pPr>
              <a:defRPr sz="1275" b="0">
                <a:solidFill>
                  <a:srgbClr val="585858"/>
                </a:solidFill>
                <a:latin typeface="Times New Roman"/>
                <a:ea typeface="Times New Roman"/>
                <a:cs typeface="Times New Roman"/>
              </a:defRPr>
            </a:pPr>
            <a:r>
              <a:rPr sz="1275" b="0">
                <a:solidFill>
                  <a:srgbClr val="585858"/>
                </a:solidFill>
                <a:latin typeface="OpenAI Sans" panose="020B0604020202020204" charset="0"/>
                <a:ea typeface="OpenAI Sans" panose="020B0604020202020204" charset="0"/>
                <a:cs typeface="Times New Roman"/>
              </a:rPr>
              <a:t>Selected branches from the preceding WEKA J48 tree. Full text and option codes in backup.</a:t>
            </a:r>
          </a:p>
        </p:txBody>
      </p:sp>
    </p:spTree>
    <p:extLst>
      <p:ext uri="{BB962C8B-B14F-4D97-AF65-F5344CB8AC3E}">
        <p14:creationId xmlns:p14="http://schemas.microsoft.com/office/powerpoint/2010/main" val="231524393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lang="en-US" dirty="0">
                <a:latin typeface="OpenAI Sans" panose="020B0604020202020204" charset="0"/>
                <a:ea typeface="OpenAI Sans" panose="020B0604020202020204" charset="0"/>
                <a:cs typeface="Times New Roman"/>
              </a:rPr>
              <a:t>43</a:t>
            </a:r>
            <a:endParaRPr sz="1000" dirty="0">
              <a:latin typeface="OpenAI Sans" panose="020B0604020202020204" charset="0"/>
              <a:ea typeface="OpenAI Sans" panose="020B0604020202020204" charset="0"/>
              <a:cs typeface="Times New Roman"/>
            </a:endParaRP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b="1">
                <a:latin typeface="OpenAI Sans" panose="020B0604020202020204" charset="0"/>
                <a:ea typeface="OpenAI Sans" panose="020B0604020202020204" charset="0"/>
                <a:cs typeface="Times New Roman"/>
              </a:rPr>
              <a:t>WEKA J48: cross-validation and 80/20 test accuracy</a:t>
            </a:r>
          </a:p>
        </p:txBody>
      </p:sp>
      <p:graphicFrame>
        <p:nvGraphicFramePr>
          <p:cNvPr id="539" name="Table 538"/>
          <p:cNvGraphicFramePr/>
          <p:nvPr>
            <p:extLst>
              <p:ext uri="{D42A27DB-BD31-4B8C-83A1-F6EECF244321}">
                <p14:modId xmlns:p14="http://schemas.microsoft.com/office/powerpoint/2010/main" val="582145020"/>
              </p:ext>
            </p:extLst>
          </p:nvPr>
        </p:nvGraphicFramePr>
        <p:xfrm>
          <a:off x="400050" y="2133600"/>
          <a:ext cx="11391900" cy="2952752"/>
        </p:xfrm>
        <a:graphic>
          <a:graphicData uri="http://schemas.openxmlformats.org/drawingml/2006/table">
            <a:tbl>
              <a:tblPr/>
              <a:tblGrid>
                <a:gridCol w="3600450">
                  <a:extLst>
                    <a:ext uri="{9D8B030D-6E8A-4147-A177-3AD203B41FA5}">
                      <a16:colId xmlns:a16="http://schemas.microsoft.com/office/drawing/2014/main" val="20000"/>
                    </a:ext>
                  </a:extLst>
                </a:gridCol>
                <a:gridCol w="2571750">
                  <a:extLst>
                    <a:ext uri="{9D8B030D-6E8A-4147-A177-3AD203B41FA5}">
                      <a16:colId xmlns:a16="http://schemas.microsoft.com/office/drawing/2014/main" val="20001"/>
                    </a:ext>
                  </a:extLst>
                </a:gridCol>
                <a:gridCol w="2619375">
                  <a:extLst>
                    <a:ext uri="{9D8B030D-6E8A-4147-A177-3AD203B41FA5}">
                      <a16:colId xmlns:a16="http://schemas.microsoft.com/office/drawing/2014/main" val="20002"/>
                    </a:ext>
                  </a:extLst>
                </a:gridCol>
                <a:gridCol w="2600325">
                  <a:extLst>
                    <a:ext uri="{9D8B030D-6E8A-4147-A177-3AD203B41FA5}">
                      <a16:colId xmlns:a16="http://schemas.microsoft.com/office/drawing/2014/main" val="20003"/>
                    </a:ext>
                  </a:extLst>
                </a:gridCol>
              </a:tblGrid>
              <a:tr h="738188">
                <a:tc>
                  <a:txBody>
                    <a:bodyPr/>
                    <a:lstStyle/>
                    <a:p>
                      <a:r>
                        <a:rPr sz="2100" b="1">
                          <a:solidFill>
                            <a:srgbClr val="121212"/>
                          </a:solidFill>
                          <a:latin typeface="OpenAI Sans" panose="020B0604020202020204" charset="0"/>
                          <a:ea typeface="OpenAI Sans" panose="020B0604020202020204" charset="0"/>
                          <a:cs typeface="Times New Roman"/>
                        </a:rPr>
                        <a:t>Target</a:t>
                      </a:r>
                    </a:p>
                  </a:txBody>
                  <a:tcPr>
                    <a:solidFill>
                      <a:srgbClr val="EEEEEE"/>
                    </a:solidFill>
                  </a:tcPr>
                </a:tc>
                <a:tc>
                  <a:txBody>
                    <a:bodyPr/>
                    <a:lstStyle/>
                    <a:p>
                      <a:r>
                        <a:rPr sz="2100" b="1">
                          <a:solidFill>
                            <a:srgbClr val="121212"/>
                          </a:solidFill>
                          <a:latin typeface="OpenAI Sans" panose="020B0604020202020204" charset="0"/>
                          <a:ea typeface="OpenAI Sans" panose="020B0604020202020204" charset="0"/>
                          <a:cs typeface="Times New Roman"/>
                        </a:rPr>
                        <a:t>5-fold CV (920)</a:t>
                      </a:r>
                    </a:p>
                  </a:txBody>
                  <a:tcPr>
                    <a:solidFill>
                      <a:srgbClr val="EEEEEE"/>
                    </a:solidFill>
                  </a:tcPr>
                </a:tc>
                <a:tc>
                  <a:txBody>
                    <a:bodyPr/>
                    <a:lstStyle/>
                    <a:p>
                      <a:r>
                        <a:rPr sz="2100" b="1" dirty="0">
                          <a:solidFill>
                            <a:srgbClr val="121212"/>
                          </a:solidFill>
                          <a:latin typeface="OpenAI Sans" panose="020B0604020202020204" charset="0"/>
                          <a:ea typeface="OpenAI Sans" panose="020B0604020202020204" charset="0"/>
                          <a:cs typeface="Times New Roman"/>
                        </a:rPr>
                        <a:t>80/20 test (184)</a:t>
                      </a:r>
                    </a:p>
                  </a:txBody>
                  <a:tcPr>
                    <a:solidFill>
                      <a:srgbClr val="EEEEEE"/>
                    </a:solidFill>
                  </a:tcPr>
                </a:tc>
                <a:tc>
                  <a:txBody>
                    <a:bodyPr/>
                    <a:lstStyle/>
                    <a:p>
                      <a:r>
                        <a:rPr sz="2100" b="1">
                          <a:solidFill>
                            <a:srgbClr val="121212"/>
                          </a:solidFill>
                          <a:latin typeface="OpenAI Sans" panose="020B0604020202020204" charset="0"/>
                          <a:ea typeface="OpenAI Sans" panose="020B0604020202020204" charset="0"/>
                          <a:cs typeface="Times New Roman"/>
                        </a:rPr>
                        <a:t>ZeroR test</a:t>
                      </a:r>
                    </a:p>
                  </a:txBody>
                  <a:tcPr>
                    <a:solidFill>
                      <a:srgbClr val="EEEEEE"/>
                    </a:solidFill>
                  </a:tcPr>
                </a:tc>
                <a:extLst>
                  <a:ext uri="{0D108BD9-81ED-4DB2-BD59-A6C34878D82A}">
                    <a16:rowId xmlns:a16="http://schemas.microsoft.com/office/drawing/2014/main" val="10000"/>
                  </a:ext>
                </a:extLst>
              </a:tr>
              <a:tr h="738188">
                <a:tc>
                  <a:txBody>
                    <a:bodyPr/>
                    <a:lstStyle/>
                    <a:p>
                      <a:r>
                        <a:rPr sz="2100" b="0">
                          <a:solidFill>
                            <a:srgbClr val="121212"/>
                          </a:solidFill>
                          <a:latin typeface="OpenAI Sans" panose="020B0604020202020204" charset="0"/>
                          <a:ea typeface="OpenAI Sans" panose="020B0604020202020204" charset="0"/>
                          <a:cs typeface="Times New Roman"/>
                        </a:rPr>
                        <a:t>Recent SGPA</a:t>
                      </a:r>
                    </a:p>
                  </a:txBody>
                  <a:tcPr>
                    <a:solidFill>
                      <a:srgbClr val="FFFFFF"/>
                    </a:solidFill>
                  </a:tcPr>
                </a:tc>
                <a:tc>
                  <a:txBody>
                    <a:bodyPr/>
                    <a:lstStyle/>
                    <a:p>
                      <a:r>
                        <a:rPr sz="2100" b="0">
                          <a:solidFill>
                            <a:srgbClr val="121212"/>
                          </a:solidFill>
                          <a:latin typeface="OpenAI Sans" panose="020B0604020202020204" charset="0"/>
                          <a:ea typeface="OpenAI Sans" panose="020B0604020202020204" charset="0"/>
                          <a:cs typeface="Times New Roman"/>
                        </a:rPr>
                        <a:t>26.30%</a:t>
                      </a:r>
                    </a:p>
                  </a:txBody>
                  <a:tcPr>
                    <a:solidFill>
                      <a:srgbClr val="FFFFFF"/>
                    </a:solidFill>
                  </a:tcPr>
                </a:tc>
                <a:tc>
                  <a:txBody>
                    <a:bodyPr/>
                    <a:lstStyle/>
                    <a:p>
                      <a:r>
                        <a:rPr sz="2100" b="0" dirty="0">
                          <a:solidFill>
                            <a:srgbClr val="121212"/>
                          </a:solidFill>
                          <a:latin typeface="OpenAI Sans" panose="020B0604020202020204" charset="0"/>
                          <a:ea typeface="OpenAI Sans" panose="020B0604020202020204" charset="0"/>
                          <a:cs typeface="Times New Roman"/>
                        </a:rPr>
                        <a:t>27.17%</a:t>
                      </a:r>
                    </a:p>
                  </a:txBody>
                  <a:tcPr>
                    <a:solidFill>
                      <a:srgbClr val="FFFFFF"/>
                    </a:solidFill>
                  </a:tcPr>
                </a:tc>
                <a:tc>
                  <a:txBody>
                    <a:bodyPr/>
                    <a:lstStyle/>
                    <a:p>
                      <a:r>
                        <a:rPr sz="2100" b="0">
                          <a:solidFill>
                            <a:srgbClr val="121212"/>
                          </a:solidFill>
                          <a:latin typeface="OpenAI Sans" panose="020B0604020202020204" charset="0"/>
                          <a:ea typeface="OpenAI Sans" panose="020B0604020202020204" charset="0"/>
                          <a:cs typeface="Times New Roman"/>
                        </a:rPr>
                        <a:t>30.43%</a:t>
                      </a:r>
                    </a:p>
                  </a:txBody>
                  <a:tcPr>
                    <a:solidFill>
                      <a:srgbClr val="FFFFFF"/>
                    </a:solidFill>
                  </a:tcPr>
                </a:tc>
                <a:extLst>
                  <a:ext uri="{0D108BD9-81ED-4DB2-BD59-A6C34878D82A}">
                    <a16:rowId xmlns:a16="http://schemas.microsoft.com/office/drawing/2014/main" val="10001"/>
                  </a:ext>
                </a:extLst>
              </a:tr>
              <a:tr h="738188">
                <a:tc>
                  <a:txBody>
                    <a:bodyPr/>
                    <a:lstStyle/>
                    <a:p>
                      <a:r>
                        <a:rPr sz="2100" b="0">
                          <a:solidFill>
                            <a:srgbClr val="121212"/>
                          </a:solidFill>
                          <a:latin typeface="OpenAI Sans" panose="020B0604020202020204" charset="0"/>
                          <a:ea typeface="OpenAI Sans" panose="020B0604020202020204" charset="0"/>
                          <a:cs typeface="Times New Roman"/>
                        </a:rPr>
                        <a:t>CGPA questionnaire</a:t>
                      </a:r>
                    </a:p>
                  </a:txBody>
                  <a:tcPr>
                    <a:solidFill>
                      <a:srgbClr val="FFFFFF"/>
                    </a:solidFill>
                  </a:tcPr>
                </a:tc>
                <a:tc>
                  <a:txBody>
                    <a:bodyPr/>
                    <a:lstStyle/>
                    <a:p>
                      <a:r>
                        <a:rPr sz="2100" b="0">
                          <a:solidFill>
                            <a:srgbClr val="121212"/>
                          </a:solidFill>
                          <a:latin typeface="OpenAI Sans" panose="020B0604020202020204" charset="0"/>
                          <a:ea typeface="OpenAI Sans" panose="020B0604020202020204" charset="0"/>
                          <a:cs typeface="Times New Roman"/>
                        </a:rPr>
                        <a:t>27.83%</a:t>
                      </a:r>
                    </a:p>
                  </a:txBody>
                  <a:tcPr>
                    <a:solidFill>
                      <a:srgbClr val="FFFFFF"/>
                    </a:solidFill>
                  </a:tcPr>
                </a:tc>
                <a:tc>
                  <a:txBody>
                    <a:bodyPr/>
                    <a:lstStyle/>
                    <a:p>
                      <a:r>
                        <a:rPr sz="2100" b="0">
                          <a:solidFill>
                            <a:srgbClr val="121212"/>
                          </a:solidFill>
                          <a:latin typeface="OpenAI Sans" panose="020B0604020202020204" charset="0"/>
                          <a:ea typeface="OpenAI Sans" panose="020B0604020202020204" charset="0"/>
                          <a:cs typeface="Times New Roman"/>
                        </a:rPr>
                        <a:t>33.15%</a:t>
                      </a:r>
                    </a:p>
                  </a:txBody>
                  <a:tcPr>
                    <a:solidFill>
                      <a:srgbClr val="FFFFFF"/>
                    </a:solidFill>
                  </a:tcPr>
                </a:tc>
                <a:tc>
                  <a:txBody>
                    <a:bodyPr/>
                    <a:lstStyle/>
                    <a:p>
                      <a:r>
                        <a:rPr sz="2100" b="0">
                          <a:solidFill>
                            <a:srgbClr val="121212"/>
                          </a:solidFill>
                          <a:latin typeface="OpenAI Sans" panose="020B0604020202020204" charset="0"/>
                          <a:ea typeface="OpenAI Sans" panose="020B0604020202020204" charset="0"/>
                          <a:cs typeface="Times New Roman"/>
                        </a:rPr>
                        <a:t>35.87%</a:t>
                      </a:r>
                    </a:p>
                  </a:txBody>
                  <a:tcPr>
                    <a:solidFill>
                      <a:srgbClr val="FFFFFF"/>
                    </a:solidFill>
                  </a:tcPr>
                </a:tc>
                <a:extLst>
                  <a:ext uri="{0D108BD9-81ED-4DB2-BD59-A6C34878D82A}">
                    <a16:rowId xmlns:a16="http://schemas.microsoft.com/office/drawing/2014/main" val="10002"/>
                  </a:ext>
                </a:extLst>
              </a:tr>
              <a:tr h="738188">
                <a:tc>
                  <a:txBody>
                    <a:bodyPr/>
                    <a:lstStyle/>
                    <a:p>
                      <a:r>
                        <a:rPr sz="2100" b="0">
                          <a:solidFill>
                            <a:srgbClr val="121212"/>
                          </a:solidFill>
                          <a:latin typeface="OpenAI Sans" panose="020B0604020202020204" charset="0"/>
                          <a:ea typeface="OpenAI Sans" panose="020B0604020202020204" charset="0"/>
                          <a:cs typeface="Times New Roman"/>
                        </a:rPr>
                        <a:t>Main CGPA</a:t>
                      </a:r>
                    </a:p>
                  </a:txBody>
                  <a:tcPr>
                    <a:solidFill>
                      <a:srgbClr val="FFFFFF"/>
                    </a:solidFill>
                  </a:tcPr>
                </a:tc>
                <a:tc>
                  <a:txBody>
                    <a:bodyPr/>
                    <a:lstStyle/>
                    <a:p>
                      <a:r>
                        <a:rPr sz="2100" b="0">
                          <a:solidFill>
                            <a:srgbClr val="121212"/>
                          </a:solidFill>
                          <a:latin typeface="OpenAI Sans" panose="020B0604020202020204" charset="0"/>
                          <a:ea typeface="OpenAI Sans" panose="020B0604020202020204" charset="0"/>
                          <a:cs typeface="Times New Roman"/>
                        </a:rPr>
                        <a:t>54.35%</a:t>
                      </a:r>
                    </a:p>
                  </a:txBody>
                  <a:tcPr>
                    <a:solidFill>
                      <a:srgbClr val="FFFFFF"/>
                    </a:solidFill>
                  </a:tcPr>
                </a:tc>
                <a:tc>
                  <a:txBody>
                    <a:bodyPr/>
                    <a:lstStyle/>
                    <a:p>
                      <a:r>
                        <a:rPr sz="2100" b="0">
                          <a:solidFill>
                            <a:srgbClr val="121212"/>
                          </a:solidFill>
                          <a:latin typeface="OpenAI Sans" panose="020B0604020202020204" charset="0"/>
                          <a:ea typeface="OpenAI Sans" panose="020B0604020202020204" charset="0"/>
                          <a:cs typeface="Times New Roman"/>
                        </a:rPr>
                        <a:t>51.09%</a:t>
                      </a:r>
                    </a:p>
                  </a:txBody>
                  <a:tcPr>
                    <a:solidFill>
                      <a:srgbClr val="FFFFFF"/>
                    </a:solidFill>
                  </a:tcPr>
                </a:tc>
                <a:tc>
                  <a:txBody>
                    <a:bodyPr/>
                    <a:lstStyle/>
                    <a:p>
                      <a:r>
                        <a:rPr sz="2100" b="0" dirty="0">
                          <a:solidFill>
                            <a:srgbClr val="121212"/>
                          </a:solidFill>
                          <a:latin typeface="OpenAI Sans" panose="020B0604020202020204" charset="0"/>
                          <a:ea typeface="OpenAI Sans" panose="020B0604020202020204" charset="0"/>
                          <a:cs typeface="Times New Roman"/>
                        </a:rPr>
                        <a:t>35.87%</a:t>
                      </a:r>
                    </a:p>
                  </a:txBody>
                  <a:tcPr>
                    <a:solidFill>
                      <a:srgbClr val="FFFFFF"/>
                    </a:solidFill>
                  </a:tcPr>
                </a:tc>
                <a:extLst>
                  <a:ext uri="{0D108BD9-81ED-4DB2-BD59-A6C34878D82A}">
                    <a16:rowId xmlns:a16="http://schemas.microsoft.com/office/drawing/2014/main" val="10003"/>
                  </a:ext>
                </a:extLst>
              </a:tr>
            </a:tbl>
          </a:graphicData>
        </a:graphic>
      </p:graphicFrame>
      <p:sp>
        <p:nvSpPr>
          <p:cNvPr id="535" name="Each row evaluates the same fitted WEKA J48 on its trai">
            <a:extLst>
              <a:ext uri="{FF2B5EF4-FFF2-40B4-BE49-F238E27FC236}">
                <a16:creationId xmlns:a16="http://schemas.microsoft.com/office/drawing/2014/main" id="{F6DEFF97-0E0E-43D0-AC79-EE02F2625E09}"/>
              </a:ext>
            </a:extLst>
          </p:cNvPr>
          <p:cNvSpPr>
            <a:spLocks noGrp="1"/>
          </p:cNvSpPr>
          <p:nvPr/>
        </p:nvSpPr>
        <p:spPr>
          <a:xfrm>
            <a:off x="400050" y="6057900"/>
            <a:ext cx="11049000" cy="285750"/>
          </a:xfrm>
          <a:prstGeom prst="rect">
            <a:avLst/>
          </a:prstGeom>
          <a:noFill/>
          <a:ln w="0">
            <a:noFill/>
          </a:ln>
        </p:spPr>
        <p:txBody>
          <a:bodyPr anchor="t">
            <a:noAutofit/>
          </a:bodyPr>
          <a:lstStyle/>
          <a:p>
            <a:pPr>
              <a:defRPr sz="1275" b="0">
                <a:solidFill>
                  <a:srgbClr val="585858"/>
                </a:solidFill>
                <a:latin typeface="Times New Roman"/>
                <a:ea typeface="Times New Roman"/>
                <a:cs typeface="Times New Roman"/>
              </a:defRPr>
            </a:pPr>
            <a:r>
              <a:rPr sz="1275" b="0">
                <a:solidFill>
                  <a:srgbClr val="585858"/>
                </a:solidFill>
                <a:latin typeface="OpenAI Sans" panose="020B0604020202020204" charset="0"/>
                <a:ea typeface="OpenAI Sans" panose="020B0604020202020204" charset="0"/>
                <a:cs typeface="Times New Roman"/>
              </a:rPr>
              <a:t>J48 with minNumObj 40. 5-fold CV on all 920 students; 80/20 = WEKA percentage split, seed 1 (736 train, 184 test).</a:t>
            </a:r>
          </a:p>
        </p:txBody>
      </p:sp>
    </p:spTree>
    <p:extLst>
      <p:ext uri="{BB962C8B-B14F-4D97-AF65-F5344CB8AC3E}">
        <p14:creationId xmlns:p14="http://schemas.microsoft.com/office/powerpoint/2010/main" val="324137278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lang="en-US" dirty="0">
                <a:latin typeface="OpenAI Sans" panose="020B0604020202020204" charset="0"/>
                <a:ea typeface="OpenAI Sans" panose="020B0604020202020204" charset="0"/>
                <a:cs typeface="Times New Roman"/>
              </a:rPr>
              <a:t>44</a:t>
            </a:r>
            <a:endParaRPr sz="1000" dirty="0">
              <a:latin typeface="OpenAI Sans" panose="020B0604020202020204" charset="0"/>
              <a:ea typeface="OpenAI Sans" panose="020B0604020202020204" charset="0"/>
              <a:cs typeface="Times New Roman"/>
            </a:endParaRP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dirty="0">
                <a:latin typeface="OpenAI Sans" panose="020B0604020202020204" charset="0"/>
                <a:ea typeface="OpenAI Sans" panose="020B0604020202020204" charset="0"/>
                <a:cs typeface="Times New Roman"/>
              </a:rPr>
              <a:t>WEKA J48: main CGPA test confusion matrix</a:t>
            </a:r>
          </a:p>
        </p:txBody>
      </p:sp>
      <p:sp>
        <p:nvSpPr>
          <p:cNvPr id="534" name="Fixed test set">
            <a:extLst>
              <a:ext uri="{FF2B5EF4-FFF2-40B4-BE49-F238E27FC236}">
                <a16:creationId xmlns:a16="http://schemas.microsoft.com/office/drawing/2014/main" id="{3739AA41-A84E-4DAC-A438-FE6F2908614F}"/>
              </a:ext>
            </a:extLst>
          </p:cNvPr>
          <p:cNvSpPr>
            <a:spLocks noGrp="1"/>
          </p:cNvSpPr>
          <p:nvPr/>
        </p:nvSpPr>
        <p:spPr>
          <a:xfrm>
            <a:off x="3810000" y="1238250"/>
            <a:ext cx="6191250" cy="381000"/>
          </a:xfrm>
          <a:prstGeom prst="rect">
            <a:avLst/>
          </a:prstGeom>
          <a:noFill/>
          <a:ln w="0">
            <a:noFill/>
          </a:ln>
        </p:spPr>
        <p:txBody>
          <a:bodyPr anchor="t">
            <a:noAutofit/>
          </a:bodyPr>
          <a:lstStyle/>
          <a:p>
            <a:pPr>
              <a:defRPr sz="1875" b="0">
                <a:solidFill>
                  <a:srgbClr val="121212"/>
                </a:solidFill>
                <a:latin typeface="Times New Roman"/>
                <a:ea typeface="Times New Roman"/>
                <a:cs typeface="Times New Roman"/>
              </a:defRPr>
            </a:pPr>
            <a:r>
              <a:rPr sz="1875" b="0">
                <a:solidFill>
                  <a:srgbClr val="121212"/>
                </a:solidFill>
                <a:latin typeface="OpenAI Sans" panose="020B0604020202020204" charset="0"/>
                <a:ea typeface="OpenAI Sans" panose="020B0604020202020204" charset="0"/>
                <a:cs typeface="Times New Roman"/>
              </a:rPr>
              <a:t>80/20 split, 184 test students</a:t>
            </a:r>
          </a:p>
        </p:txBody>
      </p:sp>
      <p:sp>
        <p:nvSpPr>
          <p:cNvPr id="535" name="Predicted">
            <a:extLst>
              <a:ext uri="{FF2B5EF4-FFF2-40B4-BE49-F238E27FC236}">
                <a16:creationId xmlns:a16="http://schemas.microsoft.com/office/drawing/2014/main" id="{C1712C18-5E68-4CFC-B3F7-1461649C9EC4}"/>
              </a:ext>
            </a:extLst>
          </p:cNvPr>
          <p:cNvSpPr>
            <a:spLocks noGrp="1"/>
          </p:cNvSpPr>
          <p:nvPr/>
        </p:nvSpPr>
        <p:spPr>
          <a:xfrm>
            <a:off x="4762500" y="1685925"/>
            <a:ext cx="2952750" cy="304800"/>
          </a:xfrm>
          <a:prstGeom prst="rect">
            <a:avLst/>
          </a:prstGeom>
          <a:noFill/>
          <a:ln w="0">
            <a:noFill/>
          </a:ln>
        </p:spPr>
        <p:txBody>
          <a:bodyPr anchor="t">
            <a:noAutofit/>
          </a:bodyPr>
          <a:lstStyle/>
          <a:p>
            <a:pPr>
              <a:defRPr sz="1575" b="0">
                <a:solidFill>
                  <a:srgbClr val="585858"/>
                </a:solidFill>
                <a:latin typeface="Times New Roman"/>
                <a:ea typeface="Times New Roman"/>
                <a:cs typeface="Times New Roman"/>
              </a:defRPr>
            </a:pPr>
            <a:r>
              <a:rPr sz="1575" b="0">
                <a:solidFill>
                  <a:srgbClr val="585858"/>
                </a:solidFill>
                <a:latin typeface="OpenAI Sans" panose="020B0604020202020204" charset="0"/>
                <a:ea typeface="OpenAI Sans" panose="020B0604020202020204" charset="0"/>
                <a:cs typeface="Times New Roman"/>
              </a:rPr>
              <a:t>Predicted</a:t>
            </a:r>
          </a:p>
        </p:txBody>
      </p:sp>
      <p:sp>
        <p:nvSpPr>
          <p:cNvPr id="536" name="C0">
            <a:extLst>
              <a:ext uri="{FF2B5EF4-FFF2-40B4-BE49-F238E27FC236}">
                <a16:creationId xmlns:a16="http://schemas.microsoft.com/office/drawing/2014/main" id="{7C6F7F92-7FF1-4303-81C8-0249E069181E}"/>
              </a:ext>
            </a:extLst>
          </p:cNvPr>
          <p:cNvSpPr>
            <a:spLocks noGrp="1"/>
          </p:cNvSpPr>
          <p:nvPr/>
        </p:nvSpPr>
        <p:spPr>
          <a:xfrm>
            <a:off x="4619625" y="2047875"/>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OpenAI Sans" panose="020B0604020202020204" charset="0"/>
                <a:ea typeface="OpenAI Sans" panose="020B0604020202020204" charset="0"/>
                <a:cs typeface="Times New Roman"/>
              </a:rPr>
              <a:t>C0</a:t>
            </a:r>
          </a:p>
        </p:txBody>
      </p:sp>
      <p:sp>
        <p:nvSpPr>
          <p:cNvPr id="537" name="C0">
            <a:extLst>
              <a:ext uri="{FF2B5EF4-FFF2-40B4-BE49-F238E27FC236}">
                <a16:creationId xmlns:a16="http://schemas.microsoft.com/office/drawing/2014/main" id="{0BFA08BB-4965-4588-AE75-A5B3509F8BB9}"/>
              </a:ext>
            </a:extLst>
          </p:cNvPr>
          <p:cNvSpPr>
            <a:spLocks noGrp="1"/>
          </p:cNvSpPr>
          <p:nvPr/>
        </p:nvSpPr>
        <p:spPr>
          <a:xfrm>
            <a:off x="3905250" y="2495550"/>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OpenAI Sans" panose="020B0604020202020204" charset="0"/>
                <a:ea typeface="OpenAI Sans" panose="020B0604020202020204" charset="0"/>
                <a:cs typeface="Times New Roman"/>
              </a:rPr>
              <a:t>C0</a:t>
            </a:r>
          </a:p>
        </p:txBody>
      </p:sp>
      <p:sp>
        <p:nvSpPr>
          <p:cNvPr id="538" name="C1">
            <a:extLst>
              <a:ext uri="{FF2B5EF4-FFF2-40B4-BE49-F238E27FC236}">
                <a16:creationId xmlns:a16="http://schemas.microsoft.com/office/drawing/2014/main" id="{68B9F007-3737-455C-BCE6-27DA0AAD7F0A}"/>
              </a:ext>
            </a:extLst>
          </p:cNvPr>
          <p:cNvSpPr>
            <a:spLocks noGrp="1"/>
          </p:cNvSpPr>
          <p:nvPr/>
        </p:nvSpPr>
        <p:spPr>
          <a:xfrm>
            <a:off x="5381625" y="2047875"/>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OpenAI Sans" panose="020B0604020202020204" charset="0"/>
                <a:ea typeface="OpenAI Sans" panose="020B0604020202020204" charset="0"/>
                <a:cs typeface="Times New Roman"/>
              </a:rPr>
              <a:t>C1</a:t>
            </a:r>
          </a:p>
        </p:txBody>
      </p:sp>
      <p:sp>
        <p:nvSpPr>
          <p:cNvPr id="539" name="C1">
            <a:extLst>
              <a:ext uri="{FF2B5EF4-FFF2-40B4-BE49-F238E27FC236}">
                <a16:creationId xmlns:a16="http://schemas.microsoft.com/office/drawing/2014/main" id="{11AA9828-9357-40C6-B606-DA483A915C09}"/>
              </a:ext>
            </a:extLst>
          </p:cNvPr>
          <p:cNvSpPr>
            <a:spLocks noGrp="1"/>
          </p:cNvSpPr>
          <p:nvPr/>
        </p:nvSpPr>
        <p:spPr>
          <a:xfrm>
            <a:off x="3905250" y="3257550"/>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OpenAI Sans" panose="020B0604020202020204" charset="0"/>
                <a:ea typeface="OpenAI Sans" panose="020B0604020202020204" charset="0"/>
                <a:cs typeface="Times New Roman"/>
              </a:rPr>
              <a:t>C1</a:t>
            </a:r>
          </a:p>
        </p:txBody>
      </p:sp>
      <p:sp>
        <p:nvSpPr>
          <p:cNvPr id="540" name="C2">
            <a:extLst>
              <a:ext uri="{FF2B5EF4-FFF2-40B4-BE49-F238E27FC236}">
                <a16:creationId xmlns:a16="http://schemas.microsoft.com/office/drawing/2014/main" id="{D4CAEEDD-C666-4CF9-86EB-DF9B971A624A}"/>
              </a:ext>
            </a:extLst>
          </p:cNvPr>
          <p:cNvSpPr>
            <a:spLocks noGrp="1"/>
          </p:cNvSpPr>
          <p:nvPr/>
        </p:nvSpPr>
        <p:spPr>
          <a:xfrm>
            <a:off x="6143625" y="2047875"/>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OpenAI Sans" panose="020B0604020202020204" charset="0"/>
                <a:ea typeface="OpenAI Sans" panose="020B0604020202020204" charset="0"/>
                <a:cs typeface="Times New Roman"/>
              </a:rPr>
              <a:t>C2</a:t>
            </a:r>
          </a:p>
        </p:txBody>
      </p:sp>
      <p:sp>
        <p:nvSpPr>
          <p:cNvPr id="541" name="C2">
            <a:extLst>
              <a:ext uri="{FF2B5EF4-FFF2-40B4-BE49-F238E27FC236}">
                <a16:creationId xmlns:a16="http://schemas.microsoft.com/office/drawing/2014/main" id="{3633376E-A84D-4CA3-92A7-E9B40D2F7688}"/>
              </a:ext>
            </a:extLst>
          </p:cNvPr>
          <p:cNvSpPr>
            <a:spLocks noGrp="1"/>
          </p:cNvSpPr>
          <p:nvPr/>
        </p:nvSpPr>
        <p:spPr>
          <a:xfrm>
            <a:off x="3905250" y="4019550"/>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OpenAI Sans" panose="020B0604020202020204" charset="0"/>
                <a:ea typeface="OpenAI Sans" panose="020B0604020202020204" charset="0"/>
                <a:cs typeface="Times New Roman"/>
              </a:rPr>
              <a:t>C2</a:t>
            </a:r>
          </a:p>
        </p:txBody>
      </p:sp>
      <p:sp>
        <p:nvSpPr>
          <p:cNvPr id="542" name="C3">
            <a:extLst>
              <a:ext uri="{FF2B5EF4-FFF2-40B4-BE49-F238E27FC236}">
                <a16:creationId xmlns:a16="http://schemas.microsoft.com/office/drawing/2014/main" id="{33BA2BE4-3B94-4104-955A-4DB8302C244E}"/>
              </a:ext>
            </a:extLst>
          </p:cNvPr>
          <p:cNvSpPr>
            <a:spLocks noGrp="1"/>
          </p:cNvSpPr>
          <p:nvPr/>
        </p:nvSpPr>
        <p:spPr>
          <a:xfrm>
            <a:off x="6905625" y="2047875"/>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OpenAI Sans" panose="020B0604020202020204" charset="0"/>
                <a:ea typeface="OpenAI Sans" panose="020B0604020202020204" charset="0"/>
                <a:cs typeface="Times New Roman"/>
              </a:rPr>
              <a:t>C3</a:t>
            </a:r>
          </a:p>
        </p:txBody>
      </p:sp>
      <p:sp>
        <p:nvSpPr>
          <p:cNvPr id="543" name="C3">
            <a:extLst>
              <a:ext uri="{FF2B5EF4-FFF2-40B4-BE49-F238E27FC236}">
                <a16:creationId xmlns:a16="http://schemas.microsoft.com/office/drawing/2014/main" id="{02C74AD8-225B-4A0B-A877-0DAE203E93F9}"/>
              </a:ext>
            </a:extLst>
          </p:cNvPr>
          <p:cNvSpPr>
            <a:spLocks noGrp="1"/>
          </p:cNvSpPr>
          <p:nvPr/>
        </p:nvSpPr>
        <p:spPr>
          <a:xfrm>
            <a:off x="3905250" y="4781550"/>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OpenAI Sans" panose="020B0604020202020204" charset="0"/>
                <a:ea typeface="OpenAI Sans" panose="020B0604020202020204" charset="0"/>
                <a:cs typeface="Times New Roman"/>
              </a:rPr>
              <a:t>C3</a:t>
            </a:r>
          </a:p>
        </p:txBody>
      </p:sp>
      <p:sp>
        <p:nvSpPr>
          <p:cNvPr id="544" name="Rectangle 543">
            <a:extLst>
              <a:ext uri="{FF2B5EF4-FFF2-40B4-BE49-F238E27FC236}">
                <a16:creationId xmlns:a16="http://schemas.microsoft.com/office/drawing/2014/main" id="{3DEA5E1A-4613-49F7-B8A0-358E7FF7FCB9}"/>
              </a:ext>
            </a:extLst>
          </p:cNvPr>
          <p:cNvSpPr>
            <a:spLocks noGrp="1"/>
          </p:cNvSpPr>
          <p:nvPr/>
        </p:nvSpPr>
        <p:spPr>
          <a:xfrm>
            <a:off x="4524375" y="2419350"/>
            <a:ext cx="742950" cy="742950"/>
          </a:xfrm>
          <a:prstGeom prst="rect">
            <a:avLst/>
          </a:prstGeom>
          <a:solidFill>
            <a:srgbClr val="DBEAF7"/>
          </a:solidFill>
          <a:ln w="0">
            <a:noFill/>
          </a:ln>
        </p:spPr>
        <p:txBody>
          <a:bodyPr/>
          <a:lstStyle/>
          <a:p>
            <a:endParaRPr lang="en-US">
              <a:latin typeface="OpenAI Sans" panose="020B0604020202020204" charset="0"/>
              <a:ea typeface="OpenAI Sans" panose="020B0604020202020204" charset="0"/>
            </a:endParaRPr>
          </a:p>
        </p:txBody>
      </p:sp>
      <p:sp>
        <p:nvSpPr>
          <p:cNvPr id="545" name="22">
            <a:extLst>
              <a:ext uri="{FF2B5EF4-FFF2-40B4-BE49-F238E27FC236}">
                <a16:creationId xmlns:a16="http://schemas.microsoft.com/office/drawing/2014/main" id="{224B06EB-448B-4341-BD58-CC805A64390F}"/>
              </a:ext>
            </a:extLst>
          </p:cNvPr>
          <p:cNvSpPr>
            <a:spLocks noGrp="1"/>
          </p:cNvSpPr>
          <p:nvPr/>
        </p:nvSpPr>
        <p:spPr>
          <a:xfrm>
            <a:off x="4533900" y="2628900"/>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OpenAI Sans" panose="020B0604020202020204" charset="0"/>
                <a:ea typeface="OpenAI Sans" panose="020B0604020202020204" charset="0"/>
                <a:cs typeface="Times New Roman"/>
              </a:rPr>
              <a:t>15</a:t>
            </a:r>
          </a:p>
        </p:txBody>
      </p:sp>
      <p:sp>
        <p:nvSpPr>
          <p:cNvPr id="546" name="Rectangle 545">
            <a:extLst>
              <a:ext uri="{FF2B5EF4-FFF2-40B4-BE49-F238E27FC236}">
                <a16:creationId xmlns:a16="http://schemas.microsoft.com/office/drawing/2014/main" id="{9A6CA628-2B6B-45F4-A1E1-EC12939C8BDA}"/>
              </a:ext>
            </a:extLst>
          </p:cNvPr>
          <p:cNvSpPr>
            <a:spLocks noGrp="1"/>
          </p:cNvSpPr>
          <p:nvPr/>
        </p:nvSpPr>
        <p:spPr>
          <a:xfrm>
            <a:off x="5286375" y="2419350"/>
            <a:ext cx="742950" cy="742950"/>
          </a:xfrm>
          <a:prstGeom prst="rect">
            <a:avLst/>
          </a:prstGeom>
          <a:solidFill>
            <a:srgbClr val="F2F2F2"/>
          </a:solidFill>
          <a:ln w="0">
            <a:noFill/>
          </a:ln>
        </p:spPr>
        <p:txBody>
          <a:bodyPr/>
          <a:lstStyle/>
          <a:p>
            <a:endParaRPr lang="en-US">
              <a:latin typeface="OpenAI Sans" panose="020B0604020202020204" charset="0"/>
              <a:ea typeface="OpenAI Sans" panose="020B0604020202020204" charset="0"/>
            </a:endParaRPr>
          </a:p>
        </p:txBody>
      </p:sp>
      <p:sp>
        <p:nvSpPr>
          <p:cNvPr id="547" name="15">
            <a:extLst>
              <a:ext uri="{FF2B5EF4-FFF2-40B4-BE49-F238E27FC236}">
                <a16:creationId xmlns:a16="http://schemas.microsoft.com/office/drawing/2014/main" id="{D82B291B-5ABB-45E2-995B-74DD4CE2AAFF}"/>
              </a:ext>
            </a:extLst>
          </p:cNvPr>
          <p:cNvSpPr>
            <a:spLocks noGrp="1"/>
          </p:cNvSpPr>
          <p:nvPr/>
        </p:nvSpPr>
        <p:spPr>
          <a:xfrm>
            <a:off x="5295900" y="2628900"/>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OpenAI Sans" panose="020B0604020202020204" charset="0"/>
                <a:ea typeface="OpenAI Sans" panose="020B0604020202020204" charset="0"/>
                <a:cs typeface="Times New Roman"/>
              </a:rPr>
              <a:t>11</a:t>
            </a:r>
          </a:p>
        </p:txBody>
      </p:sp>
      <p:sp>
        <p:nvSpPr>
          <p:cNvPr id="548" name="Rectangle 547">
            <a:extLst>
              <a:ext uri="{FF2B5EF4-FFF2-40B4-BE49-F238E27FC236}">
                <a16:creationId xmlns:a16="http://schemas.microsoft.com/office/drawing/2014/main" id="{DC3CD02A-C4A1-48D5-90D8-2DDA5E452255}"/>
              </a:ext>
            </a:extLst>
          </p:cNvPr>
          <p:cNvSpPr>
            <a:spLocks noGrp="1"/>
          </p:cNvSpPr>
          <p:nvPr/>
        </p:nvSpPr>
        <p:spPr>
          <a:xfrm>
            <a:off x="6048375" y="2419350"/>
            <a:ext cx="742950" cy="742950"/>
          </a:xfrm>
          <a:prstGeom prst="rect">
            <a:avLst/>
          </a:prstGeom>
          <a:solidFill>
            <a:srgbClr val="F2F2F2"/>
          </a:solidFill>
          <a:ln w="0">
            <a:noFill/>
          </a:ln>
        </p:spPr>
        <p:txBody>
          <a:bodyPr/>
          <a:lstStyle/>
          <a:p>
            <a:endParaRPr lang="en-US">
              <a:latin typeface="OpenAI Sans" panose="020B0604020202020204" charset="0"/>
              <a:ea typeface="OpenAI Sans" panose="020B0604020202020204" charset="0"/>
            </a:endParaRPr>
          </a:p>
        </p:txBody>
      </p:sp>
      <p:sp>
        <p:nvSpPr>
          <p:cNvPr id="549" name="6">
            <a:extLst>
              <a:ext uri="{FF2B5EF4-FFF2-40B4-BE49-F238E27FC236}">
                <a16:creationId xmlns:a16="http://schemas.microsoft.com/office/drawing/2014/main" id="{661C2EBA-7689-4DAF-A81D-8E0138EF0410}"/>
              </a:ext>
            </a:extLst>
          </p:cNvPr>
          <p:cNvSpPr>
            <a:spLocks noGrp="1"/>
          </p:cNvSpPr>
          <p:nvPr/>
        </p:nvSpPr>
        <p:spPr>
          <a:xfrm>
            <a:off x="6057900" y="2628900"/>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OpenAI Sans" panose="020B0604020202020204" charset="0"/>
                <a:ea typeface="OpenAI Sans" panose="020B0604020202020204" charset="0"/>
                <a:cs typeface="Times New Roman"/>
              </a:rPr>
              <a:t>4</a:t>
            </a:r>
          </a:p>
        </p:txBody>
      </p:sp>
      <p:sp>
        <p:nvSpPr>
          <p:cNvPr id="550" name="Rectangle 549">
            <a:extLst>
              <a:ext uri="{FF2B5EF4-FFF2-40B4-BE49-F238E27FC236}">
                <a16:creationId xmlns:a16="http://schemas.microsoft.com/office/drawing/2014/main" id="{AAE034E4-FD72-4F48-8A82-65F3E96F6671}"/>
              </a:ext>
            </a:extLst>
          </p:cNvPr>
          <p:cNvSpPr>
            <a:spLocks noGrp="1"/>
          </p:cNvSpPr>
          <p:nvPr/>
        </p:nvSpPr>
        <p:spPr>
          <a:xfrm>
            <a:off x="6810375" y="2419350"/>
            <a:ext cx="742950" cy="742950"/>
          </a:xfrm>
          <a:prstGeom prst="rect">
            <a:avLst/>
          </a:prstGeom>
          <a:solidFill>
            <a:srgbClr val="F2F2F2"/>
          </a:solidFill>
          <a:ln w="0">
            <a:noFill/>
          </a:ln>
        </p:spPr>
        <p:txBody>
          <a:bodyPr/>
          <a:lstStyle/>
          <a:p>
            <a:endParaRPr lang="en-US">
              <a:latin typeface="OpenAI Sans" panose="020B0604020202020204" charset="0"/>
              <a:ea typeface="OpenAI Sans" panose="020B0604020202020204" charset="0"/>
            </a:endParaRPr>
          </a:p>
        </p:txBody>
      </p:sp>
      <p:sp>
        <p:nvSpPr>
          <p:cNvPr id="551" name="4">
            <a:extLst>
              <a:ext uri="{FF2B5EF4-FFF2-40B4-BE49-F238E27FC236}">
                <a16:creationId xmlns:a16="http://schemas.microsoft.com/office/drawing/2014/main" id="{7DFA47BA-DC7C-42B2-BA91-1AE445931550}"/>
              </a:ext>
            </a:extLst>
          </p:cNvPr>
          <p:cNvSpPr>
            <a:spLocks noGrp="1"/>
          </p:cNvSpPr>
          <p:nvPr/>
        </p:nvSpPr>
        <p:spPr>
          <a:xfrm>
            <a:off x="6819900" y="2628900"/>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OpenAI Sans" panose="020B0604020202020204" charset="0"/>
                <a:ea typeface="OpenAI Sans" panose="020B0604020202020204" charset="0"/>
                <a:cs typeface="Times New Roman"/>
              </a:rPr>
              <a:t>5</a:t>
            </a:r>
          </a:p>
        </p:txBody>
      </p:sp>
      <p:sp>
        <p:nvSpPr>
          <p:cNvPr id="552" name="Rectangle 551">
            <a:extLst>
              <a:ext uri="{FF2B5EF4-FFF2-40B4-BE49-F238E27FC236}">
                <a16:creationId xmlns:a16="http://schemas.microsoft.com/office/drawing/2014/main" id="{E91F08D7-84BF-4785-9CB0-6D994C5B2F53}"/>
              </a:ext>
            </a:extLst>
          </p:cNvPr>
          <p:cNvSpPr>
            <a:spLocks noGrp="1"/>
          </p:cNvSpPr>
          <p:nvPr/>
        </p:nvSpPr>
        <p:spPr>
          <a:xfrm>
            <a:off x="4524375" y="3181350"/>
            <a:ext cx="742950" cy="742950"/>
          </a:xfrm>
          <a:prstGeom prst="rect">
            <a:avLst/>
          </a:prstGeom>
          <a:solidFill>
            <a:srgbClr val="F2F2F2"/>
          </a:solidFill>
          <a:ln w="0">
            <a:noFill/>
          </a:ln>
        </p:spPr>
        <p:txBody>
          <a:bodyPr/>
          <a:lstStyle/>
          <a:p>
            <a:endParaRPr lang="en-US">
              <a:latin typeface="OpenAI Sans" panose="020B0604020202020204" charset="0"/>
              <a:ea typeface="OpenAI Sans" panose="020B0604020202020204" charset="0"/>
            </a:endParaRPr>
          </a:p>
        </p:txBody>
      </p:sp>
      <p:sp>
        <p:nvSpPr>
          <p:cNvPr id="553" name="8">
            <a:extLst>
              <a:ext uri="{FF2B5EF4-FFF2-40B4-BE49-F238E27FC236}">
                <a16:creationId xmlns:a16="http://schemas.microsoft.com/office/drawing/2014/main" id="{5BE679D5-7A28-4624-8432-A4A800E0B422}"/>
              </a:ext>
            </a:extLst>
          </p:cNvPr>
          <p:cNvSpPr>
            <a:spLocks noGrp="1"/>
          </p:cNvSpPr>
          <p:nvPr/>
        </p:nvSpPr>
        <p:spPr>
          <a:xfrm>
            <a:off x="4533900" y="3390900"/>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OpenAI Sans" panose="020B0604020202020204" charset="0"/>
                <a:ea typeface="OpenAI Sans" panose="020B0604020202020204" charset="0"/>
                <a:cs typeface="Times New Roman"/>
              </a:rPr>
              <a:t>10</a:t>
            </a:r>
          </a:p>
        </p:txBody>
      </p:sp>
      <p:sp>
        <p:nvSpPr>
          <p:cNvPr id="554" name="Rectangle 553">
            <a:extLst>
              <a:ext uri="{FF2B5EF4-FFF2-40B4-BE49-F238E27FC236}">
                <a16:creationId xmlns:a16="http://schemas.microsoft.com/office/drawing/2014/main" id="{FE8647A3-E4D8-4653-B644-F1F8D45BB1A3}"/>
              </a:ext>
            </a:extLst>
          </p:cNvPr>
          <p:cNvSpPr>
            <a:spLocks noGrp="1"/>
          </p:cNvSpPr>
          <p:nvPr/>
        </p:nvSpPr>
        <p:spPr>
          <a:xfrm>
            <a:off x="5286375" y="3181350"/>
            <a:ext cx="742950" cy="742950"/>
          </a:xfrm>
          <a:prstGeom prst="rect">
            <a:avLst/>
          </a:prstGeom>
          <a:solidFill>
            <a:srgbClr val="DBEAF7"/>
          </a:solidFill>
          <a:ln w="0">
            <a:noFill/>
          </a:ln>
        </p:spPr>
        <p:txBody>
          <a:bodyPr/>
          <a:lstStyle/>
          <a:p>
            <a:endParaRPr lang="en-US">
              <a:latin typeface="OpenAI Sans" panose="020B0604020202020204" charset="0"/>
              <a:ea typeface="OpenAI Sans" panose="020B0604020202020204" charset="0"/>
            </a:endParaRPr>
          </a:p>
        </p:txBody>
      </p:sp>
      <p:sp>
        <p:nvSpPr>
          <p:cNvPr id="555" name="31">
            <a:extLst>
              <a:ext uri="{FF2B5EF4-FFF2-40B4-BE49-F238E27FC236}">
                <a16:creationId xmlns:a16="http://schemas.microsoft.com/office/drawing/2014/main" id="{B833342E-AD57-46FF-BE11-70D2A80EF902}"/>
              </a:ext>
            </a:extLst>
          </p:cNvPr>
          <p:cNvSpPr>
            <a:spLocks noGrp="1"/>
          </p:cNvSpPr>
          <p:nvPr/>
        </p:nvSpPr>
        <p:spPr>
          <a:xfrm>
            <a:off x="5295900" y="3390900"/>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OpenAI Sans" panose="020B0604020202020204" charset="0"/>
                <a:ea typeface="OpenAI Sans" panose="020B0604020202020204" charset="0"/>
                <a:cs typeface="Times New Roman"/>
              </a:rPr>
              <a:t>35</a:t>
            </a:r>
          </a:p>
        </p:txBody>
      </p:sp>
      <p:sp>
        <p:nvSpPr>
          <p:cNvPr id="556" name="Rectangle 555">
            <a:extLst>
              <a:ext uri="{FF2B5EF4-FFF2-40B4-BE49-F238E27FC236}">
                <a16:creationId xmlns:a16="http://schemas.microsoft.com/office/drawing/2014/main" id="{C4D62EB5-3748-4BAF-85C2-CF4EE1D5F31A}"/>
              </a:ext>
            </a:extLst>
          </p:cNvPr>
          <p:cNvSpPr>
            <a:spLocks noGrp="1"/>
          </p:cNvSpPr>
          <p:nvPr/>
        </p:nvSpPr>
        <p:spPr>
          <a:xfrm>
            <a:off x="6048375" y="3181350"/>
            <a:ext cx="742950" cy="742950"/>
          </a:xfrm>
          <a:prstGeom prst="rect">
            <a:avLst/>
          </a:prstGeom>
          <a:solidFill>
            <a:srgbClr val="F2F2F2"/>
          </a:solidFill>
          <a:ln w="0">
            <a:noFill/>
          </a:ln>
        </p:spPr>
        <p:txBody>
          <a:bodyPr/>
          <a:lstStyle/>
          <a:p>
            <a:endParaRPr lang="en-US">
              <a:latin typeface="OpenAI Sans" panose="020B0604020202020204" charset="0"/>
              <a:ea typeface="OpenAI Sans" panose="020B0604020202020204" charset="0"/>
            </a:endParaRPr>
          </a:p>
        </p:txBody>
      </p:sp>
      <p:sp>
        <p:nvSpPr>
          <p:cNvPr id="557" name="15">
            <a:extLst>
              <a:ext uri="{FF2B5EF4-FFF2-40B4-BE49-F238E27FC236}">
                <a16:creationId xmlns:a16="http://schemas.microsoft.com/office/drawing/2014/main" id="{A822F886-B0D3-4B8B-B67D-457F7AE19F71}"/>
              </a:ext>
            </a:extLst>
          </p:cNvPr>
          <p:cNvSpPr>
            <a:spLocks noGrp="1"/>
          </p:cNvSpPr>
          <p:nvPr/>
        </p:nvSpPr>
        <p:spPr>
          <a:xfrm>
            <a:off x="6057900" y="3390900"/>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OpenAI Sans" panose="020B0604020202020204" charset="0"/>
                <a:ea typeface="OpenAI Sans" panose="020B0604020202020204" charset="0"/>
                <a:cs typeface="Times New Roman"/>
              </a:rPr>
              <a:t>20</a:t>
            </a:r>
          </a:p>
        </p:txBody>
      </p:sp>
      <p:sp>
        <p:nvSpPr>
          <p:cNvPr id="558" name="Rectangle 557">
            <a:extLst>
              <a:ext uri="{FF2B5EF4-FFF2-40B4-BE49-F238E27FC236}">
                <a16:creationId xmlns:a16="http://schemas.microsoft.com/office/drawing/2014/main" id="{9F6E432E-87BC-4EB3-A695-CD36BC5A01CE}"/>
              </a:ext>
            </a:extLst>
          </p:cNvPr>
          <p:cNvSpPr>
            <a:spLocks noGrp="1"/>
          </p:cNvSpPr>
          <p:nvPr/>
        </p:nvSpPr>
        <p:spPr>
          <a:xfrm>
            <a:off x="6810375" y="3181350"/>
            <a:ext cx="742950" cy="742950"/>
          </a:xfrm>
          <a:prstGeom prst="rect">
            <a:avLst/>
          </a:prstGeom>
          <a:solidFill>
            <a:srgbClr val="F2F2F2"/>
          </a:solidFill>
          <a:ln w="0">
            <a:noFill/>
          </a:ln>
        </p:spPr>
        <p:txBody>
          <a:bodyPr/>
          <a:lstStyle/>
          <a:p>
            <a:endParaRPr lang="en-US">
              <a:latin typeface="OpenAI Sans" panose="020B0604020202020204" charset="0"/>
              <a:ea typeface="OpenAI Sans" panose="020B0604020202020204" charset="0"/>
            </a:endParaRPr>
          </a:p>
        </p:txBody>
      </p:sp>
      <p:sp>
        <p:nvSpPr>
          <p:cNvPr id="559" name="10">
            <a:extLst>
              <a:ext uri="{FF2B5EF4-FFF2-40B4-BE49-F238E27FC236}">
                <a16:creationId xmlns:a16="http://schemas.microsoft.com/office/drawing/2014/main" id="{9399365C-40D0-4885-A0C1-EE22ABB8AFBF}"/>
              </a:ext>
            </a:extLst>
          </p:cNvPr>
          <p:cNvSpPr>
            <a:spLocks noGrp="1"/>
          </p:cNvSpPr>
          <p:nvPr/>
        </p:nvSpPr>
        <p:spPr>
          <a:xfrm>
            <a:off x="6819900" y="3390900"/>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OpenAI Sans" panose="020B0604020202020204" charset="0"/>
                <a:ea typeface="OpenAI Sans" panose="020B0604020202020204" charset="0"/>
                <a:cs typeface="Times New Roman"/>
              </a:rPr>
              <a:t>1</a:t>
            </a:r>
          </a:p>
        </p:txBody>
      </p:sp>
      <p:sp>
        <p:nvSpPr>
          <p:cNvPr id="560" name="Rectangle 559">
            <a:extLst>
              <a:ext uri="{FF2B5EF4-FFF2-40B4-BE49-F238E27FC236}">
                <a16:creationId xmlns:a16="http://schemas.microsoft.com/office/drawing/2014/main" id="{64F8F8F5-EB1B-4829-8AA3-6169D47DCC2E}"/>
              </a:ext>
            </a:extLst>
          </p:cNvPr>
          <p:cNvSpPr>
            <a:spLocks noGrp="1"/>
          </p:cNvSpPr>
          <p:nvPr/>
        </p:nvSpPr>
        <p:spPr>
          <a:xfrm>
            <a:off x="4524375" y="3943350"/>
            <a:ext cx="742950" cy="742950"/>
          </a:xfrm>
          <a:prstGeom prst="rect">
            <a:avLst/>
          </a:prstGeom>
          <a:solidFill>
            <a:srgbClr val="F2F2F2"/>
          </a:solidFill>
          <a:ln w="0">
            <a:noFill/>
          </a:ln>
        </p:spPr>
        <p:txBody>
          <a:bodyPr/>
          <a:lstStyle/>
          <a:p>
            <a:endParaRPr lang="en-US">
              <a:latin typeface="OpenAI Sans" panose="020B0604020202020204" charset="0"/>
              <a:ea typeface="OpenAI Sans" panose="020B0604020202020204" charset="0"/>
            </a:endParaRPr>
          </a:p>
        </p:txBody>
      </p:sp>
      <p:sp>
        <p:nvSpPr>
          <p:cNvPr id="561" name="7">
            <a:extLst>
              <a:ext uri="{FF2B5EF4-FFF2-40B4-BE49-F238E27FC236}">
                <a16:creationId xmlns:a16="http://schemas.microsoft.com/office/drawing/2014/main" id="{A2215DC9-9298-4EB4-A991-DFD936B68D4C}"/>
              </a:ext>
            </a:extLst>
          </p:cNvPr>
          <p:cNvSpPr>
            <a:spLocks noGrp="1"/>
          </p:cNvSpPr>
          <p:nvPr/>
        </p:nvSpPr>
        <p:spPr>
          <a:xfrm>
            <a:off x="4533900" y="4152900"/>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OpenAI Sans" panose="020B0604020202020204" charset="0"/>
                <a:ea typeface="OpenAI Sans" panose="020B0604020202020204" charset="0"/>
                <a:cs typeface="Times New Roman"/>
              </a:rPr>
              <a:t>1</a:t>
            </a:r>
          </a:p>
        </p:txBody>
      </p:sp>
      <p:sp>
        <p:nvSpPr>
          <p:cNvPr id="562" name="Rectangle 561">
            <a:extLst>
              <a:ext uri="{FF2B5EF4-FFF2-40B4-BE49-F238E27FC236}">
                <a16:creationId xmlns:a16="http://schemas.microsoft.com/office/drawing/2014/main" id="{4011E8A7-D942-4B70-B71A-5F086E1E43AB}"/>
              </a:ext>
            </a:extLst>
          </p:cNvPr>
          <p:cNvSpPr>
            <a:spLocks noGrp="1"/>
          </p:cNvSpPr>
          <p:nvPr/>
        </p:nvSpPr>
        <p:spPr>
          <a:xfrm>
            <a:off x="5286375" y="3943350"/>
            <a:ext cx="742950" cy="742950"/>
          </a:xfrm>
          <a:prstGeom prst="rect">
            <a:avLst/>
          </a:prstGeom>
          <a:solidFill>
            <a:srgbClr val="F2F2F2"/>
          </a:solidFill>
          <a:ln w="0">
            <a:noFill/>
          </a:ln>
        </p:spPr>
        <p:txBody>
          <a:bodyPr/>
          <a:lstStyle/>
          <a:p>
            <a:endParaRPr lang="en-US">
              <a:latin typeface="OpenAI Sans" panose="020B0604020202020204" charset="0"/>
              <a:ea typeface="OpenAI Sans" panose="020B0604020202020204" charset="0"/>
            </a:endParaRPr>
          </a:p>
        </p:txBody>
      </p:sp>
      <p:sp>
        <p:nvSpPr>
          <p:cNvPr id="563" name="15">
            <a:extLst>
              <a:ext uri="{FF2B5EF4-FFF2-40B4-BE49-F238E27FC236}">
                <a16:creationId xmlns:a16="http://schemas.microsoft.com/office/drawing/2014/main" id="{B87AC660-6FAE-4489-BA03-63B04FD0F69A}"/>
              </a:ext>
            </a:extLst>
          </p:cNvPr>
          <p:cNvSpPr>
            <a:spLocks noGrp="1"/>
          </p:cNvSpPr>
          <p:nvPr/>
        </p:nvSpPr>
        <p:spPr>
          <a:xfrm>
            <a:off x="5295900" y="4152900"/>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OpenAI Sans" panose="020B0604020202020204" charset="0"/>
                <a:ea typeface="OpenAI Sans" panose="020B0604020202020204" charset="0"/>
                <a:cs typeface="Times New Roman"/>
              </a:rPr>
              <a:t>10</a:t>
            </a:r>
          </a:p>
        </p:txBody>
      </p:sp>
      <p:sp>
        <p:nvSpPr>
          <p:cNvPr id="564" name="Rectangle 563">
            <a:extLst>
              <a:ext uri="{FF2B5EF4-FFF2-40B4-BE49-F238E27FC236}">
                <a16:creationId xmlns:a16="http://schemas.microsoft.com/office/drawing/2014/main" id="{E08700BC-EC30-4F22-8D0D-BC68EC300F95}"/>
              </a:ext>
            </a:extLst>
          </p:cNvPr>
          <p:cNvSpPr>
            <a:spLocks noGrp="1"/>
          </p:cNvSpPr>
          <p:nvPr/>
        </p:nvSpPr>
        <p:spPr>
          <a:xfrm>
            <a:off x="6048375" y="3943350"/>
            <a:ext cx="742950" cy="742950"/>
          </a:xfrm>
          <a:prstGeom prst="rect">
            <a:avLst/>
          </a:prstGeom>
          <a:solidFill>
            <a:srgbClr val="DBEAF7"/>
          </a:solidFill>
          <a:ln w="0">
            <a:noFill/>
          </a:ln>
        </p:spPr>
        <p:txBody>
          <a:bodyPr/>
          <a:lstStyle/>
          <a:p>
            <a:endParaRPr lang="en-US">
              <a:latin typeface="OpenAI Sans" panose="020B0604020202020204" charset="0"/>
              <a:ea typeface="OpenAI Sans" panose="020B0604020202020204" charset="0"/>
            </a:endParaRPr>
          </a:p>
        </p:txBody>
      </p:sp>
      <p:sp>
        <p:nvSpPr>
          <p:cNvPr id="565" name="29">
            <a:extLst>
              <a:ext uri="{FF2B5EF4-FFF2-40B4-BE49-F238E27FC236}">
                <a16:creationId xmlns:a16="http://schemas.microsoft.com/office/drawing/2014/main" id="{E055F965-D75C-4542-B28A-7517BB18657F}"/>
              </a:ext>
            </a:extLst>
          </p:cNvPr>
          <p:cNvSpPr>
            <a:spLocks noGrp="1"/>
          </p:cNvSpPr>
          <p:nvPr/>
        </p:nvSpPr>
        <p:spPr>
          <a:xfrm>
            <a:off x="6057900" y="4152900"/>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OpenAI Sans" panose="020B0604020202020204" charset="0"/>
                <a:ea typeface="OpenAI Sans" panose="020B0604020202020204" charset="0"/>
                <a:cs typeface="Times New Roman"/>
              </a:rPr>
              <a:t>18</a:t>
            </a:r>
          </a:p>
        </p:txBody>
      </p:sp>
      <p:sp>
        <p:nvSpPr>
          <p:cNvPr id="566" name="Rectangle 565">
            <a:extLst>
              <a:ext uri="{FF2B5EF4-FFF2-40B4-BE49-F238E27FC236}">
                <a16:creationId xmlns:a16="http://schemas.microsoft.com/office/drawing/2014/main" id="{BEB89D73-8E57-4D8E-86DE-96113D03BA08}"/>
              </a:ext>
            </a:extLst>
          </p:cNvPr>
          <p:cNvSpPr>
            <a:spLocks noGrp="1"/>
          </p:cNvSpPr>
          <p:nvPr/>
        </p:nvSpPr>
        <p:spPr>
          <a:xfrm>
            <a:off x="6810375" y="3943350"/>
            <a:ext cx="742950" cy="742950"/>
          </a:xfrm>
          <a:prstGeom prst="rect">
            <a:avLst/>
          </a:prstGeom>
          <a:solidFill>
            <a:srgbClr val="F2F2F2"/>
          </a:solidFill>
          <a:ln w="0">
            <a:noFill/>
          </a:ln>
        </p:spPr>
        <p:txBody>
          <a:bodyPr/>
          <a:lstStyle/>
          <a:p>
            <a:endParaRPr lang="en-US">
              <a:latin typeface="OpenAI Sans" panose="020B0604020202020204" charset="0"/>
              <a:ea typeface="OpenAI Sans" panose="020B0604020202020204" charset="0"/>
            </a:endParaRPr>
          </a:p>
        </p:txBody>
      </p:sp>
      <p:sp>
        <p:nvSpPr>
          <p:cNvPr id="567" name="9">
            <a:extLst>
              <a:ext uri="{FF2B5EF4-FFF2-40B4-BE49-F238E27FC236}">
                <a16:creationId xmlns:a16="http://schemas.microsoft.com/office/drawing/2014/main" id="{4E8B27D2-C8F6-496C-B891-0B60C28A7BB1}"/>
              </a:ext>
            </a:extLst>
          </p:cNvPr>
          <p:cNvSpPr>
            <a:spLocks noGrp="1"/>
          </p:cNvSpPr>
          <p:nvPr/>
        </p:nvSpPr>
        <p:spPr>
          <a:xfrm>
            <a:off x="6819900" y="4152900"/>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OpenAI Sans" panose="020B0604020202020204" charset="0"/>
                <a:ea typeface="OpenAI Sans" panose="020B0604020202020204" charset="0"/>
                <a:cs typeface="Times New Roman"/>
              </a:rPr>
              <a:t>17</a:t>
            </a:r>
          </a:p>
        </p:txBody>
      </p:sp>
      <p:sp>
        <p:nvSpPr>
          <p:cNvPr id="568" name="Rectangle 567">
            <a:extLst>
              <a:ext uri="{FF2B5EF4-FFF2-40B4-BE49-F238E27FC236}">
                <a16:creationId xmlns:a16="http://schemas.microsoft.com/office/drawing/2014/main" id="{1F29AC85-CEBB-43F3-8DD2-DCA69226707C}"/>
              </a:ext>
            </a:extLst>
          </p:cNvPr>
          <p:cNvSpPr>
            <a:spLocks noGrp="1"/>
          </p:cNvSpPr>
          <p:nvPr/>
        </p:nvSpPr>
        <p:spPr>
          <a:xfrm>
            <a:off x="4524375" y="4705350"/>
            <a:ext cx="742950" cy="742950"/>
          </a:xfrm>
          <a:prstGeom prst="rect">
            <a:avLst/>
          </a:prstGeom>
          <a:solidFill>
            <a:srgbClr val="F2F2F2"/>
          </a:solidFill>
          <a:ln w="0">
            <a:noFill/>
          </a:ln>
        </p:spPr>
        <p:txBody>
          <a:bodyPr/>
          <a:lstStyle/>
          <a:p>
            <a:endParaRPr lang="en-US">
              <a:latin typeface="OpenAI Sans" panose="020B0604020202020204" charset="0"/>
              <a:ea typeface="OpenAI Sans" panose="020B0604020202020204" charset="0"/>
            </a:endParaRPr>
          </a:p>
        </p:txBody>
      </p:sp>
      <p:sp>
        <p:nvSpPr>
          <p:cNvPr id="569" name="3">
            <a:extLst>
              <a:ext uri="{FF2B5EF4-FFF2-40B4-BE49-F238E27FC236}">
                <a16:creationId xmlns:a16="http://schemas.microsoft.com/office/drawing/2014/main" id="{FFA2081E-D0F7-4992-AE34-E350B10216D9}"/>
              </a:ext>
            </a:extLst>
          </p:cNvPr>
          <p:cNvSpPr>
            <a:spLocks noGrp="1"/>
          </p:cNvSpPr>
          <p:nvPr/>
        </p:nvSpPr>
        <p:spPr>
          <a:xfrm>
            <a:off x="4533900" y="4914900"/>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OpenAI Sans" panose="020B0604020202020204" charset="0"/>
                <a:ea typeface="OpenAI Sans" panose="020B0604020202020204" charset="0"/>
                <a:cs typeface="Times New Roman"/>
              </a:rPr>
              <a:t>2</a:t>
            </a:r>
          </a:p>
        </p:txBody>
      </p:sp>
      <p:sp>
        <p:nvSpPr>
          <p:cNvPr id="570" name="Rectangle 569">
            <a:extLst>
              <a:ext uri="{FF2B5EF4-FFF2-40B4-BE49-F238E27FC236}">
                <a16:creationId xmlns:a16="http://schemas.microsoft.com/office/drawing/2014/main" id="{E8F86C4B-C122-4D3F-9C14-9E26C10611B3}"/>
              </a:ext>
            </a:extLst>
          </p:cNvPr>
          <p:cNvSpPr>
            <a:spLocks noGrp="1"/>
          </p:cNvSpPr>
          <p:nvPr/>
        </p:nvSpPr>
        <p:spPr>
          <a:xfrm>
            <a:off x="5286375" y="4705350"/>
            <a:ext cx="742950" cy="742950"/>
          </a:xfrm>
          <a:prstGeom prst="rect">
            <a:avLst/>
          </a:prstGeom>
          <a:solidFill>
            <a:srgbClr val="F2F2F2"/>
          </a:solidFill>
          <a:ln w="0">
            <a:noFill/>
          </a:ln>
        </p:spPr>
        <p:txBody>
          <a:bodyPr/>
          <a:lstStyle/>
          <a:p>
            <a:endParaRPr lang="en-US">
              <a:latin typeface="OpenAI Sans" panose="020B0604020202020204" charset="0"/>
              <a:ea typeface="OpenAI Sans" panose="020B0604020202020204" charset="0"/>
            </a:endParaRPr>
          </a:p>
        </p:txBody>
      </p:sp>
      <p:sp>
        <p:nvSpPr>
          <p:cNvPr id="571" name="11">
            <a:extLst>
              <a:ext uri="{FF2B5EF4-FFF2-40B4-BE49-F238E27FC236}">
                <a16:creationId xmlns:a16="http://schemas.microsoft.com/office/drawing/2014/main" id="{4BDAA861-5F1F-4ADD-8392-6EE98E1A018C}"/>
              </a:ext>
            </a:extLst>
          </p:cNvPr>
          <p:cNvSpPr>
            <a:spLocks noGrp="1"/>
          </p:cNvSpPr>
          <p:nvPr/>
        </p:nvSpPr>
        <p:spPr>
          <a:xfrm>
            <a:off x="5295900" y="4914900"/>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OpenAI Sans" panose="020B0604020202020204" charset="0"/>
                <a:ea typeface="OpenAI Sans" panose="020B0604020202020204" charset="0"/>
                <a:cs typeface="Times New Roman"/>
              </a:rPr>
              <a:t>0</a:t>
            </a:r>
          </a:p>
        </p:txBody>
      </p:sp>
      <p:sp>
        <p:nvSpPr>
          <p:cNvPr id="572" name="Rectangle 571">
            <a:extLst>
              <a:ext uri="{FF2B5EF4-FFF2-40B4-BE49-F238E27FC236}">
                <a16:creationId xmlns:a16="http://schemas.microsoft.com/office/drawing/2014/main" id="{30E8E8AF-CCAE-4C9C-8B73-8341C0462CFC}"/>
              </a:ext>
            </a:extLst>
          </p:cNvPr>
          <p:cNvSpPr>
            <a:spLocks noGrp="1"/>
          </p:cNvSpPr>
          <p:nvPr/>
        </p:nvSpPr>
        <p:spPr>
          <a:xfrm>
            <a:off x="6048375" y="4705350"/>
            <a:ext cx="742950" cy="742950"/>
          </a:xfrm>
          <a:prstGeom prst="rect">
            <a:avLst/>
          </a:prstGeom>
          <a:solidFill>
            <a:srgbClr val="F2F2F2"/>
          </a:solidFill>
          <a:ln w="0">
            <a:noFill/>
          </a:ln>
        </p:spPr>
        <p:txBody>
          <a:bodyPr/>
          <a:lstStyle/>
          <a:p>
            <a:endParaRPr lang="en-US">
              <a:latin typeface="OpenAI Sans" panose="020B0604020202020204" charset="0"/>
              <a:ea typeface="OpenAI Sans" panose="020B0604020202020204" charset="0"/>
            </a:endParaRPr>
          </a:p>
        </p:txBody>
      </p:sp>
      <p:sp>
        <p:nvSpPr>
          <p:cNvPr id="573" name="8">
            <a:extLst>
              <a:ext uri="{FF2B5EF4-FFF2-40B4-BE49-F238E27FC236}">
                <a16:creationId xmlns:a16="http://schemas.microsoft.com/office/drawing/2014/main" id="{E6D1C492-E574-4A52-837C-FFCEA1B0A847}"/>
              </a:ext>
            </a:extLst>
          </p:cNvPr>
          <p:cNvSpPr>
            <a:spLocks noGrp="1"/>
          </p:cNvSpPr>
          <p:nvPr/>
        </p:nvSpPr>
        <p:spPr>
          <a:xfrm>
            <a:off x="6057900" y="4914900"/>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OpenAI Sans" panose="020B0604020202020204" charset="0"/>
                <a:ea typeface="OpenAI Sans" panose="020B0604020202020204" charset="0"/>
                <a:cs typeface="Times New Roman"/>
              </a:rPr>
              <a:t>9</a:t>
            </a:r>
          </a:p>
        </p:txBody>
      </p:sp>
      <p:sp>
        <p:nvSpPr>
          <p:cNvPr id="574" name="Rectangle 573">
            <a:extLst>
              <a:ext uri="{FF2B5EF4-FFF2-40B4-BE49-F238E27FC236}">
                <a16:creationId xmlns:a16="http://schemas.microsoft.com/office/drawing/2014/main" id="{A884B5B1-E26D-4A60-83F5-3CFA9D31F593}"/>
              </a:ext>
            </a:extLst>
          </p:cNvPr>
          <p:cNvSpPr>
            <a:spLocks noGrp="1"/>
          </p:cNvSpPr>
          <p:nvPr/>
        </p:nvSpPr>
        <p:spPr>
          <a:xfrm>
            <a:off x="6810375" y="4705350"/>
            <a:ext cx="742950" cy="742950"/>
          </a:xfrm>
          <a:prstGeom prst="rect">
            <a:avLst/>
          </a:prstGeom>
          <a:solidFill>
            <a:srgbClr val="DBEAF7"/>
          </a:solidFill>
          <a:ln w="0">
            <a:noFill/>
          </a:ln>
        </p:spPr>
        <p:txBody>
          <a:bodyPr/>
          <a:lstStyle/>
          <a:p>
            <a:endParaRPr lang="en-US">
              <a:latin typeface="OpenAI Sans" panose="020B0604020202020204" charset="0"/>
              <a:ea typeface="OpenAI Sans" panose="020B0604020202020204" charset="0"/>
            </a:endParaRPr>
          </a:p>
        </p:txBody>
      </p:sp>
      <p:sp>
        <p:nvSpPr>
          <p:cNvPr id="575" name="28">
            <a:extLst>
              <a:ext uri="{FF2B5EF4-FFF2-40B4-BE49-F238E27FC236}">
                <a16:creationId xmlns:a16="http://schemas.microsoft.com/office/drawing/2014/main" id="{C77C9DE1-EA68-4295-AB28-B83DF1AE7A34}"/>
              </a:ext>
            </a:extLst>
          </p:cNvPr>
          <p:cNvSpPr>
            <a:spLocks noGrp="1"/>
          </p:cNvSpPr>
          <p:nvPr/>
        </p:nvSpPr>
        <p:spPr>
          <a:xfrm>
            <a:off x="6819900" y="4914900"/>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OpenAI Sans" panose="020B0604020202020204" charset="0"/>
                <a:ea typeface="OpenAI Sans" panose="020B0604020202020204" charset="0"/>
                <a:cs typeface="Times New Roman"/>
              </a:rPr>
              <a:t>26</a:t>
            </a:r>
          </a:p>
        </p:txBody>
      </p:sp>
      <p:sp>
        <p:nvSpPr>
          <p:cNvPr id="576" name="C0  &lt; 3.20&#10;C1  3.20–3.49&#10;C2  3.50–3.74&#10;C3  ≥ 3.75">
            <a:extLst>
              <a:ext uri="{FF2B5EF4-FFF2-40B4-BE49-F238E27FC236}">
                <a16:creationId xmlns:a16="http://schemas.microsoft.com/office/drawing/2014/main" id="{535EE8C2-4DFB-4CD7-B1AC-773F48E1187F}"/>
              </a:ext>
            </a:extLst>
          </p:cNvPr>
          <p:cNvSpPr>
            <a:spLocks noGrp="1"/>
          </p:cNvSpPr>
          <p:nvPr/>
        </p:nvSpPr>
        <p:spPr>
          <a:xfrm>
            <a:off x="400050" y="2438400"/>
            <a:ext cx="3143250" cy="2190750"/>
          </a:xfrm>
          <a:prstGeom prst="rect">
            <a:avLst/>
          </a:prstGeom>
          <a:noFill/>
          <a:ln w="0">
            <a:noFill/>
          </a:ln>
        </p:spPr>
        <p:txBody>
          <a:bodyPr anchor="t">
            <a:noAutofit/>
          </a:bodyPr>
          <a:lstStyle/>
          <a:p>
            <a:pPr>
              <a:defRPr sz="2100" b="0">
                <a:solidFill>
                  <a:srgbClr val="121212"/>
                </a:solidFill>
                <a:latin typeface="Times New Roman"/>
                <a:ea typeface="Times New Roman"/>
                <a:cs typeface="Times New Roman"/>
              </a:defRPr>
            </a:pPr>
            <a:r>
              <a:rPr sz="2100" b="0">
                <a:solidFill>
                  <a:srgbClr val="121212"/>
                </a:solidFill>
                <a:latin typeface="OpenAI Sans" panose="020B0604020202020204" charset="0"/>
                <a:ea typeface="OpenAI Sans" panose="020B0604020202020204" charset="0"/>
                <a:cs typeface="Times New Roman"/>
              </a:rPr>
              <a:t>C0  &lt; 3.20</a:t>
            </a:r>
          </a:p>
          <a:p>
            <a:pPr>
              <a:defRPr sz="2100" b="0">
                <a:solidFill>
                  <a:srgbClr val="121212"/>
                </a:solidFill>
                <a:latin typeface="Times New Roman"/>
                <a:ea typeface="Times New Roman"/>
                <a:cs typeface="Times New Roman"/>
              </a:defRPr>
            </a:pPr>
            <a:r>
              <a:rPr sz="2100" b="0">
                <a:solidFill>
                  <a:srgbClr val="121212"/>
                </a:solidFill>
                <a:latin typeface="OpenAI Sans" panose="020B0604020202020204" charset="0"/>
                <a:ea typeface="OpenAI Sans" panose="020B0604020202020204" charset="0"/>
                <a:cs typeface="Times New Roman"/>
              </a:rPr>
              <a:t>C1  3.20–3.49</a:t>
            </a:r>
          </a:p>
          <a:p>
            <a:pPr>
              <a:defRPr sz="2100" b="0">
                <a:solidFill>
                  <a:srgbClr val="121212"/>
                </a:solidFill>
                <a:latin typeface="Times New Roman"/>
                <a:ea typeface="Times New Roman"/>
                <a:cs typeface="Times New Roman"/>
              </a:defRPr>
            </a:pPr>
            <a:r>
              <a:rPr sz="2100" b="0">
                <a:solidFill>
                  <a:srgbClr val="121212"/>
                </a:solidFill>
                <a:latin typeface="OpenAI Sans" panose="020B0604020202020204" charset="0"/>
                <a:ea typeface="OpenAI Sans" panose="020B0604020202020204" charset="0"/>
                <a:cs typeface="Times New Roman"/>
              </a:rPr>
              <a:t>C2  3.50–3.74</a:t>
            </a:r>
          </a:p>
          <a:p>
            <a:pPr>
              <a:defRPr sz="2100" b="0">
                <a:solidFill>
                  <a:srgbClr val="121212"/>
                </a:solidFill>
                <a:latin typeface="Times New Roman"/>
                <a:ea typeface="Times New Roman"/>
                <a:cs typeface="Times New Roman"/>
              </a:defRPr>
            </a:pPr>
            <a:r>
              <a:rPr sz="2100" b="0">
                <a:solidFill>
                  <a:srgbClr val="121212"/>
                </a:solidFill>
                <a:latin typeface="OpenAI Sans" panose="020B0604020202020204" charset="0"/>
                <a:ea typeface="OpenAI Sans" panose="020B0604020202020204" charset="0"/>
                <a:cs typeface="Times New Roman"/>
              </a:rPr>
              <a:t>C3  ≥ 3.75</a:t>
            </a:r>
          </a:p>
        </p:txBody>
      </p:sp>
      <p:sp>
        <p:nvSpPr>
          <p:cNvPr id="577" name="Rows = actual class. Columns = predicted class. Blue ce">
            <a:extLst>
              <a:ext uri="{FF2B5EF4-FFF2-40B4-BE49-F238E27FC236}">
                <a16:creationId xmlns:a16="http://schemas.microsoft.com/office/drawing/2014/main" id="{5C5F3199-13B0-4449-A726-1F31AE21599F}"/>
              </a:ext>
            </a:extLst>
          </p:cNvPr>
          <p:cNvSpPr>
            <a:spLocks noGrp="1"/>
          </p:cNvSpPr>
          <p:nvPr/>
        </p:nvSpPr>
        <p:spPr>
          <a:xfrm>
            <a:off x="400050" y="6057900"/>
            <a:ext cx="11049000" cy="285750"/>
          </a:xfrm>
          <a:prstGeom prst="rect">
            <a:avLst/>
          </a:prstGeom>
          <a:noFill/>
          <a:ln w="0">
            <a:noFill/>
          </a:ln>
        </p:spPr>
        <p:txBody>
          <a:bodyPr anchor="t">
            <a:noAutofit/>
          </a:bodyPr>
          <a:lstStyle/>
          <a:p>
            <a:pPr>
              <a:defRPr sz="1275" b="0">
                <a:solidFill>
                  <a:srgbClr val="585858"/>
                </a:solidFill>
                <a:latin typeface="Times New Roman"/>
                <a:ea typeface="Times New Roman"/>
                <a:cs typeface="Times New Roman"/>
              </a:defRPr>
            </a:pPr>
            <a:r>
              <a:rPr sz="1275" b="0">
                <a:solidFill>
                  <a:srgbClr val="585858"/>
                </a:solidFill>
                <a:latin typeface="OpenAI Sans" panose="020B0604020202020204" charset="0"/>
                <a:ea typeface="OpenAI Sans" panose="020B0604020202020204" charset="0"/>
                <a:cs typeface="Times New Roman"/>
              </a:rPr>
              <a:t>Rows = actual class. Columns = predicted class. Blue cells are correct predictions.</a:t>
            </a:r>
          </a:p>
        </p:txBody>
      </p:sp>
    </p:spTree>
    <p:extLst>
      <p:ext uri="{BB962C8B-B14F-4D97-AF65-F5344CB8AC3E}">
        <p14:creationId xmlns:p14="http://schemas.microsoft.com/office/powerpoint/2010/main" val="127142836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8087D4-A63C-7019-8801-ADAF2843965B}"/>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8E40B329-AA74-09AB-2BFC-9B1FDE94C4C9}"/>
              </a:ext>
            </a:extLst>
          </p:cNvPr>
          <p:cNvPicPr>
            <a:picLocks noChangeAspect="1"/>
          </p:cNvPicPr>
          <p:nvPr/>
        </p:nvPicPr>
        <p:blipFill>
          <a:blip r:embed="rId3"/>
          <a:stretch>
            <a:fillRect/>
          </a:stretch>
        </p:blipFill>
        <p:spPr>
          <a:xfrm>
            <a:off x="4667250" y="0"/>
            <a:ext cx="7538677" cy="6858000"/>
          </a:xfrm>
          <a:prstGeom prst="rect">
            <a:avLst/>
          </a:prstGeom>
        </p:spPr>
      </p:pic>
      <p:sp>
        <p:nvSpPr>
          <p:cNvPr id="5" name="Google Shape;532;p58">
            <a:extLst>
              <a:ext uri="{FF2B5EF4-FFF2-40B4-BE49-F238E27FC236}">
                <a16:creationId xmlns:a16="http://schemas.microsoft.com/office/drawing/2014/main" id="{F3F8A595-33CC-C91D-B4C0-CD17DF400115}"/>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sz="1000" dirty="0">
                <a:latin typeface="Times New Roman"/>
                <a:ea typeface="Times New Roman"/>
                <a:cs typeface="Times New Roman"/>
              </a:rPr>
              <a:t>45</a:t>
            </a:r>
          </a:p>
        </p:txBody>
      </p:sp>
      <p:sp>
        <p:nvSpPr>
          <p:cNvPr id="7" name="Google Shape;533;p58">
            <a:extLst>
              <a:ext uri="{FF2B5EF4-FFF2-40B4-BE49-F238E27FC236}">
                <a16:creationId xmlns:a16="http://schemas.microsoft.com/office/drawing/2014/main" id="{1CF0182E-A49B-34B6-0952-EFD85FBCA681}"/>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dirty="0">
                <a:latin typeface="Times New Roman"/>
                <a:ea typeface="Times New Roman"/>
                <a:cs typeface="Times New Roman"/>
              </a:rPr>
              <a:t>WEKA </a:t>
            </a:r>
            <a:r>
              <a:rPr lang="en-US" sz="3000" dirty="0">
                <a:latin typeface="Times New Roman"/>
                <a:ea typeface="Times New Roman"/>
                <a:cs typeface="Times New Roman"/>
              </a:rPr>
              <a:t>J48 matrix</a:t>
            </a:r>
            <a:endParaRPr sz="3000" dirty="0">
              <a:latin typeface="Times New Roman"/>
              <a:ea typeface="Times New Roman"/>
              <a:cs typeface="Times New Roman"/>
            </a:endParaRPr>
          </a:p>
        </p:txBody>
      </p:sp>
      <p:sp>
        <p:nvSpPr>
          <p:cNvPr id="8" name="Random Forest">
            <a:extLst>
              <a:ext uri="{FF2B5EF4-FFF2-40B4-BE49-F238E27FC236}">
                <a16:creationId xmlns:a16="http://schemas.microsoft.com/office/drawing/2014/main" id="{62CAC4D6-864F-279C-F710-AE68E6C5CA13}"/>
              </a:ext>
            </a:extLst>
          </p:cNvPr>
          <p:cNvSpPr>
            <a:spLocks noGrp="1"/>
          </p:cNvSpPr>
          <p:nvPr/>
        </p:nvSpPr>
        <p:spPr>
          <a:xfrm>
            <a:off x="666750" y="1552575"/>
            <a:ext cx="5238750" cy="381000"/>
          </a:xfrm>
          <a:prstGeom prst="rect">
            <a:avLst/>
          </a:prstGeom>
          <a:noFill/>
          <a:ln w="0">
            <a:noFill/>
          </a:ln>
        </p:spPr>
        <p:txBody>
          <a:bodyPr anchor="t">
            <a:noAutofit/>
          </a:bodyPr>
          <a:lstStyle/>
          <a:p>
            <a:pPr>
              <a:defRPr sz="1875" b="0">
                <a:solidFill>
                  <a:srgbClr val="121212"/>
                </a:solidFill>
                <a:latin typeface="Times New Roman"/>
                <a:ea typeface="Times New Roman"/>
                <a:cs typeface="Times New Roman"/>
              </a:defRPr>
            </a:pPr>
            <a:r>
              <a:rPr lang="en-US" sz="1875" dirty="0">
                <a:solidFill>
                  <a:srgbClr val="121212"/>
                </a:solidFill>
                <a:latin typeface="Times New Roman"/>
                <a:ea typeface="Times New Roman"/>
                <a:cs typeface="Times New Roman"/>
              </a:rPr>
              <a:t>J48 5-fold</a:t>
            </a:r>
            <a:endParaRPr sz="1875" b="0" dirty="0">
              <a:solidFill>
                <a:srgbClr val="121212"/>
              </a:solidFill>
              <a:latin typeface="Times New Roman"/>
              <a:ea typeface="Times New Roman"/>
              <a:cs typeface="Times New Roman"/>
            </a:endParaRPr>
          </a:p>
        </p:txBody>
      </p:sp>
      <p:sp>
        <p:nvSpPr>
          <p:cNvPr id="9" name="Predicted">
            <a:extLst>
              <a:ext uri="{FF2B5EF4-FFF2-40B4-BE49-F238E27FC236}">
                <a16:creationId xmlns:a16="http://schemas.microsoft.com/office/drawing/2014/main" id="{0CB3D512-2C99-86AB-44EF-9BC071432C8F}"/>
              </a:ext>
            </a:extLst>
          </p:cNvPr>
          <p:cNvSpPr>
            <a:spLocks noGrp="1"/>
          </p:cNvSpPr>
          <p:nvPr/>
        </p:nvSpPr>
        <p:spPr>
          <a:xfrm>
            <a:off x="1619250" y="2000250"/>
            <a:ext cx="2952750" cy="304800"/>
          </a:xfrm>
          <a:prstGeom prst="rect">
            <a:avLst/>
          </a:prstGeom>
          <a:noFill/>
          <a:ln w="0">
            <a:noFill/>
          </a:ln>
        </p:spPr>
        <p:txBody>
          <a:bodyPr anchor="t">
            <a:noAutofit/>
          </a:bodyPr>
          <a:lstStyle/>
          <a:p>
            <a:pPr>
              <a:defRPr sz="1575" b="0">
                <a:solidFill>
                  <a:srgbClr val="585858"/>
                </a:solidFill>
                <a:latin typeface="Times New Roman"/>
                <a:ea typeface="Times New Roman"/>
                <a:cs typeface="Times New Roman"/>
              </a:defRPr>
            </a:pPr>
            <a:r>
              <a:rPr sz="1575" b="0">
                <a:solidFill>
                  <a:srgbClr val="585858"/>
                </a:solidFill>
                <a:latin typeface="Times New Roman"/>
                <a:ea typeface="Times New Roman"/>
                <a:cs typeface="Times New Roman"/>
              </a:rPr>
              <a:t>Predicted</a:t>
            </a:r>
          </a:p>
        </p:txBody>
      </p:sp>
      <p:sp>
        <p:nvSpPr>
          <p:cNvPr id="10" name="C0">
            <a:extLst>
              <a:ext uri="{FF2B5EF4-FFF2-40B4-BE49-F238E27FC236}">
                <a16:creationId xmlns:a16="http://schemas.microsoft.com/office/drawing/2014/main" id="{AF5A9A27-9941-2008-5A71-1AB4FCA40B8E}"/>
              </a:ext>
            </a:extLst>
          </p:cNvPr>
          <p:cNvSpPr>
            <a:spLocks noGrp="1"/>
          </p:cNvSpPr>
          <p:nvPr/>
        </p:nvSpPr>
        <p:spPr>
          <a:xfrm>
            <a:off x="1476375" y="2362200"/>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C0</a:t>
            </a:r>
          </a:p>
        </p:txBody>
      </p:sp>
      <p:sp>
        <p:nvSpPr>
          <p:cNvPr id="11" name="C0">
            <a:extLst>
              <a:ext uri="{FF2B5EF4-FFF2-40B4-BE49-F238E27FC236}">
                <a16:creationId xmlns:a16="http://schemas.microsoft.com/office/drawing/2014/main" id="{4791AED9-3A87-AB87-A69F-5D0557FC0601}"/>
              </a:ext>
            </a:extLst>
          </p:cNvPr>
          <p:cNvSpPr>
            <a:spLocks noGrp="1"/>
          </p:cNvSpPr>
          <p:nvPr/>
        </p:nvSpPr>
        <p:spPr>
          <a:xfrm>
            <a:off x="762000" y="2809875"/>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C0</a:t>
            </a:r>
          </a:p>
        </p:txBody>
      </p:sp>
      <p:sp>
        <p:nvSpPr>
          <p:cNvPr id="12" name="C1">
            <a:extLst>
              <a:ext uri="{FF2B5EF4-FFF2-40B4-BE49-F238E27FC236}">
                <a16:creationId xmlns:a16="http://schemas.microsoft.com/office/drawing/2014/main" id="{1622F17B-E655-C57A-DA89-A809CB3339A7}"/>
              </a:ext>
            </a:extLst>
          </p:cNvPr>
          <p:cNvSpPr>
            <a:spLocks noGrp="1"/>
          </p:cNvSpPr>
          <p:nvPr/>
        </p:nvSpPr>
        <p:spPr>
          <a:xfrm>
            <a:off x="2238375" y="2362200"/>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C1</a:t>
            </a:r>
          </a:p>
        </p:txBody>
      </p:sp>
      <p:sp>
        <p:nvSpPr>
          <p:cNvPr id="13" name="C1">
            <a:extLst>
              <a:ext uri="{FF2B5EF4-FFF2-40B4-BE49-F238E27FC236}">
                <a16:creationId xmlns:a16="http://schemas.microsoft.com/office/drawing/2014/main" id="{54820A68-4F3E-CE5D-7304-9E969012791A}"/>
              </a:ext>
            </a:extLst>
          </p:cNvPr>
          <p:cNvSpPr>
            <a:spLocks noGrp="1"/>
          </p:cNvSpPr>
          <p:nvPr/>
        </p:nvSpPr>
        <p:spPr>
          <a:xfrm>
            <a:off x="762000" y="3571875"/>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C1</a:t>
            </a:r>
          </a:p>
        </p:txBody>
      </p:sp>
      <p:sp>
        <p:nvSpPr>
          <p:cNvPr id="14" name="C2">
            <a:extLst>
              <a:ext uri="{FF2B5EF4-FFF2-40B4-BE49-F238E27FC236}">
                <a16:creationId xmlns:a16="http://schemas.microsoft.com/office/drawing/2014/main" id="{D21E23C6-A04A-FB4C-6C4A-664CF7BAEC06}"/>
              </a:ext>
            </a:extLst>
          </p:cNvPr>
          <p:cNvSpPr>
            <a:spLocks noGrp="1"/>
          </p:cNvSpPr>
          <p:nvPr/>
        </p:nvSpPr>
        <p:spPr>
          <a:xfrm>
            <a:off x="3000375" y="2362200"/>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C2</a:t>
            </a:r>
          </a:p>
        </p:txBody>
      </p:sp>
      <p:sp>
        <p:nvSpPr>
          <p:cNvPr id="15" name="C2">
            <a:extLst>
              <a:ext uri="{FF2B5EF4-FFF2-40B4-BE49-F238E27FC236}">
                <a16:creationId xmlns:a16="http://schemas.microsoft.com/office/drawing/2014/main" id="{65CC2B2D-A26E-3E3B-35E8-0C2AE8781FCB}"/>
              </a:ext>
            </a:extLst>
          </p:cNvPr>
          <p:cNvSpPr>
            <a:spLocks noGrp="1"/>
          </p:cNvSpPr>
          <p:nvPr/>
        </p:nvSpPr>
        <p:spPr>
          <a:xfrm>
            <a:off x="762000" y="4333875"/>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C2</a:t>
            </a:r>
          </a:p>
        </p:txBody>
      </p:sp>
      <p:sp>
        <p:nvSpPr>
          <p:cNvPr id="16" name="C3">
            <a:extLst>
              <a:ext uri="{FF2B5EF4-FFF2-40B4-BE49-F238E27FC236}">
                <a16:creationId xmlns:a16="http://schemas.microsoft.com/office/drawing/2014/main" id="{62AD524E-FEF7-05D2-0BAE-5EC82195ADD7}"/>
              </a:ext>
            </a:extLst>
          </p:cNvPr>
          <p:cNvSpPr>
            <a:spLocks noGrp="1"/>
          </p:cNvSpPr>
          <p:nvPr/>
        </p:nvSpPr>
        <p:spPr>
          <a:xfrm>
            <a:off x="3762375" y="2362200"/>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C3</a:t>
            </a:r>
          </a:p>
        </p:txBody>
      </p:sp>
      <p:sp>
        <p:nvSpPr>
          <p:cNvPr id="17" name="C3">
            <a:extLst>
              <a:ext uri="{FF2B5EF4-FFF2-40B4-BE49-F238E27FC236}">
                <a16:creationId xmlns:a16="http://schemas.microsoft.com/office/drawing/2014/main" id="{9F950E34-7DF2-C30D-CB4B-9474035B2C98}"/>
              </a:ext>
            </a:extLst>
          </p:cNvPr>
          <p:cNvSpPr>
            <a:spLocks noGrp="1"/>
          </p:cNvSpPr>
          <p:nvPr/>
        </p:nvSpPr>
        <p:spPr>
          <a:xfrm>
            <a:off x="762000" y="5095875"/>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C3</a:t>
            </a:r>
          </a:p>
        </p:txBody>
      </p:sp>
      <p:sp>
        <p:nvSpPr>
          <p:cNvPr id="18" name="Rectangle 17">
            <a:extLst>
              <a:ext uri="{FF2B5EF4-FFF2-40B4-BE49-F238E27FC236}">
                <a16:creationId xmlns:a16="http://schemas.microsoft.com/office/drawing/2014/main" id="{4AE220AC-5886-4E56-2673-3A3DA7DDE44D}"/>
              </a:ext>
            </a:extLst>
          </p:cNvPr>
          <p:cNvSpPr>
            <a:spLocks noGrp="1"/>
          </p:cNvSpPr>
          <p:nvPr/>
        </p:nvSpPr>
        <p:spPr>
          <a:xfrm>
            <a:off x="1381125" y="2733675"/>
            <a:ext cx="742950" cy="742950"/>
          </a:xfrm>
          <a:prstGeom prst="rect">
            <a:avLst/>
          </a:prstGeom>
          <a:solidFill>
            <a:srgbClr val="DBEAF7"/>
          </a:solidFill>
          <a:ln w="0">
            <a:noFill/>
          </a:ln>
        </p:spPr>
        <p:txBody>
          <a:bodyPr/>
          <a:lstStyle/>
          <a:p>
            <a:endParaRPr lang="en-US"/>
          </a:p>
        </p:txBody>
      </p:sp>
      <p:sp>
        <p:nvSpPr>
          <p:cNvPr id="19" name="95">
            <a:extLst>
              <a:ext uri="{FF2B5EF4-FFF2-40B4-BE49-F238E27FC236}">
                <a16:creationId xmlns:a16="http://schemas.microsoft.com/office/drawing/2014/main" id="{A0A3BA9E-EF81-D880-8BFF-43A4CA6CD952}"/>
              </a:ext>
            </a:extLst>
          </p:cNvPr>
          <p:cNvSpPr>
            <a:spLocks noGrp="1"/>
          </p:cNvSpPr>
          <p:nvPr/>
        </p:nvSpPr>
        <p:spPr>
          <a:xfrm>
            <a:off x="1390650" y="2943225"/>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dirty="0">
                <a:solidFill>
                  <a:srgbClr val="121212"/>
                </a:solidFill>
                <a:latin typeface="Times New Roman"/>
                <a:ea typeface="Times New Roman"/>
                <a:cs typeface="Times New Roman"/>
              </a:rPr>
              <a:t>10</a:t>
            </a:r>
            <a:r>
              <a:rPr lang="en-US" sz="1725" b="1" dirty="0">
                <a:solidFill>
                  <a:srgbClr val="121212"/>
                </a:solidFill>
                <a:latin typeface="Times New Roman"/>
                <a:ea typeface="Times New Roman"/>
                <a:cs typeface="Times New Roman"/>
              </a:rPr>
              <a:t>2</a:t>
            </a:r>
            <a:endParaRPr sz="1725" b="1" dirty="0">
              <a:solidFill>
                <a:srgbClr val="121212"/>
              </a:solidFill>
              <a:latin typeface="Times New Roman"/>
              <a:ea typeface="Times New Roman"/>
              <a:cs typeface="Times New Roman"/>
            </a:endParaRPr>
          </a:p>
        </p:txBody>
      </p:sp>
      <p:sp>
        <p:nvSpPr>
          <p:cNvPr id="20" name="Rectangle 19">
            <a:extLst>
              <a:ext uri="{FF2B5EF4-FFF2-40B4-BE49-F238E27FC236}">
                <a16:creationId xmlns:a16="http://schemas.microsoft.com/office/drawing/2014/main" id="{27049824-8EB1-2A5F-0EC4-90C68F263D82}"/>
              </a:ext>
            </a:extLst>
          </p:cNvPr>
          <p:cNvSpPr>
            <a:spLocks noGrp="1"/>
          </p:cNvSpPr>
          <p:nvPr/>
        </p:nvSpPr>
        <p:spPr>
          <a:xfrm>
            <a:off x="2143125" y="2733675"/>
            <a:ext cx="742950" cy="742950"/>
          </a:xfrm>
          <a:prstGeom prst="rect">
            <a:avLst/>
          </a:prstGeom>
          <a:solidFill>
            <a:srgbClr val="F2F2F2"/>
          </a:solidFill>
          <a:ln w="0">
            <a:noFill/>
          </a:ln>
        </p:spPr>
        <p:txBody>
          <a:bodyPr/>
          <a:lstStyle/>
          <a:p>
            <a:endParaRPr lang="en-US"/>
          </a:p>
        </p:txBody>
      </p:sp>
      <p:sp>
        <p:nvSpPr>
          <p:cNvPr id="21" name="81">
            <a:extLst>
              <a:ext uri="{FF2B5EF4-FFF2-40B4-BE49-F238E27FC236}">
                <a16:creationId xmlns:a16="http://schemas.microsoft.com/office/drawing/2014/main" id="{73F75E3C-93A2-E77F-72B1-99C9F8C58292}"/>
              </a:ext>
            </a:extLst>
          </p:cNvPr>
          <p:cNvSpPr>
            <a:spLocks noGrp="1"/>
          </p:cNvSpPr>
          <p:nvPr/>
        </p:nvSpPr>
        <p:spPr>
          <a:xfrm>
            <a:off x="2152650" y="2943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dirty="0">
                <a:solidFill>
                  <a:srgbClr val="121212"/>
                </a:solidFill>
                <a:latin typeface="Times New Roman"/>
                <a:ea typeface="Times New Roman"/>
                <a:cs typeface="Times New Roman"/>
              </a:rPr>
              <a:t>5</a:t>
            </a:r>
            <a:r>
              <a:rPr lang="en-US" sz="1725" b="0" dirty="0">
                <a:solidFill>
                  <a:srgbClr val="121212"/>
                </a:solidFill>
                <a:latin typeface="Times New Roman"/>
                <a:ea typeface="Times New Roman"/>
                <a:cs typeface="Times New Roman"/>
              </a:rPr>
              <a:t>9</a:t>
            </a:r>
            <a:endParaRPr sz="1725" b="0" dirty="0">
              <a:solidFill>
                <a:srgbClr val="121212"/>
              </a:solidFill>
              <a:latin typeface="Times New Roman"/>
              <a:ea typeface="Times New Roman"/>
              <a:cs typeface="Times New Roman"/>
            </a:endParaRPr>
          </a:p>
        </p:txBody>
      </p:sp>
      <p:sp>
        <p:nvSpPr>
          <p:cNvPr id="22" name="Rectangle 21">
            <a:extLst>
              <a:ext uri="{FF2B5EF4-FFF2-40B4-BE49-F238E27FC236}">
                <a16:creationId xmlns:a16="http://schemas.microsoft.com/office/drawing/2014/main" id="{B2DFD21C-576E-36AE-F6A1-06FC1AF696B2}"/>
              </a:ext>
            </a:extLst>
          </p:cNvPr>
          <p:cNvSpPr>
            <a:spLocks noGrp="1"/>
          </p:cNvSpPr>
          <p:nvPr/>
        </p:nvSpPr>
        <p:spPr>
          <a:xfrm>
            <a:off x="2905125" y="2733675"/>
            <a:ext cx="742950" cy="742950"/>
          </a:xfrm>
          <a:prstGeom prst="rect">
            <a:avLst/>
          </a:prstGeom>
          <a:solidFill>
            <a:srgbClr val="F2F2F2"/>
          </a:solidFill>
          <a:ln w="0">
            <a:noFill/>
          </a:ln>
        </p:spPr>
        <p:txBody>
          <a:bodyPr/>
          <a:lstStyle/>
          <a:p>
            <a:endParaRPr lang="en-US" dirty="0"/>
          </a:p>
        </p:txBody>
      </p:sp>
      <p:sp>
        <p:nvSpPr>
          <p:cNvPr id="23" name="26">
            <a:extLst>
              <a:ext uri="{FF2B5EF4-FFF2-40B4-BE49-F238E27FC236}">
                <a16:creationId xmlns:a16="http://schemas.microsoft.com/office/drawing/2014/main" id="{B98EEF01-EAB2-5C97-B85D-8B445FB391C2}"/>
              </a:ext>
            </a:extLst>
          </p:cNvPr>
          <p:cNvSpPr>
            <a:spLocks noGrp="1"/>
          </p:cNvSpPr>
          <p:nvPr/>
        </p:nvSpPr>
        <p:spPr>
          <a:xfrm>
            <a:off x="2914650" y="2943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lang="en-US" sz="1725" dirty="0">
                <a:solidFill>
                  <a:srgbClr val="121212"/>
                </a:solidFill>
                <a:latin typeface="Times New Roman"/>
                <a:ea typeface="Times New Roman"/>
                <a:cs typeface="Times New Roman"/>
              </a:rPr>
              <a:t>11</a:t>
            </a:r>
            <a:endParaRPr sz="1725" b="0" dirty="0">
              <a:solidFill>
                <a:srgbClr val="121212"/>
              </a:solidFill>
              <a:latin typeface="Times New Roman"/>
              <a:ea typeface="Times New Roman"/>
              <a:cs typeface="Times New Roman"/>
            </a:endParaRPr>
          </a:p>
        </p:txBody>
      </p:sp>
      <p:sp>
        <p:nvSpPr>
          <p:cNvPr id="24" name="Rectangle 23">
            <a:extLst>
              <a:ext uri="{FF2B5EF4-FFF2-40B4-BE49-F238E27FC236}">
                <a16:creationId xmlns:a16="http://schemas.microsoft.com/office/drawing/2014/main" id="{F580CE31-D011-E8D2-D9E6-1FA596A98059}"/>
              </a:ext>
            </a:extLst>
          </p:cNvPr>
          <p:cNvSpPr>
            <a:spLocks noGrp="1"/>
          </p:cNvSpPr>
          <p:nvPr/>
        </p:nvSpPr>
        <p:spPr>
          <a:xfrm>
            <a:off x="3667125" y="2733675"/>
            <a:ext cx="742950" cy="742950"/>
          </a:xfrm>
          <a:prstGeom prst="rect">
            <a:avLst/>
          </a:prstGeom>
          <a:solidFill>
            <a:srgbClr val="F2F2F2"/>
          </a:solidFill>
          <a:ln w="0">
            <a:noFill/>
          </a:ln>
        </p:spPr>
        <p:txBody>
          <a:bodyPr/>
          <a:lstStyle/>
          <a:p>
            <a:endParaRPr lang="en-US" dirty="0"/>
          </a:p>
        </p:txBody>
      </p:sp>
      <p:sp>
        <p:nvSpPr>
          <p:cNvPr id="25" name="34">
            <a:extLst>
              <a:ext uri="{FF2B5EF4-FFF2-40B4-BE49-F238E27FC236}">
                <a16:creationId xmlns:a16="http://schemas.microsoft.com/office/drawing/2014/main" id="{BA5B3FCB-D640-1D96-D2A4-80561D83D91C}"/>
              </a:ext>
            </a:extLst>
          </p:cNvPr>
          <p:cNvSpPr>
            <a:spLocks noGrp="1"/>
          </p:cNvSpPr>
          <p:nvPr/>
        </p:nvSpPr>
        <p:spPr>
          <a:xfrm>
            <a:off x="3676650" y="2943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lang="en-US" sz="1725" b="0" dirty="0">
                <a:solidFill>
                  <a:srgbClr val="121212"/>
                </a:solidFill>
                <a:latin typeface="Times New Roman"/>
                <a:ea typeface="Times New Roman"/>
                <a:cs typeface="Times New Roman"/>
              </a:rPr>
              <a:t>10</a:t>
            </a:r>
            <a:endParaRPr sz="1725" b="0" dirty="0">
              <a:solidFill>
                <a:srgbClr val="121212"/>
              </a:solidFill>
              <a:latin typeface="Times New Roman"/>
              <a:ea typeface="Times New Roman"/>
              <a:cs typeface="Times New Roman"/>
            </a:endParaRPr>
          </a:p>
        </p:txBody>
      </p:sp>
      <p:sp>
        <p:nvSpPr>
          <p:cNvPr id="26" name="Rectangle 25">
            <a:extLst>
              <a:ext uri="{FF2B5EF4-FFF2-40B4-BE49-F238E27FC236}">
                <a16:creationId xmlns:a16="http://schemas.microsoft.com/office/drawing/2014/main" id="{BAA5F036-7D75-5B76-E4A4-32632854B510}"/>
              </a:ext>
            </a:extLst>
          </p:cNvPr>
          <p:cNvSpPr>
            <a:spLocks noGrp="1"/>
          </p:cNvSpPr>
          <p:nvPr/>
        </p:nvSpPr>
        <p:spPr>
          <a:xfrm>
            <a:off x="1381125" y="3495675"/>
            <a:ext cx="742950" cy="742950"/>
          </a:xfrm>
          <a:prstGeom prst="rect">
            <a:avLst/>
          </a:prstGeom>
          <a:solidFill>
            <a:srgbClr val="F2F2F2"/>
          </a:solidFill>
          <a:ln w="0">
            <a:noFill/>
          </a:ln>
        </p:spPr>
        <p:txBody>
          <a:bodyPr/>
          <a:lstStyle/>
          <a:p>
            <a:endParaRPr lang="en-US"/>
          </a:p>
        </p:txBody>
      </p:sp>
      <p:sp>
        <p:nvSpPr>
          <p:cNvPr id="27" name="57">
            <a:extLst>
              <a:ext uri="{FF2B5EF4-FFF2-40B4-BE49-F238E27FC236}">
                <a16:creationId xmlns:a16="http://schemas.microsoft.com/office/drawing/2014/main" id="{69766479-7C2D-337F-DEA6-5E2E7C3457FD}"/>
              </a:ext>
            </a:extLst>
          </p:cNvPr>
          <p:cNvSpPr>
            <a:spLocks noGrp="1"/>
          </p:cNvSpPr>
          <p:nvPr/>
        </p:nvSpPr>
        <p:spPr>
          <a:xfrm>
            <a:off x="1390650" y="3705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lang="en-US" sz="1725" dirty="0">
                <a:solidFill>
                  <a:srgbClr val="121212"/>
                </a:solidFill>
                <a:latin typeface="Times New Roman"/>
                <a:ea typeface="Times New Roman"/>
                <a:cs typeface="Times New Roman"/>
              </a:rPr>
              <a:t>49</a:t>
            </a:r>
            <a:endParaRPr sz="1725" b="0" dirty="0">
              <a:solidFill>
                <a:srgbClr val="121212"/>
              </a:solidFill>
              <a:latin typeface="Times New Roman"/>
              <a:ea typeface="Times New Roman"/>
              <a:cs typeface="Times New Roman"/>
            </a:endParaRPr>
          </a:p>
        </p:txBody>
      </p:sp>
      <p:sp>
        <p:nvSpPr>
          <p:cNvPr id="28" name="Rectangle 27">
            <a:extLst>
              <a:ext uri="{FF2B5EF4-FFF2-40B4-BE49-F238E27FC236}">
                <a16:creationId xmlns:a16="http://schemas.microsoft.com/office/drawing/2014/main" id="{100DD2B0-C731-268D-EC93-57CAC19D9899}"/>
              </a:ext>
            </a:extLst>
          </p:cNvPr>
          <p:cNvSpPr>
            <a:spLocks noGrp="1"/>
          </p:cNvSpPr>
          <p:nvPr/>
        </p:nvSpPr>
        <p:spPr>
          <a:xfrm>
            <a:off x="2143125" y="3495675"/>
            <a:ext cx="742950" cy="742950"/>
          </a:xfrm>
          <a:prstGeom prst="rect">
            <a:avLst/>
          </a:prstGeom>
          <a:solidFill>
            <a:srgbClr val="DBEAF7"/>
          </a:solidFill>
          <a:ln w="0">
            <a:noFill/>
          </a:ln>
        </p:spPr>
        <p:txBody>
          <a:bodyPr/>
          <a:lstStyle/>
          <a:p>
            <a:endParaRPr lang="en-US" dirty="0"/>
          </a:p>
        </p:txBody>
      </p:sp>
      <p:sp>
        <p:nvSpPr>
          <p:cNvPr id="29" name="159">
            <a:extLst>
              <a:ext uri="{FF2B5EF4-FFF2-40B4-BE49-F238E27FC236}">
                <a16:creationId xmlns:a16="http://schemas.microsoft.com/office/drawing/2014/main" id="{84897B43-2F36-DE19-8758-565FFA478FAD}"/>
              </a:ext>
            </a:extLst>
          </p:cNvPr>
          <p:cNvSpPr>
            <a:spLocks noGrp="1"/>
          </p:cNvSpPr>
          <p:nvPr/>
        </p:nvSpPr>
        <p:spPr>
          <a:xfrm>
            <a:off x="2152650" y="3705225"/>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lang="en-US" sz="1725" b="1" dirty="0">
                <a:solidFill>
                  <a:srgbClr val="121212"/>
                </a:solidFill>
                <a:latin typeface="Times New Roman"/>
                <a:ea typeface="Times New Roman"/>
                <a:cs typeface="Times New Roman"/>
              </a:rPr>
              <a:t>155</a:t>
            </a:r>
            <a:endParaRPr sz="1725" b="1" dirty="0">
              <a:solidFill>
                <a:srgbClr val="121212"/>
              </a:solidFill>
              <a:latin typeface="Times New Roman"/>
              <a:ea typeface="Times New Roman"/>
              <a:cs typeface="Times New Roman"/>
            </a:endParaRPr>
          </a:p>
        </p:txBody>
      </p:sp>
      <p:sp>
        <p:nvSpPr>
          <p:cNvPr id="30" name="Rectangle 29">
            <a:extLst>
              <a:ext uri="{FF2B5EF4-FFF2-40B4-BE49-F238E27FC236}">
                <a16:creationId xmlns:a16="http://schemas.microsoft.com/office/drawing/2014/main" id="{FB82AA64-C3FE-7A95-9520-6333A3D58FB6}"/>
              </a:ext>
            </a:extLst>
          </p:cNvPr>
          <p:cNvSpPr>
            <a:spLocks noGrp="1"/>
          </p:cNvSpPr>
          <p:nvPr/>
        </p:nvSpPr>
        <p:spPr>
          <a:xfrm>
            <a:off x="2905125" y="3495675"/>
            <a:ext cx="742950" cy="742950"/>
          </a:xfrm>
          <a:prstGeom prst="rect">
            <a:avLst/>
          </a:prstGeom>
          <a:solidFill>
            <a:srgbClr val="F2F2F2"/>
          </a:solidFill>
          <a:ln w="0">
            <a:noFill/>
          </a:ln>
        </p:spPr>
        <p:txBody>
          <a:bodyPr/>
          <a:lstStyle/>
          <a:p>
            <a:endParaRPr lang="en-US"/>
          </a:p>
        </p:txBody>
      </p:sp>
      <p:sp>
        <p:nvSpPr>
          <p:cNvPr id="31" name="71">
            <a:extLst>
              <a:ext uri="{FF2B5EF4-FFF2-40B4-BE49-F238E27FC236}">
                <a16:creationId xmlns:a16="http://schemas.microsoft.com/office/drawing/2014/main" id="{45783195-91DC-F1A9-6C06-23938ADB3F4C}"/>
              </a:ext>
            </a:extLst>
          </p:cNvPr>
          <p:cNvSpPr>
            <a:spLocks noGrp="1"/>
          </p:cNvSpPr>
          <p:nvPr/>
        </p:nvSpPr>
        <p:spPr>
          <a:xfrm>
            <a:off x="2914650" y="3705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lang="en-US" sz="1725" b="0" dirty="0">
                <a:solidFill>
                  <a:srgbClr val="121212"/>
                </a:solidFill>
                <a:latin typeface="Times New Roman"/>
                <a:ea typeface="Times New Roman"/>
                <a:cs typeface="Times New Roman"/>
              </a:rPr>
              <a:t>66</a:t>
            </a:r>
            <a:endParaRPr sz="1725" b="0" dirty="0">
              <a:solidFill>
                <a:srgbClr val="121212"/>
              </a:solidFill>
              <a:latin typeface="Times New Roman"/>
              <a:ea typeface="Times New Roman"/>
              <a:cs typeface="Times New Roman"/>
            </a:endParaRPr>
          </a:p>
        </p:txBody>
      </p:sp>
      <p:sp>
        <p:nvSpPr>
          <p:cNvPr id="32" name="Rectangle 31">
            <a:extLst>
              <a:ext uri="{FF2B5EF4-FFF2-40B4-BE49-F238E27FC236}">
                <a16:creationId xmlns:a16="http://schemas.microsoft.com/office/drawing/2014/main" id="{F2F6F3AD-C00F-CA9E-4CE5-C10458418B96}"/>
              </a:ext>
            </a:extLst>
          </p:cNvPr>
          <p:cNvSpPr>
            <a:spLocks noGrp="1"/>
          </p:cNvSpPr>
          <p:nvPr/>
        </p:nvSpPr>
        <p:spPr>
          <a:xfrm>
            <a:off x="3667125" y="3495675"/>
            <a:ext cx="742950" cy="742950"/>
          </a:xfrm>
          <a:prstGeom prst="rect">
            <a:avLst/>
          </a:prstGeom>
          <a:solidFill>
            <a:srgbClr val="F2F2F2"/>
          </a:solidFill>
          <a:ln w="0">
            <a:noFill/>
          </a:ln>
        </p:spPr>
        <p:txBody>
          <a:bodyPr/>
          <a:lstStyle/>
          <a:p>
            <a:endParaRPr lang="en-US"/>
          </a:p>
        </p:txBody>
      </p:sp>
      <p:sp>
        <p:nvSpPr>
          <p:cNvPr id="33" name="33">
            <a:extLst>
              <a:ext uri="{FF2B5EF4-FFF2-40B4-BE49-F238E27FC236}">
                <a16:creationId xmlns:a16="http://schemas.microsoft.com/office/drawing/2014/main" id="{4202DA9F-ACB3-E320-67E0-50C4D3880F7B}"/>
              </a:ext>
            </a:extLst>
          </p:cNvPr>
          <p:cNvSpPr>
            <a:spLocks noGrp="1"/>
          </p:cNvSpPr>
          <p:nvPr/>
        </p:nvSpPr>
        <p:spPr>
          <a:xfrm>
            <a:off x="3676650" y="3705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lang="en-US" sz="1725" b="0" dirty="0">
                <a:solidFill>
                  <a:srgbClr val="121212"/>
                </a:solidFill>
                <a:latin typeface="Times New Roman"/>
                <a:ea typeface="Times New Roman"/>
                <a:cs typeface="Times New Roman"/>
              </a:rPr>
              <a:t>14</a:t>
            </a:r>
            <a:endParaRPr sz="1725" b="0" dirty="0">
              <a:solidFill>
                <a:srgbClr val="121212"/>
              </a:solidFill>
              <a:latin typeface="Times New Roman"/>
              <a:ea typeface="Times New Roman"/>
              <a:cs typeface="Times New Roman"/>
            </a:endParaRPr>
          </a:p>
        </p:txBody>
      </p:sp>
      <p:sp>
        <p:nvSpPr>
          <p:cNvPr id="34" name="Rectangle 33">
            <a:extLst>
              <a:ext uri="{FF2B5EF4-FFF2-40B4-BE49-F238E27FC236}">
                <a16:creationId xmlns:a16="http://schemas.microsoft.com/office/drawing/2014/main" id="{65574211-DDF8-3CBB-4617-1F9591068C32}"/>
              </a:ext>
            </a:extLst>
          </p:cNvPr>
          <p:cNvSpPr>
            <a:spLocks noGrp="1"/>
          </p:cNvSpPr>
          <p:nvPr/>
        </p:nvSpPr>
        <p:spPr>
          <a:xfrm>
            <a:off x="1381125" y="4257675"/>
            <a:ext cx="742950" cy="742950"/>
          </a:xfrm>
          <a:prstGeom prst="rect">
            <a:avLst/>
          </a:prstGeom>
          <a:solidFill>
            <a:srgbClr val="F2F2F2"/>
          </a:solidFill>
          <a:ln w="0">
            <a:noFill/>
          </a:ln>
        </p:spPr>
        <p:txBody>
          <a:bodyPr/>
          <a:lstStyle/>
          <a:p>
            <a:endParaRPr lang="en-US"/>
          </a:p>
        </p:txBody>
      </p:sp>
      <p:sp>
        <p:nvSpPr>
          <p:cNvPr id="35" name="47">
            <a:extLst>
              <a:ext uri="{FF2B5EF4-FFF2-40B4-BE49-F238E27FC236}">
                <a16:creationId xmlns:a16="http://schemas.microsoft.com/office/drawing/2014/main" id="{6BB6C285-7702-032A-8A23-99A206FB0479}"/>
              </a:ext>
            </a:extLst>
          </p:cNvPr>
          <p:cNvSpPr>
            <a:spLocks noGrp="1"/>
          </p:cNvSpPr>
          <p:nvPr/>
        </p:nvSpPr>
        <p:spPr>
          <a:xfrm>
            <a:off x="1390650" y="4467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lang="en-US" sz="1725" b="0" dirty="0">
                <a:solidFill>
                  <a:srgbClr val="121212"/>
                </a:solidFill>
                <a:latin typeface="Times New Roman"/>
                <a:ea typeface="Times New Roman"/>
                <a:cs typeface="Times New Roman"/>
              </a:rPr>
              <a:t>8</a:t>
            </a:r>
            <a:endParaRPr sz="1725" b="0" dirty="0">
              <a:solidFill>
                <a:srgbClr val="121212"/>
              </a:solidFill>
              <a:latin typeface="Times New Roman"/>
              <a:ea typeface="Times New Roman"/>
              <a:cs typeface="Times New Roman"/>
            </a:endParaRPr>
          </a:p>
        </p:txBody>
      </p:sp>
      <p:sp>
        <p:nvSpPr>
          <p:cNvPr id="36" name="Rectangle 35">
            <a:extLst>
              <a:ext uri="{FF2B5EF4-FFF2-40B4-BE49-F238E27FC236}">
                <a16:creationId xmlns:a16="http://schemas.microsoft.com/office/drawing/2014/main" id="{FBF03137-DDB8-C188-4A2B-A20EBCBDAA03}"/>
              </a:ext>
            </a:extLst>
          </p:cNvPr>
          <p:cNvSpPr>
            <a:spLocks noGrp="1"/>
          </p:cNvSpPr>
          <p:nvPr/>
        </p:nvSpPr>
        <p:spPr>
          <a:xfrm>
            <a:off x="2143125" y="4257675"/>
            <a:ext cx="742950" cy="742950"/>
          </a:xfrm>
          <a:prstGeom prst="rect">
            <a:avLst/>
          </a:prstGeom>
          <a:solidFill>
            <a:srgbClr val="F2F2F2"/>
          </a:solidFill>
          <a:ln w="0">
            <a:noFill/>
          </a:ln>
        </p:spPr>
        <p:txBody>
          <a:bodyPr/>
          <a:lstStyle/>
          <a:p>
            <a:endParaRPr lang="en-US"/>
          </a:p>
        </p:txBody>
      </p:sp>
      <p:sp>
        <p:nvSpPr>
          <p:cNvPr id="37" name="79">
            <a:extLst>
              <a:ext uri="{FF2B5EF4-FFF2-40B4-BE49-F238E27FC236}">
                <a16:creationId xmlns:a16="http://schemas.microsoft.com/office/drawing/2014/main" id="{DF153FAF-CC07-1E02-08FD-1C9BBA9AC60C}"/>
              </a:ext>
            </a:extLst>
          </p:cNvPr>
          <p:cNvSpPr>
            <a:spLocks noGrp="1"/>
          </p:cNvSpPr>
          <p:nvPr/>
        </p:nvSpPr>
        <p:spPr>
          <a:xfrm>
            <a:off x="2152650" y="4467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lang="en-US" sz="1725" b="0" dirty="0">
                <a:solidFill>
                  <a:srgbClr val="121212"/>
                </a:solidFill>
                <a:latin typeface="Times New Roman"/>
                <a:ea typeface="Times New Roman"/>
                <a:cs typeface="Times New Roman"/>
              </a:rPr>
              <a:t>72</a:t>
            </a:r>
            <a:endParaRPr sz="1725" b="0" dirty="0">
              <a:solidFill>
                <a:srgbClr val="121212"/>
              </a:solidFill>
              <a:latin typeface="Times New Roman"/>
              <a:ea typeface="Times New Roman"/>
              <a:cs typeface="Times New Roman"/>
            </a:endParaRPr>
          </a:p>
        </p:txBody>
      </p:sp>
      <p:sp>
        <p:nvSpPr>
          <p:cNvPr id="38" name="Rectangle 37">
            <a:extLst>
              <a:ext uri="{FF2B5EF4-FFF2-40B4-BE49-F238E27FC236}">
                <a16:creationId xmlns:a16="http://schemas.microsoft.com/office/drawing/2014/main" id="{1F05B43A-A200-562C-9E16-1E44AE42361C}"/>
              </a:ext>
            </a:extLst>
          </p:cNvPr>
          <p:cNvSpPr>
            <a:spLocks noGrp="1"/>
          </p:cNvSpPr>
          <p:nvPr/>
        </p:nvSpPr>
        <p:spPr>
          <a:xfrm>
            <a:off x="2905125" y="4257675"/>
            <a:ext cx="742950" cy="742950"/>
          </a:xfrm>
          <a:prstGeom prst="rect">
            <a:avLst/>
          </a:prstGeom>
          <a:solidFill>
            <a:srgbClr val="DBEAF7"/>
          </a:solidFill>
          <a:ln w="0">
            <a:noFill/>
          </a:ln>
        </p:spPr>
        <p:txBody>
          <a:bodyPr/>
          <a:lstStyle/>
          <a:p>
            <a:endParaRPr lang="en-US"/>
          </a:p>
        </p:txBody>
      </p:sp>
      <p:sp>
        <p:nvSpPr>
          <p:cNvPr id="39" name="126">
            <a:extLst>
              <a:ext uri="{FF2B5EF4-FFF2-40B4-BE49-F238E27FC236}">
                <a16:creationId xmlns:a16="http://schemas.microsoft.com/office/drawing/2014/main" id="{F8F4E6F9-500D-A571-6CFE-1AADD6A7790C}"/>
              </a:ext>
            </a:extLst>
          </p:cNvPr>
          <p:cNvSpPr>
            <a:spLocks noGrp="1"/>
          </p:cNvSpPr>
          <p:nvPr/>
        </p:nvSpPr>
        <p:spPr>
          <a:xfrm>
            <a:off x="2914650" y="4467225"/>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lang="en-US" sz="1725" b="1" dirty="0">
                <a:solidFill>
                  <a:srgbClr val="121212"/>
                </a:solidFill>
                <a:latin typeface="Times New Roman"/>
                <a:ea typeface="Times New Roman"/>
                <a:cs typeface="Times New Roman"/>
              </a:rPr>
              <a:t>119</a:t>
            </a:r>
            <a:endParaRPr sz="1725" b="1" dirty="0">
              <a:solidFill>
                <a:srgbClr val="121212"/>
              </a:solidFill>
              <a:latin typeface="Times New Roman"/>
              <a:ea typeface="Times New Roman"/>
              <a:cs typeface="Times New Roman"/>
            </a:endParaRPr>
          </a:p>
        </p:txBody>
      </p:sp>
      <p:sp>
        <p:nvSpPr>
          <p:cNvPr id="40" name="Rectangle 39">
            <a:extLst>
              <a:ext uri="{FF2B5EF4-FFF2-40B4-BE49-F238E27FC236}">
                <a16:creationId xmlns:a16="http://schemas.microsoft.com/office/drawing/2014/main" id="{434869EB-FFF7-1FB0-5299-D1B87C36DF28}"/>
              </a:ext>
            </a:extLst>
          </p:cNvPr>
          <p:cNvSpPr>
            <a:spLocks noGrp="1"/>
          </p:cNvSpPr>
          <p:nvPr/>
        </p:nvSpPr>
        <p:spPr>
          <a:xfrm>
            <a:off x="3667125" y="4257675"/>
            <a:ext cx="742950" cy="742950"/>
          </a:xfrm>
          <a:prstGeom prst="rect">
            <a:avLst/>
          </a:prstGeom>
          <a:solidFill>
            <a:srgbClr val="F2F2F2"/>
          </a:solidFill>
          <a:ln w="0">
            <a:noFill/>
          </a:ln>
        </p:spPr>
        <p:txBody>
          <a:bodyPr/>
          <a:lstStyle/>
          <a:p>
            <a:endParaRPr lang="en-US"/>
          </a:p>
        </p:txBody>
      </p:sp>
      <p:sp>
        <p:nvSpPr>
          <p:cNvPr id="41" name="48">
            <a:extLst>
              <a:ext uri="{FF2B5EF4-FFF2-40B4-BE49-F238E27FC236}">
                <a16:creationId xmlns:a16="http://schemas.microsoft.com/office/drawing/2014/main" id="{68B161F0-414C-B350-D6CD-FAE387EA1A49}"/>
              </a:ext>
            </a:extLst>
          </p:cNvPr>
          <p:cNvSpPr>
            <a:spLocks noGrp="1"/>
          </p:cNvSpPr>
          <p:nvPr/>
        </p:nvSpPr>
        <p:spPr>
          <a:xfrm>
            <a:off x="3676650" y="4467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lang="en-US" sz="1725" b="0" dirty="0">
                <a:solidFill>
                  <a:srgbClr val="121212"/>
                </a:solidFill>
                <a:latin typeface="Times New Roman"/>
                <a:ea typeface="Times New Roman"/>
                <a:cs typeface="Times New Roman"/>
              </a:rPr>
              <a:t>65</a:t>
            </a:r>
            <a:endParaRPr sz="1725" b="0" dirty="0">
              <a:solidFill>
                <a:srgbClr val="121212"/>
              </a:solidFill>
              <a:latin typeface="Times New Roman"/>
              <a:ea typeface="Times New Roman"/>
              <a:cs typeface="Times New Roman"/>
            </a:endParaRPr>
          </a:p>
        </p:txBody>
      </p:sp>
      <p:sp>
        <p:nvSpPr>
          <p:cNvPr id="42" name="Rectangle 41">
            <a:extLst>
              <a:ext uri="{FF2B5EF4-FFF2-40B4-BE49-F238E27FC236}">
                <a16:creationId xmlns:a16="http://schemas.microsoft.com/office/drawing/2014/main" id="{36C07BD1-3088-DE70-699C-85C1043A4D64}"/>
              </a:ext>
            </a:extLst>
          </p:cNvPr>
          <p:cNvSpPr>
            <a:spLocks noGrp="1"/>
          </p:cNvSpPr>
          <p:nvPr/>
        </p:nvSpPr>
        <p:spPr>
          <a:xfrm>
            <a:off x="1381125" y="5019675"/>
            <a:ext cx="742950" cy="742950"/>
          </a:xfrm>
          <a:prstGeom prst="rect">
            <a:avLst/>
          </a:prstGeom>
          <a:solidFill>
            <a:srgbClr val="F2F2F2"/>
          </a:solidFill>
          <a:ln w="0">
            <a:noFill/>
          </a:ln>
        </p:spPr>
        <p:txBody>
          <a:bodyPr/>
          <a:lstStyle/>
          <a:p>
            <a:endParaRPr lang="en-US"/>
          </a:p>
        </p:txBody>
      </p:sp>
      <p:sp>
        <p:nvSpPr>
          <p:cNvPr id="43" name="43">
            <a:extLst>
              <a:ext uri="{FF2B5EF4-FFF2-40B4-BE49-F238E27FC236}">
                <a16:creationId xmlns:a16="http://schemas.microsoft.com/office/drawing/2014/main" id="{9A198719-5087-C488-5EE1-FD6A2316BBBE}"/>
              </a:ext>
            </a:extLst>
          </p:cNvPr>
          <p:cNvSpPr>
            <a:spLocks noGrp="1"/>
          </p:cNvSpPr>
          <p:nvPr/>
        </p:nvSpPr>
        <p:spPr>
          <a:xfrm>
            <a:off x="1390650" y="5229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lang="en-US" sz="1725" b="0" dirty="0">
                <a:solidFill>
                  <a:srgbClr val="121212"/>
                </a:solidFill>
                <a:latin typeface="Times New Roman"/>
                <a:ea typeface="Times New Roman"/>
                <a:cs typeface="Times New Roman"/>
              </a:rPr>
              <a:t>12</a:t>
            </a:r>
            <a:endParaRPr sz="1725" b="0" dirty="0">
              <a:solidFill>
                <a:srgbClr val="121212"/>
              </a:solidFill>
              <a:latin typeface="Times New Roman"/>
              <a:ea typeface="Times New Roman"/>
              <a:cs typeface="Times New Roman"/>
            </a:endParaRPr>
          </a:p>
        </p:txBody>
      </p:sp>
      <p:sp>
        <p:nvSpPr>
          <p:cNvPr id="44" name="Rectangle 43">
            <a:extLst>
              <a:ext uri="{FF2B5EF4-FFF2-40B4-BE49-F238E27FC236}">
                <a16:creationId xmlns:a16="http://schemas.microsoft.com/office/drawing/2014/main" id="{18A53CAC-89DB-FF01-F00F-CF660E19631B}"/>
              </a:ext>
            </a:extLst>
          </p:cNvPr>
          <p:cNvSpPr>
            <a:spLocks noGrp="1"/>
          </p:cNvSpPr>
          <p:nvPr/>
        </p:nvSpPr>
        <p:spPr>
          <a:xfrm>
            <a:off x="2143125" y="5019675"/>
            <a:ext cx="742950" cy="742950"/>
          </a:xfrm>
          <a:prstGeom prst="rect">
            <a:avLst/>
          </a:prstGeom>
          <a:solidFill>
            <a:srgbClr val="F2F2F2"/>
          </a:solidFill>
          <a:ln w="0">
            <a:noFill/>
          </a:ln>
        </p:spPr>
        <p:txBody>
          <a:bodyPr/>
          <a:lstStyle/>
          <a:p>
            <a:endParaRPr lang="en-US"/>
          </a:p>
        </p:txBody>
      </p:sp>
      <p:sp>
        <p:nvSpPr>
          <p:cNvPr id="45" name="50">
            <a:extLst>
              <a:ext uri="{FF2B5EF4-FFF2-40B4-BE49-F238E27FC236}">
                <a16:creationId xmlns:a16="http://schemas.microsoft.com/office/drawing/2014/main" id="{EF2FEA7D-BDD3-7720-1535-4AADBC93C232}"/>
              </a:ext>
            </a:extLst>
          </p:cNvPr>
          <p:cNvSpPr>
            <a:spLocks noGrp="1"/>
          </p:cNvSpPr>
          <p:nvPr/>
        </p:nvSpPr>
        <p:spPr>
          <a:xfrm>
            <a:off x="2152650" y="5229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dirty="0">
                <a:solidFill>
                  <a:srgbClr val="121212"/>
                </a:solidFill>
                <a:latin typeface="Times New Roman"/>
                <a:ea typeface="Times New Roman"/>
                <a:cs typeface="Times New Roman"/>
              </a:rPr>
              <a:t>1</a:t>
            </a:r>
            <a:r>
              <a:rPr lang="en-US" sz="1725" b="0" dirty="0">
                <a:solidFill>
                  <a:srgbClr val="121212"/>
                </a:solidFill>
                <a:latin typeface="Times New Roman"/>
                <a:ea typeface="Times New Roman"/>
                <a:cs typeface="Times New Roman"/>
              </a:rPr>
              <a:t>4</a:t>
            </a:r>
            <a:endParaRPr sz="1725" b="0" dirty="0">
              <a:solidFill>
                <a:srgbClr val="121212"/>
              </a:solidFill>
              <a:latin typeface="Times New Roman"/>
              <a:ea typeface="Times New Roman"/>
              <a:cs typeface="Times New Roman"/>
            </a:endParaRPr>
          </a:p>
        </p:txBody>
      </p:sp>
      <p:sp>
        <p:nvSpPr>
          <p:cNvPr id="46" name="Rectangle 45">
            <a:extLst>
              <a:ext uri="{FF2B5EF4-FFF2-40B4-BE49-F238E27FC236}">
                <a16:creationId xmlns:a16="http://schemas.microsoft.com/office/drawing/2014/main" id="{1FC2A384-7D40-BA8A-D82A-3CBA40B07D70}"/>
              </a:ext>
            </a:extLst>
          </p:cNvPr>
          <p:cNvSpPr>
            <a:spLocks noGrp="1"/>
          </p:cNvSpPr>
          <p:nvPr/>
        </p:nvSpPr>
        <p:spPr>
          <a:xfrm>
            <a:off x="2905125" y="5019675"/>
            <a:ext cx="742950" cy="742950"/>
          </a:xfrm>
          <a:prstGeom prst="rect">
            <a:avLst/>
          </a:prstGeom>
          <a:solidFill>
            <a:srgbClr val="F2F2F2"/>
          </a:solidFill>
          <a:ln w="0">
            <a:noFill/>
          </a:ln>
        </p:spPr>
        <p:txBody>
          <a:bodyPr/>
          <a:lstStyle/>
          <a:p>
            <a:endParaRPr lang="en-US"/>
          </a:p>
        </p:txBody>
      </p:sp>
      <p:sp>
        <p:nvSpPr>
          <p:cNvPr id="47" name="49">
            <a:extLst>
              <a:ext uri="{FF2B5EF4-FFF2-40B4-BE49-F238E27FC236}">
                <a16:creationId xmlns:a16="http://schemas.microsoft.com/office/drawing/2014/main" id="{9EEC1646-A57F-EFEE-772E-59D9AA6D7046}"/>
              </a:ext>
            </a:extLst>
          </p:cNvPr>
          <p:cNvSpPr>
            <a:spLocks noGrp="1"/>
          </p:cNvSpPr>
          <p:nvPr/>
        </p:nvSpPr>
        <p:spPr>
          <a:xfrm>
            <a:off x="2914650" y="5229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dirty="0">
                <a:solidFill>
                  <a:srgbClr val="121212"/>
                </a:solidFill>
                <a:latin typeface="Times New Roman"/>
                <a:ea typeface="Times New Roman"/>
                <a:cs typeface="Times New Roman"/>
              </a:rPr>
              <a:t>4</a:t>
            </a:r>
            <a:r>
              <a:rPr lang="en-US" sz="1725" b="0" dirty="0">
                <a:solidFill>
                  <a:srgbClr val="121212"/>
                </a:solidFill>
                <a:latin typeface="Times New Roman"/>
                <a:ea typeface="Times New Roman"/>
                <a:cs typeface="Times New Roman"/>
              </a:rPr>
              <a:t>0</a:t>
            </a:r>
            <a:endParaRPr sz="1725" b="0" dirty="0">
              <a:solidFill>
                <a:srgbClr val="121212"/>
              </a:solidFill>
              <a:latin typeface="Times New Roman"/>
              <a:ea typeface="Times New Roman"/>
              <a:cs typeface="Times New Roman"/>
            </a:endParaRPr>
          </a:p>
        </p:txBody>
      </p:sp>
      <p:sp>
        <p:nvSpPr>
          <p:cNvPr id="48" name="Rectangle 47">
            <a:extLst>
              <a:ext uri="{FF2B5EF4-FFF2-40B4-BE49-F238E27FC236}">
                <a16:creationId xmlns:a16="http://schemas.microsoft.com/office/drawing/2014/main" id="{064DBDC9-38C0-2AEA-8AE7-E556A0AEAD58}"/>
              </a:ext>
            </a:extLst>
          </p:cNvPr>
          <p:cNvSpPr>
            <a:spLocks noGrp="1"/>
          </p:cNvSpPr>
          <p:nvPr/>
        </p:nvSpPr>
        <p:spPr>
          <a:xfrm>
            <a:off x="3667125" y="5019675"/>
            <a:ext cx="742950" cy="742950"/>
          </a:xfrm>
          <a:prstGeom prst="rect">
            <a:avLst/>
          </a:prstGeom>
          <a:solidFill>
            <a:srgbClr val="DBEAF7"/>
          </a:solidFill>
          <a:ln w="0">
            <a:noFill/>
          </a:ln>
        </p:spPr>
        <p:txBody>
          <a:bodyPr/>
          <a:lstStyle/>
          <a:p>
            <a:endParaRPr lang="en-US"/>
          </a:p>
        </p:txBody>
      </p:sp>
      <p:sp>
        <p:nvSpPr>
          <p:cNvPr id="49" name="104">
            <a:extLst>
              <a:ext uri="{FF2B5EF4-FFF2-40B4-BE49-F238E27FC236}">
                <a16:creationId xmlns:a16="http://schemas.microsoft.com/office/drawing/2014/main" id="{C6B873CA-25D2-94D4-A8C4-1E008F932E7E}"/>
              </a:ext>
            </a:extLst>
          </p:cNvPr>
          <p:cNvSpPr>
            <a:spLocks noGrp="1"/>
          </p:cNvSpPr>
          <p:nvPr/>
        </p:nvSpPr>
        <p:spPr>
          <a:xfrm>
            <a:off x="3676650" y="5229225"/>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lang="en-US" sz="1725" b="1" dirty="0">
                <a:solidFill>
                  <a:srgbClr val="121212"/>
                </a:solidFill>
                <a:latin typeface="Times New Roman"/>
                <a:ea typeface="Times New Roman"/>
                <a:cs typeface="Times New Roman"/>
              </a:rPr>
              <a:t>124</a:t>
            </a:r>
            <a:endParaRPr sz="1725" b="1" dirty="0">
              <a:solidFill>
                <a:srgbClr val="121212"/>
              </a:solidFill>
              <a:latin typeface="Times New Roman"/>
              <a:ea typeface="Times New Roman"/>
              <a:cs typeface="Times New Roman"/>
            </a:endParaRPr>
          </a:p>
        </p:txBody>
      </p:sp>
      <p:sp>
        <p:nvSpPr>
          <p:cNvPr id="50" name="Main CGPA, stratified 10-fold cross-validation, N = 1,1">
            <a:extLst>
              <a:ext uri="{FF2B5EF4-FFF2-40B4-BE49-F238E27FC236}">
                <a16:creationId xmlns:a16="http://schemas.microsoft.com/office/drawing/2014/main" id="{5ECE080D-4110-46F7-665E-C64E274B9E94}"/>
              </a:ext>
            </a:extLst>
          </p:cNvPr>
          <p:cNvSpPr>
            <a:spLocks noGrp="1"/>
          </p:cNvSpPr>
          <p:nvPr/>
        </p:nvSpPr>
        <p:spPr>
          <a:xfrm>
            <a:off x="400050" y="6057900"/>
            <a:ext cx="11049000" cy="285750"/>
          </a:xfrm>
          <a:prstGeom prst="rect">
            <a:avLst/>
          </a:prstGeom>
          <a:noFill/>
          <a:ln w="0">
            <a:noFill/>
          </a:ln>
        </p:spPr>
        <p:txBody>
          <a:bodyPr anchor="t">
            <a:noAutofit/>
          </a:bodyPr>
          <a:lstStyle/>
          <a:p>
            <a:pPr>
              <a:defRPr sz="1275" b="0">
                <a:solidFill>
                  <a:srgbClr val="585858"/>
                </a:solidFill>
                <a:latin typeface="Times New Roman"/>
                <a:ea typeface="Times New Roman"/>
                <a:cs typeface="Times New Roman"/>
              </a:defRPr>
            </a:pPr>
            <a:r>
              <a:rPr sz="1275" b="0" dirty="0">
                <a:solidFill>
                  <a:srgbClr val="585858"/>
                </a:solidFill>
                <a:latin typeface="Times New Roman"/>
                <a:ea typeface="Times New Roman"/>
                <a:cs typeface="Times New Roman"/>
              </a:rPr>
              <a:t>Main CGPA, stratified 5-fold cross-validation, N = 920. </a:t>
            </a:r>
            <a:endParaRPr lang="en-US" sz="1275" b="0" dirty="0">
              <a:solidFill>
                <a:srgbClr val="585858"/>
              </a:solidFill>
              <a:latin typeface="Times New Roman"/>
              <a:ea typeface="Times New Roman"/>
              <a:cs typeface="Times New Roman"/>
            </a:endParaRPr>
          </a:p>
          <a:p>
            <a:pPr>
              <a:defRPr sz="1275" b="0">
                <a:solidFill>
                  <a:srgbClr val="585858"/>
                </a:solidFill>
                <a:latin typeface="Times New Roman"/>
                <a:ea typeface="Times New Roman"/>
                <a:cs typeface="Times New Roman"/>
              </a:defRPr>
            </a:pPr>
            <a:r>
              <a:rPr sz="1275" b="0" dirty="0">
                <a:solidFill>
                  <a:srgbClr val="585858"/>
                </a:solidFill>
                <a:latin typeface="Times New Roman"/>
                <a:ea typeface="Times New Roman"/>
                <a:cs typeface="Times New Roman"/>
              </a:rPr>
              <a:t>Rows actual, columns predicted.</a:t>
            </a:r>
          </a:p>
        </p:txBody>
      </p:sp>
    </p:spTree>
    <p:extLst>
      <p:ext uri="{BB962C8B-B14F-4D97-AF65-F5344CB8AC3E}">
        <p14:creationId xmlns:p14="http://schemas.microsoft.com/office/powerpoint/2010/main" val="236406895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8B534C1-6F82-AEB0-717E-0D84E0D5EC3D}"/>
              </a:ext>
            </a:extLst>
          </p:cNvPr>
          <p:cNvPicPr>
            <a:picLocks noChangeAspect="1"/>
          </p:cNvPicPr>
          <p:nvPr/>
        </p:nvPicPr>
        <p:blipFill>
          <a:blip r:embed="rId2"/>
          <a:stretch>
            <a:fillRect/>
          </a:stretch>
        </p:blipFill>
        <p:spPr>
          <a:xfrm>
            <a:off x="4667250" y="0"/>
            <a:ext cx="7549816" cy="6858000"/>
          </a:xfrm>
          <a:prstGeom prst="rect">
            <a:avLst/>
          </a:prstGeom>
        </p:spPr>
      </p:pic>
      <p:sp>
        <p:nvSpPr>
          <p:cNvPr id="7" name="Google Shape;532;p58">
            <a:extLst>
              <a:ext uri="{FF2B5EF4-FFF2-40B4-BE49-F238E27FC236}">
                <a16:creationId xmlns:a16="http://schemas.microsoft.com/office/drawing/2014/main" id="{180572EB-A401-E4AD-85A0-C3924A54D85D}"/>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sz="1000" dirty="0">
                <a:latin typeface="Times New Roman"/>
                <a:ea typeface="Times New Roman"/>
                <a:cs typeface="Times New Roman"/>
              </a:rPr>
              <a:t>46</a:t>
            </a:r>
          </a:p>
        </p:txBody>
      </p:sp>
      <p:sp>
        <p:nvSpPr>
          <p:cNvPr id="8" name="Google Shape;533;p58">
            <a:extLst>
              <a:ext uri="{FF2B5EF4-FFF2-40B4-BE49-F238E27FC236}">
                <a16:creationId xmlns:a16="http://schemas.microsoft.com/office/drawing/2014/main" id="{F581BA61-BB9F-BAEA-4B92-A73C55A6BF02}"/>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dirty="0">
                <a:latin typeface="Times New Roman"/>
                <a:ea typeface="Times New Roman"/>
                <a:cs typeface="Times New Roman"/>
              </a:rPr>
              <a:t>WEKA Random Forest</a:t>
            </a:r>
            <a:br>
              <a:rPr lang="en-US" sz="3000" dirty="0">
                <a:latin typeface="Times New Roman"/>
                <a:ea typeface="Times New Roman"/>
                <a:cs typeface="Times New Roman"/>
              </a:rPr>
            </a:br>
            <a:r>
              <a:rPr lang="en-US" sz="3000" dirty="0">
                <a:latin typeface="Times New Roman"/>
                <a:ea typeface="Times New Roman"/>
                <a:cs typeface="Times New Roman"/>
              </a:rPr>
              <a:t>matrix</a:t>
            </a:r>
            <a:endParaRPr sz="3000" dirty="0">
              <a:latin typeface="Times New Roman"/>
              <a:ea typeface="Times New Roman"/>
              <a:cs typeface="Times New Roman"/>
            </a:endParaRPr>
          </a:p>
        </p:txBody>
      </p:sp>
      <p:sp>
        <p:nvSpPr>
          <p:cNvPr id="9" name="Random Forest">
            <a:extLst>
              <a:ext uri="{FF2B5EF4-FFF2-40B4-BE49-F238E27FC236}">
                <a16:creationId xmlns:a16="http://schemas.microsoft.com/office/drawing/2014/main" id="{5390F71D-A49C-86F8-F7DE-7319710B13BE}"/>
              </a:ext>
            </a:extLst>
          </p:cNvPr>
          <p:cNvSpPr>
            <a:spLocks noGrp="1"/>
          </p:cNvSpPr>
          <p:nvPr/>
        </p:nvSpPr>
        <p:spPr>
          <a:xfrm>
            <a:off x="666750" y="1552575"/>
            <a:ext cx="5238750" cy="381000"/>
          </a:xfrm>
          <a:prstGeom prst="rect">
            <a:avLst/>
          </a:prstGeom>
          <a:noFill/>
          <a:ln w="0">
            <a:noFill/>
          </a:ln>
        </p:spPr>
        <p:txBody>
          <a:bodyPr anchor="t">
            <a:noAutofit/>
          </a:bodyPr>
          <a:lstStyle/>
          <a:p>
            <a:pPr>
              <a:defRPr sz="1875" b="0">
                <a:solidFill>
                  <a:srgbClr val="121212"/>
                </a:solidFill>
                <a:latin typeface="Times New Roman"/>
                <a:ea typeface="Times New Roman"/>
                <a:cs typeface="Times New Roman"/>
              </a:defRPr>
            </a:pPr>
            <a:r>
              <a:rPr sz="1875" b="0" dirty="0">
                <a:solidFill>
                  <a:srgbClr val="121212"/>
                </a:solidFill>
                <a:latin typeface="Times New Roman"/>
                <a:ea typeface="Times New Roman"/>
                <a:cs typeface="Times New Roman"/>
              </a:rPr>
              <a:t>Random Forest</a:t>
            </a:r>
            <a:r>
              <a:rPr lang="en-US" sz="1875" b="0" dirty="0">
                <a:solidFill>
                  <a:srgbClr val="121212"/>
                </a:solidFill>
                <a:latin typeface="Times New Roman"/>
                <a:ea typeface="Times New Roman"/>
                <a:cs typeface="Times New Roman"/>
              </a:rPr>
              <a:t> 5-fold</a:t>
            </a:r>
            <a:endParaRPr sz="1875" b="0" dirty="0">
              <a:solidFill>
                <a:srgbClr val="121212"/>
              </a:solidFill>
              <a:latin typeface="Times New Roman"/>
              <a:ea typeface="Times New Roman"/>
              <a:cs typeface="Times New Roman"/>
            </a:endParaRPr>
          </a:p>
        </p:txBody>
      </p:sp>
      <p:sp>
        <p:nvSpPr>
          <p:cNvPr id="10" name="Predicted">
            <a:extLst>
              <a:ext uri="{FF2B5EF4-FFF2-40B4-BE49-F238E27FC236}">
                <a16:creationId xmlns:a16="http://schemas.microsoft.com/office/drawing/2014/main" id="{71AE6C62-D925-7897-A1A9-C343AA63A276}"/>
              </a:ext>
            </a:extLst>
          </p:cNvPr>
          <p:cNvSpPr>
            <a:spLocks noGrp="1"/>
          </p:cNvSpPr>
          <p:nvPr/>
        </p:nvSpPr>
        <p:spPr>
          <a:xfrm>
            <a:off x="1619250" y="2000250"/>
            <a:ext cx="2952750" cy="304800"/>
          </a:xfrm>
          <a:prstGeom prst="rect">
            <a:avLst/>
          </a:prstGeom>
          <a:noFill/>
          <a:ln w="0">
            <a:noFill/>
          </a:ln>
        </p:spPr>
        <p:txBody>
          <a:bodyPr anchor="t">
            <a:noAutofit/>
          </a:bodyPr>
          <a:lstStyle/>
          <a:p>
            <a:pPr>
              <a:defRPr sz="1575" b="0">
                <a:solidFill>
                  <a:srgbClr val="585858"/>
                </a:solidFill>
                <a:latin typeface="Times New Roman"/>
                <a:ea typeface="Times New Roman"/>
                <a:cs typeface="Times New Roman"/>
              </a:defRPr>
            </a:pPr>
            <a:r>
              <a:rPr sz="1575" b="0">
                <a:solidFill>
                  <a:srgbClr val="585858"/>
                </a:solidFill>
                <a:latin typeface="Times New Roman"/>
                <a:ea typeface="Times New Roman"/>
                <a:cs typeface="Times New Roman"/>
              </a:rPr>
              <a:t>Predicted</a:t>
            </a:r>
          </a:p>
        </p:txBody>
      </p:sp>
      <p:sp>
        <p:nvSpPr>
          <p:cNvPr id="11" name="C0">
            <a:extLst>
              <a:ext uri="{FF2B5EF4-FFF2-40B4-BE49-F238E27FC236}">
                <a16:creationId xmlns:a16="http://schemas.microsoft.com/office/drawing/2014/main" id="{6B3D08CB-9BF4-0A32-E996-F8BEBB544DFD}"/>
              </a:ext>
            </a:extLst>
          </p:cNvPr>
          <p:cNvSpPr>
            <a:spLocks noGrp="1"/>
          </p:cNvSpPr>
          <p:nvPr/>
        </p:nvSpPr>
        <p:spPr>
          <a:xfrm>
            <a:off x="1476375" y="2362200"/>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C0</a:t>
            </a:r>
          </a:p>
        </p:txBody>
      </p:sp>
      <p:sp>
        <p:nvSpPr>
          <p:cNvPr id="12" name="C0">
            <a:extLst>
              <a:ext uri="{FF2B5EF4-FFF2-40B4-BE49-F238E27FC236}">
                <a16:creationId xmlns:a16="http://schemas.microsoft.com/office/drawing/2014/main" id="{A6C3F4C0-0584-224A-00F5-00DC52F488D1}"/>
              </a:ext>
            </a:extLst>
          </p:cNvPr>
          <p:cNvSpPr>
            <a:spLocks noGrp="1"/>
          </p:cNvSpPr>
          <p:nvPr/>
        </p:nvSpPr>
        <p:spPr>
          <a:xfrm>
            <a:off x="762000" y="2809875"/>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C0</a:t>
            </a:r>
          </a:p>
        </p:txBody>
      </p:sp>
      <p:sp>
        <p:nvSpPr>
          <p:cNvPr id="13" name="C1">
            <a:extLst>
              <a:ext uri="{FF2B5EF4-FFF2-40B4-BE49-F238E27FC236}">
                <a16:creationId xmlns:a16="http://schemas.microsoft.com/office/drawing/2014/main" id="{2C2202A1-2ABD-2513-673A-7E0A280FAAB7}"/>
              </a:ext>
            </a:extLst>
          </p:cNvPr>
          <p:cNvSpPr>
            <a:spLocks noGrp="1"/>
          </p:cNvSpPr>
          <p:nvPr/>
        </p:nvSpPr>
        <p:spPr>
          <a:xfrm>
            <a:off x="2238375" y="2362200"/>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C1</a:t>
            </a:r>
          </a:p>
        </p:txBody>
      </p:sp>
      <p:sp>
        <p:nvSpPr>
          <p:cNvPr id="14" name="C1">
            <a:extLst>
              <a:ext uri="{FF2B5EF4-FFF2-40B4-BE49-F238E27FC236}">
                <a16:creationId xmlns:a16="http://schemas.microsoft.com/office/drawing/2014/main" id="{F5309D64-F3D7-C46F-F062-D89B699F73C3}"/>
              </a:ext>
            </a:extLst>
          </p:cNvPr>
          <p:cNvSpPr>
            <a:spLocks noGrp="1"/>
          </p:cNvSpPr>
          <p:nvPr/>
        </p:nvSpPr>
        <p:spPr>
          <a:xfrm>
            <a:off x="762000" y="3571875"/>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C1</a:t>
            </a:r>
          </a:p>
        </p:txBody>
      </p:sp>
      <p:sp>
        <p:nvSpPr>
          <p:cNvPr id="15" name="C2">
            <a:extLst>
              <a:ext uri="{FF2B5EF4-FFF2-40B4-BE49-F238E27FC236}">
                <a16:creationId xmlns:a16="http://schemas.microsoft.com/office/drawing/2014/main" id="{B10AFB49-2C21-D397-03C0-439A67AC3928}"/>
              </a:ext>
            </a:extLst>
          </p:cNvPr>
          <p:cNvSpPr>
            <a:spLocks noGrp="1"/>
          </p:cNvSpPr>
          <p:nvPr/>
        </p:nvSpPr>
        <p:spPr>
          <a:xfrm>
            <a:off x="3000375" y="2362200"/>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C2</a:t>
            </a:r>
          </a:p>
        </p:txBody>
      </p:sp>
      <p:sp>
        <p:nvSpPr>
          <p:cNvPr id="16" name="C2">
            <a:extLst>
              <a:ext uri="{FF2B5EF4-FFF2-40B4-BE49-F238E27FC236}">
                <a16:creationId xmlns:a16="http://schemas.microsoft.com/office/drawing/2014/main" id="{41487FEF-195A-8571-B114-9E48EC0F68F2}"/>
              </a:ext>
            </a:extLst>
          </p:cNvPr>
          <p:cNvSpPr>
            <a:spLocks noGrp="1"/>
          </p:cNvSpPr>
          <p:nvPr/>
        </p:nvSpPr>
        <p:spPr>
          <a:xfrm>
            <a:off x="762000" y="4333875"/>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C2</a:t>
            </a:r>
          </a:p>
        </p:txBody>
      </p:sp>
      <p:sp>
        <p:nvSpPr>
          <p:cNvPr id="17" name="C3">
            <a:extLst>
              <a:ext uri="{FF2B5EF4-FFF2-40B4-BE49-F238E27FC236}">
                <a16:creationId xmlns:a16="http://schemas.microsoft.com/office/drawing/2014/main" id="{48E516CA-27A1-3DDC-7CE7-FB6B0E2700E0}"/>
              </a:ext>
            </a:extLst>
          </p:cNvPr>
          <p:cNvSpPr>
            <a:spLocks noGrp="1"/>
          </p:cNvSpPr>
          <p:nvPr/>
        </p:nvSpPr>
        <p:spPr>
          <a:xfrm>
            <a:off x="3762375" y="2362200"/>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C3</a:t>
            </a:r>
          </a:p>
        </p:txBody>
      </p:sp>
      <p:sp>
        <p:nvSpPr>
          <p:cNvPr id="18" name="C3">
            <a:extLst>
              <a:ext uri="{FF2B5EF4-FFF2-40B4-BE49-F238E27FC236}">
                <a16:creationId xmlns:a16="http://schemas.microsoft.com/office/drawing/2014/main" id="{8E59BB38-0797-E440-7CAF-E02AE92E9440}"/>
              </a:ext>
            </a:extLst>
          </p:cNvPr>
          <p:cNvSpPr>
            <a:spLocks noGrp="1"/>
          </p:cNvSpPr>
          <p:nvPr/>
        </p:nvSpPr>
        <p:spPr>
          <a:xfrm>
            <a:off x="762000" y="5095875"/>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C3</a:t>
            </a:r>
          </a:p>
        </p:txBody>
      </p:sp>
      <p:sp>
        <p:nvSpPr>
          <p:cNvPr id="19" name="Rectangle 18">
            <a:extLst>
              <a:ext uri="{FF2B5EF4-FFF2-40B4-BE49-F238E27FC236}">
                <a16:creationId xmlns:a16="http://schemas.microsoft.com/office/drawing/2014/main" id="{F005C0D7-28CC-CF6D-DEA0-338E50A914CB}"/>
              </a:ext>
            </a:extLst>
          </p:cNvPr>
          <p:cNvSpPr>
            <a:spLocks noGrp="1"/>
          </p:cNvSpPr>
          <p:nvPr/>
        </p:nvSpPr>
        <p:spPr>
          <a:xfrm>
            <a:off x="1381125" y="2733675"/>
            <a:ext cx="742950" cy="742950"/>
          </a:xfrm>
          <a:prstGeom prst="rect">
            <a:avLst/>
          </a:prstGeom>
          <a:solidFill>
            <a:srgbClr val="DBEAF7"/>
          </a:solidFill>
          <a:ln w="0">
            <a:noFill/>
          </a:ln>
        </p:spPr>
        <p:txBody>
          <a:bodyPr/>
          <a:lstStyle/>
          <a:p>
            <a:endParaRPr lang="en-US"/>
          </a:p>
        </p:txBody>
      </p:sp>
      <p:sp>
        <p:nvSpPr>
          <p:cNvPr id="20" name="95">
            <a:extLst>
              <a:ext uri="{FF2B5EF4-FFF2-40B4-BE49-F238E27FC236}">
                <a16:creationId xmlns:a16="http://schemas.microsoft.com/office/drawing/2014/main" id="{02E9390E-31B1-5275-4721-ED80C246F20E}"/>
              </a:ext>
            </a:extLst>
          </p:cNvPr>
          <p:cNvSpPr>
            <a:spLocks noGrp="1"/>
          </p:cNvSpPr>
          <p:nvPr/>
        </p:nvSpPr>
        <p:spPr>
          <a:xfrm>
            <a:off x="1390650" y="2943225"/>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101</a:t>
            </a:r>
          </a:p>
        </p:txBody>
      </p:sp>
      <p:sp>
        <p:nvSpPr>
          <p:cNvPr id="21" name="Rectangle 20">
            <a:extLst>
              <a:ext uri="{FF2B5EF4-FFF2-40B4-BE49-F238E27FC236}">
                <a16:creationId xmlns:a16="http://schemas.microsoft.com/office/drawing/2014/main" id="{5875694A-0295-FF92-90A6-AC1029600DFB}"/>
              </a:ext>
            </a:extLst>
          </p:cNvPr>
          <p:cNvSpPr>
            <a:spLocks noGrp="1"/>
          </p:cNvSpPr>
          <p:nvPr/>
        </p:nvSpPr>
        <p:spPr>
          <a:xfrm>
            <a:off x="2143125" y="2733675"/>
            <a:ext cx="742950" cy="742950"/>
          </a:xfrm>
          <a:prstGeom prst="rect">
            <a:avLst/>
          </a:prstGeom>
          <a:solidFill>
            <a:srgbClr val="F2F2F2"/>
          </a:solidFill>
          <a:ln w="0">
            <a:noFill/>
          </a:ln>
        </p:spPr>
        <p:txBody>
          <a:bodyPr/>
          <a:lstStyle/>
          <a:p>
            <a:endParaRPr lang="en-US"/>
          </a:p>
        </p:txBody>
      </p:sp>
      <p:sp>
        <p:nvSpPr>
          <p:cNvPr id="22" name="81">
            <a:extLst>
              <a:ext uri="{FF2B5EF4-FFF2-40B4-BE49-F238E27FC236}">
                <a16:creationId xmlns:a16="http://schemas.microsoft.com/office/drawing/2014/main" id="{90BAA386-8B07-0184-D694-8B5AABC63E7A}"/>
              </a:ext>
            </a:extLst>
          </p:cNvPr>
          <p:cNvSpPr>
            <a:spLocks noGrp="1"/>
          </p:cNvSpPr>
          <p:nvPr/>
        </p:nvSpPr>
        <p:spPr>
          <a:xfrm>
            <a:off x="2152650" y="2943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53</a:t>
            </a:r>
          </a:p>
        </p:txBody>
      </p:sp>
      <p:sp>
        <p:nvSpPr>
          <p:cNvPr id="23" name="Rectangle 22">
            <a:extLst>
              <a:ext uri="{FF2B5EF4-FFF2-40B4-BE49-F238E27FC236}">
                <a16:creationId xmlns:a16="http://schemas.microsoft.com/office/drawing/2014/main" id="{5EC09D99-9816-2671-13FD-C626E7825F9E}"/>
              </a:ext>
            </a:extLst>
          </p:cNvPr>
          <p:cNvSpPr>
            <a:spLocks noGrp="1"/>
          </p:cNvSpPr>
          <p:nvPr/>
        </p:nvSpPr>
        <p:spPr>
          <a:xfrm>
            <a:off x="2905125" y="2733675"/>
            <a:ext cx="742950" cy="742950"/>
          </a:xfrm>
          <a:prstGeom prst="rect">
            <a:avLst/>
          </a:prstGeom>
          <a:solidFill>
            <a:srgbClr val="F2F2F2"/>
          </a:solidFill>
          <a:ln w="0">
            <a:noFill/>
          </a:ln>
        </p:spPr>
        <p:txBody>
          <a:bodyPr/>
          <a:lstStyle/>
          <a:p>
            <a:endParaRPr lang="en-US"/>
          </a:p>
        </p:txBody>
      </p:sp>
      <p:sp>
        <p:nvSpPr>
          <p:cNvPr id="24" name="26">
            <a:extLst>
              <a:ext uri="{FF2B5EF4-FFF2-40B4-BE49-F238E27FC236}">
                <a16:creationId xmlns:a16="http://schemas.microsoft.com/office/drawing/2014/main" id="{81058E50-0FB4-02A3-C5CD-4D29CB2DEBEA}"/>
              </a:ext>
            </a:extLst>
          </p:cNvPr>
          <p:cNvSpPr>
            <a:spLocks noGrp="1"/>
          </p:cNvSpPr>
          <p:nvPr/>
        </p:nvSpPr>
        <p:spPr>
          <a:xfrm>
            <a:off x="2914650" y="2943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20</a:t>
            </a:r>
          </a:p>
        </p:txBody>
      </p:sp>
      <p:sp>
        <p:nvSpPr>
          <p:cNvPr id="25" name="Rectangle 24">
            <a:extLst>
              <a:ext uri="{FF2B5EF4-FFF2-40B4-BE49-F238E27FC236}">
                <a16:creationId xmlns:a16="http://schemas.microsoft.com/office/drawing/2014/main" id="{E0396069-F4A9-4B4A-5ED8-F78DE84FA85F}"/>
              </a:ext>
            </a:extLst>
          </p:cNvPr>
          <p:cNvSpPr>
            <a:spLocks noGrp="1"/>
          </p:cNvSpPr>
          <p:nvPr/>
        </p:nvSpPr>
        <p:spPr>
          <a:xfrm>
            <a:off x="3667125" y="2733675"/>
            <a:ext cx="742950" cy="742950"/>
          </a:xfrm>
          <a:prstGeom prst="rect">
            <a:avLst/>
          </a:prstGeom>
          <a:solidFill>
            <a:srgbClr val="F2F2F2"/>
          </a:solidFill>
          <a:ln w="0">
            <a:noFill/>
          </a:ln>
        </p:spPr>
        <p:txBody>
          <a:bodyPr/>
          <a:lstStyle/>
          <a:p>
            <a:endParaRPr lang="en-US"/>
          </a:p>
        </p:txBody>
      </p:sp>
      <p:sp>
        <p:nvSpPr>
          <p:cNvPr id="26" name="34">
            <a:extLst>
              <a:ext uri="{FF2B5EF4-FFF2-40B4-BE49-F238E27FC236}">
                <a16:creationId xmlns:a16="http://schemas.microsoft.com/office/drawing/2014/main" id="{398AD106-4A49-D32C-6594-68760FBC6FB2}"/>
              </a:ext>
            </a:extLst>
          </p:cNvPr>
          <p:cNvSpPr>
            <a:spLocks noGrp="1"/>
          </p:cNvSpPr>
          <p:nvPr/>
        </p:nvSpPr>
        <p:spPr>
          <a:xfrm>
            <a:off x="3676650" y="2943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8</a:t>
            </a:r>
          </a:p>
        </p:txBody>
      </p:sp>
      <p:sp>
        <p:nvSpPr>
          <p:cNvPr id="27" name="Rectangle 26">
            <a:extLst>
              <a:ext uri="{FF2B5EF4-FFF2-40B4-BE49-F238E27FC236}">
                <a16:creationId xmlns:a16="http://schemas.microsoft.com/office/drawing/2014/main" id="{741DA506-B063-1620-1166-75E27A6AE3C2}"/>
              </a:ext>
            </a:extLst>
          </p:cNvPr>
          <p:cNvSpPr>
            <a:spLocks noGrp="1"/>
          </p:cNvSpPr>
          <p:nvPr/>
        </p:nvSpPr>
        <p:spPr>
          <a:xfrm>
            <a:off x="1381125" y="3495675"/>
            <a:ext cx="742950" cy="742950"/>
          </a:xfrm>
          <a:prstGeom prst="rect">
            <a:avLst/>
          </a:prstGeom>
          <a:solidFill>
            <a:srgbClr val="F2F2F2"/>
          </a:solidFill>
          <a:ln w="0">
            <a:noFill/>
          </a:ln>
        </p:spPr>
        <p:txBody>
          <a:bodyPr/>
          <a:lstStyle/>
          <a:p>
            <a:endParaRPr lang="en-US"/>
          </a:p>
        </p:txBody>
      </p:sp>
      <p:sp>
        <p:nvSpPr>
          <p:cNvPr id="28" name="57">
            <a:extLst>
              <a:ext uri="{FF2B5EF4-FFF2-40B4-BE49-F238E27FC236}">
                <a16:creationId xmlns:a16="http://schemas.microsoft.com/office/drawing/2014/main" id="{AABA2E12-45AC-7CB4-D801-6AD8A3BFE346}"/>
              </a:ext>
            </a:extLst>
          </p:cNvPr>
          <p:cNvSpPr>
            <a:spLocks noGrp="1"/>
          </p:cNvSpPr>
          <p:nvPr/>
        </p:nvSpPr>
        <p:spPr>
          <a:xfrm>
            <a:off x="1390650" y="3705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51</a:t>
            </a:r>
          </a:p>
        </p:txBody>
      </p:sp>
      <p:sp>
        <p:nvSpPr>
          <p:cNvPr id="29" name="Rectangle 28">
            <a:extLst>
              <a:ext uri="{FF2B5EF4-FFF2-40B4-BE49-F238E27FC236}">
                <a16:creationId xmlns:a16="http://schemas.microsoft.com/office/drawing/2014/main" id="{B7E76785-9740-C8D6-D121-22F4ED28CC15}"/>
              </a:ext>
            </a:extLst>
          </p:cNvPr>
          <p:cNvSpPr>
            <a:spLocks noGrp="1"/>
          </p:cNvSpPr>
          <p:nvPr/>
        </p:nvSpPr>
        <p:spPr>
          <a:xfrm>
            <a:off x="2143125" y="3495675"/>
            <a:ext cx="742950" cy="742950"/>
          </a:xfrm>
          <a:prstGeom prst="rect">
            <a:avLst/>
          </a:prstGeom>
          <a:solidFill>
            <a:srgbClr val="DBEAF7"/>
          </a:solidFill>
          <a:ln w="0">
            <a:noFill/>
          </a:ln>
        </p:spPr>
        <p:txBody>
          <a:bodyPr/>
          <a:lstStyle/>
          <a:p>
            <a:endParaRPr lang="en-US"/>
          </a:p>
        </p:txBody>
      </p:sp>
      <p:sp>
        <p:nvSpPr>
          <p:cNvPr id="30" name="159">
            <a:extLst>
              <a:ext uri="{FF2B5EF4-FFF2-40B4-BE49-F238E27FC236}">
                <a16:creationId xmlns:a16="http://schemas.microsoft.com/office/drawing/2014/main" id="{08691446-BB71-9AD1-EE73-21615C332187}"/>
              </a:ext>
            </a:extLst>
          </p:cNvPr>
          <p:cNvSpPr>
            <a:spLocks noGrp="1"/>
          </p:cNvSpPr>
          <p:nvPr/>
        </p:nvSpPr>
        <p:spPr>
          <a:xfrm>
            <a:off x="2152650" y="3705225"/>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148</a:t>
            </a:r>
          </a:p>
        </p:txBody>
      </p:sp>
      <p:sp>
        <p:nvSpPr>
          <p:cNvPr id="31" name="Rectangle 30">
            <a:extLst>
              <a:ext uri="{FF2B5EF4-FFF2-40B4-BE49-F238E27FC236}">
                <a16:creationId xmlns:a16="http://schemas.microsoft.com/office/drawing/2014/main" id="{A0AB570C-E013-9577-763A-2C206C6D4848}"/>
              </a:ext>
            </a:extLst>
          </p:cNvPr>
          <p:cNvSpPr>
            <a:spLocks noGrp="1"/>
          </p:cNvSpPr>
          <p:nvPr/>
        </p:nvSpPr>
        <p:spPr>
          <a:xfrm>
            <a:off x="2905125" y="3495675"/>
            <a:ext cx="742950" cy="742950"/>
          </a:xfrm>
          <a:prstGeom prst="rect">
            <a:avLst/>
          </a:prstGeom>
          <a:solidFill>
            <a:srgbClr val="F2F2F2"/>
          </a:solidFill>
          <a:ln w="0">
            <a:noFill/>
          </a:ln>
        </p:spPr>
        <p:txBody>
          <a:bodyPr/>
          <a:lstStyle/>
          <a:p>
            <a:endParaRPr lang="en-US"/>
          </a:p>
        </p:txBody>
      </p:sp>
      <p:sp>
        <p:nvSpPr>
          <p:cNvPr id="32" name="71">
            <a:extLst>
              <a:ext uri="{FF2B5EF4-FFF2-40B4-BE49-F238E27FC236}">
                <a16:creationId xmlns:a16="http://schemas.microsoft.com/office/drawing/2014/main" id="{AEFE599F-1494-E12D-F655-D60E6CD86A9F}"/>
              </a:ext>
            </a:extLst>
          </p:cNvPr>
          <p:cNvSpPr>
            <a:spLocks noGrp="1"/>
          </p:cNvSpPr>
          <p:nvPr/>
        </p:nvSpPr>
        <p:spPr>
          <a:xfrm>
            <a:off x="2914650" y="3705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72</a:t>
            </a:r>
          </a:p>
        </p:txBody>
      </p:sp>
      <p:sp>
        <p:nvSpPr>
          <p:cNvPr id="33" name="Rectangle 32">
            <a:extLst>
              <a:ext uri="{FF2B5EF4-FFF2-40B4-BE49-F238E27FC236}">
                <a16:creationId xmlns:a16="http://schemas.microsoft.com/office/drawing/2014/main" id="{BAB1034D-F79E-A027-45FD-01CAD835C8E0}"/>
              </a:ext>
            </a:extLst>
          </p:cNvPr>
          <p:cNvSpPr>
            <a:spLocks noGrp="1"/>
          </p:cNvSpPr>
          <p:nvPr/>
        </p:nvSpPr>
        <p:spPr>
          <a:xfrm>
            <a:off x="3667125" y="3495675"/>
            <a:ext cx="742950" cy="742950"/>
          </a:xfrm>
          <a:prstGeom prst="rect">
            <a:avLst/>
          </a:prstGeom>
          <a:solidFill>
            <a:srgbClr val="F2F2F2"/>
          </a:solidFill>
          <a:ln w="0">
            <a:noFill/>
          </a:ln>
        </p:spPr>
        <p:txBody>
          <a:bodyPr/>
          <a:lstStyle/>
          <a:p>
            <a:endParaRPr lang="en-US"/>
          </a:p>
        </p:txBody>
      </p:sp>
      <p:sp>
        <p:nvSpPr>
          <p:cNvPr id="34" name="33">
            <a:extLst>
              <a:ext uri="{FF2B5EF4-FFF2-40B4-BE49-F238E27FC236}">
                <a16:creationId xmlns:a16="http://schemas.microsoft.com/office/drawing/2014/main" id="{77F1DF08-7E08-F023-C72B-CFE983C49320}"/>
              </a:ext>
            </a:extLst>
          </p:cNvPr>
          <p:cNvSpPr>
            <a:spLocks noGrp="1"/>
          </p:cNvSpPr>
          <p:nvPr/>
        </p:nvSpPr>
        <p:spPr>
          <a:xfrm>
            <a:off x="3676650" y="3705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13</a:t>
            </a:r>
          </a:p>
        </p:txBody>
      </p:sp>
      <p:sp>
        <p:nvSpPr>
          <p:cNvPr id="35" name="Rectangle 34">
            <a:extLst>
              <a:ext uri="{FF2B5EF4-FFF2-40B4-BE49-F238E27FC236}">
                <a16:creationId xmlns:a16="http://schemas.microsoft.com/office/drawing/2014/main" id="{A953A346-3C1F-EE9B-77EE-C87FD4D0B28F}"/>
              </a:ext>
            </a:extLst>
          </p:cNvPr>
          <p:cNvSpPr>
            <a:spLocks noGrp="1"/>
          </p:cNvSpPr>
          <p:nvPr/>
        </p:nvSpPr>
        <p:spPr>
          <a:xfrm>
            <a:off x="1381125" y="4257675"/>
            <a:ext cx="742950" cy="742950"/>
          </a:xfrm>
          <a:prstGeom prst="rect">
            <a:avLst/>
          </a:prstGeom>
          <a:solidFill>
            <a:srgbClr val="F2F2F2"/>
          </a:solidFill>
          <a:ln w="0">
            <a:noFill/>
          </a:ln>
        </p:spPr>
        <p:txBody>
          <a:bodyPr/>
          <a:lstStyle/>
          <a:p>
            <a:endParaRPr lang="en-US"/>
          </a:p>
        </p:txBody>
      </p:sp>
      <p:sp>
        <p:nvSpPr>
          <p:cNvPr id="36" name="47">
            <a:extLst>
              <a:ext uri="{FF2B5EF4-FFF2-40B4-BE49-F238E27FC236}">
                <a16:creationId xmlns:a16="http://schemas.microsoft.com/office/drawing/2014/main" id="{78FEE649-42FF-EAF9-AEC2-0E6CB7C607F5}"/>
              </a:ext>
            </a:extLst>
          </p:cNvPr>
          <p:cNvSpPr>
            <a:spLocks noGrp="1"/>
          </p:cNvSpPr>
          <p:nvPr/>
        </p:nvSpPr>
        <p:spPr>
          <a:xfrm>
            <a:off x="1390650" y="4467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17</a:t>
            </a:r>
          </a:p>
        </p:txBody>
      </p:sp>
      <p:sp>
        <p:nvSpPr>
          <p:cNvPr id="37" name="Rectangle 36">
            <a:extLst>
              <a:ext uri="{FF2B5EF4-FFF2-40B4-BE49-F238E27FC236}">
                <a16:creationId xmlns:a16="http://schemas.microsoft.com/office/drawing/2014/main" id="{B0807307-A820-3156-5385-5BCDC21790F8}"/>
              </a:ext>
            </a:extLst>
          </p:cNvPr>
          <p:cNvSpPr>
            <a:spLocks noGrp="1"/>
          </p:cNvSpPr>
          <p:nvPr/>
        </p:nvSpPr>
        <p:spPr>
          <a:xfrm>
            <a:off x="2143125" y="4257675"/>
            <a:ext cx="742950" cy="742950"/>
          </a:xfrm>
          <a:prstGeom prst="rect">
            <a:avLst/>
          </a:prstGeom>
          <a:solidFill>
            <a:srgbClr val="F2F2F2"/>
          </a:solidFill>
          <a:ln w="0">
            <a:noFill/>
          </a:ln>
        </p:spPr>
        <p:txBody>
          <a:bodyPr/>
          <a:lstStyle/>
          <a:p>
            <a:endParaRPr lang="en-US"/>
          </a:p>
        </p:txBody>
      </p:sp>
      <p:sp>
        <p:nvSpPr>
          <p:cNvPr id="38" name="79">
            <a:extLst>
              <a:ext uri="{FF2B5EF4-FFF2-40B4-BE49-F238E27FC236}">
                <a16:creationId xmlns:a16="http://schemas.microsoft.com/office/drawing/2014/main" id="{43EAEAC4-C36B-5E1A-4412-1EE0266F9193}"/>
              </a:ext>
            </a:extLst>
          </p:cNvPr>
          <p:cNvSpPr>
            <a:spLocks noGrp="1"/>
          </p:cNvSpPr>
          <p:nvPr/>
        </p:nvSpPr>
        <p:spPr>
          <a:xfrm>
            <a:off x="2152650" y="4467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59</a:t>
            </a:r>
          </a:p>
        </p:txBody>
      </p:sp>
      <p:sp>
        <p:nvSpPr>
          <p:cNvPr id="39" name="Rectangle 38">
            <a:extLst>
              <a:ext uri="{FF2B5EF4-FFF2-40B4-BE49-F238E27FC236}">
                <a16:creationId xmlns:a16="http://schemas.microsoft.com/office/drawing/2014/main" id="{80C98C85-BB9A-F5C1-8920-F5F30D6EF5D5}"/>
              </a:ext>
            </a:extLst>
          </p:cNvPr>
          <p:cNvSpPr>
            <a:spLocks noGrp="1"/>
          </p:cNvSpPr>
          <p:nvPr/>
        </p:nvSpPr>
        <p:spPr>
          <a:xfrm>
            <a:off x="2905125" y="4257675"/>
            <a:ext cx="742950" cy="742950"/>
          </a:xfrm>
          <a:prstGeom prst="rect">
            <a:avLst/>
          </a:prstGeom>
          <a:solidFill>
            <a:srgbClr val="DBEAF7"/>
          </a:solidFill>
          <a:ln w="0">
            <a:noFill/>
          </a:ln>
        </p:spPr>
        <p:txBody>
          <a:bodyPr/>
          <a:lstStyle/>
          <a:p>
            <a:endParaRPr lang="en-US"/>
          </a:p>
        </p:txBody>
      </p:sp>
      <p:sp>
        <p:nvSpPr>
          <p:cNvPr id="40" name="126">
            <a:extLst>
              <a:ext uri="{FF2B5EF4-FFF2-40B4-BE49-F238E27FC236}">
                <a16:creationId xmlns:a16="http://schemas.microsoft.com/office/drawing/2014/main" id="{9503A59B-AB06-5739-13EB-975DD7E893A4}"/>
              </a:ext>
            </a:extLst>
          </p:cNvPr>
          <p:cNvSpPr>
            <a:spLocks noGrp="1"/>
          </p:cNvSpPr>
          <p:nvPr/>
        </p:nvSpPr>
        <p:spPr>
          <a:xfrm>
            <a:off x="2914650" y="4467225"/>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132</a:t>
            </a:r>
          </a:p>
        </p:txBody>
      </p:sp>
      <p:sp>
        <p:nvSpPr>
          <p:cNvPr id="41" name="Rectangle 40">
            <a:extLst>
              <a:ext uri="{FF2B5EF4-FFF2-40B4-BE49-F238E27FC236}">
                <a16:creationId xmlns:a16="http://schemas.microsoft.com/office/drawing/2014/main" id="{B15EA6EA-C97D-AD05-A1A6-9AF8B05B4444}"/>
              </a:ext>
            </a:extLst>
          </p:cNvPr>
          <p:cNvSpPr>
            <a:spLocks noGrp="1"/>
          </p:cNvSpPr>
          <p:nvPr/>
        </p:nvSpPr>
        <p:spPr>
          <a:xfrm>
            <a:off x="3667125" y="4257675"/>
            <a:ext cx="742950" cy="742950"/>
          </a:xfrm>
          <a:prstGeom prst="rect">
            <a:avLst/>
          </a:prstGeom>
          <a:solidFill>
            <a:srgbClr val="F2F2F2"/>
          </a:solidFill>
          <a:ln w="0">
            <a:noFill/>
          </a:ln>
        </p:spPr>
        <p:txBody>
          <a:bodyPr/>
          <a:lstStyle/>
          <a:p>
            <a:endParaRPr lang="en-US"/>
          </a:p>
        </p:txBody>
      </p:sp>
      <p:sp>
        <p:nvSpPr>
          <p:cNvPr id="42" name="48">
            <a:extLst>
              <a:ext uri="{FF2B5EF4-FFF2-40B4-BE49-F238E27FC236}">
                <a16:creationId xmlns:a16="http://schemas.microsoft.com/office/drawing/2014/main" id="{BC1A75CD-FD3D-DD59-BF32-FAB99ADF74D3}"/>
              </a:ext>
            </a:extLst>
          </p:cNvPr>
          <p:cNvSpPr>
            <a:spLocks noGrp="1"/>
          </p:cNvSpPr>
          <p:nvPr/>
        </p:nvSpPr>
        <p:spPr>
          <a:xfrm>
            <a:off x="3676650" y="4467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56</a:t>
            </a:r>
          </a:p>
        </p:txBody>
      </p:sp>
      <p:sp>
        <p:nvSpPr>
          <p:cNvPr id="43" name="Rectangle 42">
            <a:extLst>
              <a:ext uri="{FF2B5EF4-FFF2-40B4-BE49-F238E27FC236}">
                <a16:creationId xmlns:a16="http://schemas.microsoft.com/office/drawing/2014/main" id="{7FE89CA9-B76D-C6DB-DB12-973E85B0EB6E}"/>
              </a:ext>
            </a:extLst>
          </p:cNvPr>
          <p:cNvSpPr>
            <a:spLocks noGrp="1"/>
          </p:cNvSpPr>
          <p:nvPr/>
        </p:nvSpPr>
        <p:spPr>
          <a:xfrm>
            <a:off x="1381125" y="5019675"/>
            <a:ext cx="742950" cy="742950"/>
          </a:xfrm>
          <a:prstGeom prst="rect">
            <a:avLst/>
          </a:prstGeom>
          <a:solidFill>
            <a:srgbClr val="F2F2F2"/>
          </a:solidFill>
          <a:ln w="0">
            <a:noFill/>
          </a:ln>
        </p:spPr>
        <p:txBody>
          <a:bodyPr/>
          <a:lstStyle/>
          <a:p>
            <a:endParaRPr lang="en-US"/>
          </a:p>
        </p:txBody>
      </p:sp>
      <p:sp>
        <p:nvSpPr>
          <p:cNvPr id="44" name="43">
            <a:extLst>
              <a:ext uri="{FF2B5EF4-FFF2-40B4-BE49-F238E27FC236}">
                <a16:creationId xmlns:a16="http://schemas.microsoft.com/office/drawing/2014/main" id="{EDE796AC-1746-911F-94F9-62117E6176C4}"/>
              </a:ext>
            </a:extLst>
          </p:cNvPr>
          <p:cNvSpPr>
            <a:spLocks noGrp="1"/>
          </p:cNvSpPr>
          <p:nvPr/>
        </p:nvSpPr>
        <p:spPr>
          <a:xfrm>
            <a:off x="1390650" y="5229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13</a:t>
            </a:r>
          </a:p>
        </p:txBody>
      </p:sp>
      <p:sp>
        <p:nvSpPr>
          <p:cNvPr id="45" name="Rectangle 44">
            <a:extLst>
              <a:ext uri="{FF2B5EF4-FFF2-40B4-BE49-F238E27FC236}">
                <a16:creationId xmlns:a16="http://schemas.microsoft.com/office/drawing/2014/main" id="{84E4F364-AEC1-E592-4B3B-0EE4F89BE3E0}"/>
              </a:ext>
            </a:extLst>
          </p:cNvPr>
          <p:cNvSpPr>
            <a:spLocks noGrp="1"/>
          </p:cNvSpPr>
          <p:nvPr/>
        </p:nvSpPr>
        <p:spPr>
          <a:xfrm>
            <a:off x="2143125" y="5019675"/>
            <a:ext cx="742950" cy="742950"/>
          </a:xfrm>
          <a:prstGeom prst="rect">
            <a:avLst/>
          </a:prstGeom>
          <a:solidFill>
            <a:srgbClr val="F2F2F2"/>
          </a:solidFill>
          <a:ln w="0">
            <a:noFill/>
          </a:ln>
        </p:spPr>
        <p:txBody>
          <a:bodyPr/>
          <a:lstStyle/>
          <a:p>
            <a:endParaRPr lang="en-US"/>
          </a:p>
        </p:txBody>
      </p:sp>
      <p:sp>
        <p:nvSpPr>
          <p:cNvPr id="46" name="50">
            <a:extLst>
              <a:ext uri="{FF2B5EF4-FFF2-40B4-BE49-F238E27FC236}">
                <a16:creationId xmlns:a16="http://schemas.microsoft.com/office/drawing/2014/main" id="{F41C8067-40C0-A3A0-6A75-4EE86D2BFB2A}"/>
              </a:ext>
            </a:extLst>
          </p:cNvPr>
          <p:cNvSpPr>
            <a:spLocks noGrp="1"/>
          </p:cNvSpPr>
          <p:nvPr/>
        </p:nvSpPr>
        <p:spPr>
          <a:xfrm>
            <a:off x="2152650" y="5229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16</a:t>
            </a:r>
          </a:p>
        </p:txBody>
      </p:sp>
      <p:sp>
        <p:nvSpPr>
          <p:cNvPr id="47" name="Rectangle 46">
            <a:extLst>
              <a:ext uri="{FF2B5EF4-FFF2-40B4-BE49-F238E27FC236}">
                <a16:creationId xmlns:a16="http://schemas.microsoft.com/office/drawing/2014/main" id="{F8DF8CD1-2E26-4A23-A17D-52617AFC45A5}"/>
              </a:ext>
            </a:extLst>
          </p:cNvPr>
          <p:cNvSpPr>
            <a:spLocks noGrp="1"/>
          </p:cNvSpPr>
          <p:nvPr/>
        </p:nvSpPr>
        <p:spPr>
          <a:xfrm>
            <a:off x="2905125" y="5019675"/>
            <a:ext cx="742950" cy="742950"/>
          </a:xfrm>
          <a:prstGeom prst="rect">
            <a:avLst/>
          </a:prstGeom>
          <a:solidFill>
            <a:srgbClr val="F2F2F2"/>
          </a:solidFill>
          <a:ln w="0">
            <a:noFill/>
          </a:ln>
        </p:spPr>
        <p:txBody>
          <a:bodyPr/>
          <a:lstStyle/>
          <a:p>
            <a:endParaRPr lang="en-US"/>
          </a:p>
        </p:txBody>
      </p:sp>
      <p:sp>
        <p:nvSpPr>
          <p:cNvPr id="48" name="49">
            <a:extLst>
              <a:ext uri="{FF2B5EF4-FFF2-40B4-BE49-F238E27FC236}">
                <a16:creationId xmlns:a16="http://schemas.microsoft.com/office/drawing/2014/main" id="{937571B9-7404-AF79-ED0D-952FCAD4F011}"/>
              </a:ext>
            </a:extLst>
          </p:cNvPr>
          <p:cNvSpPr>
            <a:spLocks noGrp="1"/>
          </p:cNvSpPr>
          <p:nvPr/>
        </p:nvSpPr>
        <p:spPr>
          <a:xfrm>
            <a:off x="2914650" y="5229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43</a:t>
            </a:r>
          </a:p>
        </p:txBody>
      </p:sp>
      <p:sp>
        <p:nvSpPr>
          <p:cNvPr id="49" name="Rectangle 48">
            <a:extLst>
              <a:ext uri="{FF2B5EF4-FFF2-40B4-BE49-F238E27FC236}">
                <a16:creationId xmlns:a16="http://schemas.microsoft.com/office/drawing/2014/main" id="{D3A93280-2ACA-9109-DFEA-9881126252B9}"/>
              </a:ext>
            </a:extLst>
          </p:cNvPr>
          <p:cNvSpPr>
            <a:spLocks noGrp="1"/>
          </p:cNvSpPr>
          <p:nvPr/>
        </p:nvSpPr>
        <p:spPr>
          <a:xfrm>
            <a:off x="3667125" y="5019675"/>
            <a:ext cx="742950" cy="742950"/>
          </a:xfrm>
          <a:prstGeom prst="rect">
            <a:avLst/>
          </a:prstGeom>
          <a:solidFill>
            <a:srgbClr val="DBEAF7"/>
          </a:solidFill>
          <a:ln w="0">
            <a:noFill/>
          </a:ln>
        </p:spPr>
        <p:txBody>
          <a:bodyPr/>
          <a:lstStyle/>
          <a:p>
            <a:endParaRPr lang="en-US"/>
          </a:p>
        </p:txBody>
      </p:sp>
      <p:sp>
        <p:nvSpPr>
          <p:cNvPr id="50" name="104">
            <a:extLst>
              <a:ext uri="{FF2B5EF4-FFF2-40B4-BE49-F238E27FC236}">
                <a16:creationId xmlns:a16="http://schemas.microsoft.com/office/drawing/2014/main" id="{E2D16B7B-A514-31B1-109A-DF830A5AB14A}"/>
              </a:ext>
            </a:extLst>
          </p:cNvPr>
          <p:cNvSpPr>
            <a:spLocks noGrp="1"/>
          </p:cNvSpPr>
          <p:nvPr/>
        </p:nvSpPr>
        <p:spPr>
          <a:xfrm>
            <a:off x="3676650" y="5229225"/>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118</a:t>
            </a:r>
          </a:p>
        </p:txBody>
      </p:sp>
      <p:sp>
        <p:nvSpPr>
          <p:cNvPr id="51" name="Main CGPA, stratified 10-fold cross-validation, N = 1,1">
            <a:extLst>
              <a:ext uri="{FF2B5EF4-FFF2-40B4-BE49-F238E27FC236}">
                <a16:creationId xmlns:a16="http://schemas.microsoft.com/office/drawing/2014/main" id="{2775989A-0E06-63AF-4177-BC3408871F8B}"/>
              </a:ext>
            </a:extLst>
          </p:cNvPr>
          <p:cNvSpPr>
            <a:spLocks noGrp="1"/>
          </p:cNvSpPr>
          <p:nvPr/>
        </p:nvSpPr>
        <p:spPr>
          <a:xfrm>
            <a:off x="400050" y="6057900"/>
            <a:ext cx="11049000" cy="285750"/>
          </a:xfrm>
          <a:prstGeom prst="rect">
            <a:avLst/>
          </a:prstGeom>
          <a:noFill/>
          <a:ln w="0">
            <a:noFill/>
          </a:ln>
        </p:spPr>
        <p:txBody>
          <a:bodyPr anchor="t">
            <a:noAutofit/>
          </a:bodyPr>
          <a:lstStyle/>
          <a:p>
            <a:pPr>
              <a:defRPr sz="1275" b="0">
                <a:solidFill>
                  <a:srgbClr val="585858"/>
                </a:solidFill>
                <a:latin typeface="Times New Roman"/>
                <a:ea typeface="Times New Roman"/>
                <a:cs typeface="Times New Roman"/>
              </a:defRPr>
            </a:pPr>
            <a:r>
              <a:rPr sz="1275" b="0" dirty="0">
                <a:solidFill>
                  <a:srgbClr val="585858"/>
                </a:solidFill>
                <a:latin typeface="Times New Roman"/>
                <a:ea typeface="Times New Roman"/>
                <a:cs typeface="Times New Roman"/>
              </a:rPr>
              <a:t>Main CGPA, stratified 5-fold cross-validation, N = 920. </a:t>
            </a:r>
            <a:endParaRPr lang="en-US" sz="1275" b="0" dirty="0">
              <a:solidFill>
                <a:srgbClr val="585858"/>
              </a:solidFill>
              <a:latin typeface="Times New Roman"/>
              <a:ea typeface="Times New Roman"/>
              <a:cs typeface="Times New Roman"/>
            </a:endParaRPr>
          </a:p>
          <a:p>
            <a:pPr>
              <a:defRPr sz="1275" b="0">
                <a:solidFill>
                  <a:srgbClr val="585858"/>
                </a:solidFill>
                <a:latin typeface="Times New Roman"/>
                <a:ea typeface="Times New Roman"/>
                <a:cs typeface="Times New Roman"/>
              </a:defRPr>
            </a:pPr>
            <a:r>
              <a:rPr sz="1275" b="0" dirty="0">
                <a:solidFill>
                  <a:srgbClr val="585858"/>
                </a:solidFill>
                <a:latin typeface="Times New Roman"/>
                <a:ea typeface="Times New Roman"/>
                <a:cs typeface="Times New Roman"/>
              </a:rPr>
              <a:t>Rows actual,</a:t>
            </a:r>
            <a:r>
              <a:rPr lang="en-US" sz="1275" dirty="0">
                <a:solidFill>
                  <a:srgbClr val="585858"/>
                </a:solidFill>
                <a:latin typeface="Times New Roman"/>
                <a:ea typeface="Times New Roman"/>
                <a:cs typeface="Times New Roman"/>
              </a:rPr>
              <a:t> </a:t>
            </a:r>
            <a:r>
              <a:rPr sz="1275" b="0" dirty="0">
                <a:solidFill>
                  <a:srgbClr val="585858"/>
                </a:solidFill>
                <a:latin typeface="Times New Roman"/>
                <a:ea typeface="Times New Roman"/>
                <a:cs typeface="Times New Roman"/>
              </a:rPr>
              <a:t>columns predicted.</a:t>
            </a:r>
          </a:p>
        </p:txBody>
      </p:sp>
    </p:spTree>
    <p:extLst>
      <p:ext uri="{BB962C8B-B14F-4D97-AF65-F5344CB8AC3E}">
        <p14:creationId xmlns:p14="http://schemas.microsoft.com/office/powerpoint/2010/main" val="122706516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D40B00CF-6AC3-4D7F-C6D6-5F52C2A2B5EA}"/>
              </a:ext>
            </a:extLst>
          </p:cNvPr>
          <p:cNvPicPr>
            <a:picLocks noChangeAspect="1"/>
          </p:cNvPicPr>
          <p:nvPr/>
        </p:nvPicPr>
        <p:blipFill>
          <a:blip r:embed="rId2"/>
          <a:stretch>
            <a:fillRect/>
          </a:stretch>
        </p:blipFill>
        <p:spPr>
          <a:xfrm>
            <a:off x="4400550" y="11694"/>
            <a:ext cx="7817491" cy="6858000"/>
          </a:xfrm>
          <a:prstGeom prst="rect">
            <a:avLst/>
          </a:prstGeom>
        </p:spPr>
      </p:pic>
      <p:sp>
        <p:nvSpPr>
          <p:cNvPr id="7" name="Google Shape;532;p58">
            <a:extLst>
              <a:ext uri="{FF2B5EF4-FFF2-40B4-BE49-F238E27FC236}">
                <a16:creationId xmlns:a16="http://schemas.microsoft.com/office/drawing/2014/main" id="{15B8FD12-9E69-CAA0-9C7C-C2ECF8617E7E}"/>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sz="1000" dirty="0">
                <a:latin typeface="Times New Roman"/>
                <a:ea typeface="Times New Roman"/>
                <a:cs typeface="Times New Roman"/>
              </a:rPr>
              <a:t>47</a:t>
            </a:r>
          </a:p>
        </p:txBody>
      </p:sp>
      <p:sp>
        <p:nvSpPr>
          <p:cNvPr id="8" name="Google Shape;533;p58">
            <a:extLst>
              <a:ext uri="{FF2B5EF4-FFF2-40B4-BE49-F238E27FC236}">
                <a16:creationId xmlns:a16="http://schemas.microsoft.com/office/drawing/2014/main" id="{90D39FD5-AFB7-9B4C-083E-081755B71925}"/>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dirty="0">
                <a:latin typeface="Times New Roman"/>
                <a:ea typeface="Times New Roman"/>
                <a:cs typeface="Times New Roman"/>
              </a:rPr>
              <a:t>WEKA SMO matri</a:t>
            </a:r>
            <a:r>
              <a:rPr lang="en-US" sz="3000" dirty="0">
                <a:latin typeface="Times New Roman"/>
                <a:ea typeface="Times New Roman"/>
                <a:cs typeface="Times New Roman"/>
              </a:rPr>
              <a:t>x</a:t>
            </a:r>
            <a:endParaRPr sz="3000" dirty="0">
              <a:latin typeface="Times New Roman"/>
              <a:ea typeface="Times New Roman"/>
              <a:cs typeface="Times New Roman"/>
            </a:endParaRPr>
          </a:p>
        </p:txBody>
      </p:sp>
      <p:sp>
        <p:nvSpPr>
          <p:cNvPr id="9" name="SMO">
            <a:extLst>
              <a:ext uri="{FF2B5EF4-FFF2-40B4-BE49-F238E27FC236}">
                <a16:creationId xmlns:a16="http://schemas.microsoft.com/office/drawing/2014/main" id="{65DABDAA-79BB-7367-FA6B-7786F25A1627}"/>
              </a:ext>
            </a:extLst>
          </p:cNvPr>
          <p:cNvSpPr>
            <a:spLocks noGrp="1"/>
          </p:cNvSpPr>
          <p:nvPr/>
        </p:nvSpPr>
        <p:spPr>
          <a:xfrm>
            <a:off x="400050" y="1377851"/>
            <a:ext cx="5238750" cy="381000"/>
          </a:xfrm>
          <a:prstGeom prst="rect">
            <a:avLst/>
          </a:prstGeom>
          <a:noFill/>
          <a:ln w="0">
            <a:noFill/>
          </a:ln>
        </p:spPr>
        <p:txBody>
          <a:bodyPr anchor="t">
            <a:noAutofit/>
          </a:bodyPr>
          <a:lstStyle/>
          <a:p>
            <a:pPr>
              <a:defRPr sz="1875" b="0">
                <a:solidFill>
                  <a:srgbClr val="121212"/>
                </a:solidFill>
                <a:latin typeface="Times New Roman"/>
                <a:ea typeface="Times New Roman"/>
                <a:cs typeface="Times New Roman"/>
              </a:defRPr>
            </a:pPr>
            <a:r>
              <a:rPr sz="1875" b="0" dirty="0">
                <a:solidFill>
                  <a:srgbClr val="121212"/>
                </a:solidFill>
                <a:latin typeface="Times New Roman"/>
                <a:ea typeface="Times New Roman"/>
                <a:cs typeface="Times New Roman"/>
              </a:rPr>
              <a:t>SMO</a:t>
            </a:r>
            <a:r>
              <a:rPr lang="en-US" sz="1875" b="0" dirty="0">
                <a:solidFill>
                  <a:srgbClr val="121212"/>
                </a:solidFill>
                <a:latin typeface="Times New Roman"/>
                <a:ea typeface="Times New Roman"/>
                <a:cs typeface="Times New Roman"/>
              </a:rPr>
              <a:t> 5-fold</a:t>
            </a:r>
            <a:endParaRPr sz="1875" b="0" dirty="0">
              <a:solidFill>
                <a:srgbClr val="121212"/>
              </a:solidFill>
              <a:latin typeface="Times New Roman"/>
              <a:ea typeface="Times New Roman"/>
              <a:cs typeface="Times New Roman"/>
            </a:endParaRPr>
          </a:p>
        </p:txBody>
      </p:sp>
      <p:sp>
        <p:nvSpPr>
          <p:cNvPr id="10" name="Predicted">
            <a:extLst>
              <a:ext uri="{FF2B5EF4-FFF2-40B4-BE49-F238E27FC236}">
                <a16:creationId xmlns:a16="http://schemas.microsoft.com/office/drawing/2014/main" id="{21B05B76-ADAB-911D-F1B4-C376D74A1D2D}"/>
              </a:ext>
            </a:extLst>
          </p:cNvPr>
          <p:cNvSpPr>
            <a:spLocks noGrp="1"/>
          </p:cNvSpPr>
          <p:nvPr/>
        </p:nvSpPr>
        <p:spPr>
          <a:xfrm>
            <a:off x="1352550" y="1825526"/>
            <a:ext cx="2952750" cy="304800"/>
          </a:xfrm>
          <a:prstGeom prst="rect">
            <a:avLst/>
          </a:prstGeom>
          <a:noFill/>
          <a:ln w="0">
            <a:noFill/>
          </a:ln>
        </p:spPr>
        <p:txBody>
          <a:bodyPr anchor="t">
            <a:noAutofit/>
          </a:bodyPr>
          <a:lstStyle/>
          <a:p>
            <a:pPr>
              <a:defRPr sz="1575" b="0">
                <a:solidFill>
                  <a:srgbClr val="585858"/>
                </a:solidFill>
                <a:latin typeface="Times New Roman"/>
                <a:ea typeface="Times New Roman"/>
                <a:cs typeface="Times New Roman"/>
              </a:defRPr>
            </a:pPr>
            <a:r>
              <a:rPr sz="1575" b="0">
                <a:solidFill>
                  <a:srgbClr val="585858"/>
                </a:solidFill>
                <a:latin typeface="Times New Roman"/>
                <a:ea typeface="Times New Roman"/>
                <a:cs typeface="Times New Roman"/>
              </a:rPr>
              <a:t>Predicted</a:t>
            </a:r>
          </a:p>
        </p:txBody>
      </p:sp>
      <p:sp>
        <p:nvSpPr>
          <p:cNvPr id="11" name="C0">
            <a:extLst>
              <a:ext uri="{FF2B5EF4-FFF2-40B4-BE49-F238E27FC236}">
                <a16:creationId xmlns:a16="http://schemas.microsoft.com/office/drawing/2014/main" id="{2E550758-D4AE-F012-90CA-1F18B5362354}"/>
              </a:ext>
            </a:extLst>
          </p:cNvPr>
          <p:cNvSpPr>
            <a:spLocks noGrp="1"/>
          </p:cNvSpPr>
          <p:nvPr/>
        </p:nvSpPr>
        <p:spPr>
          <a:xfrm>
            <a:off x="1209675" y="2187476"/>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C0</a:t>
            </a:r>
          </a:p>
        </p:txBody>
      </p:sp>
      <p:sp>
        <p:nvSpPr>
          <p:cNvPr id="12" name="C0">
            <a:extLst>
              <a:ext uri="{FF2B5EF4-FFF2-40B4-BE49-F238E27FC236}">
                <a16:creationId xmlns:a16="http://schemas.microsoft.com/office/drawing/2014/main" id="{FCB90018-4E2E-1C37-AAD9-7895A314B2C7}"/>
              </a:ext>
            </a:extLst>
          </p:cNvPr>
          <p:cNvSpPr>
            <a:spLocks noGrp="1"/>
          </p:cNvSpPr>
          <p:nvPr/>
        </p:nvSpPr>
        <p:spPr>
          <a:xfrm>
            <a:off x="495300" y="2635151"/>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C0</a:t>
            </a:r>
          </a:p>
        </p:txBody>
      </p:sp>
      <p:sp>
        <p:nvSpPr>
          <p:cNvPr id="13" name="C1">
            <a:extLst>
              <a:ext uri="{FF2B5EF4-FFF2-40B4-BE49-F238E27FC236}">
                <a16:creationId xmlns:a16="http://schemas.microsoft.com/office/drawing/2014/main" id="{C7CC1BF5-DC9D-71FB-D597-87BFD17EE775}"/>
              </a:ext>
            </a:extLst>
          </p:cNvPr>
          <p:cNvSpPr>
            <a:spLocks noGrp="1"/>
          </p:cNvSpPr>
          <p:nvPr/>
        </p:nvSpPr>
        <p:spPr>
          <a:xfrm>
            <a:off x="1971675" y="2187476"/>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C1</a:t>
            </a:r>
          </a:p>
        </p:txBody>
      </p:sp>
      <p:sp>
        <p:nvSpPr>
          <p:cNvPr id="14" name="C1">
            <a:extLst>
              <a:ext uri="{FF2B5EF4-FFF2-40B4-BE49-F238E27FC236}">
                <a16:creationId xmlns:a16="http://schemas.microsoft.com/office/drawing/2014/main" id="{98373417-5F0F-5615-CE3A-6CA3A2B13AFF}"/>
              </a:ext>
            </a:extLst>
          </p:cNvPr>
          <p:cNvSpPr>
            <a:spLocks noGrp="1"/>
          </p:cNvSpPr>
          <p:nvPr/>
        </p:nvSpPr>
        <p:spPr>
          <a:xfrm>
            <a:off x="495300" y="3397151"/>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C1</a:t>
            </a:r>
          </a:p>
        </p:txBody>
      </p:sp>
      <p:sp>
        <p:nvSpPr>
          <p:cNvPr id="15" name="C2">
            <a:extLst>
              <a:ext uri="{FF2B5EF4-FFF2-40B4-BE49-F238E27FC236}">
                <a16:creationId xmlns:a16="http://schemas.microsoft.com/office/drawing/2014/main" id="{A1009323-9DFC-6919-AB7C-C38EC9A166E2}"/>
              </a:ext>
            </a:extLst>
          </p:cNvPr>
          <p:cNvSpPr>
            <a:spLocks noGrp="1"/>
          </p:cNvSpPr>
          <p:nvPr/>
        </p:nvSpPr>
        <p:spPr>
          <a:xfrm>
            <a:off x="2733675" y="2187476"/>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C2</a:t>
            </a:r>
          </a:p>
        </p:txBody>
      </p:sp>
      <p:sp>
        <p:nvSpPr>
          <p:cNvPr id="16" name="C2">
            <a:extLst>
              <a:ext uri="{FF2B5EF4-FFF2-40B4-BE49-F238E27FC236}">
                <a16:creationId xmlns:a16="http://schemas.microsoft.com/office/drawing/2014/main" id="{7C893196-3C53-E7E6-82D8-87EDCFA9E745}"/>
              </a:ext>
            </a:extLst>
          </p:cNvPr>
          <p:cNvSpPr>
            <a:spLocks noGrp="1"/>
          </p:cNvSpPr>
          <p:nvPr/>
        </p:nvSpPr>
        <p:spPr>
          <a:xfrm>
            <a:off x="495300" y="4159151"/>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C2</a:t>
            </a:r>
          </a:p>
        </p:txBody>
      </p:sp>
      <p:sp>
        <p:nvSpPr>
          <p:cNvPr id="17" name="C3">
            <a:extLst>
              <a:ext uri="{FF2B5EF4-FFF2-40B4-BE49-F238E27FC236}">
                <a16:creationId xmlns:a16="http://schemas.microsoft.com/office/drawing/2014/main" id="{16314EBD-E5A0-B2EA-57FA-12F8096C1D50}"/>
              </a:ext>
            </a:extLst>
          </p:cNvPr>
          <p:cNvSpPr>
            <a:spLocks noGrp="1"/>
          </p:cNvSpPr>
          <p:nvPr/>
        </p:nvSpPr>
        <p:spPr>
          <a:xfrm>
            <a:off x="3495675" y="2187476"/>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C3</a:t>
            </a:r>
          </a:p>
        </p:txBody>
      </p:sp>
      <p:sp>
        <p:nvSpPr>
          <p:cNvPr id="18" name="C3">
            <a:extLst>
              <a:ext uri="{FF2B5EF4-FFF2-40B4-BE49-F238E27FC236}">
                <a16:creationId xmlns:a16="http://schemas.microsoft.com/office/drawing/2014/main" id="{BF77AF46-8B95-EA6E-7FA1-13E8209DABBE}"/>
              </a:ext>
            </a:extLst>
          </p:cNvPr>
          <p:cNvSpPr>
            <a:spLocks noGrp="1"/>
          </p:cNvSpPr>
          <p:nvPr/>
        </p:nvSpPr>
        <p:spPr>
          <a:xfrm>
            <a:off x="495300" y="4921151"/>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C3</a:t>
            </a:r>
          </a:p>
        </p:txBody>
      </p:sp>
      <p:sp>
        <p:nvSpPr>
          <p:cNvPr id="19" name="Rectangle 18">
            <a:extLst>
              <a:ext uri="{FF2B5EF4-FFF2-40B4-BE49-F238E27FC236}">
                <a16:creationId xmlns:a16="http://schemas.microsoft.com/office/drawing/2014/main" id="{17B1DDE0-CF87-42E5-910D-6F41B45ED7EF}"/>
              </a:ext>
            </a:extLst>
          </p:cNvPr>
          <p:cNvSpPr>
            <a:spLocks noGrp="1"/>
          </p:cNvSpPr>
          <p:nvPr/>
        </p:nvSpPr>
        <p:spPr>
          <a:xfrm>
            <a:off x="1114425" y="2558951"/>
            <a:ext cx="742950" cy="742950"/>
          </a:xfrm>
          <a:prstGeom prst="rect">
            <a:avLst/>
          </a:prstGeom>
          <a:solidFill>
            <a:srgbClr val="DBEAF7"/>
          </a:solidFill>
          <a:ln w="0">
            <a:noFill/>
          </a:ln>
        </p:spPr>
        <p:txBody>
          <a:bodyPr/>
          <a:lstStyle/>
          <a:p>
            <a:endParaRPr lang="en-US"/>
          </a:p>
        </p:txBody>
      </p:sp>
      <p:sp>
        <p:nvSpPr>
          <p:cNvPr id="20" name="61">
            <a:extLst>
              <a:ext uri="{FF2B5EF4-FFF2-40B4-BE49-F238E27FC236}">
                <a16:creationId xmlns:a16="http://schemas.microsoft.com/office/drawing/2014/main" id="{F8FE0A4D-27B9-4D3B-B75F-9EC34D90FA10}"/>
              </a:ext>
            </a:extLst>
          </p:cNvPr>
          <p:cNvSpPr>
            <a:spLocks noGrp="1"/>
          </p:cNvSpPr>
          <p:nvPr/>
        </p:nvSpPr>
        <p:spPr>
          <a:xfrm>
            <a:off x="1123950" y="2768501"/>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102</a:t>
            </a:r>
          </a:p>
        </p:txBody>
      </p:sp>
      <p:sp>
        <p:nvSpPr>
          <p:cNvPr id="21" name="Rectangle 20">
            <a:extLst>
              <a:ext uri="{FF2B5EF4-FFF2-40B4-BE49-F238E27FC236}">
                <a16:creationId xmlns:a16="http://schemas.microsoft.com/office/drawing/2014/main" id="{1FE33D33-D0E5-87F3-C8FD-D791BABD3A89}"/>
              </a:ext>
            </a:extLst>
          </p:cNvPr>
          <p:cNvSpPr>
            <a:spLocks noGrp="1"/>
          </p:cNvSpPr>
          <p:nvPr/>
        </p:nvSpPr>
        <p:spPr>
          <a:xfrm>
            <a:off x="1876425" y="2558951"/>
            <a:ext cx="742950" cy="742950"/>
          </a:xfrm>
          <a:prstGeom prst="rect">
            <a:avLst/>
          </a:prstGeom>
          <a:solidFill>
            <a:srgbClr val="F2F2F2"/>
          </a:solidFill>
          <a:ln w="0">
            <a:noFill/>
          </a:ln>
        </p:spPr>
        <p:txBody>
          <a:bodyPr/>
          <a:lstStyle/>
          <a:p>
            <a:endParaRPr lang="en-US"/>
          </a:p>
        </p:txBody>
      </p:sp>
      <p:sp>
        <p:nvSpPr>
          <p:cNvPr id="22" name="113">
            <a:extLst>
              <a:ext uri="{FF2B5EF4-FFF2-40B4-BE49-F238E27FC236}">
                <a16:creationId xmlns:a16="http://schemas.microsoft.com/office/drawing/2014/main" id="{6B2E9DED-84BC-082F-0654-9765AC1372C1}"/>
              </a:ext>
            </a:extLst>
          </p:cNvPr>
          <p:cNvSpPr>
            <a:spLocks noGrp="1"/>
          </p:cNvSpPr>
          <p:nvPr/>
        </p:nvSpPr>
        <p:spPr>
          <a:xfrm>
            <a:off x="1885950" y="2768501"/>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59</a:t>
            </a:r>
          </a:p>
        </p:txBody>
      </p:sp>
      <p:sp>
        <p:nvSpPr>
          <p:cNvPr id="23" name="Rectangle 22">
            <a:extLst>
              <a:ext uri="{FF2B5EF4-FFF2-40B4-BE49-F238E27FC236}">
                <a16:creationId xmlns:a16="http://schemas.microsoft.com/office/drawing/2014/main" id="{59AFD678-064A-55FF-3CF8-AE141A20E829}"/>
              </a:ext>
            </a:extLst>
          </p:cNvPr>
          <p:cNvSpPr>
            <a:spLocks noGrp="1"/>
          </p:cNvSpPr>
          <p:nvPr/>
        </p:nvSpPr>
        <p:spPr>
          <a:xfrm>
            <a:off x="2638425" y="2558951"/>
            <a:ext cx="742950" cy="742950"/>
          </a:xfrm>
          <a:prstGeom prst="rect">
            <a:avLst/>
          </a:prstGeom>
          <a:solidFill>
            <a:srgbClr val="F2F2F2"/>
          </a:solidFill>
          <a:ln w="0">
            <a:noFill/>
          </a:ln>
        </p:spPr>
        <p:txBody>
          <a:bodyPr/>
          <a:lstStyle/>
          <a:p>
            <a:endParaRPr lang="en-US"/>
          </a:p>
        </p:txBody>
      </p:sp>
      <p:sp>
        <p:nvSpPr>
          <p:cNvPr id="24" name="34">
            <a:extLst>
              <a:ext uri="{FF2B5EF4-FFF2-40B4-BE49-F238E27FC236}">
                <a16:creationId xmlns:a16="http://schemas.microsoft.com/office/drawing/2014/main" id="{7FE18627-A8D0-3259-4D38-EE347D66BE04}"/>
              </a:ext>
            </a:extLst>
          </p:cNvPr>
          <p:cNvSpPr>
            <a:spLocks noGrp="1"/>
          </p:cNvSpPr>
          <p:nvPr/>
        </p:nvSpPr>
        <p:spPr>
          <a:xfrm>
            <a:off x="2647950" y="2768501"/>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11</a:t>
            </a:r>
          </a:p>
        </p:txBody>
      </p:sp>
      <p:sp>
        <p:nvSpPr>
          <p:cNvPr id="25" name="Rectangle 24">
            <a:extLst>
              <a:ext uri="{FF2B5EF4-FFF2-40B4-BE49-F238E27FC236}">
                <a16:creationId xmlns:a16="http://schemas.microsoft.com/office/drawing/2014/main" id="{8FE8584C-6C35-A954-643A-AB51B21A1D31}"/>
              </a:ext>
            </a:extLst>
          </p:cNvPr>
          <p:cNvSpPr>
            <a:spLocks noGrp="1"/>
          </p:cNvSpPr>
          <p:nvPr/>
        </p:nvSpPr>
        <p:spPr>
          <a:xfrm>
            <a:off x="3400425" y="2558951"/>
            <a:ext cx="742950" cy="742950"/>
          </a:xfrm>
          <a:prstGeom prst="rect">
            <a:avLst/>
          </a:prstGeom>
          <a:solidFill>
            <a:srgbClr val="F2F2F2"/>
          </a:solidFill>
          <a:ln w="0">
            <a:noFill/>
          </a:ln>
        </p:spPr>
        <p:txBody>
          <a:bodyPr/>
          <a:lstStyle/>
          <a:p>
            <a:endParaRPr lang="en-US"/>
          </a:p>
        </p:txBody>
      </p:sp>
      <p:sp>
        <p:nvSpPr>
          <p:cNvPr id="26" name="28">
            <a:extLst>
              <a:ext uri="{FF2B5EF4-FFF2-40B4-BE49-F238E27FC236}">
                <a16:creationId xmlns:a16="http://schemas.microsoft.com/office/drawing/2014/main" id="{C7F5B19A-6454-15C8-B4A7-7D96F778F13F}"/>
              </a:ext>
            </a:extLst>
          </p:cNvPr>
          <p:cNvSpPr>
            <a:spLocks noGrp="1"/>
          </p:cNvSpPr>
          <p:nvPr/>
        </p:nvSpPr>
        <p:spPr>
          <a:xfrm>
            <a:off x="3409950" y="2768501"/>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10</a:t>
            </a:r>
          </a:p>
        </p:txBody>
      </p:sp>
      <p:sp>
        <p:nvSpPr>
          <p:cNvPr id="27" name="Rectangle 26">
            <a:extLst>
              <a:ext uri="{FF2B5EF4-FFF2-40B4-BE49-F238E27FC236}">
                <a16:creationId xmlns:a16="http://schemas.microsoft.com/office/drawing/2014/main" id="{76E0345F-7EDA-F08D-7CB8-0D23E9B9C107}"/>
              </a:ext>
            </a:extLst>
          </p:cNvPr>
          <p:cNvSpPr>
            <a:spLocks noGrp="1"/>
          </p:cNvSpPr>
          <p:nvPr/>
        </p:nvSpPr>
        <p:spPr>
          <a:xfrm>
            <a:off x="1114425" y="3320951"/>
            <a:ext cx="742950" cy="742950"/>
          </a:xfrm>
          <a:prstGeom prst="rect">
            <a:avLst/>
          </a:prstGeom>
          <a:solidFill>
            <a:srgbClr val="F2F2F2"/>
          </a:solidFill>
          <a:ln w="0">
            <a:noFill/>
          </a:ln>
        </p:spPr>
        <p:txBody>
          <a:bodyPr/>
          <a:lstStyle/>
          <a:p>
            <a:endParaRPr lang="en-US"/>
          </a:p>
        </p:txBody>
      </p:sp>
      <p:sp>
        <p:nvSpPr>
          <p:cNvPr id="28" name="51">
            <a:extLst>
              <a:ext uri="{FF2B5EF4-FFF2-40B4-BE49-F238E27FC236}">
                <a16:creationId xmlns:a16="http://schemas.microsoft.com/office/drawing/2014/main" id="{BF3475B2-121D-BE7E-47EF-59221293D14D}"/>
              </a:ext>
            </a:extLst>
          </p:cNvPr>
          <p:cNvSpPr>
            <a:spLocks noGrp="1"/>
          </p:cNvSpPr>
          <p:nvPr/>
        </p:nvSpPr>
        <p:spPr>
          <a:xfrm>
            <a:off x="1123950" y="3530501"/>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49</a:t>
            </a:r>
          </a:p>
        </p:txBody>
      </p:sp>
      <p:sp>
        <p:nvSpPr>
          <p:cNvPr id="29" name="Rectangle 28">
            <a:extLst>
              <a:ext uri="{FF2B5EF4-FFF2-40B4-BE49-F238E27FC236}">
                <a16:creationId xmlns:a16="http://schemas.microsoft.com/office/drawing/2014/main" id="{6EBF0377-14BD-3B23-5EA4-0661AA043669}"/>
              </a:ext>
            </a:extLst>
          </p:cNvPr>
          <p:cNvSpPr>
            <a:spLocks noGrp="1"/>
          </p:cNvSpPr>
          <p:nvPr/>
        </p:nvSpPr>
        <p:spPr>
          <a:xfrm>
            <a:off x="1876425" y="3320951"/>
            <a:ext cx="742950" cy="742950"/>
          </a:xfrm>
          <a:prstGeom prst="rect">
            <a:avLst/>
          </a:prstGeom>
          <a:solidFill>
            <a:srgbClr val="DBEAF7"/>
          </a:solidFill>
          <a:ln w="0">
            <a:noFill/>
          </a:ln>
        </p:spPr>
        <p:txBody>
          <a:bodyPr/>
          <a:lstStyle/>
          <a:p>
            <a:endParaRPr lang="en-US"/>
          </a:p>
        </p:txBody>
      </p:sp>
      <p:sp>
        <p:nvSpPr>
          <p:cNvPr id="30" name="154">
            <a:extLst>
              <a:ext uri="{FF2B5EF4-FFF2-40B4-BE49-F238E27FC236}">
                <a16:creationId xmlns:a16="http://schemas.microsoft.com/office/drawing/2014/main" id="{8506DD4E-C94D-0143-98D9-FA35AE5B67BE}"/>
              </a:ext>
            </a:extLst>
          </p:cNvPr>
          <p:cNvSpPr>
            <a:spLocks noGrp="1"/>
          </p:cNvSpPr>
          <p:nvPr/>
        </p:nvSpPr>
        <p:spPr>
          <a:xfrm>
            <a:off x="1885950" y="3530501"/>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146</a:t>
            </a:r>
          </a:p>
        </p:txBody>
      </p:sp>
      <p:sp>
        <p:nvSpPr>
          <p:cNvPr id="31" name="Rectangle 30">
            <a:extLst>
              <a:ext uri="{FF2B5EF4-FFF2-40B4-BE49-F238E27FC236}">
                <a16:creationId xmlns:a16="http://schemas.microsoft.com/office/drawing/2014/main" id="{2E85665F-8BA6-6CE3-541F-5DCA00A7BCBF}"/>
              </a:ext>
            </a:extLst>
          </p:cNvPr>
          <p:cNvSpPr>
            <a:spLocks noGrp="1"/>
          </p:cNvSpPr>
          <p:nvPr/>
        </p:nvSpPr>
        <p:spPr>
          <a:xfrm>
            <a:off x="2638425" y="3320951"/>
            <a:ext cx="742950" cy="742950"/>
          </a:xfrm>
          <a:prstGeom prst="rect">
            <a:avLst/>
          </a:prstGeom>
          <a:solidFill>
            <a:srgbClr val="F2F2F2"/>
          </a:solidFill>
          <a:ln w="0">
            <a:noFill/>
          </a:ln>
        </p:spPr>
        <p:txBody>
          <a:bodyPr/>
          <a:lstStyle/>
          <a:p>
            <a:endParaRPr lang="en-US"/>
          </a:p>
        </p:txBody>
      </p:sp>
      <p:sp>
        <p:nvSpPr>
          <p:cNvPr id="32" name="75">
            <a:extLst>
              <a:ext uri="{FF2B5EF4-FFF2-40B4-BE49-F238E27FC236}">
                <a16:creationId xmlns:a16="http://schemas.microsoft.com/office/drawing/2014/main" id="{8261EE64-2170-432B-C7F5-1B2D52ED1325}"/>
              </a:ext>
            </a:extLst>
          </p:cNvPr>
          <p:cNvSpPr>
            <a:spLocks noGrp="1"/>
          </p:cNvSpPr>
          <p:nvPr/>
        </p:nvSpPr>
        <p:spPr>
          <a:xfrm>
            <a:off x="2647950" y="3530501"/>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75</a:t>
            </a:r>
          </a:p>
        </p:txBody>
      </p:sp>
      <p:sp>
        <p:nvSpPr>
          <p:cNvPr id="33" name="Rectangle 32">
            <a:extLst>
              <a:ext uri="{FF2B5EF4-FFF2-40B4-BE49-F238E27FC236}">
                <a16:creationId xmlns:a16="http://schemas.microsoft.com/office/drawing/2014/main" id="{9361B967-3B5A-8607-B510-E2CB3AAB6544}"/>
              </a:ext>
            </a:extLst>
          </p:cNvPr>
          <p:cNvSpPr>
            <a:spLocks noGrp="1"/>
          </p:cNvSpPr>
          <p:nvPr/>
        </p:nvSpPr>
        <p:spPr>
          <a:xfrm>
            <a:off x="3400425" y="3320951"/>
            <a:ext cx="742950" cy="742950"/>
          </a:xfrm>
          <a:prstGeom prst="rect">
            <a:avLst/>
          </a:prstGeom>
          <a:solidFill>
            <a:srgbClr val="F2F2F2"/>
          </a:solidFill>
          <a:ln w="0">
            <a:noFill/>
          </a:ln>
        </p:spPr>
        <p:txBody>
          <a:bodyPr/>
          <a:lstStyle/>
          <a:p>
            <a:endParaRPr lang="en-US"/>
          </a:p>
        </p:txBody>
      </p:sp>
      <p:sp>
        <p:nvSpPr>
          <p:cNvPr id="34" name="40">
            <a:extLst>
              <a:ext uri="{FF2B5EF4-FFF2-40B4-BE49-F238E27FC236}">
                <a16:creationId xmlns:a16="http://schemas.microsoft.com/office/drawing/2014/main" id="{C59BB7DE-E312-CE11-F2C3-32BE2DC821EA}"/>
              </a:ext>
            </a:extLst>
          </p:cNvPr>
          <p:cNvSpPr>
            <a:spLocks noGrp="1"/>
          </p:cNvSpPr>
          <p:nvPr/>
        </p:nvSpPr>
        <p:spPr>
          <a:xfrm>
            <a:off x="3409950" y="3530501"/>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14</a:t>
            </a:r>
          </a:p>
        </p:txBody>
      </p:sp>
      <p:sp>
        <p:nvSpPr>
          <p:cNvPr id="35" name="Rectangle 34">
            <a:extLst>
              <a:ext uri="{FF2B5EF4-FFF2-40B4-BE49-F238E27FC236}">
                <a16:creationId xmlns:a16="http://schemas.microsoft.com/office/drawing/2014/main" id="{A3723CB3-2971-C600-0826-E9AF15ED5913}"/>
              </a:ext>
            </a:extLst>
          </p:cNvPr>
          <p:cNvSpPr>
            <a:spLocks noGrp="1"/>
          </p:cNvSpPr>
          <p:nvPr/>
        </p:nvSpPr>
        <p:spPr>
          <a:xfrm>
            <a:off x="1114425" y="4082951"/>
            <a:ext cx="742950" cy="742950"/>
          </a:xfrm>
          <a:prstGeom prst="rect">
            <a:avLst/>
          </a:prstGeom>
          <a:solidFill>
            <a:srgbClr val="F2F2F2"/>
          </a:solidFill>
          <a:ln w="0">
            <a:noFill/>
          </a:ln>
        </p:spPr>
        <p:txBody>
          <a:bodyPr/>
          <a:lstStyle/>
          <a:p>
            <a:endParaRPr lang="en-US"/>
          </a:p>
        </p:txBody>
      </p:sp>
      <p:sp>
        <p:nvSpPr>
          <p:cNvPr id="36" name="42">
            <a:extLst>
              <a:ext uri="{FF2B5EF4-FFF2-40B4-BE49-F238E27FC236}">
                <a16:creationId xmlns:a16="http://schemas.microsoft.com/office/drawing/2014/main" id="{15D5B8F1-F052-7668-AAE2-B6FB243DABB4}"/>
              </a:ext>
            </a:extLst>
          </p:cNvPr>
          <p:cNvSpPr>
            <a:spLocks noGrp="1"/>
          </p:cNvSpPr>
          <p:nvPr/>
        </p:nvSpPr>
        <p:spPr>
          <a:xfrm>
            <a:off x="1123950" y="4292501"/>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8</a:t>
            </a:r>
          </a:p>
        </p:txBody>
      </p:sp>
      <p:sp>
        <p:nvSpPr>
          <p:cNvPr id="37" name="Rectangle 36">
            <a:extLst>
              <a:ext uri="{FF2B5EF4-FFF2-40B4-BE49-F238E27FC236}">
                <a16:creationId xmlns:a16="http://schemas.microsoft.com/office/drawing/2014/main" id="{EBD207D7-5775-5D26-5EB9-971F5E562170}"/>
              </a:ext>
            </a:extLst>
          </p:cNvPr>
          <p:cNvSpPr>
            <a:spLocks noGrp="1"/>
          </p:cNvSpPr>
          <p:nvPr/>
        </p:nvSpPr>
        <p:spPr>
          <a:xfrm>
            <a:off x="1876425" y="4082951"/>
            <a:ext cx="742950" cy="742950"/>
          </a:xfrm>
          <a:prstGeom prst="rect">
            <a:avLst/>
          </a:prstGeom>
          <a:solidFill>
            <a:srgbClr val="F2F2F2"/>
          </a:solidFill>
          <a:ln w="0">
            <a:noFill/>
          </a:ln>
        </p:spPr>
        <p:txBody>
          <a:bodyPr/>
          <a:lstStyle/>
          <a:p>
            <a:endParaRPr lang="en-US"/>
          </a:p>
        </p:txBody>
      </p:sp>
      <p:sp>
        <p:nvSpPr>
          <p:cNvPr id="38" name="93">
            <a:extLst>
              <a:ext uri="{FF2B5EF4-FFF2-40B4-BE49-F238E27FC236}">
                <a16:creationId xmlns:a16="http://schemas.microsoft.com/office/drawing/2014/main" id="{4FD72D54-06C7-698C-BCD3-F80C03645C3F}"/>
              </a:ext>
            </a:extLst>
          </p:cNvPr>
          <p:cNvSpPr>
            <a:spLocks noGrp="1"/>
          </p:cNvSpPr>
          <p:nvPr/>
        </p:nvSpPr>
        <p:spPr>
          <a:xfrm>
            <a:off x="1885950" y="4292501"/>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59</a:t>
            </a:r>
          </a:p>
        </p:txBody>
      </p:sp>
      <p:sp>
        <p:nvSpPr>
          <p:cNvPr id="39" name="Rectangle 38">
            <a:extLst>
              <a:ext uri="{FF2B5EF4-FFF2-40B4-BE49-F238E27FC236}">
                <a16:creationId xmlns:a16="http://schemas.microsoft.com/office/drawing/2014/main" id="{FC4360AF-A319-6C78-D4A0-6C00D4DE16AC}"/>
              </a:ext>
            </a:extLst>
          </p:cNvPr>
          <p:cNvSpPr>
            <a:spLocks noGrp="1"/>
          </p:cNvSpPr>
          <p:nvPr/>
        </p:nvSpPr>
        <p:spPr>
          <a:xfrm>
            <a:off x="2638425" y="4082951"/>
            <a:ext cx="742950" cy="742950"/>
          </a:xfrm>
          <a:prstGeom prst="rect">
            <a:avLst/>
          </a:prstGeom>
          <a:solidFill>
            <a:srgbClr val="DBEAF7"/>
          </a:solidFill>
          <a:ln w="0">
            <a:noFill/>
          </a:ln>
        </p:spPr>
        <p:txBody>
          <a:bodyPr/>
          <a:lstStyle/>
          <a:p>
            <a:endParaRPr lang="en-US"/>
          </a:p>
        </p:txBody>
      </p:sp>
      <p:sp>
        <p:nvSpPr>
          <p:cNvPr id="40" name="109">
            <a:extLst>
              <a:ext uri="{FF2B5EF4-FFF2-40B4-BE49-F238E27FC236}">
                <a16:creationId xmlns:a16="http://schemas.microsoft.com/office/drawing/2014/main" id="{83550B2F-43D4-0749-BD7B-A9475993FFEF}"/>
              </a:ext>
            </a:extLst>
          </p:cNvPr>
          <p:cNvSpPr>
            <a:spLocks noGrp="1"/>
          </p:cNvSpPr>
          <p:nvPr/>
        </p:nvSpPr>
        <p:spPr>
          <a:xfrm>
            <a:off x="2647950" y="4292501"/>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131</a:t>
            </a:r>
          </a:p>
        </p:txBody>
      </p:sp>
      <p:sp>
        <p:nvSpPr>
          <p:cNvPr id="41" name="Rectangle 40">
            <a:extLst>
              <a:ext uri="{FF2B5EF4-FFF2-40B4-BE49-F238E27FC236}">
                <a16:creationId xmlns:a16="http://schemas.microsoft.com/office/drawing/2014/main" id="{A71A0EA9-FA78-AD97-0222-9AAB221834E0}"/>
              </a:ext>
            </a:extLst>
          </p:cNvPr>
          <p:cNvSpPr>
            <a:spLocks noGrp="1"/>
          </p:cNvSpPr>
          <p:nvPr/>
        </p:nvSpPr>
        <p:spPr>
          <a:xfrm>
            <a:off x="3400425" y="4082951"/>
            <a:ext cx="742950" cy="742950"/>
          </a:xfrm>
          <a:prstGeom prst="rect">
            <a:avLst/>
          </a:prstGeom>
          <a:solidFill>
            <a:srgbClr val="F2F2F2"/>
          </a:solidFill>
          <a:ln w="0">
            <a:noFill/>
          </a:ln>
        </p:spPr>
        <p:txBody>
          <a:bodyPr/>
          <a:lstStyle/>
          <a:p>
            <a:endParaRPr lang="en-US"/>
          </a:p>
        </p:txBody>
      </p:sp>
      <p:sp>
        <p:nvSpPr>
          <p:cNvPr id="42" name="56">
            <a:extLst>
              <a:ext uri="{FF2B5EF4-FFF2-40B4-BE49-F238E27FC236}">
                <a16:creationId xmlns:a16="http://schemas.microsoft.com/office/drawing/2014/main" id="{114568FF-A2A9-1FE9-77EE-8B6CEA048FC5}"/>
              </a:ext>
            </a:extLst>
          </p:cNvPr>
          <p:cNvSpPr>
            <a:spLocks noGrp="1"/>
          </p:cNvSpPr>
          <p:nvPr/>
        </p:nvSpPr>
        <p:spPr>
          <a:xfrm>
            <a:off x="3409950" y="4292501"/>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66</a:t>
            </a:r>
          </a:p>
        </p:txBody>
      </p:sp>
      <p:sp>
        <p:nvSpPr>
          <p:cNvPr id="43" name="Rectangle 42">
            <a:extLst>
              <a:ext uri="{FF2B5EF4-FFF2-40B4-BE49-F238E27FC236}">
                <a16:creationId xmlns:a16="http://schemas.microsoft.com/office/drawing/2014/main" id="{1C86001C-0212-5B99-7F1D-6F9558F967E0}"/>
              </a:ext>
            </a:extLst>
          </p:cNvPr>
          <p:cNvSpPr>
            <a:spLocks noGrp="1"/>
          </p:cNvSpPr>
          <p:nvPr/>
        </p:nvSpPr>
        <p:spPr>
          <a:xfrm>
            <a:off x="1114425" y="4844951"/>
            <a:ext cx="742950" cy="742950"/>
          </a:xfrm>
          <a:prstGeom prst="rect">
            <a:avLst/>
          </a:prstGeom>
          <a:solidFill>
            <a:srgbClr val="F2F2F2"/>
          </a:solidFill>
          <a:ln w="0">
            <a:noFill/>
          </a:ln>
        </p:spPr>
        <p:txBody>
          <a:bodyPr/>
          <a:lstStyle/>
          <a:p>
            <a:endParaRPr lang="en-US"/>
          </a:p>
        </p:txBody>
      </p:sp>
      <p:sp>
        <p:nvSpPr>
          <p:cNvPr id="44" name="35">
            <a:extLst>
              <a:ext uri="{FF2B5EF4-FFF2-40B4-BE49-F238E27FC236}">
                <a16:creationId xmlns:a16="http://schemas.microsoft.com/office/drawing/2014/main" id="{9C9128BB-7A12-D6B3-8AB0-5FB05B374C94}"/>
              </a:ext>
            </a:extLst>
          </p:cNvPr>
          <p:cNvSpPr>
            <a:spLocks noGrp="1"/>
          </p:cNvSpPr>
          <p:nvPr/>
        </p:nvSpPr>
        <p:spPr>
          <a:xfrm>
            <a:off x="1123950" y="5054501"/>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12</a:t>
            </a:r>
          </a:p>
        </p:txBody>
      </p:sp>
      <p:sp>
        <p:nvSpPr>
          <p:cNvPr id="45" name="Rectangle 44">
            <a:extLst>
              <a:ext uri="{FF2B5EF4-FFF2-40B4-BE49-F238E27FC236}">
                <a16:creationId xmlns:a16="http://schemas.microsoft.com/office/drawing/2014/main" id="{472F1F00-3674-FF1B-68C7-64899999521B}"/>
              </a:ext>
            </a:extLst>
          </p:cNvPr>
          <p:cNvSpPr>
            <a:spLocks noGrp="1"/>
          </p:cNvSpPr>
          <p:nvPr/>
        </p:nvSpPr>
        <p:spPr>
          <a:xfrm>
            <a:off x="1876425" y="4844951"/>
            <a:ext cx="742950" cy="742950"/>
          </a:xfrm>
          <a:prstGeom prst="rect">
            <a:avLst/>
          </a:prstGeom>
          <a:solidFill>
            <a:srgbClr val="F2F2F2"/>
          </a:solidFill>
          <a:ln w="0">
            <a:noFill/>
          </a:ln>
        </p:spPr>
        <p:txBody>
          <a:bodyPr/>
          <a:lstStyle/>
          <a:p>
            <a:endParaRPr lang="en-US"/>
          </a:p>
        </p:txBody>
      </p:sp>
      <p:sp>
        <p:nvSpPr>
          <p:cNvPr id="46" name="56">
            <a:extLst>
              <a:ext uri="{FF2B5EF4-FFF2-40B4-BE49-F238E27FC236}">
                <a16:creationId xmlns:a16="http://schemas.microsoft.com/office/drawing/2014/main" id="{A021864A-7D27-DA4C-4FDB-95DFB85B895F}"/>
              </a:ext>
            </a:extLst>
          </p:cNvPr>
          <p:cNvSpPr>
            <a:spLocks noGrp="1"/>
          </p:cNvSpPr>
          <p:nvPr/>
        </p:nvSpPr>
        <p:spPr>
          <a:xfrm>
            <a:off x="1885950" y="5054501"/>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5</a:t>
            </a:r>
          </a:p>
        </p:txBody>
      </p:sp>
      <p:sp>
        <p:nvSpPr>
          <p:cNvPr id="47" name="Rectangle 46">
            <a:extLst>
              <a:ext uri="{FF2B5EF4-FFF2-40B4-BE49-F238E27FC236}">
                <a16:creationId xmlns:a16="http://schemas.microsoft.com/office/drawing/2014/main" id="{41A3AD4A-AE4A-7F8C-4CCA-06C3C29A09A0}"/>
              </a:ext>
            </a:extLst>
          </p:cNvPr>
          <p:cNvSpPr>
            <a:spLocks noGrp="1"/>
          </p:cNvSpPr>
          <p:nvPr/>
        </p:nvSpPr>
        <p:spPr>
          <a:xfrm>
            <a:off x="2638425" y="4844951"/>
            <a:ext cx="742950" cy="742950"/>
          </a:xfrm>
          <a:prstGeom prst="rect">
            <a:avLst/>
          </a:prstGeom>
          <a:solidFill>
            <a:srgbClr val="F2F2F2"/>
          </a:solidFill>
          <a:ln w="0">
            <a:noFill/>
          </a:ln>
        </p:spPr>
        <p:txBody>
          <a:bodyPr/>
          <a:lstStyle/>
          <a:p>
            <a:endParaRPr lang="en-US"/>
          </a:p>
        </p:txBody>
      </p:sp>
      <p:sp>
        <p:nvSpPr>
          <p:cNvPr id="48" name="70">
            <a:extLst>
              <a:ext uri="{FF2B5EF4-FFF2-40B4-BE49-F238E27FC236}">
                <a16:creationId xmlns:a16="http://schemas.microsoft.com/office/drawing/2014/main" id="{956B2B33-05D6-C5E8-894F-A640CCD23D7A}"/>
              </a:ext>
            </a:extLst>
          </p:cNvPr>
          <p:cNvSpPr>
            <a:spLocks noGrp="1"/>
          </p:cNvSpPr>
          <p:nvPr/>
        </p:nvSpPr>
        <p:spPr>
          <a:xfrm>
            <a:off x="2647950" y="5054501"/>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44</a:t>
            </a:r>
          </a:p>
        </p:txBody>
      </p:sp>
      <p:sp>
        <p:nvSpPr>
          <p:cNvPr id="49" name="Rectangle 48">
            <a:extLst>
              <a:ext uri="{FF2B5EF4-FFF2-40B4-BE49-F238E27FC236}">
                <a16:creationId xmlns:a16="http://schemas.microsoft.com/office/drawing/2014/main" id="{4AB801A0-F0EC-D7F5-FA6C-1C11B0613EF5}"/>
              </a:ext>
            </a:extLst>
          </p:cNvPr>
          <p:cNvSpPr>
            <a:spLocks noGrp="1"/>
          </p:cNvSpPr>
          <p:nvPr/>
        </p:nvSpPr>
        <p:spPr>
          <a:xfrm>
            <a:off x="3400425" y="4844951"/>
            <a:ext cx="742950" cy="742950"/>
          </a:xfrm>
          <a:prstGeom prst="rect">
            <a:avLst/>
          </a:prstGeom>
          <a:solidFill>
            <a:srgbClr val="DBEAF7"/>
          </a:solidFill>
          <a:ln w="0">
            <a:noFill/>
          </a:ln>
        </p:spPr>
        <p:txBody>
          <a:bodyPr/>
          <a:lstStyle/>
          <a:p>
            <a:endParaRPr lang="en-US"/>
          </a:p>
        </p:txBody>
      </p:sp>
      <p:sp>
        <p:nvSpPr>
          <p:cNvPr id="50" name="85">
            <a:extLst>
              <a:ext uri="{FF2B5EF4-FFF2-40B4-BE49-F238E27FC236}">
                <a16:creationId xmlns:a16="http://schemas.microsoft.com/office/drawing/2014/main" id="{3E6EBBE7-359A-6631-5FE2-6D19A92EEA9E}"/>
              </a:ext>
            </a:extLst>
          </p:cNvPr>
          <p:cNvSpPr>
            <a:spLocks noGrp="1"/>
          </p:cNvSpPr>
          <p:nvPr/>
        </p:nvSpPr>
        <p:spPr>
          <a:xfrm>
            <a:off x="3409950" y="5054501"/>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129</a:t>
            </a:r>
          </a:p>
        </p:txBody>
      </p:sp>
      <p:sp>
        <p:nvSpPr>
          <p:cNvPr id="51" name="Main CGPA, stratified 10-fold cross-validation, N = 1,1">
            <a:extLst>
              <a:ext uri="{FF2B5EF4-FFF2-40B4-BE49-F238E27FC236}">
                <a16:creationId xmlns:a16="http://schemas.microsoft.com/office/drawing/2014/main" id="{72599269-4F5D-8DB9-81F9-1B1910923405}"/>
              </a:ext>
            </a:extLst>
          </p:cNvPr>
          <p:cNvSpPr>
            <a:spLocks noGrp="1"/>
          </p:cNvSpPr>
          <p:nvPr/>
        </p:nvSpPr>
        <p:spPr>
          <a:xfrm>
            <a:off x="400050" y="6057900"/>
            <a:ext cx="11049000" cy="285750"/>
          </a:xfrm>
          <a:prstGeom prst="rect">
            <a:avLst/>
          </a:prstGeom>
          <a:noFill/>
          <a:ln w="0">
            <a:noFill/>
          </a:ln>
        </p:spPr>
        <p:txBody>
          <a:bodyPr anchor="t">
            <a:noAutofit/>
          </a:bodyPr>
          <a:lstStyle/>
          <a:p>
            <a:pPr>
              <a:defRPr sz="1275" b="0">
                <a:solidFill>
                  <a:srgbClr val="585858"/>
                </a:solidFill>
                <a:latin typeface="Times New Roman"/>
                <a:ea typeface="Times New Roman"/>
                <a:cs typeface="Times New Roman"/>
              </a:defRPr>
            </a:pPr>
            <a:r>
              <a:rPr sz="1275" b="0" dirty="0">
                <a:solidFill>
                  <a:srgbClr val="585858"/>
                </a:solidFill>
                <a:latin typeface="Times New Roman"/>
                <a:ea typeface="Times New Roman"/>
                <a:cs typeface="Times New Roman"/>
              </a:rPr>
              <a:t>Main CGPA, stratified 5-fold cross-validation, N = 920. </a:t>
            </a:r>
            <a:endParaRPr lang="en-US" sz="1275" b="0" dirty="0">
              <a:solidFill>
                <a:srgbClr val="585858"/>
              </a:solidFill>
              <a:latin typeface="Times New Roman"/>
              <a:ea typeface="Times New Roman"/>
              <a:cs typeface="Times New Roman"/>
            </a:endParaRPr>
          </a:p>
          <a:p>
            <a:pPr>
              <a:defRPr sz="1275" b="0">
                <a:solidFill>
                  <a:srgbClr val="585858"/>
                </a:solidFill>
                <a:latin typeface="Times New Roman"/>
                <a:ea typeface="Times New Roman"/>
                <a:cs typeface="Times New Roman"/>
              </a:defRPr>
            </a:pPr>
            <a:r>
              <a:rPr sz="1275" b="0" dirty="0">
                <a:solidFill>
                  <a:srgbClr val="585858"/>
                </a:solidFill>
                <a:latin typeface="Times New Roman"/>
                <a:ea typeface="Times New Roman"/>
                <a:cs typeface="Times New Roman"/>
              </a:rPr>
              <a:t>Rows actual, columns predicted.</a:t>
            </a:r>
          </a:p>
        </p:txBody>
      </p:sp>
    </p:spTree>
    <p:extLst>
      <p:ext uri="{BB962C8B-B14F-4D97-AF65-F5344CB8AC3E}">
        <p14:creationId xmlns:p14="http://schemas.microsoft.com/office/powerpoint/2010/main" val="55459695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01D8F63-F56B-AD8B-5D66-CB4A442409A0}"/>
              </a:ext>
            </a:extLst>
          </p:cNvPr>
          <p:cNvSpPr>
            <a:spLocks noGrp="1"/>
          </p:cNvSpPr>
          <p:nvPr>
            <p:ph type="sldNum" sz="quarter" idx="4"/>
          </p:nvPr>
        </p:nvSpPr>
        <p:spPr/>
        <p:txBody>
          <a:bodyPr/>
          <a:lstStyle/>
          <a:p>
            <a:fld id="{8574A810-7A8E-054F-9F6B-09E9C694ECF9}" type="slidenum">
              <a:rPr lang="en-US" smtClean="0"/>
              <a:pPr/>
              <a:t>50</a:t>
            </a:fld>
            <a:endParaRPr lang="en-US" sz="1000" dirty="0"/>
          </a:p>
        </p:txBody>
      </p:sp>
      <p:pic>
        <p:nvPicPr>
          <p:cNvPr id="6" name="Picture 5">
            <a:extLst>
              <a:ext uri="{FF2B5EF4-FFF2-40B4-BE49-F238E27FC236}">
                <a16:creationId xmlns:a16="http://schemas.microsoft.com/office/drawing/2014/main" id="{FD1AF2CE-C90A-F414-B0A9-F02CABCB1B4A}"/>
              </a:ext>
            </a:extLst>
          </p:cNvPr>
          <p:cNvPicPr>
            <a:picLocks noChangeAspect="1"/>
          </p:cNvPicPr>
          <p:nvPr/>
        </p:nvPicPr>
        <p:blipFill>
          <a:blip r:embed="rId2"/>
          <a:stretch>
            <a:fillRect/>
          </a:stretch>
        </p:blipFill>
        <p:spPr>
          <a:xfrm>
            <a:off x="4845612" y="0"/>
            <a:ext cx="7358529" cy="6858000"/>
          </a:xfrm>
          <a:prstGeom prst="rect">
            <a:avLst/>
          </a:prstGeom>
        </p:spPr>
      </p:pic>
      <p:sp>
        <p:nvSpPr>
          <p:cNvPr id="7" name="Google Shape;532;p58">
            <a:extLst>
              <a:ext uri="{FF2B5EF4-FFF2-40B4-BE49-F238E27FC236}">
                <a16:creationId xmlns:a16="http://schemas.microsoft.com/office/drawing/2014/main" id="{D60E2694-E04E-D1C9-4DDD-026DBA1B71BB}"/>
              </a:ext>
            </a:extLst>
          </p:cNvPr>
          <p:cNvSpPr txBox="1">
            <a:spLocks/>
          </p:cNvSpPr>
          <p:nvPr/>
        </p:nvSpPr>
        <p:spPr>
          <a:xfrm>
            <a:off x="11279332" y="6279294"/>
            <a:ext cx="518968" cy="241240"/>
          </a:xfrm>
          <a:prstGeom prst="rect">
            <a:avLst/>
          </a:prstGeom>
        </p:spPr>
        <p:txBody>
          <a:bodyPr spcFirstLastPara="1" vert="horz" wrap="square" lIns="0" tIns="0" rIns="0" bIns="0" rtlCol="0" anchor="b">
            <a:noAutofit/>
          </a:bodyPr>
          <a:lstStyle>
            <a:defPPr>
              <a:defRPr lang="en-US"/>
            </a:defPPr>
            <a:lvl1pPr marL="0" algn="r" defTabSz="914400" rtl="0" eaLnBrk="1" latinLnBrk="0" hangingPunct="1">
              <a:defRPr lang="en-US" sz="1000" kern="1200" smtClean="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latin typeface="Times New Roman"/>
                <a:ea typeface="Times New Roman"/>
                <a:cs typeface="Times New Roman"/>
              </a:rPr>
              <a:t>48</a:t>
            </a:r>
          </a:p>
        </p:txBody>
      </p:sp>
      <p:sp>
        <p:nvSpPr>
          <p:cNvPr id="8" name="Google Shape;533;p58">
            <a:extLst>
              <a:ext uri="{FF2B5EF4-FFF2-40B4-BE49-F238E27FC236}">
                <a16:creationId xmlns:a16="http://schemas.microsoft.com/office/drawing/2014/main" id="{54B87792-4D44-8A40-F5B6-7D13B051124D}"/>
              </a:ext>
            </a:extLst>
          </p:cNvPr>
          <p:cNvSpPr txBox="1">
            <a:spLocks/>
          </p:cNvSpPr>
          <p:nvPr/>
        </p:nvSpPr>
        <p:spPr>
          <a:xfrm>
            <a:off x="393700" y="344008"/>
            <a:ext cx="11404600" cy="1047491"/>
          </a:xfrm>
          <a:prstGeom prst="rect">
            <a:avLst/>
          </a:prstGeom>
        </p:spPr>
        <p:txBody>
          <a:bodyPr spcFirstLastPara="1" vert="horz" wrap="square" lIns="0" tIns="0" rIns="0" bIns="0" rtlCol="0" anchor="t">
            <a:noAutofit/>
          </a:bodyPr>
          <a:lstStyle>
            <a:lvl1pPr algn="l" defTabSz="914400" rtl="0" eaLnBrk="1" latinLnBrk="0" hangingPunct="1">
              <a:lnSpc>
                <a:spcPct val="90000"/>
              </a:lnSpc>
              <a:spcBef>
                <a:spcPct val="0"/>
              </a:spcBef>
              <a:buNone/>
              <a:defRPr sz="2900" kern="1200">
                <a:solidFill>
                  <a:schemeClr val="tx1"/>
                </a:solidFill>
                <a:latin typeface="+mj-lt"/>
                <a:ea typeface="+mj-ea"/>
                <a:cs typeface="+mj-cs"/>
              </a:defRPr>
            </a:lvl1pPr>
          </a:lstStyle>
          <a:p>
            <a:r>
              <a:rPr lang="en-US" sz="3000">
                <a:latin typeface="Times New Roman"/>
                <a:ea typeface="Times New Roman"/>
                <a:cs typeface="Times New Roman"/>
              </a:rPr>
              <a:t>WEKA Logistic matrix</a:t>
            </a:r>
            <a:endParaRPr lang="en-US" sz="3000" dirty="0">
              <a:latin typeface="Times New Roman"/>
              <a:ea typeface="Times New Roman"/>
              <a:cs typeface="Times New Roman"/>
            </a:endParaRPr>
          </a:p>
        </p:txBody>
      </p:sp>
      <p:sp>
        <p:nvSpPr>
          <p:cNvPr id="9" name="Logistic">
            <a:extLst>
              <a:ext uri="{FF2B5EF4-FFF2-40B4-BE49-F238E27FC236}">
                <a16:creationId xmlns:a16="http://schemas.microsoft.com/office/drawing/2014/main" id="{07B851E7-70D8-9E3A-8F53-8E0835E1610B}"/>
              </a:ext>
            </a:extLst>
          </p:cNvPr>
          <p:cNvSpPr>
            <a:spLocks noGrp="1"/>
          </p:cNvSpPr>
          <p:nvPr/>
        </p:nvSpPr>
        <p:spPr>
          <a:xfrm>
            <a:off x="666750" y="1552575"/>
            <a:ext cx="5238750" cy="381000"/>
          </a:xfrm>
          <a:prstGeom prst="rect">
            <a:avLst/>
          </a:prstGeom>
          <a:noFill/>
          <a:ln w="0">
            <a:noFill/>
          </a:ln>
        </p:spPr>
        <p:txBody>
          <a:bodyPr anchor="t">
            <a:noAutofit/>
          </a:bodyPr>
          <a:lstStyle/>
          <a:p>
            <a:pPr>
              <a:defRPr sz="1875" b="0">
                <a:solidFill>
                  <a:srgbClr val="121212"/>
                </a:solidFill>
                <a:latin typeface="Times New Roman"/>
                <a:ea typeface="Times New Roman"/>
                <a:cs typeface="Times New Roman"/>
              </a:defRPr>
            </a:pPr>
            <a:r>
              <a:rPr sz="1875" b="0" dirty="0">
                <a:solidFill>
                  <a:srgbClr val="121212"/>
                </a:solidFill>
                <a:latin typeface="Times New Roman"/>
                <a:ea typeface="Times New Roman"/>
                <a:cs typeface="Times New Roman"/>
              </a:rPr>
              <a:t>Logistic</a:t>
            </a:r>
            <a:r>
              <a:rPr lang="en-US" sz="1875" b="0" dirty="0">
                <a:solidFill>
                  <a:srgbClr val="121212"/>
                </a:solidFill>
                <a:latin typeface="Times New Roman"/>
                <a:ea typeface="Times New Roman"/>
                <a:cs typeface="Times New Roman"/>
              </a:rPr>
              <a:t> 5-fold</a:t>
            </a:r>
            <a:endParaRPr sz="1875" b="0" dirty="0">
              <a:solidFill>
                <a:srgbClr val="121212"/>
              </a:solidFill>
              <a:latin typeface="Times New Roman"/>
              <a:ea typeface="Times New Roman"/>
              <a:cs typeface="Times New Roman"/>
            </a:endParaRPr>
          </a:p>
        </p:txBody>
      </p:sp>
      <p:sp>
        <p:nvSpPr>
          <p:cNvPr id="10" name="Predicted">
            <a:extLst>
              <a:ext uri="{FF2B5EF4-FFF2-40B4-BE49-F238E27FC236}">
                <a16:creationId xmlns:a16="http://schemas.microsoft.com/office/drawing/2014/main" id="{88DC27C5-CD4D-32BD-EAB3-15A8E095EB2E}"/>
              </a:ext>
            </a:extLst>
          </p:cNvPr>
          <p:cNvSpPr>
            <a:spLocks noGrp="1"/>
          </p:cNvSpPr>
          <p:nvPr/>
        </p:nvSpPr>
        <p:spPr>
          <a:xfrm>
            <a:off x="1619250" y="2000250"/>
            <a:ext cx="2952750" cy="304800"/>
          </a:xfrm>
          <a:prstGeom prst="rect">
            <a:avLst/>
          </a:prstGeom>
          <a:noFill/>
          <a:ln w="0">
            <a:noFill/>
          </a:ln>
        </p:spPr>
        <p:txBody>
          <a:bodyPr anchor="t">
            <a:noAutofit/>
          </a:bodyPr>
          <a:lstStyle/>
          <a:p>
            <a:pPr>
              <a:defRPr sz="1575" b="0">
                <a:solidFill>
                  <a:srgbClr val="585858"/>
                </a:solidFill>
                <a:latin typeface="Times New Roman"/>
                <a:ea typeface="Times New Roman"/>
                <a:cs typeface="Times New Roman"/>
              </a:defRPr>
            </a:pPr>
            <a:r>
              <a:rPr sz="1575" b="0">
                <a:solidFill>
                  <a:srgbClr val="585858"/>
                </a:solidFill>
                <a:latin typeface="Times New Roman"/>
                <a:ea typeface="Times New Roman"/>
                <a:cs typeface="Times New Roman"/>
              </a:rPr>
              <a:t>Predicted</a:t>
            </a:r>
          </a:p>
        </p:txBody>
      </p:sp>
      <p:sp>
        <p:nvSpPr>
          <p:cNvPr id="11" name="C0">
            <a:extLst>
              <a:ext uri="{FF2B5EF4-FFF2-40B4-BE49-F238E27FC236}">
                <a16:creationId xmlns:a16="http://schemas.microsoft.com/office/drawing/2014/main" id="{0E804559-4CB0-9645-8499-DA1E9A90FB59}"/>
              </a:ext>
            </a:extLst>
          </p:cNvPr>
          <p:cNvSpPr>
            <a:spLocks noGrp="1"/>
          </p:cNvSpPr>
          <p:nvPr/>
        </p:nvSpPr>
        <p:spPr>
          <a:xfrm>
            <a:off x="1476375" y="2362200"/>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C0</a:t>
            </a:r>
          </a:p>
        </p:txBody>
      </p:sp>
      <p:sp>
        <p:nvSpPr>
          <p:cNvPr id="12" name="C0">
            <a:extLst>
              <a:ext uri="{FF2B5EF4-FFF2-40B4-BE49-F238E27FC236}">
                <a16:creationId xmlns:a16="http://schemas.microsoft.com/office/drawing/2014/main" id="{1BE34BDB-B17C-6B24-30EA-7B58AB22C8E6}"/>
              </a:ext>
            </a:extLst>
          </p:cNvPr>
          <p:cNvSpPr>
            <a:spLocks noGrp="1"/>
          </p:cNvSpPr>
          <p:nvPr/>
        </p:nvSpPr>
        <p:spPr>
          <a:xfrm>
            <a:off x="762000" y="2809875"/>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C0</a:t>
            </a:r>
          </a:p>
        </p:txBody>
      </p:sp>
      <p:sp>
        <p:nvSpPr>
          <p:cNvPr id="13" name="C1">
            <a:extLst>
              <a:ext uri="{FF2B5EF4-FFF2-40B4-BE49-F238E27FC236}">
                <a16:creationId xmlns:a16="http://schemas.microsoft.com/office/drawing/2014/main" id="{66B7424E-9A6B-3029-F308-907C4BD8D52C}"/>
              </a:ext>
            </a:extLst>
          </p:cNvPr>
          <p:cNvSpPr>
            <a:spLocks noGrp="1"/>
          </p:cNvSpPr>
          <p:nvPr/>
        </p:nvSpPr>
        <p:spPr>
          <a:xfrm>
            <a:off x="2238375" y="2362200"/>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C1</a:t>
            </a:r>
          </a:p>
        </p:txBody>
      </p:sp>
      <p:sp>
        <p:nvSpPr>
          <p:cNvPr id="14" name="C1">
            <a:extLst>
              <a:ext uri="{FF2B5EF4-FFF2-40B4-BE49-F238E27FC236}">
                <a16:creationId xmlns:a16="http://schemas.microsoft.com/office/drawing/2014/main" id="{768B04AE-45F2-F85B-AC3E-E213F442C303}"/>
              </a:ext>
            </a:extLst>
          </p:cNvPr>
          <p:cNvSpPr>
            <a:spLocks noGrp="1"/>
          </p:cNvSpPr>
          <p:nvPr/>
        </p:nvSpPr>
        <p:spPr>
          <a:xfrm>
            <a:off x="762000" y="3571875"/>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C1</a:t>
            </a:r>
          </a:p>
        </p:txBody>
      </p:sp>
      <p:sp>
        <p:nvSpPr>
          <p:cNvPr id="15" name="C2">
            <a:extLst>
              <a:ext uri="{FF2B5EF4-FFF2-40B4-BE49-F238E27FC236}">
                <a16:creationId xmlns:a16="http://schemas.microsoft.com/office/drawing/2014/main" id="{0E6B95DE-E1AB-47A9-FD11-DC4C57FC33C6}"/>
              </a:ext>
            </a:extLst>
          </p:cNvPr>
          <p:cNvSpPr>
            <a:spLocks noGrp="1"/>
          </p:cNvSpPr>
          <p:nvPr/>
        </p:nvSpPr>
        <p:spPr>
          <a:xfrm>
            <a:off x="3000375" y="2362200"/>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C2</a:t>
            </a:r>
          </a:p>
        </p:txBody>
      </p:sp>
      <p:sp>
        <p:nvSpPr>
          <p:cNvPr id="16" name="C2">
            <a:extLst>
              <a:ext uri="{FF2B5EF4-FFF2-40B4-BE49-F238E27FC236}">
                <a16:creationId xmlns:a16="http://schemas.microsoft.com/office/drawing/2014/main" id="{4C617D55-827C-DCBA-9A7B-1C6D407DEFD2}"/>
              </a:ext>
            </a:extLst>
          </p:cNvPr>
          <p:cNvSpPr>
            <a:spLocks noGrp="1"/>
          </p:cNvSpPr>
          <p:nvPr/>
        </p:nvSpPr>
        <p:spPr>
          <a:xfrm>
            <a:off x="762000" y="4333875"/>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C2</a:t>
            </a:r>
          </a:p>
        </p:txBody>
      </p:sp>
      <p:sp>
        <p:nvSpPr>
          <p:cNvPr id="17" name="C3">
            <a:extLst>
              <a:ext uri="{FF2B5EF4-FFF2-40B4-BE49-F238E27FC236}">
                <a16:creationId xmlns:a16="http://schemas.microsoft.com/office/drawing/2014/main" id="{459584E7-9BDD-1EB8-F46E-101F2A4344E7}"/>
              </a:ext>
            </a:extLst>
          </p:cNvPr>
          <p:cNvSpPr>
            <a:spLocks noGrp="1"/>
          </p:cNvSpPr>
          <p:nvPr/>
        </p:nvSpPr>
        <p:spPr>
          <a:xfrm>
            <a:off x="3762375" y="2362200"/>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C3</a:t>
            </a:r>
          </a:p>
        </p:txBody>
      </p:sp>
      <p:sp>
        <p:nvSpPr>
          <p:cNvPr id="18" name="C3">
            <a:extLst>
              <a:ext uri="{FF2B5EF4-FFF2-40B4-BE49-F238E27FC236}">
                <a16:creationId xmlns:a16="http://schemas.microsoft.com/office/drawing/2014/main" id="{474424F9-F83E-E08B-2856-FA9EE59829DC}"/>
              </a:ext>
            </a:extLst>
          </p:cNvPr>
          <p:cNvSpPr>
            <a:spLocks noGrp="1"/>
          </p:cNvSpPr>
          <p:nvPr/>
        </p:nvSpPr>
        <p:spPr>
          <a:xfrm>
            <a:off x="762000" y="5095875"/>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C3</a:t>
            </a:r>
          </a:p>
        </p:txBody>
      </p:sp>
      <p:sp>
        <p:nvSpPr>
          <p:cNvPr id="19" name="Rectangle 18">
            <a:extLst>
              <a:ext uri="{FF2B5EF4-FFF2-40B4-BE49-F238E27FC236}">
                <a16:creationId xmlns:a16="http://schemas.microsoft.com/office/drawing/2014/main" id="{6908DFB2-3AF7-6940-8F7D-727DD3C322C8}"/>
              </a:ext>
            </a:extLst>
          </p:cNvPr>
          <p:cNvSpPr>
            <a:spLocks noGrp="1"/>
          </p:cNvSpPr>
          <p:nvPr/>
        </p:nvSpPr>
        <p:spPr>
          <a:xfrm>
            <a:off x="1381125" y="2733675"/>
            <a:ext cx="742950" cy="742950"/>
          </a:xfrm>
          <a:prstGeom prst="rect">
            <a:avLst/>
          </a:prstGeom>
          <a:solidFill>
            <a:srgbClr val="DBEAF7"/>
          </a:solidFill>
          <a:ln w="0">
            <a:noFill/>
          </a:ln>
        </p:spPr>
        <p:txBody>
          <a:bodyPr/>
          <a:lstStyle/>
          <a:p>
            <a:endParaRPr lang="en-US"/>
          </a:p>
        </p:txBody>
      </p:sp>
      <p:sp>
        <p:nvSpPr>
          <p:cNvPr id="20" name="61">
            <a:extLst>
              <a:ext uri="{FF2B5EF4-FFF2-40B4-BE49-F238E27FC236}">
                <a16:creationId xmlns:a16="http://schemas.microsoft.com/office/drawing/2014/main" id="{9E6C1A50-EE1F-BCB2-F50E-D7574D89A17F}"/>
              </a:ext>
            </a:extLst>
          </p:cNvPr>
          <p:cNvSpPr>
            <a:spLocks noGrp="1"/>
          </p:cNvSpPr>
          <p:nvPr/>
        </p:nvSpPr>
        <p:spPr>
          <a:xfrm>
            <a:off x="1390650" y="2943225"/>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100</a:t>
            </a:r>
          </a:p>
        </p:txBody>
      </p:sp>
      <p:sp>
        <p:nvSpPr>
          <p:cNvPr id="21" name="Rectangle 20">
            <a:extLst>
              <a:ext uri="{FF2B5EF4-FFF2-40B4-BE49-F238E27FC236}">
                <a16:creationId xmlns:a16="http://schemas.microsoft.com/office/drawing/2014/main" id="{71484812-6A8C-990A-F61F-18448F1B4EF3}"/>
              </a:ext>
            </a:extLst>
          </p:cNvPr>
          <p:cNvSpPr>
            <a:spLocks noGrp="1"/>
          </p:cNvSpPr>
          <p:nvPr/>
        </p:nvSpPr>
        <p:spPr>
          <a:xfrm>
            <a:off x="2143125" y="2733675"/>
            <a:ext cx="742950" cy="742950"/>
          </a:xfrm>
          <a:prstGeom prst="rect">
            <a:avLst/>
          </a:prstGeom>
          <a:solidFill>
            <a:srgbClr val="F2F2F2"/>
          </a:solidFill>
          <a:ln w="0">
            <a:noFill/>
          </a:ln>
        </p:spPr>
        <p:txBody>
          <a:bodyPr/>
          <a:lstStyle/>
          <a:p>
            <a:endParaRPr lang="en-US"/>
          </a:p>
        </p:txBody>
      </p:sp>
      <p:sp>
        <p:nvSpPr>
          <p:cNvPr id="22" name="107">
            <a:extLst>
              <a:ext uri="{FF2B5EF4-FFF2-40B4-BE49-F238E27FC236}">
                <a16:creationId xmlns:a16="http://schemas.microsoft.com/office/drawing/2014/main" id="{8CB502E9-D575-24A9-FD64-718999E7A716}"/>
              </a:ext>
            </a:extLst>
          </p:cNvPr>
          <p:cNvSpPr>
            <a:spLocks noGrp="1"/>
          </p:cNvSpPr>
          <p:nvPr/>
        </p:nvSpPr>
        <p:spPr>
          <a:xfrm>
            <a:off x="2152650" y="2943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60</a:t>
            </a:r>
          </a:p>
        </p:txBody>
      </p:sp>
      <p:sp>
        <p:nvSpPr>
          <p:cNvPr id="23" name="Rectangle 22">
            <a:extLst>
              <a:ext uri="{FF2B5EF4-FFF2-40B4-BE49-F238E27FC236}">
                <a16:creationId xmlns:a16="http://schemas.microsoft.com/office/drawing/2014/main" id="{81B72271-D7F0-306F-A0AF-5D559AE60BEF}"/>
              </a:ext>
            </a:extLst>
          </p:cNvPr>
          <p:cNvSpPr>
            <a:spLocks noGrp="1"/>
          </p:cNvSpPr>
          <p:nvPr/>
        </p:nvSpPr>
        <p:spPr>
          <a:xfrm>
            <a:off x="2905125" y="2733675"/>
            <a:ext cx="742950" cy="742950"/>
          </a:xfrm>
          <a:prstGeom prst="rect">
            <a:avLst/>
          </a:prstGeom>
          <a:solidFill>
            <a:srgbClr val="F2F2F2"/>
          </a:solidFill>
          <a:ln w="0">
            <a:noFill/>
          </a:ln>
        </p:spPr>
        <p:txBody>
          <a:bodyPr/>
          <a:lstStyle/>
          <a:p>
            <a:endParaRPr lang="en-US"/>
          </a:p>
        </p:txBody>
      </p:sp>
      <p:sp>
        <p:nvSpPr>
          <p:cNvPr id="24" name="38">
            <a:extLst>
              <a:ext uri="{FF2B5EF4-FFF2-40B4-BE49-F238E27FC236}">
                <a16:creationId xmlns:a16="http://schemas.microsoft.com/office/drawing/2014/main" id="{453817DF-B435-C262-EF12-870DD379C273}"/>
              </a:ext>
            </a:extLst>
          </p:cNvPr>
          <p:cNvSpPr>
            <a:spLocks noGrp="1"/>
          </p:cNvSpPr>
          <p:nvPr/>
        </p:nvSpPr>
        <p:spPr>
          <a:xfrm>
            <a:off x="2914650" y="2943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14</a:t>
            </a:r>
          </a:p>
        </p:txBody>
      </p:sp>
      <p:sp>
        <p:nvSpPr>
          <p:cNvPr id="25" name="Rectangle 24">
            <a:extLst>
              <a:ext uri="{FF2B5EF4-FFF2-40B4-BE49-F238E27FC236}">
                <a16:creationId xmlns:a16="http://schemas.microsoft.com/office/drawing/2014/main" id="{7583CC8F-FBE0-1814-E296-F35209118374}"/>
              </a:ext>
            </a:extLst>
          </p:cNvPr>
          <p:cNvSpPr>
            <a:spLocks noGrp="1"/>
          </p:cNvSpPr>
          <p:nvPr/>
        </p:nvSpPr>
        <p:spPr>
          <a:xfrm>
            <a:off x="3667125" y="2733675"/>
            <a:ext cx="742950" cy="742950"/>
          </a:xfrm>
          <a:prstGeom prst="rect">
            <a:avLst/>
          </a:prstGeom>
          <a:solidFill>
            <a:srgbClr val="F2F2F2"/>
          </a:solidFill>
          <a:ln w="0">
            <a:noFill/>
          </a:ln>
        </p:spPr>
        <p:txBody>
          <a:bodyPr/>
          <a:lstStyle/>
          <a:p>
            <a:endParaRPr lang="en-US"/>
          </a:p>
        </p:txBody>
      </p:sp>
      <p:sp>
        <p:nvSpPr>
          <p:cNvPr id="26" name="30">
            <a:extLst>
              <a:ext uri="{FF2B5EF4-FFF2-40B4-BE49-F238E27FC236}">
                <a16:creationId xmlns:a16="http://schemas.microsoft.com/office/drawing/2014/main" id="{B9EFDA88-86EE-2D29-F9BD-9B39C8F1B13E}"/>
              </a:ext>
            </a:extLst>
          </p:cNvPr>
          <p:cNvSpPr>
            <a:spLocks noGrp="1"/>
          </p:cNvSpPr>
          <p:nvPr/>
        </p:nvSpPr>
        <p:spPr>
          <a:xfrm>
            <a:off x="3676650" y="2943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8</a:t>
            </a:r>
          </a:p>
        </p:txBody>
      </p:sp>
      <p:sp>
        <p:nvSpPr>
          <p:cNvPr id="27" name="Rectangle 26">
            <a:extLst>
              <a:ext uri="{FF2B5EF4-FFF2-40B4-BE49-F238E27FC236}">
                <a16:creationId xmlns:a16="http://schemas.microsoft.com/office/drawing/2014/main" id="{406B5D07-9801-123A-F3E5-50FB45ADC28D}"/>
              </a:ext>
            </a:extLst>
          </p:cNvPr>
          <p:cNvSpPr>
            <a:spLocks noGrp="1"/>
          </p:cNvSpPr>
          <p:nvPr/>
        </p:nvSpPr>
        <p:spPr>
          <a:xfrm>
            <a:off x="1381125" y="3495675"/>
            <a:ext cx="742950" cy="742950"/>
          </a:xfrm>
          <a:prstGeom prst="rect">
            <a:avLst/>
          </a:prstGeom>
          <a:solidFill>
            <a:srgbClr val="F2F2F2"/>
          </a:solidFill>
          <a:ln w="0">
            <a:noFill/>
          </a:ln>
        </p:spPr>
        <p:txBody>
          <a:bodyPr/>
          <a:lstStyle/>
          <a:p>
            <a:endParaRPr lang="en-US"/>
          </a:p>
        </p:txBody>
      </p:sp>
      <p:sp>
        <p:nvSpPr>
          <p:cNvPr id="28" name="49">
            <a:extLst>
              <a:ext uri="{FF2B5EF4-FFF2-40B4-BE49-F238E27FC236}">
                <a16:creationId xmlns:a16="http://schemas.microsoft.com/office/drawing/2014/main" id="{05E6E940-80E1-BFFA-8BBC-5967BF1FB960}"/>
              </a:ext>
            </a:extLst>
          </p:cNvPr>
          <p:cNvSpPr>
            <a:spLocks noGrp="1"/>
          </p:cNvSpPr>
          <p:nvPr/>
        </p:nvSpPr>
        <p:spPr>
          <a:xfrm>
            <a:off x="1390650" y="3705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49</a:t>
            </a:r>
          </a:p>
        </p:txBody>
      </p:sp>
      <p:sp>
        <p:nvSpPr>
          <p:cNvPr id="29" name="Rectangle 28">
            <a:extLst>
              <a:ext uri="{FF2B5EF4-FFF2-40B4-BE49-F238E27FC236}">
                <a16:creationId xmlns:a16="http://schemas.microsoft.com/office/drawing/2014/main" id="{20F7F22F-9733-BC84-DFE8-A3A9A83E306F}"/>
              </a:ext>
            </a:extLst>
          </p:cNvPr>
          <p:cNvSpPr>
            <a:spLocks noGrp="1"/>
          </p:cNvSpPr>
          <p:nvPr/>
        </p:nvSpPr>
        <p:spPr>
          <a:xfrm>
            <a:off x="2143125" y="3495675"/>
            <a:ext cx="742950" cy="742950"/>
          </a:xfrm>
          <a:prstGeom prst="rect">
            <a:avLst/>
          </a:prstGeom>
          <a:solidFill>
            <a:srgbClr val="DBEAF7"/>
          </a:solidFill>
          <a:ln w="0">
            <a:noFill/>
          </a:ln>
        </p:spPr>
        <p:txBody>
          <a:bodyPr/>
          <a:lstStyle/>
          <a:p>
            <a:endParaRPr lang="en-US"/>
          </a:p>
        </p:txBody>
      </p:sp>
      <p:sp>
        <p:nvSpPr>
          <p:cNvPr id="30" name="145">
            <a:extLst>
              <a:ext uri="{FF2B5EF4-FFF2-40B4-BE49-F238E27FC236}">
                <a16:creationId xmlns:a16="http://schemas.microsoft.com/office/drawing/2014/main" id="{A36F3AA8-9C86-FC74-43D9-54047C0EB07F}"/>
              </a:ext>
            </a:extLst>
          </p:cNvPr>
          <p:cNvSpPr>
            <a:spLocks noGrp="1"/>
          </p:cNvSpPr>
          <p:nvPr/>
        </p:nvSpPr>
        <p:spPr>
          <a:xfrm>
            <a:off x="2152650" y="3705225"/>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151</a:t>
            </a:r>
          </a:p>
        </p:txBody>
      </p:sp>
      <p:sp>
        <p:nvSpPr>
          <p:cNvPr id="31" name="Rectangle 30">
            <a:extLst>
              <a:ext uri="{FF2B5EF4-FFF2-40B4-BE49-F238E27FC236}">
                <a16:creationId xmlns:a16="http://schemas.microsoft.com/office/drawing/2014/main" id="{97C9A18B-B1E0-BF5D-F05F-B336BE7F121D}"/>
              </a:ext>
            </a:extLst>
          </p:cNvPr>
          <p:cNvSpPr>
            <a:spLocks noGrp="1"/>
          </p:cNvSpPr>
          <p:nvPr/>
        </p:nvSpPr>
        <p:spPr>
          <a:xfrm>
            <a:off x="2905125" y="3495675"/>
            <a:ext cx="742950" cy="742950"/>
          </a:xfrm>
          <a:prstGeom prst="rect">
            <a:avLst/>
          </a:prstGeom>
          <a:solidFill>
            <a:srgbClr val="F2F2F2"/>
          </a:solidFill>
          <a:ln w="0">
            <a:noFill/>
          </a:ln>
        </p:spPr>
        <p:txBody>
          <a:bodyPr/>
          <a:lstStyle/>
          <a:p>
            <a:endParaRPr lang="en-US"/>
          </a:p>
        </p:txBody>
      </p:sp>
      <p:sp>
        <p:nvSpPr>
          <p:cNvPr id="32" name="83">
            <a:extLst>
              <a:ext uri="{FF2B5EF4-FFF2-40B4-BE49-F238E27FC236}">
                <a16:creationId xmlns:a16="http://schemas.microsoft.com/office/drawing/2014/main" id="{F3E9FFE2-6A92-A9E5-2D21-D3507B300D05}"/>
              </a:ext>
            </a:extLst>
          </p:cNvPr>
          <p:cNvSpPr>
            <a:spLocks noGrp="1"/>
          </p:cNvSpPr>
          <p:nvPr/>
        </p:nvSpPr>
        <p:spPr>
          <a:xfrm>
            <a:off x="2914650" y="3705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71</a:t>
            </a:r>
          </a:p>
        </p:txBody>
      </p:sp>
      <p:sp>
        <p:nvSpPr>
          <p:cNvPr id="33" name="Rectangle 32">
            <a:extLst>
              <a:ext uri="{FF2B5EF4-FFF2-40B4-BE49-F238E27FC236}">
                <a16:creationId xmlns:a16="http://schemas.microsoft.com/office/drawing/2014/main" id="{B77CF34E-EC35-2324-CC54-E6B842EC5983}"/>
              </a:ext>
            </a:extLst>
          </p:cNvPr>
          <p:cNvSpPr>
            <a:spLocks noGrp="1"/>
          </p:cNvSpPr>
          <p:nvPr/>
        </p:nvSpPr>
        <p:spPr>
          <a:xfrm>
            <a:off x="3667125" y="3495675"/>
            <a:ext cx="742950" cy="742950"/>
          </a:xfrm>
          <a:prstGeom prst="rect">
            <a:avLst/>
          </a:prstGeom>
          <a:solidFill>
            <a:srgbClr val="F2F2F2"/>
          </a:solidFill>
          <a:ln w="0">
            <a:noFill/>
          </a:ln>
        </p:spPr>
        <p:txBody>
          <a:bodyPr/>
          <a:lstStyle/>
          <a:p>
            <a:endParaRPr lang="en-US"/>
          </a:p>
        </p:txBody>
      </p:sp>
      <p:sp>
        <p:nvSpPr>
          <p:cNvPr id="34" name="43">
            <a:extLst>
              <a:ext uri="{FF2B5EF4-FFF2-40B4-BE49-F238E27FC236}">
                <a16:creationId xmlns:a16="http://schemas.microsoft.com/office/drawing/2014/main" id="{63B2B1E1-1ECE-3EF3-5E74-5B085B6A53B2}"/>
              </a:ext>
            </a:extLst>
          </p:cNvPr>
          <p:cNvSpPr>
            <a:spLocks noGrp="1"/>
          </p:cNvSpPr>
          <p:nvPr/>
        </p:nvSpPr>
        <p:spPr>
          <a:xfrm>
            <a:off x="3676650" y="3705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13</a:t>
            </a:r>
          </a:p>
        </p:txBody>
      </p:sp>
      <p:sp>
        <p:nvSpPr>
          <p:cNvPr id="35" name="Rectangle 34">
            <a:extLst>
              <a:ext uri="{FF2B5EF4-FFF2-40B4-BE49-F238E27FC236}">
                <a16:creationId xmlns:a16="http://schemas.microsoft.com/office/drawing/2014/main" id="{439F0AA9-C916-5D6A-064F-DF0DEAD69C8B}"/>
              </a:ext>
            </a:extLst>
          </p:cNvPr>
          <p:cNvSpPr>
            <a:spLocks noGrp="1"/>
          </p:cNvSpPr>
          <p:nvPr/>
        </p:nvSpPr>
        <p:spPr>
          <a:xfrm>
            <a:off x="1381125" y="4257675"/>
            <a:ext cx="742950" cy="742950"/>
          </a:xfrm>
          <a:prstGeom prst="rect">
            <a:avLst/>
          </a:prstGeom>
          <a:solidFill>
            <a:srgbClr val="F2F2F2"/>
          </a:solidFill>
          <a:ln w="0">
            <a:noFill/>
          </a:ln>
        </p:spPr>
        <p:txBody>
          <a:bodyPr/>
          <a:lstStyle/>
          <a:p>
            <a:endParaRPr lang="en-US"/>
          </a:p>
        </p:txBody>
      </p:sp>
      <p:sp>
        <p:nvSpPr>
          <p:cNvPr id="36" name="42">
            <a:extLst>
              <a:ext uri="{FF2B5EF4-FFF2-40B4-BE49-F238E27FC236}">
                <a16:creationId xmlns:a16="http://schemas.microsoft.com/office/drawing/2014/main" id="{537CF807-B29B-2BA2-8809-B4C66B4E3607}"/>
              </a:ext>
            </a:extLst>
          </p:cNvPr>
          <p:cNvSpPr>
            <a:spLocks noGrp="1"/>
          </p:cNvSpPr>
          <p:nvPr/>
        </p:nvSpPr>
        <p:spPr>
          <a:xfrm>
            <a:off x="1390650" y="4467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9</a:t>
            </a:r>
          </a:p>
        </p:txBody>
      </p:sp>
      <p:sp>
        <p:nvSpPr>
          <p:cNvPr id="37" name="Rectangle 36">
            <a:extLst>
              <a:ext uri="{FF2B5EF4-FFF2-40B4-BE49-F238E27FC236}">
                <a16:creationId xmlns:a16="http://schemas.microsoft.com/office/drawing/2014/main" id="{A71BCA45-E760-F219-EA94-ED210BC00B28}"/>
              </a:ext>
            </a:extLst>
          </p:cNvPr>
          <p:cNvSpPr>
            <a:spLocks noGrp="1"/>
          </p:cNvSpPr>
          <p:nvPr/>
        </p:nvSpPr>
        <p:spPr>
          <a:xfrm>
            <a:off x="2143125" y="4257675"/>
            <a:ext cx="742950" cy="742950"/>
          </a:xfrm>
          <a:prstGeom prst="rect">
            <a:avLst/>
          </a:prstGeom>
          <a:solidFill>
            <a:srgbClr val="F2F2F2"/>
          </a:solidFill>
          <a:ln w="0">
            <a:noFill/>
          </a:ln>
        </p:spPr>
        <p:txBody>
          <a:bodyPr/>
          <a:lstStyle/>
          <a:p>
            <a:endParaRPr lang="en-US"/>
          </a:p>
        </p:txBody>
      </p:sp>
      <p:sp>
        <p:nvSpPr>
          <p:cNvPr id="38" name="92">
            <a:extLst>
              <a:ext uri="{FF2B5EF4-FFF2-40B4-BE49-F238E27FC236}">
                <a16:creationId xmlns:a16="http://schemas.microsoft.com/office/drawing/2014/main" id="{D7520D0D-A6F2-B792-F6F2-F96471E5BAB6}"/>
              </a:ext>
            </a:extLst>
          </p:cNvPr>
          <p:cNvSpPr>
            <a:spLocks noGrp="1"/>
          </p:cNvSpPr>
          <p:nvPr/>
        </p:nvSpPr>
        <p:spPr>
          <a:xfrm>
            <a:off x="2152650" y="4467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62</a:t>
            </a:r>
          </a:p>
        </p:txBody>
      </p:sp>
      <p:sp>
        <p:nvSpPr>
          <p:cNvPr id="39" name="Rectangle 38">
            <a:extLst>
              <a:ext uri="{FF2B5EF4-FFF2-40B4-BE49-F238E27FC236}">
                <a16:creationId xmlns:a16="http://schemas.microsoft.com/office/drawing/2014/main" id="{BA5DFEEF-4B2C-50FA-12F0-660AA5F09568}"/>
              </a:ext>
            </a:extLst>
          </p:cNvPr>
          <p:cNvSpPr>
            <a:spLocks noGrp="1"/>
          </p:cNvSpPr>
          <p:nvPr/>
        </p:nvSpPr>
        <p:spPr>
          <a:xfrm>
            <a:off x="2905125" y="4257675"/>
            <a:ext cx="742950" cy="742950"/>
          </a:xfrm>
          <a:prstGeom prst="rect">
            <a:avLst/>
          </a:prstGeom>
          <a:solidFill>
            <a:srgbClr val="DBEAF7"/>
          </a:solidFill>
          <a:ln w="0">
            <a:noFill/>
          </a:ln>
        </p:spPr>
        <p:txBody>
          <a:bodyPr/>
          <a:lstStyle/>
          <a:p>
            <a:endParaRPr lang="en-US"/>
          </a:p>
        </p:txBody>
      </p:sp>
      <p:sp>
        <p:nvSpPr>
          <p:cNvPr id="40" name="101">
            <a:extLst>
              <a:ext uri="{FF2B5EF4-FFF2-40B4-BE49-F238E27FC236}">
                <a16:creationId xmlns:a16="http://schemas.microsoft.com/office/drawing/2014/main" id="{70FB12BC-1F9B-66CC-B02A-D9F29BC953D6}"/>
              </a:ext>
            </a:extLst>
          </p:cNvPr>
          <p:cNvSpPr>
            <a:spLocks noGrp="1"/>
          </p:cNvSpPr>
          <p:nvPr/>
        </p:nvSpPr>
        <p:spPr>
          <a:xfrm>
            <a:off x="2914650" y="4467225"/>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130</a:t>
            </a:r>
          </a:p>
        </p:txBody>
      </p:sp>
      <p:sp>
        <p:nvSpPr>
          <p:cNvPr id="41" name="Rectangle 40">
            <a:extLst>
              <a:ext uri="{FF2B5EF4-FFF2-40B4-BE49-F238E27FC236}">
                <a16:creationId xmlns:a16="http://schemas.microsoft.com/office/drawing/2014/main" id="{639FF65D-27A0-6D47-E9DD-8E4F9BBCD6D6}"/>
              </a:ext>
            </a:extLst>
          </p:cNvPr>
          <p:cNvSpPr>
            <a:spLocks noGrp="1"/>
          </p:cNvSpPr>
          <p:nvPr/>
        </p:nvSpPr>
        <p:spPr>
          <a:xfrm>
            <a:off x="3667125" y="4257675"/>
            <a:ext cx="742950" cy="742950"/>
          </a:xfrm>
          <a:prstGeom prst="rect">
            <a:avLst/>
          </a:prstGeom>
          <a:solidFill>
            <a:srgbClr val="F2F2F2"/>
          </a:solidFill>
          <a:ln w="0">
            <a:noFill/>
          </a:ln>
        </p:spPr>
        <p:txBody>
          <a:bodyPr/>
          <a:lstStyle/>
          <a:p>
            <a:endParaRPr lang="en-US"/>
          </a:p>
        </p:txBody>
      </p:sp>
      <p:sp>
        <p:nvSpPr>
          <p:cNvPr id="42" name="65">
            <a:extLst>
              <a:ext uri="{FF2B5EF4-FFF2-40B4-BE49-F238E27FC236}">
                <a16:creationId xmlns:a16="http://schemas.microsoft.com/office/drawing/2014/main" id="{5A8AA2B1-0A10-C68D-5816-BDCF81482629}"/>
              </a:ext>
            </a:extLst>
          </p:cNvPr>
          <p:cNvSpPr>
            <a:spLocks noGrp="1"/>
          </p:cNvSpPr>
          <p:nvPr/>
        </p:nvSpPr>
        <p:spPr>
          <a:xfrm>
            <a:off x="3676650" y="4467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63</a:t>
            </a:r>
          </a:p>
        </p:txBody>
      </p:sp>
      <p:sp>
        <p:nvSpPr>
          <p:cNvPr id="43" name="Rectangle 42">
            <a:extLst>
              <a:ext uri="{FF2B5EF4-FFF2-40B4-BE49-F238E27FC236}">
                <a16:creationId xmlns:a16="http://schemas.microsoft.com/office/drawing/2014/main" id="{5012D414-E9E8-FEA5-0B1A-862732F40644}"/>
              </a:ext>
            </a:extLst>
          </p:cNvPr>
          <p:cNvSpPr>
            <a:spLocks noGrp="1"/>
          </p:cNvSpPr>
          <p:nvPr/>
        </p:nvSpPr>
        <p:spPr>
          <a:xfrm>
            <a:off x="1381125" y="5019675"/>
            <a:ext cx="742950" cy="742950"/>
          </a:xfrm>
          <a:prstGeom prst="rect">
            <a:avLst/>
          </a:prstGeom>
          <a:solidFill>
            <a:srgbClr val="F2F2F2"/>
          </a:solidFill>
          <a:ln w="0">
            <a:noFill/>
          </a:ln>
        </p:spPr>
        <p:txBody>
          <a:bodyPr/>
          <a:lstStyle/>
          <a:p>
            <a:endParaRPr lang="en-US"/>
          </a:p>
        </p:txBody>
      </p:sp>
      <p:sp>
        <p:nvSpPr>
          <p:cNvPr id="44" name="31">
            <a:extLst>
              <a:ext uri="{FF2B5EF4-FFF2-40B4-BE49-F238E27FC236}">
                <a16:creationId xmlns:a16="http://schemas.microsoft.com/office/drawing/2014/main" id="{0C28AA83-5923-AF6C-1250-DC5ED61EEBA7}"/>
              </a:ext>
            </a:extLst>
          </p:cNvPr>
          <p:cNvSpPr>
            <a:spLocks noGrp="1"/>
          </p:cNvSpPr>
          <p:nvPr/>
        </p:nvSpPr>
        <p:spPr>
          <a:xfrm>
            <a:off x="1390650" y="5229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12</a:t>
            </a:r>
          </a:p>
        </p:txBody>
      </p:sp>
      <p:sp>
        <p:nvSpPr>
          <p:cNvPr id="45" name="Rectangle 44">
            <a:extLst>
              <a:ext uri="{FF2B5EF4-FFF2-40B4-BE49-F238E27FC236}">
                <a16:creationId xmlns:a16="http://schemas.microsoft.com/office/drawing/2014/main" id="{2763AB3A-6A5F-7038-152E-E1FA45839429}"/>
              </a:ext>
            </a:extLst>
          </p:cNvPr>
          <p:cNvSpPr>
            <a:spLocks noGrp="1"/>
          </p:cNvSpPr>
          <p:nvPr/>
        </p:nvSpPr>
        <p:spPr>
          <a:xfrm>
            <a:off x="2143125" y="5019675"/>
            <a:ext cx="742950" cy="742950"/>
          </a:xfrm>
          <a:prstGeom prst="rect">
            <a:avLst/>
          </a:prstGeom>
          <a:solidFill>
            <a:srgbClr val="F2F2F2"/>
          </a:solidFill>
          <a:ln w="0">
            <a:noFill/>
          </a:ln>
        </p:spPr>
        <p:txBody>
          <a:bodyPr/>
          <a:lstStyle/>
          <a:p>
            <a:endParaRPr lang="en-US"/>
          </a:p>
        </p:txBody>
      </p:sp>
      <p:sp>
        <p:nvSpPr>
          <p:cNvPr id="46" name="55">
            <a:extLst>
              <a:ext uri="{FF2B5EF4-FFF2-40B4-BE49-F238E27FC236}">
                <a16:creationId xmlns:a16="http://schemas.microsoft.com/office/drawing/2014/main" id="{62835915-02D0-3E07-C431-1A36B28B9830}"/>
              </a:ext>
            </a:extLst>
          </p:cNvPr>
          <p:cNvSpPr>
            <a:spLocks noGrp="1"/>
          </p:cNvSpPr>
          <p:nvPr/>
        </p:nvSpPr>
        <p:spPr>
          <a:xfrm>
            <a:off x="2152650" y="5229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10</a:t>
            </a:r>
          </a:p>
        </p:txBody>
      </p:sp>
      <p:sp>
        <p:nvSpPr>
          <p:cNvPr id="47" name="Rectangle 46">
            <a:extLst>
              <a:ext uri="{FF2B5EF4-FFF2-40B4-BE49-F238E27FC236}">
                <a16:creationId xmlns:a16="http://schemas.microsoft.com/office/drawing/2014/main" id="{CAF10BD2-FEF5-37F6-22EA-9243A9F2800B}"/>
              </a:ext>
            </a:extLst>
          </p:cNvPr>
          <p:cNvSpPr>
            <a:spLocks noGrp="1"/>
          </p:cNvSpPr>
          <p:nvPr/>
        </p:nvSpPr>
        <p:spPr>
          <a:xfrm>
            <a:off x="2905125" y="5019675"/>
            <a:ext cx="742950" cy="742950"/>
          </a:xfrm>
          <a:prstGeom prst="rect">
            <a:avLst/>
          </a:prstGeom>
          <a:solidFill>
            <a:srgbClr val="F2F2F2"/>
          </a:solidFill>
          <a:ln w="0">
            <a:noFill/>
          </a:ln>
        </p:spPr>
        <p:txBody>
          <a:bodyPr/>
          <a:lstStyle/>
          <a:p>
            <a:endParaRPr lang="en-US"/>
          </a:p>
        </p:txBody>
      </p:sp>
      <p:sp>
        <p:nvSpPr>
          <p:cNvPr id="48" name="61">
            <a:extLst>
              <a:ext uri="{FF2B5EF4-FFF2-40B4-BE49-F238E27FC236}">
                <a16:creationId xmlns:a16="http://schemas.microsoft.com/office/drawing/2014/main" id="{7D54C539-A207-1ACD-AE83-2B8077A56EAB}"/>
              </a:ext>
            </a:extLst>
          </p:cNvPr>
          <p:cNvSpPr>
            <a:spLocks noGrp="1"/>
          </p:cNvSpPr>
          <p:nvPr/>
        </p:nvSpPr>
        <p:spPr>
          <a:xfrm>
            <a:off x="2914650" y="52292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46</a:t>
            </a:r>
          </a:p>
        </p:txBody>
      </p:sp>
      <p:sp>
        <p:nvSpPr>
          <p:cNvPr id="49" name="Rectangle 48">
            <a:extLst>
              <a:ext uri="{FF2B5EF4-FFF2-40B4-BE49-F238E27FC236}">
                <a16:creationId xmlns:a16="http://schemas.microsoft.com/office/drawing/2014/main" id="{F05C50CA-D2A8-7299-D81F-D600CF26EA2A}"/>
              </a:ext>
            </a:extLst>
          </p:cNvPr>
          <p:cNvSpPr>
            <a:spLocks noGrp="1"/>
          </p:cNvSpPr>
          <p:nvPr/>
        </p:nvSpPr>
        <p:spPr>
          <a:xfrm>
            <a:off x="3667125" y="5019675"/>
            <a:ext cx="742950" cy="742950"/>
          </a:xfrm>
          <a:prstGeom prst="rect">
            <a:avLst/>
          </a:prstGeom>
          <a:solidFill>
            <a:srgbClr val="DBEAF7"/>
          </a:solidFill>
          <a:ln w="0">
            <a:noFill/>
          </a:ln>
        </p:spPr>
        <p:txBody>
          <a:bodyPr/>
          <a:lstStyle/>
          <a:p>
            <a:endParaRPr lang="en-US"/>
          </a:p>
        </p:txBody>
      </p:sp>
      <p:sp>
        <p:nvSpPr>
          <p:cNvPr id="50" name="99">
            <a:extLst>
              <a:ext uri="{FF2B5EF4-FFF2-40B4-BE49-F238E27FC236}">
                <a16:creationId xmlns:a16="http://schemas.microsoft.com/office/drawing/2014/main" id="{57064B9F-EF1B-69C6-8D69-F19D5F79F834}"/>
              </a:ext>
            </a:extLst>
          </p:cNvPr>
          <p:cNvSpPr>
            <a:spLocks noGrp="1"/>
          </p:cNvSpPr>
          <p:nvPr/>
        </p:nvSpPr>
        <p:spPr>
          <a:xfrm>
            <a:off x="3676650" y="5229225"/>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122</a:t>
            </a:r>
          </a:p>
        </p:txBody>
      </p:sp>
      <p:sp>
        <p:nvSpPr>
          <p:cNvPr id="51" name="Main CGPA, stratified 10-fold cross-validation, N = 1,1">
            <a:extLst>
              <a:ext uri="{FF2B5EF4-FFF2-40B4-BE49-F238E27FC236}">
                <a16:creationId xmlns:a16="http://schemas.microsoft.com/office/drawing/2014/main" id="{FF8AAF03-22E9-E178-0C75-0D62F4AB287F}"/>
              </a:ext>
            </a:extLst>
          </p:cNvPr>
          <p:cNvSpPr>
            <a:spLocks noGrp="1"/>
          </p:cNvSpPr>
          <p:nvPr/>
        </p:nvSpPr>
        <p:spPr>
          <a:xfrm>
            <a:off x="400050" y="6057900"/>
            <a:ext cx="11049000" cy="285750"/>
          </a:xfrm>
          <a:prstGeom prst="rect">
            <a:avLst/>
          </a:prstGeom>
          <a:noFill/>
          <a:ln w="0">
            <a:noFill/>
          </a:ln>
        </p:spPr>
        <p:txBody>
          <a:bodyPr anchor="t">
            <a:noAutofit/>
          </a:bodyPr>
          <a:lstStyle/>
          <a:p>
            <a:pPr>
              <a:defRPr sz="1275" b="0">
                <a:solidFill>
                  <a:srgbClr val="585858"/>
                </a:solidFill>
                <a:latin typeface="Times New Roman"/>
                <a:ea typeface="Times New Roman"/>
                <a:cs typeface="Times New Roman"/>
              </a:defRPr>
            </a:pPr>
            <a:r>
              <a:rPr sz="1275" b="0">
                <a:solidFill>
                  <a:srgbClr val="585858"/>
                </a:solidFill>
                <a:latin typeface="Times New Roman"/>
                <a:ea typeface="Times New Roman"/>
                <a:cs typeface="Times New Roman"/>
              </a:rPr>
              <a:t>Main CGPA, stratified 5-fold cross-validation, N = 920. Rows actual, columns predicted.</a:t>
            </a:r>
          </a:p>
        </p:txBody>
      </p:sp>
    </p:spTree>
    <p:extLst>
      <p:ext uri="{BB962C8B-B14F-4D97-AF65-F5344CB8AC3E}">
        <p14:creationId xmlns:p14="http://schemas.microsoft.com/office/powerpoint/2010/main" val="97706827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3" name="Picture 52">
            <a:extLst>
              <a:ext uri="{FF2B5EF4-FFF2-40B4-BE49-F238E27FC236}">
                <a16:creationId xmlns:a16="http://schemas.microsoft.com/office/drawing/2014/main" id="{287589F9-AF99-7521-E52A-E24FF467EC10}"/>
              </a:ext>
            </a:extLst>
          </p:cNvPr>
          <p:cNvPicPr>
            <a:picLocks noChangeAspect="1"/>
          </p:cNvPicPr>
          <p:nvPr/>
        </p:nvPicPr>
        <p:blipFill>
          <a:blip r:embed="rId2"/>
          <a:stretch>
            <a:fillRect/>
          </a:stretch>
        </p:blipFill>
        <p:spPr>
          <a:xfrm>
            <a:off x="4435572" y="19379"/>
            <a:ext cx="7756428" cy="6858000"/>
          </a:xfrm>
          <a:prstGeom prst="rect">
            <a:avLst/>
          </a:prstGeom>
        </p:spPr>
      </p:pic>
      <p:sp>
        <p:nvSpPr>
          <p:cNvPr id="54" name="Google Shape;532;p58">
            <a:extLst>
              <a:ext uri="{FF2B5EF4-FFF2-40B4-BE49-F238E27FC236}">
                <a16:creationId xmlns:a16="http://schemas.microsoft.com/office/drawing/2014/main" id="{DFF9F992-C5D2-74AE-2B7E-B5387556E569}"/>
              </a:ext>
            </a:extLst>
          </p:cNvPr>
          <p:cNvSpPr>
            <a:spLocks noGrp="1"/>
          </p:cNvSpPr>
          <p:nvPr>
            <p:ph type="sldNum" idx="4"/>
          </p:nvPr>
        </p:nvSpPr>
        <p:spPr>
          <a:xfrm>
            <a:off x="4815032" y="5989111"/>
            <a:ext cx="518968" cy="241240"/>
          </a:xfrm>
        </p:spPr>
        <p:txBody>
          <a:bodyPr spcFirstLastPara="1" vert="horz" wrap="square" lIns="0" tIns="0" rIns="0" bIns="0" anchor="b">
            <a:noAutofit/>
          </a:bodyPr>
          <a:lstStyle/>
          <a:p>
            <a:r>
              <a:rPr sz="1000">
                <a:latin typeface="Times New Roman"/>
                <a:ea typeface="Times New Roman"/>
                <a:cs typeface="Times New Roman"/>
              </a:rPr>
              <a:t>41</a:t>
            </a:r>
          </a:p>
        </p:txBody>
      </p:sp>
      <p:sp>
        <p:nvSpPr>
          <p:cNvPr id="55" name="Google Shape;533;p58">
            <a:extLst>
              <a:ext uri="{FF2B5EF4-FFF2-40B4-BE49-F238E27FC236}">
                <a16:creationId xmlns:a16="http://schemas.microsoft.com/office/drawing/2014/main" id="{ABCCDBCB-A949-6E75-456F-7D85A6E3FD30}"/>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dirty="0">
                <a:latin typeface="Times New Roman"/>
                <a:ea typeface="Times New Roman"/>
                <a:cs typeface="Times New Roman"/>
              </a:rPr>
              <a:t>WEKA Naive Bayes </a:t>
            </a:r>
            <a:br>
              <a:rPr lang="en-US" sz="3000" dirty="0">
                <a:latin typeface="Times New Roman"/>
                <a:ea typeface="Times New Roman"/>
                <a:cs typeface="Times New Roman"/>
              </a:rPr>
            </a:br>
            <a:r>
              <a:rPr sz="3000" dirty="0">
                <a:latin typeface="Times New Roman"/>
                <a:ea typeface="Times New Roman"/>
                <a:cs typeface="Times New Roman"/>
              </a:rPr>
              <a:t>matri</a:t>
            </a:r>
            <a:r>
              <a:rPr lang="en-US" sz="3000" dirty="0">
                <a:latin typeface="Times New Roman"/>
                <a:ea typeface="Times New Roman"/>
                <a:cs typeface="Times New Roman"/>
              </a:rPr>
              <a:t>x</a:t>
            </a:r>
            <a:endParaRPr sz="3000" dirty="0">
              <a:latin typeface="Times New Roman"/>
              <a:ea typeface="Times New Roman"/>
              <a:cs typeface="Times New Roman"/>
            </a:endParaRPr>
          </a:p>
        </p:txBody>
      </p:sp>
      <p:sp>
        <p:nvSpPr>
          <p:cNvPr id="56" name="Naive Bayes">
            <a:extLst>
              <a:ext uri="{FF2B5EF4-FFF2-40B4-BE49-F238E27FC236}">
                <a16:creationId xmlns:a16="http://schemas.microsoft.com/office/drawing/2014/main" id="{4BF4C1DA-4A48-A514-9024-0A2E68998F83}"/>
              </a:ext>
            </a:extLst>
          </p:cNvPr>
          <p:cNvSpPr>
            <a:spLocks noGrp="1"/>
          </p:cNvSpPr>
          <p:nvPr/>
        </p:nvSpPr>
        <p:spPr>
          <a:xfrm>
            <a:off x="393700" y="1262392"/>
            <a:ext cx="5238750" cy="381000"/>
          </a:xfrm>
          <a:prstGeom prst="rect">
            <a:avLst/>
          </a:prstGeom>
          <a:noFill/>
          <a:ln w="0">
            <a:noFill/>
          </a:ln>
        </p:spPr>
        <p:txBody>
          <a:bodyPr anchor="t">
            <a:noAutofit/>
          </a:bodyPr>
          <a:lstStyle/>
          <a:p>
            <a:pPr>
              <a:defRPr sz="1875" b="0">
                <a:solidFill>
                  <a:srgbClr val="121212"/>
                </a:solidFill>
                <a:latin typeface="Times New Roman"/>
                <a:ea typeface="Times New Roman"/>
                <a:cs typeface="Times New Roman"/>
              </a:defRPr>
            </a:pPr>
            <a:r>
              <a:rPr sz="1875" b="0" dirty="0">
                <a:solidFill>
                  <a:srgbClr val="121212"/>
                </a:solidFill>
                <a:latin typeface="Times New Roman"/>
                <a:ea typeface="Times New Roman"/>
                <a:cs typeface="Times New Roman"/>
              </a:rPr>
              <a:t>Naive Bayes</a:t>
            </a:r>
            <a:r>
              <a:rPr lang="en-US" sz="1875" b="0" dirty="0">
                <a:solidFill>
                  <a:srgbClr val="121212"/>
                </a:solidFill>
                <a:latin typeface="Times New Roman"/>
                <a:ea typeface="Times New Roman"/>
                <a:cs typeface="Times New Roman"/>
              </a:rPr>
              <a:t> 5-fold</a:t>
            </a:r>
            <a:endParaRPr sz="1875" b="0" dirty="0">
              <a:solidFill>
                <a:srgbClr val="121212"/>
              </a:solidFill>
              <a:latin typeface="Times New Roman"/>
              <a:ea typeface="Times New Roman"/>
              <a:cs typeface="Times New Roman"/>
            </a:endParaRPr>
          </a:p>
        </p:txBody>
      </p:sp>
      <p:sp>
        <p:nvSpPr>
          <p:cNvPr id="57" name="Predicted">
            <a:extLst>
              <a:ext uri="{FF2B5EF4-FFF2-40B4-BE49-F238E27FC236}">
                <a16:creationId xmlns:a16="http://schemas.microsoft.com/office/drawing/2014/main" id="{33F6DB48-6E92-E46D-F481-EAFA5836E142}"/>
              </a:ext>
            </a:extLst>
          </p:cNvPr>
          <p:cNvSpPr>
            <a:spLocks noGrp="1"/>
          </p:cNvSpPr>
          <p:nvPr/>
        </p:nvSpPr>
        <p:spPr>
          <a:xfrm>
            <a:off x="1346200" y="1710067"/>
            <a:ext cx="2952750" cy="304800"/>
          </a:xfrm>
          <a:prstGeom prst="rect">
            <a:avLst/>
          </a:prstGeom>
          <a:noFill/>
          <a:ln w="0">
            <a:noFill/>
          </a:ln>
        </p:spPr>
        <p:txBody>
          <a:bodyPr anchor="t">
            <a:noAutofit/>
          </a:bodyPr>
          <a:lstStyle/>
          <a:p>
            <a:pPr>
              <a:defRPr sz="1575" b="0">
                <a:solidFill>
                  <a:srgbClr val="585858"/>
                </a:solidFill>
                <a:latin typeface="Times New Roman"/>
                <a:ea typeface="Times New Roman"/>
                <a:cs typeface="Times New Roman"/>
              </a:defRPr>
            </a:pPr>
            <a:r>
              <a:rPr sz="1575" b="0">
                <a:solidFill>
                  <a:srgbClr val="585858"/>
                </a:solidFill>
                <a:latin typeface="Times New Roman"/>
                <a:ea typeface="Times New Roman"/>
                <a:cs typeface="Times New Roman"/>
              </a:rPr>
              <a:t>Predicted</a:t>
            </a:r>
          </a:p>
        </p:txBody>
      </p:sp>
      <p:sp>
        <p:nvSpPr>
          <p:cNvPr id="58" name="C0">
            <a:extLst>
              <a:ext uri="{FF2B5EF4-FFF2-40B4-BE49-F238E27FC236}">
                <a16:creationId xmlns:a16="http://schemas.microsoft.com/office/drawing/2014/main" id="{3B7770F9-C2BA-2783-963C-EAD13E4F3CA4}"/>
              </a:ext>
            </a:extLst>
          </p:cNvPr>
          <p:cNvSpPr>
            <a:spLocks noGrp="1"/>
          </p:cNvSpPr>
          <p:nvPr/>
        </p:nvSpPr>
        <p:spPr>
          <a:xfrm>
            <a:off x="1203325" y="2072017"/>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C0</a:t>
            </a:r>
          </a:p>
        </p:txBody>
      </p:sp>
      <p:sp>
        <p:nvSpPr>
          <p:cNvPr id="59" name="C0">
            <a:extLst>
              <a:ext uri="{FF2B5EF4-FFF2-40B4-BE49-F238E27FC236}">
                <a16:creationId xmlns:a16="http://schemas.microsoft.com/office/drawing/2014/main" id="{4C0A8077-A39B-D519-A2E2-8173452BF6EA}"/>
              </a:ext>
            </a:extLst>
          </p:cNvPr>
          <p:cNvSpPr>
            <a:spLocks noGrp="1"/>
          </p:cNvSpPr>
          <p:nvPr/>
        </p:nvSpPr>
        <p:spPr>
          <a:xfrm>
            <a:off x="488950" y="2519692"/>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C0</a:t>
            </a:r>
          </a:p>
        </p:txBody>
      </p:sp>
      <p:sp>
        <p:nvSpPr>
          <p:cNvPr id="60" name="C1">
            <a:extLst>
              <a:ext uri="{FF2B5EF4-FFF2-40B4-BE49-F238E27FC236}">
                <a16:creationId xmlns:a16="http://schemas.microsoft.com/office/drawing/2014/main" id="{554B0697-89FA-0C53-C46F-9BC8FAC39575}"/>
              </a:ext>
            </a:extLst>
          </p:cNvPr>
          <p:cNvSpPr>
            <a:spLocks noGrp="1"/>
          </p:cNvSpPr>
          <p:nvPr/>
        </p:nvSpPr>
        <p:spPr>
          <a:xfrm>
            <a:off x="1965325" y="2072017"/>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C1</a:t>
            </a:r>
          </a:p>
        </p:txBody>
      </p:sp>
      <p:sp>
        <p:nvSpPr>
          <p:cNvPr id="61" name="C1">
            <a:extLst>
              <a:ext uri="{FF2B5EF4-FFF2-40B4-BE49-F238E27FC236}">
                <a16:creationId xmlns:a16="http://schemas.microsoft.com/office/drawing/2014/main" id="{5C2EB25D-1C74-8651-0FD4-3C2ED436A3D8}"/>
              </a:ext>
            </a:extLst>
          </p:cNvPr>
          <p:cNvSpPr>
            <a:spLocks noGrp="1"/>
          </p:cNvSpPr>
          <p:nvPr/>
        </p:nvSpPr>
        <p:spPr>
          <a:xfrm>
            <a:off x="488950" y="3281692"/>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C1</a:t>
            </a:r>
          </a:p>
        </p:txBody>
      </p:sp>
      <p:sp>
        <p:nvSpPr>
          <p:cNvPr id="62" name="C2">
            <a:extLst>
              <a:ext uri="{FF2B5EF4-FFF2-40B4-BE49-F238E27FC236}">
                <a16:creationId xmlns:a16="http://schemas.microsoft.com/office/drawing/2014/main" id="{49550C5C-0A16-F8A2-69BC-AAEBFD52036D}"/>
              </a:ext>
            </a:extLst>
          </p:cNvPr>
          <p:cNvSpPr>
            <a:spLocks noGrp="1"/>
          </p:cNvSpPr>
          <p:nvPr/>
        </p:nvSpPr>
        <p:spPr>
          <a:xfrm>
            <a:off x="2727325" y="2072017"/>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C2</a:t>
            </a:r>
          </a:p>
        </p:txBody>
      </p:sp>
      <p:sp>
        <p:nvSpPr>
          <p:cNvPr id="63" name="C2">
            <a:extLst>
              <a:ext uri="{FF2B5EF4-FFF2-40B4-BE49-F238E27FC236}">
                <a16:creationId xmlns:a16="http://schemas.microsoft.com/office/drawing/2014/main" id="{6BE039AF-F88F-0E9A-CAA5-4777967B0C6D}"/>
              </a:ext>
            </a:extLst>
          </p:cNvPr>
          <p:cNvSpPr>
            <a:spLocks noGrp="1"/>
          </p:cNvSpPr>
          <p:nvPr/>
        </p:nvSpPr>
        <p:spPr>
          <a:xfrm>
            <a:off x="488950" y="4043692"/>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C2</a:t>
            </a:r>
          </a:p>
        </p:txBody>
      </p:sp>
      <p:sp>
        <p:nvSpPr>
          <p:cNvPr id="64" name="C3">
            <a:extLst>
              <a:ext uri="{FF2B5EF4-FFF2-40B4-BE49-F238E27FC236}">
                <a16:creationId xmlns:a16="http://schemas.microsoft.com/office/drawing/2014/main" id="{150BF80B-E7B9-ADC3-10F0-C7B29B145440}"/>
              </a:ext>
            </a:extLst>
          </p:cNvPr>
          <p:cNvSpPr>
            <a:spLocks noGrp="1"/>
          </p:cNvSpPr>
          <p:nvPr/>
        </p:nvSpPr>
        <p:spPr>
          <a:xfrm>
            <a:off x="3489325" y="2072017"/>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C3</a:t>
            </a:r>
          </a:p>
        </p:txBody>
      </p:sp>
      <p:sp>
        <p:nvSpPr>
          <p:cNvPr id="65" name="C3">
            <a:extLst>
              <a:ext uri="{FF2B5EF4-FFF2-40B4-BE49-F238E27FC236}">
                <a16:creationId xmlns:a16="http://schemas.microsoft.com/office/drawing/2014/main" id="{F3D145F2-49E7-85D8-CE2D-88B4EBB8899E}"/>
              </a:ext>
            </a:extLst>
          </p:cNvPr>
          <p:cNvSpPr>
            <a:spLocks noGrp="1"/>
          </p:cNvSpPr>
          <p:nvPr/>
        </p:nvSpPr>
        <p:spPr>
          <a:xfrm>
            <a:off x="488950" y="4805692"/>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C3</a:t>
            </a:r>
          </a:p>
        </p:txBody>
      </p:sp>
      <p:sp>
        <p:nvSpPr>
          <p:cNvPr id="66" name="Rectangle 65">
            <a:extLst>
              <a:ext uri="{FF2B5EF4-FFF2-40B4-BE49-F238E27FC236}">
                <a16:creationId xmlns:a16="http://schemas.microsoft.com/office/drawing/2014/main" id="{332B3C37-19C0-ED55-1739-A29A8BE0E78E}"/>
              </a:ext>
            </a:extLst>
          </p:cNvPr>
          <p:cNvSpPr>
            <a:spLocks noGrp="1"/>
          </p:cNvSpPr>
          <p:nvPr/>
        </p:nvSpPr>
        <p:spPr>
          <a:xfrm>
            <a:off x="1108075" y="2443492"/>
            <a:ext cx="742950" cy="742950"/>
          </a:xfrm>
          <a:prstGeom prst="rect">
            <a:avLst/>
          </a:prstGeom>
          <a:solidFill>
            <a:srgbClr val="DBEAF7"/>
          </a:solidFill>
          <a:ln w="0">
            <a:noFill/>
          </a:ln>
        </p:spPr>
        <p:txBody>
          <a:bodyPr/>
          <a:lstStyle/>
          <a:p>
            <a:endParaRPr lang="en-US"/>
          </a:p>
        </p:txBody>
      </p:sp>
      <p:sp>
        <p:nvSpPr>
          <p:cNvPr id="67" name="69">
            <a:extLst>
              <a:ext uri="{FF2B5EF4-FFF2-40B4-BE49-F238E27FC236}">
                <a16:creationId xmlns:a16="http://schemas.microsoft.com/office/drawing/2014/main" id="{FB96BBC1-2961-74F7-F87C-A35E7FD0217A}"/>
              </a:ext>
            </a:extLst>
          </p:cNvPr>
          <p:cNvSpPr>
            <a:spLocks noGrp="1"/>
          </p:cNvSpPr>
          <p:nvPr/>
        </p:nvSpPr>
        <p:spPr>
          <a:xfrm>
            <a:off x="1117600" y="2653042"/>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102</a:t>
            </a:r>
          </a:p>
        </p:txBody>
      </p:sp>
      <p:sp>
        <p:nvSpPr>
          <p:cNvPr id="68" name="Rectangle 67">
            <a:extLst>
              <a:ext uri="{FF2B5EF4-FFF2-40B4-BE49-F238E27FC236}">
                <a16:creationId xmlns:a16="http://schemas.microsoft.com/office/drawing/2014/main" id="{B3059852-87F0-5ABA-44B7-65BA88B1F829}"/>
              </a:ext>
            </a:extLst>
          </p:cNvPr>
          <p:cNvSpPr>
            <a:spLocks noGrp="1"/>
          </p:cNvSpPr>
          <p:nvPr/>
        </p:nvSpPr>
        <p:spPr>
          <a:xfrm>
            <a:off x="1870075" y="2443492"/>
            <a:ext cx="742950" cy="742950"/>
          </a:xfrm>
          <a:prstGeom prst="rect">
            <a:avLst/>
          </a:prstGeom>
          <a:solidFill>
            <a:srgbClr val="F2F2F2"/>
          </a:solidFill>
          <a:ln w="0">
            <a:noFill/>
          </a:ln>
        </p:spPr>
        <p:txBody>
          <a:bodyPr/>
          <a:lstStyle/>
          <a:p>
            <a:endParaRPr lang="en-US"/>
          </a:p>
        </p:txBody>
      </p:sp>
      <p:sp>
        <p:nvSpPr>
          <p:cNvPr id="69" name="101">
            <a:extLst>
              <a:ext uri="{FF2B5EF4-FFF2-40B4-BE49-F238E27FC236}">
                <a16:creationId xmlns:a16="http://schemas.microsoft.com/office/drawing/2014/main" id="{D007230D-11BF-894F-96EF-FF1338F17AFC}"/>
              </a:ext>
            </a:extLst>
          </p:cNvPr>
          <p:cNvSpPr>
            <a:spLocks noGrp="1"/>
          </p:cNvSpPr>
          <p:nvPr/>
        </p:nvSpPr>
        <p:spPr>
          <a:xfrm>
            <a:off x="1879600" y="2653042"/>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dirty="0">
                <a:solidFill>
                  <a:srgbClr val="121212"/>
                </a:solidFill>
                <a:latin typeface="Times New Roman"/>
                <a:ea typeface="Times New Roman"/>
                <a:cs typeface="Times New Roman"/>
              </a:rPr>
              <a:t>57</a:t>
            </a:r>
          </a:p>
        </p:txBody>
      </p:sp>
      <p:sp>
        <p:nvSpPr>
          <p:cNvPr id="70" name="Rectangle 69">
            <a:extLst>
              <a:ext uri="{FF2B5EF4-FFF2-40B4-BE49-F238E27FC236}">
                <a16:creationId xmlns:a16="http://schemas.microsoft.com/office/drawing/2014/main" id="{957E3DBB-810C-D0B5-1CE6-C33D40ADF80C}"/>
              </a:ext>
            </a:extLst>
          </p:cNvPr>
          <p:cNvSpPr>
            <a:spLocks noGrp="1"/>
          </p:cNvSpPr>
          <p:nvPr/>
        </p:nvSpPr>
        <p:spPr>
          <a:xfrm>
            <a:off x="2632075" y="2443492"/>
            <a:ext cx="742950" cy="742950"/>
          </a:xfrm>
          <a:prstGeom prst="rect">
            <a:avLst/>
          </a:prstGeom>
          <a:solidFill>
            <a:srgbClr val="F2F2F2"/>
          </a:solidFill>
          <a:ln w="0">
            <a:noFill/>
          </a:ln>
        </p:spPr>
        <p:txBody>
          <a:bodyPr/>
          <a:lstStyle/>
          <a:p>
            <a:endParaRPr lang="en-US"/>
          </a:p>
        </p:txBody>
      </p:sp>
      <p:sp>
        <p:nvSpPr>
          <p:cNvPr id="71" name="34">
            <a:extLst>
              <a:ext uri="{FF2B5EF4-FFF2-40B4-BE49-F238E27FC236}">
                <a16:creationId xmlns:a16="http://schemas.microsoft.com/office/drawing/2014/main" id="{9990AE1B-A842-2F9C-9409-0B25722F59BB}"/>
              </a:ext>
            </a:extLst>
          </p:cNvPr>
          <p:cNvSpPr>
            <a:spLocks noGrp="1"/>
          </p:cNvSpPr>
          <p:nvPr/>
        </p:nvSpPr>
        <p:spPr>
          <a:xfrm>
            <a:off x="2641600" y="2653042"/>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15</a:t>
            </a:r>
          </a:p>
        </p:txBody>
      </p:sp>
      <p:sp>
        <p:nvSpPr>
          <p:cNvPr id="72" name="Rectangle 71">
            <a:extLst>
              <a:ext uri="{FF2B5EF4-FFF2-40B4-BE49-F238E27FC236}">
                <a16:creationId xmlns:a16="http://schemas.microsoft.com/office/drawing/2014/main" id="{E7193426-9492-A8E9-E3DE-ACE712487D59}"/>
              </a:ext>
            </a:extLst>
          </p:cNvPr>
          <p:cNvSpPr>
            <a:spLocks noGrp="1"/>
          </p:cNvSpPr>
          <p:nvPr/>
        </p:nvSpPr>
        <p:spPr>
          <a:xfrm>
            <a:off x="3394075" y="2443492"/>
            <a:ext cx="742950" cy="742950"/>
          </a:xfrm>
          <a:prstGeom prst="rect">
            <a:avLst/>
          </a:prstGeom>
          <a:solidFill>
            <a:srgbClr val="F2F2F2"/>
          </a:solidFill>
          <a:ln w="0">
            <a:noFill/>
          </a:ln>
        </p:spPr>
        <p:txBody>
          <a:bodyPr/>
          <a:lstStyle/>
          <a:p>
            <a:endParaRPr lang="en-US"/>
          </a:p>
        </p:txBody>
      </p:sp>
      <p:sp>
        <p:nvSpPr>
          <p:cNvPr id="73" name="32">
            <a:extLst>
              <a:ext uri="{FF2B5EF4-FFF2-40B4-BE49-F238E27FC236}">
                <a16:creationId xmlns:a16="http://schemas.microsoft.com/office/drawing/2014/main" id="{4A3AA48F-6B7F-779C-E19F-453CF77AEB3D}"/>
              </a:ext>
            </a:extLst>
          </p:cNvPr>
          <p:cNvSpPr>
            <a:spLocks noGrp="1"/>
          </p:cNvSpPr>
          <p:nvPr/>
        </p:nvSpPr>
        <p:spPr>
          <a:xfrm>
            <a:off x="3403600" y="2653042"/>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8</a:t>
            </a:r>
          </a:p>
        </p:txBody>
      </p:sp>
      <p:sp>
        <p:nvSpPr>
          <p:cNvPr id="74" name="Rectangle 73">
            <a:extLst>
              <a:ext uri="{FF2B5EF4-FFF2-40B4-BE49-F238E27FC236}">
                <a16:creationId xmlns:a16="http://schemas.microsoft.com/office/drawing/2014/main" id="{5B645DAE-A4DA-8AB5-0448-B6334E0CE1C7}"/>
              </a:ext>
            </a:extLst>
          </p:cNvPr>
          <p:cNvSpPr>
            <a:spLocks noGrp="1"/>
          </p:cNvSpPr>
          <p:nvPr/>
        </p:nvSpPr>
        <p:spPr>
          <a:xfrm>
            <a:off x="1108075" y="3205492"/>
            <a:ext cx="742950" cy="742950"/>
          </a:xfrm>
          <a:prstGeom prst="rect">
            <a:avLst/>
          </a:prstGeom>
          <a:solidFill>
            <a:srgbClr val="F2F2F2"/>
          </a:solidFill>
          <a:ln w="0">
            <a:noFill/>
          </a:ln>
        </p:spPr>
        <p:txBody>
          <a:bodyPr/>
          <a:lstStyle/>
          <a:p>
            <a:endParaRPr lang="en-US"/>
          </a:p>
        </p:txBody>
      </p:sp>
      <p:sp>
        <p:nvSpPr>
          <p:cNvPr id="75" name="51">
            <a:extLst>
              <a:ext uri="{FF2B5EF4-FFF2-40B4-BE49-F238E27FC236}">
                <a16:creationId xmlns:a16="http://schemas.microsoft.com/office/drawing/2014/main" id="{F5312499-8F5F-14D5-93FA-23490024FC25}"/>
              </a:ext>
            </a:extLst>
          </p:cNvPr>
          <p:cNvSpPr>
            <a:spLocks noGrp="1"/>
          </p:cNvSpPr>
          <p:nvPr/>
        </p:nvSpPr>
        <p:spPr>
          <a:xfrm>
            <a:off x="1117600" y="3415042"/>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54</a:t>
            </a:r>
          </a:p>
        </p:txBody>
      </p:sp>
      <p:sp>
        <p:nvSpPr>
          <p:cNvPr id="76" name="Rectangle 75">
            <a:extLst>
              <a:ext uri="{FF2B5EF4-FFF2-40B4-BE49-F238E27FC236}">
                <a16:creationId xmlns:a16="http://schemas.microsoft.com/office/drawing/2014/main" id="{AD5E6D7D-CBB8-22C2-0747-4FBD76690809}"/>
              </a:ext>
            </a:extLst>
          </p:cNvPr>
          <p:cNvSpPr>
            <a:spLocks noGrp="1"/>
          </p:cNvSpPr>
          <p:nvPr/>
        </p:nvSpPr>
        <p:spPr>
          <a:xfrm>
            <a:off x="1870075" y="3205492"/>
            <a:ext cx="742950" cy="742950"/>
          </a:xfrm>
          <a:prstGeom prst="rect">
            <a:avLst/>
          </a:prstGeom>
          <a:solidFill>
            <a:srgbClr val="DBEAF7"/>
          </a:solidFill>
          <a:ln w="0">
            <a:noFill/>
          </a:ln>
        </p:spPr>
        <p:txBody>
          <a:bodyPr/>
          <a:lstStyle/>
          <a:p>
            <a:endParaRPr lang="en-US"/>
          </a:p>
        </p:txBody>
      </p:sp>
      <p:sp>
        <p:nvSpPr>
          <p:cNvPr id="77" name="169">
            <a:extLst>
              <a:ext uri="{FF2B5EF4-FFF2-40B4-BE49-F238E27FC236}">
                <a16:creationId xmlns:a16="http://schemas.microsoft.com/office/drawing/2014/main" id="{CA7C93E2-576A-528F-C0B5-27F87B2B6A24}"/>
              </a:ext>
            </a:extLst>
          </p:cNvPr>
          <p:cNvSpPr>
            <a:spLocks noGrp="1"/>
          </p:cNvSpPr>
          <p:nvPr/>
        </p:nvSpPr>
        <p:spPr>
          <a:xfrm>
            <a:off x="1879600" y="3415042"/>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143</a:t>
            </a:r>
          </a:p>
        </p:txBody>
      </p:sp>
      <p:sp>
        <p:nvSpPr>
          <p:cNvPr id="78" name="Rectangle 77">
            <a:extLst>
              <a:ext uri="{FF2B5EF4-FFF2-40B4-BE49-F238E27FC236}">
                <a16:creationId xmlns:a16="http://schemas.microsoft.com/office/drawing/2014/main" id="{C231B243-3642-FC98-975C-F7C9E609B2BA}"/>
              </a:ext>
            </a:extLst>
          </p:cNvPr>
          <p:cNvSpPr>
            <a:spLocks noGrp="1"/>
          </p:cNvSpPr>
          <p:nvPr/>
        </p:nvSpPr>
        <p:spPr>
          <a:xfrm>
            <a:off x="2632075" y="3205492"/>
            <a:ext cx="742950" cy="742950"/>
          </a:xfrm>
          <a:prstGeom prst="rect">
            <a:avLst/>
          </a:prstGeom>
          <a:solidFill>
            <a:srgbClr val="F2F2F2"/>
          </a:solidFill>
          <a:ln w="0">
            <a:noFill/>
          </a:ln>
        </p:spPr>
        <p:txBody>
          <a:bodyPr/>
          <a:lstStyle/>
          <a:p>
            <a:endParaRPr lang="en-US"/>
          </a:p>
        </p:txBody>
      </p:sp>
      <p:sp>
        <p:nvSpPr>
          <p:cNvPr id="79" name="70">
            <a:extLst>
              <a:ext uri="{FF2B5EF4-FFF2-40B4-BE49-F238E27FC236}">
                <a16:creationId xmlns:a16="http://schemas.microsoft.com/office/drawing/2014/main" id="{4BCF6F70-8ADD-0220-9AEF-851E145D9599}"/>
              </a:ext>
            </a:extLst>
          </p:cNvPr>
          <p:cNvSpPr>
            <a:spLocks noGrp="1"/>
          </p:cNvSpPr>
          <p:nvPr/>
        </p:nvSpPr>
        <p:spPr>
          <a:xfrm>
            <a:off x="2641600" y="3415042"/>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74</a:t>
            </a:r>
          </a:p>
        </p:txBody>
      </p:sp>
      <p:sp>
        <p:nvSpPr>
          <p:cNvPr id="80" name="Rectangle 79">
            <a:extLst>
              <a:ext uri="{FF2B5EF4-FFF2-40B4-BE49-F238E27FC236}">
                <a16:creationId xmlns:a16="http://schemas.microsoft.com/office/drawing/2014/main" id="{A0935AD6-23F3-D25A-95AB-8EB52BBC95D0}"/>
              </a:ext>
            </a:extLst>
          </p:cNvPr>
          <p:cNvSpPr>
            <a:spLocks noGrp="1"/>
          </p:cNvSpPr>
          <p:nvPr/>
        </p:nvSpPr>
        <p:spPr>
          <a:xfrm>
            <a:off x="3394075" y="3205492"/>
            <a:ext cx="742950" cy="742950"/>
          </a:xfrm>
          <a:prstGeom prst="rect">
            <a:avLst/>
          </a:prstGeom>
          <a:solidFill>
            <a:srgbClr val="F2F2F2"/>
          </a:solidFill>
          <a:ln w="0">
            <a:noFill/>
          </a:ln>
        </p:spPr>
        <p:txBody>
          <a:bodyPr/>
          <a:lstStyle/>
          <a:p>
            <a:endParaRPr lang="en-US"/>
          </a:p>
        </p:txBody>
      </p:sp>
      <p:sp>
        <p:nvSpPr>
          <p:cNvPr id="81" name="30">
            <a:extLst>
              <a:ext uri="{FF2B5EF4-FFF2-40B4-BE49-F238E27FC236}">
                <a16:creationId xmlns:a16="http://schemas.microsoft.com/office/drawing/2014/main" id="{4D0F2596-85A0-1578-40AB-251B60F482FC}"/>
              </a:ext>
            </a:extLst>
          </p:cNvPr>
          <p:cNvSpPr>
            <a:spLocks noGrp="1"/>
          </p:cNvSpPr>
          <p:nvPr/>
        </p:nvSpPr>
        <p:spPr>
          <a:xfrm>
            <a:off x="3403600" y="3415042"/>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13</a:t>
            </a:r>
          </a:p>
        </p:txBody>
      </p:sp>
      <p:sp>
        <p:nvSpPr>
          <p:cNvPr id="82" name="Rectangle 81">
            <a:extLst>
              <a:ext uri="{FF2B5EF4-FFF2-40B4-BE49-F238E27FC236}">
                <a16:creationId xmlns:a16="http://schemas.microsoft.com/office/drawing/2014/main" id="{06515B5F-2E6C-9004-484B-4E00F963CB7B}"/>
              </a:ext>
            </a:extLst>
          </p:cNvPr>
          <p:cNvSpPr>
            <a:spLocks noGrp="1"/>
          </p:cNvSpPr>
          <p:nvPr/>
        </p:nvSpPr>
        <p:spPr>
          <a:xfrm>
            <a:off x="1108075" y="3967492"/>
            <a:ext cx="742950" cy="742950"/>
          </a:xfrm>
          <a:prstGeom prst="rect">
            <a:avLst/>
          </a:prstGeom>
          <a:solidFill>
            <a:srgbClr val="F2F2F2"/>
          </a:solidFill>
          <a:ln w="0">
            <a:noFill/>
          </a:ln>
        </p:spPr>
        <p:txBody>
          <a:bodyPr/>
          <a:lstStyle/>
          <a:p>
            <a:endParaRPr lang="en-US"/>
          </a:p>
        </p:txBody>
      </p:sp>
      <p:sp>
        <p:nvSpPr>
          <p:cNvPr id="83" name="54">
            <a:extLst>
              <a:ext uri="{FF2B5EF4-FFF2-40B4-BE49-F238E27FC236}">
                <a16:creationId xmlns:a16="http://schemas.microsoft.com/office/drawing/2014/main" id="{62BC6A24-0D3B-1044-6A08-AAD0E72C8305}"/>
              </a:ext>
            </a:extLst>
          </p:cNvPr>
          <p:cNvSpPr>
            <a:spLocks noGrp="1"/>
          </p:cNvSpPr>
          <p:nvPr/>
        </p:nvSpPr>
        <p:spPr>
          <a:xfrm>
            <a:off x="1117600" y="4177042"/>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12</a:t>
            </a:r>
          </a:p>
        </p:txBody>
      </p:sp>
      <p:sp>
        <p:nvSpPr>
          <p:cNvPr id="84" name="Rectangle 83">
            <a:extLst>
              <a:ext uri="{FF2B5EF4-FFF2-40B4-BE49-F238E27FC236}">
                <a16:creationId xmlns:a16="http://schemas.microsoft.com/office/drawing/2014/main" id="{8A970A31-D524-5EC8-A686-D6B9070120F2}"/>
              </a:ext>
            </a:extLst>
          </p:cNvPr>
          <p:cNvSpPr>
            <a:spLocks noGrp="1"/>
          </p:cNvSpPr>
          <p:nvPr/>
        </p:nvSpPr>
        <p:spPr>
          <a:xfrm>
            <a:off x="1870075" y="3967492"/>
            <a:ext cx="742950" cy="742950"/>
          </a:xfrm>
          <a:prstGeom prst="rect">
            <a:avLst/>
          </a:prstGeom>
          <a:solidFill>
            <a:srgbClr val="F2F2F2"/>
          </a:solidFill>
          <a:ln w="0">
            <a:noFill/>
          </a:ln>
        </p:spPr>
        <p:txBody>
          <a:bodyPr/>
          <a:lstStyle/>
          <a:p>
            <a:endParaRPr lang="en-US"/>
          </a:p>
        </p:txBody>
      </p:sp>
      <p:sp>
        <p:nvSpPr>
          <p:cNvPr id="85" name="104">
            <a:extLst>
              <a:ext uri="{FF2B5EF4-FFF2-40B4-BE49-F238E27FC236}">
                <a16:creationId xmlns:a16="http://schemas.microsoft.com/office/drawing/2014/main" id="{1C22DBF9-0805-C1FE-9958-584C39D48B91}"/>
              </a:ext>
            </a:extLst>
          </p:cNvPr>
          <p:cNvSpPr>
            <a:spLocks noGrp="1"/>
          </p:cNvSpPr>
          <p:nvPr/>
        </p:nvSpPr>
        <p:spPr>
          <a:xfrm>
            <a:off x="1879600" y="4177042"/>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62</a:t>
            </a:r>
          </a:p>
        </p:txBody>
      </p:sp>
      <p:sp>
        <p:nvSpPr>
          <p:cNvPr id="86" name="Rectangle 85">
            <a:extLst>
              <a:ext uri="{FF2B5EF4-FFF2-40B4-BE49-F238E27FC236}">
                <a16:creationId xmlns:a16="http://schemas.microsoft.com/office/drawing/2014/main" id="{53140C94-4C9F-97BD-7D4F-BF94C6CE7F3E}"/>
              </a:ext>
            </a:extLst>
          </p:cNvPr>
          <p:cNvSpPr>
            <a:spLocks noGrp="1"/>
          </p:cNvSpPr>
          <p:nvPr/>
        </p:nvSpPr>
        <p:spPr>
          <a:xfrm>
            <a:off x="2632075" y="3967492"/>
            <a:ext cx="742950" cy="742950"/>
          </a:xfrm>
          <a:prstGeom prst="rect">
            <a:avLst/>
          </a:prstGeom>
          <a:solidFill>
            <a:srgbClr val="DBEAF7"/>
          </a:solidFill>
          <a:ln w="0">
            <a:noFill/>
          </a:ln>
        </p:spPr>
        <p:txBody>
          <a:bodyPr/>
          <a:lstStyle/>
          <a:p>
            <a:endParaRPr lang="en-US"/>
          </a:p>
        </p:txBody>
      </p:sp>
      <p:sp>
        <p:nvSpPr>
          <p:cNvPr id="87" name="96">
            <a:extLst>
              <a:ext uri="{FF2B5EF4-FFF2-40B4-BE49-F238E27FC236}">
                <a16:creationId xmlns:a16="http://schemas.microsoft.com/office/drawing/2014/main" id="{A883AFA0-1FE9-F48A-FAE5-19DC897766D4}"/>
              </a:ext>
            </a:extLst>
          </p:cNvPr>
          <p:cNvSpPr>
            <a:spLocks noGrp="1"/>
          </p:cNvSpPr>
          <p:nvPr/>
        </p:nvSpPr>
        <p:spPr>
          <a:xfrm>
            <a:off x="2641600" y="4177042"/>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134</a:t>
            </a:r>
          </a:p>
        </p:txBody>
      </p:sp>
      <p:sp>
        <p:nvSpPr>
          <p:cNvPr id="88" name="Rectangle 87">
            <a:extLst>
              <a:ext uri="{FF2B5EF4-FFF2-40B4-BE49-F238E27FC236}">
                <a16:creationId xmlns:a16="http://schemas.microsoft.com/office/drawing/2014/main" id="{96AD679D-0661-F482-372B-8A9F71737335}"/>
              </a:ext>
            </a:extLst>
          </p:cNvPr>
          <p:cNvSpPr>
            <a:spLocks noGrp="1"/>
          </p:cNvSpPr>
          <p:nvPr/>
        </p:nvSpPr>
        <p:spPr>
          <a:xfrm>
            <a:off x="3394075" y="3967492"/>
            <a:ext cx="742950" cy="742950"/>
          </a:xfrm>
          <a:prstGeom prst="rect">
            <a:avLst/>
          </a:prstGeom>
          <a:solidFill>
            <a:srgbClr val="F2F2F2"/>
          </a:solidFill>
          <a:ln w="0">
            <a:noFill/>
          </a:ln>
        </p:spPr>
        <p:txBody>
          <a:bodyPr/>
          <a:lstStyle/>
          <a:p>
            <a:endParaRPr lang="en-US"/>
          </a:p>
        </p:txBody>
      </p:sp>
      <p:sp>
        <p:nvSpPr>
          <p:cNvPr id="89" name="46">
            <a:extLst>
              <a:ext uri="{FF2B5EF4-FFF2-40B4-BE49-F238E27FC236}">
                <a16:creationId xmlns:a16="http://schemas.microsoft.com/office/drawing/2014/main" id="{8D5F4CCE-9546-E609-D1CB-CE337F31C4DE}"/>
              </a:ext>
            </a:extLst>
          </p:cNvPr>
          <p:cNvSpPr>
            <a:spLocks noGrp="1"/>
          </p:cNvSpPr>
          <p:nvPr/>
        </p:nvSpPr>
        <p:spPr>
          <a:xfrm>
            <a:off x="3403600" y="4177042"/>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56</a:t>
            </a:r>
          </a:p>
        </p:txBody>
      </p:sp>
      <p:sp>
        <p:nvSpPr>
          <p:cNvPr id="90" name="Rectangle 89">
            <a:extLst>
              <a:ext uri="{FF2B5EF4-FFF2-40B4-BE49-F238E27FC236}">
                <a16:creationId xmlns:a16="http://schemas.microsoft.com/office/drawing/2014/main" id="{C0ED78A6-7FBE-AEE7-AFFF-28B5805BF6C9}"/>
              </a:ext>
            </a:extLst>
          </p:cNvPr>
          <p:cNvSpPr>
            <a:spLocks noGrp="1"/>
          </p:cNvSpPr>
          <p:nvPr/>
        </p:nvSpPr>
        <p:spPr>
          <a:xfrm>
            <a:off x="1108075" y="4729492"/>
            <a:ext cx="742950" cy="742950"/>
          </a:xfrm>
          <a:prstGeom prst="rect">
            <a:avLst/>
          </a:prstGeom>
          <a:solidFill>
            <a:srgbClr val="F2F2F2"/>
          </a:solidFill>
          <a:ln w="0">
            <a:noFill/>
          </a:ln>
        </p:spPr>
        <p:txBody>
          <a:bodyPr/>
          <a:lstStyle/>
          <a:p>
            <a:endParaRPr lang="en-US"/>
          </a:p>
        </p:txBody>
      </p:sp>
      <p:sp>
        <p:nvSpPr>
          <p:cNvPr id="91" name="39">
            <a:extLst>
              <a:ext uri="{FF2B5EF4-FFF2-40B4-BE49-F238E27FC236}">
                <a16:creationId xmlns:a16="http://schemas.microsoft.com/office/drawing/2014/main" id="{0247E875-9E8F-275F-EB15-249E0BCE3FE9}"/>
              </a:ext>
            </a:extLst>
          </p:cNvPr>
          <p:cNvSpPr>
            <a:spLocks noGrp="1"/>
          </p:cNvSpPr>
          <p:nvPr/>
        </p:nvSpPr>
        <p:spPr>
          <a:xfrm>
            <a:off x="1117600" y="4939042"/>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11</a:t>
            </a:r>
          </a:p>
        </p:txBody>
      </p:sp>
      <p:sp>
        <p:nvSpPr>
          <p:cNvPr id="92" name="Rectangle 91">
            <a:extLst>
              <a:ext uri="{FF2B5EF4-FFF2-40B4-BE49-F238E27FC236}">
                <a16:creationId xmlns:a16="http://schemas.microsoft.com/office/drawing/2014/main" id="{FC8850A8-6AAE-EB1F-C31E-2422A5C10CEE}"/>
              </a:ext>
            </a:extLst>
          </p:cNvPr>
          <p:cNvSpPr>
            <a:spLocks noGrp="1"/>
          </p:cNvSpPr>
          <p:nvPr/>
        </p:nvSpPr>
        <p:spPr>
          <a:xfrm>
            <a:off x="1870075" y="4729492"/>
            <a:ext cx="742950" cy="742950"/>
          </a:xfrm>
          <a:prstGeom prst="rect">
            <a:avLst/>
          </a:prstGeom>
          <a:solidFill>
            <a:srgbClr val="F2F2F2"/>
          </a:solidFill>
          <a:ln w="0">
            <a:noFill/>
          </a:ln>
        </p:spPr>
        <p:txBody>
          <a:bodyPr/>
          <a:lstStyle/>
          <a:p>
            <a:endParaRPr lang="en-US"/>
          </a:p>
        </p:txBody>
      </p:sp>
      <p:sp>
        <p:nvSpPr>
          <p:cNvPr id="93" name="49">
            <a:extLst>
              <a:ext uri="{FF2B5EF4-FFF2-40B4-BE49-F238E27FC236}">
                <a16:creationId xmlns:a16="http://schemas.microsoft.com/office/drawing/2014/main" id="{FCF4A5FA-36D3-A98E-D55E-8A7B65FDC494}"/>
              </a:ext>
            </a:extLst>
          </p:cNvPr>
          <p:cNvSpPr>
            <a:spLocks noGrp="1"/>
          </p:cNvSpPr>
          <p:nvPr/>
        </p:nvSpPr>
        <p:spPr>
          <a:xfrm>
            <a:off x="1879600" y="4939042"/>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9</a:t>
            </a:r>
          </a:p>
        </p:txBody>
      </p:sp>
      <p:sp>
        <p:nvSpPr>
          <p:cNvPr id="94" name="Rectangle 93">
            <a:extLst>
              <a:ext uri="{FF2B5EF4-FFF2-40B4-BE49-F238E27FC236}">
                <a16:creationId xmlns:a16="http://schemas.microsoft.com/office/drawing/2014/main" id="{DA389A5F-3344-52CB-FD4D-335E4A7AB004}"/>
              </a:ext>
            </a:extLst>
          </p:cNvPr>
          <p:cNvSpPr>
            <a:spLocks noGrp="1"/>
          </p:cNvSpPr>
          <p:nvPr/>
        </p:nvSpPr>
        <p:spPr>
          <a:xfrm>
            <a:off x="2632075" y="4729492"/>
            <a:ext cx="742950" cy="742950"/>
          </a:xfrm>
          <a:prstGeom prst="rect">
            <a:avLst/>
          </a:prstGeom>
          <a:solidFill>
            <a:srgbClr val="F2F2F2"/>
          </a:solidFill>
          <a:ln w="0">
            <a:noFill/>
          </a:ln>
        </p:spPr>
        <p:txBody>
          <a:bodyPr/>
          <a:lstStyle/>
          <a:p>
            <a:endParaRPr lang="en-US"/>
          </a:p>
        </p:txBody>
      </p:sp>
      <p:sp>
        <p:nvSpPr>
          <p:cNvPr id="95" name="72">
            <a:extLst>
              <a:ext uri="{FF2B5EF4-FFF2-40B4-BE49-F238E27FC236}">
                <a16:creationId xmlns:a16="http://schemas.microsoft.com/office/drawing/2014/main" id="{E9CA38B1-F710-5246-CF3E-2A2A509A4C65}"/>
              </a:ext>
            </a:extLst>
          </p:cNvPr>
          <p:cNvSpPr>
            <a:spLocks noGrp="1"/>
          </p:cNvSpPr>
          <p:nvPr/>
        </p:nvSpPr>
        <p:spPr>
          <a:xfrm>
            <a:off x="2641600" y="4939042"/>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48</a:t>
            </a:r>
          </a:p>
        </p:txBody>
      </p:sp>
      <p:sp>
        <p:nvSpPr>
          <p:cNvPr id="96" name="Rectangle 95">
            <a:extLst>
              <a:ext uri="{FF2B5EF4-FFF2-40B4-BE49-F238E27FC236}">
                <a16:creationId xmlns:a16="http://schemas.microsoft.com/office/drawing/2014/main" id="{5A4A49D3-B8E7-B08E-FD01-F623E0293C40}"/>
              </a:ext>
            </a:extLst>
          </p:cNvPr>
          <p:cNvSpPr>
            <a:spLocks noGrp="1"/>
          </p:cNvSpPr>
          <p:nvPr/>
        </p:nvSpPr>
        <p:spPr>
          <a:xfrm>
            <a:off x="3394075" y="4729492"/>
            <a:ext cx="742950" cy="742950"/>
          </a:xfrm>
          <a:prstGeom prst="rect">
            <a:avLst/>
          </a:prstGeom>
          <a:solidFill>
            <a:srgbClr val="DBEAF7"/>
          </a:solidFill>
          <a:ln w="0">
            <a:noFill/>
          </a:ln>
        </p:spPr>
        <p:txBody>
          <a:bodyPr/>
          <a:lstStyle/>
          <a:p>
            <a:endParaRPr lang="en-US"/>
          </a:p>
        </p:txBody>
      </p:sp>
      <p:sp>
        <p:nvSpPr>
          <p:cNvPr id="97" name="86">
            <a:extLst>
              <a:ext uri="{FF2B5EF4-FFF2-40B4-BE49-F238E27FC236}">
                <a16:creationId xmlns:a16="http://schemas.microsoft.com/office/drawing/2014/main" id="{183AF5C0-34BE-00C1-7C0A-F42CCCE91209}"/>
              </a:ext>
            </a:extLst>
          </p:cNvPr>
          <p:cNvSpPr>
            <a:spLocks noGrp="1"/>
          </p:cNvSpPr>
          <p:nvPr/>
        </p:nvSpPr>
        <p:spPr>
          <a:xfrm>
            <a:off x="3403600" y="4939042"/>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122</a:t>
            </a:r>
          </a:p>
        </p:txBody>
      </p:sp>
      <p:sp>
        <p:nvSpPr>
          <p:cNvPr id="98" name="Main CGPA, stratified 10-fold cross-validation, N = 1,1">
            <a:extLst>
              <a:ext uri="{FF2B5EF4-FFF2-40B4-BE49-F238E27FC236}">
                <a16:creationId xmlns:a16="http://schemas.microsoft.com/office/drawing/2014/main" id="{506CB935-DD43-E1FD-38A0-7CAA6A956DB2}"/>
              </a:ext>
            </a:extLst>
          </p:cNvPr>
          <p:cNvSpPr>
            <a:spLocks noGrp="1"/>
          </p:cNvSpPr>
          <p:nvPr/>
        </p:nvSpPr>
        <p:spPr>
          <a:xfrm>
            <a:off x="400050" y="6057900"/>
            <a:ext cx="11049000" cy="285750"/>
          </a:xfrm>
          <a:prstGeom prst="rect">
            <a:avLst/>
          </a:prstGeom>
          <a:noFill/>
          <a:ln w="0">
            <a:noFill/>
          </a:ln>
        </p:spPr>
        <p:txBody>
          <a:bodyPr anchor="t">
            <a:noAutofit/>
          </a:bodyPr>
          <a:lstStyle/>
          <a:p>
            <a:pPr>
              <a:defRPr sz="1275" b="0">
                <a:solidFill>
                  <a:srgbClr val="585858"/>
                </a:solidFill>
                <a:latin typeface="Times New Roman"/>
                <a:ea typeface="Times New Roman"/>
                <a:cs typeface="Times New Roman"/>
              </a:defRPr>
            </a:pPr>
            <a:r>
              <a:rPr sz="1275" b="0" dirty="0">
                <a:solidFill>
                  <a:srgbClr val="585858"/>
                </a:solidFill>
                <a:latin typeface="Times New Roman"/>
                <a:ea typeface="Times New Roman"/>
                <a:cs typeface="Times New Roman"/>
              </a:rPr>
              <a:t>Main CGPA, stratified 5-fold cross-validation, N = 920. </a:t>
            </a:r>
            <a:endParaRPr lang="en-US" sz="1275" b="0" dirty="0">
              <a:solidFill>
                <a:srgbClr val="585858"/>
              </a:solidFill>
              <a:latin typeface="Times New Roman"/>
              <a:ea typeface="Times New Roman"/>
              <a:cs typeface="Times New Roman"/>
            </a:endParaRPr>
          </a:p>
          <a:p>
            <a:pPr>
              <a:defRPr sz="1275" b="0">
                <a:solidFill>
                  <a:srgbClr val="585858"/>
                </a:solidFill>
                <a:latin typeface="Times New Roman"/>
                <a:ea typeface="Times New Roman"/>
                <a:cs typeface="Times New Roman"/>
              </a:defRPr>
            </a:pPr>
            <a:r>
              <a:rPr sz="1275" b="0" dirty="0">
                <a:solidFill>
                  <a:srgbClr val="585858"/>
                </a:solidFill>
                <a:latin typeface="Times New Roman"/>
                <a:ea typeface="Times New Roman"/>
                <a:cs typeface="Times New Roman"/>
              </a:rPr>
              <a:t>Rows actual, columns predicted.</a:t>
            </a:r>
          </a:p>
        </p:txBody>
      </p:sp>
      <p:sp>
        <p:nvSpPr>
          <p:cNvPr id="99" name="Google Shape;532;p58">
            <a:extLst>
              <a:ext uri="{FF2B5EF4-FFF2-40B4-BE49-F238E27FC236}">
                <a16:creationId xmlns:a16="http://schemas.microsoft.com/office/drawing/2014/main" id="{635710F8-D323-AA2E-A066-A7899BDEF57C}"/>
              </a:ext>
            </a:extLst>
          </p:cNvPr>
          <p:cNvSpPr txBox="1">
            <a:spLocks/>
          </p:cNvSpPr>
          <p:nvPr/>
        </p:nvSpPr>
        <p:spPr>
          <a:xfrm>
            <a:off x="11279332" y="6279294"/>
            <a:ext cx="518968" cy="241240"/>
          </a:xfrm>
          <a:prstGeom prst="rect">
            <a:avLst/>
          </a:prstGeom>
        </p:spPr>
        <p:txBody>
          <a:bodyPr spcFirstLastPara="1" vert="horz" wrap="square" lIns="0" tIns="0" rIns="0" bIns="0" rtlCol="0" anchor="b">
            <a:noAutofit/>
          </a:bodyPr>
          <a:lstStyle>
            <a:defPPr>
              <a:defRPr lang="en-US"/>
            </a:defPPr>
            <a:lvl1pPr marL="0" algn="r" defTabSz="914400" rtl="0" eaLnBrk="1" latinLnBrk="0" hangingPunct="1">
              <a:defRPr lang="en-US" sz="1000" kern="1200" smtClean="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latin typeface="Times New Roman"/>
                <a:ea typeface="Times New Roman"/>
                <a:cs typeface="Times New Roman"/>
              </a:rPr>
              <a:t>49</a:t>
            </a:r>
          </a:p>
        </p:txBody>
      </p:sp>
    </p:spTree>
    <p:extLst>
      <p:ext uri="{BB962C8B-B14F-4D97-AF65-F5344CB8AC3E}">
        <p14:creationId xmlns:p14="http://schemas.microsoft.com/office/powerpoint/2010/main" val="85435902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sz="1000">
                <a:latin typeface="Times New Roman"/>
                <a:ea typeface="Times New Roman"/>
                <a:cs typeface="Times New Roman"/>
              </a:rPr>
              <a:t>42</a:t>
            </a: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a:latin typeface="Times New Roman"/>
                <a:ea typeface="Times New Roman"/>
                <a:cs typeface="Times New Roman"/>
              </a:rPr>
              <a:t>WEKA ZeroR baseline matrix</a:t>
            </a:r>
          </a:p>
        </p:txBody>
      </p:sp>
      <p:sp>
        <p:nvSpPr>
          <p:cNvPr id="534" name="Main CGPA, 10-fold CV">
            <a:extLst>
              <a:ext uri="{FF2B5EF4-FFF2-40B4-BE49-F238E27FC236}">
                <a16:creationId xmlns:a16="http://schemas.microsoft.com/office/drawing/2014/main" id="{E091C9E9-5D11-4220-819D-DCF08B6BE4B0}"/>
              </a:ext>
            </a:extLst>
          </p:cNvPr>
          <p:cNvSpPr>
            <a:spLocks noGrp="1"/>
          </p:cNvSpPr>
          <p:nvPr/>
        </p:nvSpPr>
        <p:spPr>
          <a:xfrm>
            <a:off x="4095750" y="1247775"/>
            <a:ext cx="6286500" cy="381000"/>
          </a:xfrm>
          <a:prstGeom prst="rect">
            <a:avLst/>
          </a:prstGeom>
          <a:noFill/>
          <a:ln w="0">
            <a:noFill/>
          </a:ln>
        </p:spPr>
        <p:txBody>
          <a:bodyPr anchor="t">
            <a:noAutofit/>
          </a:bodyPr>
          <a:lstStyle/>
          <a:p>
            <a:pPr>
              <a:defRPr sz="1875" b="0">
                <a:solidFill>
                  <a:srgbClr val="121212"/>
                </a:solidFill>
                <a:latin typeface="Times New Roman"/>
                <a:ea typeface="Times New Roman"/>
                <a:cs typeface="Times New Roman"/>
              </a:defRPr>
            </a:pPr>
            <a:r>
              <a:rPr sz="1875" b="0">
                <a:solidFill>
                  <a:srgbClr val="121212"/>
                </a:solidFill>
                <a:latin typeface="Times New Roman"/>
                <a:ea typeface="Times New Roman"/>
                <a:cs typeface="Times New Roman"/>
              </a:rPr>
              <a:t>Main CGPA, 5-fold CV</a:t>
            </a:r>
          </a:p>
        </p:txBody>
      </p:sp>
      <p:sp>
        <p:nvSpPr>
          <p:cNvPr id="535" name="Predicted">
            <a:extLst>
              <a:ext uri="{FF2B5EF4-FFF2-40B4-BE49-F238E27FC236}">
                <a16:creationId xmlns:a16="http://schemas.microsoft.com/office/drawing/2014/main" id="{2A18EB2C-6AD3-448E-AED3-54FA329A5667}"/>
              </a:ext>
            </a:extLst>
          </p:cNvPr>
          <p:cNvSpPr>
            <a:spLocks noGrp="1"/>
          </p:cNvSpPr>
          <p:nvPr/>
        </p:nvSpPr>
        <p:spPr>
          <a:xfrm>
            <a:off x="5048250" y="1695450"/>
            <a:ext cx="2952750" cy="304800"/>
          </a:xfrm>
          <a:prstGeom prst="rect">
            <a:avLst/>
          </a:prstGeom>
          <a:noFill/>
          <a:ln w="0">
            <a:noFill/>
          </a:ln>
        </p:spPr>
        <p:txBody>
          <a:bodyPr anchor="t">
            <a:noAutofit/>
          </a:bodyPr>
          <a:lstStyle/>
          <a:p>
            <a:pPr>
              <a:defRPr sz="1575" b="0">
                <a:solidFill>
                  <a:srgbClr val="585858"/>
                </a:solidFill>
                <a:latin typeface="Times New Roman"/>
                <a:ea typeface="Times New Roman"/>
                <a:cs typeface="Times New Roman"/>
              </a:defRPr>
            </a:pPr>
            <a:r>
              <a:rPr sz="1575" b="0">
                <a:solidFill>
                  <a:srgbClr val="585858"/>
                </a:solidFill>
                <a:latin typeface="Times New Roman"/>
                <a:ea typeface="Times New Roman"/>
                <a:cs typeface="Times New Roman"/>
              </a:rPr>
              <a:t>Predicted</a:t>
            </a:r>
          </a:p>
        </p:txBody>
      </p:sp>
      <p:sp>
        <p:nvSpPr>
          <p:cNvPr id="536" name="C0">
            <a:extLst>
              <a:ext uri="{FF2B5EF4-FFF2-40B4-BE49-F238E27FC236}">
                <a16:creationId xmlns:a16="http://schemas.microsoft.com/office/drawing/2014/main" id="{07246EBF-0104-4BDF-8DF9-11292B3AD2CC}"/>
              </a:ext>
            </a:extLst>
          </p:cNvPr>
          <p:cNvSpPr>
            <a:spLocks noGrp="1"/>
          </p:cNvSpPr>
          <p:nvPr/>
        </p:nvSpPr>
        <p:spPr>
          <a:xfrm>
            <a:off x="4905375" y="2057400"/>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C0</a:t>
            </a:r>
          </a:p>
        </p:txBody>
      </p:sp>
      <p:sp>
        <p:nvSpPr>
          <p:cNvPr id="537" name="C0">
            <a:extLst>
              <a:ext uri="{FF2B5EF4-FFF2-40B4-BE49-F238E27FC236}">
                <a16:creationId xmlns:a16="http://schemas.microsoft.com/office/drawing/2014/main" id="{B3C2D89F-FB6D-4B0C-9D31-7C7A8E4E40E8}"/>
              </a:ext>
            </a:extLst>
          </p:cNvPr>
          <p:cNvSpPr>
            <a:spLocks noGrp="1"/>
          </p:cNvSpPr>
          <p:nvPr/>
        </p:nvSpPr>
        <p:spPr>
          <a:xfrm>
            <a:off x="4191000" y="2505075"/>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C0</a:t>
            </a:r>
          </a:p>
        </p:txBody>
      </p:sp>
      <p:sp>
        <p:nvSpPr>
          <p:cNvPr id="538" name="C1">
            <a:extLst>
              <a:ext uri="{FF2B5EF4-FFF2-40B4-BE49-F238E27FC236}">
                <a16:creationId xmlns:a16="http://schemas.microsoft.com/office/drawing/2014/main" id="{1A8618B5-DC9C-4C64-BA37-E94DD3C5155C}"/>
              </a:ext>
            </a:extLst>
          </p:cNvPr>
          <p:cNvSpPr>
            <a:spLocks noGrp="1"/>
          </p:cNvSpPr>
          <p:nvPr/>
        </p:nvSpPr>
        <p:spPr>
          <a:xfrm>
            <a:off x="5667375" y="2057400"/>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C1</a:t>
            </a:r>
          </a:p>
        </p:txBody>
      </p:sp>
      <p:sp>
        <p:nvSpPr>
          <p:cNvPr id="539" name="C1">
            <a:extLst>
              <a:ext uri="{FF2B5EF4-FFF2-40B4-BE49-F238E27FC236}">
                <a16:creationId xmlns:a16="http://schemas.microsoft.com/office/drawing/2014/main" id="{31F065B0-2F03-4B1B-AEAB-C59EA9D68E9B}"/>
              </a:ext>
            </a:extLst>
          </p:cNvPr>
          <p:cNvSpPr>
            <a:spLocks noGrp="1"/>
          </p:cNvSpPr>
          <p:nvPr/>
        </p:nvSpPr>
        <p:spPr>
          <a:xfrm>
            <a:off x="4191000" y="3267075"/>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C1</a:t>
            </a:r>
          </a:p>
        </p:txBody>
      </p:sp>
      <p:sp>
        <p:nvSpPr>
          <p:cNvPr id="540" name="C2">
            <a:extLst>
              <a:ext uri="{FF2B5EF4-FFF2-40B4-BE49-F238E27FC236}">
                <a16:creationId xmlns:a16="http://schemas.microsoft.com/office/drawing/2014/main" id="{98965E40-FE3F-4FB5-A1B7-93FB623AF2A9}"/>
              </a:ext>
            </a:extLst>
          </p:cNvPr>
          <p:cNvSpPr>
            <a:spLocks noGrp="1"/>
          </p:cNvSpPr>
          <p:nvPr/>
        </p:nvSpPr>
        <p:spPr>
          <a:xfrm>
            <a:off x="6429375" y="2057400"/>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C2</a:t>
            </a:r>
          </a:p>
        </p:txBody>
      </p:sp>
      <p:sp>
        <p:nvSpPr>
          <p:cNvPr id="541" name="C2">
            <a:extLst>
              <a:ext uri="{FF2B5EF4-FFF2-40B4-BE49-F238E27FC236}">
                <a16:creationId xmlns:a16="http://schemas.microsoft.com/office/drawing/2014/main" id="{A40CCE50-33C6-4C28-9A46-1EBF78306FA1}"/>
              </a:ext>
            </a:extLst>
          </p:cNvPr>
          <p:cNvSpPr>
            <a:spLocks noGrp="1"/>
          </p:cNvSpPr>
          <p:nvPr/>
        </p:nvSpPr>
        <p:spPr>
          <a:xfrm>
            <a:off x="4191000" y="4029075"/>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C2</a:t>
            </a:r>
          </a:p>
        </p:txBody>
      </p:sp>
      <p:sp>
        <p:nvSpPr>
          <p:cNvPr id="542" name="C3">
            <a:extLst>
              <a:ext uri="{FF2B5EF4-FFF2-40B4-BE49-F238E27FC236}">
                <a16:creationId xmlns:a16="http://schemas.microsoft.com/office/drawing/2014/main" id="{2009D059-68DF-4218-84F8-7168945FCFA4}"/>
              </a:ext>
            </a:extLst>
          </p:cNvPr>
          <p:cNvSpPr>
            <a:spLocks noGrp="1"/>
          </p:cNvSpPr>
          <p:nvPr/>
        </p:nvSpPr>
        <p:spPr>
          <a:xfrm>
            <a:off x="7191375" y="2057400"/>
            <a:ext cx="666750" cy="3048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C3</a:t>
            </a:r>
          </a:p>
        </p:txBody>
      </p:sp>
      <p:sp>
        <p:nvSpPr>
          <p:cNvPr id="543" name="C3">
            <a:extLst>
              <a:ext uri="{FF2B5EF4-FFF2-40B4-BE49-F238E27FC236}">
                <a16:creationId xmlns:a16="http://schemas.microsoft.com/office/drawing/2014/main" id="{BA5E4CF7-1F18-4AD0-A4AD-8B5DAE527A4F}"/>
              </a:ext>
            </a:extLst>
          </p:cNvPr>
          <p:cNvSpPr>
            <a:spLocks noGrp="1"/>
          </p:cNvSpPr>
          <p:nvPr/>
        </p:nvSpPr>
        <p:spPr>
          <a:xfrm>
            <a:off x="4191000" y="4791075"/>
            <a:ext cx="666750" cy="333375"/>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C3</a:t>
            </a:r>
          </a:p>
        </p:txBody>
      </p:sp>
      <p:sp>
        <p:nvSpPr>
          <p:cNvPr id="544" name="Rectangle 543">
            <a:extLst>
              <a:ext uri="{FF2B5EF4-FFF2-40B4-BE49-F238E27FC236}">
                <a16:creationId xmlns:a16="http://schemas.microsoft.com/office/drawing/2014/main" id="{4FB6B48F-D222-484B-8AF6-9351C9538DAA}"/>
              </a:ext>
            </a:extLst>
          </p:cNvPr>
          <p:cNvSpPr>
            <a:spLocks noGrp="1"/>
          </p:cNvSpPr>
          <p:nvPr/>
        </p:nvSpPr>
        <p:spPr>
          <a:xfrm>
            <a:off x="4810125" y="2428875"/>
            <a:ext cx="742950" cy="742950"/>
          </a:xfrm>
          <a:prstGeom prst="rect">
            <a:avLst/>
          </a:prstGeom>
          <a:solidFill>
            <a:srgbClr val="DBEAF7"/>
          </a:solidFill>
          <a:ln w="0">
            <a:noFill/>
          </a:ln>
        </p:spPr>
        <p:txBody>
          <a:bodyPr/>
          <a:lstStyle/>
          <a:p>
            <a:endParaRPr lang="en-US"/>
          </a:p>
        </p:txBody>
      </p:sp>
      <p:sp>
        <p:nvSpPr>
          <p:cNvPr id="545" name="0">
            <a:extLst>
              <a:ext uri="{FF2B5EF4-FFF2-40B4-BE49-F238E27FC236}">
                <a16:creationId xmlns:a16="http://schemas.microsoft.com/office/drawing/2014/main" id="{BEB97863-C6B2-4352-90DC-B098DEF43F81}"/>
              </a:ext>
            </a:extLst>
          </p:cNvPr>
          <p:cNvSpPr>
            <a:spLocks noGrp="1"/>
          </p:cNvSpPr>
          <p:nvPr/>
        </p:nvSpPr>
        <p:spPr>
          <a:xfrm>
            <a:off x="4819650" y="2638425"/>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0</a:t>
            </a:r>
          </a:p>
        </p:txBody>
      </p:sp>
      <p:sp>
        <p:nvSpPr>
          <p:cNvPr id="546" name="Rectangle 545">
            <a:extLst>
              <a:ext uri="{FF2B5EF4-FFF2-40B4-BE49-F238E27FC236}">
                <a16:creationId xmlns:a16="http://schemas.microsoft.com/office/drawing/2014/main" id="{98EC6AF7-6705-4008-9E89-7CF24C165B1A}"/>
              </a:ext>
            </a:extLst>
          </p:cNvPr>
          <p:cNvSpPr>
            <a:spLocks noGrp="1"/>
          </p:cNvSpPr>
          <p:nvPr/>
        </p:nvSpPr>
        <p:spPr>
          <a:xfrm>
            <a:off x="5572125" y="2428875"/>
            <a:ext cx="742950" cy="742950"/>
          </a:xfrm>
          <a:prstGeom prst="rect">
            <a:avLst/>
          </a:prstGeom>
          <a:solidFill>
            <a:srgbClr val="F2F2F2"/>
          </a:solidFill>
          <a:ln w="0">
            <a:noFill/>
          </a:ln>
        </p:spPr>
        <p:txBody>
          <a:bodyPr/>
          <a:lstStyle/>
          <a:p>
            <a:endParaRPr lang="en-US"/>
          </a:p>
        </p:txBody>
      </p:sp>
      <p:sp>
        <p:nvSpPr>
          <p:cNvPr id="547" name="236">
            <a:extLst>
              <a:ext uri="{FF2B5EF4-FFF2-40B4-BE49-F238E27FC236}">
                <a16:creationId xmlns:a16="http://schemas.microsoft.com/office/drawing/2014/main" id="{AEB433C8-154F-4CFE-9F26-DA975B2D8727}"/>
              </a:ext>
            </a:extLst>
          </p:cNvPr>
          <p:cNvSpPr>
            <a:spLocks noGrp="1"/>
          </p:cNvSpPr>
          <p:nvPr/>
        </p:nvSpPr>
        <p:spPr>
          <a:xfrm>
            <a:off x="5581650" y="26384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182</a:t>
            </a:r>
          </a:p>
        </p:txBody>
      </p:sp>
      <p:sp>
        <p:nvSpPr>
          <p:cNvPr id="548" name="Rectangle 547">
            <a:extLst>
              <a:ext uri="{FF2B5EF4-FFF2-40B4-BE49-F238E27FC236}">
                <a16:creationId xmlns:a16="http://schemas.microsoft.com/office/drawing/2014/main" id="{7D09E0DE-7A0F-4253-BD8C-EE2F188A2C7F}"/>
              </a:ext>
            </a:extLst>
          </p:cNvPr>
          <p:cNvSpPr>
            <a:spLocks noGrp="1"/>
          </p:cNvSpPr>
          <p:nvPr/>
        </p:nvSpPr>
        <p:spPr>
          <a:xfrm>
            <a:off x="6334125" y="2428875"/>
            <a:ext cx="742950" cy="742950"/>
          </a:xfrm>
          <a:prstGeom prst="rect">
            <a:avLst/>
          </a:prstGeom>
          <a:solidFill>
            <a:srgbClr val="F2F2F2"/>
          </a:solidFill>
          <a:ln w="0">
            <a:noFill/>
          </a:ln>
        </p:spPr>
        <p:txBody>
          <a:bodyPr/>
          <a:lstStyle/>
          <a:p>
            <a:endParaRPr lang="en-US"/>
          </a:p>
        </p:txBody>
      </p:sp>
      <p:sp>
        <p:nvSpPr>
          <p:cNvPr id="549" name="0">
            <a:extLst>
              <a:ext uri="{FF2B5EF4-FFF2-40B4-BE49-F238E27FC236}">
                <a16:creationId xmlns:a16="http://schemas.microsoft.com/office/drawing/2014/main" id="{D34AB242-61D4-4FB4-9B22-57586BE08B4F}"/>
              </a:ext>
            </a:extLst>
          </p:cNvPr>
          <p:cNvSpPr>
            <a:spLocks noGrp="1"/>
          </p:cNvSpPr>
          <p:nvPr/>
        </p:nvSpPr>
        <p:spPr>
          <a:xfrm>
            <a:off x="6343650" y="26384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0</a:t>
            </a:r>
          </a:p>
        </p:txBody>
      </p:sp>
      <p:sp>
        <p:nvSpPr>
          <p:cNvPr id="550" name="Rectangle 549">
            <a:extLst>
              <a:ext uri="{FF2B5EF4-FFF2-40B4-BE49-F238E27FC236}">
                <a16:creationId xmlns:a16="http://schemas.microsoft.com/office/drawing/2014/main" id="{6D890034-7D45-44BE-B780-1DF3BC6A4B66}"/>
              </a:ext>
            </a:extLst>
          </p:cNvPr>
          <p:cNvSpPr>
            <a:spLocks noGrp="1"/>
          </p:cNvSpPr>
          <p:nvPr/>
        </p:nvSpPr>
        <p:spPr>
          <a:xfrm>
            <a:off x="7096125" y="2428875"/>
            <a:ext cx="742950" cy="742950"/>
          </a:xfrm>
          <a:prstGeom prst="rect">
            <a:avLst/>
          </a:prstGeom>
          <a:solidFill>
            <a:srgbClr val="F2F2F2"/>
          </a:solidFill>
          <a:ln w="0">
            <a:noFill/>
          </a:ln>
        </p:spPr>
        <p:txBody>
          <a:bodyPr/>
          <a:lstStyle/>
          <a:p>
            <a:endParaRPr lang="en-US"/>
          </a:p>
        </p:txBody>
      </p:sp>
      <p:sp>
        <p:nvSpPr>
          <p:cNvPr id="551" name="0">
            <a:extLst>
              <a:ext uri="{FF2B5EF4-FFF2-40B4-BE49-F238E27FC236}">
                <a16:creationId xmlns:a16="http://schemas.microsoft.com/office/drawing/2014/main" id="{5779C272-4816-4953-A4E9-886B2A45C32D}"/>
              </a:ext>
            </a:extLst>
          </p:cNvPr>
          <p:cNvSpPr>
            <a:spLocks noGrp="1"/>
          </p:cNvSpPr>
          <p:nvPr/>
        </p:nvSpPr>
        <p:spPr>
          <a:xfrm>
            <a:off x="7105650" y="26384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0</a:t>
            </a:r>
          </a:p>
        </p:txBody>
      </p:sp>
      <p:sp>
        <p:nvSpPr>
          <p:cNvPr id="552" name="Rectangle 551">
            <a:extLst>
              <a:ext uri="{FF2B5EF4-FFF2-40B4-BE49-F238E27FC236}">
                <a16:creationId xmlns:a16="http://schemas.microsoft.com/office/drawing/2014/main" id="{F8C08E2E-C4CA-4816-8EBE-D29F48F717A3}"/>
              </a:ext>
            </a:extLst>
          </p:cNvPr>
          <p:cNvSpPr>
            <a:spLocks noGrp="1"/>
          </p:cNvSpPr>
          <p:nvPr/>
        </p:nvSpPr>
        <p:spPr>
          <a:xfrm>
            <a:off x="4810125" y="3190875"/>
            <a:ext cx="742950" cy="742950"/>
          </a:xfrm>
          <a:prstGeom prst="rect">
            <a:avLst/>
          </a:prstGeom>
          <a:solidFill>
            <a:srgbClr val="F2F2F2"/>
          </a:solidFill>
          <a:ln w="0">
            <a:noFill/>
          </a:ln>
        </p:spPr>
        <p:txBody>
          <a:bodyPr/>
          <a:lstStyle/>
          <a:p>
            <a:endParaRPr lang="en-US"/>
          </a:p>
        </p:txBody>
      </p:sp>
      <p:sp>
        <p:nvSpPr>
          <p:cNvPr id="553" name="0">
            <a:extLst>
              <a:ext uri="{FF2B5EF4-FFF2-40B4-BE49-F238E27FC236}">
                <a16:creationId xmlns:a16="http://schemas.microsoft.com/office/drawing/2014/main" id="{960A7BAD-A9D6-49E1-A917-1EEB6CC6F643}"/>
              </a:ext>
            </a:extLst>
          </p:cNvPr>
          <p:cNvSpPr>
            <a:spLocks noGrp="1"/>
          </p:cNvSpPr>
          <p:nvPr/>
        </p:nvSpPr>
        <p:spPr>
          <a:xfrm>
            <a:off x="4819650" y="34004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0</a:t>
            </a:r>
          </a:p>
        </p:txBody>
      </p:sp>
      <p:sp>
        <p:nvSpPr>
          <p:cNvPr id="554" name="Rectangle 553">
            <a:extLst>
              <a:ext uri="{FF2B5EF4-FFF2-40B4-BE49-F238E27FC236}">
                <a16:creationId xmlns:a16="http://schemas.microsoft.com/office/drawing/2014/main" id="{7233C520-BC2E-44A3-BC4E-1A474CA92857}"/>
              </a:ext>
            </a:extLst>
          </p:cNvPr>
          <p:cNvSpPr>
            <a:spLocks noGrp="1"/>
          </p:cNvSpPr>
          <p:nvPr/>
        </p:nvSpPr>
        <p:spPr>
          <a:xfrm>
            <a:off x="5572125" y="3190875"/>
            <a:ext cx="742950" cy="742950"/>
          </a:xfrm>
          <a:prstGeom prst="rect">
            <a:avLst/>
          </a:prstGeom>
          <a:solidFill>
            <a:srgbClr val="DBEAF7"/>
          </a:solidFill>
          <a:ln w="0">
            <a:noFill/>
          </a:ln>
        </p:spPr>
        <p:txBody>
          <a:bodyPr/>
          <a:lstStyle/>
          <a:p>
            <a:endParaRPr lang="en-US"/>
          </a:p>
        </p:txBody>
      </p:sp>
      <p:sp>
        <p:nvSpPr>
          <p:cNvPr id="555" name="320">
            <a:extLst>
              <a:ext uri="{FF2B5EF4-FFF2-40B4-BE49-F238E27FC236}">
                <a16:creationId xmlns:a16="http://schemas.microsoft.com/office/drawing/2014/main" id="{6B04052B-7248-4C8A-B669-0BABFB1FE32B}"/>
              </a:ext>
            </a:extLst>
          </p:cNvPr>
          <p:cNvSpPr>
            <a:spLocks noGrp="1"/>
          </p:cNvSpPr>
          <p:nvPr/>
        </p:nvSpPr>
        <p:spPr>
          <a:xfrm>
            <a:off x="5581650" y="3400425"/>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284</a:t>
            </a:r>
          </a:p>
        </p:txBody>
      </p:sp>
      <p:sp>
        <p:nvSpPr>
          <p:cNvPr id="556" name="Rectangle 555">
            <a:extLst>
              <a:ext uri="{FF2B5EF4-FFF2-40B4-BE49-F238E27FC236}">
                <a16:creationId xmlns:a16="http://schemas.microsoft.com/office/drawing/2014/main" id="{DD61A0AA-9D5F-47C3-AEA9-62D1101B836A}"/>
              </a:ext>
            </a:extLst>
          </p:cNvPr>
          <p:cNvSpPr>
            <a:spLocks noGrp="1"/>
          </p:cNvSpPr>
          <p:nvPr/>
        </p:nvSpPr>
        <p:spPr>
          <a:xfrm>
            <a:off x="6334125" y="3190875"/>
            <a:ext cx="742950" cy="742950"/>
          </a:xfrm>
          <a:prstGeom prst="rect">
            <a:avLst/>
          </a:prstGeom>
          <a:solidFill>
            <a:srgbClr val="F2F2F2"/>
          </a:solidFill>
          <a:ln w="0">
            <a:noFill/>
          </a:ln>
        </p:spPr>
        <p:txBody>
          <a:bodyPr/>
          <a:lstStyle/>
          <a:p>
            <a:endParaRPr lang="en-US"/>
          </a:p>
        </p:txBody>
      </p:sp>
      <p:sp>
        <p:nvSpPr>
          <p:cNvPr id="557" name="0">
            <a:extLst>
              <a:ext uri="{FF2B5EF4-FFF2-40B4-BE49-F238E27FC236}">
                <a16:creationId xmlns:a16="http://schemas.microsoft.com/office/drawing/2014/main" id="{D4FE36AB-BFF5-42C2-9250-4C05B90E9E71}"/>
              </a:ext>
            </a:extLst>
          </p:cNvPr>
          <p:cNvSpPr>
            <a:spLocks noGrp="1"/>
          </p:cNvSpPr>
          <p:nvPr/>
        </p:nvSpPr>
        <p:spPr>
          <a:xfrm>
            <a:off x="6343650" y="34004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0</a:t>
            </a:r>
          </a:p>
        </p:txBody>
      </p:sp>
      <p:sp>
        <p:nvSpPr>
          <p:cNvPr id="558" name="Rectangle 557">
            <a:extLst>
              <a:ext uri="{FF2B5EF4-FFF2-40B4-BE49-F238E27FC236}">
                <a16:creationId xmlns:a16="http://schemas.microsoft.com/office/drawing/2014/main" id="{77921D74-1E82-41BA-BCE0-CCB727F0B0DF}"/>
              </a:ext>
            </a:extLst>
          </p:cNvPr>
          <p:cNvSpPr>
            <a:spLocks noGrp="1"/>
          </p:cNvSpPr>
          <p:nvPr/>
        </p:nvSpPr>
        <p:spPr>
          <a:xfrm>
            <a:off x="7096125" y="3190875"/>
            <a:ext cx="742950" cy="742950"/>
          </a:xfrm>
          <a:prstGeom prst="rect">
            <a:avLst/>
          </a:prstGeom>
          <a:solidFill>
            <a:srgbClr val="F2F2F2"/>
          </a:solidFill>
          <a:ln w="0">
            <a:noFill/>
          </a:ln>
        </p:spPr>
        <p:txBody>
          <a:bodyPr/>
          <a:lstStyle/>
          <a:p>
            <a:endParaRPr lang="en-US"/>
          </a:p>
        </p:txBody>
      </p:sp>
      <p:sp>
        <p:nvSpPr>
          <p:cNvPr id="559" name="0">
            <a:extLst>
              <a:ext uri="{FF2B5EF4-FFF2-40B4-BE49-F238E27FC236}">
                <a16:creationId xmlns:a16="http://schemas.microsoft.com/office/drawing/2014/main" id="{C80A41A3-854F-4E13-B229-701DC2195713}"/>
              </a:ext>
            </a:extLst>
          </p:cNvPr>
          <p:cNvSpPr>
            <a:spLocks noGrp="1"/>
          </p:cNvSpPr>
          <p:nvPr/>
        </p:nvSpPr>
        <p:spPr>
          <a:xfrm>
            <a:off x="7105650" y="34004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0</a:t>
            </a:r>
          </a:p>
        </p:txBody>
      </p:sp>
      <p:sp>
        <p:nvSpPr>
          <p:cNvPr id="560" name="Rectangle 559">
            <a:extLst>
              <a:ext uri="{FF2B5EF4-FFF2-40B4-BE49-F238E27FC236}">
                <a16:creationId xmlns:a16="http://schemas.microsoft.com/office/drawing/2014/main" id="{0F7B1BE1-2432-4D44-959C-FE71280AB454}"/>
              </a:ext>
            </a:extLst>
          </p:cNvPr>
          <p:cNvSpPr>
            <a:spLocks noGrp="1"/>
          </p:cNvSpPr>
          <p:nvPr/>
        </p:nvSpPr>
        <p:spPr>
          <a:xfrm>
            <a:off x="4810125" y="3952875"/>
            <a:ext cx="742950" cy="742950"/>
          </a:xfrm>
          <a:prstGeom prst="rect">
            <a:avLst/>
          </a:prstGeom>
          <a:solidFill>
            <a:srgbClr val="F2F2F2"/>
          </a:solidFill>
          <a:ln w="0">
            <a:noFill/>
          </a:ln>
        </p:spPr>
        <p:txBody>
          <a:bodyPr/>
          <a:lstStyle/>
          <a:p>
            <a:endParaRPr lang="en-US"/>
          </a:p>
        </p:txBody>
      </p:sp>
      <p:sp>
        <p:nvSpPr>
          <p:cNvPr id="561" name="0">
            <a:extLst>
              <a:ext uri="{FF2B5EF4-FFF2-40B4-BE49-F238E27FC236}">
                <a16:creationId xmlns:a16="http://schemas.microsoft.com/office/drawing/2014/main" id="{733FE4D6-381B-4000-B226-A8C35BB2754A}"/>
              </a:ext>
            </a:extLst>
          </p:cNvPr>
          <p:cNvSpPr>
            <a:spLocks noGrp="1"/>
          </p:cNvSpPr>
          <p:nvPr/>
        </p:nvSpPr>
        <p:spPr>
          <a:xfrm>
            <a:off x="4819650" y="41624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0</a:t>
            </a:r>
          </a:p>
        </p:txBody>
      </p:sp>
      <p:sp>
        <p:nvSpPr>
          <p:cNvPr id="562" name="Rectangle 561">
            <a:extLst>
              <a:ext uri="{FF2B5EF4-FFF2-40B4-BE49-F238E27FC236}">
                <a16:creationId xmlns:a16="http://schemas.microsoft.com/office/drawing/2014/main" id="{E0299D2F-06D0-4E3F-8D71-FC0A3C6B3FAA}"/>
              </a:ext>
            </a:extLst>
          </p:cNvPr>
          <p:cNvSpPr>
            <a:spLocks noGrp="1"/>
          </p:cNvSpPr>
          <p:nvPr/>
        </p:nvSpPr>
        <p:spPr>
          <a:xfrm>
            <a:off x="5572125" y="3952875"/>
            <a:ext cx="742950" cy="742950"/>
          </a:xfrm>
          <a:prstGeom prst="rect">
            <a:avLst/>
          </a:prstGeom>
          <a:solidFill>
            <a:srgbClr val="F2F2F2"/>
          </a:solidFill>
          <a:ln w="0">
            <a:noFill/>
          </a:ln>
        </p:spPr>
        <p:txBody>
          <a:bodyPr/>
          <a:lstStyle/>
          <a:p>
            <a:endParaRPr lang="en-US"/>
          </a:p>
        </p:txBody>
      </p:sp>
      <p:sp>
        <p:nvSpPr>
          <p:cNvPr id="563" name="300">
            <a:extLst>
              <a:ext uri="{FF2B5EF4-FFF2-40B4-BE49-F238E27FC236}">
                <a16:creationId xmlns:a16="http://schemas.microsoft.com/office/drawing/2014/main" id="{AF7A8122-7E14-47B5-BDCC-205F69A43286}"/>
              </a:ext>
            </a:extLst>
          </p:cNvPr>
          <p:cNvSpPr>
            <a:spLocks noGrp="1"/>
          </p:cNvSpPr>
          <p:nvPr/>
        </p:nvSpPr>
        <p:spPr>
          <a:xfrm>
            <a:off x="5581650" y="41624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264</a:t>
            </a:r>
          </a:p>
        </p:txBody>
      </p:sp>
      <p:sp>
        <p:nvSpPr>
          <p:cNvPr id="564" name="Rectangle 563">
            <a:extLst>
              <a:ext uri="{FF2B5EF4-FFF2-40B4-BE49-F238E27FC236}">
                <a16:creationId xmlns:a16="http://schemas.microsoft.com/office/drawing/2014/main" id="{1CC29FBA-90D7-47F7-AA50-63E22ADE8A34}"/>
              </a:ext>
            </a:extLst>
          </p:cNvPr>
          <p:cNvSpPr>
            <a:spLocks noGrp="1"/>
          </p:cNvSpPr>
          <p:nvPr/>
        </p:nvSpPr>
        <p:spPr>
          <a:xfrm>
            <a:off x="6334125" y="3952875"/>
            <a:ext cx="742950" cy="742950"/>
          </a:xfrm>
          <a:prstGeom prst="rect">
            <a:avLst/>
          </a:prstGeom>
          <a:solidFill>
            <a:srgbClr val="DBEAF7"/>
          </a:solidFill>
          <a:ln w="0">
            <a:noFill/>
          </a:ln>
        </p:spPr>
        <p:txBody>
          <a:bodyPr/>
          <a:lstStyle/>
          <a:p>
            <a:endParaRPr lang="en-US"/>
          </a:p>
        </p:txBody>
      </p:sp>
      <p:sp>
        <p:nvSpPr>
          <p:cNvPr id="565" name="0">
            <a:extLst>
              <a:ext uri="{FF2B5EF4-FFF2-40B4-BE49-F238E27FC236}">
                <a16:creationId xmlns:a16="http://schemas.microsoft.com/office/drawing/2014/main" id="{57B6D371-4B11-45CC-8293-7E0018EE8A50}"/>
              </a:ext>
            </a:extLst>
          </p:cNvPr>
          <p:cNvSpPr>
            <a:spLocks noGrp="1"/>
          </p:cNvSpPr>
          <p:nvPr/>
        </p:nvSpPr>
        <p:spPr>
          <a:xfrm>
            <a:off x="6343650" y="4162425"/>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0</a:t>
            </a:r>
          </a:p>
        </p:txBody>
      </p:sp>
      <p:sp>
        <p:nvSpPr>
          <p:cNvPr id="566" name="Rectangle 565">
            <a:extLst>
              <a:ext uri="{FF2B5EF4-FFF2-40B4-BE49-F238E27FC236}">
                <a16:creationId xmlns:a16="http://schemas.microsoft.com/office/drawing/2014/main" id="{8A1EB812-FAB7-4EBE-BC17-2FE25A913233}"/>
              </a:ext>
            </a:extLst>
          </p:cNvPr>
          <p:cNvSpPr>
            <a:spLocks noGrp="1"/>
          </p:cNvSpPr>
          <p:nvPr/>
        </p:nvSpPr>
        <p:spPr>
          <a:xfrm>
            <a:off x="7096125" y="3952875"/>
            <a:ext cx="742950" cy="742950"/>
          </a:xfrm>
          <a:prstGeom prst="rect">
            <a:avLst/>
          </a:prstGeom>
          <a:solidFill>
            <a:srgbClr val="F2F2F2"/>
          </a:solidFill>
          <a:ln w="0">
            <a:noFill/>
          </a:ln>
        </p:spPr>
        <p:txBody>
          <a:bodyPr/>
          <a:lstStyle/>
          <a:p>
            <a:endParaRPr lang="en-US"/>
          </a:p>
        </p:txBody>
      </p:sp>
      <p:sp>
        <p:nvSpPr>
          <p:cNvPr id="567" name="0">
            <a:extLst>
              <a:ext uri="{FF2B5EF4-FFF2-40B4-BE49-F238E27FC236}">
                <a16:creationId xmlns:a16="http://schemas.microsoft.com/office/drawing/2014/main" id="{C45F4788-67BE-4E39-8961-02E01F1C9F51}"/>
              </a:ext>
            </a:extLst>
          </p:cNvPr>
          <p:cNvSpPr>
            <a:spLocks noGrp="1"/>
          </p:cNvSpPr>
          <p:nvPr/>
        </p:nvSpPr>
        <p:spPr>
          <a:xfrm>
            <a:off x="7105650" y="41624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0</a:t>
            </a:r>
          </a:p>
        </p:txBody>
      </p:sp>
      <p:sp>
        <p:nvSpPr>
          <p:cNvPr id="568" name="Rectangle 567">
            <a:extLst>
              <a:ext uri="{FF2B5EF4-FFF2-40B4-BE49-F238E27FC236}">
                <a16:creationId xmlns:a16="http://schemas.microsoft.com/office/drawing/2014/main" id="{01D06860-CDA5-47C0-B0AB-80829FCE7AFC}"/>
              </a:ext>
            </a:extLst>
          </p:cNvPr>
          <p:cNvSpPr>
            <a:spLocks noGrp="1"/>
          </p:cNvSpPr>
          <p:nvPr/>
        </p:nvSpPr>
        <p:spPr>
          <a:xfrm>
            <a:off x="4810125" y="4714875"/>
            <a:ext cx="742950" cy="742950"/>
          </a:xfrm>
          <a:prstGeom prst="rect">
            <a:avLst/>
          </a:prstGeom>
          <a:solidFill>
            <a:srgbClr val="F2F2F2"/>
          </a:solidFill>
          <a:ln w="0">
            <a:noFill/>
          </a:ln>
        </p:spPr>
        <p:txBody>
          <a:bodyPr/>
          <a:lstStyle/>
          <a:p>
            <a:endParaRPr lang="en-US"/>
          </a:p>
        </p:txBody>
      </p:sp>
      <p:sp>
        <p:nvSpPr>
          <p:cNvPr id="569" name="0">
            <a:extLst>
              <a:ext uri="{FF2B5EF4-FFF2-40B4-BE49-F238E27FC236}">
                <a16:creationId xmlns:a16="http://schemas.microsoft.com/office/drawing/2014/main" id="{FD09B39A-5BD1-4850-8B15-C28501061ED3}"/>
              </a:ext>
            </a:extLst>
          </p:cNvPr>
          <p:cNvSpPr>
            <a:spLocks noGrp="1"/>
          </p:cNvSpPr>
          <p:nvPr/>
        </p:nvSpPr>
        <p:spPr>
          <a:xfrm>
            <a:off x="4819650" y="49244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0</a:t>
            </a:r>
          </a:p>
        </p:txBody>
      </p:sp>
      <p:sp>
        <p:nvSpPr>
          <p:cNvPr id="570" name="Rectangle 569">
            <a:extLst>
              <a:ext uri="{FF2B5EF4-FFF2-40B4-BE49-F238E27FC236}">
                <a16:creationId xmlns:a16="http://schemas.microsoft.com/office/drawing/2014/main" id="{0EFFAB73-0AF2-4991-B1F1-5F2EF8AFAC72}"/>
              </a:ext>
            </a:extLst>
          </p:cNvPr>
          <p:cNvSpPr>
            <a:spLocks noGrp="1"/>
          </p:cNvSpPr>
          <p:nvPr/>
        </p:nvSpPr>
        <p:spPr>
          <a:xfrm>
            <a:off x="5572125" y="4714875"/>
            <a:ext cx="742950" cy="742950"/>
          </a:xfrm>
          <a:prstGeom prst="rect">
            <a:avLst/>
          </a:prstGeom>
          <a:solidFill>
            <a:srgbClr val="F2F2F2"/>
          </a:solidFill>
          <a:ln w="0">
            <a:noFill/>
          </a:ln>
        </p:spPr>
        <p:txBody>
          <a:bodyPr/>
          <a:lstStyle/>
          <a:p>
            <a:endParaRPr lang="en-US"/>
          </a:p>
        </p:txBody>
      </p:sp>
      <p:sp>
        <p:nvSpPr>
          <p:cNvPr id="571" name="246">
            <a:extLst>
              <a:ext uri="{FF2B5EF4-FFF2-40B4-BE49-F238E27FC236}">
                <a16:creationId xmlns:a16="http://schemas.microsoft.com/office/drawing/2014/main" id="{DA9D9DA0-42DA-4F67-BE67-C66C6BCC0DFB}"/>
              </a:ext>
            </a:extLst>
          </p:cNvPr>
          <p:cNvSpPr>
            <a:spLocks noGrp="1"/>
          </p:cNvSpPr>
          <p:nvPr/>
        </p:nvSpPr>
        <p:spPr>
          <a:xfrm>
            <a:off x="5581650" y="49244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190</a:t>
            </a:r>
          </a:p>
        </p:txBody>
      </p:sp>
      <p:sp>
        <p:nvSpPr>
          <p:cNvPr id="572" name="Rectangle 571">
            <a:extLst>
              <a:ext uri="{FF2B5EF4-FFF2-40B4-BE49-F238E27FC236}">
                <a16:creationId xmlns:a16="http://schemas.microsoft.com/office/drawing/2014/main" id="{B070DC3E-0ADF-4BD1-AFC9-BD7BEF0B5379}"/>
              </a:ext>
            </a:extLst>
          </p:cNvPr>
          <p:cNvSpPr>
            <a:spLocks noGrp="1"/>
          </p:cNvSpPr>
          <p:nvPr/>
        </p:nvSpPr>
        <p:spPr>
          <a:xfrm>
            <a:off x="6334125" y="4714875"/>
            <a:ext cx="742950" cy="742950"/>
          </a:xfrm>
          <a:prstGeom prst="rect">
            <a:avLst/>
          </a:prstGeom>
          <a:solidFill>
            <a:srgbClr val="F2F2F2"/>
          </a:solidFill>
          <a:ln w="0">
            <a:noFill/>
          </a:ln>
        </p:spPr>
        <p:txBody>
          <a:bodyPr/>
          <a:lstStyle/>
          <a:p>
            <a:endParaRPr lang="en-US"/>
          </a:p>
        </p:txBody>
      </p:sp>
      <p:sp>
        <p:nvSpPr>
          <p:cNvPr id="573" name="0">
            <a:extLst>
              <a:ext uri="{FF2B5EF4-FFF2-40B4-BE49-F238E27FC236}">
                <a16:creationId xmlns:a16="http://schemas.microsoft.com/office/drawing/2014/main" id="{1DC09590-FFB5-4C31-A5D3-21599A5C5133}"/>
              </a:ext>
            </a:extLst>
          </p:cNvPr>
          <p:cNvSpPr>
            <a:spLocks noGrp="1"/>
          </p:cNvSpPr>
          <p:nvPr/>
        </p:nvSpPr>
        <p:spPr>
          <a:xfrm>
            <a:off x="6343650" y="4924425"/>
            <a:ext cx="733425" cy="342900"/>
          </a:xfrm>
          <a:prstGeom prst="rect">
            <a:avLst/>
          </a:prstGeom>
          <a:noFill/>
          <a:ln w="0">
            <a:noFill/>
          </a:ln>
        </p:spPr>
        <p:txBody>
          <a:bodyPr anchor="t">
            <a:noAutofit/>
          </a:bodyPr>
          <a:lstStyle/>
          <a:p>
            <a:pPr>
              <a:defRPr sz="1725" b="0">
                <a:solidFill>
                  <a:srgbClr val="121212"/>
                </a:solidFill>
                <a:latin typeface="Times New Roman"/>
                <a:ea typeface="Times New Roman"/>
                <a:cs typeface="Times New Roman"/>
              </a:defRPr>
            </a:pPr>
            <a:r>
              <a:rPr sz="1725" b="0">
                <a:solidFill>
                  <a:srgbClr val="121212"/>
                </a:solidFill>
                <a:latin typeface="Times New Roman"/>
                <a:ea typeface="Times New Roman"/>
                <a:cs typeface="Times New Roman"/>
              </a:rPr>
              <a:t>0</a:t>
            </a:r>
          </a:p>
        </p:txBody>
      </p:sp>
      <p:sp>
        <p:nvSpPr>
          <p:cNvPr id="574" name="Rectangle 573">
            <a:extLst>
              <a:ext uri="{FF2B5EF4-FFF2-40B4-BE49-F238E27FC236}">
                <a16:creationId xmlns:a16="http://schemas.microsoft.com/office/drawing/2014/main" id="{0E6329F2-20F4-498A-A91A-36C2AF1BEFCD}"/>
              </a:ext>
            </a:extLst>
          </p:cNvPr>
          <p:cNvSpPr>
            <a:spLocks noGrp="1"/>
          </p:cNvSpPr>
          <p:nvPr/>
        </p:nvSpPr>
        <p:spPr>
          <a:xfrm>
            <a:off x="7096125" y="4714875"/>
            <a:ext cx="742950" cy="742950"/>
          </a:xfrm>
          <a:prstGeom prst="rect">
            <a:avLst/>
          </a:prstGeom>
          <a:solidFill>
            <a:srgbClr val="DBEAF7"/>
          </a:solidFill>
          <a:ln w="0">
            <a:noFill/>
          </a:ln>
        </p:spPr>
        <p:txBody>
          <a:bodyPr/>
          <a:lstStyle/>
          <a:p>
            <a:endParaRPr lang="en-US"/>
          </a:p>
        </p:txBody>
      </p:sp>
      <p:sp>
        <p:nvSpPr>
          <p:cNvPr id="575" name="0">
            <a:extLst>
              <a:ext uri="{FF2B5EF4-FFF2-40B4-BE49-F238E27FC236}">
                <a16:creationId xmlns:a16="http://schemas.microsoft.com/office/drawing/2014/main" id="{860C7F2A-8EB9-4B07-817A-1C4F0A59BA02}"/>
              </a:ext>
            </a:extLst>
          </p:cNvPr>
          <p:cNvSpPr>
            <a:spLocks noGrp="1"/>
          </p:cNvSpPr>
          <p:nvPr/>
        </p:nvSpPr>
        <p:spPr>
          <a:xfrm>
            <a:off x="7105650" y="4924425"/>
            <a:ext cx="733425" cy="342900"/>
          </a:xfrm>
          <a:prstGeom prst="rect">
            <a:avLst/>
          </a:prstGeom>
          <a:noFill/>
          <a:ln w="0">
            <a:noFill/>
          </a:ln>
        </p:spPr>
        <p:txBody>
          <a:bodyPr anchor="t">
            <a:noAutofit/>
          </a:bodyPr>
          <a:lstStyle/>
          <a:p>
            <a:pPr>
              <a:defRPr sz="1725" b="1">
                <a:solidFill>
                  <a:srgbClr val="121212"/>
                </a:solidFill>
                <a:latin typeface="Times New Roman"/>
                <a:ea typeface="Times New Roman"/>
                <a:cs typeface="Times New Roman"/>
              </a:defRPr>
            </a:pPr>
            <a:r>
              <a:rPr sz="1725" b="1">
                <a:solidFill>
                  <a:srgbClr val="121212"/>
                </a:solidFill>
                <a:latin typeface="Times New Roman"/>
                <a:ea typeface="Times New Roman"/>
                <a:cs typeface="Times New Roman"/>
              </a:rPr>
              <a:t>0</a:t>
            </a:r>
          </a:p>
        </p:txBody>
      </p:sp>
      <p:sp>
        <p:nvSpPr>
          <p:cNvPr id="576" name="Always predicts C1">
            <a:extLst>
              <a:ext uri="{FF2B5EF4-FFF2-40B4-BE49-F238E27FC236}">
                <a16:creationId xmlns:a16="http://schemas.microsoft.com/office/drawing/2014/main" id="{C811BBA3-E17E-46FE-9908-31DF4A14D234}"/>
              </a:ext>
            </a:extLst>
          </p:cNvPr>
          <p:cNvSpPr>
            <a:spLocks noGrp="1"/>
          </p:cNvSpPr>
          <p:nvPr/>
        </p:nvSpPr>
        <p:spPr>
          <a:xfrm>
            <a:off x="400050" y="2190750"/>
            <a:ext cx="3286125" cy="1000125"/>
          </a:xfrm>
          <a:prstGeom prst="rect">
            <a:avLst/>
          </a:prstGeom>
          <a:noFill/>
          <a:ln w="0">
            <a:noFill/>
          </a:ln>
        </p:spPr>
        <p:txBody>
          <a:bodyPr anchor="t">
            <a:noAutofit/>
          </a:bodyPr>
          <a:lstStyle/>
          <a:p>
            <a:pPr>
              <a:defRPr sz="3150" b="0">
                <a:solidFill>
                  <a:srgbClr val="121212"/>
                </a:solidFill>
                <a:latin typeface="Times New Roman"/>
                <a:ea typeface="Times New Roman"/>
                <a:cs typeface="Times New Roman"/>
              </a:defRPr>
            </a:pPr>
            <a:r>
              <a:rPr sz="3150" b="0">
                <a:solidFill>
                  <a:srgbClr val="121212"/>
                </a:solidFill>
                <a:latin typeface="Times New Roman"/>
                <a:ea typeface="Times New Roman"/>
                <a:cs typeface="Times New Roman"/>
              </a:rPr>
              <a:t>Always predicts C1</a:t>
            </a:r>
          </a:p>
        </p:txBody>
      </p:sp>
      <p:sp>
        <p:nvSpPr>
          <p:cNvPr id="577" name="Every prediction falls&#10;in one column.">
            <a:extLst>
              <a:ext uri="{FF2B5EF4-FFF2-40B4-BE49-F238E27FC236}">
                <a16:creationId xmlns:a16="http://schemas.microsoft.com/office/drawing/2014/main" id="{DE86C585-6927-47EB-9005-6B746C1091C4}"/>
              </a:ext>
            </a:extLst>
          </p:cNvPr>
          <p:cNvSpPr>
            <a:spLocks noGrp="1"/>
          </p:cNvSpPr>
          <p:nvPr/>
        </p:nvSpPr>
        <p:spPr>
          <a:xfrm>
            <a:off x="400050" y="3581400"/>
            <a:ext cx="3190875" cy="1000125"/>
          </a:xfrm>
          <a:prstGeom prst="rect">
            <a:avLst/>
          </a:prstGeom>
          <a:noFill/>
          <a:ln w="0">
            <a:noFill/>
          </a:ln>
        </p:spPr>
        <p:txBody>
          <a:bodyPr anchor="t">
            <a:noAutofit/>
          </a:bodyPr>
          <a:lstStyle/>
          <a:p>
            <a:pPr>
              <a:defRPr sz="2100" b="0">
                <a:solidFill>
                  <a:srgbClr val="121212"/>
                </a:solidFill>
                <a:latin typeface="Times New Roman"/>
                <a:ea typeface="Times New Roman"/>
                <a:cs typeface="Times New Roman"/>
              </a:defRPr>
            </a:pPr>
            <a:r>
              <a:rPr sz="2100" b="0">
                <a:solidFill>
                  <a:srgbClr val="121212"/>
                </a:solidFill>
                <a:latin typeface="Times New Roman"/>
                <a:ea typeface="Times New Roman"/>
                <a:cs typeface="Times New Roman"/>
              </a:rPr>
              <a:t>Every prediction falls</a:t>
            </a:r>
          </a:p>
          <a:p>
            <a:pPr>
              <a:defRPr sz="2100" b="0">
                <a:solidFill>
                  <a:srgbClr val="121212"/>
                </a:solidFill>
                <a:latin typeface="Times New Roman"/>
                <a:ea typeface="Times New Roman"/>
                <a:cs typeface="Times New Roman"/>
              </a:defRPr>
            </a:pPr>
            <a:r>
              <a:rPr sz="2100" b="0">
                <a:solidFill>
                  <a:srgbClr val="121212"/>
                </a:solidFill>
                <a:latin typeface="Times New Roman"/>
                <a:ea typeface="Times New Roman"/>
                <a:cs typeface="Times New Roman"/>
              </a:rPr>
              <a:t>in one column.</a:t>
            </a:r>
          </a:p>
        </p:txBody>
      </p:sp>
      <p:sp>
        <p:nvSpPr>
          <p:cNvPr id="578" name="WEKA ZeroR, main CGPA, 10-fold CV, N = 1,102. Accuracy ">
            <a:extLst>
              <a:ext uri="{FF2B5EF4-FFF2-40B4-BE49-F238E27FC236}">
                <a16:creationId xmlns:a16="http://schemas.microsoft.com/office/drawing/2014/main" id="{4305A702-3325-4FE0-A628-7F56BED23F7C}"/>
              </a:ext>
            </a:extLst>
          </p:cNvPr>
          <p:cNvSpPr>
            <a:spLocks noGrp="1"/>
          </p:cNvSpPr>
          <p:nvPr/>
        </p:nvSpPr>
        <p:spPr>
          <a:xfrm>
            <a:off x="400050" y="6057900"/>
            <a:ext cx="11049000" cy="285750"/>
          </a:xfrm>
          <a:prstGeom prst="rect">
            <a:avLst/>
          </a:prstGeom>
          <a:noFill/>
          <a:ln w="0">
            <a:noFill/>
          </a:ln>
        </p:spPr>
        <p:txBody>
          <a:bodyPr anchor="t">
            <a:noAutofit/>
          </a:bodyPr>
          <a:lstStyle/>
          <a:p>
            <a:pPr>
              <a:defRPr sz="1275" b="0">
                <a:solidFill>
                  <a:srgbClr val="585858"/>
                </a:solidFill>
                <a:latin typeface="Times New Roman"/>
                <a:ea typeface="Times New Roman"/>
                <a:cs typeface="Times New Roman"/>
              </a:defRPr>
            </a:pPr>
            <a:r>
              <a:rPr sz="1275" b="0">
                <a:solidFill>
                  <a:srgbClr val="585858"/>
                </a:solidFill>
                <a:latin typeface="Times New Roman"/>
                <a:ea typeface="Times New Roman"/>
                <a:cs typeface="Times New Roman"/>
              </a:rPr>
              <a:t>WEKA ZeroR, main CGPA, 5-fold CV, N = 920. Accuracy = 30.87%.</a:t>
            </a:r>
          </a:p>
        </p:txBody>
      </p:sp>
    </p:spTree>
    <p:extLst>
      <p:ext uri="{BB962C8B-B14F-4D97-AF65-F5344CB8AC3E}">
        <p14:creationId xmlns:p14="http://schemas.microsoft.com/office/powerpoint/2010/main" val="69877251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lang="en-US" dirty="0">
                <a:latin typeface="Times New Roman"/>
                <a:ea typeface="Times New Roman"/>
                <a:cs typeface="Times New Roman"/>
              </a:rPr>
              <a:t>50</a:t>
            </a:r>
            <a:endParaRPr sz="1000" dirty="0">
              <a:latin typeface="Times New Roman"/>
              <a:ea typeface="Times New Roman"/>
              <a:cs typeface="Times New Roman"/>
            </a:endParaRP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a:latin typeface="Times New Roman"/>
                <a:ea typeface="Times New Roman"/>
                <a:cs typeface="Times New Roman"/>
              </a:rPr>
              <a:t>WEKA main CGPA accuracy: 5-fold CV</a:t>
            </a:r>
          </a:p>
        </p:txBody>
      </p:sp>
      <p:graphicFrame>
        <p:nvGraphicFramePr>
          <p:cNvPr id="539" name="Chart"/>
          <p:cNvGraphicFramePr/>
          <p:nvPr/>
        </p:nvGraphicFramePr>
        <p:xfrm>
          <a:off x="857250" y="1524000"/>
          <a:ext cx="10763250" cy="4286250"/>
        </p:xfrm>
        <a:graphic>
          <a:graphicData uri="http://schemas.openxmlformats.org/drawingml/2006/chart">
            <c:chart xmlns:c="http://schemas.openxmlformats.org/drawingml/2006/chart" xmlns:r="http://schemas.openxmlformats.org/officeDocument/2006/relationships" r:id="rId3"/>
          </a:graphicData>
        </a:graphic>
      </p:graphicFrame>
      <p:sp>
        <p:nvSpPr>
          <p:cNvPr id="535" name="WEKA 3.8.7, stratified 10-fold CV, seed 1. Same 1,102 r">
            <a:extLst>
              <a:ext uri="{FF2B5EF4-FFF2-40B4-BE49-F238E27FC236}">
                <a16:creationId xmlns:a16="http://schemas.microsoft.com/office/drawing/2014/main" id="{78BFE0E2-C5FA-4554-A017-2271F9AC4AD2}"/>
              </a:ext>
            </a:extLst>
          </p:cNvPr>
          <p:cNvSpPr>
            <a:spLocks noGrp="1"/>
          </p:cNvSpPr>
          <p:nvPr/>
        </p:nvSpPr>
        <p:spPr>
          <a:xfrm>
            <a:off x="400050" y="6057900"/>
            <a:ext cx="11049000" cy="285750"/>
          </a:xfrm>
          <a:prstGeom prst="rect">
            <a:avLst/>
          </a:prstGeom>
          <a:noFill/>
          <a:ln w="0">
            <a:noFill/>
          </a:ln>
        </p:spPr>
        <p:txBody>
          <a:bodyPr anchor="t">
            <a:noAutofit/>
          </a:bodyPr>
          <a:lstStyle/>
          <a:p>
            <a:pPr>
              <a:defRPr sz="1275" b="0">
                <a:solidFill>
                  <a:srgbClr val="585858"/>
                </a:solidFill>
                <a:latin typeface="Times New Roman"/>
                <a:ea typeface="Times New Roman"/>
                <a:cs typeface="Times New Roman"/>
              </a:defRPr>
            </a:pPr>
            <a:r>
              <a:rPr sz="1275" b="0">
                <a:solidFill>
                  <a:srgbClr val="585858"/>
                </a:solidFill>
                <a:latin typeface="Times New Roman"/>
                <a:ea typeface="Times New Roman"/>
                <a:cs typeface="Times New Roman"/>
              </a:rPr>
              <a:t>WEKA 3.8.7, stratified 5-fold CV, seed 1. Same 920 students and main CGPA inputs.</a:t>
            </a:r>
          </a:p>
        </p:txBody>
      </p:sp>
    </p:spTree>
    <p:extLst>
      <p:ext uri="{BB962C8B-B14F-4D97-AF65-F5344CB8AC3E}">
        <p14:creationId xmlns:p14="http://schemas.microsoft.com/office/powerpoint/2010/main" val="2463570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lang="en-US" dirty="0"/>
              <a:t>51</a:t>
            </a:r>
            <a:endParaRPr dirty="0"/>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a:latin typeface="Times New Roman"/>
                <a:ea typeface="Times New Roman"/>
                <a:cs typeface="Times New Roman"/>
              </a:rPr>
              <a:t>Accuracy before and after the data check</a:t>
            </a:r>
          </a:p>
        </p:txBody>
      </p:sp>
      <p:graphicFrame>
        <p:nvGraphicFramePr>
          <p:cNvPr id="540" name="Table 539"/>
          <p:cNvGraphicFramePr/>
          <p:nvPr/>
        </p:nvGraphicFramePr>
        <p:xfrm>
          <a:off x="400050" y="1952625"/>
          <a:ext cx="11391900" cy="3428999"/>
        </p:xfrm>
        <a:graphic>
          <a:graphicData uri="http://schemas.openxmlformats.org/drawingml/2006/table">
            <a:tbl>
              <a:tblPr/>
              <a:tblGrid>
                <a:gridCol w="2857500">
                  <a:extLst>
                    <a:ext uri="{9D8B030D-6E8A-4147-A177-3AD203B41FA5}">
                      <a16:colId xmlns:a16="http://schemas.microsoft.com/office/drawing/2014/main" val="20000"/>
                    </a:ext>
                  </a:extLst>
                </a:gridCol>
                <a:gridCol w="2714625">
                  <a:extLst>
                    <a:ext uri="{9D8B030D-6E8A-4147-A177-3AD203B41FA5}">
                      <a16:colId xmlns:a16="http://schemas.microsoft.com/office/drawing/2014/main" val="20001"/>
                    </a:ext>
                  </a:extLst>
                </a:gridCol>
                <a:gridCol w="3105150">
                  <a:extLst>
                    <a:ext uri="{9D8B030D-6E8A-4147-A177-3AD203B41FA5}">
                      <a16:colId xmlns:a16="http://schemas.microsoft.com/office/drawing/2014/main" val="20002"/>
                    </a:ext>
                  </a:extLst>
                </a:gridCol>
                <a:gridCol w="2714625">
                  <a:extLst>
                    <a:ext uri="{9D8B030D-6E8A-4147-A177-3AD203B41FA5}">
                      <a16:colId xmlns:a16="http://schemas.microsoft.com/office/drawing/2014/main" val="20003"/>
                    </a:ext>
                  </a:extLst>
                </a:gridCol>
              </a:tblGrid>
              <a:tr h="489857">
                <a:tc>
                  <a:txBody>
                    <a:bodyPr/>
                    <a:lstStyle/>
                    <a:p>
                      <a:r>
                        <a:rPr sz="1875" b="1">
                          <a:solidFill>
                            <a:srgbClr val="121212"/>
                          </a:solidFill>
                          <a:latin typeface="Times New Roman"/>
                          <a:ea typeface="Times New Roman"/>
                          <a:cs typeface="Times New Roman"/>
                        </a:rPr>
                        <a:t>WEKA model</a:t>
                      </a:r>
                    </a:p>
                  </a:txBody>
                  <a:tcPr>
                    <a:solidFill>
                      <a:srgbClr val="EEEEEE"/>
                    </a:solidFill>
                  </a:tcPr>
                </a:tc>
                <a:tc>
                  <a:txBody>
                    <a:bodyPr/>
                    <a:lstStyle/>
                    <a:p>
                      <a:r>
                        <a:rPr lang="en-US" sz="1875" b="1" dirty="0">
                          <a:solidFill>
                            <a:srgbClr val="121212"/>
                          </a:solidFill>
                          <a:latin typeface="Times New Roman"/>
                          <a:ea typeface="Times New Roman"/>
                          <a:cs typeface="Times New Roman"/>
                        </a:rPr>
                        <a:t>All 1,102 students</a:t>
                      </a:r>
                      <a:endParaRPr sz="1875" b="1" dirty="0">
                        <a:solidFill>
                          <a:srgbClr val="121212"/>
                        </a:solidFill>
                        <a:latin typeface="Times New Roman"/>
                        <a:ea typeface="Times New Roman"/>
                        <a:cs typeface="Times New Roman"/>
                      </a:endParaRPr>
                    </a:p>
                  </a:txBody>
                  <a:tcPr>
                    <a:solidFill>
                      <a:srgbClr val="EEEEEE"/>
                    </a:solidFill>
                  </a:tcPr>
                </a:tc>
                <a:tc>
                  <a:txBody>
                    <a:bodyPr/>
                    <a:lstStyle/>
                    <a:p>
                      <a:r>
                        <a:rPr lang="en-US" sz="1875" b="1" dirty="0">
                          <a:solidFill>
                            <a:srgbClr val="121212"/>
                          </a:solidFill>
                          <a:latin typeface="Times New Roman"/>
                          <a:ea typeface="Times New Roman"/>
                          <a:cs typeface="Times New Roman"/>
                        </a:rPr>
                        <a:t>After data check (920)</a:t>
                      </a:r>
                      <a:endParaRPr sz="1875" b="1" dirty="0">
                        <a:solidFill>
                          <a:srgbClr val="121212"/>
                        </a:solidFill>
                        <a:latin typeface="Times New Roman"/>
                        <a:ea typeface="Times New Roman"/>
                        <a:cs typeface="Times New Roman"/>
                      </a:endParaRPr>
                    </a:p>
                  </a:txBody>
                  <a:tcPr>
                    <a:solidFill>
                      <a:srgbClr val="EEEEEE"/>
                    </a:solidFill>
                  </a:tcPr>
                </a:tc>
                <a:tc>
                  <a:txBody>
                    <a:bodyPr/>
                    <a:lstStyle/>
                    <a:p>
                      <a:r>
                        <a:rPr lang="en-US" sz="1875" b="1" dirty="0">
                          <a:solidFill>
                            <a:srgbClr val="121212"/>
                          </a:solidFill>
                          <a:latin typeface="Times New Roman"/>
                          <a:ea typeface="Times New Roman"/>
                          <a:cs typeface="Times New Roman"/>
                        </a:rPr>
                        <a:t>Change</a:t>
                      </a:r>
                      <a:endParaRPr sz="1875" b="1" dirty="0">
                        <a:solidFill>
                          <a:srgbClr val="121212"/>
                        </a:solidFill>
                        <a:latin typeface="Times New Roman"/>
                        <a:ea typeface="Times New Roman"/>
                        <a:cs typeface="Times New Roman"/>
                      </a:endParaRPr>
                    </a:p>
                  </a:txBody>
                  <a:tcPr>
                    <a:solidFill>
                      <a:srgbClr val="EEEEEE"/>
                    </a:solidFill>
                  </a:tcPr>
                </a:tc>
                <a:extLst>
                  <a:ext uri="{0D108BD9-81ED-4DB2-BD59-A6C34878D82A}">
                    <a16:rowId xmlns:a16="http://schemas.microsoft.com/office/drawing/2014/main" val="10000"/>
                  </a:ext>
                </a:extLst>
              </a:tr>
              <a:tr h="489857">
                <a:tc>
                  <a:txBody>
                    <a:bodyPr/>
                    <a:lstStyle/>
                    <a:p>
                      <a:r>
                        <a:rPr sz="1875" b="0">
                          <a:solidFill>
                            <a:srgbClr val="121212"/>
                          </a:solidFill>
                          <a:latin typeface="Times New Roman"/>
                          <a:ea typeface="Times New Roman"/>
                          <a:cs typeface="Times New Roman"/>
                        </a:rPr>
                        <a:t>J48</a:t>
                      </a:r>
                    </a:p>
                  </a:txBody>
                  <a:tcPr>
                    <a:solidFill>
                      <a:srgbClr val="FFFFFF"/>
                    </a:solidFill>
                  </a:tcPr>
                </a:tc>
                <a:tc>
                  <a:txBody>
                    <a:bodyPr/>
                    <a:lstStyle/>
                    <a:p>
                      <a:r>
                        <a:rPr sz="1875" b="0">
                          <a:solidFill>
                            <a:srgbClr val="121212"/>
                          </a:solidFill>
                          <a:latin typeface="Times New Roman"/>
                          <a:ea typeface="Times New Roman"/>
                          <a:cs typeface="Times New Roman"/>
                        </a:rPr>
                        <a:t>43.56%</a:t>
                      </a:r>
                    </a:p>
                  </a:txBody>
                  <a:tcPr>
                    <a:solidFill>
                      <a:srgbClr val="FFFFFF"/>
                    </a:solidFill>
                  </a:tcPr>
                </a:tc>
                <a:tc>
                  <a:txBody>
                    <a:bodyPr/>
                    <a:lstStyle/>
                    <a:p>
                      <a:r>
                        <a:rPr sz="1875" b="0">
                          <a:solidFill>
                            <a:srgbClr val="121212"/>
                          </a:solidFill>
                          <a:latin typeface="Times New Roman"/>
                          <a:ea typeface="Times New Roman"/>
                          <a:cs typeface="Times New Roman"/>
                        </a:rPr>
                        <a:t>54.35%</a:t>
                      </a:r>
                    </a:p>
                  </a:txBody>
                  <a:tcPr>
                    <a:solidFill>
                      <a:srgbClr val="FFFFFF"/>
                    </a:solidFill>
                  </a:tcPr>
                </a:tc>
                <a:tc>
                  <a:txBody>
                    <a:bodyPr/>
                    <a:lstStyle/>
                    <a:p>
                      <a:r>
                        <a:rPr sz="1875" b="0">
                          <a:solidFill>
                            <a:srgbClr val="121212"/>
                          </a:solidFill>
                          <a:latin typeface="Times New Roman"/>
                          <a:ea typeface="Times New Roman"/>
                          <a:cs typeface="Times New Roman"/>
                        </a:rPr>
                        <a:t>+10.8 points</a:t>
                      </a:r>
                    </a:p>
                  </a:txBody>
                  <a:tcPr>
                    <a:solidFill>
                      <a:srgbClr val="FFFFFF"/>
                    </a:solidFill>
                  </a:tcPr>
                </a:tc>
                <a:extLst>
                  <a:ext uri="{0D108BD9-81ED-4DB2-BD59-A6C34878D82A}">
                    <a16:rowId xmlns:a16="http://schemas.microsoft.com/office/drawing/2014/main" val="10001"/>
                  </a:ext>
                </a:extLst>
              </a:tr>
              <a:tr h="489857">
                <a:tc>
                  <a:txBody>
                    <a:bodyPr/>
                    <a:lstStyle/>
                    <a:p>
                      <a:r>
                        <a:rPr sz="1875" b="0">
                          <a:solidFill>
                            <a:srgbClr val="121212"/>
                          </a:solidFill>
                          <a:latin typeface="Times New Roman"/>
                          <a:ea typeface="Times New Roman"/>
                          <a:cs typeface="Times New Roman"/>
                        </a:rPr>
                        <a:t>Random Forest</a:t>
                      </a:r>
                    </a:p>
                  </a:txBody>
                  <a:tcPr>
                    <a:solidFill>
                      <a:srgbClr val="FFFFFF"/>
                    </a:solidFill>
                  </a:tcPr>
                </a:tc>
                <a:tc>
                  <a:txBody>
                    <a:bodyPr/>
                    <a:lstStyle/>
                    <a:p>
                      <a:r>
                        <a:rPr sz="1875" b="0">
                          <a:solidFill>
                            <a:srgbClr val="121212"/>
                          </a:solidFill>
                          <a:latin typeface="Times New Roman"/>
                          <a:ea typeface="Times New Roman"/>
                          <a:cs typeface="Times New Roman"/>
                        </a:rPr>
                        <a:t>45.01%</a:t>
                      </a:r>
                    </a:p>
                  </a:txBody>
                  <a:tcPr>
                    <a:solidFill>
                      <a:srgbClr val="FFFFFF"/>
                    </a:solidFill>
                  </a:tcPr>
                </a:tc>
                <a:tc>
                  <a:txBody>
                    <a:bodyPr/>
                    <a:lstStyle/>
                    <a:p>
                      <a:r>
                        <a:rPr sz="1875" b="0">
                          <a:solidFill>
                            <a:srgbClr val="121212"/>
                          </a:solidFill>
                          <a:latin typeface="Times New Roman"/>
                          <a:ea typeface="Times New Roman"/>
                          <a:cs typeface="Times New Roman"/>
                        </a:rPr>
                        <a:t>54.24%</a:t>
                      </a:r>
                    </a:p>
                  </a:txBody>
                  <a:tcPr>
                    <a:solidFill>
                      <a:srgbClr val="FFFFFF"/>
                    </a:solidFill>
                  </a:tcPr>
                </a:tc>
                <a:tc>
                  <a:txBody>
                    <a:bodyPr/>
                    <a:lstStyle/>
                    <a:p>
                      <a:r>
                        <a:rPr sz="1875" b="0">
                          <a:solidFill>
                            <a:srgbClr val="121212"/>
                          </a:solidFill>
                          <a:latin typeface="Times New Roman"/>
                          <a:ea typeface="Times New Roman"/>
                          <a:cs typeface="Times New Roman"/>
                        </a:rPr>
                        <a:t>+9.2 points</a:t>
                      </a:r>
                    </a:p>
                  </a:txBody>
                  <a:tcPr>
                    <a:solidFill>
                      <a:srgbClr val="FFFFFF"/>
                    </a:solidFill>
                  </a:tcPr>
                </a:tc>
                <a:extLst>
                  <a:ext uri="{0D108BD9-81ED-4DB2-BD59-A6C34878D82A}">
                    <a16:rowId xmlns:a16="http://schemas.microsoft.com/office/drawing/2014/main" val="10002"/>
                  </a:ext>
                </a:extLst>
              </a:tr>
              <a:tr h="489857">
                <a:tc>
                  <a:txBody>
                    <a:bodyPr/>
                    <a:lstStyle/>
                    <a:p>
                      <a:r>
                        <a:rPr sz="1875" b="0">
                          <a:solidFill>
                            <a:srgbClr val="121212"/>
                          </a:solidFill>
                          <a:latin typeface="Times New Roman"/>
                          <a:ea typeface="Times New Roman"/>
                          <a:cs typeface="Times New Roman"/>
                        </a:rPr>
                        <a:t>SMO</a:t>
                      </a:r>
                    </a:p>
                  </a:txBody>
                  <a:tcPr>
                    <a:solidFill>
                      <a:srgbClr val="FFFFFF"/>
                    </a:solidFill>
                  </a:tcPr>
                </a:tc>
                <a:tc>
                  <a:txBody>
                    <a:bodyPr/>
                    <a:lstStyle/>
                    <a:p>
                      <a:r>
                        <a:rPr sz="1875" b="0">
                          <a:solidFill>
                            <a:srgbClr val="121212"/>
                          </a:solidFill>
                          <a:latin typeface="Times New Roman"/>
                          <a:ea typeface="Times New Roman"/>
                          <a:cs typeface="Times New Roman"/>
                        </a:rPr>
                        <a:t>46.10%</a:t>
                      </a:r>
                    </a:p>
                  </a:txBody>
                  <a:tcPr>
                    <a:solidFill>
                      <a:srgbClr val="FFFFFF"/>
                    </a:solidFill>
                  </a:tcPr>
                </a:tc>
                <a:tc>
                  <a:txBody>
                    <a:bodyPr/>
                    <a:lstStyle/>
                    <a:p>
                      <a:r>
                        <a:rPr sz="1875" b="0">
                          <a:solidFill>
                            <a:srgbClr val="121212"/>
                          </a:solidFill>
                          <a:latin typeface="Times New Roman"/>
                          <a:ea typeface="Times New Roman"/>
                          <a:cs typeface="Times New Roman"/>
                        </a:rPr>
                        <a:t>55.22%</a:t>
                      </a:r>
                    </a:p>
                  </a:txBody>
                  <a:tcPr>
                    <a:solidFill>
                      <a:srgbClr val="FFFFFF"/>
                    </a:solidFill>
                  </a:tcPr>
                </a:tc>
                <a:tc>
                  <a:txBody>
                    <a:bodyPr/>
                    <a:lstStyle/>
                    <a:p>
                      <a:r>
                        <a:rPr sz="1875" b="0">
                          <a:solidFill>
                            <a:srgbClr val="121212"/>
                          </a:solidFill>
                          <a:latin typeface="Times New Roman"/>
                          <a:ea typeface="Times New Roman"/>
                          <a:cs typeface="Times New Roman"/>
                        </a:rPr>
                        <a:t>+9.1 points</a:t>
                      </a:r>
                    </a:p>
                  </a:txBody>
                  <a:tcPr>
                    <a:solidFill>
                      <a:srgbClr val="FFFFFF"/>
                    </a:solidFill>
                  </a:tcPr>
                </a:tc>
                <a:extLst>
                  <a:ext uri="{0D108BD9-81ED-4DB2-BD59-A6C34878D82A}">
                    <a16:rowId xmlns:a16="http://schemas.microsoft.com/office/drawing/2014/main" val="10003"/>
                  </a:ext>
                </a:extLst>
              </a:tr>
              <a:tr h="489857">
                <a:tc>
                  <a:txBody>
                    <a:bodyPr/>
                    <a:lstStyle/>
                    <a:p>
                      <a:r>
                        <a:rPr sz="1875" b="0">
                          <a:solidFill>
                            <a:srgbClr val="121212"/>
                          </a:solidFill>
                          <a:latin typeface="Times New Roman"/>
                          <a:ea typeface="Times New Roman"/>
                          <a:cs typeface="Times New Roman"/>
                        </a:rPr>
                        <a:t>Logistic</a:t>
                      </a:r>
                    </a:p>
                  </a:txBody>
                  <a:tcPr>
                    <a:solidFill>
                      <a:srgbClr val="FFFFFF"/>
                    </a:solidFill>
                  </a:tcPr>
                </a:tc>
                <a:tc>
                  <a:txBody>
                    <a:bodyPr/>
                    <a:lstStyle/>
                    <a:p>
                      <a:r>
                        <a:rPr sz="1875" b="0">
                          <a:solidFill>
                            <a:srgbClr val="121212"/>
                          </a:solidFill>
                          <a:latin typeface="Times New Roman"/>
                          <a:ea typeface="Times New Roman"/>
                          <a:cs typeface="Times New Roman"/>
                        </a:rPr>
                        <a:t>46.37%</a:t>
                      </a:r>
                    </a:p>
                  </a:txBody>
                  <a:tcPr>
                    <a:solidFill>
                      <a:srgbClr val="FFFFFF"/>
                    </a:solidFill>
                  </a:tcPr>
                </a:tc>
                <a:tc>
                  <a:txBody>
                    <a:bodyPr/>
                    <a:lstStyle/>
                    <a:p>
                      <a:r>
                        <a:rPr sz="1875" b="0">
                          <a:solidFill>
                            <a:srgbClr val="121212"/>
                          </a:solidFill>
                          <a:latin typeface="Times New Roman"/>
                          <a:ea typeface="Times New Roman"/>
                          <a:cs typeface="Times New Roman"/>
                        </a:rPr>
                        <a:t>54.67%</a:t>
                      </a:r>
                    </a:p>
                  </a:txBody>
                  <a:tcPr>
                    <a:solidFill>
                      <a:srgbClr val="FFFFFF"/>
                    </a:solidFill>
                  </a:tcPr>
                </a:tc>
                <a:tc>
                  <a:txBody>
                    <a:bodyPr/>
                    <a:lstStyle/>
                    <a:p>
                      <a:r>
                        <a:rPr sz="1875" b="0">
                          <a:solidFill>
                            <a:srgbClr val="121212"/>
                          </a:solidFill>
                          <a:latin typeface="Times New Roman"/>
                          <a:ea typeface="Times New Roman"/>
                          <a:cs typeface="Times New Roman"/>
                        </a:rPr>
                        <a:t>+8.3 points</a:t>
                      </a:r>
                    </a:p>
                  </a:txBody>
                  <a:tcPr>
                    <a:solidFill>
                      <a:srgbClr val="FFFFFF"/>
                    </a:solidFill>
                  </a:tcPr>
                </a:tc>
                <a:extLst>
                  <a:ext uri="{0D108BD9-81ED-4DB2-BD59-A6C34878D82A}">
                    <a16:rowId xmlns:a16="http://schemas.microsoft.com/office/drawing/2014/main" val="10004"/>
                  </a:ext>
                </a:extLst>
              </a:tr>
              <a:tr h="489857">
                <a:tc>
                  <a:txBody>
                    <a:bodyPr/>
                    <a:lstStyle/>
                    <a:p>
                      <a:r>
                        <a:rPr sz="1875" b="0">
                          <a:solidFill>
                            <a:srgbClr val="121212"/>
                          </a:solidFill>
                          <a:latin typeface="Times New Roman"/>
                          <a:ea typeface="Times New Roman"/>
                          <a:cs typeface="Times New Roman"/>
                        </a:rPr>
                        <a:t>Naive Bayes</a:t>
                      </a:r>
                    </a:p>
                  </a:txBody>
                  <a:tcPr>
                    <a:solidFill>
                      <a:srgbClr val="FFFFFF"/>
                    </a:solidFill>
                  </a:tcPr>
                </a:tc>
                <a:tc>
                  <a:txBody>
                    <a:bodyPr/>
                    <a:lstStyle/>
                    <a:p>
                      <a:r>
                        <a:rPr sz="1875" b="0">
                          <a:solidFill>
                            <a:srgbClr val="121212"/>
                          </a:solidFill>
                          <a:latin typeface="Times New Roman"/>
                          <a:ea typeface="Times New Roman"/>
                          <a:cs typeface="Times New Roman"/>
                        </a:rPr>
                        <a:t>44.83%</a:t>
                      </a:r>
                    </a:p>
                  </a:txBody>
                  <a:tcPr>
                    <a:solidFill>
                      <a:srgbClr val="FFFFFF"/>
                    </a:solidFill>
                  </a:tcPr>
                </a:tc>
                <a:tc>
                  <a:txBody>
                    <a:bodyPr/>
                    <a:lstStyle/>
                    <a:p>
                      <a:r>
                        <a:rPr sz="1875" b="0">
                          <a:solidFill>
                            <a:srgbClr val="121212"/>
                          </a:solidFill>
                          <a:latin typeface="Times New Roman"/>
                          <a:ea typeface="Times New Roman"/>
                          <a:cs typeface="Times New Roman"/>
                        </a:rPr>
                        <a:t>54.46%</a:t>
                      </a:r>
                    </a:p>
                  </a:txBody>
                  <a:tcPr>
                    <a:solidFill>
                      <a:srgbClr val="FFFFFF"/>
                    </a:solidFill>
                  </a:tcPr>
                </a:tc>
                <a:tc>
                  <a:txBody>
                    <a:bodyPr/>
                    <a:lstStyle/>
                    <a:p>
                      <a:r>
                        <a:rPr sz="1875" b="0">
                          <a:solidFill>
                            <a:srgbClr val="121212"/>
                          </a:solidFill>
                          <a:latin typeface="Times New Roman"/>
                          <a:ea typeface="Times New Roman"/>
                          <a:cs typeface="Times New Roman"/>
                        </a:rPr>
                        <a:t>+9.6 points</a:t>
                      </a:r>
                    </a:p>
                  </a:txBody>
                  <a:tcPr>
                    <a:solidFill>
                      <a:srgbClr val="FFFFFF"/>
                    </a:solidFill>
                  </a:tcPr>
                </a:tc>
                <a:extLst>
                  <a:ext uri="{0D108BD9-81ED-4DB2-BD59-A6C34878D82A}">
                    <a16:rowId xmlns:a16="http://schemas.microsoft.com/office/drawing/2014/main" val="10005"/>
                  </a:ext>
                </a:extLst>
              </a:tr>
              <a:tr h="489857">
                <a:tc>
                  <a:txBody>
                    <a:bodyPr/>
                    <a:lstStyle/>
                    <a:p>
                      <a:r>
                        <a:rPr sz="1875" b="0">
                          <a:solidFill>
                            <a:srgbClr val="121212"/>
                          </a:solidFill>
                          <a:latin typeface="Times New Roman"/>
                          <a:ea typeface="Times New Roman"/>
                          <a:cs typeface="Times New Roman"/>
                        </a:rPr>
                        <a:t>ZeroR</a:t>
                      </a:r>
                    </a:p>
                  </a:txBody>
                  <a:tcPr>
                    <a:solidFill>
                      <a:srgbClr val="FFFFFF"/>
                    </a:solidFill>
                  </a:tcPr>
                </a:tc>
                <a:tc>
                  <a:txBody>
                    <a:bodyPr/>
                    <a:lstStyle/>
                    <a:p>
                      <a:r>
                        <a:rPr sz="1875" b="0">
                          <a:solidFill>
                            <a:srgbClr val="121212"/>
                          </a:solidFill>
                          <a:latin typeface="Times New Roman"/>
                          <a:ea typeface="Times New Roman"/>
                          <a:cs typeface="Times New Roman"/>
                        </a:rPr>
                        <a:t>29.04%</a:t>
                      </a:r>
                    </a:p>
                  </a:txBody>
                  <a:tcPr>
                    <a:solidFill>
                      <a:srgbClr val="FFFFFF"/>
                    </a:solidFill>
                  </a:tcPr>
                </a:tc>
                <a:tc>
                  <a:txBody>
                    <a:bodyPr/>
                    <a:lstStyle/>
                    <a:p>
                      <a:r>
                        <a:rPr sz="1875" b="0">
                          <a:solidFill>
                            <a:srgbClr val="121212"/>
                          </a:solidFill>
                          <a:latin typeface="Times New Roman"/>
                          <a:ea typeface="Times New Roman"/>
                          <a:cs typeface="Times New Roman"/>
                        </a:rPr>
                        <a:t>30.87%</a:t>
                      </a:r>
                    </a:p>
                  </a:txBody>
                  <a:tcPr>
                    <a:solidFill>
                      <a:srgbClr val="FFFFFF"/>
                    </a:solidFill>
                  </a:tcPr>
                </a:tc>
                <a:tc>
                  <a:txBody>
                    <a:bodyPr/>
                    <a:lstStyle/>
                    <a:p>
                      <a:r>
                        <a:rPr sz="1875" b="0" dirty="0">
                          <a:solidFill>
                            <a:srgbClr val="121212"/>
                          </a:solidFill>
                          <a:latin typeface="Times New Roman"/>
                          <a:ea typeface="Times New Roman"/>
                          <a:cs typeface="Times New Roman"/>
                        </a:rPr>
                        <a:t>+1.8 points</a:t>
                      </a:r>
                    </a:p>
                  </a:txBody>
                  <a:tcPr>
                    <a:solidFill>
                      <a:srgbClr val="FFFFFF"/>
                    </a:solidFill>
                  </a:tcPr>
                </a:tc>
                <a:extLst>
                  <a:ext uri="{0D108BD9-81ED-4DB2-BD59-A6C34878D82A}">
                    <a16:rowId xmlns:a16="http://schemas.microsoft.com/office/drawing/2014/main" val="10006"/>
                  </a:ext>
                </a:extLst>
              </a:tr>
            </a:tbl>
          </a:graphicData>
        </a:graphic>
      </p:graphicFrame>
      <p:sp>
        <p:nvSpPr>
          <p:cNvPr id="535" name="Stratified 10-fold cross-validation, seed 1">
            <a:extLst>
              <a:ext uri="{FF2B5EF4-FFF2-40B4-BE49-F238E27FC236}">
                <a16:creationId xmlns:a16="http://schemas.microsoft.com/office/drawing/2014/main" id="{0537DC0A-7A21-405A-AF24-2B61CF92B394}"/>
              </a:ext>
            </a:extLst>
          </p:cNvPr>
          <p:cNvSpPr>
            <a:spLocks noGrp="1"/>
          </p:cNvSpPr>
          <p:nvPr/>
        </p:nvSpPr>
        <p:spPr>
          <a:xfrm>
            <a:off x="400050" y="1362075"/>
            <a:ext cx="10953750" cy="381000"/>
          </a:xfrm>
          <a:prstGeom prst="rect">
            <a:avLst/>
          </a:prstGeom>
          <a:noFill/>
          <a:ln w="0">
            <a:noFill/>
          </a:ln>
        </p:spPr>
        <p:txBody>
          <a:bodyPr anchor="t">
            <a:noAutofit/>
          </a:bodyPr>
          <a:lstStyle/>
          <a:p>
            <a:pPr>
              <a:defRPr sz="1950" b="0">
                <a:solidFill>
                  <a:srgbClr val="121212"/>
                </a:solidFill>
                <a:latin typeface="Times New Roman"/>
                <a:ea typeface="Times New Roman"/>
                <a:cs typeface="Times New Roman"/>
              </a:defRPr>
            </a:pPr>
            <a:r>
              <a:rPr sz="1950" b="0">
                <a:solidFill>
                  <a:srgbClr val="121212"/>
                </a:solidFill>
                <a:latin typeface="Times New Roman"/>
                <a:ea typeface="Times New Roman"/>
                <a:cs typeface="Times New Roman"/>
              </a:rPr>
              <a:t>Main CGPA (12 questions + recent SGPA), 5-fold cross-validation, seed 1</a:t>
            </a:r>
          </a:p>
        </p:txBody>
      </p:sp>
      <p:sp>
        <p:nvSpPr>
          <p:cNvPr id="536" name="Same 1,102 records. Questionnaire: 12 inputs. Main CGPA">
            <a:extLst>
              <a:ext uri="{FF2B5EF4-FFF2-40B4-BE49-F238E27FC236}">
                <a16:creationId xmlns:a16="http://schemas.microsoft.com/office/drawing/2014/main" id="{67D35FFE-1E24-4572-832D-037749D4D1AD}"/>
              </a:ext>
            </a:extLst>
          </p:cNvPr>
          <p:cNvSpPr>
            <a:spLocks noGrp="1"/>
          </p:cNvSpPr>
          <p:nvPr/>
        </p:nvSpPr>
        <p:spPr>
          <a:xfrm>
            <a:off x="400050" y="5830083"/>
            <a:ext cx="11049000" cy="285750"/>
          </a:xfrm>
          <a:prstGeom prst="rect">
            <a:avLst/>
          </a:prstGeom>
          <a:noFill/>
          <a:ln w="0">
            <a:noFill/>
          </a:ln>
        </p:spPr>
        <p:txBody>
          <a:bodyPr anchor="t">
            <a:noAutofit/>
          </a:bodyPr>
          <a:lstStyle/>
          <a:p>
            <a:pPr>
              <a:defRPr sz="1275" b="0">
                <a:solidFill>
                  <a:srgbClr val="585858"/>
                </a:solidFill>
                <a:latin typeface="Times New Roman"/>
                <a:ea typeface="Times New Roman"/>
                <a:cs typeface="Times New Roman"/>
              </a:defRPr>
            </a:pPr>
            <a:r>
              <a:rPr sz="1275" b="0" dirty="0">
                <a:solidFill>
                  <a:srgbClr val="585858"/>
                </a:solidFill>
                <a:latin typeface="Times New Roman"/>
                <a:ea typeface="Times New Roman"/>
                <a:cs typeface="Times New Roman"/>
              </a:rPr>
              <a:t>Before: 1,102 students with a real SGPA. After: 182 answers with a 2–3 band SGPA/CGPA gap removed.</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lang="en-US" dirty="0">
                <a:latin typeface="Times New Roman"/>
                <a:ea typeface="Times New Roman"/>
                <a:cs typeface="Times New Roman"/>
              </a:rPr>
              <a:t>52</a:t>
            </a:r>
            <a:endParaRPr sz="1000" dirty="0">
              <a:latin typeface="Times New Roman"/>
              <a:ea typeface="Times New Roman"/>
              <a:cs typeface="Times New Roman"/>
            </a:endParaRP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a:latin typeface="Times New Roman"/>
                <a:ea typeface="Times New Roman"/>
                <a:cs typeface="Times New Roman"/>
              </a:rPr>
              <a:t>Previous studies and models</a:t>
            </a:r>
          </a:p>
        </p:txBody>
      </p:sp>
      <p:graphicFrame>
        <p:nvGraphicFramePr>
          <p:cNvPr id="539" name="Table 538"/>
          <p:cNvGraphicFramePr/>
          <p:nvPr/>
        </p:nvGraphicFramePr>
        <p:xfrm>
          <a:off x="400050" y="1685925"/>
          <a:ext cx="11391900" cy="3705224"/>
        </p:xfrm>
        <a:graphic>
          <a:graphicData uri="http://schemas.openxmlformats.org/drawingml/2006/table">
            <a:tbl>
              <a:tblPr/>
              <a:tblGrid>
                <a:gridCol w="2381250">
                  <a:extLst>
                    <a:ext uri="{9D8B030D-6E8A-4147-A177-3AD203B41FA5}">
                      <a16:colId xmlns:a16="http://schemas.microsoft.com/office/drawing/2014/main" val="20000"/>
                    </a:ext>
                  </a:extLst>
                </a:gridCol>
                <a:gridCol w="2809875">
                  <a:extLst>
                    <a:ext uri="{9D8B030D-6E8A-4147-A177-3AD203B41FA5}">
                      <a16:colId xmlns:a16="http://schemas.microsoft.com/office/drawing/2014/main" val="20001"/>
                    </a:ext>
                  </a:extLst>
                </a:gridCol>
                <a:gridCol w="3238500">
                  <a:extLst>
                    <a:ext uri="{9D8B030D-6E8A-4147-A177-3AD203B41FA5}">
                      <a16:colId xmlns:a16="http://schemas.microsoft.com/office/drawing/2014/main" val="20002"/>
                    </a:ext>
                  </a:extLst>
                </a:gridCol>
                <a:gridCol w="2962275">
                  <a:extLst>
                    <a:ext uri="{9D8B030D-6E8A-4147-A177-3AD203B41FA5}">
                      <a16:colId xmlns:a16="http://schemas.microsoft.com/office/drawing/2014/main" val="20003"/>
                    </a:ext>
                  </a:extLst>
                </a:gridCol>
              </a:tblGrid>
              <a:tr h="926306">
                <a:tc>
                  <a:txBody>
                    <a:bodyPr/>
                    <a:lstStyle/>
                    <a:p>
                      <a:r>
                        <a:rPr sz="1800" b="1">
                          <a:solidFill>
                            <a:srgbClr val="121212"/>
                          </a:solidFill>
                          <a:latin typeface="Times New Roman"/>
                          <a:ea typeface="Times New Roman"/>
                          <a:cs typeface="Times New Roman"/>
                        </a:rPr>
                        <a:t>Study</a:t>
                      </a:r>
                    </a:p>
                  </a:txBody>
                  <a:tcPr>
                    <a:solidFill>
                      <a:srgbClr val="EEEEEE"/>
                    </a:solidFill>
                  </a:tcPr>
                </a:tc>
                <a:tc>
                  <a:txBody>
                    <a:bodyPr/>
                    <a:lstStyle/>
                    <a:p>
                      <a:r>
                        <a:rPr sz="1800" b="1">
                          <a:solidFill>
                            <a:srgbClr val="121212"/>
                          </a:solidFill>
                          <a:latin typeface="Times New Roman"/>
                          <a:ea typeface="Times New Roman"/>
                          <a:cs typeface="Times New Roman"/>
                        </a:rPr>
                        <a:t>Target / population</a:t>
                      </a:r>
                    </a:p>
                  </a:txBody>
                  <a:tcPr>
                    <a:solidFill>
                      <a:srgbClr val="EEEEEE"/>
                    </a:solidFill>
                  </a:tcPr>
                </a:tc>
                <a:tc>
                  <a:txBody>
                    <a:bodyPr/>
                    <a:lstStyle/>
                    <a:p>
                      <a:r>
                        <a:rPr sz="1800" b="1">
                          <a:solidFill>
                            <a:srgbClr val="121212"/>
                          </a:solidFill>
                          <a:latin typeface="Times New Roman"/>
                          <a:ea typeface="Times New Roman"/>
                          <a:cs typeface="Times New Roman"/>
                        </a:rPr>
                        <a:t>Models</a:t>
                      </a:r>
                    </a:p>
                  </a:txBody>
                  <a:tcPr>
                    <a:solidFill>
                      <a:srgbClr val="EEEEEE"/>
                    </a:solidFill>
                  </a:tcPr>
                </a:tc>
                <a:tc>
                  <a:txBody>
                    <a:bodyPr/>
                    <a:lstStyle/>
                    <a:p>
                      <a:r>
                        <a:rPr sz="1800" b="1">
                          <a:solidFill>
                            <a:srgbClr val="121212"/>
                          </a:solidFill>
                          <a:latin typeface="Times New Roman"/>
                          <a:ea typeface="Times New Roman"/>
                          <a:cs typeface="Times New Roman"/>
                        </a:rPr>
                        <a:t>Reported result</a:t>
                      </a:r>
                    </a:p>
                  </a:txBody>
                  <a:tcPr>
                    <a:solidFill>
                      <a:srgbClr val="EEEEEE"/>
                    </a:solidFill>
                  </a:tcPr>
                </a:tc>
                <a:extLst>
                  <a:ext uri="{0D108BD9-81ED-4DB2-BD59-A6C34878D82A}">
                    <a16:rowId xmlns:a16="http://schemas.microsoft.com/office/drawing/2014/main" val="10000"/>
                  </a:ext>
                </a:extLst>
              </a:tr>
              <a:tr h="926306">
                <a:tc>
                  <a:txBody>
                    <a:bodyPr/>
                    <a:lstStyle/>
                    <a:p>
                      <a:r>
                        <a:rPr sz="1800" b="0">
                          <a:solidFill>
                            <a:srgbClr val="121212"/>
                          </a:solidFill>
                          <a:latin typeface="Times New Roman"/>
                          <a:ea typeface="Times New Roman"/>
                          <a:cs typeface="Times New Roman"/>
                        </a:rPr>
                        <a:t>Ahmed (2024)</a:t>
                      </a:r>
                    </a:p>
                  </a:txBody>
                  <a:tcPr>
                    <a:solidFill>
                      <a:srgbClr val="FFFFFF"/>
                    </a:solidFill>
                  </a:tcPr>
                </a:tc>
                <a:tc>
                  <a:txBody>
                    <a:bodyPr/>
                    <a:lstStyle/>
                    <a:p>
                      <a:r>
                        <a:rPr sz="1800" b="0">
                          <a:solidFill>
                            <a:srgbClr val="121212"/>
                          </a:solidFill>
                          <a:latin typeface="Times New Roman"/>
                          <a:ea typeface="Times New Roman"/>
                          <a:cs typeface="Times New Roman"/>
                        </a:rPr>
                        <a:t>Student performance</a:t>
                      </a:r>
                    </a:p>
                    <a:p>
                      <a:r>
                        <a:rPr sz="1800" b="0">
                          <a:solidFill>
                            <a:srgbClr val="121212"/>
                          </a:solidFill>
                          <a:latin typeface="Times New Roman"/>
                          <a:ea typeface="Times New Roman"/>
                          <a:cs typeface="Times New Roman"/>
                        </a:rPr>
                        <a:t>classification</a:t>
                      </a:r>
                    </a:p>
                  </a:txBody>
                  <a:tcPr>
                    <a:solidFill>
                      <a:srgbClr val="FFFFFF"/>
                    </a:solidFill>
                  </a:tcPr>
                </a:tc>
                <a:tc>
                  <a:txBody>
                    <a:bodyPr/>
                    <a:lstStyle/>
                    <a:p>
                      <a:r>
                        <a:rPr sz="1800" b="0">
                          <a:solidFill>
                            <a:srgbClr val="121212"/>
                          </a:solidFill>
                          <a:latin typeface="Times New Roman"/>
                          <a:ea typeface="Times New Roman"/>
                          <a:cs typeface="Times New Roman"/>
                        </a:rPr>
                        <a:t>SVM, tree, NB, KNN</a:t>
                      </a:r>
                    </a:p>
                    <a:p>
                      <a:r>
                        <a:rPr sz="1800" b="0">
                          <a:solidFill>
                            <a:srgbClr val="121212"/>
                          </a:solidFill>
                          <a:latin typeface="Times New Roman"/>
                          <a:ea typeface="Times New Roman"/>
                          <a:cs typeface="Times New Roman"/>
                        </a:rPr>
                        <a:t>with K-means</a:t>
                      </a:r>
                    </a:p>
                  </a:txBody>
                  <a:tcPr>
                    <a:solidFill>
                      <a:srgbClr val="FFFFFF"/>
                    </a:solidFill>
                  </a:tcPr>
                </a:tc>
                <a:tc>
                  <a:txBody>
                    <a:bodyPr/>
                    <a:lstStyle/>
                    <a:p>
                      <a:r>
                        <a:rPr sz="1800" b="0">
                          <a:solidFill>
                            <a:srgbClr val="121212"/>
                          </a:solidFill>
                          <a:latin typeface="Times New Roman"/>
                          <a:ea typeface="Times New Roman"/>
                          <a:cs typeface="Times New Roman"/>
                        </a:rPr>
                        <a:t>SVM accuracy</a:t>
                      </a:r>
                    </a:p>
                    <a:p>
                      <a:r>
                        <a:rPr sz="1800" b="0">
                          <a:solidFill>
                            <a:srgbClr val="121212"/>
                          </a:solidFill>
                          <a:latin typeface="Times New Roman"/>
                          <a:ea typeface="Times New Roman"/>
                          <a:cs typeface="Times New Roman"/>
                        </a:rPr>
                        <a:t>96.0%</a:t>
                      </a:r>
                    </a:p>
                  </a:txBody>
                  <a:tcPr>
                    <a:solidFill>
                      <a:srgbClr val="FFFFFF"/>
                    </a:solidFill>
                  </a:tcPr>
                </a:tc>
                <a:extLst>
                  <a:ext uri="{0D108BD9-81ED-4DB2-BD59-A6C34878D82A}">
                    <a16:rowId xmlns:a16="http://schemas.microsoft.com/office/drawing/2014/main" val="10001"/>
                  </a:ext>
                </a:extLst>
              </a:tr>
              <a:tr h="926306">
                <a:tc>
                  <a:txBody>
                    <a:bodyPr/>
                    <a:lstStyle/>
                    <a:p>
                      <a:r>
                        <a:rPr sz="1800" b="0">
                          <a:solidFill>
                            <a:srgbClr val="121212"/>
                          </a:solidFill>
                          <a:latin typeface="Times New Roman"/>
                          <a:ea typeface="Times New Roman"/>
                          <a:cs typeface="Times New Roman"/>
                        </a:rPr>
                        <a:t>Maruf et al.</a:t>
                      </a:r>
                    </a:p>
                    <a:p>
                      <a:r>
                        <a:rPr sz="1800" b="0">
                          <a:solidFill>
                            <a:srgbClr val="121212"/>
                          </a:solidFill>
                          <a:latin typeface="Times New Roman"/>
                          <a:ea typeface="Times New Roman"/>
                          <a:cs typeface="Times New Roman"/>
                        </a:rPr>
                        <a:t>(ICCIT 2024)</a:t>
                      </a:r>
                    </a:p>
                  </a:txBody>
                  <a:tcPr>
                    <a:solidFill>
                      <a:srgbClr val="FFFFFF"/>
                    </a:solidFill>
                  </a:tcPr>
                </a:tc>
                <a:tc>
                  <a:txBody>
                    <a:bodyPr/>
                    <a:lstStyle/>
                    <a:p>
                      <a:r>
                        <a:rPr sz="1800" b="0">
                          <a:solidFill>
                            <a:srgbClr val="121212"/>
                          </a:solidFill>
                          <a:latin typeface="Times New Roman"/>
                          <a:ea typeface="Times New Roman"/>
                          <a:cs typeface="Times New Roman"/>
                        </a:rPr>
                        <a:t>Bangladesh</a:t>
                      </a:r>
                    </a:p>
                    <a:p>
                      <a:r>
                        <a:rPr sz="1800" b="0">
                          <a:solidFill>
                            <a:srgbClr val="121212"/>
                          </a:solidFill>
                          <a:latin typeface="Times New Roman"/>
                          <a:ea typeface="Times New Roman"/>
                          <a:cs typeface="Times New Roman"/>
                        </a:rPr>
                        <a:t>SSC / HSC</a:t>
                      </a:r>
                    </a:p>
                  </a:txBody>
                  <a:tcPr>
                    <a:solidFill>
                      <a:srgbClr val="FFFFFF"/>
                    </a:solidFill>
                  </a:tcPr>
                </a:tc>
                <a:tc>
                  <a:txBody>
                    <a:bodyPr/>
                    <a:lstStyle/>
                    <a:p>
                      <a:r>
                        <a:rPr sz="1800" b="0">
                          <a:solidFill>
                            <a:srgbClr val="121212"/>
                          </a:solidFill>
                          <a:latin typeface="Times New Roman"/>
                          <a:ea typeface="Times New Roman"/>
                          <a:cs typeface="Times New Roman"/>
                        </a:rPr>
                        <a:t>Tuned classifiers</a:t>
                      </a:r>
                    </a:p>
                    <a:p>
                      <a:r>
                        <a:rPr sz="1800" b="0">
                          <a:solidFill>
                            <a:srgbClr val="121212"/>
                          </a:solidFill>
                          <a:latin typeface="Times New Roman"/>
                          <a:ea typeface="Times New Roman"/>
                          <a:cs typeface="Times New Roman"/>
                        </a:rPr>
                        <a:t>and stacking</a:t>
                      </a:r>
                    </a:p>
                  </a:txBody>
                  <a:tcPr>
                    <a:solidFill>
                      <a:srgbClr val="FFFFFF"/>
                    </a:solidFill>
                  </a:tcPr>
                </a:tc>
                <a:tc>
                  <a:txBody>
                    <a:bodyPr/>
                    <a:lstStyle/>
                    <a:p>
                      <a:r>
                        <a:rPr sz="1800" b="0">
                          <a:solidFill>
                            <a:srgbClr val="121212"/>
                          </a:solidFill>
                          <a:latin typeface="Times New Roman"/>
                          <a:ea typeface="Times New Roman"/>
                          <a:cs typeface="Times New Roman"/>
                        </a:rPr>
                        <a:t>82.23% SSC</a:t>
                      </a:r>
                    </a:p>
                    <a:p>
                      <a:r>
                        <a:rPr sz="1800" b="0">
                          <a:solidFill>
                            <a:srgbClr val="121212"/>
                          </a:solidFill>
                          <a:latin typeface="Times New Roman"/>
                          <a:ea typeface="Times New Roman"/>
                          <a:cs typeface="Times New Roman"/>
                        </a:rPr>
                        <a:t>86.89% HSC</a:t>
                      </a:r>
                    </a:p>
                  </a:txBody>
                  <a:tcPr>
                    <a:solidFill>
                      <a:srgbClr val="FFFFFF"/>
                    </a:solidFill>
                  </a:tcPr>
                </a:tc>
                <a:extLst>
                  <a:ext uri="{0D108BD9-81ED-4DB2-BD59-A6C34878D82A}">
                    <a16:rowId xmlns:a16="http://schemas.microsoft.com/office/drawing/2014/main" val="10002"/>
                  </a:ext>
                </a:extLst>
              </a:tr>
              <a:tr h="926306">
                <a:tc>
                  <a:txBody>
                    <a:bodyPr/>
                    <a:lstStyle/>
                    <a:p>
                      <a:r>
                        <a:rPr sz="1800" b="0">
                          <a:solidFill>
                            <a:srgbClr val="121212"/>
                          </a:solidFill>
                          <a:latin typeface="Times New Roman"/>
                          <a:ea typeface="Times New Roman"/>
                          <a:cs typeface="Times New Roman"/>
                        </a:rPr>
                        <a:t>Albonny &amp; Duru</a:t>
                      </a:r>
                    </a:p>
                    <a:p>
                      <a:r>
                        <a:rPr sz="1800" b="0">
                          <a:solidFill>
                            <a:srgbClr val="121212"/>
                          </a:solidFill>
                          <a:latin typeface="Times New Roman"/>
                          <a:ea typeface="Times New Roman"/>
                          <a:cs typeface="Times New Roman"/>
                        </a:rPr>
                        <a:t>(2026)</a:t>
                      </a:r>
                    </a:p>
                  </a:txBody>
                  <a:tcPr>
                    <a:solidFill>
                      <a:srgbClr val="FFFFFF"/>
                    </a:solidFill>
                  </a:tcPr>
                </a:tc>
                <a:tc>
                  <a:txBody>
                    <a:bodyPr/>
                    <a:lstStyle/>
                    <a:p>
                      <a:r>
                        <a:rPr sz="1800" b="0">
                          <a:solidFill>
                            <a:srgbClr val="121212"/>
                          </a:solidFill>
                          <a:latin typeface="Times New Roman"/>
                          <a:ea typeface="Times New Roman"/>
                          <a:cs typeface="Times New Roman"/>
                        </a:rPr>
                        <a:t>Bangladesh school</a:t>
                      </a:r>
                    </a:p>
                    <a:p>
                      <a:r>
                        <a:rPr sz="1800" b="0">
                          <a:solidFill>
                            <a:srgbClr val="121212"/>
                          </a:solidFill>
                          <a:latin typeface="Times New Roman"/>
                          <a:ea typeface="Times New Roman"/>
                          <a:cs typeface="Times New Roman"/>
                        </a:rPr>
                        <a:t>average course grade</a:t>
                      </a:r>
                    </a:p>
                  </a:txBody>
                  <a:tcPr>
                    <a:solidFill>
                      <a:srgbClr val="FFFFFF"/>
                    </a:solidFill>
                  </a:tcPr>
                </a:tc>
                <a:tc>
                  <a:txBody>
                    <a:bodyPr/>
                    <a:lstStyle/>
                    <a:p>
                      <a:r>
                        <a:rPr sz="1800" b="0">
                          <a:solidFill>
                            <a:srgbClr val="121212"/>
                          </a:solidFill>
                          <a:latin typeface="Times New Roman"/>
                          <a:ea typeface="Times New Roman"/>
                          <a:cs typeface="Times New Roman"/>
                        </a:rPr>
                        <a:t>Linear regression,</a:t>
                      </a:r>
                    </a:p>
                    <a:p>
                      <a:r>
                        <a:rPr sz="1800" b="0">
                          <a:solidFill>
                            <a:srgbClr val="121212"/>
                          </a:solidFill>
                          <a:latin typeface="Times New Roman"/>
                          <a:ea typeface="Times New Roman"/>
                          <a:cs typeface="Times New Roman"/>
                        </a:rPr>
                        <a:t>tree, RF, DNN</a:t>
                      </a:r>
                    </a:p>
                  </a:txBody>
                  <a:tcPr>
                    <a:solidFill>
                      <a:srgbClr val="FFFFFF"/>
                    </a:solidFill>
                  </a:tcPr>
                </a:tc>
                <a:tc>
                  <a:txBody>
                    <a:bodyPr/>
                    <a:lstStyle/>
                    <a:p>
                      <a:r>
                        <a:rPr sz="1800" b="0">
                          <a:solidFill>
                            <a:srgbClr val="121212"/>
                          </a:solidFill>
                          <a:latin typeface="Times New Roman"/>
                          <a:ea typeface="Times New Roman"/>
                          <a:cs typeface="Times New Roman"/>
                        </a:rPr>
                        <a:t>RF R² = 0.933</a:t>
                      </a:r>
                    </a:p>
                    <a:p>
                      <a:r>
                        <a:rPr sz="1800" b="0">
                          <a:solidFill>
                            <a:srgbClr val="121212"/>
                          </a:solidFill>
                          <a:latin typeface="Times New Roman"/>
                          <a:ea typeface="Times New Roman"/>
                          <a:cs typeface="Times New Roman"/>
                        </a:rPr>
                        <a:t>Regression metric</a:t>
                      </a:r>
                    </a:p>
                  </a:txBody>
                  <a:tcPr>
                    <a:solidFill>
                      <a:srgbClr val="FFFFFF"/>
                    </a:solidFill>
                  </a:tcPr>
                </a:tc>
                <a:extLst>
                  <a:ext uri="{0D108BD9-81ED-4DB2-BD59-A6C34878D82A}">
                    <a16:rowId xmlns:a16="http://schemas.microsoft.com/office/drawing/2014/main" val="10003"/>
                  </a:ext>
                </a:extLst>
              </a:tr>
            </a:tbl>
          </a:graphicData>
        </a:graphic>
      </p:graphicFrame>
      <p:sp>
        <p:nvSpPr>
          <p:cNvPr id="535" name="Different populations, targets and evaluation designs. ">
            <a:extLst>
              <a:ext uri="{FF2B5EF4-FFF2-40B4-BE49-F238E27FC236}">
                <a16:creationId xmlns:a16="http://schemas.microsoft.com/office/drawing/2014/main" id="{139F709B-C0A1-42C0-B530-2D6BCA9B0DB6}"/>
              </a:ext>
            </a:extLst>
          </p:cNvPr>
          <p:cNvSpPr>
            <a:spLocks noGrp="1"/>
          </p:cNvSpPr>
          <p:nvPr/>
        </p:nvSpPr>
        <p:spPr>
          <a:xfrm>
            <a:off x="400050" y="6057900"/>
            <a:ext cx="11049000" cy="285750"/>
          </a:xfrm>
          <a:prstGeom prst="rect">
            <a:avLst/>
          </a:prstGeom>
          <a:noFill/>
          <a:ln w="0">
            <a:noFill/>
          </a:ln>
        </p:spPr>
        <p:txBody>
          <a:bodyPr anchor="t">
            <a:noAutofit/>
          </a:bodyPr>
          <a:lstStyle/>
          <a:p>
            <a:pPr>
              <a:defRPr sz="1275" b="0">
                <a:solidFill>
                  <a:srgbClr val="585858"/>
                </a:solidFill>
                <a:latin typeface="Times New Roman"/>
                <a:ea typeface="Times New Roman"/>
                <a:cs typeface="Times New Roman"/>
              </a:defRPr>
            </a:pPr>
            <a:r>
              <a:rPr sz="1275" b="0">
                <a:solidFill>
                  <a:srgbClr val="585858"/>
                </a:solidFill>
                <a:latin typeface="Times New Roman"/>
                <a:ea typeface="Times New Roman"/>
                <a:cs typeface="Times New Roman"/>
              </a:rPr>
              <a:t>Different populations, targets and evaluation designs. Source links in speaker notes.</a:t>
            </a:r>
          </a:p>
        </p:txBody>
      </p:sp>
    </p:spTree>
    <p:extLst>
      <p:ext uri="{BB962C8B-B14F-4D97-AF65-F5344CB8AC3E}">
        <p14:creationId xmlns:p14="http://schemas.microsoft.com/office/powerpoint/2010/main" val="229407429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lang="en-US" dirty="0">
                <a:latin typeface="Times New Roman"/>
                <a:ea typeface="Times New Roman"/>
                <a:cs typeface="Times New Roman"/>
              </a:rPr>
              <a:t>53</a:t>
            </a:r>
            <a:endParaRPr sz="1000" dirty="0">
              <a:latin typeface="Times New Roman"/>
              <a:ea typeface="Times New Roman"/>
              <a:cs typeface="Times New Roman"/>
            </a:endParaRP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a:latin typeface="Times New Roman"/>
                <a:ea typeface="Times New Roman"/>
                <a:cs typeface="Times New Roman"/>
              </a:rPr>
              <a:t>Previous work and our WEKA models</a:t>
            </a:r>
          </a:p>
        </p:txBody>
      </p:sp>
      <p:sp>
        <p:nvSpPr>
          <p:cNvPr id="534" name="Rectangle 533">
            <a:extLst>
              <a:ext uri="{FF2B5EF4-FFF2-40B4-BE49-F238E27FC236}">
                <a16:creationId xmlns:a16="http://schemas.microsoft.com/office/drawing/2014/main" id="{A34A934E-86A0-43AD-8E79-B4575F2F88C8}"/>
              </a:ext>
            </a:extLst>
          </p:cNvPr>
          <p:cNvSpPr>
            <a:spLocks noGrp="1"/>
          </p:cNvSpPr>
          <p:nvPr/>
        </p:nvSpPr>
        <p:spPr>
          <a:xfrm>
            <a:off x="400050" y="1943100"/>
            <a:ext cx="5286375" cy="2952750"/>
          </a:xfrm>
          <a:prstGeom prst="rect">
            <a:avLst/>
          </a:prstGeom>
          <a:solidFill>
            <a:srgbClr val="F1F1F1"/>
          </a:solidFill>
          <a:ln w="0">
            <a:noFill/>
          </a:ln>
        </p:spPr>
        <p:txBody>
          <a:bodyPr/>
          <a:lstStyle/>
          <a:p>
            <a:endParaRPr lang="en-US"/>
          </a:p>
        </p:txBody>
      </p:sp>
      <p:sp>
        <p:nvSpPr>
          <p:cNvPr id="535" name="Previous work">
            <a:extLst>
              <a:ext uri="{FF2B5EF4-FFF2-40B4-BE49-F238E27FC236}">
                <a16:creationId xmlns:a16="http://schemas.microsoft.com/office/drawing/2014/main" id="{4304B167-C6CE-4F2F-935B-68A1A55B379A}"/>
              </a:ext>
            </a:extLst>
          </p:cNvPr>
          <p:cNvSpPr>
            <a:spLocks noGrp="1"/>
          </p:cNvSpPr>
          <p:nvPr/>
        </p:nvSpPr>
        <p:spPr>
          <a:xfrm>
            <a:off x="552450" y="2085975"/>
            <a:ext cx="4981575" cy="428625"/>
          </a:xfrm>
          <a:prstGeom prst="rect">
            <a:avLst/>
          </a:prstGeom>
          <a:noFill/>
          <a:ln w="0">
            <a:noFill/>
          </a:ln>
        </p:spPr>
        <p:txBody>
          <a:bodyPr anchor="t">
            <a:noAutofit/>
          </a:bodyPr>
          <a:lstStyle/>
          <a:p>
            <a:pPr>
              <a:defRPr sz="2100" b="0">
                <a:solidFill>
                  <a:srgbClr val="121212"/>
                </a:solidFill>
                <a:latin typeface="Times New Roman"/>
                <a:ea typeface="Times New Roman"/>
                <a:cs typeface="Times New Roman"/>
              </a:defRPr>
            </a:pPr>
            <a:r>
              <a:rPr sz="2100" b="0">
                <a:solidFill>
                  <a:srgbClr val="121212"/>
                </a:solidFill>
                <a:latin typeface="Times New Roman"/>
                <a:ea typeface="Times New Roman"/>
                <a:cs typeface="Times New Roman"/>
              </a:rPr>
              <a:t>Previous work</a:t>
            </a:r>
          </a:p>
        </p:txBody>
      </p:sp>
      <p:sp>
        <p:nvSpPr>
          <p:cNvPr id="536" name="School results and student performance&#10;SVM, trees and e">
            <a:extLst>
              <a:ext uri="{FF2B5EF4-FFF2-40B4-BE49-F238E27FC236}">
                <a16:creationId xmlns:a16="http://schemas.microsoft.com/office/drawing/2014/main" id="{FC9042EC-6B6F-44DB-AB55-02DB72FABD6D}"/>
              </a:ext>
            </a:extLst>
          </p:cNvPr>
          <p:cNvSpPr>
            <a:spLocks noGrp="1"/>
          </p:cNvSpPr>
          <p:nvPr/>
        </p:nvSpPr>
        <p:spPr>
          <a:xfrm>
            <a:off x="552450" y="2505075"/>
            <a:ext cx="4981575" cy="238125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School results and student performance</a:t>
            </a:r>
          </a:p>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SVM, trees and ensembles</a:t>
            </a:r>
          </a:p>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Classification and regression targets</a:t>
            </a:r>
          </a:p>
        </p:txBody>
      </p:sp>
      <p:sp>
        <p:nvSpPr>
          <p:cNvPr id="537" name="Rectangle 536">
            <a:extLst>
              <a:ext uri="{FF2B5EF4-FFF2-40B4-BE49-F238E27FC236}">
                <a16:creationId xmlns:a16="http://schemas.microsoft.com/office/drawing/2014/main" id="{1C9A8D04-4A20-4DAA-B336-7F081ED997D7}"/>
              </a:ext>
            </a:extLst>
          </p:cNvPr>
          <p:cNvSpPr>
            <a:spLocks noGrp="1"/>
          </p:cNvSpPr>
          <p:nvPr/>
        </p:nvSpPr>
        <p:spPr>
          <a:xfrm>
            <a:off x="6286500" y="1943100"/>
            <a:ext cx="5505450" cy="2952750"/>
          </a:xfrm>
          <a:prstGeom prst="rect">
            <a:avLst/>
          </a:prstGeom>
          <a:solidFill>
            <a:srgbClr val="F1F1F1"/>
          </a:solidFill>
          <a:ln w="0">
            <a:noFill/>
          </a:ln>
        </p:spPr>
        <p:txBody>
          <a:bodyPr/>
          <a:lstStyle/>
          <a:p>
            <a:endParaRPr lang="en-US"/>
          </a:p>
        </p:txBody>
      </p:sp>
      <p:sp>
        <p:nvSpPr>
          <p:cNvPr id="538" name="This project">
            <a:extLst>
              <a:ext uri="{FF2B5EF4-FFF2-40B4-BE49-F238E27FC236}">
                <a16:creationId xmlns:a16="http://schemas.microsoft.com/office/drawing/2014/main" id="{6E5F86F6-6F30-4E68-AE9E-177B9ADB8C44}"/>
              </a:ext>
            </a:extLst>
          </p:cNvPr>
          <p:cNvSpPr>
            <a:spLocks noGrp="1"/>
          </p:cNvSpPr>
          <p:nvPr/>
        </p:nvSpPr>
        <p:spPr>
          <a:xfrm>
            <a:off x="6438900" y="2085975"/>
            <a:ext cx="5200650" cy="428625"/>
          </a:xfrm>
          <a:prstGeom prst="rect">
            <a:avLst/>
          </a:prstGeom>
          <a:noFill/>
          <a:ln w="0">
            <a:noFill/>
          </a:ln>
        </p:spPr>
        <p:txBody>
          <a:bodyPr anchor="t">
            <a:noAutofit/>
          </a:bodyPr>
          <a:lstStyle/>
          <a:p>
            <a:pPr>
              <a:defRPr sz="2100" b="0">
                <a:solidFill>
                  <a:srgbClr val="121212"/>
                </a:solidFill>
                <a:latin typeface="Times New Roman"/>
                <a:ea typeface="Times New Roman"/>
                <a:cs typeface="Times New Roman"/>
              </a:defRPr>
            </a:pPr>
            <a:r>
              <a:rPr sz="2100" b="0">
                <a:solidFill>
                  <a:srgbClr val="121212"/>
                </a:solidFill>
                <a:latin typeface="Times New Roman"/>
                <a:ea typeface="Times New Roman"/>
                <a:cs typeface="Times New Roman"/>
              </a:rPr>
              <a:t>This project</a:t>
            </a:r>
          </a:p>
        </p:txBody>
      </p:sp>
      <p:sp>
        <p:nvSpPr>
          <p:cNvPr id="539" name="Engineering students, four CGPA bands&#10;J48, Random Fores">
            <a:extLst>
              <a:ext uri="{FF2B5EF4-FFF2-40B4-BE49-F238E27FC236}">
                <a16:creationId xmlns:a16="http://schemas.microsoft.com/office/drawing/2014/main" id="{464C491C-2620-43C6-976C-51E73DAAA7FA}"/>
              </a:ext>
            </a:extLst>
          </p:cNvPr>
          <p:cNvSpPr>
            <a:spLocks noGrp="1"/>
          </p:cNvSpPr>
          <p:nvPr/>
        </p:nvSpPr>
        <p:spPr>
          <a:xfrm>
            <a:off x="6438900" y="2505075"/>
            <a:ext cx="5200650" cy="238125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Engineering students, four CGPA bands</a:t>
            </a:r>
          </a:p>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J48, Random Forest, SMO, Logistic,</a:t>
            </a:r>
          </a:p>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Naive Bayes and ZeroR</a:t>
            </a:r>
          </a:p>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WEKA 5-fold comparison</a:t>
            </a:r>
          </a:p>
        </p:txBody>
      </p:sp>
      <p:sp>
        <p:nvSpPr>
          <p:cNvPr id="540" name="Different datasets and targets; reported scores are not">
            <a:extLst>
              <a:ext uri="{FF2B5EF4-FFF2-40B4-BE49-F238E27FC236}">
                <a16:creationId xmlns:a16="http://schemas.microsoft.com/office/drawing/2014/main" id="{570AEDB2-E15A-4070-8EDB-1C404B577E22}"/>
              </a:ext>
            </a:extLst>
          </p:cNvPr>
          <p:cNvSpPr>
            <a:spLocks noGrp="1"/>
          </p:cNvSpPr>
          <p:nvPr/>
        </p:nvSpPr>
        <p:spPr>
          <a:xfrm>
            <a:off x="400050" y="6057900"/>
            <a:ext cx="11049000" cy="285750"/>
          </a:xfrm>
          <a:prstGeom prst="rect">
            <a:avLst/>
          </a:prstGeom>
          <a:noFill/>
          <a:ln w="0">
            <a:noFill/>
          </a:ln>
        </p:spPr>
        <p:txBody>
          <a:bodyPr anchor="t">
            <a:noAutofit/>
          </a:bodyPr>
          <a:lstStyle/>
          <a:p>
            <a:pPr>
              <a:defRPr sz="1275" b="0">
                <a:solidFill>
                  <a:srgbClr val="585858"/>
                </a:solidFill>
                <a:latin typeface="Times New Roman"/>
                <a:ea typeface="Times New Roman"/>
                <a:cs typeface="Times New Roman"/>
              </a:defRPr>
            </a:pPr>
            <a:r>
              <a:rPr sz="1275" b="0">
                <a:solidFill>
                  <a:srgbClr val="585858"/>
                </a:solidFill>
                <a:latin typeface="Times New Roman"/>
                <a:ea typeface="Times New Roman"/>
                <a:cs typeface="Times New Roman"/>
              </a:rPr>
              <a:t>Different datasets and targets; reported scores are not directly comparable.</a:t>
            </a:r>
          </a:p>
        </p:txBody>
      </p:sp>
    </p:spTree>
    <p:extLst>
      <p:ext uri="{BB962C8B-B14F-4D97-AF65-F5344CB8AC3E}">
        <p14:creationId xmlns:p14="http://schemas.microsoft.com/office/powerpoint/2010/main" val="409010973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lang="en-US" dirty="0">
                <a:latin typeface="Times New Roman"/>
                <a:ea typeface="Times New Roman"/>
                <a:cs typeface="Times New Roman"/>
              </a:rPr>
              <a:t>54</a:t>
            </a:r>
            <a:endParaRPr sz="1000" dirty="0">
              <a:latin typeface="Times New Roman"/>
              <a:ea typeface="Times New Roman"/>
              <a:cs typeface="Times New Roman"/>
            </a:endParaRP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a:latin typeface="Times New Roman"/>
                <a:ea typeface="Times New Roman"/>
                <a:cs typeface="Times New Roman"/>
              </a:rPr>
              <a:t>What did we learn?</a:t>
            </a:r>
          </a:p>
        </p:txBody>
      </p:sp>
      <p:sp>
        <p:nvSpPr>
          <p:cNvPr id="534" name="•">
            <a:extLst>
              <a:ext uri="{FF2B5EF4-FFF2-40B4-BE49-F238E27FC236}">
                <a16:creationId xmlns:a16="http://schemas.microsoft.com/office/drawing/2014/main" id="{F3FD6801-B02F-41C1-A065-00F6308ECE50}"/>
              </a:ext>
            </a:extLst>
          </p:cNvPr>
          <p:cNvSpPr>
            <a:spLocks noGrp="1"/>
          </p:cNvSpPr>
          <p:nvPr/>
        </p:nvSpPr>
        <p:spPr>
          <a:xfrm>
            <a:off x="466725" y="1524000"/>
            <a:ext cx="238125" cy="400050"/>
          </a:xfrm>
          <a:prstGeom prst="rect">
            <a:avLst/>
          </a:prstGeom>
          <a:noFill/>
          <a:ln w="0">
            <a:noFill/>
          </a:ln>
        </p:spPr>
        <p:txBody>
          <a:bodyPr anchor="t">
            <a:noAutofit/>
          </a:bodyPr>
          <a:lstStyle/>
          <a:p>
            <a:pPr>
              <a:defRPr sz="2025" b="0">
                <a:solidFill>
                  <a:srgbClr val="121212"/>
                </a:solidFill>
                <a:latin typeface="Times New Roman"/>
                <a:ea typeface="Times New Roman"/>
                <a:cs typeface="Times New Roman"/>
              </a:defRPr>
            </a:pPr>
            <a:r>
              <a:rPr sz="2025" b="0">
                <a:solidFill>
                  <a:srgbClr val="121212"/>
                </a:solidFill>
                <a:latin typeface="Times New Roman"/>
                <a:ea typeface="Times New Roman"/>
                <a:cs typeface="Times New Roman"/>
              </a:rPr>
              <a:t>•</a:t>
            </a:r>
          </a:p>
        </p:txBody>
      </p:sp>
      <p:sp>
        <p:nvSpPr>
          <p:cNvPr id="535" name="Student answers vary across academic and lifestyle ques">
            <a:extLst>
              <a:ext uri="{FF2B5EF4-FFF2-40B4-BE49-F238E27FC236}">
                <a16:creationId xmlns:a16="http://schemas.microsoft.com/office/drawing/2014/main" id="{BDD7A629-AFE1-45FB-B720-A6FDACDAD5C5}"/>
              </a:ext>
            </a:extLst>
          </p:cNvPr>
          <p:cNvSpPr>
            <a:spLocks noGrp="1"/>
          </p:cNvSpPr>
          <p:nvPr/>
        </p:nvSpPr>
        <p:spPr>
          <a:xfrm>
            <a:off x="809625" y="1524000"/>
            <a:ext cx="10572750" cy="762000"/>
          </a:xfrm>
          <a:prstGeom prst="rect">
            <a:avLst/>
          </a:prstGeom>
          <a:noFill/>
          <a:ln w="0">
            <a:noFill/>
          </a:ln>
        </p:spPr>
        <p:txBody>
          <a:bodyPr anchor="t">
            <a:noAutofit/>
          </a:bodyPr>
          <a:lstStyle/>
          <a:p>
            <a:pPr>
              <a:defRPr sz="2025" b="0">
                <a:solidFill>
                  <a:srgbClr val="121212"/>
                </a:solidFill>
                <a:latin typeface="Times New Roman"/>
                <a:ea typeface="Times New Roman"/>
                <a:cs typeface="Times New Roman"/>
              </a:defRPr>
            </a:pPr>
            <a:r>
              <a:rPr sz="2025" b="0">
                <a:solidFill>
                  <a:srgbClr val="121212"/>
                </a:solidFill>
                <a:latin typeface="Times New Roman"/>
                <a:ea typeface="Times New Roman"/>
                <a:cs typeface="Times New Roman"/>
              </a:rPr>
              <a:t>Checking SGPA against CGPA removed 182 unreliable answers.</a:t>
            </a:r>
          </a:p>
        </p:txBody>
      </p:sp>
      <p:sp>
        <p:nvSpPr>
          <p:cNvPr id="536" name="•">
            <a:extLst>
              <a:ext uri="{FF2B5EF4-FFF2-40B4-BE49-F238E27FC236}">
                <a16:creationId xmlns:a16="http://schemas.microsoft.com/office/drawing/2014/main" id="{569162A9-4B84-4D3C-9502-8F4A151FC543}"/>
              </a:ext>
            </a:extLst>
          </p:cNvPr>
          <p:cNvSpPr>
            <a:spLocks noGrp="1"/>
          </p:cNvSpPr>
          <p:nvPr/>
        </p:nvSpPr>
        <p:spPr>
          <a:xfrm>
            <a:off x="466725" y="2362200"/>
            <a:ext cx="238125" cy="400050"/>
          </a:xfrm>
          <a:prstGeom prst="rect">
            <a:avLst/>
          </a:prstGeom>
          <a:noFill/>
          <a:ln w="0">
            <a:noFill/>
          </a:ln>
        </p:spPr>
        <p:txBody>
          <a:bodyPr anchor="t">
            <a:noAutofit/>
          </a:bodyPr>
          <a:lstStyle/>
          <a:p>
            <a:pPr>
              <a:defRPr sz="2025" b="0">
                <a:solidFill>
                  <a:srgbClr val="121212"/>
                </a:solidFill>
                <a:latin typeface="Times New Roman"/>
                <a:ea typeface="Times New Roman"/>
                <a:cs typeface="Times New Roman"/>
              </a:defRPr>
            </a:pPr>
            <a:r>
              <a:rPr sz="2025" b="0">
                <a:solidFill>
                  <a:srgbClr val="121212"/>
                </a:solidFill>
                <a:latin typeface="Times New Roman"/>
                <a:ea typeface="Times New Roman"/>
                <a:cs typeface="Times New Roman"/>
              </a:rPr>
              <a:t>•</a:t>
            </a:r>
          </a:p>
        </p:txBody>
      </p:sp>
      <p:sp>
        <p:nvSpPr>
          <p:cNvPr id="537" name="Desired department, attendance and outside commitments ">
            <a:extLst>
              <a:ext uri="{FF2B5EF4-FFF2-40B4-BE49-F238E27FC236}">
                <a16:creationId xmlns:a16="http://schemas.microsoft.com/office/drawing/2014/main" id="{641283A1-E46A-449F-845D-CDEE87D1641E}"/>
              </a:ext>
            </a:extLst>
          </p:cNvPr>
          <p:cNvSpPr>
            <a:spLocks noGrp="1"/>
          </p:cNvSpPr>
          <p:nvPr/>
        </p:nvSpPr>
        <p:spPr>
          <a:xfrm>
            <a:off x="809625" y="2362200"/>
            <a:ext cx="10572750" cy="762000"/>
          </a:xfrm>
          <a:prstGeom prst="rect">
            <a:avLst/>
          </a:prstGeom>
          <a:noFill/>
          <a:ln w="0">
            <a:noFill/>
          </a:ln>
        </p:spPr>
        <p:txBody>
          <a:bodyPr anchor="t">
            <a:noAutofit/>
          </a:bodyPr>
          <a:lstStyle/>
          <a:p>
            <a:pPr>
              <a:defRPr sz="2025" b="0">
                <a:solidFill>
                  <a:srgbClr val="121212"/>
                </a:solidFill>
                <a:latin typeface="Times New Roman"/>
                <a:ea typeface="Times New Roman"/>
                <a:cs typeface="Times New Roman"/>
              </a:defRPr>
            </a:pPr>
            <a:r>
              <a:rPr sz="2025" b="0">
                <a:solidFill>
                  <a:srgbClr val="121212"/>
                </a:solidFill>
                <a:latin typeface="Times New Roman"/>
                <a:ea typeface="Times New Roman"/>
                <a:cs typeface="Times New Roman"/>
              </a:rPr>
              <a:t>Desired department, attendance and outside commitments show the clearest CGPA associations.</a:t>
            </a:r>
          </a:p>
        </p:txBody>
      </p:sp>
      <p:sp>
        <p:nvSpPr>
          <p:cNvPr id="538" name="•">
            <a:extLst>
              <a:ext uri="{FF2B5EF4-FFF2-40B4-BE49-F238E27FC236}">
                <a16:creationId xmlns:a16="http://schemas.microsoft.com/office/drawing/2014/main" id="{ECAC0E3D-EFEE-44F0-AA16-E0C058C2333D}"/>
              </a:ext>
            </a:extLst>
          </p:cNvPr>
          <p:cNvSpPr>
            <a:spLocks noGrp="1"/>
          </p:cNvSpPr>
          <p:nvPr/>
        </p:nvSpPr>
        <p:spPr>
          <a:xfrm>
            <a:off x="466725" y="3200400"/>
            <a:ext cx="238125" cy="400050"/>
          </a:xfrm>
          <a:prstGeom prst="rect">
            <a:avLst/>
          </a:prstGeom>
          <a:noFill/>
          <a:ln w="0">
            <a:noFill/>
          </a:ln>
        </p:spPr>
        <p:txBody>
          <a:bodyPr anchor="t">
            <a:noAutofit/>
          </a:bodyPr>
          <a:lstStyle/>
          <a:p>
            <a:pPr>
              <a:defRPr sz="2025" b="0">
                <a:solidFill>
                  <a:srgbClr val="121212"/>
                </a:solidFill>
                <a:latin typeface="Times New Roman"/>
                <a:ea typeface="Times New Roman"/>
                <a:cs typeface="Times New Roman"/>
              </a:defRPr>
            </a:pPr>
            <a:r>
              <a:rPr sz="2025" b="0">
                <a:solidFill>
                  <a:srgbClr val="121212"/>
                </a:solidFill>
                <a:latin typeface="Times New Roman"/>
                <a:ea typeface="Times New Roman"/>
                <a:cs typeface="Times New Roman"/>
              </a:rPr>
              <a:t>•</a:t>
            </a:r>
          </a:p>
        </p:txBody>
      </p:sp>
      <p:sp>
        <p:nvSpPr>
          <p:cNvPr id="539" name="Questionnaire-only classification stays close to the ba">
            <a:extLst>
              <a:ext uri="{FF2B5EF4-FFF2-40B4-BE49-F238E27FC236}">
                <a16:creationId xmlns:a16="http://schemas.microsoft.com/office/drawing/2014/main" id="{B240F353-BB2C-4A33-AE2F-F04CFF3FC9FB}"/>
              </a:ext>
            </a:extLst>
          </p:cNvPr>
          <p:cNvSpPr>
            <a:spLocks noGrp="1"/>
          </p:cNvSpPr>
          <p:nvPr/>
        </p:nvSpPr>
        <p:spPr>
          <a:xfrm>
            <a:off x="809625" y="3200400"/>
            <a:ext cx="10572750" cy="762000"/>
          </a:xfrm>
          <a:prstGeom prst="rect">
            <a:avLst/>
          </a:prstGeom>
          <a:noFill/>
          <a:ln w="0">
            <a:noFill/>
          </a:ln>
        </p:spPr>
        <p:txBody>
          <a:bodyPr anchor="t">
            <a:noAutofit/>
          </a:bodyPr>
          <a:lstStyle/>
          <a:p>
            <a:pPr>
              <a:defRPr sz="2025" b="0">
                <a:solidFill>
                  <a:srgbClr val="121212"/>
                </a:solidFill>
                <a:latin typeface="Times New Roman"/>
                <a:ea typeface="Times New Roman"/>
                <a:cs typeface="Times New Roman"/>
              </a:defRPr>
            </a:pPr>
            <a:r>
              <a:rPr sz="2025" b="0">
                <a:solidFill>
                  <a:srgbClr val="121212"/>
                </a:solidFill>
                <a:latin typeface="Times New Roman"/>
                <a:ea typeface="Times New Roman"/>
                <a:cs typeface="Times New Roman"/>
              </a:rPr>
              <a:t>Questionnaire-only classification stays close to the baseline.</a:t>
            </a:r>
          </a:p>
        </p:txBody>
      </p:sp>
      <p:sp>
        <p:nvSpPr>
          <p:cNvPr id="540" name="•">
            <a:extLst>
              <a:ext uri="{FF2B5EF4-FFF2-40B4-BE49-F238E27FC236}">
                <a16:creationId xmlns:a16="http://schemas.microsoft.com/office/drawing/2014/main" id="{A3E63293-E1F8-4320-9838-41FAE00F1912}"/>
              </a:ext>
            </a:extLst>
          </p:cNvPr>
          <p:cNvSpPr>
            <a:spLocks noGrp="1"/>
          </p:cNvSpPr>
          <p:nvPr/>
        </p:nvSpPr>
        <p:spPr>
          <a:xfrm>
            <a:off x="466725" y="4038600"/>
            <a:ext cx="238125" cy="400050"/>
          </a:xfrm>
          <a:prstGeom prst="rect">
            <a:avLst/>
          </a:prstGeom>
          <a:noFill/>
          <a:ln w="0">
            <a:noFill/>
          </a:ln>
        </p:spPr>
        <p:txBody>
          <a:bodyPr anchor="t">
            <a:noAutofit/>
          </a:bodyPr>
          <a:lstStyle/>
          <a:p>
            <a:pPr>
              <a:defRPr sz="2025" b="0">
                <a:solidFill>
                  <a:srgbClr val="121212"/>
                </a:solidFill>
                <a:latin typeface="Times New Roman"/>
                <a:ea typeface="Times New Roman"/>
                <a:cs typeface="Times New Roman"/>
              </a:defRPr>
            </a:pPr>
            <a:r>
              <a:rPr sz="2025" b="0">
                <a:solidFill>
                  <a:srgbClr val="121212"/>
                </a:solidFill>
                <a:latin typeface="Times New Roman"/>
                <a:ea typeface="Times New Roman"/>
                <a:cs typeface="Times New Roman"/>
              </a:rPr>
              <a:t>•</a:t>
            </a:r>
          </a:p>
        </p:txBody>
      </p:sp>
      <p:sp>
        <p:nvSpPr>
          <p:cNvPr id="541" name="Recent SGPA is the first split in the main J48 tree.">
            <a:extLst>
              <a:ext uri="{FF2B5EF4-FFF2-40B4-BE49-F238E27FC236}">
                <a16:creationId xmlns:a16="http://schemas.microsoft.com/office/drawing/2014/main" id="{602A27EF-CFAC-4EC9-896B-915C7D74BAA0}"/>
              </a:ext>
            </a:extLst>
          </p:cNvPr>
          <p:cNvSpPr>
            <a:spLocks noGrp="1"/>
          </p:cNvSpPr>
          <p:nvPr/>
        </p:nvSpPr>
        <p:spPr>
          <a:xfrm>
            <a:off x="809625" y="4038600"/>
            <a:ext cx="10572750" cy="762000"/>
          </a:xfrm>
          <a:prstGeom prst="rect">
            <a:avLst/>
          </a:prstGeom>
          <a:noFill/>
          <a:ln w="0">
            <a:noFill/>
          </a:ln>
        </p:spPr>
        <p:txBody>
          <a:bodyPr anchor="t">
            <a:noAutofit/>
          </a:bodyPr>
          <a:lstStyle/>
          <a:p>
            <a:pPr>
              <a:defRPr sz="2025" b="0">
                <a:solidFill>
                  <a:srgbClr val="121212"/>
                </a:solidFill>
                <a:latin typeface="Times New Roman"/>
                <a:ea typeface="Times New Roman"/>
                <a:cs typeface="Times New Roman"/>
              </a:defRPr>
            </a:pPr>
            <a:r>
              <a:rPr sz="2025" b="0">
                <a:solidFill>
                  <a:srgbClr val="121212"/>
                </a:solidFill>
                <a:latin typeface="Times New Roman"/>
                <a:ea typeface="Times New Roman"/>
                <a:cs typeface="Times New Roman"/>
              </a:rPr>
              <a:t>Recent SGPA is the first split in the main J48 tree.</a:t>
            </a:r>
          </a:p>
        </p:txBody>
      </p:sp>
      <p:sp>
        <p:nvSpPr>
          <p:cNvPr id="542" name="•">
            <a:extLst>
              <a:ext uri="{FF2B5EF4-FFF2-40B4-BE49-F238E27FC236}">
                <a16:creationId xmlns:a16="http://schemas.microsoft.com/office/drawing/2014/main" id="{72EFD97A-E72A-49D1-B1E4-A668F897C662}"/>
              </a:ext>
            </a:extLst>
          </p:cNvPr>
          <p:cNvSpPr>
            <a:spLocks noGrp="1"/>
          </p:cNvSpPr>
          <p:nvPr/>
        </p:nvSpPr>
        <p:spPr>
          <a:xfrm>
            <a:off x="466725" y="4876800"/>
            <a:ext cx="238125" cy="400050"/>
          </a:xfrm>
          <a:prstGeom prst="rect">
            <a:avLst/>
          </a:prstGeom>
          <a:noFill/>
          <a:ln w="0">
            <a:noFill/>
          </a:ln>
        </p:spPr>
        <p:txBody>
          <a:bodyPr anchor="t">
            <a:noAutofit/>
          </a:bodyPr>
          <a:lstStyle/>
          <a:p>
            <a:pPr>
              <a:defRPr sz="2025" b="0">
                <a:solidFill>
                  <a:srgbClr val="121212"/>
                </a:solidFill>
                <a:latin typeface="Times New Roman"/>
                <a:ea typeface="Times New Roman"/>
                <a:cs typeface="Times New Roman"/>
              </a:defRPr>
            </a:pPr>
            <a:r>
              <a:rPr sz="2025" b="0">
                <a:solidFill>
                  <a:srgbClr val="121212"/>
                </a:solidFill>
                <a:latin typeface="Times New Roman"/>
                <a:ea typeface="Times New Roman"/>
                <a:cs typeface="Times New Roman"/>
              </a:rPr>
              <a:t>•</a:t>
            </a:r>
          </a:p>
        </p:txBody>
      </p:sp>
      <p:sp>
        <p:nvSpPr>
          <p:cNvPr id="543" name="Random Forest leads the CV comparison; J48 provides rea">
            <a:extLst>
              <a:ext uri="{FF2B5EF4-FFF2-40B4-BE49-F238E27FC236}">
                <a16:creationId xmlns:a16="http://schemas.microsoft.com/office/drawing/2014/main" id="{C962752C-A1ED-43F5-BE85-58CB8EC87D86}"/>
              </a:ext>
            </a:extLst>
          </p:cNvPr>
          <p:cNvSpPr>
            <a:spLocks noGrp="1"/>
          </p:cNvSpPr>
          <p:nvPr/>
        </p:nvSpPr>
        <p:spPr>
          <a:xfrm>
            <a:off x="809625" y="4876800"/>
            <a:ext cx="10572750" cy="762000"/>
          </a:xfrm>
          <a:prstGeom prst="rect">
            <a:avLst/>
          </a:prstGeom>
          <a:noFill/>
          <a:ln w="0">
            <a:noFill/>
          </a:ln>
        </p:spPr>
        <p:txBody>
          <a:bodyPr anchor="t">
            <a:noAutofit/>
          </a:bodyPr>
          <a:lstStyle/>
          <a:p>
            <a:pPr>
              <a:defRPr sz="2025" b="0">
                <a:solidFill>
                  <a:srgbClr val="121212"/>
                </a:solidFill>
                <a:latin typeface="Times New Roman"/>
                <a:ea typeface="Times New Roman"/>
                <a:cs typeface="Times New Roman"/>
              </a:defRPr>
            </a:pPr>
            <a:r>
              <a:rPr sz="2025" b="0">
                <a:solidFill>
                  <a:srgbClr val="121212"/>
                </a:solidFill>
                <a:latin typeface="Times New Roman"/>
                <a:ea typeface="Times New Roman"/>
                <a:cs typeface="Times New Roman"/>
              </a:rPr>
              <a:t>Accuracy rose from about 46% to 55% (SMO); J48 gives readable rules.</a:t>
            </a:r>
          </a:p>
        </p:txBody>
      </p:sp>
    </p:spTree>
    <p:extLst>
      <p:ext uri="{BB962C8B-B14F-4D97-AF65-F5344CB8AC3E}">
        <p14:creationId xmlns:p14="http://schemas.microsoft.com/office/powerpoint/2010/main" val="320739451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lang="en-US" dirty="0">
                <a:latin typeface="Times New Roman"/>
                <a:ea typeface="Times New Roman"/>
                <a:cs typeface="Times New Roman"/>
              </a:rPr>
              <a:t>55</a:t>
            </a:r>
            <a:endParaRPr sz="1000" dirty="0">
              <a:latin typeface="Times New Roman"/>
              <a:ea typeface="Times New Roman"/>
              <a:cs typeface="Times New Roman"/>
            </a:endParaRP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a:latin typeface="Times New Roman"/>
                <a:ea typeface="Times New Roman"/>
                <a:cs typeface="Times New Roman"/>
              </a:rPr>
              <a:t>Limitations</a:t>
            </a:r>
          </a:p>
        </p:txBody>
      </p:sp>
      <p:sp>
        <p:nvSpPr>
          <p:cNvPr id="534" name="•">
            <a:extLst>
              <a:ext uri="{FF2B5EF4-FFF2-40B4-BE49-F238E27FC236}">
                <a16:creationId xmlns:a16="http://schemas.microsoft.com/office/drawing/2014/main" id="{1F0EF624-3790-41F6-B8BB-023E95FE0554}"/>
              </a:ext>
            </a:extLst>
          </p:cNvPr>
          <p:cNvSpPr>
            <a:spLocks noGrp="1"/>
          </p:cNvSpPr>
          <p:nvPr/>
        </p:nvSpPr>
        <p:spPr>
          <a:xfrm>
            <a:off x="466725" y="1695450"/>
            <a:ext cx="238125" cy="400050"/>
          </a:xfrm>
          <a:prstGeom prst="rect">
            <a:avLst/>
          </a:prstGeom>
          <a:noFill/>
          <a:ln w="0">
            <a:noFill/>
          </a:ln>
        </p:spPr>
        <p:txBody>
          <a:bodyPr anchor="t">
            <a:noAutofit/>
          </a:bodyPr>
          <a:lstStyle/>
          <a:p>
            <a:pPr>
              <a:defRPr sz="2100" b="0">
                <a:solidFill>
                  <a:srgbClr val="121212"/>
                </a:solidFill>
                <a:latin typeface="Times New Roman"/>
                <a:ea typeface="Times New Roman"/>
                <a:cs typeface="Times New Roman"/>
              </a:defRPr>
            </a:pPr>
            <a:r>
              <a:rPr sz="2100" b="0">
                <a:solidFill>
                  <a:srgbClr val="121212"/>
                </a:solidFill>
                <a:latin typeface="Times New Roman"/>
                <a:ea typeface="Times New Roman"/>
                <a:cs typeface="Times New Roman"/>
              </a:rPr>
              <a:t>•</a:t>
            </a:r>
          </a:p>
        </p:txBody>
      </p:sp>
      <p:sp>
        <p:nvSpPr>
          <p:cNvPr id="535" name="Self-reported answers without verified registrar record">
            <a:extLst>
              <a:ext uri="{FF2B5EF4-FFF2-40B4-BE49-F238E27FC236}">
                <a16:creationId xmlns:a16="http://schemas.microsoft.com/office/drawing/2014/main" id="{D452E248-A52B-4711-B884-3BE4218C9908}"/>
              </a:ext>
            </a:extLst>
          </p:cNvPr>
          <p:cNvSpPr>
            <a:spLocks noGrp="1"/>
          </p:cNvSpPr>
          <p:nvPr/>
        </p:nvSpPr>
        <p:spPr>
          <a:xfrm>
            <a:off x="809625" y="1695450"/>
            <a:ext cx="10572750" cy="742950"/>
          </a:xfrm>
          <a:prstGeom prst="rect">
            <a:avLst/>
          </a:prstGeom>
          <a:noFill/>
          <a:ln w="0">
            <a:noFill/>
          </a:ln>
        </p:spPr>
        <p:txBody>
          <a:bodyPr anchor="t">
            <a:noAutofit/>
          </a:bodyPr>
          <a:lstStyle/>
          <a:p>
            <a:pPr>
              <a:defRPr sz="2100" b="0">
                <a:solidFill>
                  <a:srgbClr val="121212"/>
                </a:solidFill>
                <a:latin typeface="Times New Roman"/>
                <a:ea typeface="Times New Roman"/>
                <a:cs typeface="Times New Roman"/>
              </a:defRPr>
            </a:pPr>
            <a:r>
              <a:rPr sz="2100" b="0">
                <a:solidFill>
                  <a:srgbClr val="121212"/>
                </a:solidFill>
                <a:latin typeface="Times New Roman"/>
                <a:ea typeface="Times New Roman"/>
                <a:cs typeface="Times New Roman"/>
              </a:rPr>
              <a:t>Self-reported answers without verified registrar records</a:t>
            </a:r>
          </a:p>
        </p:txBody>
      </p:sp>
      <p:sp>
        <p:nvSpPr>
          <p:cNvPr id="536" name="•">
            <a:extLst>
              <a:ext uri="{FF2B5EF4-FFF2-40B4-BE49-F238E27FC236}">
                <a16:creationId xmlns:a16="http://schemas.microsoft.com/office/drawing/2014/main" id="{A4770531-12B3-4ED6-863A-52C3BBB2B4B5}"/>
              </a:ext>
            </a:extLst>
          </p:cNvPr>
          <p:cNvSpPr>
            <a:spLocks noGrp="1"/>
          </p:cNvSpPr>
          <p:nvPr/>
        </p:nvSpPr>
        <p:spPr>
          <a:xfrm>
            <a:off x="466725" y="2514600"/>
            <a:ext cx="238125" cy="400050"/>
          </a:xfrm>
          <a:prstGeom prst="rect">
            <a:avLst/>
          </a:prstGeom>
          <a:noFill/>
          <a:ln w="0">
            <a:noFill/>
          </a:ln>
        </p:spPr>
        <p:txBody>
          <a:bodyPr anchor="t">
            <a:noAutofit/>
          </a:bodyPr>
          <a:lstStyle/>
          <a:p>
            <a:pPr>
              <a:defRPr sz="2100" b="0">
                <a:solidFill>
                  <a:srgbClr val="121212"/>
                </a:solidFill>
                <a:latin typeface="Times New Roman"/>
                <a:ea typeface="Times New Roman"/>
                <a:cs typeface="Times New Roman"/>
              </a:defRPr>
            </a:pPr>
            <a:r>
              <a:rPr sz="2100" b="0">
                <a:solidFill>
                  <a:srgbClr val="121212"/>
                </a:solidFill>
                <a:latin typeface="Times New Roman"/>
                <a:ea typeface="Times New Roman"/>
                <a:cs typeface="Times New Roman"/>
              </a:rPr>
              <a:t>•</a:t>
            </a:r>
          </a:p>
        </p:txBody>
      </p:sp>
      <p:sp>
        <p:nvSpPr>
          <p:cNvPr id="537" name="KUET-heavy sample and a one-time survey">
            <a:extLst>
              <a:ext uri="{FF2B5EF4-FFF2-40B4-BE49-F238E27FC236}">
                <a16:creationId xmlns:a16="http://schemas.microsoft.com/office/drawing/2014/main" id="{42CD3D53-803A-4BAE-8BC4-726FA934D452}"/>
              </a:ext>
            </a:extLst>
          </p:cNvPr>
          <p:cNvSpPr>
            <a:spLocks noGrp="1"/>
          </p:cNvSpPr>
          <p:nvPr/>
        </p:nvSpPr>
        <p:spPr>
          <a:xfrm>
            <a:off x="809625" y="2514600"/>
            <a:ext cx="10572750" cy="742950"/>
          </a:xfrm>
          <a:prstGeom prst="rect">
            <a:avLst/>
          </a:prstGeom>
          <a:noFill/>
          <a:ln w="0">
            <a:noFill/>
          </a:ln>
        </p:spPr>
        <p:txBody>
          <a:bodyPr anchor="t">
            <a:noAutofit/>
          </a:bodyPr>
          <a:lstStyle/>
          <a:p>
            <a:pPr>
              <a:defRPr sz="2100" b="0">
                <a:solidFill>
                  <a:srgbClr val="121212"/>
                </a:solidFill>
                <a:latin typeface="Times New Roman"/>
                <a:ea typeface="Times New Roman"/>
                <a:cs typeface="Times New Roman"/>
              </a:defRPr>
            </a:pPr>
            <a:r>
              <a:rPr sz="2100" b="0">
                <a:solidFill>
                  <a:srgbClr val="121212"/>
                </a:solidFill>
                <a:latin typeface="Times New Roman"/>
                <a:ea typeface="Times New Roman"/>
                <a:cs typeface="Times New Roman"/>
              </a:rPr>
              <a:t>KUET-heavy sample (75%) and a one-time survey</a:t>
            </a:r>
          </a:p>
        </p:txBody>
      </p:sp>
      <p:sp>
        <p:nvSpPr>
          <p:cNvPr id="538" name="•">
            <a:extLst>
              <a:ext uri="{FF2B5EF4-FFF2-40B4-BE49-F238E27FC236}">
                <a16:creationId xmlns:a16="http://schemas.microsoft.com/office/drawing/2014/main" id="{1D27EED9-B970-4608-90FC-542B9E049727}"/>
              </a:ext>
            </a:extLst>
          </p:cNvPr>
          <p:cNvSpPr>
            <a:spLocks noGrp="1"/>
          </p:cNvSpPr>
          <p:nvPr/>
        </p:nvSpPr>
        <p:spPr>
          <a:xfrm>
            <a:off x="466725" y="3333750"/>
            <a:ext cx="238125" cy="400050"/>
          </a:xfrm>
          <a:prstGeom prst="rect">
            <a:avLst/>
          </a:prstGeom>
          <a:noFill/>
          <a:ln w="0">
            <a:noFill/>
          </a:ln>
        </p:spPr>
        <p:txBody>
          <a:bodyPr anchor="t">
            <a:noAutofit/>
          </a:bodyPr>
          <a:lstStyle/>
          <a:p>
            <a:pPr>
              <a:defRPr sz="2100" b="0">
                <a:solidFill>
                  <a:srgbClr val="121212"/>
                </a:solidFill>
                <a:latin typeface="Times New Roman"/>
                <a:ea typeface="Times New Roman"/>
                <a:cs typeface="Times New Roman"/>
              </a:defRPr>
            </a:pPr>
            <a:r>
              <a:rPr sz="2100" b="0">
                <a:solidFill>
                  <a:srgbClr val="121212"/>
                </a:solidFill>
                <a:latin typeface="Times New Roman"/>
                <a:ea typeface="Times New Roman"/>
                <a:cs typeface="Times New Roman"/>
              </a:rPr>
              <a:t>•</a:t>
            </a:r>
          </a:p>
        </p:txBody>
      </p:sp>
      <p:sp>
        <p:nvSpPr>
          <p:cNvPr id="539" name="Banded SGPA / CGPA with different time wording between ">
            <a:extLst>
              <a:ext uri="{FF2B5EF4-FFF2-40B4-BE49-F238E27FC236}">
                <a16:creationId xmlns:a16="http://schemas.microsoft.com/office/drawing/2014/main" id="{333A2528-CC7B-499B-88AE-F02BAADE776A}"/>
              </a:ext>
            </a:extLst>
          </p:cNvPr>
          <p:cNvSpPr>
            <a:spLocks noGrp="1"/>
          </p:cNvSpPr>
          <p:nvPr/>
        </p:nvSpPr>
        <p:spPr>
          <a:xfrm>
            <a:off x="809625" y="3333750"/>
            <a:ext cx="10572750" cy="742950"/>
          </a:xfrm>
          <a:prstGeom prst="rect">
            <a:avLst/>
          </a:prstGeom>
          <a:noFill/>
          <a:ln w="0">
            <a:noFill/>
          </a:ln>
        </p:spPr>
        <p:txBody>
          <a:bodyPr anchor="t">
            <a:noAutofit/>
          </a:bodyPr>
          <a:lstStyle/>
          <a:p>
            <a:pPr>
              <a:defRPr sz="2100" b="0">
                <a:solidFill>
                  <a:srgbClr val="121212"/>
                </a:solidFill>
                <a:latin typeface="Times New Roman"/>
                <a:ea typeface="Times New Roman"/>
                <a:cs typeface="Times New Roman"/>
              </a:defRPr>
            </a:pPr>
            <a:r>
              <a:rPr sz="2100" b="0">
                <a:solidFill>
                  <a:srgbClr val="121212"/>
                </a:solidFill>
                <a:latin typeface="Times New Roman"/>
                <a:ea typeface="Times New Roman"/>
                <a:cs typeface="Times New Roman"/>
              </a:rPr>
              <a:t>Banded SGPA / CGPA with different time wording between forms</a:t>
            </a:r>
          </a:p>
        </p:txBody>
      </p:sp>
      <p:sp>
        <p:nvSpPr>
          <p:cNvPr id="540" name="•">
            <a:extLst>
              <a:ext uri="{FF2B5EF4-FFF2-40B4-BE49-F238E27FC236}">
                <a16:creationId xmlns:a16="http://schemas.microsoft.com/office/drawing/2014/main" id="{BFB27253-237D-492B-9AA0-B3A31C118D87}"/>
              </a:ext>
            </a:extLst>
          </p:cNvPr>
          <p:cNvSpPr>
            <a:spLocks noGrp="1"/>
          </p:cNvSpPr>
          <p:nvPr/>
        </p:nvSpPr>
        <p:spPr>
          <a:xfrm>
            <a:off x="466725" y="4152900"/>
            <a:ext cx="238125" cy="400050"/>
          </a:xfrm>
          <a:prstGeom prst="rect">
            <a:avLst/>
          </a:prstGeom>
          <a:noFill/>
          <a:ln w="0">
            <a:noFill/>
          </a:ln>
        </p:spPr>
        <p:txBody>
          <a:bodyPr anchor="t">
            <a:noAutofit/>
          </a:bodyPr>
          <a:lstStyle/>
          <a:p>
            <a:pPr>
              <a:defRPr sz="2100" b="0">
                <a:solidFill>
                  <a:srgbClr val="121212"/>
                </a:solidFill>
                <a:latin typeface="Times New Roman"/>
                <a:ea typeface="Times New Roman"/>
                <a:cs typeface="Times New Roman"/>
              </a:defRPr>
            </a:pPr>
            <a:r>
              <a:rPr sz="2100" b="0">
                <a:solidFill>
                  <a:srgbClr val="121212"/>
                </a:solidFill>
                <a:latin typeface="Times New Roman"/>
                <a:ea typeface="Times New Roman"/>
                <a:cs typeface="Times New Roman"/>
              </a:rPr>
              <a:t>•</a:t>
            </a:r>
          </a:p>
        </p:txBody>
      </p:sp>
      <p:sp>
        <p:nvSpPr>
          <p:cNvPr id="541" name="Questionnaire imputation occurred before splitting / CV">
            <a:extLst>
              <a:ext uri="{FF2B5EF4-FFF2-40B4-BE49-F238E27FC236}">
                <a16:creationId xmlns:a16="http://schemas.microsoft.com/office/drawing/2014/main" id="{5B5ECEA5-0A0F-465A-B44C-18B27BB0627C}"/>
              </a:ext>
            </a:extLst>
          </p:cNvPr>
          <p:cNvSpPr>
            <a:spLocks noGrp="1"/>
          </p:cNvSpPr>
          <p:nvPr/>
        </p:nvSpPr>
        <p:spPr>
          <a:xfrm>
            <a:off x="809625" y="4152900"/>
            <a:ext cx="10572750" cy="742950"/>
          </a:xfrm>
          <a:prstGeom prst="rect">
            <a:avLst/>
          </a:prstGeom>
          <a:noFill/>
          <a:ln w="0">
            <a:noFill/>
          </a:ln>
        </p:spPr>
        <p:txBody>
          <a:bodyPr anchor="t">
            <a:noAutofit/>
          </a:bodyPr>
          <a:lstStyle/>
          <a:p>
            <a:pPr>
              <a:defRPr sz="2100" b="0">
                <a:solidFill>
                  <a:srgbClr val="121212"/>
                </a:solidFill>
                <a:latin typeface="Times New Roman"/>
                <a:ea typeface="Times New Roman"/>
                <a:cs typeface="Times New Roman"/>
              </a:defRPr>
            </a:pPr>
            <a:r>
              <a:rPr sz="2100" b="0">
                <a:solidFill>
                  <a:srgbClr val="121212"/>
                </a:solidFill>
                <a:latin typeface="Times New Roman"/>
                <a:ea typeface="Times New Roman"/>
                <a:cs typeface="Times New Roman"/>
              </a:rPr>
              <a:t>Data check removed 182 answers; some kept answers may still be careless</a:t>
            </a:r>
          </a:p>
        </p:txBody>
      </p:sp>
      <p:sp>
        <p:nvSpPr>
          <p:cNvPr id="542" name="•">
            <a:extLst>
              <a:ext uri="{FF2B5EF4-FFF2-40B4-BE49-F238E27FC236}">
                <a16:creationId xmlns:a16="http://schemas.microsoft.com/office/drawing/2014/main" id="{EA689285-DCAC-4367-8180-0360DB2B8926}"/>
              </a:ext>
            </a:extLst>
          </p:cNvPr>
          <p:cNvSpPr>
            <a:spLocks noGrp="1"/>
          </p:cNvSpPr>
          <p:nvPr/>
        </p:nvSpPr>
        <p:spPr>
          <a:xfrm>
            <a:off x="466725" y="4972050"/>
            <a:ext cx="238125" cy="400050"/>
          </a:xfrm>
          <a:prstGeom prst="rect">
            <a:avLst/>
          </a:prstGeom>
          <a:noFill/>
          <a:ln w="0">
            <a:noFill/>
          </a:ln>
        </p:spPr>
        <p:txBody>
          <a:bodyPr anchor="t">
            <a:noAutofit/>
          </a:bodyPr>
          <a:lstStyle/>
          <a:p>
            <a:pPr>
              <a:defRPr sz="2100" b="0">
                <a:solidFill>
                  <a:srgbClr val="121212"/>
                </a:solidFill>
                <a:latin typeface="Times New Roman"/>
                <a:ea typeface="Times New Roman"/>
                <a:cs typeface="Times New Roman"/>
              </a:defRPr>
            </a:pPr>
            <a:r>
              <a:rPr sz="2100" b="0">
                <a:solidFill>
                  <a:srgbClr val="121212"/>
                </a:solidFill>
                <a:latin typeface="Times New Roman"/>
                <a:ea typeface="Times New Roman"/>
                <a:cs typeface="Times New Roman"/>
              </a:rPr>
              <a:t>•</a:t>
            </a:r>
          </a:p>
        </p:txBody>
      </p:sp>
      <p:sp>
        <p:nvSpPr>
          <p:cNvPr id="543" name="Small associations and exploratory prediction estimates">
            <a:extLst>
              <a:ext uri="{FF2B5EF4-FFF2-40B4-BE49-F238E27FC236}">
                <a16:creationId xmlns:a16="http://schemas.microsoft.com/office/drawing/2014/main" id="{6EE90635-2B43-40BB-8C94-1CD4F4302070}"/>
              </a:ext>
            </a:extLst>
          </p:cNvPr>
          <p:cNvSpPr>
            <a:spLocks noGrp="1"/>
          </p:cNvSpPr>
          <p:nvPr/>
        </p:nvSpPr>
        <p:spPr>
          <a:xfrm>
            <a:off x="809625" y="4972050"/>
            <a:ext cx="10572750" cy="742950"/>
          </a:xfrm>
          <a:prstGeom prst="rect">
            <a:avLst/>
          </a:prstGeom>
          <a:noFill/>
          <a:ln w="0">
            <a:noFill/>
          </a:ln>
        </p:spPr>
        <p:txBody>
          <a:bodyPr anchor="t">
            <a:noAutofit/>
          </a:bodyPr>
          <a:lstStyle/>
          <a:p>
            <a:pPr>
              <a:defRPr sz="2100" b="0">
                <a:solidFill>
                  <a:srgbClr val="121212"/>
                </a:solidFill>
                <a:latin typeface="Times New Roman"/>
                <a:ea typeface="Times New Roman"/>
                <a:cs typeface="Times New Roman"/>
              </a:defRPr>
            </a:pPr>
            <a:r>
              <a:rPr sz="2100" b="0">
                <a:solidFill>
                  <a:srgbClr val="121212"/>
                </a:solidFill>
                <a:latin typeface="Times New Roman"/>
                <a:ea typeface="Times New Roman"/>
                <a:cs typeface="Times New Roman"/>
              </a:rPr>
              <a:t>Small associations; prediction relies mostly on recent SGPA</a:t>
            </a:r>
          </a:p>
        </p:txBody>
      </p:sp>
    </p:spTree>
    <p:extLst>
      <p:ext uri="{BB962C8B-B14F-4D97-AF65-F5344CB8AC3E}">
        <p14:creationId xmlns:p14="http://schemas.microsoft.com/office/powerpoint/2010/main" val="1862342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Google Shape;532;p58">
            <a:extLst>
              <a:ext uri="{FF2B5EF4-FFF2-40B4-BE49-F238E27FC236}">
                <a16:creationId xmlns:a16="http://schemas.microsoft.com/office/drawing/2014/main" id="{C5959EFF-52C4-5B31-3FCE-BFF3A75CF3CF}"/>
              </a:ext>
            </a:extLst>
          </p:cNvPr>
          <p:cNvSpPr>
            <a:spLocks noGrp="1"/>
          </p:cNvSpPr>
          <p:nvPr>
            <p:ph type="sldNum" idx="4"/>
          </p:nvPr>
        </p:nvSpPr>
        <p:spPr>
          <a:xfrm>
            <a:off x="11279332" y="6279294"/>
            <a:ext cx="518968" cy="241240"/>
          </a:xfrm>
        </p:spPr>
        <p:txBody>
          <a:bodyPr spcFirstLastPara="1" vert="horz" wrap="square" lIns="0" tIns="0" rIns="0" bIns="0" anchor="b">
            <a:noAutofit/>
          </a:bodyPr>
          <a:lstStyle/>
          <a:p>
            <a:r>
              <a:rPr lang="en-US" dirty="0">
                <a:latin typeface="Times New Roman"/>
                <a:ea typeface="Times New Roman"/>
                <a:cs typeface="Times New Roman"/>
              </a:rPr>
              <a:t>56</a:t>
            </a:r>
            <a:endParaRPr sz="1000" dirty="0">
              <a:latin typeface="Times New Roman"/>
              <a:ea typeface="Times New Roman"/>
              <a:cs typeface="Times New Roman"/>
            </a:endParaRPr>
          </a:p>
        </p:txBody>
      </p:sp>
      <p:sp>
        <p:nvSpPr>
          <p:cNvPr id="533" name="Google Shape;533;p58">
            <a:extLst>
              <a:ext uri="{FF2B5EF4-FFF2-40B4-BE49-F238E27FC236}">
                <a16:creationId xmlns:a16="http://schemas.microsoft.com/office/drawing/2014/main" id="{469ED97F-6CDE-1EE8-6602-FE9CC4D732BE}"/>
              </a:ext>
            </a:extLst>
          </p:cNvPr>
          <p:cNvSpPr>
            <a:spLocks noGrp="1"/>
          </p:cNvSpPr>
          <p:nvPr>
            <p:ph type="title"/>
          </p:nvPr>
        </p:nvSpPr>
        <p:spPr>
          <a:xfrm>
            <a:off x="393700" y="344008"/>
            <a:ext cx="11404600" cy="1047491"/>
          </a:xfrm>
        </p:spPr>
        <p:txBody>
          <a:bodyPr spcFirstLastPara="1" vert="horz" wrap="square" lIns="0" tIns="0" rIns="0" bIns="0" anchor="t">
            <a:noAutofit/>
          </a:bodyPr>
          <a:lstStyle/>
          <a:p>
            <a:r>
              <a:rPr sz="3000">
                <a:latin typeface="Times New Roman"/>
                <a:ea typeface="Times New Roman"/>
                <a:cs typeface="Times New Roman"/>
              </a:rPr>
              <a:t>Conclusion</a:t>
            </a:r>
          </a:p>
        </p:txBody>
      </p:sp>
      <p:sp>
        <p:nvSpPr>
          <p:cNvPr id="534" name="Rectangle 533">
            <a:extLst>
              <a:ext uri="{FF2B5EF4-FFF2-40B4-BE49-F238E27FC236}">
                <a16:creationId xmlns:a16="http://schemas.microsoft.com/office/drawing/2014/main" id="{E5D7439F-3AA2-49DB-A9FE-11936C79C7DB}"/>
              </a:ext>
            </a:extLst>
          </p:cNvPr>
          <p:cNvSpPr>
            <a:spLocks noGrp="1"/>
          </p:cNvSpPr>
          <p:nvPr/>
        </p:nvSpPr>
        <p:spPr>
          <a:xfrm>
            <a:off x="400050" y="2219325"/>
            <a:ext cx="3581400" cy="2305050"/>
          </a:xfrm>
          <a:prstGeom prst="rect">
            <a:avLst/>
          </a:prstGeom>
          <a:solidFill>
            <a:srgbClr val="F1F1F1"/>
          </a:solidFill>
          <a:ln w="0">
            <a:noFill/>
          </a:ln>
        </p:spPr>
        <p:txBody>
          <a:bodyPr/>
          <a:lstStyle/>
          <a:p>
            <a:endParaRPr lang="en-US"/>
          </a:p>
        </p:txBody>
      </p:sp>
      <p:sp>
        <p:nvSpPr>
          <p:cNvPr id="535" name="Data">
            <a:extLst>
              <a:ext uri="{FF2B5EF4-FFF2-40B4-BE49-F238E27FC236}">
                <a16:creationId xmlns:a16="http://schemas.microsoft.com/office/drawing/2014/main" id="{5EFE354A-7562-4BF0-A988-E211616B94B9}"/>
              </a:ext>
            </a:extLst>
          </p:cNvPr>
          <p:cNvSpPr>
            <a:spLocks noGrp="1"/>
          </p:cNvSpPr>
          <p:nvPr/>
        </p:nvSpPr>
        <p:spPr>
          <a:xfrm>
            <a:off x="552450" y="2362200"/>
            <a:ext cx="3276600" cy="428625"/>
          </a:xfrm>
          <a:prstGeom prst="rect">
            <a:avLst/>
          </a:prstGeom>
          <a:noFill/>
          <a:ln w="0">
            <a:noFill/>
          </a:ln>
        </p:spPr>
        <p:txBody>
          <a:bodyPr anchor="t">
            <a:noAutofit/>
          </a:bodyPr>
          <a:lstStyle/>
          <a:p>
            <a:pPr>
              <a:defRPr sz="2100" b="0">
                <a:solidFill>
                  <a:srgbClr val="121212"/>
                </a:solidFill>
                <a:latin typeface="Times New Roman"/>
                <a:ea typeface="Times New Roman"/>
                <a:cs typeface="Times New Roman"/>
              </a:defRPr>
            </a:pPr>
            <a:r>
              <a:rPr sz="2100" b="0">
                <a:solidFill>
                  <a:srgbClr val="121212"/>
                </a:solidFill>
                <a:latin typeface="Times New Roman"/>
                <a:ea typeface="Times New Roman"/>
                <a:cs typeface="Times New Roman"/>
              </a:rPr>
              <a:t>Data</a:t>
            </a:r>
          </a:p>
        </p:txBody>
      </p:sp>
      <p:sp>
        <p:nvSpPr>
          <p:cNvPr id="536" name="1,108 usable engineering-student responses">
            <a:extLst>
              <a:ext uri="{FF2B5EF4-FFF2-40B4-BE49-F238E27FC236}">
                <a16:creationId xmlns:a16="http://schemas.microsoft.com/office/drawing/2014/main" id="{A98EE0D0-F0A3-4778-9767-A0D7042A227E}"/>
              </a:ext>
            </a:extLst>
          </p:cNvPr>
          <p:cNvSpPr>
            <a:spLocks noGrp="1"/>
          </p:cNvSpPr>
          <p:nvPr/>
        </p:nvSpPr>
        <p:spPr>
          <a:xfrm>
            <a:off x="552450" y="2781300"/>
            <a:ext cx="3276600" cy="173355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920 checked engineering-student responses (from 1,126 collected)</a:t>
            </a:r>
          </a:p>
        </p:txBody>
      </p:sp>
      <p:sp>
        <p:nvSpPr>
          <p:cNvPr id="537" name="Rectangle 536">
            <a:extLst>
              <a:ext uri="{FF2B5EF4-FFF2-40B4-BE49-F238E27FC236}">
                <a16:creationId xmlns:a16="http://schemas.microsoft.com/office/drawing/2014/main" id="{8CF35F9C-3442-44A9-B450-F4C912E4BCA5}"/>
              </a:ext>
            </a:extLst>
          </p:cNvPr>
          <p:cNvSpPr>
            <a:spLocks noGrp="1"/>
          </p:cNvSpPr>
          <p:nvPr/>
        </p:nvSpPr>
        <p:spPr>
          <a:xfrm>
            <a:off x="4267200" y="2219325"/>
            <a:ext cx="3581400" cy="2305050"/>
          </a:xfrm>
          <a:prstGeom prst="rect">
            <a:avLst/>
          </a:prstGeom>
          <a:solidFill>
            <a:srgbClr val="F1F1F1"/>
          </a:solidFill>
          <a:ln w="0">
            <a:noFill/>
          </a:ln>
        </p:spPr>
        <p:txBody>
          <a:bodyPr/>
          <a:lstStyle/>
          <a:p>
            <a:endParaRPr lang="en-US"/>
          </a:p>
        </p:txBody>
      </p:sp>
      <p:sp>
        <p:nvSpPr>
          <p:cNvPr id="538" name="Relationship">
            <a:extLst>
              <a:ext uri="{FF2B5EF4-FFF2-40B4-BE49-F238E27FC236}">
                <a16:creationId xmlns:a16="http://schemas.microsoft.com/office/drawing/2014/main" id="{55F8ACB2-5732-48FB-B869-525980D8501E}"/>
              </a:ext>
            </a:extLst>
          </p:cNvPr>
          <p:cNvSpPr>
            <a:spLocks noGrp="1"/>
          </p:cNvSpPr>
          <p:nvPr/>
        </p:nvSpPr>
        <p:spPr>
          <a:xfrm>
            <a:off x="4419600" y="2362200"/>
            <a:ext cx="3276600" cy="428625"/>
          </a:xfrm>
          <a:prstGeom prst="rect">
            <a:avLst/>
          </a:prstGeom>
          <a:noFill/>
          <a:ln w="0">
            <a:noFill/>
          </a:ln>
        </p:spPr>
        <p:txBody>
          <a:bodyPr anchor="t">
            <a:noAutofit/>
          </a:bodyPr>
          <a:lstStyle/>
          <a:p>
            <a:pPr>
              <a:defRPr sz="2100" b="0">
                <a:solidFill>
                  <a:srgbClr val="121212"/>
                </a:solidFill>
                <a:latin typeface="Times New Roman"/>
                <a:ea typeface="Times New Roman"/>
                <a:cs typeface="Times New Roman"/>
              </a:defRPr>
            </a:pPr>
            <a:r>
              <a:rPr sz="2100" b="0">
                <a:solidFill>
                  <a:srgbClr val="121212"/>
                </a:solidFill>
                <a:latin typeface="Times New Roman"/>
                <a:ea typeface="Times New Roman"/>
                <a:cs typeface="Times New Roman"/>
              </a:rPr>
              <a:t>Relationship</a:t>
            </a:r>
          </a:p>
        </p:txBody>
      </p:sp>
      <p:sp>
        <p:nvSpPr>
          <p:cNvPr id="539" name="Question-by-question CGPA patterns">
            <a:extLst>
              <a:ext uri="{FF2B5EF4-FFF2-40B4-BE49-F238E27FC236}">
                <a16:creationId xmlns:a16="http://schemas.microsoft.com/office/drawing/2014/main" id="{697A63A5-BA10-4E4C-86EB-65FE9BE7667B}"/>
              </a:ext>
            </a:extLst>
          </p:cNvPr>
          <p:cNvSpPr>
            <a:spLocks noGrp="1"/>
          </p:cNvSpPr>
          <p:nvPr/>
        </p:nvSpPr>
        <p:spPr>
          <a:xfrm>
            <a:off x="4419600" y="2781300"/>
            <a:ext cx="3276600" cy="173355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Question-by-question CGPA patterns</a:t>
            </a:r>
          </a:p>
        </p:txBody>
      </p:sp>
      <p:sp>
        <p:nvSpPr>
          <p:cNvPr id="540" name="Rectangle 539">
            <a:extLst>
              <a:ext uri="{FF2B5EF4-FFF2-40B4-BE49-F238E27FC236}">
                <a16:creationId xmlns:a16="http://schemas.microsoft.com/office/drawing/2014/main" id="{FD14E9A6-6EA7-4A23-B869-E4B543D940FF}"/>
              </a:ext>
            </a:extLst>
          </p:cNvPr>
          <p:cNvSpPr>
            <a:spLocks noGrp="1"/>
          </p:cNvSpPr>
          <p:nvPr/>
        </p:nvSpPr>
        <p:spPr>
          <a:xfrm>
            <a:off x="8134350" y="2219325"/>
            <a:ext cx="3581400" cy="2305050"/>
          </a:xfrm>
          <a:prstGeom prst="rect">
            <a:avLst/>
          </a:prstGeom>
          <a:solidFill>
            <a:srgbClr val="F1F1F1"/>
          </a:solidFill>
          <a:ln w="0">
            <a:noFill/>
          </a:ln>
        </p:spPr>
        <p:txBody>
          <a:bodyPr/>
          <a:lstStyle/>
          <a:p>
            <a:endParaRPr lang="en-US"/>
          </a:p>
        </p:txBody>
      </p:sp>
      <p:sp>
        <p:nvSpPr>
          <p:cNvPr id="541" name="WEKA">
            <a:extLst>
              <a:ext uri="{FF2B5EF4-FFF2-40B4-BE49-F238E27FC236}">
                <a16:creationId xmlns:a16="http://schemas.microsoft.com/office/drawing/2014/main" id="{AAD25545-575B-4EE7-B3FF-8FC3555AC67C}"/>
              </a:ext>
            </a:extLst>
          </p:cNvPr>
          <p:cNvSpPr>
            <a:spLocks noGrp="1"/>
          </p:cNvSpPr>
          <p:nvPr/>
        </p:nvSpPr>
        <p:spPr>
          <a:xfrm>
            <a:off x="8286750" y="2362200"/>
            <a:ext cx="3276600" cy="428625"/>
          </a:xfrm>
          <a:prstGeom prst="rect">
            <a:avLst/>
          </a:prstGeom>
          <a:noFill/>
          <a:ln w="0">
            <a:noFill/>
          </a:ln>
        </p:spPr>
        <p:txBody>
          <a:bodyPr anchor="t">
            <a:noAutofit/>
          </a:bodyPr>
          <a:lstStyle/>
          <a:p>
            <a:pPr>
              <a:defRPr sz="2100" b="0">
                <a:solidFill>
                  <a:srgbClr val="121212"/>
                </a:solidFill>
                <a:latin typeface="Times New Roman"/>
                <a:ea typeface="Times New Roman"/>
                <a:cs typeface="Times New Roman"/>
              </a:defRPr>
            </a:pPr>
            <a:r>
              <a:rPr sz="2100" b="0">
                <a:solidFill>
                  <a:srgbClr val="121212"/>
                </a:solidFill>
                <a:latin typeface="Times New Roman"/>
                <a:ea typeface="Times New Roman"/>
                <a:cs typeface="Times New Roman"/>
              </a:rPr>
              <a:t>WEKA</a:t>
            </a:r>
          </a:p>
        </p:txBody>
      </p:sp>
      <p:sp>
        <p:nvSpPr>
          <p:cNvPr id="542" name="J48 rules and comparison with five standard classifiers">
            <a:extLst>
              <a:ext uri="{FF2B5EF4-FFF2-40B4-BE49-F238E27FC236}">
                <a16:creationId xmlns:a16="http://schemas.microsoft.com/office/drawing/2014/main" id="{61280A2C-866C-4699-82A5-D1B5448F2574}"/>
              </a:ext>
            </a:extLst>
          </p:cNvPr>
          <p:cNvSpPr>
            <a:spLocks noGrp="1"/>
          </p:cNvSpPr>
          <p:nvPr/>
        </p:nvSpPr>
        <p:spPr>
          <a:xfrm>
            <a:off x="8286750" y="2781300"/>
            <a:ext cx="3276600" cy="1733550"/>
          </a:xfrm>
          <a:prstGeom prst="rect">
            <a:avLst/>
          </a:prstGeom>
          <a:noFill/>
          <a:ln w="0">
            <a:noFill/>
          </a:ln>
        </p:spPr>
        <p:txBody>
          <a:bodyPr anchor="t">
            <a:noAutofit/>
          </a:bodyPr>
          <a:lstStyle/>
          <a:p>
            <a:pPr>
              <a:defRPr sz="1425" b="0">
                <a:solidFill>
                  <a:srgbClr val="585858"/>
                </a:solidFill>
                <a:latin typeface="Times New Roman"/>
                <a:ea typeface="Times New Roman"/>
                <a:cs typeface="Times New Roman"/>
              </a:defRPr>
            </a:pPr>
            <a:r>
              <a:rPr sz="1425" b="0">
                <a:solidFill>
                  <a:srgbClr val="585858"/>
                </a:solidFill>
                <a:latin typeface="Times New Roman"/>
                <a:ea typeface="Times New Roman"/>
                <a:cs typeface="Times New Roman"/>
              </a:rPr>
              <a:t>J48 rules and comparison with five standard classifiers</a:t>
            </a:r>
          </a:p>
        </p:txBody>
      </p:sp>
      <p:sp>
        <p:nvSpPr>
          <p:cNvPr id="543" name="Associations and predictions, not causal proof.">
            <a:extLst>
              <a:ext uri="{FF2B5EF4-FFF2-40B4-BE49-F238E27FC236}">
                <a16:creationId xmlns:a16="http://schemas.microsoft.com/office/drawing/2014/main" id="{7C27FA56-AB0A-403C-8FFE-37F7BE18060E}"/>
              </a:ext>
            </a:extLst>
          </p:cNvPr>
          <p:cNvSpPr>
            <a:spLocks noGrp="1"/>
          </p:cNvSpPr>
          <p:nvPr/>
        </p:nvSpPr>
        <p:spPr>
          <a:xfrm>
            <a:off x="400050" y="5343525"/>
            <a:ext cx="11391900" cy="619125"/>
          </a:xfrm>
          <a:prstGeom prst="rect">
            <a:avLst/>
          </a:prstGeom>
          <a:noFill/>
          <a:ln w="0">
            <a:noFill/>
          </a:ln>
        </p:spPr>
        <p:txBody>
          <a:bodyPr anchor="t">
            <a:noAutofit/>
          </a:bodyPr>
          <a:lstStyle/>
          <a:p>
            <a:pPr>
              <a:defRPr sz="2550" b="0">
                <a:solidFill>
                  <a:srgbClr val="121212"/>
                </a:solidFill>
                <a:latin typeface="Times New Roman"/>
                <a:ea typeface="Times New Roman"/>
                <a:cs typeface="Times New Roman"/>
              </a:defRPr>
            </a:pPr>
            <a:r>
              <a:rPr sz="2550" b="0">
                <a:solidFill>
                  <a:srgbClr val="121212"/>
                </a:solidFill>
                <a:latin typeface="Times New Roman"/>
                <a:ea typeface="Times New Roman"/>
                <a:cs typeface="Times New Roman"/>
              </a:rPr>
              <a:t>Associations and predictions, not causal proof.</a:t>
            </a:r>
          </a:p>
        </p:txBody>
      </p:sp>
    </p:spTree>
    <p:extLst>
      <p:ext uri="{BB962C8B-B14F-4D97-AF65-F5344CB8AC3E}">
        <p14:creationId xmlns:p14="http://schemas.microsoft.com/office/powerpoint/2010/main" val="405022815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1463040"/>
            <a:ext cx="11064240" cy="1280160"/>
          </a:xfrm>
          <a:prstGeom prst="rect">
            <a:avLst/>
          </a:prstGeom>
          <a:noFill/>
        </p:spPr>
        <p:txBody>
          <a:bodyPr wrap="square" lIns="27432" tIns="27432" rIns="27432" bIns="27432" anchor="t">
            <a:noAutofit/>
          </a:bodyPr>
          <a:lstStyle/>
          <a:p>
            <a:pPr algn="ctr">
              <a:lnSpc>
                <a:spcPct val="105000"/>
              </a:lnSpc>
            </a:pPr>
            <a:r>
              <a:rPr sz="6600" b="1">
                <a:solidFill>
                  <a:srgbClr val="0B0B0B"/>
                </a:solidFill>
                <a:latin typeface="Helvetica Neue"/>
              </a:rPr>
              <a:t>Thank You</a:t>
            </a:r>
          </a:p>
        </p:txBody>
      </p:sp>
      <p:sp>
        <p:nvSpPr>
          <p:cNvPr id="3" name="TextBox 2"/>
          <p:cNvSpPr txBox="1"/>
          <p:nvPr/>
        </p:nvSpPr>
        <p:spPr>
          <a:xfrm>
            <a:off x="548640" y="2743200"/>
            <a:ext cx="11064240" cy="731520"/>
          </a:xfrm>
          <a:prstGeom prst="rect">
            <a:avLst/>
          </a:prstGeom>
          <a:noFill/>
        </p:spPr>
        <p:txBody>
          <a:bodyPr wrap="square" lIns="27432" tIns="27432" rIns="27432" bIns="27432" anchor="t">
            <a:noAutofit/>
          </a:bodyPr>
          <a:lstStyle/>
          <a:p>
            <a:pPr algn="ctr">
              <a:lnSpc>
                <a:spcPct val="105000"/>
              </a:lnSpc>
            </a:pPr>
            <a:r>
              <a:rPr sz="3200" b="0">
                <a:solidFill>
                  <a:srgbClr val="2A78D6"/>
                </a:solidFill>
                <a:latin typeface="Helvetica Neue"/>
              </a:rPr>
              <a:t>Questions?</a:t>
            </a:r>
          </a:p>
        </p:txBody>
      </p:sp>
      <p:sp>
        <p:nvSpPr>
          <p:cNvPr id="4" name="Rounded Rectangle 3"/>
          <p:cNvSpPr/>
          <p:nvPr/>
        </p:nvSpPr>
        <p:spPr>
          <a:xfrm>
            <a:off x="1005840" y="3977639"/>
            <a:ext cx="3246120" cy="5943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500" b="0">
                <a:solidFill>
                  <a:srgbClr val="0B0B0B"/>
                </a:solidFill>
                <a:latin typeface="Helvetica Neue"/>
              </a:rPr>
              <a:t>2107020 · Sheikh Md. Galib Mahim</a:t>
            </a:r>
          </a:p>
        </p:txBody>
      </p:sp>
      <p:sp>
        <p:nvSpPr>
          <p:cNvPr id="5" name="Rounded Rectangle 4"/>
          <p:cNvSpPr/>
          <p:nvPr/>
        </p:nvSpPr>
        <p:spPr>
          <a:xfrm>
            <a:off x="4480560" y="3977639"/>
            <a:ext cx="3246120" cy="5943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500" b="0">
                <a:solidFill>
                  <a:srgbClr val="0B0B0B"/>
                </a:solidFill>
                <a:latin typeface="Helvetica Neue"/>
              </a:rPr>
              <a:t>2107030 · Md. Eftakar Jaman Arfan</a:t>
            </a:r>
          </a:p>
        </p:txBody>
      </p:sp>
      <p:sp>
        <p:nvSpPr>
          <p:cNvPr id="6" name="Rounded Rectangle 5"/>
          <p:cNvSpPr/>
          <p:nvPr/>
        </p:nvSpPr>
        <p:spPr>
          <a:xfrm>
            <a:off x="7955279" y="3977639"/>
            <a:ext cx="3246120" cy="5943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500" b="0">
                <a:solidFill>
                  <a:srgbClr val="0B0B0B"/>
                </a:solidFill>
                <a:latin typeface="Helvetica Neue"/>
              </a:rPr>
              <a:t>2107007 · Asif Jawad</a:t>
            </a:r>
          </a:p>
        </p:txBody>
      </p:sp>
      <p:sp>
        <p:nvSpPr>
          <p:cNvPr id="7" name="Rounded Rectangle 6"/>
          <p:cNvSpPr/>
          <p:nvPr/>
        </p:nvSpPr>
        <p:spPr>
          <a:xfrm>
            <a:off x="1005840" y="4754879"/>
            <a:ext cx="3246120" cy="5943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500" b="0">
                <a:solidFill>
                  <a:srgbClr val="0B0B0B"/>
                </a:solidFill>
                <a:latin typeface="Helvetica Neue"/>
              </a:rPr>
              <a:t>2107008 · Rakibul Islam</a:t>
            </a:r>
          </a:p>
        </p:txBody>
      </p:sp>
      <p:sp>
        <p:nvSpPr>
          <p:cNvPr id="8" name="Rounded Rectangle 7"/>
          <p:cNvSpPr/>
          <p:nvPr/>
        </p:nvSpPr>
        <p:spPr>
          <a:xfrm>
            <a:off x="4480560" y="4754879"/>
            <a:ext cx="3246120" cy="5943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500" b="0">
                <a:solidFill>
                  <a:srgbClr val="0B0B0B"/>
                </a:solidFill>
                <a:latin typeface="Helvetica Neue"/>
              </a:rPr>
              <a:t>2107012 · Md Enam E Elahi</a:t>
            </a:r>
          </a:p>
        </p:txBody>
      </p:sp>
      <p:sp>
        <p:nvSpPr>
          <p:cNvPr id="9" name="Rounded Rectangle 8"/>
          <p:cNvSpPr/>
          <p:nvPr/>
        </p:nvSpPr>
        <p:spPr>
          <a:xfrm>
            <a:off x="7955279" y="4754879"/>
            <a:ext cx="3246120" cy="594360"/>
          </a:xfrm>
          <a:prstGeom prst="roundRect">
            <a:avLst>
              <a:gd name="adj" fmla="val 8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wrap="square" tIns="36576" bIns="36576" rtlCol="0" anchor="ctr">
            <a:noAutofit/>
          </a:bodyPr>
          <a:lstStyle/>
          <a:p>
            <a:pPr algn="ctr">
              <a:lnSpc>
                <a:spcPct val="105000"/>
              </a:lnSpc>
            </a:pPr>
            <a:r>
              <a:rPr sz="1500" b="0">
                <a:solidFill>
                  <a:srgbClr val="0B0B0B"/>
                </a:solidFill>
                <a:latin typeface="Helvetica Neue"/>
              </a:rPr>
              <a:t>2107014 · Al Mubtasim Preom</a:t>
            </a:r>
          </a:p>
        </p:txBody>
      </p:sp>
      <p:sp>
        <p:nvSpPr>
          <p:cNvPr id="10" name="TextBox 9"/>
          <p:cNvSpPr txBox="1"/>
          <p:nvPr/>
        </p:nvSpPr>
        <p:spPr>
          <a:xfrm>
            <a:off x="548640" y="5989320"/>
            <a:ext cx="11064240" cy="365760"/>
          </a:xfrm>
          <a:prstGeom prst="rect">
            <a:avLst/>
          </a:prstGeom>
          <a:noFill/>
        </p:spPr>
        <p:txBody>
          <a:bodyPr wrap="square" lIns="27432" tIns="27432" rIns="27432" bIns="27432" anchor="t">
            <a:noAutofit/>
          </a:bodyPr>
          <a:lstStyle/>
          <a:p>
            <a:pPr algn="ctr">
              <a:lnSpc>
                <a:spcPct val="105000"/>
              </a:lnSpc>
            </a:pPr>
            <a:r>
              <a:rPr sz="1300" b="0">
                <a:solidFill>
                  <a:srgbClr val="898781"/>
                </a:solidFill>
                <a:latin typeface="Helvetica Neue"/>
              </a:rPr>
              <a:t>CSE 4112 · Machine Learning Laboratory · KUET</a:t>
            </a:r>
          </a:p>
        </p:txBody>
      </p:sp>
      <p:sp>
        <p:nvSpPr>
          <p:cNvPr id="11" name="SimpleLightSectionLabel">
            <a:extLst>
              <a:ext uri="{FF2B5EF4-FFF2-40B4-BE49-F238E27FC236}">
                <a16:creationId xmlns:a16="http://schemas.microsoft.com/office/drawing/2014/main" id="{81EE05DF-2E40-4CA6-9695-72EE54381573}"/>
              </a:ext>
            </a:extLst>
          </p:cNvPr>
          <p:cNvSpPr txBox="1"/>
          <p:nvPr/>
        </p:nvSpPr>
        <p:spPr>
          <a:xfrm>
            <a:off x="9448800" y="165100"/>
            <a:ext cx="2387600" cy="223138"/>
          </a:xfrm>
          <a:prstGeom prst="rect">
            <a:avLst/>
          </a:prstGeom>
          <a:noFill/>
        </p:spPr>
        <p:txBody>
          <a:bodyPr vert="horz" rtlCol="0">
            <a:spAutoFit/>
          </a:bodyPr>
          <a:lstStyle/>
          <a:p>
            <a:pPr algn="r"/>
            <a:r>
              <a:rPr lang="en-US" sz="850">
                <a:solidFill>
                  <a:srgbClr val="686F7A"/>
                </a:solidFill>
                <a:latin typeface="Helvetica Neue"/>
              </a:rPr>
              <a:t>FINDINGS + CONCLUSION</a:t>
            </a:r>
          </a:p>
        </p:txBody>
      </p:sp>
    </p:spTree>
  </p:cSld>
  <p:clrMapOvr>
    <a:masterClrMapping/>
  </p:clrMapOvr>
</p:sld>
</file>

<file path=ppt/theme/theme1.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2113</TotalTime>
  <Words>6000</Words>
  <Application>Microsoft Office PowerPoint</Application>
  <PresentationFormat>Widescreen</PresentationFormat>
  <Paragraphs>1240</Paragraphs>
  <Slides>60</Slides>
  <Notes>53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60</vt:i4>
      </vt:variant>
    </vt:vector>
  </HeadingPairs>
  <TitlesOfParts>
    <vt:vector size="66" baseType="lpstr">
      <vt:lpstr>Arial</vt:lpstr>
      <vt:lpstr>Helvetica Neue</vt:lpstr>
      <vt:lpstr>Aptos</vt:lpstr>
      <vt:lpstr>Times New Roman</vt:lpstr>
      <vt:lpstr>OpenAI Sans</vt:lpstr>
      <vt:lpstr>Default Codex Theme</vt:lpstr>
      <vt:lpstr>What Shapes Student CGPA? An Engineering Student Academic Performance Dataset and Machine Learning Analysis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Attendance and CGPA</vt:lpstr>
      <vt:lpstr>Weekly study time and CGPA</vt:lpstr>
      <vt:lpstr>Study style and CGPA</vt:lpstr>
      <vt:lpstr>Topic clarity and CGPA</vt:lpstr>
      <vt:lpstr>Sleep and CGPA</vt:lpstr>
      <vt:lpstr>Stress and CGPA</vt:lpstr>
      <vt:lpstr>Phone distraction and CGPA</vt:lpstr>
      <vt:lpstr>Outside commitments and CGPA</vt:lpstr>
      <vt:lpstr>Desired department and CGPA</vt:lpstr>
      <vt:lpstr>Support and CGPA</vt:lpstr>
      <vt:lpstr>Study environment and CGPA</vt:lpstr>
      <vt:lpstr>Routine manageability and CGPA</vt:lpstr>
      <vt:lpstr>WEKA target-specific model results</vt:lpstr>
      <vt:lpstr>WEKA target-specific model results</vt:lpstr>
      <vt:lpstr>WEKA J48: Recent SGPA</vt:lpstr>
      <vt:lpstr>WEKA J48: SGPA rules</vt:lpstr>
      <vt:lpstr>WEKA J48: CGPA from questionnaire variables</vt:lpstr>
      <vt:lpstr>Questionnaire J48 rules</vt:lpstr>
      <vt:lpstr>WEKA J48: cross-validation and 80/20 test accuracy</vt:lpstr>
      <vt:lpstr>WEKA J48: main CGPA test confusion matrix</vt:lpstr>
      <vt:lpstr>WEKA J48 matrix</vt:lpstr>
      <vt:lpstr>WEKA Random Forest matrix</vt:lpstr>
      <vt:lpstr>WEKA SMO matrix</vt:lpstr>
      <vt:lpstr>PowerPoint Presentation</vt:lpstr>
      <vt:lpstr>WEKA Naive Bayes  matrix</vt:lpstr>
      <vt:lpstr>WEKA ZeroR baseline matrix</vt:lpstr>
      <vt:lpstr>WEKA main CGPA accuracy: 5-fold CV</vt:lpstr>
      <vt:lpstr>Accuracy before and after the data check</vt:lpstr>
      <vt:lpstr>Previous studies and models</vt:lpstr>
      <vt:lpstr>Previous work and our WEKA models</vt:lpstr>
      <vt:lpstr>What did we learn?</vt:lpstr>
      <vt:lpstr>Limitations</vt:lpstr>
      <vt:lpstr>Conclusion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 Shapes Student CGPA? An Engineering Student Academic Performance Dataset and Machine Learning Analysis</dc:title>
  <dc:creator>AS!F</dc:creator>
  <cp:lastModifiedBy>Galib mahim</cp:lastModifiedBy>
  <cp:revision>12</cp:revision>
  <dcterms:modified xsi:type="dcterms:W3CDTF">2026-09-21T12:13:49Z</dcterms:modified>
</cp:coreProperties>
</file>