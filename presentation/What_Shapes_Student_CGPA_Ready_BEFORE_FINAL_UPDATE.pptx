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rts/chart1.xml" ContentType="application/vnd.openxmlformats-officedocument.drawingml.chart+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48" r:id="rId1"/>
  </p:sldMasterIdLst>
  <p:notesMasterIdLst>
    <p:notesMasterId r:id="rId70"/>
  </p:notesMasterIdLst>
  <p:sldIdLst>
    <p:sldId id="396" r:id="rId2"/>
    <p:sldId id="257" r:id="rId3"/>
    <p:sldId id="260" r:id="rId4"/>
    <p:sldId id="261" r:id="rId5"/>
    <p:sldId id="262" r:id="rId6"/>
    <p:sldId id="263" r:id="rId7"/>
    <p:sldId id="400" r:id="rId8"/>
    <p:sldId id="264" r:id="rId9"/>
    <p:sldId id="266" r:id="rId10"/>
    <p:sldId id="401" r:id="rId11"/>
    <p:sldId id="267" r:id="rId12"/>
    <p:sldId id="268" r:id="rId13"/>
    <p:sldId id="271" r:id="rId14"/>
    <p:sldId id="272" r:id="rId15"/>
    <p:sldId id="273" r:id="rId16"/>
    <p:sldId id="274" r:id="rId17"/>
    <p:sldId id="275" r:id="rId18"/>
    <p:sldId id="276" r:id="rId19"/>
    <p:sldId id="277" r:id="rId20"/>
    <p:sldId id="278" r:id="rId21"/>
    <p:sldId id="279" r:id="rId22"/>
    <p:sldId id="293" r:id="rId23"/>
    <p:sldId id="402" r:id="rId24"/>
    <p:sldId id="403" r:id="rId25"/>
    <p:sldId id="404" r:id="rId26"/>
    <p:sldId id="405" r:id="rId27"/>
    <p:sldId id="406" r:id="rId28"/>
    <p:sldId id="407" r:id="rId29"/>
    <p:sldId id="408" r:id="rId30"/>
    <p:sldId id="409" r:id="rId31"/>
    <p:sldId id="410" r:id="rId32"/>
    <p:sldId id="280" r:id="rId33"/>
    <p:sldId id="281" r:id="rId34"/>
    <p:sldId id="282" r:id="rId35"/>
    <p:sldId id="283" r:id="rId36"/>
    <p:sldId id="285" r:id="rId37"/>
    <p:sldId id="287" r:id="rId38"/>
    <p:sldId id="288" r:id="rId39"/>
    <p:sldId id="289" r:id="rId40"/>
    <p:sldId id="290" r:id="rId41"/>
    <p:sldId id="291" r:id="rId42"/>
    <p:sldId id="292" r:id="rId43"/>
    <p:sldId id="411" r:id="rId44"/>
    <p:sldId id="294" r:id="rId45"/>
    <p:sldId id="295" r:id="rId46"/>
    <p:sldId id="296" r:id="rId47"/>
    <p:sldId id="297" r:id="rId48"/>
    <p:sldId id="298" r:id="rId49"/>
    <p:sldId id="412" r:id="rId50"/>
    <p:sldId id="413" r:id="rId51"/>
    <p:sldId id="302" r:id="rId52"/>
    <p:sldId id="303" r:id="rId53"/>
    <p:sldId id="304" r:id="rId54"/>
    <p:sldId id="300" r:id="rId55"/>
    <p:sldId id="301" r:id="rId56"/>
    <p:sldId id="305" r:id="rId57"/>
    <p:sldId id="306" r:id="rId58"/>
    <p:sldId id="308" r:id="rId59"/>
    <p:sldId id="309" r:id="rId60"/>
    <p:sldId id="310" r:id="rId61"/>
    <p:sldId id="311" r:id="rId62"/>
    <p:sldId id="312" r:id="rId63"/>
    <p:sldId id="313" r:id="rId64"/>
    <p:sldId id="398" r:id="rId65"/>
    <p:sldId id="315" r:id="rId66"/>
    <p:sldId id="316" r:id="rId67"/>
    <p:sldId id="318" r:id="rId68"/>
    <p:sldId id="319" r:id="rId69"/>
  </p:sldIdLst>
  <p:sldSz cx="12192000" cy="6858000"/>
  <p:notesSz cx="6858000" cy="9144000"/>
  <p:embeddedFontLst>
    <p:embeddedFont>
      <p:font typeface="OpenAI Sans" panose="020B0604020202020204" charset="0"/>
      <p:regular r:id="rId71"/>
      <p:bold r:id="rId72"/>
      <p:italic r:id="rId73"/>
      <p:boldItalic r:id="rId74"/>
    </p:embeddedFont>
    <p:embeddedFont>
      <p:font typeface="Segoe UI" panose="020B0502040204020203" pitchFamily="34" charset="0"/>
      <p:regular r:id="rId75"/>
      <p:bold r:id="rId76"/>
      <p:italic r:id="rId77"/>
      <p:boldItalic r:id="rId7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33"/>
    <p:restoredTop sz="94658"/>
  </p:normalViewPr>
  <p:slideViewPr>
    <p:cSldViewPr snapToGrid="0">
      <p:cViewPr varScale="1">
        <p:scale>
          <a:sx n="94" d="100"/>
          <a:sy n="94" d="100"/>
        </p:scale>
        <p:origin x="115" y="278"/>
      </p:cViewPr>
      <p:guideLst/>
    </p:cSldViewPr>
  </p:slideViewPr>
  <p:outlineViewPr>
    <p:cViewPr>
      <p:scale>
        <a:sx n="33" d="100"/>
        <a:sy n="33" d="100"/>
      </p:scale>
      <p:origin x="0" y="-29912"/>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4.fntdata"/><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2.fntdata"/><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3.fntdata"/><Relationship Id="rId78" Type="http://schemas.openxmlformats.org/officeDocument/2006/relationships/font" Target="fonts/font8.fntdata"/><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6.fntdata"/><Relationship Id="rId7" Type="http://schemas.openxmlformats.org/officeDocument/2006/relationships/slide" Target="slides/slide6.xml"/><Relationship Id="rId71" Type="http://schemas.openxmlformats.org/officeDocument/2006/relationships/font" Target="fonts/font1.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Accuracy (%)</c:v>
          </c:tx>
          <c:spPr>
            <a:solidFill>
              <a:srgbClr val="2878CF"/>
            </a:solidFill>
          </c:spPr>
          <c:invertIfNegative val="1"/>
          <c:dLbls>
            <c:spPr>
              <a:noFill/>
              <a:ln>
                <a:noFill/>
              </a:ln>
              <a:effectLst/>
            </c:spPr>
            <c:txPr>
              <a:bodyPr anchorCtr="1"/>
              <a:lstStyle/>
              <a:p>
                <a:pPr>
                  <a:defRPr>
                    <a:latin typeface="Times New Roman"/>
                    <a:ea typeface="Times New Roman"/>
                    <a:cs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Data'!$A$2:$A$7</c:f>
              <c:strCache>
                <c:ptCount val="6"/>
                <c:pt idx="0">
                  <c:v>ZeroR</c:v>
                </c:pt>
                <c:pt idx="1">
                  <c:v>J48</c:v>
                </c:pt>
                <c:pt idx="2">
                  <c:v>Random Forest</c:v>
                </c:pt>
                <c:pt idx="3">
                  <c:v>SMO</c:v>
                </c:pt>
                <c:pt idx="4">
                  <c:v>Logistic</c:v>
                </c:pt>
                <c:pt idx="5">
                  <c:v>Naive Bayes</c:v>
                </c:pt>
              </c:strCache>
            </c:strRef>
          </c:cat>
          <c:val>
            <c:numRef>
              <c:f>'Chart Data'!$B$2:$B$7</c:f>
              <c:numCache>
                <c:formatCode>0"%"</c:formatCode>
                <c:ptCount val="6"/>
                <c:pt idx="0">
                  <c:v>29.0381</c:v>
                </c:pt>
                <c:pt idx="1">
                  <c:v>38.293999999999997</c:v>
                </c:pt>
                <c:pt idx="2">
                  <c:v>43.920099999999998</c:v>
                </c:pt>
                <c:pt idx="3">
                  <c:v>37.1143</c:v>
                </c:pt>
                <c:pt idx="4">
                  <c:v>36.842100000000002</c:v>
                </c:pt>
                <c:pt idx="5">
                  <c:v>38.112499999999997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FF9-4988-A2A8-E9F8A5BC5F38}"/>
            </c:ext>
          </c:extLst>
        </c:ser>
        <c:dLbls>
          <c:dLblPos val="outEnd"/>
          <c:showLegendKey val="0"/>
          <c:showVal val="1"/>
          <c:showCatName val="0"/>
          <c:showSerName val="0"/>
          <c:showPercent val="0"/>
          <c:showBubbleSize val="0"/>
        </c:dLbls>
        <c:gapWidth val="8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725">
                <a:solidFill>
                  <a:srgbClr val="666666"/>
                </a:solidFill>
                <a:latin typeface="Times New Roman"/>
                <a:ea typeface="Times New Roman"/>
                <a:cs typeface="Times New Roman"/>
              </a:defRPr>
            </a:pPr>
            <a:endParaRPr lang="en-US"/>
          </a:p>
        </c:txPr>
        <c:crossAx val="48672768"/>
        <c:crosses val="autoZero"/>
        <c:auto val="1"/>
        <c:lblAlgn val="ctr"/>
        <c:lblOffset val="100"/>
        <c:noMultiLvlLbl val="1"/>
      </c:catAx>
      <c:valAx>
        <c:axId val="48672768"/>
        <c:scaling>
          <c:orientation val="minMax"/>
        </c:scaling>
        <c:delete val="0"/>
        <c:axPos val="l"/>
        <c:numFmt formatCode="0&quot;%&quot;" sourceLinked="1"/>
        <c:majorTickMark val="none"/>
        <c:minorTickMark val="none"/>
        <c:tickLblPos val="nextTo"/>
        <c:spPr>
          <a:ln w="9525">
            <a:solidFill>
              <a:srgbClr val="D4D4D4"/>
            </a:solidFill>
            <a:prstDash val="solid"/>
          </a:ln>
        </c:spPr>
        <c:txPr>
          <a:bodyPr anchorCtr="1"/>
          <a:lstStyle/>
          <a:p>
            <a:pPr>
              <a:defRPr>
                <a:solidFill>
                  <a:srgbClr val="666666"/>
                </a:solidFill>
                <a:latin typeface="Times New Roman"/>
                <a:ea typeface="Times New Roman"/>
                <a:cs typeface="Times New Roman"/>
              </a:defRPr>
            </a:pPr>
            <a:endParaRPr lang="en-US"/>
          </a:p>
        </c:txPr>
        <c:crossAx val="48650112"/>
        <c:crosses val="autoZero"/>
        <c:crossBetween val="between"/>
      </c:valAx>
    </c:plotArea>
    <c:plotVisOnly val="1"/>
    <c:dispBlanksAs val="zero"/>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EC29E5-F646-1C4E-9C79-40608B34D03C}" type="datetimeFigureOut">
              <a:rPr lang="en-US" smtClean="0"/>
              <a:t>9/14/2026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AAA0A2-FFE2-354C-9768-C35E42B6251D}" type="slidenum">
              <a:rPr lang="en-US" smtClean="0"/>
              <a:t>‹#›</a:t>
            </a:fld>
            <a:endParaRPr lang="en-US"/>
          </a:p>
        </p:txBody>
      </p:sp>
    </p:spTree>
    <p:extLst>
      <p:ext uri="{BB962C8B-B14F-4D97-AF65-F5344CB8AC3E}">
        <p14:creationId xmlns:p14="http://schemas.microsoft.com/office/powerpoint/2010/main" val="1991176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614D2-2802-9381-3FF9-B1BDC227FF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8838E4-A3D7-443C-4771-74618E3C9B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C27993-9BBE-6B01-9733-AB1FA9039A9B}"/>
              </a:ext>
            </a:extLst>
          </p:cNvPr>
          <p:cNvSpPr>
            <a:spLocks noGrp="1"/>
          </p:cNvSpPr>
          <p:nvPr>
            <p:ph type="body" idx="1"/>
          </p:nvPr>
        </p:nvSpPr>
        <p:spPr/>
        <p:txBody>
          <a:bodyPr/>
          <a:lstStyle/>
          <a:p>
            <a:r>
              <a:rPr lang="en-US"/>
              <a:t>Assalamu alaikum. Amader project er naam 'What Shapes Student CGPA?'. Amra 1,108 jon engineering student er survey data niye kaj korsi. Amra bujhte chaisi student ra nijer academic life niye ki bole, kon pattern gula valo ba kharap result er sathe ashe, ar ei answer gula diye notun student er CGPA group predict kora jay kina. Flow ta simple: Student → Form → Data → Rules → CGPA.</a:t>
            </a:r>
          </a:p>
        </p:txBody>
      </p:sp>
      <p:sp>
        <p:nvSpPr>
          <p:cNvPr id="4" name="Slide Number Placeholder 3">
            <a:extLst>
              <a:ext uri="{FF2B5EF4-FFF2-40B4-BE49-F238E27FC236}">
                <a16:creationId xmlns:a16="http://schemas.microsoft.com/office/drawing/2014/main" id="{AF2EA6BD-8166-9F1E-E1F9-3EC85E4DC22E}"/>
              </a:ext>
            </a:extLst>
          </p:cNvPr>
          <p:cNvSpPr>
            <a:spLocks noGrp="1"/>
          </p:cNvSpPr>
          <p:nvPr>
            <p:ph type="sldNum" sz="quarter" idx="5"/>
          </p:nvPr>
        </p:nvSpPr>
        <p:spPr/>
        <p:txBody>
          <a:bodyPr/>
          <a:lstStyle/>
          <a:p>
            <a:fld id="{F9AAA0A2-FFE2-354C-9768-C35E42B6251D}" type="slidenum">
              <a:rPr lang="en-US" smtClean="0"/>
              <a:t>1</a:t>
            </a:fld>
            <a:endParaRPr lang="en-US"/>
          </a:p>
        </p:txBody>
      </p:sp>
    </p:spTree>
    <p:extLst>
      <p:ext uri="{BB962C8B-B14F-4D97-AF65-F5344CB8AC3E}">
        <p14:creationId xmlns:p14="http://schemas.microsoft.com/office/powerpoint/2010/main" val="3309749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Amader tinta simple question. Ek, student ra ki report kore. Dui, kon answer pattern gula valo ba kharap result er sathe beshi dekha jay. Tin, ei answer diye notun student er result predict kora jay kina. Amader goal shudhu accuracy na — result ta jeno bujha jay.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 duita Google Form theke eseche. Multi-university form e 230 ta, ar KUET form e 896 ta response — mot 1,126. Clean korar por 1,108 ta usable record. Duita form e question same, shudhu wording ektu alada, tai careful vabe merge korsi.</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Eta amader actual Google Form er screenshot — header ar charta question. KUET form e same core question chilo, shudhu wording ektu alada, tai duita merge kore ek dataset banaisi. Protiti question English ar Bangla duitai ache, ar form ta anonymous — name ba roll number nai. Answer gula option theke select korte hoy, tai sob student er answer compare kora easy. Model niye kotha bolar age amra dekhate chai data ta ashole kotha theke esheche.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Ekhane charta real question dekhano holo — attendance, weekly study time, stress, ar recent SGPA. Beshirvag answer category hishebe, jemon '75-89%' ba 'Often'. Ei category gula thakar karone different student der answer shohoje compare kora jay.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Ei chhoy ta real form question Decision Tree er rule e ashe — topic clarity, study style, study environment, semester routine, sleep, ar CGPA question ta nije target. Protiti screenshot er upore lekha ache kon tree seta use korse. Tree jokhon IF-AND rule dey, rule er protiti condition ei question gular answer theke ashe.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Form e shudhu academic info na, non-academic diko ache: study habit, lifestyle, pressure, motivation-support, environment. Ar amader target holo CGPA group — C0 theke C3. Mane project ta academic ar behaviour duita dik eksathe dekhe.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Raw data te 1,126 ta response chilo. Same answer different vabe lekha — jemon BRAC, Brac, BRAc — egula ek kora hoyeche. Bangla bracket shoriye ek label kora hoyeche, duita GPA format ke C0-C3 group e ana hoyeche, ar 18 ta row jekhane CGPA chilo na seta bad deya hoyeche. Final 1,108 ta clean row. Cleaning na korle computer same answer ke alada vabto.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5CAC9-C4A7-84B4-C962-DF95A30602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3BD5A2-4BCC-9577-8A81-859594D6444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D6E344B-699D-A205-20A6-F18977A01934}"/>
              </a:ext>
            </a:extLst>
          </p:cNvPr>
          <p:cNvSpPr>
            <a:spLocks noGrp="1"/>
          </p:cNvSpPr>
          <p:nvPr>
            <p:ph type="body" sz="quarter" idx="3"/>
          </p:nvPr>
        </p:nvSpPr>
        <p:spPr/>
        <p:txBody>
          <a:bodyPr/>
          <a:lstStyle/>
          <a:p>
            <a:r>
              <a:t>Teacher er suggestion onujayi reference dataset er screenshot rakhsi. Eta IUBAT er 894 jon Computer Science student er dataset, Mendeley Data te public. Ekhane attendance, daily study hour, social media hour, previous SGPA, current CGPA ache. Classified copy te performance category ache. Amra dekhte chaisi existing dataset e kon feature gula common.</a:t>
            </a:r>
          </a:p>
        </p:txBody>
      </p:sp>
      <p:sp>
        <p:nvSpPr>
          <p:cNvPr id="4" name="Slide Number Placeholder 3">
            <a:extLst>
              <a:ext uri="{FF2B5EF4-FFF2-40B4-BE49-F238E27FC236}">
                <a16:creationId xmlns:a16="http://schemas.microsoft.com/office/drawing/2014/main" id="{79DCB3A0-1204-9FFB-454B-362C3E91E8DB}"/>
              </a:ext>
            </a:extLst>
          </p:cNvPr>
          <p:cNvSpPr>
            <a:spLocks noGrp="1"/>
          </p:cNvSpPr>
          <p:nvPr>
            <p:ph type="sldNum" sz="quarter" idx="5"/>
          </p:nvPr>
        </p:nvSpPr>
        <p:spPr/>
      </p:sp>
    </p:spTree>
    <p:extLst>
      <p:ext uri="{BB962C8B-B14F-4D97-AF65-F5344CB8AC3E}">
        <p14:creationId xmlns:p14="http://schemas.microsoft.com/office/powerpoint/2010/main" val="32816033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Teacher er suggestion onujayi reference dataset er screenshot rakhsi. Eta IUBAT er 894 jon Computer Science student er dataset, Mendeley Data te public. Ekhane attendance, daily study hour, social media hour, previous SGPA, current CGPA ache. Classified copy te performance category ache. Amra dekhte chaisi existing dataset e kon feature gula common.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 er sathe amader form compare korle 7 ta topic duitatei ache — attendance, study time, social media, previous SGPA, CGPA. Ar amra notun add korsi stress, sleep, topic clarity, desired department, routine, career expectation. Mane amader dataset familiar idea follow kore, kintu motivation ar environment related question beshi.</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Mot 1,108 jon student. Kintu university gula soman na — KUET theke 878 jon, mane 79.2%. BUET 104, BRAC 101, CUET 25. Tai conclusion shob university te soman vabe apply hobe emon bola jabe na.</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Form e exact CGPA na, range neya hoyechilo. Tai amra char ta group banaisi: C0 mane 3.20 er niche (236 jon), C1 3.20 theke 3.49 (321), C2 3.50 theke 3.74 (303), C3 3.75 ba beshi (248). Eta four-class classification problem. Ei C0-C3 label shob slide e same thakbe.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 banano age check korsi kono ekta group ki pura data dominate kore kina. Sobcheye boro group C1 (29.0%), sobcheye choto C0 (21.3%). Char ta group mota-muti balanced, tai direct evaluation use korsi. Recent SGPA group o prai same vabe chora.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Ei slide e shudhu actual answer, kono prediction na. Sobcheye common answer '90% or more' — 418 jon. 72.1% student 75% er beshi class kore, ar matro 33 jon 60% er kom.</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Class er baire weekly study time. Sobcheye beshi student 3-6 ghonta pore (281 jon). 235 jon 3 ghontar kom, ar 341 jon 10 ghontar beshi pore.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Lifestyle ar pressure dekhi. 39.8% student bole stress often ba almost always porashona te problem kore. Ar 44.3% student rate 6 ghontar kom ghumay. Age response pattern dekhe nicchi, result er sathe link pore dekhbo.</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Ei duita feature bole porashonar time koto ta onno dike jay. 47.7% student bole phone ba social media often ba prai protidin study time niye ney. Ar 51.5% student saptahe 6 ghontar beshi tuition, job ba club e dey.</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Motivation, support ar environment. 36.8% student thik jei department chaisilo seta peyeche. Prai 46.5% family ba friend theke valo support pay, ar 45.5% er thakar jayga porashonar jonno upojukto.</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Official analysis e 12 ta behaviour question er moddhe tinta pattern reliable chilo: desired department peleo, attendance beshi hole higher CGPA group er dike, ar tuition-job-club hour beshi hole lower group er dike. Kintu link gula choto — shob number 0.12 er niche. Tai amra bolbo associated, cause na.</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Teacher dekhte chaisilen SGPA ar CGPA te pattern ek rokom ashe kina. Duita tree alada question e split kore, tai direct data check korlam: protiti answer SGPA ar CGPA er sathe kon dike jay. Attendance ar desired department duitatei same direction e — beshi hole higher group. Baki gula eto choto je bola jay na.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evidence/data.json. Derived from verified raw survey records.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evidence/data.json. Derived from verified raw survey records.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evidence/data.json. Derived from verified raw survey records.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evidence/data.json. Derived from verified raw survey records.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evidence/data.json. Derived from verified raw survey records.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evidence/data.json. Derived from verified raw survey records.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evidence/data.json. Derived from verified raw survey records.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evidence/data.json. Derived from verified raw survey records.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evidence/data.json. Derived from verified raw survey records.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evidence/data.json. Derived from verified raw survey records.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evidence/data.json. Derived from verified raw survey records.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evidence/data.json. Derived from verified raw survey records.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Framework ta simple. Student er answer niye 80% student diye Decision Tree ke train kori — tree IF-AND rule shikhe. Tarpor baki 20% student, jader tree kokhono dekhe nai, tader answer diye group predict kori ar actual result er sathe milai. Training rule shekhay, test check kore rule gula notun student e kaj kore kina.</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Sources: sgpa_J48_cv.txt, sgpa_RandomForest_cv.txt, sgpa_SMO_cv.txt, sgpa_Logistic_cv.txt, sgpa_NaiveBayes_cv.txt, sgpa_ZeroR_cv.txt; questionnaire_J48_cv.txt, questionnaire_RandomForest_cv.txt, questionnaire_SMO_cv.txt, questionnaire_Logistic_cv.txt, questionnaire_NaiveBayes_cv.txt, questionnaire_ZeroR_cv.txt; main_J48_cv.txt, main_RandomForest_cv.txt, main_SMO_cv.txt, main_Logistic_cv.txt, main_NaiveBayes_cv.txt, main_ZeroR_cv.txt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Sources: sgpa_J48_holdout.txt, sgpa_tree.dot, sgpa_weka_viewer.png. Exact WEKA TreeVisualizer export. Numeric option codes are listed in backup. Leaf (N/errors) denotes training support and training errors.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Exact rules: sgpa_tree.txt and results.json. These are predictions from tree branches, not causal statements.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Sources: questionnaire_J48_holdout.txt, questionnaire_tree.dot, questionnaire_weka_viewer.png. Exact WEKA TreeVisualizer export. Numeric option codes are listed in backup. Leaf (N/errors) denotes training support and training errors.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Exact rules: questionnaire_tree.txt and results.json. These are predictions from tree branches, not causal statements.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Sources: main_J48_holdout.txt, main_tree.dot, main_weka_viewer.png. Exact WEKA TreeVisualizer export. Numeric option codes are listed in backup. Leaf (N/errors) denotes training support and training errors.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Exact rules: main_tree.txt and results.json. These are predictions from tree branches, not causal statements.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Sources: sgpa_J48_holdout.txt, questionnaire_J48_holdout.txt, main_J48_holdout.txt. All J48 models C=.25 M=40.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main_J48_holdout.txt, TEST section, 221 held-out records.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Sources: main_RandomForest_cv.txt, main_SMO_cv.txt.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Sources: main_Logistic_cv.txt, main_NaiveBayes_cv.txt.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main_ZeroR_cv.txt.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Sources: main_J48_cv.txt, main_RandomForest_cv.txt, main_SMO_cv.txt, main_Logistic_cv.txt, main_NaiveBayes_cv.txt, main_ZeroR_cv.txt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Ahmed (2024): https://doi.org/10.1155/2024/4067721</a:t>
            </a:r>
          </a:p>
          <a:p>
            <a:pPr marL="0" lvl="0" indent="0" algn="l">
              <a:spcBef>
                <a:spcPts val="0"/>
              </a:spcBef>
              <a:spcAft>
                <a:spcPts val="0"/>
              </a:spcAft>
              <a:buNone/>
            </a:pPr>
            <a:r>
              <a:t>Maruf et al. ICCIT 2024: https://doi.org/10.1109/ICCIT64611.2024.11021990</a:t>
            </a:r>
          </a:p>
          <a:p>
            <a:pPr marL="0" lvl="0" indent="0" algn="l">
              <a:spcBef>
                <a:spcPts val="0"/>
              </a:spcBef>
              <a:spcAft>
                <a:spcPts val="0"/>
              </a:spcAft>
              <a:buNone/>
            </a:pPr>
            <a:r>
              <a:t>Albonny &amp; Duru (2026): https://dergipark.org.tr/tr/pub/ijonfest/article/1879280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Ahmed (2024): https://doi.org/10.1155/2024/4067721</a:t>
            </a:r>
          </a:p>
          <a:p>
            <a:pPr marL="0" lvl="0" indent="0" algn="l">
              <a:spcBef>
                <a:spcPts val="0"/>
              </a:spcBef>
              <a:spcAft>
                <a:spcPts val="0"/>
              </a:spcAft>
              <a:buNone/>
            </a:pPr>
            <a:r>
              <a:t>Maruf et al. ICCIT 2024: https://doi.org/10.1109/ICCIT64611.2024.11021990</a:t>
            </a:r>
          </a:p>
          <a:p>
            <a:pPr marL="0" lvl="0" indent="0" algn="l">
              <a:spcBef>
                <a:spcPts val="0"/>
              </a:spcBef>
              <a:spcAft>
                <a:spcPts val="0"/>
              </a:spcAft>
              <a:buNone/>
            </a:pPr>
            <a:r>
              <a:t>Albonny &amp; Duru (2026): https://dergipark.org.tr/tr/pub/ijonfest/article/1879280</a:t>
            </a:r>
          </a:p>
          <a:p>
            <a:pPr marL="0" lvl="0" indent="0" algn="l">
              <a:spcBef>
                <a:spcPts val="0"/>
              </a:spcBef>
              <a:spcAft>
                <a:spcPts val="0"/>
              </a:spcAft>
              <a:buNone/>
            </a:pPr>
            <a:r>
              <a:t>Project results: main_J48_cv.txt, main_RandomForest_cv.txt, main_SMO_cv.txt, main_Logistic_cv.txt, main_NaiveBayes_cv.txt, main_ZeroR_cv.txt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evidence/data.json. Derived from verified raw survey records.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Sources: raw questionnaire, cleaning_verification.log, data_provenance.json. Questionnaire source-mode imputation used full dataset before CV.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evidence/data.json. Derived from verified raw survey records.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Course er requirement onujayi amra WEKA teo model chalaisi — egula real screenshot. Bam dike main CGPA Random Forest output. Dan dike SMO, mane WEKA er SVM, main CGPA task e 10-fold cross-validation e 46.5% thik — confusion matrix er row actual, column predicted. Main CGPA Random Forest 46.3%, ar ZeroR guessing 29.0%. Python ar WEKA same golpo bole.</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Teacher er direct question — reference ra kon model use korse ar amra konta. Ahmed SVM, Decision Tree, Naive Bayes, KNN; Maruf et al. ensemble ar explainable AI; Albonny and Duru regression, tree, random forest, deep neural network. Amra Decision Tree diye rule explain korsi, ar comparison er jonno Random Forest, SVM, Logistic, Naive Bayes, k-NN, Gradient Boosting — Python ar WEKA duitatei.</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Prediction valo korte ki lagbe: official grade, course-level result, same student ke bar bar measure kora, objective study data, ar balanced university sample. Same form e aro row add korar cheye better quality feature beshi help korbe.</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Pura project ek chobite: form, student answer, data statistics, behaviour graph, Decision Tree rule, rule validation, train-test, confusion matrix, ar conclusion.</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Dhonnobad. Kono question thakle bolun.</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Viva er jonno form er shob question ar option. Last column e dekhano kon question tree te use hoyeche.</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Protiti feature er type, kon tree te use hoyeche, ar blank answer kivabe handle kora hoyeche.</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Exact split count ar tree setting. Tree size training set er vitore 5-fold CV diye select kora, test set shudhu ekbar use hoyeche.</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WEKA J48 er full tree te 315 ar 268 ta leaf — slide e explain kora possible na, ar behaviour J48 prai guessing er soman. Tai alada shallow tree banaisi. Niche SGPA prediction ar CGPA questionnaire diagnostic er test confusion matrix.</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WEKA er full result: accuracy, weighted F1, kappa. main CGPA task e SMO ar Random Forest sobcheye valo.</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Python er full result, 30 ta fit er average. main CGPA task e Gradient Boosting er macro-F1 sobcheye beshi.</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Hold-out holo ekta fixed split — teacher ke train ar test dekhanor jonno. Cross-validation onek bar split kore average ney — robustness check. Duitai same kotha bole: recent SGPA behaviour er cheye beshi information dey.</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Team er kaj er distribution. Present korar age team er sathe confirm korte hobe.</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Behaviour theke recent SGPA predict korar full shallow tree. Main slide e shudhu rule card dekhano hoyeche.</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WEKA te Random Forest er duita target-specific run er real screenshot — main CGPA task ar questionnaire diagnostic. Taskbar crop kore bad deya hoyeche.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04A5-B645-655E-5362-4217D55892E1}"/>
              </a:ext>
            </a:extLst>
          </p:cNvPr>
          <p:cNvSpPr>
            <a:spLocks noGrp="1"/>
          </p:cNvSpPr>
          <p:nvPr>
            <p:ph type="ctrTitle"/>
          </p:nvPr>
        </p:nvSpPr>
        <p:spPr>
          <a:xfrm>
            <a:off x="393700" y="1041400"/>
            <a:ext cx="7493000" cy="2491490"/>
          </a:xfrm>
        </p:spPr>
        <p:txBody>
          <a:bodyPr anchor="b"/>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C57031B1-59B2-C235-9FDD-8050418A5FD8}"/>
              </a:ext>
            </a:extLst>
          </p:cNvPr>
          <p:cNvSpPr>
            <a:spLocks noGrp="1"/>
          </p:cNvSpPr>
          <p:nvPr>
            <p:ph type="subTitle" idx="1"/>
          </p:nvPr>
        </p:nvSpPr>
        <p:spPr>
          <a:xfrm>
            <a:off x="393700" y="4356100"/>
            <a:ext cx="5537200" cy="16383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881485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E851FDE-9E0B-568C-1CBA-E72B86CC06ED}"/>
              </a:ext>
            </a:extLst>
          </p:cNvPr>
          <p:cNvSpPr>
            <a:spLocks noGrp="1"/>
          </p:cNvSpPr>
          <p:nvPr>
            <p:ph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a:extLst>
              <a:ext uri="{FF2B5EF4-FFF2-40B4-BE49-F238E27FC236}">
                <a16:creationId xmlns:a16="http://schemas.microsoft.com/office/drawing/2014/main" id="{29CCD18F-3BF6-A3EE-DAAE-66BD406D7E8D}"/>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000">
                <a:solidFill>
                  <a:schemeClr val="tx1"/>
                </a:solidFill>
              </a:defRPr>
            </a:lvl1pPr>
          </a:lstStyle>
          <a:p>
            <a:endParaRPr lang="en-US" sz="1000" dirty="0"/>
          </a:p>
        </p:txBody>
      </p:sp>
      <p:sp>
        <p:nvSpPr>
          <p:cNvPr id="10" name="Slide Number Placeholder 5">
            <a:extLst>
              <a:ext uri="{FF2B5EF4-FFF2-40B4-BE49-F238E27FC236}">
                <a16:creationId xmlns:a16="http://schemas.microsoft.com/office/drawing/2014/main" id="{5186992D-ADA6-5A23-EBD5-6BEF0A2E61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000" kern="1200" smtClean="0">
                <a:solidFill>
                  <a:schemeClr val="tx1"/>
                </a:solidFill>
                <a:latin typeface="+mn-lt"/>
                <a:ea typeface="+mn-ea"/>
                <a:cs typeface="+mn-cs"/>
              </a:defRPr>
            </a:lvl1pPr>
          </a:lstStyle>
          <a:p>
            <a:fld id="{8574A810-7A8E-054F-9F6B-09E9C694ECF9}" type="slidenum">
              <a:rPr lang="en-US" smtClean="0"/>
              <a:pPr/>
              <a:t>‹#›</a:t>
            </a:fld>
            <a:endParaRPr lang="en-US" sz="1000" dirty="0"/>
          </a:p>
        </p:txBody>
      </p:sp>
      <p:sp>
        <p:nvSpPr>
          <p:cNvPr id="2" name="Title Placeholder 1">
            <a:extLst>
              <a:ext uri="{FF2B5EF4-FFF2-40B4-BE49-F238E27FC236}">
                <a16:creationId xmlns:a16="http://schemas.microsoft.com/office/drawing/2014/main" id="{CDBB333F-FFCF-AA9E-7AC0-64DB02353FBC}"/>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2653353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4DCC3060-FADA-4310-30F9-24EC34B5AA87}"/>
              </a:ext>
            </a:extLst>
          </p:cNvPr>
          <p:cNvSpPr>
            <a:spLocks noGrp="1"/>
          </p:cNvSpPr>
          <p:nvPr>
            <p:ph idx="1"/>
          </p:nvPr>
        </p:nvSpPr>
        <p:spPr>
          <a:xfrm>
            <a:off x="393700"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19E7B047-08E6-29C1-F101-C084D555AACC}"/>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000">
                <a:solidFill>
                  <a:schemeClr val="tx1"/>
                </a:solidFill>
              </a:defRPr>
            </a:lvl1pPr>
          </a:lstStyle>
          <a:p>
            <a:endParaRPr lang="en-US" sz="1000" dirty="0"/>
          </a:p>
        </p:txBody>
      </p:sp>
      <p:sp>
        <p:nvSpPr>
          <p:cNvPr id="11" name="Slide Number Placeholder 5">
            <a:extLst>
              <a:ext uri="{FF2B5EF4-FFF2-40B4-BE49-F238E27FC236}">
                <a16:creationId xmlns:a16="http://schemas.microsoft.com/office/drawing/2014/main" id="{3DE564C6-8AA0-935D-A919-07AFA15B335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000" kern="1200" smtClean="0">
                <a:solidFill>
                  <a:schemeClr val="tx1"/>
                </a:solidFill>
                <a:latin typeface="+mn-lt"/>
                <a:ea typeface="+mn-ea"/>
                <a:cs typeface="+mn-cs"/>
              </a:defRPr>
            </a:lvl1pPr>
          </a:lstStyle>
          <a:p>
            <a:fld id="{8574A810-7A8E-054F-9F6B-09E9C694ECF9}" type="slidenum">
              <a:rPr lang="en-US" smtClean="0"/>
              <a:pPr/>
              <a:t>‹#›</a:t>
            </a:fld>
            <a:endParaRPr lang="en-US" sz="1000" dirty="0"/>
          </a:p>
        </p:txBody>
      </p:sp>
      <p:sp>
        <p:nvSpPr>
          <p:cNvPr id="12" name="Text Placeholder 2">
            <a:extLst>
              <a:ext uri="{FF2B5EF4-FFF2-40B4-BE49-F238E27FC236}">
                <a16:creationId xmlns:a16="http://schemas.microsoft.com/office/drawing/2014/main" id="{4ABE46D3-8F05-1C7F-3EC7-20BFCC76C251}"/>
              </a:ext>
            </a:extLst>
          </p:cNvPr>
          <p:cNvSpPr>
            <a:spLocks noGrp="1"/>
          </p:cNvSpPr>
          <p:nvPr>
            <p:ph idx="10"/>
          </p:nvPr>
        </p:nvSpPr>
        <p:spPr>
          <a:xfrm>
            <a:off x="6256618"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739D2C21-36BF-25E7-8E97-1D17F313F7AF}"/>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980732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000">
                <a:solidFill>
                  <a:schemeClr val="tx1"/>
                </a:solidFill>
              </a:defRPr>
            </a:lvl1pPr>
          </a:lstStyle>
          <a:p>
            <a:endParaRPr lang="en-US" sz="10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000" kern="1200" smtClean="0">
                <a:solidFill>
                  <a:schemeClr val="tx1"/>
                </a:solidFill>
                <a:latin typeface="+mn-lt"/>
                <a:ea typeface="+mn-ea"/>
                <a:cs typeface="+mn-cs"/>
              </a:defRPr>
            </a:lvl1pPr>
          </a:lstStyle>
          <a:p>
            <a:fld id="{8574A810-7A8E-054F-9F6B-09E9C694ECF9}" type="slidenum">
              <a:rPr lang="en-US" smtClean="0"/>
              <a:pPr/>
              <a:t>‹#›</a:t>
            </a:fld>
            <a:endParaRPr lang="en-US" sz="1000" dirty="0"/>
          </a:p>
        </p:txBody>
      </p:sp>
      <p:sp>
        <p:nvSpPr>
          <p:cNvPr id="14" name="Text Placeholder 2">
            <a:extLst>
              <a:ext uri="{FF2B5EF4-FFF2-40B4-BE49-F238E27FC236}">
                <a16:creationId xmlns:a16="http://schemas.microsoft.com/office/drawing/2014/main" id="{80E090C5-E6C8-92F2-E8C2-A840B8F1807D}"/>
              </a:ext>
            </a:extLst>
          </p:cNvPr>
          <p:cNvSpPr>
            <a:spLocks noGrp="1"/>
          </p:cNvSpPr>
          <p:nvPr>
            <p:ph idx="10"/>
          </p:nvPr>
        </p:nvSpPr>
        <p:spPr>
          <a:xfrm>
            <a:off x="43180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a:extLst>
              <a:ext uri="{FF2B5EF4-FFF2-40B4-BE49-F238E27FC236}">
                <a16:creationId xmlns:a16="http://schemas.microsoft.com/office/drawing/2014/main" id="{0C6D2D15-AEC2-9F99-316F-C37AF863965D}"/>
              </a:ext>
            </a:extLst>
          </p:cNvPr>
          <p:cNvSpPr>
            <a:spLocks noGrp="1"/>
          </p:cNvSpPr>
          <p:nvPr>
            <p:ph idx="11"/>
          </p:nvPr>
        </p:nvSpPr>
        <p:spPr>
          <a:xfrm>
            <a:off x="8232273"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3840011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213811"/>
            <a:ext cx="2595934" cy="3780589"/>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000">
                <a:solidFill>
                  <a:schemeClr val="tx1"/>
                </a:solidFill>
              </a:defRPr>
            </a:lvl1pPr>
          </a:lstStyle>
          <a:p>
            <a:endParaRPr lang="en-US" sz="10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000" kern="1200" smtClean="0">
                <a:solidFill>
                  <a:schemeClr val="tx1"/>
                </a:solidFill>
                <a:latin typeface="+mn-lt"/>
                <a:ea typeface="+mn-ea"/>
                <a:cs typeface="+mn-cs"/>
              </a:defRPr>
            </a:lvl1pPr>
          </a:lstStyle>
          <a:p>
            <a:fld id="{8574A810-7A8E-054F-9F6B-09E9C694ECF9}" type="slidenum">
              <a:rPr lang="en-US" smtClean="0"/>
              <a:pPr/>
              <a:t>‹#›</a:t>
            </a:fld>
            <a:endParaRPr lang="en-US" sz="1000" dirty="0"/>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8" name="Text Placeholder 7">
            <a:extLst>
              <a:ext uri="{FF2B5EF4-FFF2-40B4-BE49-F238E27FC236}">
                <a16:creationId xmlns:a16="http://schemas.microsoft.com/office/drawing/2014/main" id="{4F70A9DA-D783-0627-3166-E13B68C2ADAC}"/>
              </a:ext>
            </a:extLst>
          </p:cNvPr>
          <p:cNvSpPr>
            <a:spLocks noGrp="1"/>
          </p:cNvSpPr>
          <p:nvPr>
            <p:ph type="body" sz="quarter" idx="12"/>
          </p:nvPr>
        </p:nvSpPr>
        <p:spPr>
          <a:xfrm>
            <a:off x="3334966" y="2213811"/>
            <a:ext cx="2595934" cy="3780589"/>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
        <p:nvSpPr>
          <p:cNvPr id="9" name="Text Placeholder 2">
            <a:extLst>
              <a:ext uri="{FF2B5EF4-FFF2-40B4-BE49-F238E27FC236}">
                <a16:creationId xmlns:a16="http://schemas.microsoft.com/office/drawing/2014/main" id="{75BF2647-8E8C-CAEE-896D-0E1567AF7E99}"/>
              </a:ext>
            </a:extLst>
          </p:cNvPr>
          <p:cNvSpPr>
            <a:spLocks noGrp="1"/>
          </p:cNvSpPr>
          <p:nvPr>
            <p:ph idx="13"/>
          </p:nvPr>
        </p:nvSpPr>
        <p:spPr>
          <a:xfrm>
            <a:off x="6264413" y="2213811"/>
            <a:ext cx="2595934" cy="3780589"/>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0" name="Text Placeholder 7">
            <a:extLst>
              <a:ext uri="{FF2B5EF4-FFF2-40B4-BE49-F238E27FC236}">
                <a16:creationId xmlns:a16="http://schemas.microsoft.com/office/drawing/2014/main" id="{37C6F143-221A-9959-8FBA-B9B1DB6602D0}"/>
              </a:ext>
            </a:extLst>
          </p:cNvPr>
          <p:cNvSpPr>
            <a:spLocks noGrp="1"/>
          </p:cNvSpPr>
          <p:nvPr>
            <p:ph type="body" sz="quarter" idx="14"/>
          </p:nvPr>
        </p:nvSpPr>
        <p:spPr>
          <a:xfrm>
            <a:off x="9205679" y="2213811"/>
            <a:ext cx="2595934" cy="3780589"/>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Tree>
    <p:extLst>
      <p:ext uri="{BB962C8B-B14F-4D97-AF65-F5344CB8AC3E}">
        <p14:creationId xmlns:p14="http://schemas.microsoft.com/office/powerpoint/2010/main" val="971241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B1182C5-F22B-2641-06DE-4EDACA3C1DDD}"/>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000">
                <a:solidFill>
                  <a:schemeClr val="tx1"/>
                </a:solidFill>
              </a:defRPr>
            </a:lvl1pPr>
          </a:lstStyle>
          <a:p>
            <a:endParaRPr lang="en-US" sz="1000" dirty="0"/>
          </a:p>
        </p:txBody>
      </p:sp>
      <p:sp>
        <p:nvSpPr>
          <p:cNvPr id="9" name="Slide Number Placeholder 5">
            <a:extLst>
              <a:ext uri="{FF2B5EF4-FFF2-40B4-BE49-F238E27FC236}">
                <a16:creationId xmlns:a16="http://schemas.microsoft.com/office/drawing/2014/main" id="{F97A4AD5-204B-38FD-4F33-270C2F9F5CC6}"/>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000" kern="1200" smtClean="0">
                <a:solidFill>
                  <a:schemeClr val="tx1"/>
                </a:solidFill>
                <a:latin typeface="+mn-lt"/>
                <a:ea typeface="+mn-ea"/>
                <a:cs typeface="+mn-cs"/>
              </a:defRPr>
            </a:lvl1pPr>
          </a:lstStyle>
          <a:p>
            <a:fld id="{8574A810-7A8E-054F-9F6B-09E9C694ECF9}" type="slidenum">
              <a:rPr lang="en-US" smtClean="0"/>
              <a:pPr/>
              <a:t>‹#›</a:t>
            </a:fld>
            <a:endParaRPr lang="en-US" sz="1000" dirty="0"/>
          </a:p>
        </p:txBody>
      </p:sp>
      <p:sp>
        <p:nvSpPr>
          <p:cNvPr id="2" name="Title Placeholder 1">
            <a:extLst>
              <a:ext uri="{FF2B5EF4-FFF2-40B4-BE49-F238E27FC236}">
                <a16:creationId xmlns:a16="http://schemas.microsoft.com/office/drawing/2014/main" id="{75CF9983-3FD7-FAE4-9F0B-B2CE806D891D}"/>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1694105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1012CBCC-C555-8C11-443D-86D6F7A45CF8}"/>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000">
                <a:solidFill>
                  <a:schemeClr val="tx1"/>
                </a:solidFill>
              </a:defRPr>
            </a:lvl1pPr>
          </a:lstStyle>
          <a:p>
            <a:endParaRPr lang="en-US" sz="1000" dirty="0"/>
          </a:p>
        </p:txBody>
      </p:sp>
      <p:sp>
        <p:nvSpPr>
          <p:cNvPr id="8" name="Slide Number Placeholder 5">
            <a:extLst>
              <a:ext uri="{FF2B5EF4-FFF2-40B4-BE49-F238E27FC236}">
                <a16:creationId xmlns:a16="http://schemas.microsoft.com/office/drawing/2014/main" id="{B69B260B-B882-BF7F-1BB1-28B9578A25A2}"/>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000" kern="1200" smtClean="0">
                <a:solidFill>
                  <a:schemeClr val="tx1"/>
                </a:solidFill>
                <a:latin typeface="+mn-lt"/>
                <a:ea typeface="+mn-ea"/>
                <a:cs typeface="+mn-cs"/>
              </a:defRPr>
            </a:lvl1pPr>
          </a:lstStyle>
          <a:p>
            <a:fld id="{8574A810-7A8E-054F-9F6B-09E9C694ECF9}" type="slidenum">
              <a:rPr lang="en-US" smtClean="0"/>
              <a:pPr/>
              <a:t>‹#›</a:t>
            </a:fld>
            <a:endParaRPr lang="en-US" sz="1000" dirty="0"/>
          </a:p>
        </p:txBody>
      </p:sp>
    </p:spTree>
    <p:extLst>
      <p:ext uri="{BB962C8B-B14F-4D97-AF65-F5344CB8AC3E}">
        <p14:creationId xmlns:p14="http://schemas.microsoft.com/office/powerpoint/2010/main" val="185679415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548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87ED2E-D8FF-5C8C-ED50-59BA3091C3E1}"/>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5B0E1CB-6DCA-2E9F-2B74-4309B4084C09}"/>
              </a:ext>
            </a:extLst>
          </p:cNvPr>
          <p:cNvSpPr>
            <a:spLocks noGrp="1"/>
          </p:cNvSpPr>
          <p:nvPr>
            <p:ph type="body"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C75650C-2983-5B02-8421-FF1818435433}"/>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000">
                <a:solidFill>
                  <a:schemeClr val="tx1"/>
                </a:solidFill>
              </a:defRPr>
            </a:lvl1pPr>
          </a:lstStyle>
          <a:p>
            <a:endParaRPr lang="en-US" sz="1000" dirty="0"/>
          </a:p>
        </p:txBody>
      </p:sp>
      <p:sp>
        <p:nvSpPr>
          <p:cNvPr id="6" name="Slide Number Placeholder 5">
            <a:extLst>
              <a:ext uri="{FF2B5EF4-FFF2-40B4-BE49-F238E27FC236}">
                <a16:creationId xmlns:a16="http://schemas.microsoft.com/office/drawing/2014/main" id="{D872C88C-1AB3-96BA-C9E5-3435A4BD59B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000" kern="1200" smtClean="0">
                <a:solidFill>
                  <a:schemeClr val="tx1"/>
                </a:solidFill>
                <a:latin typeface="+mn-lt"/>
                <a:ea typeface="+mn-ea"/>
                <a:cs typeface="+mn-cs"/>
              </a:defRPr>
            </a:lvl1pPr>
          </a:lstStyle>
          <a:p>
            <a:fld id="{8574A810-7A8E-054F-9F6B-09E9C694ECF9}" type="slidenum">
              <a:rPr lang="en-US" smtClean="0"/>
              <a:pPr/>
              <a:t>‹#›</a:t>
            </a:fld>
            <a:endParaRPr lang="en-US" sz="1000" dirty="0"/>
          </a:p>
        </p:txBody>
      </p:sp>
    </p:spTree>
    <p:extLst>
      <p:ext uri="{BB962C8B-B14F-4D97-AF65-F5344CB8AC3E}">
        <p14:creationId xmlns:p14="http://schemas.microsoft.com/office/powerpoint/2010/main" val="2081855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9" r:id="rId5"/>
    <p:sldLayoutId id="2147483654" r:id="rId6"/>
    <p:sldLayoutId id="2147483655" r:id="rId7"/>
    <p:sldLayoutId id="2147483656" r:id="rId8"/>
  </p:sldLayoutIdLst>
  <p:hf hdr="0" dt="0"/>
  <p:txStyles>
    <p:titleStyle>
      <a:lvl1pPr algn="l" defTabSz="914400" rtl="0" eaLnBrk="1" latinLnBrk="0" hangingPunct="1">
        <a:lnSpc>
          <a:spcPct val="90000"/>
        </a:lnSpc>
        <a:spcBef>
          <a:spcPct val="0"/>
        </a:spcBef>
        <a:buNone/>
        <a:defRPr sz="29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48" userDrawn="1">
          <p15:clr>
            <a:srgbClr val="F26B43"/>
          </p15:clr>
        </p15:guide>
        <p15:guide id="4" pos="1264" userDrawn="1">
          <p15:clr>
            <a:srgbClr val="F26B43"/>
          </p15:clr>
        </p15:guide>
        <p15:guide id="5" pos="1480" userDrawn="1">
          <p15:clr>
            <a:srgbClr val="F26B43"/>
          </p15:clr>
        </p15:guide>
        <p15:guide id="6" pos="2496" userDrawn="1">
          <p15:clr>
            <a:srgbClr val="F26B43"/>
          </p15:clr>
        </p15:guide>
        <p15:guide id="7" pos="2712" userDrawn="1">
          <p15:clr>
            <a:srgbClr val="F26B43"/>
          </p15:clr>
        </p15:guide>
        <p15:guide id="8" pos="3736" userDrawn="1">
          <p15:clr>
            <a:srgbClr val="F26B43"/>
          </p15:clr>
        </p15:guide>
        <p15:guide id="9" pos="3944" userDrawn="1">
          <p15:clr>
            <a:srgbClr val="F26B43"/>
          </p15:clr>
        </p15:guide>
        <p15:guide id="10" pos="4968" userDrawn="1">
          <p15:clr>
            <a:srgbClr val="F26B43"/>
          </p15:clr>
        </p15:guide>
        <p15:guide id="11" pos="5184" userDrawn="1">
          <p15:clr>
            <a:srgbClr val="F26B43"/>
          </p15:clr>
        </p15:guide>
        <p15:guide id="12" pos="6200" userDrawn="1">
          <p15:clr>
            <a:srgbClr val="F26B43"/>
          </p15:clr>
        </p15:guide>
        <p15:guide id="13" pos="6416" userDrawn="1">
          <p15:clr>
            <a:srgbClr val="F26B43"/>
          </p15:clr>
        </p15:guide>
        <p15:guide id="14" pos="7432" userDrawn="1">
          <p15:clr>
            <a:srgbClr val="F26B43"/>
          </p15:clr>
        </p15:guide>
        <p15:guide id="15" orient="horz" userDrawn="1">
          <p15:clr>
            <a:srgbClr val="F26B43"/>
          </p15:clr>
        </p15:guide>
        <p15:guide id="17" orient="horz" pos="248" userDrawn="1">
          <p15:clr>
            <a:srgbClr val="F26B43"/>
          </p15:clr>
        </p15:guide>
        <p15:guide id="18" orient="horz" pos="656" userDrawn="1">
          <p15:clr>
            <a:srgbClr val="F26B43"/>
          </p15:clr>
        </p15:guide>
        <p15:guide id="19" orient="horz" pos="872" userDrawn="1">
          <p15:clr>
            <a:srgbClr val="F26B43"/>
          </p15:clr>
        </p15:guide>
        <p15:guide id="20" orient="horz" pos="1280" userDrawn="1">
          <p15:clr>
            <a:srgbClr val="F26B43"/>
          </p15:clr>
        </p15:guide>
        <p15:guide id="21" orient="horz" pos="1496" userDrawn="1">
          <p15:clr>
            <a:srgbClr val="F26B43"/>
          </p15:clr>
        </p15:guide>
        <p15:guide id="22" orient="horz" pos="1904" userDrawn="1">
          <p15:clr>
            <a:srgbClr val="F26B43"/>
          </p15:clr>
        </p15:guide>
        <p15:guide id="23" orient="horz" pos="2120" userDrawn="1">
          <p15:clr>
            <a:srgbClr val="F26B43"/>
          </p15:clr>
        </p15:guide>
        <p15:guide id="24" orient="horz" pos="2528" userDrawn="1">
          <p15:clr>
            <a:srgbClr val="F26B43"/>
          </p15:clr>
        </p15:guide>
        <p15:guide id="25" orient="horz" pos="2744" userDrawn="1">
          <p15:clr>
            <a:srgbClr val="F26B43"/>
          </p15:clr>
        </p15:guide>
        <p15:guide id="26" orient="horz" pos="3152" userDrawn="1">
          <p15:clr>
            <a:srgbClr val="F26B43"/>
          </p15:clr>
        </p15:guide>
        <p15:guide id="27" orient="horz" pos="3368" userDrawn="1">
          <p15:clr>
            <a:srgbClr val="F26B43"/>
          </p15:clr>
        </p15:guide>
        <p15:guide id="28" orient="horz" pos="3776" userDrawn="1">
          <p15:clr>
            <a:srgbClr val="F26B43"/>
          </p15:clr>
        </p15:guide>
        <p15:guide id="29"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3.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1.xml"/><Relationship Id="rId1" Type="http://schemas.openxmlformats.org/officeDocument/2006/relationships/slideLayout" Target="../slideLayouts/slideLayout8.xml"/><Relationship Id="rId5" Type="http://schemas.openxmlformats.org/officeDocument/2006/relationships/image" Target="../media/image40.png"/><Relationship Id="rId4" Type="http://schemas.openxmlformats.org/officeDocument/2006/relationships/image" Target="../media/image39.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6.xml"/><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7.xml"/><Relationship Id="rId1" Type="http://schemas.openxmlformats.org/officeDocument/2006/relationships/slideLayout" Target="../slideLayouts/slideLayout8.xml"/><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5F939-D34A-71EB-689B-60A3AE9D20B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47CD47D-0812-5F5E-8AA0-B4316F994F47}"/>
              </a:ext>
            </a:extLst>
          </p:cNvPr>
          <p:cNvSpPr>
            <a:spLocks noGrp="1"/>
          </p:cNvSpPr>
          <p:nvPr>
            <p:ph type="ctrTitle"/>
          </p:nvPr>
        </p:nvSpPr>
        <p:spPr>
          <a:xfrm>
            <a:off x="393700" y="1738755"/>
            <a:ext cx="9448800" cy="2491490"/>
          </a:xfrm>
        </p:spPr>
        <p:txBody>
          <a:bodyPr>
            <a:noAutofit/>
          </a:bodyPr>
          <a:lstStyle/>
          <a:p>
            <a:r>
              <a:rPr lang="en-US" sz="3400">
                <a:solidFill>
                  <a:srgbClr val="0C0C0C"/>
                </a:solidFill>
                <a:latin typeface="OpenAI Sans" panose="020B0604020202020204" charset="0"/>
              </a:rPr>
              <a:t>What Shapes Student CGPA?</a:t>
            </a:r>
            <a:br>
              <a:rPr lang="en-US" sz="3400">
                <a:solidFill>
                  <a:srgbClr val="0C0C0C"/>
                </a:solidFill>
                <a:latin typeface="OpenAI Sans" panose="020B0604020202020204" charset="0"/>
              </a:rPr>
            </a:br>
            <a:r>
              <a:rPr lang="en-US" sz="3400">
                <a:solidFill>
                  <a:srgbClr val="0C0C0C"/>
                </a:solidFill>
                <a:latin typeface="OpenAI Sans" panose="020B0604020202020204" charset="0"/>
              </a:rPr>
              <a:t>An Engineering Student Academic Performance Dataset and Machine Learning Analysis</a:t>
            </a:r>
            <a:endParaRPr lang="en-US" sz="3400" dirty="0">
              <a:solidFill>
                <a:srgbClr val="0C0C0C"/>
              </a:solidFill>
              <a:latin typeface="OpenAI Sans" panose="020B0604020202020204" charset="0"/>
            </a:endParaRPr>
          </a:p>
        </p:txBody>
      </p:sp>
      <p:sp>
        <p:nvSpPr>
          <p:cNvPr id="5" name="Subtitle 4">
            <a:extLst>
              <a:ext uri="{FF2B5EF4-FFF2-40B4-BE49-F238E27FC236}">
                <a16:creationId xmlns:a16="http://schemas.microsoft.com/office/drawing/2014/main" id="{283B85AD-626B-46B7-0C36-31F5BABDE10D}"/>
              </a:ext>
            </a:extLst>
          </p:cNvPr>
          <p:cNvSpPr>
            <a:spLocks noGrp="1"/>
          </p:cNvSpPr>
          <p:nvPr>
            <p:ph type="subTitle" idx="1"/>
          </p:nvPr>
        </p:nvSpPr>
        <p:spPr>
          <a:xfrm>
            <a:off x="393700" y="4742208"/>
            <a:ext cx="5702301" cy="1080246"/>
          </a:xfrm>
        </p:spPr>
        <p:txBody>
          <a:bodyPr>
            <a:noAutofit/>
          </a:bodyPr>
          <a:lstStyle/>
          <a:p>
            <a:pPr>
              <a:lnSpc>
                <a:spcPct val="100000"/>
              </a:lnSpc>
            </a:pPr>
            <a:r>
              <a:rPr lang="en-US" sz="1400">
                <a:solidFill>
                  <a:srgbClr val="2E3238"/>
                </a:solidFill>
                <a:latin typeface="Helvetica Neue"/>
              </a:rPr>
              <a:t>1,108 usable responses across four universities</a:t>
            </a:r>
          </a:p>
          <a:p>
            <a:pPr>
              <a:lnSpc>
                <a:spcPct val="100000"/>
              </a:lnSpc>
            </a:pPr>
            <a:r>
              <a:rPr lang="en-US" sz="1400">
                <a:solidFill>
                  <a:srgbClr val="2E3238"/>
                </a:solidFill>
                <a:latin typeface="Helvetica Neue"/>
              </a:rPr>
              <a:t>Behaviour patterns, SGPA prediction, and CGPA prediction</a:t>
            </a:r>
            <a:endParaRPr lang="en-US" sz="1400" dirty="0">
              <a:solidFill>
                <a:srgbClr val="2E3238"/>
              </a:solidFill>
              <a:latin typeface="Helvetica Neue"/>
            </a:endParaRPr>
          </a:p>
        </p:txBody>
      </p:sp>
      <p:sp>
        <p:nvSpPr>
          <p:cNvPr id="6" name="Subtitle 4">
            <a:extLst>
              <a:ext uri="{FF2B5EF4-FFF2-40B4-BE49-F238E27FC236}">
                <a16:creationId xmlns:a16="http://schemas.microsoft.com/office/drawing/2014/main" id="{543BAB87-2ABE-9D84-8400-3B5ABA08B3C2}"/>
              </a:ext>
            </a:extLst>
          </p:cNvPr>
          <p:cNvSpPr txBox="1">
            <a:spLocks/>
          </p:cNvSpPr>
          <p:nvPr/>
        </p:nvSpPr>
        <p:spPr>
          <a:xfrm>
            <a:off x="393700" y="392241"/>
            <a:ext cx="5702300" cy="649159"/>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a:t>ACADEMIC PERFORMANCE  /  ENGINEERING STUDENTS</a:t>
            </a:r>
            <a:endParaRPr lang="en-US" sz="1800" dirty="0"/>
          </a:p>
        </p:txBody>
      </p:sp>
      <p:sp>
        <p:nvSpPr>
          <p:cNvPr id="2" name="Rectangle: Rounded Corners 1">
            <a:extLst>
              <a:ext uri="{FF2B5EF4-FFF2-40B4-BE49-F238E27FC236}">
                <a16:creationId xmlns:a16="http://schemas.microsoft.com/office/drawing/2014/main" id="{B3FAC5F5-A700-4DD8-8175-D00095733C3D}"/>
              </a:ext>
            </a:extLst>
          </p:cNvPr>
          <p:cNvSpPr/>
          <p:nvPr/>
        </p:nvSpPr>
        <p:spPr>
          <a:xfrm>
            <a:off x="342900" y="5918200"/>
            <a:ext cx="1676400" cy="482600"/>
          </a:xfrm>
          <a:prstGeom prst="roundRect">
            <a:avLst/>
          </a:prstGeom>
          <a:solidFill>
            <a:srgbClr val="F1F3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rgbClr val="181B1F"/>
                </a:solidFill>
                <a:latin typeface="Helvetica Neue"/>
              </a:rPr>
              <a:t>STUDENT</a:t>
            </a:r>
          </a:p>
        </p:txBody>
      </p:sp>
      <p:sp>
        <p:nvSpPr>
          <p:cNvPr id="3" name="Arrow: Right 2">
            <a:extLst>
              <a:ext uri="{FF2B5EF4-FFF2-40B4-BE49-F238E27FC236}">
                <a16:creationId xmlns:a16="http://schemas.microsoft.com/office/drawing/2014/main" id="{355A8B39-4D3A-4467-805D-B85FBAEBD8E6}"/>
              </a:ext>
            </a:extLst>
          </p:cNvPr>
          <p:cNvSpPr/>
          <p:nvPr/>
        </p:nvSpPr>
        <p:spPr>
          <a:xfrm>
            <a:off x="2108200" y="6057900"/>
            <a:ext cx="533400" cy="203200"/>
          </a:xfrm>
          <a:prstGeom prst="rightArrow">
            <a:avLst/>
          </a:prstGeom>
          <a:solidFill>
            <a:srgbClr val="BBC1C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7E2024B5-832D-49B8-B02C-B7149F3C830F}"/>
              </a:ext>
            </a:extLst>
          </p:cNvPr>
          <p:cNvSpPr/>
          <p:nvPr/>
        </p:nvSpPr>
        <p:spPr>
          <a:xfrm>
            <a:off x="2641600" y="5918200"/>
            <a:ext cx="1676400" cy="482600"/>
          </a:xfrm>
          <a:prstGeom prst="roundRect">
            <a:avLst/>
          </a:prstGeom>
          <a:solidFill>
            <a:srgbClr val="F1F3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rgbClr val="181B1F"/>
                </a:solidFill>
                <a:latin typeface="Helvetica Neue"/>
              </a:rPr>
              <a:t>FORM</a:t>
            </a:r>
          </a:p>
        </p:txBody>
      </p:sp>
      <p:sp>
        <p:nvSpPr>
          <p:cNvPr id="8" name="Arrow: Right 7">
            <a:extLst>
              <a:ext uri="{FF2B5EF4-FFF2-40B4-BE49-F238E27FC236}">
                <a16:creationId xmlns:a16="http://schemas.microsoft.com/office/drawing/2014/main" id="{4D88F80F-44F8-4FFE-8B70-8359EE7288A5}"/>
              </a:ext>
            </a:extLst>
          </p:cNvPr>
          <p:cNvSpPr/>
          <p:nvPr/>
        </p:nvSpPr>
        <p:spPr>
          <a:xfrm>
            <a:off x="4406900" y="6057900"/>
            <a:ext cx="533400" cy="203200"/>
          </a:xfrm>
          <a:prstGeom prst="rightArrow">
            <a:avLst/>
          </a:prstGeom>
          <a:solidFill>
            <a:srgbClr val="BBC1C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28EE0BE5-0429-4138-BCB3-5F160E961607}"/>
              </a:ext>
            </a:extLst>
          </p:cNvPr>
          <p:cNvSpPr/>
          <p:nvPr/>
        </p:nvSpPr>
        <p:spPr>
          <a:xfrm>
            <a:off x="4940300" y="5918200"/>
            <a:ext cx="1676400" cy="482600"/>
          </a:xfrm>
          <a:prstGeom prst="roundRect">
            <a:avLst/>
          </a:prstGeom>
          <a:solidFill>
            <a:srgbClr val="F1F3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rgbClr val="181B1F"/>
                </a:solidFill>
                <a:latin typeface="Helvetica Neue"/>
              </a:rPr>
              <a:t>DATA</a:t>
            </a:r>
          </a:p>
        </p:txBody>
      </p:sp>
      <p:sp>
        <p:nvSpPr>
          <p:cNvPr id="10" name="Arrow: Right 9">
            <a:extLst>
              <a:ext uri="{FF2B5EF4-FFF2-40B4-BE49-F238E27FC236}">
                <a16:creationId xmlns:a16="http://schemas.microsoft.com/office/drawing/2014/main" id="{D2EB4B1E-A90C-4223-97EE-B91D09D8AF1B}"/>
              </a:ext>
            </a:extLst>
          </p:cNvPr>
          <p:cNvSpPr/>
          <p:nvPr/>
        </p:nvSpPr>
        <p:spPr>
          <a:xfrm>
            <a:off x="6705600" y="6057900"/>
            <a:ext cx="533400" cy="203200"/>
          </a:xfrm>
          <a:prstGeom prst="rightArrow">
            <a:avLst/>
          </a:prstGeom>
          <a:solidFill>
            <a:srgbClr val="BBC1C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33670AD7-6886-4262-9490-1238C991DD3D}"/>
              </a:ext>
            </a:extLst>
          </p:cNvPr>
          <p:cNvSpPr/>
          <p:nvPr/>
        </p:nvSpPr>
        <p:spPr>
          <a:xfrm>
            <a:off x="7239000" y="5918200"/>
            <a:ext cx="1676400" cy="482600"/>
          </a:xfrm>
          <a:prstGeom prst="roundRect">
            <a:avLst/>
          </a:prstGeom>
          <a:solidFill>
            <a:srgbClr val="F1F3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rgbClr val="181B1F"/>
                </a:solidFill>
                <a:latin typeface="Helvetica Neue"/>
              </a:rPr>
              <a:t>RULES</a:t>
            </a:r>
          </a:p>
        </p:txBody>
      </p:sp>
      <p:sp>
        <p:nvSpPr>
          <p:cNvPr id="12" name="Arrow: Right 11">
            <a:extLst>
              <a:ext uri="{FF2B5EF4-FFF2-40B4-BE49-F238E27FC236}">
                <a16:creationId xmlns:a16="http://schemas.microsoft.com/office/drawing/2014/main" id="{4BE6E414-3FA9-4436-9C8A-427A4F97D88D}"/>
              </a:ext>
            </a:extLst>
          </p:cNvPr>
          <p:cNvSpPr/>
          <p:nvPr/>
        </p:nvSpPr>
        <p:spPr>
          <a:xfrm>
            <a:off x="9004300" y="6057900"/>
            <a:ext cx="533400" cy="203200"/>
          </a:xfrm>
          <a:prstGeom prst="rightArrow">
            <a:avLst/>
          </a:prstGeom>
          <a:solidFill>
            <a:srgbClr val="BBC1C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92FB681E-A772-4A4B-A157-153D35E98063}"/>
              </a:ext>
            </a:extLst>
          </p:cNvPr>
          <p:cNvSpPr/>
          <p:nvPr/>
        </p:nvSpPr>
        <p:spPr>
          <a:xfrm>
            <a:off x="9537700" y="5918200"/>
            <a:ext cx="1676400" cy="482600"/>
          </a:xfrm>
          <a:prstGeom prst="roundRect">
            <a:avLst/>
          </a:prstGeom>
          <a:solidFill>
            <a:srgbClr val="43B0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rgbClr val="FFFFFF"/>
                </a:solidFill>
                <a:latin typeface="Helvetica Neue"/>
              </a:rPr>
              <a:t>CGPA</a:t>
            </a:r>
          </a:p>
        </p:txBody>
      </p:sp>
    </p:spTree>
    <p:extLst>
      <p:ext uri="{BB962C8B-B14F-4D97-AF65-F5344CB8AC3E}">
        <p14:creationId xmlns:p14="http://schemas.microsoft.com/office/powerpoint/2010/main" val="2190456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OPENING</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What Are We Trying to Understand?</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2</a:t>
            </a:r>
          </a:p>
        </p:txBody>
      </p:sp>
      <p:sp>
        <p:nvSpPr>
          <p:cNvPr id="7" name="Rounded Rectangle 6"/>
          <p:cNvSpPr/>
          <p:nvPr/>
        </p:nvSpPr>
        <p:spPr>
          <a:xfrm>
            <a:off x="548640" y="1463040"/>
            <a:ext cx="3520440" cy="32461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959" y="1737360"/>
            <a:ext cx="731520" cy="7315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800" b="1">
                <a:solidFill>
                  <a:srgbClr val="FFFFFF"/>
                </a:solidFill>
                <a:latin typeface="Helvetica Neue"/>
              </a:rPr>
              <a:t>1</a:t>
            </a:r>
          </a:p>
        </p:txBody>
      </p:sp>
      <p:sp>
        <p:nvSpPr>
          <p:cNvPr id="9" name="TextBox 8"/>
          <p:cNvSpPr txBox="1"/>
          <p:nvPr/>
        </p:nvSpPr>
        <p:spPr>
          <a:xfrm>
            <a:off x="822959" y="2651760"/>
            <a:ext cx="3017520" cy="1280160"/>
          </a:xfrm>
          <a:prstGeom prst="rect">
            <a:avLst/>
          </a:prstGeom>
          <a:noFill/>
        </p:spPr>
        <p:txBody>
          <a:bodyPr wrap="square" lIns="27432" tIns="27432" rIns="27432" bIns="27432" anchor="t">
            <a:noAutofit/>
          </a:bodyPr>
          <a:lstStyle/>
          <a:p>
            <a:pPr algn="l">
              <a:lnSpc>
                <a:spcPct val="105000"/>
              </a:lnSpc>
            </a:pPr>
            <a:r>
              <a:rPr sz="2300" b="1">
                <a:solidFill>
                  <a:srgbClr val="0B0B0B"/>
                </a:solidFill>
                <a:latin typeface="Helvetica Neue"/>
              </a:rPr>
              <a:t>What do students report?</a:t>
            </a:r>
          </a:p>
        </p:txBody>
      </p:sp>
      <p:sp>
        <p:nvSpPr>
          <p:cNvPr id="10" name="TextBox 9"/>
          <p:cNvSpPr txBox="1"/>
          <p:nvPr/>
        </p:nvSpPr>
        <p:spPr>
          <a:xfrm>
            <a:off x="822959" y="3931920"/>
            <a:ext cx="3017520" cy="731520"/>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Attendance, study time, stress, sleep, support, environment…</a:t>
            </a:r>
          </a:p>
        </p:txBody>
      </p:sp>
      <p:sp>
        <p:nvSpPr>
          <p:cNvPr id="11" name="Rounded Rectangle 10"/>
          <p:cNvSpPr/>
          <p:nvPr/>
        </p:nvSpPr>
        <p:spPr>
          <a:xfrm>
            <a:off x="4297679" y="1463040"/>
            <a:ext cx="3520440" cy="32461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571999" y="1737360"/>
            <a:ext cx="731520" cy="7315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800" b="1">
                <a:solidFill>
                  <a:srgbClr val="FFFFFF"/>
                </a:solidFill>
                <a:latin typeface="Helvetica Neue"/>
              </a:rPr>
              <a:t>2</a:t>
            </a:r>
          </a:p>
        </p:txBody>
      </p:sp>
      <p:sp>
        <p:nvSpPr>
          <p:cNvPr id="13" name="TextBox 12"/>
          <p:cNvSpPr txBox="1"/>
          <p:nvPr/>
        </p:nvSpPr>
        <p:spPr>
          <a:xfrm>
            <a:off x="4571999" y="2651760"/>
            <a:ext cx="3017520" cy="1280160"/>
          </a:xfrm>
          <a:prstGeom prst="rect">
            <a:avLst/>
          </a:prstGeom>
          <a:noFill/>
        </p:spPr>
        <p:txBody>
          <a:bodyPr wrap="square" lIns="27432" tIns="27432" rIns="27432" bIns="27432" anchor="t">
            <a:noAutofit/>
          </a:bodyPr>
          <a:lstStyle/>
          <a:p>
            <a:pPr algn="l">
              <a:lnSpc>
                <a:spcPct val="105000"/>
              </a:lnSpc>
            </a:pPr>
            <a:r>
              <a:rPr sz="2300" b="1">
                <a:solidFill>
                  <a:srgbClr val="0B0B0B"/>
                </a:solidFill>
                <a:latin typeface="Helvetica Neue"/>
              </a:rPr>
              <a:t>Which patterns appear with better or worse results?</a:t>
            </a:r>
          </a:p>
        </p:txBody>
      </p:sp>
      <p:sp>
        <p:nvSpPr>
          <p:cNvPr id="14" name="TextBox 13"/>
          <p:cNvSpPr txBox="1"/>
          <p:nvPr/>
        </p:nvSpPr>
        <p:spPr>
          <a:xfrm>
            <a:off x="4571999" y="3931920"/>
            <a:ext cx="3017520" cy="731520"/>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Compare answer groups with CGPA groups</a:t>
            </a:r>
          </a:p>
        </p:txBody>
      </p:sp>
      <p:sp>
        <p:nvSpPr>
          <p:cNvPr id="15" name="Rounded Rectangle 14"/>
          <p:cNvSpPr/>
          <p:nvPr/>
        </p:nvSpPr>
        <p:spPr>
          <a:xfrm>
            <a:off x="8046719" y="1463040"/>
            <a:ext cx="3520440" cy="32461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321040" y="1737360"/>
            <a:ext cx="731520" cy="7315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800" b="1">
                <a:solidFill>
                  <a:srgbClr val="FFFFFF"/>
                </a:solidFill>
                <a:latin typeface="Helvetica Neue"/>
              </a:rPr>
              <a:t>3</a:t>
            </a:r>
          </a:p>
        </p:txBody>
      </p:sp>
      <p:sp>
        <p:nvSpPr>
          <p:cNvPr id="17" name="TextBox 16"/>
          <p:cNvSpPr txBox="1"/>
          <p:nvPr/>
        </p:nvSpPr>
        <p:spPr>
          <a:xfrm>
            <a:off x="8321040" y="2651760"/>
            <a:ext cx="3017520" cy="1280160"/>
          </a:xfrm>
          <a:prstGeom prst="rect">
            <a:avLst/>
          </a:prstGeom>
          <a:noFill/>
        </p:spPr>
        <p:txBody>
          <a:bodyPr wrap="square" lIns="27432" tIns="27432" rIns="27432" bIns="27432" anchor="t">
            <a:noAutofit/>
          </a:bodyPr>
          <a:lstStyle/>
          <a:p>
            <a:pPr algn="l">
              <a:lnSpc>
                <a:spcPct val="105000"/>
              </a:lnSpc>
            </a:pPr>
            <a:r>
              <a:rPr sz="2300" b="1">
                <a:solidFill>
                  <a:srgbClr val="0B0B0B"/>
                </a:solidFill>
                <a:latin typeface="Helvetica Neue"/>
              </a:rPr>
              <a:t>Can those answers predict a new student's result?</a:t>
            </a:r>
          </a:p>
        </p:txBody>
      </p:sp>
      <p:sp>
        <p:nvSpPr>
          <p:cNvPr id="18" name="TextBox 17"/>
          <p:cNvSpPr txBox="1"/>
          <p:nvPr/>
        </p:nvSpPr>
        <p:spPr>
          <a:xfrm>
            <a:off x="8321040" y="3931920"/>
            <a:ext cx="3017520" cy="731520"/>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Train on some students, test on unseen ones</a:t>
            </a:r>
          </a:p>
        </p:txBody>
      </p:sp>
      <p:sp>
        <p:nvSpPr>
          <p:cNvPr id="19" name="Rounded Rectangle 18"/>
          <p:cNvSpPr/>
          <p:nvPr/>
        </p:nvSpPr>
        <p:spPr>
          <a:xfrm>
            <a:off x="548640" y="4937760"/>
            <a:ext cx="1847088"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600" b="0">
                <a:solidFill>
                  <a:srgbClr val="0B0B0B"/>
                </a:solidFill>
                <a:latin typeface="Helvetica Neue"/>
              </a:rPr>
              <a:t>Data</a:t>
            </a:r>
          </a:p>
        </p:txBody>
      </p:sp>
      <p:sp>
        <p:nvSpPr>
          <p:cNvPr id="20" name="Right Arrow 19"/>
          <p:cNvSpPr/>
          <p:nvPr/>
        </p:nvSpPr>
        <p:spPr>
          <a:xfrm>
            <a:off x="2450592" y="5125212"/>
            <a:ext cx="347472"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2852928" y="4937760"/>
            <a:ext cx="1847088"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600" b="0">
                <a:solidFill>
                  <a:srgbClr val="0B0B0B"/>
                </a:solidFill>
                <a:latin typeface="Helvetica Neue"/>
              </a:rPr>
              <a:t>Student behaviour</a:t>
            </a:r>
          </a:p>
        </p:txBody>
      </p:sp>
      <p:sp>
        <p:nvSpPr>
          <p:cNvPr id="22" name="Right Arrow 21"/>
          <p:cNvSpPr/>
          <p:nvPr/>
        </p:nvSpPr>
        <p:spPr>
          <a:xfrm>
            <a:off x="4754880" y="5125212"/>
            <a:ext cx="347472"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5157216" y="4937760"/>
            <a:ext cx="1847088"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600" b="0">
                <a:solidFill>
                  <a:srgbClr val="0B0B0B"/>
                </a:solidFill>
                <a:latin typeface="Helvetica Neue"/>
              </a:rPr>
              <a:t>Understandable rules</a:t>
            </a:r>
          </a:p>
        </p:txBody>
      </p:sp>
      <p:sp>
        <p:nvSpPr>
          <p:cNvPr id="24" name="Right Arrow 23"/>
          <p:cNvSpPr/>
          <p:nvPr/>
        </p:nvSpPr>
        <p:spPr>
          <a:xfrm>
            <a:off x="7059168" y="5125212"/>
            <a:ext cx="347472"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7461504" y="4937760"/>
            <a:ext cx="1847088"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600" b="0">
                <a:solidFill>
                  <a:srgbClr val="0B0B0B"/>
                </a:solidFill>
                <a:latin typeface="Helvetica Neue"/>
              </a:rPr>
              <a:t>Train / Test</a:t>
            </a:r>
          </a:p>
        </p:txBody>
      </p:sp>
      <p:sp>
        <p:nvSpPr>
          <p:cNvPr id="26" name="Right Arrow 25"/>
          <p:cNvSpPr/>
          <p:nvPr/>
        </p:nvSpPr>
        <p:spPr>
          <a:xfrm>
            <a:off x="9363456" y="5125212"/>
            <a:ext cx="347472"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765792" y="4937760"/>
            <a:ext cx="1847088"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600" b="0">
                <a:solidFill>
                  <a:srgbClr val="0B0B0B"/>
                </a:solidFill>
                <a:latin typeface="Helvetica Neue"/>
              </a:rPr>
              <a:t>Unseen-student result</a:t>
            </a:r>
          </a:p>
        </p:txBody>
      </p:sp>
      <p:sp>
        <p:nvSpPr>
          <p:cNvPr id="28" name="TextBox 27"/>
          <p:cNvSpPr txBox="1"/>
          <p:nvPr/>
        </p:nvSpPr>
        <p:spPr>
          <a:xfrm>
            <a:off x="548640" y="5760720"/>
            <a:ext cx="11064240" cy="457200"/>
          </a:xfrm>
          <a:prstGeom prst="rect">
            <a:avLst/>
          </a:prstGeom>
          <a:noFill/>
        </p:spPr>
        <p:txBody>
          <a:bodyPr wrap="square" lIns="27432" tIns="27432" rIns="27432" bIns="27432" anchor="t">
            <a:noAutofit/>
          </a:bodyPr>
          <a:lstStyle/>
          <a:p>
            <a:pPr algn="ctr">
              <a:lnSpc>
                <a:spcPct val="105000"/>
              </a:lnSpc>
            </a:pPr>
            <a:r>
              <a:rPr sz="1900" b="1">
                <a:solidFill>
                  <a:srgbClr val="1F3B5C"/>
                </a:solidFill>
                <a:latin typeface="Helvetica Neue"/>
              </a:rPr>
              <a:t>First we understand the data; then we test prediction.</a:t>
            </a:r>
          </a:p>
        </p:txBody>
      </p:sp>
      <p:sp>
        <p:nvSpPr>
          <p:cNvPr id="29" name="SimpleLightSectionLabel">
            <a:extLst>
              <a:ext uri="{FF2B5EF4-FFF2-40B4-BE49-F238E27FC236}">
                <a16:creationId xmlns:a16="http://schemas.microsoft.com/office/drawing/2014/main" id="{249FF687-826F-46DA-90BE-85791D661F56}"/>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PURPOSE + SOURCE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DATA COLLECTION</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Data Came From Student Surveys</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5</a:t>
            </a:r>
          </a:p>
        </p:txBody>
      </p:sp>
      <p:pic>
        <p:nvPicPr>
          <p:cNvPr id="7" name="Picture 6" descr="form_multi_header_top.png"/>
          <p:cNvPicPr>
            <a:picLocks noChangeAspect="1"/>
          </p:cNvPicPr>
          <p:nvPr/>
        </p:nvPicPr>
        <p:blipFill>
          <a:blip r:embed="rId3"/>
          <a:stretch>
            <a:fillRect/>
          </a:stretch>
        </p:blipFill>
        <p:spPr>
          <a:xfrm>
            <a:off x="548640" y="1411085"/>
            <a:ext cx="5669280" cy="4767349"/>
          </a:xfrm>
          <a:prstGeom prst="rect">
            <a:avLst/>
          </a:prstGeom>
          <a:ln w="12700">
            <a:solidFill>
              <a:srgbClr val="DADCE0"/>
            </a:solidFill>
          </a:ln>
        </p:spPr>
      </p:pic>
      <p:sp>
        <p:nvSpPr>
          <p:cNvPr id="8" name="Rounded Rectangle 7"/>
          <p:cNvSpPr/>
          <p:nvPr/>
        </p:nvSpPr>
        <p:spPr>
          <a:xfrm>
            <a:off x="6583680" y="1417320"/>
            <a:ext cx="2377440" cy="15087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20840" y="1527048"/>
            <a:ext cx="2103120" cy="829818"/>
          </a:xfrm>
          <a:prstGeom prst="rect">
            <a:avLst/>
          </a:prstGeom>
          <a:noFill/>
        </p:spPr>
        <p:txBody>
          <a:bodyPr wrap="square" lIns="27432" tIns="27432" rIns="27432" bIns="27432" anchor="ctr">
            <a:noAutofit/>
          </a:bodyPr>
          <a:lstStyle/>
          <a:p>
            <a:pPr algn="l">
              <a:lnSpc>
                <a:spcPct val="105000"/>
              </a:lnSpc>
            </a:pPr>
            <a:r>
              <a:rPr sz="4000" b="1">
                <a:solidFill>
                  <a:srgbClr val="2A78D6"/>
                </a:solidFill>
                <a:latin typeface="Helvetica Neue"/>
              </a:rPr>
              <a:t>2</a:t>
            </a:r>
          </a:p>
        </p:txBody>
      </p:sp>
      <p:sp>
        <p:nvSpPr>
          <p:cNvPr id="10" name="TextBox 9"/>
          <p:cNvSpPr txBox="1"/>
          <p:nvPr/>
        </p:nvSpPr>
        <p:spPr>
          <a:xfrm>
            <a:off x="6720840" y="2292400"/>
            <a:ext cx="2103120" cy="603504"/>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similar Google Forms</a:t>
            </a:r>
          </a:p>
        </p:txBody>
      </p:sp>
      <p:sp>
        <p:nvSpPr>
          <p:cNvPr id="11" name="Rounded Rectangle 10"/>
          <p:cNvSpPr/>
          <p:nvPr/>
        </p:nvSpPr>
        <p:spPr>
          <a:xfrm>
            <a:off x="9144000" y="1417320"/>
            <a:ext cx="2377440" cy="15087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281160" y="1527048"/>
            <a:ext cx="2103120" cy="829818"/>
          </a:xfrm>
          <a:prstGeom prst="rect">
            <a:avLst/>
          </a:prstGeom>
          <a:noFill/>
        </p:spPr>
        <p:txBody>
          <a:bodyPr wrap="square" lIns="27432" tIns="27432" rIns="27432" bIns="27432" anchor="ctr">
            <a:noAutofit/>
          </a:bodyPr>
          <a:lstStyle/>
          <a:p>
            <a:pPr algn="l">
              <a:lnSpc>
                <a:spcPct val="105000"/>
              </a:lnSpc>
            </a:pPr>
            <a:r>
              <a:rPr sz="4000" b="1">
                <a:solidFill>
                  <a:srgbClr val="2A78D6"/>
                </a:solidFill>
                <a:latin typeface="Helvetica Neue"/>
              </a:rPr>
              <a:t>1,126</a:t>
            </a:r>
          </a:p>
        </p:txBody>
      </p:sp>
      <p:sp>
        <p:nvSpPr>
          <p:cNvPr id="13" name="TextBox 12"/>
          <p:cNvSpPr txBox="1"/>
          <p:nvPr/>
        </p:nvSpPr>
        <p:spPr>
          <a:xfrm>
            <a:off x="9281160" y="2292400"/>
            <a:ext cx="2103120" cy="603504"/>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raw responses</a:t>
            </a:r>
          </a:p>
        </p:txBody>
      </p:sp>
      <p:sp>
        <p:nvSpPr>
          <p:cNvPr id="14" name="Rounded Rectangle 13"/>
          <p:cNvSpPr/>
          <p:nvPr/>
        </p:nvSpPr>
        <p:spPr>
          <a:xfrm>
            <a:off x="6583680" y="3108960"/>
            <a:ext cx="2377440" cy="15087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20840" y="3218688"/>
            <a:ext cx="2103120" cy="829818"/>
          </a:xfrm>
          <a:prstGeom prst="rect">
            <a:avLst/>
          </a:prstGeom>
          <a:noFill/>
        </p:spPr>
        <p:txBody>
          <a:bodyPr wrap="square" lIns="27432" tIns="27432" rIns="27432" bIns="27432" anchor="ctr">
            <a:noAutofit/>
          </a:bodyPr>
          <a:lstStyle/>
          <a:p>
            <a:pPr algn="l">
              <a:lnSpc>
                <a:spcPct val="105000"/>
              </a:lnSpc>
            </a:pPr>
            <a:r>
              <a:rPr sz="4000" b="1">
                <a:solidFill>
                  <a:srgbClr val="2A78D6"/>
                </a:solidFill>
                <a:latin typeface="Helvetica Neue"/>
              </a:rPr>
              <a:t>1,108</a:t>
            </a:r>
          </a:p>
        </p:txBody>
      </p:sp>
      <p:sp>
        <p:nvSpPr>
          <p:cNvPr id="16" name="TextBox 15"/>
          <p:cNvSpPr txBox="1"/>
          <p:nvPr/>
        </p:nvSpPr>
        <p:spPr>
          <a:xfrm>
            <a:off x="6720840" y="3984040"/>
            <a:ext cx="2103120" cy="603504"/>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usable records</a:t>
            </a:r>
          </a:p>
        </p:txBody>
      </p:sp>
      <p:sp>
        <p:nvSpPr>
          <p:cNvPr id="17" name="Rounded Rectangle 16"/>
          <p:cNvSpPr/>
          <p:nvPr/>
        </p:nvSpPr>
        <p:spPr>
          <a:xfrm>
            <a:off x="9144000" y="3108960"/>
            <a:ext cx="2377440" cy="15087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281160" y="3218688"/>
            <a:ext cx="2103120" cy="829818"/>
          </a:xfrm>
          <a:prstGeom prst="rect">
            <a:avLst/>
          </a:prstGeom>
          <a:noFill/>
        </p:spPr>
        <p:txBody>
          <a:bodyPr wrap="square" lIns="27432" tIns="27432" rIns="27432" bIns="27432" anchor="ctr">
            <a:noAutofit/>
          </a:bodyPr>
          <a:lstStyle/>
          <a:p>
            <a:pPr algn="l">
              <a:lnSpc>
                <a:spcPct val="105000"/>
              </a:lnSpc>
            </a:pPr>
            <a:r>
              <a:rPr sz="4000" b="1">
                <a:solidFill>
                  <a:srgbClr val="2A78D6"/>
                </a:solidFill>
                <a:latin typeface="Helvetica Neue"/>
              </a:rPr>
              <a:t>4</a:t>
            </a:r>
          </a:p>
        </p:txBody>
      </p:sp>
      <p:sp>
        <p:nvSpPr>
          <p:cNvPr id="19" name="TextBox 18"/>
          <p:cNvSpPr txBox="1"/>
          <p:nvPr/>
        </p:nvSpPr>
        <p:spPr>
          <a:xfrm>
            <a:off x="9281160" y="3984040"/>
            <a:ext cx="2103120" cy="603504"/>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universities</a:t>
            </a:r>
          </a:p>
        </p:txBody>
      </p:sp>
      <p:sp>
        <p:nvSpPr>
          <p:cNvPr id="20" name="Rounded Rectangle 19"/>
          <p:cNvSpPr/>
          <p:nvPr/>
        </p:nvSpPr>
        <p:spPr>
          <a:xfrm>
            <a:off x="6583680" y="4937760"/>
            <a:ext cx="4937760" cy="123444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600" b="1">
                <a:solidFill>
                  <a:srgbClr val="1F3B5C"/>
                </a:solidFill>
                <a:latin typeface="Helvetica Neue"/>
              </a:rPr>
              <a:t>Same questions, slightly different wording</a:t>
            </a:r>
          </a:p>
          <a:p>
            <a:pPr algn="ctr">
              <a:lnSpc>
                <a:spcPct val="105000"/>
              </a:lnSpc>
            </a:pPr>
            <a:r>
              <a:rPr sz="1600" b="0">
                <a:solidFill>
                  <a:srgbClr val="1F3B5C"/>
                </a:solidFill>
                <a:latin typeface="Helvetica Neue"/>
              </a:rPr>
              <a:t>Analysis snapshot: responses up to 03 Sep 2026. The two forms were merged carefully.</a:t>
            </a:r>
          </a:p>
        </p:txBody>
      </p:sp>
      <p:sp>
        <p:nvSpPr>
          <p:cNvPr id="21" name="SimpleLightSectionLabel">
            <a:extLst>
              <a:ext uri="{FF2B5EF4-FFF2-40B4-BE49-F238E27FC236}">
                <a16:creationId xmlns:a16="http://schemas.microsoft.com/office/drawing/2014/main" id="{41D5908E-D0E1-4528-96C2-B48B475C5F68}"/>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PURPOSE + SOURCE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DATA COLLECTION</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What Did the Form Look Like?</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6</a:t>
            </a:r>
          </a:p>
        </p:txBody>
      </p:sp>
      <p:pic>
        <p:nvPicPr>
          <p:cNvPr id="7" name="Picture 6" descr="form_multi_header_top.png"/>
          <p:cNvPicPr>
            <a:picLocks noChangeAspect="1"/>
          </p:cNvPicPr>
          <p:nvPr/>
        </p:nvPicPr>
        <p:blipFill>
          <a:blip r:embed="rId3"/>
          <a:stretch>
            <a:fillRect/>
          </a:stretch>
        </p:blipFill>
        <p:spPr>
          <a:xfrm>
            <a:off x="548640" y="1346661"/>
            <a:ext cx="4572000" cy="3844636"/>
          </a:xfrm>
          <a:prstGeom prst="rect">
            <a:avLst/>
          </a:prstGeom>
          <a:ln w="12700">
            <a:solidFill>
              <a:srgbClr val="DADCE0"/>
            </a:solidFill>
          </a:ln>
        </p:spPr>
      </p:pic>
      <p:pic>
        <p:nvPicPr>
          <p:cNvPr id="8" name="Picture 7" descr="form_multi_q_desired_department_tight.png"/>
          <p:cNvPicPr>
            <a:picLocks noChangeAspect="1"/>
          </p:cNvPicPr>
          <p:nvPr/>
        </p:nvPicPr>
        <p:blipFill>
          <a:blip r:embed="rId4"/>
          <a:stretch>
            <a:fillRect/>
          </a:stretch>
        </p:blipFill>
        <p:spPr>
          <a:xfrm>
            <a:off x="5349240" y="1334410"/>
            <a:ext cx="3063240" cy="1766018"/>
          </a:xfrm>
          <a:prstGeom prst="rect">
            <a:avLst/>
          </a:prstGeom>
          <a:ln w="12700">
            <a:solidFill>
              <a:srgbClr val="DADCE0"/>
            </a:solidFill>
          </a:ln>
        </p:spPr>
      </p:pic>
      <p:pic>
        <p:nvPicPr>
          <p:cNvPr id="9" name="Picture 8" descr="form_multi_q_phone_tight.png"/>
          <p:cNvPicPr>
            <a:picLocks noChangeAspect="1"/>
          </p:cNvPicPr>
          <p:nvPr/>
        </p:nvPicPr>
        <p:blipFill>
          <a:blip r:embed="rId5"/>
          <a:stretch>
            <a:fillRect/>
          </a:stretch>
        </p:blipFill>
        <p:spPr>
          <a:xfrm>
            <a:off x="8549640" y="1349501"/>
            <a:ext cx="3063240" cy="1735836"/>
          </a:xfrm>
          <a:prstGeom prst="rect">
            <a:avLst/>
          </a:prstGeom>
          <a:ln w="12700">
            <a:solidFill>
              <a:srgbClr val="DADCE0"/>
            </a:solidFill>
          </a:ln>
        </p:spPr>
      </p:pic>
      <p:pic>
        <p:nvPicPr>
          <p:cNvPr id="10" name="Picture 9" descr="form_multi_q_responsibilities_tight.png"/>
          <p:cNvPicPr>
            <a:picLocks noChangeAspect="1"/>
          </p:cNvPicPr>
          <p:nvPr/>
        </p:nvPicPr>
        <p:blipFill>
          <a:blip r:embed="rId6"/>
          <a:stretch>
            <a:fillRect/>
          </a:stretch>
        </p:blipFill>
        <p:spPr>
          <a:xfrm>
            <a:off x="5349240" y="3425994"/>
            <a:ext cx="3063240" cy="1606211"/>
          </a:xfrm>
          <a:prstGeom prst="rect">
            <a:avLst/>
          </a:prstGeom>
          <a:ln w="12700">
            <a:solidFill>
              <a:srgbClr val="DADCE0"/>
            </a:solidFill>
          </a:ln>
        </p:spPr>
      </p:pic>
      <p:pic>
        <p:nvPicPr>
          <p:cNvPr id="11" name="Picture 10" descr="form_multi_q_support_tight.png"/>
          <p:cNvPicPr>
            <a:picLocks noChangeAspect="1"/>
          </p:cNvPicPr>
          <p:nvPr/>
        </p:nvPicPr>
        <p:blipFill>
          <a:blip r:embed="rId7"/>
          <a:stretch>
            <a:fillRect/>
          </a:stretch>
        </p:blipFill>
        <p:spPr>
          <a:xfrm>
            <a:off x="8549640" y="3426375"/>
            <a:ext cx="3063240" cy="1605449"/>
          </a:xfrm>
          <a:prstGeom prst="rect">
            <a:avLst/>
          </a:prstGeom>
          <a:ln w="12700">
            <a:solidFill>
              <a:srgbClr val="DADCE0"/>
            </a:solidFill>
          </a:ln>
        </p:spPr>
      </p:pic>
      <p:sp>
        <p:nvSpPr>
          <p:cNvPr id="12" name="Rounded Rectangle 11"/>
          <p:cNvSpPr/>
          <p:nvPr/>
        </p:nvSpPr>
        <p:spPr>
          <a:xfrm>
            <a:off x="548640" y="5394960"/>
            <a:ext cx="11064240" cy="9144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l">
              <a:lnSpc>
                <a:spcPct val="105000"/>
              </a:lnSpc>
            </a:pPr>
            <a:r>
              <a:rPr sz="1400" b="1">
                <a:solidFill>
                  <a:srgbClr val="1F3B5C"/>
                </a:solidFill>
                <a:latin typeface="Helvetica Neue"/>
              </a:rPr>
              <a:t>Real screenshots of the University Student Performance Analysis Form</a:t>
            </a:r>
            <a:r>
              <a:rPr sz="1400" b="0">
                <a:solidFill>
                  <a:srgbClr val="1F3B5C"/>
                </a:solidFill>
                <a:latin typeface="Helvetica Neue"/>
              </a:rPr>
              <a:t> — English + Bangla, anonymous.</a:t>
            </a:r>
          </a:p>
          <a:p>
            <a:pPr algn="l">
              <a:lnSpc>
                <a:spcPct val="105000"/>
              </a:lnSpc>
            </a:pPr>
            <a:r>
              <a:rPr sz="1400" b="0">
                <a:solidFill>
                  <a:srgbClr val="1F3B5C"/>
                </a:solidFill>
                <a:latin typeface="Helvetica Neue"/>
              </a:rPr>
              <a:t>The KUET form (896 responses) asked the same core questions with slightly different wording; both were merged.</a:t>
            </a:r>
          </a:p>
        </p:txBody>
      </p:sp>
      <p:sp>
        <p:nvSpPr>
          <p:cNvPr id="13" name="SimpleLightSectionLabel">
            <a:extLst>
              <a:ext uri="{FF2B5EF4-FFF2-40B4-BE49-F238E27FC236}">
                <a16:creationId xmlns:a16="http://schemas.microsoft.com/office/drawing/2014/main" id="{CE8B7A97-A0F6-497E-A4BC-C43246A97F33}"/>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PURPOSE + SOURCE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DATA COLLECTION</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Example Questions We Asked</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7</a:t>
            </a:r>
          </a:p>
        </p:txBody>
      </p:sp>
      <p:pic>
        <p:nvPicPr>
          <p:cNvPr id="7" name="Picture 6" descr="form_multi_q_attendance_tight.png"/>
          <p:cNvPicPr>
            <a:picLocks noChangeAspect="1"/>
          </p:cNvPicPr>
          <p:nvPr/>
        </p:nvPicPr>
        <p:blipFill>
          <a:blip r:embed="rId3"/>
          <a:stretch>
            <a:fillRect/>
          </a:stretch>
        </p:blipFill>
        <p:spPr>
          <a:xfrm>
            <a:off x="1710676" y="1325880"/>
            <a:ext cx="3116607" cy="2377440"/>
          </a:xfrm>
          <a:prstGeom prst="rect">
            <a:avLst/>
          </a:prstGeom>
          <a:ln w="12700">
            <a:solidFill>
              <a:srgbClr val="DADCE0"/>
            </a:solidFill>
          </a:ln>
        </p:spPr>
      </p:pic>
      <p:pic>
        <p:nvPicPr>
          <p:cNvPr id="8" name="Picture 7" descr="form_multi_q_study_time_tight.png"/>
          <p:cNvPicPr>
            <a:picLocks noChangeAspect="1"/>
          </p:cNvPicPr>
          <p:nvPr/>
        </p:nvPicPr>
        <p:blipFill>
          <a:blip r:embed="rId4"/>
          <a:stretch>
            <a:fillRect/>
          </a:stretch>
        </p:blipFill>
        <p:spPr>
          <a:xfrm>
            <a:off x="6744198" y="1325880"/>
            <a:ext cx="4296682" cy="2377440"/>
          </a:xfrm>
          <a:prstGeom prst="rect">
            <a:avLst/>
          </a:prstGeom>
          <a:ln w="12700">
            <a:solidFill>
              <a:srgbClr val="DADCE0"/>
            </a:solidFill>
          </a:ln>
        </p:spPr>
      </p:pic>
      <p:pic>
        <p:nvPicPr>
          <p:cNvPr id="9" name="Picture 8" descr="form_multi_q_stress_tight.png"/>
          <p:cNvPicPr>
            <a:picLocks noChangeAspect="1"/>
          </p:cNvPicPr>
          <p:nvPr/>
        </p:nvPicPr>
        <p:blipFill>
          <a:blip r:embed="rId5"/>
          <a:stretch>
            <a:fillRect/>
          </a:stretch>
        </p:blipFill>
        <p:spPr>
          <a:xfrm>
            <a:off x="824539" y="3886200"/>
            <a:ext cx="4888881" cy="2377440"/>
          </a:xfrm>
          <a:prstGeom prst="rect">
            <a:avLst/>
          </a:prstGeom>
          <a:ln w="12700">
            <a:solidFill>
              <a:srgbClr val="DADCE0"/>
            </a:solidFill>
          </a:ln>
        </p:spPr>
      </p:pic>
      <p:pic>
        <p:nvPicPr>
          <p:cNvPr id="10" name="Picture 9" descr="form_multi_q_sgpa_tight.png"/>
          <p:cNvPicPr>
            <a:picLocks noChangeAspect="1"/>
          </p:cNvPicPr>
          <p:nvPr/>
        </p:nvPicPr>
        <p:blipFill>
          <a:blip r:embed="rId6"/>
          <a:stretch>
            <a:fillRect/>
          </a:stretch>
        </p:blipFill>
        <p:spPr>
          <a:xfrm>
            <a:off x="7098138" y="3886200"/>
            <a:ext cx="3588802" cy="2377440"/>
          </a:xfrm>
          <a:prstGeom prst="rect">
            <a:avLst/>
          </a:prstGeom>
          <a:ln w="12700">
            <a:solidFill>
              <a:srgbClr val="DADCE0"/>
            </a:solidFill>
          </a:ln>
        </p:spPr>
      </p:pic>
      <p:sp>
        <p:nvSpPr>
          <p:cNvPr id="11" name="SimpleLightSectionLabel">
            <a:extLst>
              <a:ext uri="{FF2B5EF4-FFF2-40B4-BE49-F238E27FC236}">
                <a16:creationId xmlns:a16="http://schemas.microsoft.com/office/drawing/2014/main" id="{BE7BE54A-8E3D-4B93-9B12-162992CB5730}"/>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PURPOSE + SOURCE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DATA COLLECTION</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Form Questions Behind the Decision Tree Rules</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8</a:t>
            </a:r>
          </a:p>
        </p:txBody>
      </p:sp>
      <p:sp>
        <p:nvSpPr>
          <p:cNvPr id="7" name="Rounded Rectangle 6"/>
          <p:cNvSpPr/>
          <p:nvPr/>
        </p:nvSpPr>
        <p:spPr>
          <a:xfrm>
            <a:off x="548640" y="1280160"/>
            <a:ext cx="3520440" cy="384048"/>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100" b="1">
                <a:solidFill>
                  <a:srgbClr val="1F3B5C"/>
                </a:solidFill>
                <a:latin typeface="Helvetica Neue"/>
              </a:rPr>
              <a:t>Topic clear after class · trees: SGPA, CGPA (+SGPA)</a:t>
            </a:r>
          </a:p>
        </p:txBody>
      </p:sp>
      <p:pic>
        <p:nvPicPr>
          <p:cNvPr id="8" name="Picture 7" descr="form_multi_q_topic_clarity_tight.png"/>
          <p:cNvPicPr>
            <a:picLocks noChangeAspect="1"/>
          </p:cNvPicPr>
          <p:nvPr/>
        </p:nvPicPr>
        <p:blipFill>
          <a:blip r:embed="rId3"/>
          <a:stretch>
            <a:fillRect/>
          </a:stretch>
        </p:blipFill>
        <p:spPr>
          <a:xfrm>
            <a:off x="548640" y="1803626"/>
            <a:ext cx="3520440" cy="1824283"/>
          </a:xfrm>
          <a:prstGeom prst="rect">
            <a:avLst/>
          </a:prstGeom>
          <a:ln w="12700">
            <a:solidFill>
              <a:srgbClr val="DADCE0"/>
            </a:solidFill>
          </a:ln>
        </p:spPr>
      </p:pic>
      <p:sp>
        <p:nvSpPr>
          <p:cNvPr id="9" name="Rounded Rectangle 8"/>
          <p:cNvSpPr/>
          <p:nvPr/>
        </p:nvSpPr>
        <p:spPr>
          <a:xfrm>
            <a:off x="4297679" y="1280160"/>
            <a:ext cx="3520440" cy="384048"/>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100" b="1">
                <a:solidFill>
                  <a:srgbClr val="1F3B5C"/>
                </a:solidFill>
                <a:latin typeface="Helvetica Neue"/>
              </a:rPr>
              <a:t>Study style · trees: SGPA</a:t>
            </a:r>
          </a:p>
        </p:txBody>
      </p:sp>
      <p:pic>
        <p:nvPicPr>
          <p:cNvPr id="10" name="Picture 9" descr="form_multi_q_study_style_tight.png"/>
          <p:cNvPicPr>
            <a:picLocks noChangeAspect="1"/>
          </p:cNvPicPr>
          <p:nvPr/>
        </p:nvPicPr>
        <p:blipFill>
          <a:blip r:embed="rId4"/>
          <a:stretch>
            <a:fillRect/>
          </a:stretch>
        </p:blipFill>
        <p:spPr>
          <a:xfrm>
            <a:off x="4541824" y="1709928"/>
            <a:ext cx="3032150" cy="2011680"/>
          </a:xfrm>
          <a:prstGeom prst="rect">
            <a:avLst/>
          </a:prstGeom>
          <a:ln w="12700">
            <a:solidFill>
              <a:srgbClr val="DADCE0"/>
            </a:solidFill>
          </a:ln>
        </p:spPr>
      </p:pic>
      <p:sp>
        <p:nvSpPr>
          <p:cNvPr id="11" name="Rounded Rectangle 10"/>
          <p:cNvSpPr/>
          <p:nvPr/>
        </p:nvSpPr>
        <p:spPr>
          <a:xfrm>
            <a:off x="8046719" y="1280160"/>
            <a:ext cx="3520440" cy="384048"/>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100" b="1">
                <a:solidFill>
                  <a:srgbClr val="1F3B5C"/>
                </a:solidFill>
                <a:latin typeface="Helvetica Neue"/>
              </a:rPr>
              <a:t>Study-friendly living place · trees: CGPA (behaviour)</a:t>
            </a:r>
          </a:p>
        </p:txBody>
      </p:sp>
      <p:pic>
        <p:nvPicPr>
          <p:cNvPr id="12" name="Picture 11" descr="form_multi_q_environment_tight.png"/>
          <p:cNvPicPr>
            <a:picLocks noChangeAspect="1"/>
          </p:cNvPicPr>
          <p:nvPr/>
        </p:nvPicPr>
        <p:blipFill>
          <a:blip r:embed="rId5"/>
          <a:stretch>
            <a:fillRect/>
          </a:stretch>
        </p:blipFill>
        <p:spPr>
          <a:xfrm>
            <a:off x="8128101" y="1709928"/>
            <a:ext cx="3357676" cy="2011680"/>
          </a:xfrm>
          <a:prstGeom prst="rect">
            <a:avLst/>
          </a:prstGeom>
          <a:ln w="12700">
            <a:solidFill>
              <a:srgbClr val="DADCE0"/>
            </a:solidFill>
          </a:ln>
        </p:spPr>
      </p:pic>
      <p:sp>
        <p:nvSpPr>
          <p:cNvPr id="13" name="Rounded Rectangle 12"/>
          <p:cNvSpPr/>
          <p:nvPr/>
        </p:nvSpPr>
        <p:spPr>
          <a:xfrm>
            <a:off x="548640" y="3840479"/>
            <a:ext cx="3520440" cy="384048"/>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100" b="1">
                <a:solidFill>
                  <a:srgbClr val="1F3B5C"/>
                </a:solidFill>
                <a:latin typeface="Helvetica Neue"/>
              </a:rPr>
              <a:t>Semester routine manageable · trees: CGPA (+SGPA)</a:t>
            </a:r>
          </a:p>
        </p:txBody>
      </p:sp>
      <p:pic>
        <p:nvPicPr>
          <p:cNvPr id="14" name="Picture 13" descr="form_multi_q_routine_tight.png"/>
          <p:cNvPicPr>
            <a:picLocks noChangeAspect="1"/>
          </p:cNvPicPr>
          <p:nvPr/>
        </p:nvPicPr>
        <p:blipFill>
          <a:blip r:embed="rId6"/>
          <a:stretch>
            <a:fillRect/>
          </a:stretch>
        </p:blipFill>
        <p:spPr>
          <a:xfrm>
            <a:off x="548640" y="4398911"/>
            <a:ext cx="3520440" cy="1754352"/>
          </a:xfrm>
          <a:prstGeom prst="rect">
            <a:avLst/>
          </a:prstGeom>
          <a:ln w="12700">
            <a:solidFill>
              <a:srgbClr val="DADCE0"/>
            </a:solidFill>
          </a:ln>
        </p:spPr>
      </p:pic>
      <p:sp>
        <p:nvSpPr>
          <p:cNvPr id="15" name="Rounded Rectangle 14"/>
          <p:cNvSpPr/>
          <p:nvPr/>
        </p:nvSpPr>
        <p:spPr>
          <a:xfrm>
            <a:off x="4297679" y="3840479"/>
            <a:ext cx="3520440" cy="384048"/>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100" b="1">
                <a:solidFill>
                  <a:srgbClr val="1F3B5C"/>
                </a:solidFill>
                <a:latin typeface="Helvetica Neue"/>
              </a:rPr>
              <a:t>Sleep per night · trees: CGPA (+SGPA)</a:t>
            </a:r>
          </a:p>
        </p:txBody>
      </p:sp>
      <p:pic>
        <p:nvPicPr>
          <p:cNvPr id="16" name="Picture 15" descr="form_multi_q_sleep_tight.png"/>
          <p:cNvPicPr>
            <a:picLocks noChangeAspect="1"/>
          </p:cNvPicPr>
          <p:nvPr/>
        </p:nvPicPr>
        <p:blipFill>
          <a:blip r:embed="rId7"/>
          <a:stretch>
            <a:fillRect/>
          </a:stretch>
        </p:blipFill>
        <p:spPr>
          <a:xfrm>
            <a:off x="4724704" y="4270247"/>
            <a:ext cx="2666390" cy="2011680"/>
          </a:xfrm>
          <a:prstGeom prst="rect">
            <a:avLst/>
          </a:prstGeom>
          <a:ln w="12700">
            <a:solidFill>
              <a:srgbClr val="DADCE0"/>
            </a:solidFill>
          </a:ln>
        </p:spPr>
      </p:pic>
      <p:sp>
        <p:nvSpPr>
          <p:cNvPr id="17" name="Rounded Rectangle 16"/>
          <p:cNvSpPr/>
          <p:nvPr/>
        </p:nvSpPr>
        <p:spPr>
          <a:xfrm>
            <a:off x="8046719" y="3840479"/>
            <a:ext cx="3520440" cy="384048"/>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100" b="1">
                <a:solidFill>
                  <a:srgbClr val="1F3B5C"/>
                </a:solidFill>
                <a:latin typeface="Helvetica Neue"/>
              </a:rPr>
              <a:t>CGPA question · what the CGPA trees predict</a:t>
            </a:r>
          </a:p>
        </p:txBody>
      </p:sp>
      <p:pic>
        <p:nvPicPr>
          <p:cNvPr id="18" name="Picture 17" descr="form_multi_q_cgpa_tight.png"/>
          <p:cNvPicPr>
            <a:picLocks noChangeAspect="1"/>
          </p:cNvPicPr>
          <p:nvPr/>
        </p:nvPicPr>
        <p:blipFill>
          <a:blip r:embed="rId8"/>
          <a:stretch>
            <a:fillRect/>
          </a:stretch>
        </p:blipFill>
        <p:spPr>
          <a:xfrm>
            <a:off x="8354059" y="4270247"/>
            <a:ext cx="2905760" cy="2011680"/>
          </a:xfrm>
          <a:prstGeom prst="rect">
            <a:avLst/>
          </a:prstGeom>
          <a:ln w="12700">
            <a:solidFill>
              <a:srgbClr val="DADCE0"/>
            </a:solidFill>
          </a:ln>
        </p:spPr>
      </p:pic>
      <p:sp>
        <p:nvSpPr>
          <p:cNvPr id="19" name="SimpleLightSectionLabel">
            <a:extLst>
              <a:ext uri="{FF2B5EF4-FFF2-40B4-BE49-F238E27FC236}">
                <a16:creationId xmlns:a16="http://schemas.microsoft.com/office/drawing/2014/main" id="{3FE72201-7C1C-49BF-9B0F-5E70A9D5A856}"/>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PURPOSE + SOURCE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FD4E1F-F9B3-F4CC-5582-25920B2E97B2}"/>
              </a:ext>
            </a:extLst>
          </p:cNvPr>
          <p:cNvPicPr>
            <a:picLocks noChangeAspect="1"/>
          </p:cNvPicPr>
          <p:nvPr/>
        </p:nvPicPr>
        <p:blipFill>
          <a:blip r:embed="rId2"/>
          <a:srcRect r="16157" b="41194"/>
          <a:stretch>
            <a:fillRect/>
          </a:stretch>
        </p:blipFill>
        <p:spPr>
          <a:xfrm>
            <a:off x="310243" y="1691368"/>
            <a:ext cx="11622585" cy="3566432"/>
          </a:xfrm>
          <a:prstGeom prst="rect">
            <a:avLst/>
          </a:prstGeom>
        </p:spPr>
      </p:pic>
      <p:sp>
        <p:nvSpPr>
          <p:cNvPr id="4" name="Google Shape;533;p58">
            <a:extLst>
              <a:ext uri="{FF2B5EF4-FFF2-40B4-BE49-F238E27FC236}">
                <a16:creationId xmlns:a16="http://schemas.microsoft.com/office/drawing/2014/main" id="{5E99C4EE-3385-0E43-5148-7A67186B2BB5}"/>
              </a:ext>
            </a:extLst>
          </p:cNvPr>
          <p:cNvSpPr txBox="1">
            <a:spLocks/>
          </p:cNvSpPr>
          <p:nvPr/>
        </p:nvSpPr>
        <p:spPr>
          <a:xfrm>
            <a:off x="393700" y="506512"/>
            <a:ext cx="11404600" cy="1047491"/>
          </a:xfrm>
          <a:prstGeom prst="rect">
            <a:avLst/>
          </a:prstGeom>
        </p:spPr>
        <p:txBody>
          <a:bodyPr spcFirstLastPara="1" vert="horz" wrap="square" lIns="0" tIns="0" rIns="0" bIns="0" anchor="t">
            <a:noAutofit/>
          </a:bodyPr>
          <a:lstStyle>
            <a:lvl1pPr algn="l" defTabSz="914400" rtl="0" eaLnBrk="1" latinLnBrk="0" hangingPunct="1">
              <a:lnSpc>
                <a:spcPct val="90000"/>
              </a:lnSpc>
              <a:spcBef>
                <a:spcPct val="0"/>
              </a:spcBef>
              <a:buNone/>
              <a:defRPr sz="2900" kern="1200">
                <a:solidFill>
                  <a:schemeClr val="tx1"/>
                </a:solidFill>
                <a:latin typeface="+mj-lt"/>
                <a:ea typeface="+mj-ea"/>
                <a:cs typeface="+mj-cs"/>
              </a:defRPr>
            </a:lvl1pPr>
          </a:lstStyle>
          <a:p>
            <a:r>
              <a:rPr lang="en-US" sz="3000" dirty="0">
                <a:latin typeface="Times New Roman"/>
                <a:ea typeface="Times New Roman"/>
                <a:cs typeface="Times New Roman"/>
              </a:rPr>
              <a:t>Form responses glimpse</a:t>
            </a:r>
          </a:p>
        </p:txBody>
      </p:sp>
      <p:sp>
        <p:nvSpPr>
          <p:cNvPr id="7" name="Rectangle 6">
            <a:extLst>
              <a:ext uri="{FF2B5EF4-FFF2-40B4-BE49-F238E27FC236}">
                <a16:creationId xmlns:a16="http://schemas.microsoft.com/office/drawing/2014/main" id="{F053E5B3-15E2-D84D-5201-2EFA3E6958F3}"/>
              </a:ext>
            </a:extLst>
          </p:cNvPr>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E5C8B043-A7E3-5B99-9CF7-557C8FA8FE4F}"/>
              </a:ext>
            </a:extLst>
          </p:cNvPr>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dirty="0">
                <a:solidFill>
                  <a:srgbClr val="2A78D6"/>
                </a:solidFill>
                <a:latin typeface="Helvetica Neue"/>
              </a:rPr>
              <a:t>DATA COLLECTION</a:t>
            </a:r>
          </a:p>
        </p:txBody>
      </p:sp>
    </p:spTree>
    <p:extLst>
      <p:ext uri="{BB962C8B-B14F-4D97-AF65-F5344CB8AC3E}">
        <p14:creationId xmlns:p14="http://schemas.microsoft.com/office/powerpoint/2010/main" val="614438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DATA COLLECTION</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Student Information in Our Dataset</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9</a:t>
            </a:r>
          </a:p>
        </p:txBody>
      </p:sp>
      <p:sp>
        <p:nvSpPr>
          <p:cNvPr id="7" name="Rounded Rectangle 6"/>
          <p:cNvSpPr/>
          <p:nvPr/>
        </p:nvSpPr>
        <p:spPr>
          <a:xfrm>
            <a:off x="548640" y="1371600"/>
            <a:ext cx="3520440" cy="182880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31520" y="155448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800" b="0">
                <a:solidFill>
                  <a:srgbClr val="0B0B0B"/>
                </a:solidFill>
                <a:latin typeface="Helvetica Neue"/>
              </a:rPr>
              <a:t>🎓</a:t>
            </a:r>
          </a:p>
        </p:txBody>
      </p:sp>
      <p:sp>
        <p:nvSpPr>
          <p:cNvPr id="9" name="TextBox 8"/>
          <p:cNvSpPr txBox="1"/>
          <p:nvPr/>
        </p:nvSpPr>
        <p:spPr>
          <a:xfrm>
            <a:off x="1508760" y="1645920"/>
            <a:ext cx="2468880" cy="457200"/>
          </a:xfrm>
          <a:prstGeom prst="rect">
            <a:avLst/>
          </a:prstGeom>
          <a:noFill/>
        </p:spPr>
        <p:txBody>
          <a:bodyPr wrap="square" lIns="27432" tIns="27432" rIns="27432" bIns="27432" anchor="t">
            <a:noAutofit/>
          </a:bodyPr>
          <a:lstStyle/>
          <a:p>
            <a:pPr algn="l">
              <a:lnSpc>
                <a:spcPct val="105000"/>
              </a:lnSpc>
            </a:pPr>
            <a:r>
              <a:rPr sz="2000" b="1">
                <a:solidFill>
                  <a:srgbClr val="0B0B0B"/>
                </a:solidFill>
                <a:latin typeface="Helvetica Neue"/>
              </a:rPr>
              <a:t>Academic</a:t>
            </a:r>
          </a:p>
        </p:txBody>
      </p:sp>
      <p:sp>
        <p:nvSpPr>
          <p:cNvPr id="10" name="TextBox 9"/>
          <p:cNvSpPr txBox="1"/>
          <p:nvPr/>
        </p:nvSpPr>
        <p:spPr>
          <a:xfrm>
            <a:off x="777240" y="2286000"/>
            <a:ext cx="3108960" cy="868680"/>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University · Department · Semester · Recent SGPA</a:t>
            </a:r>
          </a:p>
        </p:txBody>
      </p:sp>
      <p:sp>
        <p:nvSpPr>
          <p:cNvPr id="11" name="Rounded Rectangle 10"/>
          <p:cNvSpPr/>
          <p:nvPr/>
        </p:nvSpPr>
        <p:spPr>
          <a:xfrm>
            <a:off x="4297679" y="1371600"/>
            <a:ext cx="3520440" cy="182880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480559" y="155448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800" b="0">
                <a:solidFill>
                  <a:srgbClr val="0B0B0B"/>
                </a:solidFill>
                <a:latin typeface="Helvetica Neue"/>
              </a:rPr>
              <a:t>📚</a:t>
            </a:r>
          </a:p>
        </p:txBody>
      </p:sp>
      <p:sp>
        <p:nvSpPr>
          <p:cNvPr id="13" name="TextBox 12"/>
          <p:cNvSpPr txBox="1"/>
          <p:nvPr/>
        </p:nvSpPr>
        <p:spPr>
          <a:xfrm>
            <a:off x="5257799" y="1645920"/>
            <a:ext cx="2468880" cy="457200"/>
          </a:xfrm>
          <a:prstGeom prst="rect">
            <a:avLst/>
          </a:prstGeom>
          <a:noFill/>
        </p:spPr>
        <p:txBody>
          <a:bodyPr wrap="square" lIns="27432" tIns="27432" rIns="27432" bIns="27432" anchor="t">
            <a:noAutofit/>
          </a:bodyPr>
          <a:lstStyle/>
          <a:p>
            <a:pPr algn="l">
              <a:lnSpc>
                <a:spcPct val="105000"/>
              </a:lnSpc>
            </a:pPr>
            <a:r>
              <a:rPr sz="2000" b="1">
                <a:solidFill>
                  <a:srgbClr val="0B0B0B"/>
                </a:solidFill>
                <a:latin typeface="Helvetica Neue"/>
              </a:rPr>
              <a:t>Study habits</a:t>
            </a:r>
          </a:p>
        </p:txBody>
      </p:sp>
      <p:sp>
        <p:nvSpPr>
          <p:cNvPr id="14" name="TextBox 13"/>
          <p:cNvSpPr txBox="1"/>
          <p:nvPr/>
        </p:nvSpPr>
        <p:spPr>
          <a:xfrm>
            <a:off x="4526279" y="2286000"/>
            <a:ext cx="3108960" cy="868680"/>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Attendance · Self-study time · Study style · Topic clear after class</a:t>
            </a:r>
          </a:p>
        </p:txBody>
      </p:sp>
      <p:sp>
        <p:nvSpPr>
          <p:cNvPr id="15" name="Rounded Rectangle 14"/>
          <p:cNvSpPr/>
          <p:nvPr/>
        </p:nvSpPr>
        <p:spPr>
          <a:xfrm>
            <a:off x="8046719" y="1371600"/>
            <a:ext cx="3520440" cy="182880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229599" y="155448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800" b="0">
                <a:solidFill>
                  <a:srgbClr val="0B0B0B"/>
                </a:solidFill>
                <a:latin typeface="Helvetica Neue"/>
              </a:rPr>
              <a:t>🌙</a:t>
            </a:r>
          </a:p>
        </p:txBody>
      </p:sp>
      <p:sp>
        <p:nvSpPr>
          <p:cNvPr id="17" name="TextBox 16"/>
          <p:cNvSpPr txBox="1"/>
          <p:nvPr/>
        </p:nvSpPr>
        <p:spPr>
          <a:xfrm>
            <a:off x="9006840" y="1645920"/>
            <a:ext cx="2468880" cy="457200"/>
          </a:xfrm>
          <a:prstGeom prst="rect">
            <a:avLst/>
          </a:prstGeom>
          <a:noFill/>
        </p:spPr>
        <p:txBody>
          <a:bodyPr wrap="square" lIns="27432" tIns="27432" rIns="27432" bIns="27432" anchor="t">
            <a:noAutofit/>
          </a:bodyPr>
          <a:lstStyle/>
          <a:p>
            <a:pPr algn="l">
              <a:lnSpc>
                <a:spcPct val="105000"/>
              </a:lnSpc>
            </a:pPr>
            <a:r>
              <a:rPr sz="2000" b="1">
                <a:solidFill>
                  <a:srgbClr val="0B0B0B"/>
                </a:solidFill>
                <a:latin typeface="Helvetica Neue"/>
              </a:rPr>
              <a:t>Lifestyle</a:t>
            </a:r>
          </a:p>
        </p:txBody>
      </p:sp>
      <p:sp>
        <p:nvSpPr>
          <p:cNvPr id="18" name="TextBox 17"/>
          <p:cNvSpPr txBox="1"/>
          <p:nvPr/>
        </p:nvSpPr>
        <p:spPr>
          <a:xfrm>
            <a:off x="8275319" y="2286000"/>
            <a:ext cx="3108960" cy="868680"/>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Sleep · Phone / social media · Semester routine</a:t>
            </a:r>
          </a:p>
        </p:txBody>
      </p:sp>
      <p:sp>
        <p:nvSpPr>
          <p:cNvPr id="19" name="Rounded Rectangle 18"/>
          <p:cNvSpPr/>
          <p:nvPr/>
        </p:nvSpPr>
        <p:spPr>
          <a:xfrm>
            <a:off x="548640" y="3383280"/>
            <a:ext cx="3520440" cy="182880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31520" y="3566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800" b="0">
                <a:solidFill>
                  <a:srgbClr val="0B0B0B"/>
                </a:solidFill>
                <a:latin typeface="Helvetica Neue"/>
              </a:rPr>
              <a:t>😣</a:t>
            </a:r>
          </a:p>
        </p:txBody>
      </p:sp>
      <p:sp>
        <p:nvSpPr>
          <p:cNvPr id="21" name="TextBox 20"/>
          <p:cNvSpPr txBox="1"/>
          <p:nvPr/>
        </p:nvSpPr>
        <p:spPr>
          <a:xfrm>
            <a:off x="1508760" y="3657600"/>
            <a:ext cx="2468880" cy="457200"/>
          </a:xfrm>
          <a:prstGeom prst="rect">
            <a:avLst/>
          </a:prstGeom>
          <a:noFill/>
        </p:spPr>
        <p:txBody>
          <a:bodyPr wrap="square" lIns="27432" tIns="27432" rIns="27432" bIns="27432" anchor="t">
            <a:noAutofit/>
          </a:bodyPr>
          <a:lstStyle/>
          <a:p>
            <a:pPr algn="l">
              <a:lnSpc>
                <a:spcPct val="105000"/>
              </a:lnSpc>
            </a:pPr>
            <a:r>
              <a:rPr sz="2000" b="1">
                <a:solidFill>
                  <a:srgbClr val="0B0B0B"/>
                </a:solidFill>
                <a:latin typeface="Helvetica Neue"/>
              </a:rPr>
              <a:t>Pressure</a:t>
            </a:r>
          </a:p>
        </p:txBody>
      </p:sp>
      <p:sp>
        <p:nvSpPr>
          <p:cNvPr id="22" name="TextBox 21"/>
          <p:cNvSpPr txBox="1"/>
          <p:nvPr/>
        </p:nvSpPr>
        <p:spPr>
          <a:xfrm>
            <a:off x="777240" y="4297680"/>
            <a:ext cx="3108960" cy="868680"/>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Stress · Tuition / job / club hours</a:t>
            </a:r>
          </a:p>
        </p:txBody>
      </p:sp>
      <p:sp>
        <p:nvSpPr>
          <p:cNvPr id="23" name="Rounded Rectangle 22"/>
          <p:cNvSpPr/>
          <p:nvPr/>
        </p:nvSpPr>
        <p:spPr>
          <a:xfrm>
            <a:off x="4297679" y="3383280"/>
            <a:ext cx="3520440" cy="182880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480559" y="3566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800" b="0">
                <a:solidFill>
                  <a:srgbClr val="0B0B0B"/>
                </a:solidFill>
                <a:latin typeface="Helvetica Neue"/>
              </a:rPr>
              <a:t>💪</a:t>
            </a:r>
          </a:p>
        </p:txBody>
      </p:sp>
      <p:sp>
        <p:nvSpPr>
          <p:cNvPr id="25" name="TextBox 24"/>
          <p:cNvSpPr txBox="1"/>
          <p:nvPr/>
        </p:nvSpPr>
        <p:spPr>
          <a:xfrm>
            <a:off x="5257799" y="3657600"/>
            <a:ext cx="2468880" cy="457200"/>
          </a:xfrm>
          <a:prstGeom prst="rect">
            <a:avLst/>
          </a:prstGeom>
          <a:noFill/>
        </p:spPr>
        <p:txBody>
          <a:bodyPr wrap="square" lIns="27432" tIns="27432" rIns="27432" bIns="27432" anchor="t">
            <a:noAutofit/>
          </a:bodyPr>
          <a:lstStyle/>
          <a:p>
            <a:pPr algn="l">
              <a:lnSpc>
                <a:spcPct val="105000"/>
              </a:lnSpc>
            </a:pPr>
            <a:r>
              <a:rPr sz="2000" b="1">
                <a:solidFill>
                  <a:srgbClr val="0B0B0B"/>
                </a:solidFill>
                <a:latin typeface="Helvetica Neue"/>
              </a:rPr>
              <a:t>Motivation &amp; support</a:t>
            </a:r>
          </a:p>
        </p:txBody>
      </p:sp>
      <p:sp>
        <p:nvSpPr>
          <p:cNvPr id="26" name="TextBox 25"/>
          <p:cNvSpPr txBox="1"/>
          <p:nvPr/>
        </p:nvSpPr>
        <p:spPr>
          <a:xfrm>
            <a:off x="4526279" y="4297680"/>
            <a:ext cx="3108960" cy="868680"/>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Got desired department · Family / friend support · Career expectation</a:t>
            </a:r>
          </a:p>
        </p:txBody>
      </p:sp>
      <p:sp>
        <p:nvSpPr>
          <p:cNvPr id="27" name="Rounded Rectangle 26"/>
          <p:cNvSpPr/>
          <p:nvPr/>
        </p:nvSpPr>
        <p:spPr>
          <a:xfrm>
            <a:off x="8046719" y="3383280"/>
            <a:ext cx="3520440" cy="182880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229599" y="3566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800" b="0">
                <a:solidFill>
                  <a:srgbClr val="0B0B0B"/>
                </a:solidFill>
                <a:latin typeface="Helvetica Neue"/>
              </a:rPr>
              <a:t>🏠</a:t>
            </a:r>
          </a:p>
        </p:txBody>
      </p:sp>
      <p:sp>
        <p:nvSpPr>
          <p:cNvPr id="29" name="TextBox 28"/>
          <p:cNvSpPr txBox="1"/>
          <p:nvPr/>
        </p:nvSpPr>
        <p:spPr>
          <a:xfrm>
            <a:off x="9006840" y="3657600"/>
            <a:ext cx="2468880" cy="457200"/>
          </a:xfrm>
          <a:prstGeom prst="rect">
            <a:avLst/>
          </a:prstGeom>
          <a:noFill/>
        </p:spPr>
        <p:txBody>
          <a:bodyPr wrap="square" lIns="27432" tIns="27432" rIns="27432" bIns="27432" anchor="t">
            <a:noAutofit/>
          </a:bodyPr>
          <a:lstStyle/>
          <a:p>
            <a:pPr algn="l">
              <a:lnSpc>
                <a:spcPct val="105000"/>
              </a:lnSpc>
            </a:pPr>
            <a:r>
              <a:rPr sz="2000" b="1">
                <a:solidFill>
                  <a:srgbClr val="0B0B0B"/>
                </a:solidFill>
                <a:latin typeface="Helvetica Neue"/>
              </a:rPr>
              <a:t>Environment</a:t>
            </a:r>
          </a:p>
        </p:txBody>
      </p:sp>
      <p:sp>
        <p:nvSpPr>
          <p:cNvPr id="30" name="TextBox 29"/>
          <p:cNvSpPr txBox="1"/>
          <p:nvPr/>
        </p:nvSpPr>
        <p:spPr>
          <a:xfrm>
            <a:off x="8275319" y="4297680"/>
            <a:ext cx="3108960" cy="868680"/>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Study-friendly living place</a:t>
            </a:r>
          </a:p>
        </p:txBody>
      </p:sp>
      <p:sp>
        <p:nvSpPr>
          <p:cNvPr id="31" name="TextBox 30"/>
          <p:cNvSpPr txBox="1"/>
          <p:nvPr/>
        </p:nvSpPr>
        <p:spPr>
          <a:xfrm>
            <a:off x="548640" y="5532120"/>
            <a:ext cx="2926080" cy="457200"/>
          </a:xfrm>
          <a:prstGeom prst="rect">
            <a:avLst/>
          </a:prstGeom>
          <a:noFill/>
        </p:spPr>
        <p:txBody>
          <a:bodyPr wrap="square" lIns="27432" tIns="27432" rIns="27432" bIns="27432" anchor="ctr">
            <a:noAutofit/>
          </a:bodyPr>
          <a:lstStyle/>
          <a:p>
            <a:pPr algn="l">
              <a:lnSpc>
                <a:spcPct val="105000"/>
              </a:lnSpc>
            </a:pPr>
            <a:r>
              <a:rPr sz="2000" b="1">
                <a:solidFill>
                  <a:srgbClr val="0B0B0B"/>
                </a:solidFill>
                <a:latin typeface="Helvetica Neue"/>
              </a:rPr>
              <a:t>Target: CGPA group</a:t>
            </a:r>
          </a:p>
        </p:txBody>
      </p:sp>
      <p:sp>
        <p:nvSpPr>
          <p:cNvPr id="32" name="Rounded Rectangle 31"/>
          <p:cNvSpPr/>
          <p:nvPr/>
        </p:nvSpPr>
        <p:spPr>
          <a:xfrm>
            <a:off x="3291840" y="5559552"/>
            <a:ext cx="1920240" cy="411480"/>
          </a:xfrm>
          <a:prstGeom prst="roundRect">
            <a:avLst>
              <a:gd name="adj" fmla="val 8000"/>
            </a:avLst>
          </a:prstGeom>
          <a:solidFill>
            <a:srgbClr val="A83A3A"/>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1">
                <a:solidFill>
                  <a:srgbClr val="FFFFFF"/>
                </a:solidFill>
                <a:latin typeface="Helvetica Neue"/>
              </a:rPr>
              <a:t>C0  &lt;3.20</a:t>
            </a:r>
          </a:p>
        </p:txBody>
      </p:sp>
      <p:sp>
        <p:nvSpPr>
          <p:cNvPr id="33" name="Rounded Rectangle 32"/>
          <p:cNvSpPr/>
          <p:nvPr/>
        </p:nvSpPr>
        <p:spPr>
          <a:xfrm>
            <a:off x="5321808" y="5559552"/>
            <a:ext cx="1920240" cy="411480"/>
          </a:xfrm>
          <a:prstGeom prst="roundRect">
            <a:avLst>
              <a:gd name="adj" fmla="val 8000"/>
            </a:avLst>
          </a:prstGeom>
          <a:solidFill>
            <a:srgbClr val="E0703E"/>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1">
                <a:solidFill>
                  <a:srgbClr val="FFFFFF"/>
                </a:solidFill>
                <a:latin typeface="Helvetica Neue"/>
              </a:rPr>
              <a:t>C1  3.20–3.49</a:t>
            </a:r>
          </a:p>
        </p:txBody>
      </p:sp>
      <p:sp>
        <p:nvSpPr>
          <p:cNvPr id="34" name="Rounded Rectangle 33"/>
          <p:cNvSpPr/>
          <p:nvPr/>
        </p:nvSpPr>
        <p:spPr>
          <a:xfrm>
            <a:off x="7351776" y="5559552"/>
            <a:ext cx="1920240" cy="411480"/>
          </a:xfrm>
          <a:prstGeom prst="roundRect">
            <a:avLst>
              <a:gd name="adj" fmla="val 8000"/>
            </a:avLst>
          </a:prstGeom>
          <a:solidFill>
            <a:srgbClr val="4B8FD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1">
                <a:solidFill>
                  <a:srgbClr val="FFFFFF"/>
                </a:solidFill>
                <a:latin typeface="Helvetica Neue"/>
              </a:rPr>
              <a:t>C2  3.50–3.74</a:t>
            </a:r>
          </a:p>
        </p:txBody>
      </p:sp>
      <p:sp>
        <p:nvSpPr>
          <p:cNvPr id="35" name="Rounded Rectangle 34"/>
          <p:cNvSpPr/>
          <p:nvPr/>
        </p:nvSpPr>
        <p:spPr>
          <a:xfrm>
            <a:off x="9381744" y="5559552"/>
            <a:ext cx="1920240" cy="411480"/>
          </a:xfrm>
          <a:prstGeom prst="roundRect">
            <a:avLst>
              <a:gd name="adj" fmla="val 8000"/>
            </a:avLst>
          </a:prstGeom>
          <a:solidFill>
            <a:srgbClr val="2659A3"/>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1">
                <a:solidFill>
                  <a:srgbClr val="FFFFFF"/>
                </a:solidFill>
                <a:latin typeface="Helvetica Neue"/>
              </a:rPr>
              <a:t>C3  3.75+</a:t>
            </a:r>
          </a:p>
        </p:txBody>
      </p:sp>
      <p:sp>
        <p:nvSpPr>
          <p:cNvPr id="36" name="SimpleLightSectionLabel">
            <a:extLst>
              <a:ext uri="{FF2B5EF4-FFF2-40B4-BE49-F238E27FC236}">
                <a16:creationId xmlns:a16="http://schemas.microsoft.com/office/drawing/2014/main" id="{3C3AD25B-0E06-47EC-B470-E0C4B7357AEE}"/>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DATASET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dirty="0">
                <a:solidFill>
                  <a:srgbClr val="2A78D6"/>
                </a:solidFill>
                <a:latin typeface="Helvetica Neue"/>
              </a:rPr>
              <a:t>DATA COLLECTION</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From Raw Responses to Usable Data</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11</a:t>
            </a:r>
          </a:p>
        </p:txBody>
      </p:sp>
      <p:sp>
        <p:nvSpPr>
          <p:cNvPr id="7" name="Rounded Rectangle 6"/>
          <p:cNvSpPr/>
          <p:nvPr/>
        </p:nvSpPr>
        <p:spPr>
          <a:xfrm>
            <a:off x="548640" y="1371600"/>
            <a:ext cx="2423160" cy="86868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800" b="0">
                <a:solidFill>
                  <a:srgbClr val="0B0B0B"/>
                </a:solidFill>
                <a:latin typeface="Helvetica Neue"/>
              </a:rPr>
              <a:t>1,126 raw responses</a:t>
            </a:r>
          </a:p>
        </p:txBody>
      </p:sp>
      <p:sp>
        <p:nvSpPr>
          <p:cNvPr id="8" name="Right Arrow 7"/>
          <p:cNvSpPr/>
          <p:nvPr/>
        </p:nvSpPr>
        <p:spPr>
          <a:xfrm>
            <a:off x="3026664" y="1650492"/>
            <a:ext cx="347472"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429000" y="1371600"/>
            <a:ext cx="2423160" cy="86868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800" b="0">
                <a:solidFill>
                  <a:srgbClr val="0B0B0B"/>
                </a:solidFill>
                <a:latin typeface="Helvetica Neue"/>
              </a:rPr>
              <a:t>Fix spellings &amp; labels</a:t>
            </a:r>
          </a:p>
        </p:txBody>
      </p:sp>
      <p:sp>
        <p:nvSpPr>
          <p:cNvPr id="10" name="Right Arrow 9"/>
          <p:cNvSpPr/>
          <p:nvPr/>
        </p:nvSpPr>
        <p:spPr>
          <a:xfrm>
            <a:off x="5907024" y="1650492"/>
            <a:ext cx="347472"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309359" y="1371600"/>
            <a:ext cx="2423160" cy="86868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800" b="0">
                <a:solidFill>
                  <a:srgbClr val="0B0B0B"/>
                </a:solidFill>
                <a:latin typeface="Helvetica Neue"/>
              </a:rPr>
              <a:t>Merge the two forms</a:t>
            </a:r>
          </a:p>
        </p:txBody>
      </p:sp>
      <p:sp>
        <p:nvSpPr>
          <p:cNvPr id="12" name="Right Arrow 11"/>
          <p:cNvSpPr/>
          <p:nvPr/>
        </p:nvSpPr>
        <p:spPr>
          <a:xfrm>
            <a:off x="8787384" y="1650492"/>
            <a:ext cx="347472"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189719" y="1371600"/>
            <a:ext cx="2423160" cy="86868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800" b="0">
                <a:solidFill>
                  <a:srgbClr val="FFFFFF"/>
                </a:solidFill>
                <a:latin typeface="Helvetica Neue"/>
              </a:rPr>
              <a:t>1,108 clean rows</a:t>
            </a:r>
          </a:p>
        </p:txBody>
      </p:sp>
      <p:sp>
        <p:nvSpPr>
          <p:cNvPr id="16" name="Rounded Rectangle 15"/>
          <p:cNvSpPr/>
          <p:nvPr/>
        </p:nvSpPr>
        <p:spPr>
          <a:xfrm>
            <a:off x="3398520" y="2583180"/>
            <a:ext cx="224028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300" b="0">
                <a:solidFill>
                  <a:srgbClr val="0B0B0B"/>
                </a:solidFill>
                <a:latin typeface="Helvetica Neue"/>
              </a:rPr>
              <a:t>BRAC / Brac / BRAc</a:t>
            </a:r>
          </a:p>
        </p:txBody>
      </p:sp>
      <p:sp>
        <p:nvSpPr>
          <p:cNvPr id="17" name="Right Arrow 16"/>
          <p:cNvSpPr/>
          <p:nvPr/>
        </p:nvSpPr>
        <p:spPr>
          <a:xfrm>
            <a:off x="5702808" y="2738628"/>
            <a:ext cx="320040" cy="274320"/>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096000" y="2583180"/>
            <a:ext cx="1691640" cy="5943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400" b="1">
                <a:solidFill>
                  <a:srgbClr val="1F3B5C"/>
                </a:solidFill>
                <a:latin typeface="Helvetica Neue"/>
              </a:rPr>
              <a:t>BRAC</a:t>
            </a:r>
          </a:p>
        </p:txBody>
      </p:sp>
      <p:sp>
        <p:nvSpPr>
          <p:cNvPr id="19" name="Rounded Rectangle 18"/>
          <p:cNvSpPr/>
          <p:nvPr/>
        </p:nvSpPr>
        <p:spPr>
          <a:xfrm>
            <a:off x="3398520" y="3314699"/>
            <a:ext cx="224028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300" b="0">
                <a:solidFill>
                  <a:srgbClr val="0B0B0B"/>
                </a:solidFill>
                <a:latin typeface="Helvetica Neue"/>
              </a:rPr>
              <a:t>90% or more (৯০% বা তার বেশি)</a:t>
            </a:r>
          </a:p>
        </p:txBody>
      </p:sp>
      <p:sp>
        <p:nvSpPr>
          <p:cNvPr id="20" name="Right Arrow 19"/>
          <p:cNvSpPr/>
          <p:nvPr/>
        </p:nvSpPr>
        <p:spPr>
          <a:xfrm>
            <a:off x="5702808" y="3470147"/>
            <a:ext cx="320040" cy="274320"/>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096000" y="3314699"/>
            <a:ext cx="1691640" cy="5943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400" b="1">
                <a:solidFill>
                  <a:srgbClr val="1F3B5C"/>
                </a:solidFill>
                <a:latin typeface="Helvetica Neue"/>
              </a:rPr>
              <a:t>90% or more</a:t>
            </a:r>
          </a:p>
        </p:txBody>
      </p:sp>
      <p:sp>
        <p:nvSpPr>
          <p:cNvPr id="22" name="Rounded Rectangle 21"/>
          <p:cNvSpPr/>
          <p:nvPr/>
        </p:nvSpPr>
        <p:spPr>
          <a:xfrm>
            <a:off x="3398520" y="4046220"/>
            <a:ext cx="224028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300" b="0">
                <a:solidFill>
                  <a:srgbClr val="0B0B0B"/>
                </a:solidFill>
                <a:latin typeface="Helvetica Neue"/>
              </a:rPr>
              <a:t>110 department spellings</a:t>
            </a:r>
          </a:p>
        </p:txBody>
      </p:sp>
      <p:sp>
        <p:nvSpPr>
          <p:cNvPr id="23" name="Right Arrow 22"/>
          <p:cNvSpPr/>
          <p:nvPr/>
        </p:nvSpPr>
        <p:spPr>
          <a:xfrm>
            <a:off x="5702808" y="4201668"/>
            <a:ext cx="320040" cy="274320"/>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096000" y="4046220"/>
            <a:ext cx="1691640" cy="5943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400" b="1">
                <a:solidFill>
                  <a:srgbClr val="1F3B5C"/>
                </a:solidFill>
                <a:latin typeface="Helvetica Neue"/>
              </a:rPr>
              <a:t>24 departments</a:t>
            </a:r>
          </a:p>
        </p:txBody>
      </p:sp>
      <p:sp>
        <p:nvSpPr>
          <p:cNvPr id="25" name="Rounded Rectangle 24"/>
          <p:cNvSpPr/>
          <p:nvPr/>
        </p:nvSpPr>
        <p:spPr>
          <a:xfrm>
            <a:off x="3398520" y="4777740"/>
            <a:ext cx="224028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300" b="0">
                <a:solidFill>
                  <a:srgbClr val="0B0B0B"/>
                </a:solidFill>
                <a:latin typeface="Helvetica Neue"/>
              </a:rPr>
              <a:t>Two GPA formats + typed numbers</a:t>
            </a:r>
          </a:p>
        </p:txBody>
      </p:sp>
      <p:sp>
        <p:nvSpPr>
          <p:cNvPr id="26" name="Right Arrow 25"/>
          <p:cNvSpPr/>
          <p:nvPr/>
        </p:nvSpPr>
        <p:spPr>
          <a:xfrm>
            <a:off x="5702808" y="4933188"/>
            <a:ext cx="320040" cy="274320"/>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096000" y="4777740"/>
            <a:ext cx="1691640" cy="5943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400" b="1">
                <a:solidFill>
                  <a:srgbClr val="1F3B5C"/>
                </a:solidFill>
                <a:latin typeface="Helvetica Neue"/>
              </a:rPr>
              <a:t>C0 – C3 groups</a:t>
            </a:r>
          </a:p>
        </p:txBody>
      </p:sp>
      <p:sp>
        <p:nvSpPr>
          <p:cNvPr id="28" name="Rounded Rectangle 27"/>
          <p:cNvSpPr/>
          <p:nvPr/>
        </p:nvSpPr>
        <p:spPr>
          <a:xfrm>
            <a:off x="3398520" y="5509260"/>
            <a:ext cx="224028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300" b="0">
                <a:solidFill>
                  <a:srgbClr val="0B0B0B"/>
                </a:solidFill>
                <a:latin typeface="Helvetica Neue"/>
              </a:rPr>
              <a:t>18 rows with no CGPA</a:t>
            </a:r>
          </a:p>
        </p:txBody>
      </p:sp>
      <p:sp>
        <p:nvSpPr>
          <p:cNvPr id="29" name="Right Arrow 28"/>
          <p:cNvSpPr/>
          <p:nvPr/>
        </p:nvSpPr>
        <p:spPr>
          <a:xfrm>
            <a:off x="5702808" y="5664708"/>
            <a:ext cx="320040" cy="274320"/>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096000" y="5509260"/>
            <a:ext cx="1691640" cy="5943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400" b="1">
                <a:solidFill>
                  <a:srgbClr val="1F3B5C"/>
                </a:solidFill>
                <a:latin typeface="Helvetica Neue"/>
              </a:rPr>
              <a:t>removed</a:t>
            </a:r>
          </a:p>
        </p:txBody>
      </p:sp>
      <p:sp>
        <p:nvSpPr>
          <p:cNvPr id="31" name="SimpleLightSectionLabel">
            <a:extLst>
              <a:ext uri="{FF2B5EF4-FFF2-40B4-BE49-F238E27FC236}">
                <a16:creationId xmlns:a16="http://schemas.microsoft.com/office/drawing/2014/main" id="{16D00B4D-C329-4096-AC1E-2347D7797641}"/>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DATASET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26375-1DA6-14F5-5A90-F0927A843DC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681EAE2-62EB-02C5-0390-46D7C67E3FD2}"/>
              </a:ext>
            </a:extLst>
          </p:cNvPr>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048BBED9-97FD-9723-A046-9074FE07A0A1}"/>
              </a:ext>
            </a:extLst>
          </p:cNvPr>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REFERENCE DATASET</a:t>
            </a:r>
          </a:p>
        </p:txBody>
      </p:sp>
      <p:sp>
        <p:nvSpPr>
          <p:cNvPr id="4" name="TextBox 3">
            <a:extLst>
              <a:ext uri="{FF2B5EF4-FFF2-40B4-BE49-F238E27FC236}">
                <a16:creationId xmlns:a16="http://schemas.microsoft.com/office/drawing/2014/main" id="{DC89AEF4-BCA8-02C6-CB10-DB5F126131B6}"/>
              </a:ext>
            </a:extLst>
          </p:cNvPr>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What Do Existing Student Datasets Look Like?</a:t>
            </a:r>
          </a:p>
        </p:txBody>
      </p:sp>
      <p:sp>
        <p:nvSpPr>
          <p:cNvPr id="5" name="TextBox 4">
            <a:extLst>
              <a:ext uri="{FF2B5EF4-FFF2-40B4-BE49-F238E27FC236}">
                <a16:creationId xmlns:a16="http://schemas.microsoft.com/office/drawing/2014/main" id="{DA215944-9CAE-08CC-1EA5-1707342C6A3C}"/>
              </a:ext>
            </a:extLst>
          </p:cNvPr>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a:extLst>
              <a:ext uri="{FF2B5EF4-FFF2-40B4-BE49-F238E27FC236}">
                <a16:creationId xmlns:a16="http://schemas.microsoft.com/office/drawing/2014/main" id="{E0D0E04E-3788-3637-D7E9-38DB61A9EC77}"/>
              </a:ext>
            </a:extLst>
          </p:cNvPr>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12</a:t>
            </a:r>
          </a:p>
        </p:txBody>
      </p:sp>
      <p:pic>
        <p:nvPicPr>
          <p:cNvPr id="7" name="Picture 6" descr="reference_mendeley_page.png">
            <a:extLst>
              <a:ext uri="{FF2B5EF4-FFF2-40B4-BE49-F238E27FC236}">
                <a16:creationId xmlns:a16="http://schemas.microsoft.com/office/drawing/2014/main" id="{BF01FA7E-4E38-125C-63B7-8D0B1E8F7AC1}"/>
              </a:ext>
            </a:extLst>
          </p:cNvPr>
          <p:cNvPicPr>
            <a:picLocks noChangeAspect="1"/>
          </p:cNvPicPr>
          <p:nvPr/>
        </p:nvPicPr>
        <p:blipFill>
          <a:blip r:embed="rId3"/>
          <a:stretch>
            <a:fillRect/>
          </a:stretch>
        </p:blipFill>
        <p:spPr>
          <a:xfrm>
            <a:off x="1552847" y="1252728"/>
            <a:ext cx="7677323" cy="5058265"/>
          </a:xfrm>
          <a:prstGeom prst="rect">
            <a:avLst/>
          </a:prstGeom>
          <a:ln w="12700">
            <a:solidFill>
              <a:srgbClr val="DADCE0"/>
            </a:solidFill>
          </a:ln>
        </p:spPr>
      </p:pic>
      <p:sp>
        <p:nvSpPr>
          <p:cNvPr id="21" name="SimpleLightSectionLabel">
            <a:extLst>
              <a:ext uri="{FF2B5EF4-FFF2-40B4-BE49-F238E27FC236}">
                <a16:creationId xmlns:a16="http://schemas.microsoft.com/office/drawing/2014/main" id="{A5001518-F94E-304B-D926-32F4862E17B7}"/>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DATASET</a:t>
            </a:r>
          </a:p>
        </p:txBody>
      </p:sp>
    </p:spTree>
    <p:extLst>
      <p:ext uri="{BB962C8B-B14F-4D97-AF65-F5344CB8AC3E}">
        <p14:creationId xmlns:p14="http://schemas.microsoft.com/office/powerpoint/2010/main" val="4277598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REFERENCE DATASET</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What Do Existing Student Datasets Look Like?</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12</a:t>
            </a:r>
          </a:p>
        </p:txBody>
      </p:sp>
      <p:pic>
        <p:nvPicPr>
          <p:cNvPr id="8" name="Picture 7" descr="reference_dataset_preview_trim.png"/>
          <p:cNvPicPr>
            <a:picLocks noChangeAspect="1"/>
          </p:cNvPicPr>
          <p:nvPr/>
        </p:nvPicPr>
        <p:blipFill>
          <a:blip r:embed="rId3"/>
          <a:stretch>
            <a:fillRect/>
          </a:stretch>
        </p:blipFill>
        <p:spPr>
          <a:xfrm>
            <a:off x="191680" y="1206952"/>
            <a:ext cx="11979328" cy="3556363"/>
          </a:xfrm>
          <a:prstGeom prst="rect">
            <a:avLst/>
          </a:prstGeom>
          <a:ln w="12700">
            <a:solidFill>
              <a:srgbClr val="DADCE0"/>
            </a:solidFill>
          </a:ln>
        </p:spPr>
      </p:pic>
      <p:sp>
        <p:nvSpPr>
          <p:cNvPr id="9" name="Rounded Rectangle 8"/>
          <p:cNvSpPr/>
          <p:nvPr/>
        </p:nvSpPr>
        <p:spPr>
          <a:xfrm>
            <a:off x="548640" y="5257800"/>
            <a:ext cx="2651760" cy="100584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5367528"/>
            <a:ext cx="2377440" cy="553212"/>
          </a:xfrm>
          <a:prstGeom prst="rect">
            <a:avLst/>
          </a:prstGeom>
          <a:noFill/>
        </p:spPr>
        <p:txBody>
          <a:bodyPr wrap="square" lIns="27432" tIns="27432" rIns="27432" bIns="27432" anchor="ctr">
            <a:noAutofit/>
          </a:bodyPr>
          <a:lstStyle/>
          <a:p>
            <a:pPr algn="l">
              <a:lnSpc>
                <a:spcPct val="105000"/>
              </a:lnSpc>
            </a:pPr>
            <a:r>
              <a:rPr sz="2400" b="1">
                <a:solidFill>
                  <a:srgbClr val="2A78D6"/>
                </a:solidFill>
                <a:latin typeface="Helvetica Neue"/>
              </a:rPr>
              <a:t>894</a:t>
            </a:r>
          </a:p>
        </p:txBody>
      </p:sp>
      <p:sp>
        <p:nvSpPr>
          <p:cNvPr id="11" name="TextBox 10"/>
          <p:cNvSpPr txBox="1"/>
          <p:nvPr/>
        </p:nvSpPr>
        <p:spPr>
          <a:xfrm>
            <a:off x="685800" y="5841187"/>
            <a:ext cx="2377440" cy="402336"/>
          </a:xfrm>
          <a:prstGeom prst="rect">
            <a:avLst/>
          </a:prstGeom>
          <a:noFill/>
        </p:spPr>
        <p:txBody>
          <a:bodyPr wrap="square" lIns="27432" tIns="27432" rIns="27432" bIns="27432" anchor="t">
            <a:noAutofit/>
          </a:bodyPr>
          <a:lstStyle/>
          <a:p>
            <a:pPr algn="l">
              <a:lnSpc>
                <a:spcPct val="105000"/>
              </a:lnSpc>
            </a:pPr>
            <a:r>
              <a:rPr sz="1300" b="0">
                <a:solidFill>
                  <a:srgbClr val="52514E"/>
                </a:solidFill>
                <a:latin typeface="Helvetica Neue"/>
              </a:rPr>
              <a:t>IUBAT Computer Science students</a:t>
            </a:r>
          </a:p>
        </p:txBody>
      </p:sp>
      <p:sp>
        <p:nvSpPr>
          <p:cNvPr id="12" name="Rounded Rectangle 11"/>
          <p:cNvSpPr/>
          <p:nvPr/>
        </p:nvSpPr>
        <p:spPr>
          <a:xfrm>
            <a:off x="3364992" y="5257800"/>
            <a:ext cx="2651760" cy="100584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02152" y="5367528"/>
            <a:ext cx="2377440" cy="553212"/>
          </a:xfrm>
          <a:prstGeom prst="rect">
            <a:avLst/>
          </a:prstGeom>
          <a:noFill/>
        </p:spPr>
        <p:txBody>
          <a:bodyPr wrap="square" lIns="27432" tIns="27432" rIns="27432" bIns="27432" anchor="ctr">
            <a:noAutofit/>
          </a:bodyPr>
          <a:lstStyle/>
          <a:p>
            <a:pPr algn="l">
              <a:lnSpc>
                <a:spcPct val="105000"/>
              </a:lnSpc>
            </a:pPr>
            <a:r>
              <a:rPr sz="2400" b="1">
                <a:solidFill>
                  <a:srgbClr val="2A78D6"/>
                </a:solidFill>
                <a:latin typeface="Helvetica Neue"/>
              </a:rPr>
              <a:t>31</a:t>
            </a:r>
          </a:p>
        </p:txBody>
      </p:sp>
      <p:sp>
        <p:nvSpPr>
          <p:cNvPr id="14" name="TextBox 13"/>
          <p:cNvSpPr txBox="1"/>
          <p:nvPr/>
        </p:nvSpPr>
        <p:spPr>
          <a:xfrm>
            <a:off x="3502152" y="5841187"/>
            <a:ext cx="2377440" cy="402336"/>
          </a:xfrm>
          <a:prstGeom prst="rect">
            <a:avLst/>
          </a:prstGeom>
          <a:noFill/>
        </p:spPr>
        <p:txBody>
          <a:bodyPr wrap="square" lIns="27432" tIns="27432" rIns="27432" bIns="27432" anchor="t">
            <a:noAutofit/>
          </a:bodyPr>
          <a:lstStyle/>
          <a:p>
            <a:pPr algn="l">
              <a:lnSpc>
                <a:spcPct val="105000"/>
              </a:lnSpc>
            </a:pPr>
            <a:r>
              <a:rPr sz="1300" b="0">
                <a:solidFill>
                  <a:srgbClr val="52514E"/>
                </a:solidFill>
                <a:latin typeface="Helvetica Neue"/>
              </a:rPr>
              <a:t>questions / columns</a:t>
            </a:r>
          </a:p>
        </p:txBody>
      </p:sp>
      <p:sp>
        <p:nvSpPr>
          <p:cNvPr id="15" name="Rounded Rectangle 14"/>
          <p:cNvSpPr/>
          <p:nvPr/>
        </p:nvSpPr>
        <p:spPr>
          <a:xfrm>
            <a:off x="6181344" y="5257800"/>
            <a:ext cx="2651760" cy="100584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18504" y="5367528"/>
            <a:ext cx="2377440" cy="553212"/>
          </a:xfrm>
          <a:prstGeom prst="rect">
            <a:avLst/>
          </a:prstGeom>
          <a:noFill/>
        </p:spPr>
        <p:txBody>
          <a:bodyPr wrap="square" lIns="27432" tIns="27432" rIns="27432" bIns="27432" anchor="ctr">
            <a:noAutofit/>
          </a:bodyPr>
          <a:lstStyle/>
          <a:p>
            <a:pPr algn="l">
              <a:lnSpc>
                <a:spcPct val="105000"/>
              </a:lnSpc>
            </a:pPr>
            <a:r>
              <a:rPr sz="2400" b="1">
                <a:solidFill>
                  <a:srgbClr val="2A78D6"/>
                </a:solidFill>
                <a:latin typeface="Helvetica Neue"/>
              </a:rPr>
              <a:t>Numbers</a:t>
            </a:r>
          </a:p>
        </p:txBody>
      </p:sp>
      <p:sp>
        <p:nvSpPr>
          <p:cNvPr id="17" name="TextBox 16"/>
          <p:cNvSpPr txBox="1"/>
          <p:nvPr/>
        </p:nvSpPr>
        <p:spPr>
          <a:xfrm>
            <a:off x="6318504" y="5841187"/>
            <a:ext cx="2377440" cy="402336"/>
          </a:xfrm>
          <a:prstGeom prst="rect">
            <a:avLst/>
          </a:prstGeom>
          <a:noFill/>
        </p:spPr>
        <p:txBody>
          <a:bodyPr wrap="square" lIns="27432" tIns="27432" rIns="27432" bIns="27432" anchor="t">
            <a:noAutofit/>
          </a:bodyPr>
          <a:lstStyle/>
          <a:p>
            <a:pPr algn="l">
              <a:lnSpc>
                <a:spcPct val="105000"/>
              </a:lnSpc>
            </a:pPr>
            <a:r>
              <a:rPr sz="1300" b="0">
                <a:solidFill>
                  <a:srgbClr val="52514E"/>
                </a:solidFill>
                <a:latin typeface="Helvetica Neue"/>
              </a:rPr>
              <a:t>CGPA and SGPA typed as numbers</a:t>
            </a:r>
          </a:p>
        </p:txBody>
      </p:sp>
      <p:sp>
        <p:nvSpPr>
          <p:cNvPr id="18" name="Rounded Rectangle 17"/>
          <p:cNvSpPr/>
          <p:nvPr/>
        </p:nvSpPr>
        <p:spPr>
          <a:xfrm>
            <a:off x="8997696" y="5257800"/>
            <a:ext cx="2651760" cy="100584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34856" y="5367528"/>
            <a:ext cx="2377440" cy="553212"/>
          </a:xfrm>
          <a:prstGeom prst="rect">
            <a:avLst/>
          </a:prstGeom>
          <a:noFill/>
        </p:spPr>
        <p:txBody>
          <a:bodyPr wrap="square" lIns="27432" tIns="27432" rIns="27432" bIns="27432" anchor="ctr">
            <a:noAutofit/>
          </a:bodyPr>
          <a:lstStyle/>
          <a:p>
            <a:pPr algn="l">
              <a:lnSpc>
                <a:spcPct val="105000"/>
              </a:lnSpc>
            </a:pPr>
            <a:r>
              <a:rPr sz="2400" b="1">
                <a:solidFill>
                  <a:srgbClr val="2A78D6"/>
                </a:solidFill>
                <a:latin typeface="Helvetica Neue"/>
              </a:rPr>
              <a:t>4 levels</a:t>
            </a:r>
          </a:p>
        </p:txBody>
      </p:sp>
      <p:sp>
        <p:nvSpPr>
          <p:cNvPr id="20" name="TextBox 19"/>
          <p:cNvSpPr txBox="1"/>
          <p:nvPr/>
        </p:nvSpPr>
        <p:spPr>
          <a:xfrm>
            <a:off x="9134856" y="5841187"/>
            <a:ext cx="2377440" cy="402336"/>
          </a:xfrm>
          <a:prstGeom prst="rect">
            <a:avLst/>
          </a:prstGeom>
          <a:noFill/>
        </p:spPr>
        <p:txBody>
          <a:bodyPr wrap="square" lIns="27432" tIns="27432" rIns="27432" bIns="27432" anchor="t">
            <a:noAutofit/>
          </a:bodyPr>
          <a:lstStyle/>
          <a:p>
            <a:pPr algn="l">
              <a:lnSpc>
                <a:spcPct val="105000"/>
              </a:lnSpc>
            </a:pPr>
            <a:r>
              <a:rPr sz="1300" b="0">
                <a:solidFill>
                  <a:srgbClr val="52514E"/>
                </a:solidFill>
                <a:latin typeface="Helvetica Neue"/>
              </a:rPr>
              <a:t>performance category in classified copy</a:t>
            </a:r>
          </a:p>
        </p:txBody>
      </p:sp>
      <p:sp>
        <p:nvSpPr>
          <p:cNvPr id="21" name="SimpleLightSectionLabel">
            <a:extLst>
              <a:ext uri="{FF2B5EF4-FFF2-40B4-BE49-F238E27FC236}">
                <a16:creationId xmlns:a16="http://schemas.microsoft.com/office/drawing/2014/main" id="{0B5AB749-72D2-42EE-9E72-A5C125C0773B}"/>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DATASET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REFERENCE DATASET</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What Is Similar and What Did We Add?</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13</a:t>
            </a:r>
          </a:p>
        </p:txBody>
      </p:sp>
      <p:pic>
        <p:nvPicPr>
          <p:cNvPr id="7" name="Picture 6" descr="reference_vs_ours.png"/>
          <p:cNvPicPr>
            <a:picLocks noChangeAspect="1"/>
          </p:cNvPicPr>
          <p:nvPr/>
        </p:nvPicPr>
        <p:blipFill>
          <a:blip r:embed="rId3"/>
          <a:stretch>
            <a:fillRect/>
          </a:stretch>
        </p:blipFill>
        <p:spPr>
          <a:xfrm>
            <a:off x="548640" y="1483146"/>
            <a:ext cx="6949440" cy="4623226"/>
          </a:xfrm>
          <a:prstGeom prst="rect">
            <a:avLst/>
          </a:prstGeom>
        </p:spPr>
      </p:pic>
      <p:sp>
        <p:nvSpPr>
          <p:cNvPr id="8" name="Rounded Rectangle 7"/>
          <p:cNvSpPr/>
          <p:nvPr/>
        </p:nvSpPr>
        <p:spPr>
          <a:xfrm>
            <a:off x="7772400" y="1371600"/>
            <a:ext cx="1874519" cy="123444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09560" y="1481328"/>
            <a:ext cx="1600199" cy="678942"/>
          </a:xfrm>
          <a:prstGeom prst="rect">
            <a:avLst/>
          </a:prstGeom>
          <a:noFill/>
        </p:spPr>
        <p:txBody>
          <a:bodyPr wrap="square" lIns="27432" tIns="27432" rIns="27432" bIns="27432" anchor="ctr">
            <a:noAutofit/>
          </a:bodyPr>
          <a:lstStyle/>
          <a:p>
            <a:pPr algn="l">
              <a:lnSpc>
                <a:spcPct val="105000"/>
              </a:lnSpc>
            </a:pPr>
            <a:r>
              <a:rPr sz="3600" b="1">
                <a:solidFill>
                  <a:srgbClr val="2A78D6"/>
                </a:solidFill>
                <a:latin typeface="Helvetica Neue"/>
              </a:rPr>
              <a:t>7</a:t>
            </a:r>
          </a:p>
        </p:txBody>
      </p:sp>
      <p:sp>
        <p:nvSpPr>
          <p:cNvPr id="10" name="TextBox 9"/>
          <p:cNvSpPr txBox="1"/>
          <p:nvPr/>
        </p:nvSpPr>
        <p:spPr>
          <a:xfrm>
            <a:off x="7909560" y="2087575"/>
            <a:ext cx="1600199" cy="493776"/>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asked in both</a:t>
            </a:r>
          </a:p>
        </p:txBody>
      </p:sp>
      <p:sp>
        <p:nvSpPr>
          <p:cNvPr id="11" name="Rounded Rectangle 10"/>
          <p:cNvSpPr/>
          <p:nvPr/>
        </p:nvSpPr>
        <p:spPr>
          <a:xfrm>
            <a:off x="9738360" y="1371600"/>
            <a:ext cx="1874519" cy="123444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75520" y="1481328"/>
            <a:ext cx="1600199" cy="678942"/>
          </a:xfrm>
          <a:prstGeom prst="rect">
            <a:avLst/>
          </a:prstGeom>
          <a:noFill/>
        </p:spPr>
        <p:txBody>
          <a:bodyPr wrap="square" lIns="27432" tIns="27432" rIns="27432" bIns="27432" anchor="ctr">
            <a:noAutofit/>
          </a:bodyPr>
          <a:lstStyle/>
          <a:p>
            <a:pPr algn="l">
              <a:lnSpc>
                <a:spcPct val="105000"/>
              </a:lnSpc>
            </a:pPr>
            <a:r>
              <a:rPr sz="3600" b="1">
                <a:solidFill>
                  <a:srgbClr val="5598E7"/>
                </a:solidFill>
                <a:latin typeface="Helvetica Neue"/>
              </a:rPr>
              <a:t>4</a:t>
            </a:r>
          </a:p>
        </p:txBody>
      </p:sp>
      <p:sp>
        <p:nvSpPr>
          <p:cNvPr id="13" name="TextBox 12"/>
          <p:cNvSpPr txBox="1"/>
          <p:nvPr/>
        </p:nvSpPr>
        <p:spPr>
          <a:xfrm>
            <a:off x="9875520" y="2087575"/>
            <a:ext cx="1600199" cy="493776"/>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similar idea</a:t>
            </a:r>
          </a:p>
        </p:txBody>
      </p:sp>
      <p:sp>
        <p:nvSpPr>
          <p:cNvPr id="14" name="Rounded Rectangle 13"/>
          <p:cNvSpPr/>
          <p:nvPr/>
        </p:nvSpPr>
        <p:spPr>
          <a:xfrm>
            <a:off x="7772400" y="2788920"/>
            <a:ext cx="3840480" cy="2377440"/>
          </a:xfrm>
          <a:prstGeom prst="roundRect">
            <a:avLst>
              <a:gd name="adj" fmla="val 8000"/>
            </a:avLst>
          </a:prstGeom>
          <a:solidFill>
            <a:srgbClr val="E6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55279" y="2880360"/>
            <a:ext cx="3566160" cy="457200"/>
          </a:xfrm>
          <a:prstGeom prst="rect">
            <a:avLst/>
          </a:prstGeom>
          <a:noFill/>
        </p:spPr>
        <p:txBody>
          <a:bodyPr wrap="square" lIns="27432" tIns="27432" rIns="27432" bIns="27432" anchor="t">
            <a:noAutofit/>
          </a:bodyPr>
          <a:lstStyle/>
          <a:p>
            <a:pPr algn="l">
              <a:lnSpc>
                <a:spcPct val="105000"/>
              </a:lnSpc>
            </a:pPr>
            <a:r>
              <a:rPr sz="2000" b="1">
                <a:solidFill>
                  <a:srgbClr val="0E7A52"/>
                </a:solidFill>
                <a:latin typeface="Helvetica Neue"/>
              </a:rPr>
              <a:t>6 added in our survey</a:t>
            </a:r>
          </a:p>
        </p:txBody>
      </p:sp>
      <p:sp>
        <p:nvSpPr>
          <p:cNvPr id="16" name="TextBox 15"/>
          <p:cNvSpPr txBox="1"/>
          <p:nvPr/>
        </p:nvSpPr>
        <p:spPr>
          <a:xfrm>
            <a:off x="7955279" y="3383280"/>
            <a:ext cx="3566160" cy="1737360"/>
          </a:xfrm>
          <a:prstGeom prst="rect">
            <a:avLst/>
          </a:prstGeom>
          <a:noFill/>
        </p:spPr>
        <p:txBody>
          <a:bodyPr wrap="square" lIns="27432" tIns="27432" rIns="27432" bIns="27432" anchor="t">
            <a:noAutofit/>
          </a:bodyPr>
          <a:lstStyle/>
          <a:p>
            <a:pPr algn="l">
              <a:lnSpc>
                <a:spcPct val="105000"/>
              </a:lnSpc>
            </a:pPr>
            <a:r>
              <a:rPr sz="1500" b="0">
                <a:solidFill>
                  <a:srgbClr val="0B0B0B"/>
                </a:solidFill>
                <a:latin typeface="Helvetica Neue"/>
              </a:rPr>
              <a:t>• Stress</a:t>
            </a:r>
          </a:p>
          <a:p>
            <a:pPr algn="l">
              <a:lnSpc>
                <a:spcPct val="105000"/>
              </a:lnSpc>
            </a:pPr>
            <a:r>
              <a:rPr sz="1500" b="0">
                <a:solidFill>
                  <a:srgbClr val="0B0B0B"/>
                </a:solidFill>
                <a:latin typeface="Helvetica Neue"/>
              </a:rPr>
              <a:t>• Sleep</a:t>
            </a:r>
          </a:p>
          <a:p>
            <a:pPr algn="l">
              <a:lnSpc>
                <a:spcPct val="105000"/>
              </a:lnSpc>
            </a:pPr>
            <a:r>
              <a:rPr sz="1500" b="0">
                <a:solidFill>
                  <a:srgbClr val="0B0B0B"/>
                </a:solidFill>
                <a:latin typeface="Helvetica Neue"/>
              </a:rPr>
              <a:t>• Topic clear after class</a:t>
            </a:r>
          </a:p>
          <a:p>
            <a:pPr algn="l">
              <a:lnSpc>
                <a:spcPct val="105000"/>
              </a:lnSpc>
            </a:pPr>
            <a:r>
              <a:rPr sz="1500" b="0">
                <a:solidFill>
                  <a:srgbClr val="0B0B0B"/>
                </a:solidFill>
                <a:latin typeface="Helvetica Neue"/>
              </a:rPr>
              <a:t>• Got desired department</a:t>
            </a:r>
          </a:p>
          <a:p>
            <a:pPr algn="l">
              <a:lnSpc>
                <a:spcPct val="105000"/>
              </a:lnSpc>
            </a:pPr>
            <a:r>
              <a:rPr sz="1500" b="0">
                <a:solidFill>
                  <a:srgbClr val="0B0B0B"/>
                </a:solidFill>
                <a:latin typeface="Helvetica Neue"/>
              </a:rPr>
              <a:t>• Routine manageable</a:t>
            </a:r>
          </a:p>
          <a:p>
            <a:pPr algn="l">
              <a:lnSpc>
                <a:spcPct val="105000"/>
              </a:lnSpc>
            </a:pPr>
            <a:r>
              <a:rPr sz="1500" b="0">
                <a:solidFill>
                  <a:srgbClr val="0B0B0B"/>
                </a:solidFill>
                <a:latin typeface="Helvetica Neue"/>
              </a:rPr>
              <a:t>• Career expectation</a:t>
            </a:r>
          </a:p>
        </p:txBody>
      </p:sp>
      <p:sp>
        <p:nvSpPr>
          <p:cNvPr id="17" name="Rounded Rectangle 16"/>
          <p:cNvSpPr/>
          <p:nvPr/>
        </p:nvSpPr>
        <p:spPr>
          <a:xfrm>
            <a:off x="7772400" y="5349240"/>
            <a:ext cx="3840480" cy="86868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400" b="0">
                <a:solidFill>
                  <a:srgbClr val="52514E"/>
                </a:solidFill>
                <a:latin typeface="Helvetica Neue"/>
              </a:rPr>
              <a:t>Reference stores exact numeric CGPA / SGPA; our form uses bands (C0–C3)</a:t>
            </a:r>
          </a:p>
        </p:txBody>
      </p:sp>
      <p:sp>
        <p:nvSpPr>
          <p:cNvPr id="18" name="SimpleLightSectionLabel">
            <a:extLst>
              <a:ext uri="{FF2B5EF4-FFF2-40B4-BE49-F238E27FC236}">
                <a16:creationId xmlns:a16="http://schemas.microsoft.com/office/drawing/2014/main" id="{55159DB4-938C-49DA-A3BA-F7020AC70E78}"/>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DATASET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DATASET STATISTICS</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dirty="0">
                <a:solidFill>
                  <a:srgbClr val="121212"/>
                </a:solidFill>
                <a:latin typeface="OpenAI Sans" panose="020B0604020202020204" charset="0"/>
              </a:rPr>
              <a:t>Wh</a:t>
            </a:r>
            <a:r>
              <a:rPr lang="en-US" sz="3200" b="1" dirty="0">
                <a:solidFill>
                  <a:srgbClr val="121212"/>
                </a:solidFill>
                <a:latin typeface="OpenAI Sans" panose="020B0604020202020204" charset="0"/>
              </a:rPr>
              <a:t>ich universities are </a:t>
            </a:r>
            <a:r>
              <a:rPr sz="3200" b="1" dirty="0">
                <a:solidFill>
                  <a:srgbClr val="121212"/>
                </a:solidFill>
                <a:latin typeface="OpenAI Sans" panose="020B0604020202020204" charset="0"/>
              </a:rPr>
              <a:t>in the Dataset?</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16</a:t>
            </a:r>
          </a:p>
        </p:txBody>
      </p:sp>
      <p:pic>
        <p:nvPicPr>
          <p:cNvPr id="7" name="Picture 6" descr="rc_university.png"/>
          <p:cNvPicPr>
            <a:picLocks noChangeAspect="1"/>
          </p:cNvPicPr>
          <p:nvPr/>
        </p:nvPicPr>
        <p:blipFill>
          <a:blip r:embed="rId3"/>
          <a:stretch>
            <a:fillRect/>
          </a:stretch>
        </p:blipFill>
        <p:spPr>
          <a:xfrm>
            <a:off x="548640" y="1447518"/>
            <a:ext cx="6583680" cy="4603043"/>
          </a:xfrm>
          <a:prstGeom prst="rect">
            <a:avLst/>
          </a:prstGeom>
        </p:spPr>
      </p:pic>
      <p:sp>
        <p:nvSpPr>
          <p:cNvPr id="8" name="Rounded Rectangle 7"/>
          <p:cNvSpPr/>
          <p:nvPr/>
        </p:nvSpPr>
        <p:spPr>
          <a:xfrm>
            <a:off x="7498079" y="1463040"/>
            <a:ext cx="4114800" cy="182880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35240" y="1572768"/>
            <a:ext cx="3840480" cy="1005840"/>
          </a:xfrm>
          <a:prstGeom prst="rect">
            <a:avLst/>
          </a:prstGeom>
          <a:noFill/>
        </p:spPr>
        <p:txBody>
          <a:bodyPr wrap="square" lIns="27432" tIns="27432" rIns="27432" bIns="27432" anchor="ctr">
            <a:noAutofit/>
          </a:bodyPr>
          <a:lstStyle/>
          <a:p>
            <a:pPr algn="l">
              <a:lnSpc>
                <a:spcPct val="105000"/>
              </a:lnSpc>
            </a:pPr>
            <a:r>
              <a:rPr sz="5400" b="1">
                <a:solidFill>
                  <a:srgbClr val="2A78D6"/>
                </a:solidFill>
                <a:latin typeface="Helvetica Neue"/>
              </a:rPr>
              <a:t>1,108</a:t>
            </a:r>
          </a:p>
        </p:txBody>
      </p:sp>
      <p:sp>
        <p:nvSpPr>
          <p:cNvPr id="10" name="TextBox 9"/>
          <p:cNvSpPr txBox="1"/>
          <p:nvPr/>
        </p:nvSpPr>
        <p:spPr>
          <a:xfrm>
            <a:off x="7635240" y="2523744"/>
            <a:ext cx="3840480" cy="731520"/>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usable students</a:t>
            </a:r>
          </a:p>
        </p:txBody>
      </p:sp>
      <p:sp>
        <p:nvSpPr>
          <p:cNvPr id="12" name="SimpleLightSectionLabel">
            <a:extLst>
              <a:ext uri="{FF2B5EF4-FFF2-40B4-BE49-F238E27FC236}">
                <a16:creationId xmlns:a16="http://schemas.microsoft.com/office/drawing/2014/main" id="{33794158-D503-45D4-A483-B776399FD11C}"/>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DATASET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DATASET STATISTICS</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dirty="0">
                <a:solidFill>
                  <a:srgbClr val="121212"/>
                </a:solidFill>
                <a:latin typeface="OpenAI Sans" panose="020B0604020202020204" charset="0"/>
              </a:rPr>
              <a:t>We Predict</a:t>
            </a:r>
            <a:r>
              <a:rPr lang="en-US" sz="3200" b="1" dirty="0">
                <a:solidFill>
                  <a:srgbClr val="121212"/>
                </a:solidFill>
                <a:latin typeface="OpenAI Sans" panose="020B0604020202020204" charset="0"/>
              </a:rPr>
              <a:t>ed</a:t>
            </a:r>
            <a:r>
              <a:rPr sz="3200" b="1" dirty="0">
                <a:solidFill>
                  <a:srgbClr val="121212"/>
                </a:solidFill>
                <a:latin typeface="OpenAI Sans" panose="020B0604020202020204" charset="0"/>
              </a:rPr>
              <a:t> Four CGPA Groups</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17</a:t>
            </a:r>
          </a:p>
        </p:txBody>
      </p:sp>
      <p:sp>
        <p:nvSpPr>
          <p:cNvPr id="7" name="Rounded Rectangle 6"/>
          <p:cNvSpPr/>
          <p:nvPr/>
        </p:nvSpPr>
        <p:spPr>
          <a:xfrm>
            <a:off x="548640" y="1463040"/>
            <a:ext cx="2651760" cy="3566160"/>
          </a:xfrm>
          <a:prstGeom prst="roundRect">
            <a:avLst>
              <a:gd name="adj" fmla="val 8000"/>
            </a:avLst>
          </a:prstGeom>
          <a:solidFill>
            <a:srgbClr val="A8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645920"/>
            <a:ext cx="2651760" cy="914400"/>
          </a:xfrm>
          <a:prstGeom prst="rect">
            <a:avLst/>
          </a:prstGeom>
          <a:noFill/>
        </p:spPr>
        <p:txBody>
          <a:bodyPr wrap="square" lIns="27432" tIns="27432" rIns="27432" bIns="27432" anchor="t">
            <a:noAutofit/>
          </a:bodyPr>
          <a:lstStyle/>
          <a:p>
            <a:pPr algn="ctr">
              <a:lnSpc>
                <a:spcPct val="105000"/>
              </a:lnSpc>
            </a:pPr>
            <a:r>
              <a:rPr sz="5400" b="1">
                <a:solidFill>
                  <a:srgbClr val="FFFFFF"/>
                </a:solidFill>
                <a:latin typeface="Helvetica Neue"/>
              </a:rPr>
              <a:t>C0</a:t>
            </a:r>
          </a:p>
        </p:txBody>
      </p:sp>
      <p:sp>
        <p:nvSpPr>
          <p:cNvPr id="9" name="TextBox 8"/>
          <p:cNvSpPr txBox="1"/>
          <p:nvPr/>
        </p:nvSpPr>
        <p:spPr>
          <a:xfrm>
            <a:off x="548640" y="2606040"/>
            <a:ext cx="2651760" cy="457200"/>
          </a:xfrm>
          <a:prstGeom prst="rect">
            <a:avLst/>
          </a:prstGeom>
          <a:noFill/>
        </p:spPr>
        <p:txBody>
          <a:bodyPr wrap="square" lIns="27432" tIns="27432" rIns="27432" bIns="27432" anchor="t">
            <a:noAutofit/>
          </a:bodyPr>
          <a:lstStyle/>
          <a:p>
            <a:pPr algn="ctr">
              <a:lnSpc>
                <a:spcPct val="105000"/>
              </a:lnSpc>
            </a:pPr>
            <a:r>
              <a:rPr sz="1800" b="0">
                <a:solidFill>
                  <a:srgbClr val="FFFFFF"/>
                </a:solidFill>
                <a:latin typeface="Helvetica Neue"/>
              </a:rPr>
              <a:t>CGPA below 3.20</a:t>
            </a:r>
          </a:p>
        </p:txBody>
      </p:sp>
      <p:sp>
        <p:nvSpPr>
          <p:cNvPr id="10" name="TextBox 9"/>
          <p:cNvSpPr txBox="1"/>
          <p:nvPr/>
        </p:nvSpPr>
        <p:spPr>
          <a:xfrm>
            <a:off x="548640" y="3337560"/>
            <a:ext cx="2651760" cy="640080"/>
          </a:xfrm>
          <a:prstGeom prst="rect">
            <a:avLst/>
          </a:prstGeom>
          <a:noFill/>
        </p:spPr>
        <p:txBody>
          <a:bodyPr wrap="square" lIns="27432" tIns="27432" rIns="27432" bIns="27432" anchor="t">
            <a:noAutofit/>
          </a:bodyPr>
          <a:lstStyle/>
          <a:p>
            <a:pPr algn="ctr">
              <a:lnSpc>
                <a:spcPct val="105000"/>
              </a:lnSpc>
            </a:pPr>
            <a:r>
              <a:rPr sz="4000" b="1">
                <a:solidFill>
                  <a:srgbClr val="FFFFFF"/>
                </a:solidFill>
                <a:latin typeface="Helvetica Neue"/>
              </a:rPr>
              <a:t>236</a:t>
            </a:r>
          </a:p>
        </p:txBody>
      </p:sp>
      <p:sp>
        <p:nvSpPr>
          <p:cNvPr id="11" name="TextBox 10"/>
          <p:cNvSpPr txBox="1"/>
          <p:nvPr/>
        </p:nvSpPr>
        <p:spPr>
          <a:xfrm>
            <a:off x="548640" y="4023360"/>
            <a:ext cx="2651760" cy="457200"/>
          </a:xfrm>
          <a:prstGeom prst="rect">
            <a:avLst/>
          </a:prstGeom>
          <a:noFill/>
        </p:spPr>
        <p:txBody>
          <a:bodyPr wrap="square" lIns="27432" tIns="27432" rIns="27432" bIns="27432" anchor="t">
            <a:noAutofit/>
          </a:bodyPr>
          <a:lstStyle/>
          <a:p>
            <a:pPr algn="ctr">
              <a:lnSpc>
                <a:spcPct val="105000"/>
              </a:lnSpc>
            </a:pPr>
            <a:r>
              <a:rPr sz="1600" b="0">
                <a:solidFill>
                  <a:srgbClr val="FFFFFF"/>
                </a:solidFill>
                <a:latin typeface="Helvetica Neue"/>
              </a:rPr>
              <a:t>students · 21.3%</a:t>
            </a:r>
          </a:p>
        </p:txBody>
      </p:sp>
      <p:sp>
        <p:nvSpPr>
          <p:cNvPr id="12" name="Rounded Rectangle 11"/>
          <p:cNvSpPr/>
          <p:nvPr/>
        </p:nvSpPr>
        <p:spPr>
          <a:xfrm>
            <a:off x="3364992" y="1463040"/>
            <a:ext cx="2651760" cy="3566160"/>
          </a:xfrm>
          <a:prstGeom prst="roundRect">
            <a:avLst>
              <a:gd name="adj" fmla="val 8000"/>
            </a:avLst>
          </a:prstGeom>
          <a:solidFill>
            <a:srgbClr val="E070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64992" y="1645920"/>
            <a:ext cx="2651760" cy="914400"/>
          </a:xfrm>
          <a:prstGeom prst="rect">
            <a:avLst/>
          </a:prstGeom>
          <a:noFill/>
        </p:spPr>
        <p:txBody>
          <a:bodyPr wrap="square" lIns="27432" tIns="27432" rIns="27432" bIns="27432" anchor="t">
            <a:noAutofit/>
          </a:bodyPr>
          <a:lstStyle/>
          <a:p>
            <a:pPr algn="ctr">
              <a:lnSpc>
                <a:spcPct val="105000"/>
              </a:lnSpc>
            </a:pPr>
            <a:r>
              <a:rPr sz="5400" b="1">
                <a:solidFill>
                  <a:srgbClr val="FFFFFF"/>
                </a:solidFill>
                <a:latin typeface="Helvetica Neue"/>
              </a:rPr>
              <a:t>C1</a:t>
            </a:r>
          </a:p>
        </p:txBody>
      </p:sp>
      <p:sp>
        <p:nvSpPr>
          <p:cNvPr id="14" name="TextBox 13"/>
          <p:cNvSpPr txBox="1"/>
          <p:nvPr/>
        </p:nvSpPr>
        <p:spPr>
          <a:xfrm>
            <a:off x="3364992" y="2606040"/>
            <a:ext cx="2651760" cy="457200"/>
          </a:xfrm>
          <a:prstGeom prst="rect">
            <a:avLst/>
          </a:prstGeom>
          <a:noFill/>
        </p:spPr>
        <p:txBody>
          <a:bodyPr wrap="square" lIns="27432" tIns="27432" rIns="27432" bIns="27432" anchor="t">
            <a:noAutofit/>
          </a:bodyPr>
          <a:lstStyle/>
          <a:p>
            <a:pPr algn="ctr">
              <a:lnSpc>
                <a:spcPct val="105000"/>
              </a:lnSpc>
            </a:pPr>
            <a:r>
              <a:rPr sz="1800" b="0">
                <a:solidFill>
                  <a:srgbClr val="FFFFFF"/>
                </a:solidFill>
                <a:latin typeface="Helvetica Neue"/>
              </a:rPr>
              <a:t>CGPA 3.20 to 3.49</a:t>
            </a:r>
          </a:p>
        </p:txBody>
      </p:sp>
      <p:sp>
        <p:nvSpPr>
          <p:cNvPr id="15" name="TextBox 14"/>
          <p:cNvSpPr txBox="1"/>
          <p:nvPr/>
        </p:nvSpPr>
        <p:spPr>
          <a:xfrm>
            <a:off x="3364992" y="3337560"/>
            <a:ext cx="2651760" cy="640080"/>
          </a:xfrm>
          <a:prstGeom prst="rect">
            <a:avLst/>
          </a:prstGeom>
          <a:noFill/>
        </p:spPr>
        <p:txBody>
          <a:bodyPr wrap="square" lIns="27432" tIns="27432" rIns="27432" bIns="27432" anchor="t">
            <a:noAutofit/>
          </a:bodyPr>
          <a:lstStyle/>
          <a:p>
            <a:pPr algn="ctr">
              <a:lnSpc>
                <a:spcPct val="105000"/>
              </a:lnSpc>
            </a:pPr>
            <a:r>
              <a:rPr sz="4000" b="1">
                <a:solidFill>
                  <a:srgbClr val="FFFFFF"/>
                </a:solidFill>
                <a:latin typeface="Helvetica Neue"/>
              </a:rPr>
              <a:t>321</a:t>
            </a:r>
          </a:p>
        </p:txBody>
      </p:sp>
      <p:sp>
        <p:nvSpPr>
          <p:cNvPr id="16" name="TextBox 15"/>
          <p:cNvSpPr txBox="1"/>
          <p:nvPr/>
        </p:nvSpPr>
        <p:spPr>
          <a:xfrm>
            <a:off x="3364992" y="4023360"/>
            <a:ext cx="2651760" cy="457200"/>
          </a:xfrm>
          <a:prstGeom prst="rect">
            <a:avLst/>
          </a:prstGeom>
          <a:noFill/>
        </p:spPr>
        <p:txBody>
          <a:bodyPr wrap="square" lIns="27432" tIns="27432" rIns="27432" bIns="27432" anchor="t">
            <a:noAutofit/>
          </a:bodyPr>
          <a:lstStyle/>
          <a:p>
            <a:pPr algn="ctr">
              <a:lnSpc>
                <a:spcPct val="105000"/>
              </a:lnSpc>
            </a:pPr>
            <a:r>
              <a:rPr sz="1600" b="0">
                <a:solidFill>
                  <a:srgbClr val="FFFFFF"/>
                </a:solidFill>
                <a:latin typeface="Helvetica Neue"/>
              </a:rPr>
              <a:t>students · 29.0%</a:t>
            </a:r>
          </a:p>
        </p:txBody>
      </p:sp>
      <p:sp>
        <p:nvSpPr>
          <p:cNvPr id="17" name="Rounded Rectangle 16"/>
          <p:cNvSpPr/>
          <p:nvPr/>
        </p:nvSpPr>
        <p:spPr>
          <a:xfrm>
            <a:off x="6181344" y="1463040"/>
            <a:ext cx="2651760" cy="3566160"/>
          </a:xfrm>
          <a:prstGeom prst="roundRect">
            <a:avLst>
              <a:gd name="adj" fmla="val 8000"/>
            </a:avLst>
          </a:prstGeom>
          <a:solidFill>
            <a:srgbClr val="4B8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81344" y="1645920"/>
            <a:ext cx="2651760" cy="914400"/>
          </a:xfrm>
          <a:prstGeom prst="rect">
            <a:avLst/>
          </a:prstGeom>
          <a:noFill/>
        </p:spPr>
        <p:txBody>
          <a:bodyPr wrap="square" lIns="27432" tIns="27432" rIns="27432" bIns="27432" anchor="t">
            <a:noAutofit/>
          </a:bodyPr>
          <a:lstStyle/>
          <a:p>
            <a:pPr algn="ctr">
              <a:lnSpc>
                <a:spcPct val="105000"/>
              </a:lnSpc>
            </a:pPr>
            <a:r>
              <a:rPr sz="5400" b="1">
                <a:solidFill>
                  <a:srgbClr val="FFFFFF"/>
                </a:solidFill>
                <a:latin typeface="Helvetica Neue"/>
              </a:rPr>
              <a:t>C2</a:t>
            </a:r>
          </a:p>
        </p:txBody>
      </p:sp>
      <p:sp>
        <p:nvSpPr>
          <p:cNvPr id="19" name="TextBox 18"/>
          <p:cNvSpPr txBox="1"/>
          <p:nvPr/>
        </p:nvSpPr>
        <p:spPr>
          <a:xfrm>
            <a:off x="6181344" y="2606040"/>
            <a:ext cx="2651760" cy="457200"/>
          </a:xfrm>
          <a:prstGeom prst="rect">
            <a:avLst/>
          </a:prstGeom>
          <a:noFill/>
        </p:spPr>
        <p:txBody>
          <a:bodyPr wrap="square" lIns="27432" tIns="27432" rIns="27432" bIns="27432" anchor="t">
            <a:noAutofit/>
          </a:bodyPr>
          <a:lstStyle/>
          <a:p>
            <a:pPr algn="ctr">
              <a:lnSpc>
                <a:spcPct val="105000"/>
              </a:lnSpc>
            </a:pPr>
            <a:r>
              <a:rPr sz="1800" b="0">
                <a:solidFill>
                  <a:srgbClr val="FFFFFF"/>
                </a:solidFill>
                <a:latin typeface="Helvetica Neue"/>
              </a:rPr>
              <a:t>CGPA 3.50 to 3.74</a:t>
            </a:r>
          </a:p>
        </p:txBody>
      </p:sp>
      <p:sp>
        <p:nvSpPr>
          <p:cNvPr id="20" name="TextBox 19"/>
          <p:cNvSpPr txBox="1"/>
          <p:nvPr/>
        </p:nvSpPr>
        <p:spPr>
          <a:xfrm>
            <a:off x="6181344" y="3337560"/>
            <a:ext cx="2651760" cy="640080"/>
          </a:xfrm>
          <a:prstGeom prst="rect">
            <a:avLst/>
          </a:prstGeom>
          <a:noFill/>
        </p:spPr>
        <p:txBody>
          <a:bodyPr wrap="square" lIns="27432" tIns="27432" rIns="27432" bIns="27432" anchor="t">
            <a:noAutofit/>
          </a:bodyPr>
          <a:lstStyle/>
          <a:p>
            <a:pPr algn="ctr">
              <a:lnSpc>
                <a:spcPct val="105000"/>
              </a:lnSpc>
            </a:pPr>
            <a:r>
              <a:rPr sz="4000" b="1">
                <a:solidFill>
                  <a:srgbClr val="FFFFFF"/>
                </a:solidFill>
                <a:latin typeface="Helvetica Neue"/>
              </a:rPr>
              <a:t>303</a:t>
            </a:r>
          </a:p>
        </p:txBody>
      </p:sp>
      <p:sp>
        <p:nvSpPr>
          <p:cNvPr id="21" name="TextBox 20"/>
          <p:cNvSpPr txBox="1"/>
          <p:nvPr/>
        </p:nvSpPr>
        <p:spPr>
          <a:xfrm>
            <a:off x="6181344" y="4023360"/>
            <a:ext cx="2651760" cy="457200"/>
          </a:xfrm>
          <a:prstGeom prst="rect">
            <a:avLst/>
          </a:prstGeom>
          <a:noFill/>
        </p:spPr>
        <p:txBody>
          <a:bodyPr wrap="square" lIns="27432" tIns="27432" rIns="27432" bIns="27432" anchor="t">
            <a:noAutofit/>
          </a:bodyPr>
          <a:lstStyle/>
          <a:p>
            <a:pPr algn="ctr">
              <a:lnSpc>
                <a:spcPct val="105000"/>
              </a:lnSpc>
            </a:pPr>
            <a:r>
              <a:rPr sz="1600" b="0">
                <a:solidFill>
                  <a:srgbClr val="FFFFFF"/>
                </a:solidFill>
                <a:latin typeface="Helvetica Neue"/>
              </a:rPr>
              <a:t>students · 27.3%</a:t>
            </a:r>
          </a:p>
        </p:txBody>
      </p:sp>
      <p:sp>
        <p:nvSpPr>
          <p:cNvPr id="22" name="Rounded Rectangle 21"/>
          <p:cNvSpPr/>
          <p:nvPr/>
        </p:nvSpPr>
        <p:spPr>
          <a:xfrm>
            <a:off x="8997696" y="1463040"/>
            <a:ext cx="2651760" cy="3566160"/>
          </a:xfrm>
          <a:prstGeom prst="roundRect">
            <a:avLst>
              <a:gd name="adj" fmla="val 8000"/>
            </a:avLst>
          </a:prstGeom>
          <a:solidFill>
            <a:srgbClr val="2659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997696" y="1645920"/>
            <a:ext cx="2651760" cy="914400"/>
          </a:xfrm>
          <a:prstGeom prst="rect">
            <a:avLst/>
          </a:prstGeom>
          <a:noFill/>
        </p:spPr>
        <p:txBody>
          <a:bodyPr wrap="square" lIns="27432" tIns="27432" rIns="27432" bIns="27432" anchor="t">
            <a:noAutofit/>
          </a:bodyPr>
          <a:lstStyle/>
          <a:p>
            <a:pPr algn="ctr">
              <a:lnSpc>
                <a:spcPct val="105000"/>
              </a:lnSpc>
            </a:pPr>
            <a:r>
              <a:rPr sz="5400" b="1">
                <a:solidFill>
                  <a:srgbClr val="FFFFFF"/>
                </a:solidFill>
                <a:latin typeface="Helvetica Neue"/>
              </a:rPr>
              <a:t>C3</a:t>
            </a:r>
          </a:p>
        </p:txBody>
      </p:sp>
      <p:sp>
        <p:nvSpPr>
          <p:cNvPr id="24" name="TextBox 23"/>
          <p:cNvSpPr txBox="1"/>
          <p:nvPr/>
        </p:nvSpPr>
        <p:spPr>
          <a:xfrm>
            <a:off x="8997696" y="2606040"/>
            <a:ext cx="2651760" cy="457200"/>
          </a:xfrm>
          <a:prstGeom prst="rect">
            <a:avLst/>
          </a:prstGeom>
          <a:noFill/>
        </p:spPr>
        <p:txBody>
          <a:bodyPr wrap="square" lIns="27432" tIns="27432" rIns="27432" bIns="27432" anchor="t">
            <a:noAutofit/>
          </a:bodyPr>
          <a:lstStyle/>
          <a:p>
            <a:pPr algn="ctr">
              <a:lnSpc>
                <a:spcPct val="105000"/>
              </a:lnSpc>
            </a:pPr>
            <a:r>
              <a:rPr sz="1800" b="0">
                <a:solidFill>
                  <a:srgbClr val="FFFFFF"/>
                </a:solidFill>
                <a:latin typeface="Helvetica Neue"/>
              </a:rPr>
              <a:t>CGPA 3.75 and above</a:t>
            </a:r>
          </a:p>
        </p:txBody>
      </p:sp>
      <p:sp>
        <p:nvSpPr>
          <p:cNvPr id="25" name="TextBox 24"/>
          <p:cNvSpPr txBox="1"/>
          <p:nvPr/>
        </p:nvSpPr>
        <p:spPr>
          <a:xfrm>
            <a:off x="8997696" y="3337560"/>
            <a:ext cx="2651760" cy="640080"/>
          </a:xfrm>
          <a:prstGeom prst="rect">
            <a:avLst/>
          </a:prstGeom>
          <a:noFill/>
        </p:spPr>
        <p:txBody>
          <a:bodyPr wrap="square" lIns="27432" tIns="27432" rIns="27432" bIns="27432" anchor="t">
            <a:noAutofit/>
          </a:bodyPr>
          <a:lstStyle/>
          <a:p>
            <a:pPr algn="ctr">
              <a:lnSpc>
                <a:spcPct val="105000"/>
              </a:lnSpc>
            </a:pPr>
            <a:r>
              <a:rPr sz="4000" b="1">
                <a:solidFill>
                  <a:srgbClr val="FFFFFF"/>
                </a:solidFill>
                <a:latin typeface="Helvetica Neue"/>
              </a:rPr>
              <a:t>248</a:t>
            </a:r>
          </a:p>
        </p:txBody>
      </p:sp>
      <p:sp>
        <p:nvSpPr>
          <p:cNvPr id="26" name="TextBox 25"/>
          <p:cNvSpPr txBox="1"/>
          <p:nvPr/>
        </p:nvSpPr>
        <p:spPr>
          <a:xfrm>
            <a:off x="8997696" y="4023360"/>
            <a:ext cx="2651760" cy="457200"/>
          </a:xfrm>
          <a:prstGeom prst="rect">
            <a:avLst/>
          </a:prstGeom>
          <a:noFill/>
        </p:spPr>
        <p:txBody>
          <a:bodyPr wrap="square" lIns="27432" tIns="27432" rIns="27432" bIns="27432" anchor="t">
            <a:noAutofit/>
          </a:bodyPr>
          <a:lstStyle/>
          <a:p>
            <a:pPr algn="ctr">
              <a:lnSpc>
                <a:spcPct val="105000"/>
              </a:lnSpc>
            </a:pPr>
            <a:r>
              <a:rPr sz="1600" b="0">
                <a:solidFill>
                  <a:srgbClr val="FFFFFF"/>
                </a:solidFill>
                <a:latin typeface="Helvetica Neue"/>
              </a:rPr>
              <a:t>students · 22.4%</a:t>
            </a:r>
          </a:p>
        </p:txBody>
      </p:sp>
      <p:sp>
        <p:nvSpPr>
          <p:cNvPr id="27" name="Rounded Rectangle 26"/>
          <p:cNvSpPr/>
          <p:nvPr/>
        </p:nvSpPr>
        <p:spPr>
          <a:xfrm>
            <a:off x="548640" y="5349240"/>
            <a:ext cx="11064240" cy="8229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900" b="0">
                <a:solidFill>
                  <a:srgbClr val="0B0B0B"/>
                </a:solidFill>
                <a:latin typeface="Helvetica Neue"/>
              </a:rPr>
              <a:t>The form collected CGPA ranges, not exact numbers → a four-group classification problem.</a:t>
            </a:r>
          </a:p>
        </p:txBody>
      </p:sp>
      <p:sp>
        <p:nvSpPr>
          <p:cNvPr id="28" name="SimpleLightSectionLabel">
            <a:extLst>
              <a:ext uri="{FF2B5EF4-FFF2-40B4-BE49-F238E27FC236}">
                <a16:creationId xmlns:a16="http://schemas.microsoft.com/office/drawing/2014/main" id="{500E686E-E0EC-4E23-8E88-31D4A22E5B7E}"/>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DATASET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DATASET STATISTICS</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How Are Students Distributed Across CGPA Groups?</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18</a:t>
            </a:r>
          </a:p>
        </p:txBody>
      </p:sp>
      <p:pic>
        <p:nvPicPr>
          <p:cNvPr id="7" name="Picture 6" descr="rc_cgpa.png"/>
          <p:cNvPicPr>
            <a:picLocks noChangeAspect="1"/>
          </p:cNvPicPr>
          <p:nvPr/>
        </p:nvPicPr>
        <p:blipFill>
          <a:blip r:embed="rId3"/>
          <a:stretch>
            <a:fillRect/>
          </a:stretch>
        </p:blipFill>
        <p:spPr>
          <a:xfrm>
            <a:off x="548640" y="1419467"/>
            <a:ext cx="6675120" cy="4659144"/>
          </a:xfrm>
          <a:prstGeom prst="rect">
            <a:avLst/>
          </a:prstGeom>
        </p:spPr>
      </p:pic>
      <p:sp>
        <p:nvSpPr>
          <p:cNvPr id="8" name="Rounded Rectangle 7"/>
          <p:cNvSpPr/>
          <p:nvPr/>
        </p:nvSpPr>
        <p:spPr>
          <a:xfrm>
            <a:off x="7498079" y="3158870"/>
            <a:ext cx="2011680" cy="132588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35240" y="3268598"/>
            <a:ext cx="1737360" cy="729234"/>
          </a:xfrm>
          <a:prstGeom prst="rect">
            <a:avLst/>
          </a:prstGeom>
          <a:noFill/>
        </p:spPr>
        <p:txBody>
          <a:bodyPr wrap="square" lIns="27432" tIns="27432" rIns="27432" bIns="27432" anchor="ctr">
            <a:noAutofit/>
          </a:bodyPr>
          <a:lstStyle/>
          <a:p>
            <a:pPr algn="l">
              <a:lnSpc>
                <a:spcPct val="105000"/>
              </a:lnSpc>
            </a:pPr>
            <a:r>
              <a:rPr sz="3000" b="1">
                <a:solidFill>
                  <a:srgbClr val="2A78D6"/>
                </a:solidFill>
                <a:latin typeface="Helvetica Neue"/>
              </a:rPr>
              <a:t>29.0%</a:t>
            </a:r>
          </a:p>
        </p:txBody>
      </p:sp>
      <p:sp>
        <p:nvSpPr>
          <p:cNvPr id="10" name="TextBox 9"/>
          <p:cNvSpPr txBox="1"/>
          <p:nvPr/>
        </p:nvSpPr>
        <p:spPr>
          <a:xfrm>
            <a:off x="7635240" y="3927880"/>
            <a:ext cx="1737360" cy="530352"/>
          </a:xfrm>
          <a:prstGeom prst="rect">
            <a:avLst/>
          </a:prstGeom>
          <a:noFill/>
        </p:spPr>
        <p:txBody>
          <a:bodyPr wrap="square" lIns="27432" tIns="27432" rIns="27432" bIns="27432" anchor="t">
            <a:noAutofit/>
          </a:bodyPr>
          <a:lstStyle/>
          <a:p>
            <a:pPr algn="l">
              <a:lnSpc>
                <a:spcPct val="105000"/>
              </a:lnSpc>
            </a:pPr>
            <a:r>
              <a:rPr sz="1300" b="0">
                <a:solidFill>
                  <a:srgbClr val="52514E"/>
                </a:solidFill>
                <a:latin typeface="Helvetica Neue"/>
              </a:rPr>
              <a:t>largest (C1) = guessing baseline</a:t>
            </a:r>
          </a:p>
        </p:txBody>
      </p:sp>
      <p:sp>
        <p:nvSpPr>
          <p:cNvPr id="11" name="Rounded Rectangle 10"/>
          <p:cNvSpPr/>
          <p:nvPr/>
        </p:nvSpPr>
        <p:spPr>
          <a:xfrm>
            <a:off x="9768840" y="3132352"/>
            <a:ext cx="2011680" cy="132588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906000" y="3242080"/>
            <a:ext cx="1737360" cy="729234"/>
          </a:xfrm>
          <a:prstGeom prst="rect">
            <a:avLst/>
          </a:prstGeom>
          <a:noFill/>
        </p:spPr>
        <p:txBody>
          <a:bodyPr wrap="square" lIns="27432" tIns="27432" rIns="27432" bIns="27432" anchor="ctr">
            <a:noAutofit/>
          </a:bodyPr>
          <a:lstStyle/>
          <a:p>
            <a:pPr algn="l">
              <a:lnSpc>
                <a:spcPct val="105000"/>
              </a:lnSpc>
            </a:pPr>
            <a:r>
              <a:rPr sz="3000" b="1" dirty="0">
                <a:solidFill>
                  <a:srgbClr val="2A78D6"/>
                </a:solidFill>
                <a:latin typeface="Helvetica Neue"/>
              </a:rPr>
              <a:t>21.3%</a:t>
            </a:r>
          </a:p>
        </p:txBody>
      </p:sp>
      <p:sp>
        <p:nvSpPr>
          <p:cNvPr id="13" name="TextBox 12"/>
          <p:cNvSpPr txBox="1"/>
          <p:nvPr/>
        </p:nvSpPr>
        <p:spPr>
          <a:xfrm>
            <a:off x="9906000" y="3901362"/>
            <a:ext cx="1737360" cy="530352"/>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smallest group (C0)</a:t>
            </a:r>
          </a:p>
        </p:txBody>
      </p:sp>
      <p:sp>
        <p:nvSpPr>
          <p:cNvPr id="16" name="Rounded Rectangle 15"/>
          <p:cNvSpPr/>
          <p:nvPr/>
        </p:nvSpPr>
        <p:spPr>
          <a:xfrm>
            <a:off x="7498079" y="5623560"/>
            <a:ext cx="4114800" cy="5943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1">
                <a:solidFill>
                  <a:srgbClr val="1F3B5C"/>
                </a:solidFill>
                <a:latin typeface="Helvetica Neue"/>
              </a:rPr>
              <a:t>Class shares are close enough for direct evaluation</a:t>
            </a:r>
          </a:p>
        </p:txBody>
      </p:sp>
      <p:sp>
        <p:nvSpPr>
          <p:cNvPr id="17" name="SimpleLightSectionLabel">
            <a:extLst>
              <a:ext uri="{FF2B5EF4-FFF2-40B4-BE49-F238E27FC236}">
                <a16:creationId xmlns:a16="http://schemas.microsoft.com/office/drawing/2014/main" id="{976BFE16-9B2A-457B-A5AC-DB9A73DAFDFE}"/>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DATASET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WHAT STUDENTS ANSWERED</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How Often Do Students Attend Classes?</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19</a:t>
            </a:r>
          </a:p>
        </p:txBody>
      </p:sp>
      <p:pic>
        <p:nvPicPr>
          <p:cNvPr id="7" name="Picture 6" descr="rc_attendance.png"/>
          <p:cNvPicPr>
            <a:picLocks noChangeAspect="1"/>
          </p:cNvPicPr>
          <p:nvPr/>
        </p:nvPicPr>
        <p:blipFill>
          <a:blip r:embed="rId3"/>
          <a:stretch>
            <a:fillRect/>
          </a:stretch>
        </p:blipFill>
        <p:spPr>
          <a:xfrm>
            <a:off x="548640" y="1420280"/>
            <a:ext cx="6766560" cy="4703239"/>
          </a:xfrm>
          <a:prstGeom prst="rect">
            <a:avLst/>
          </a:prstGeom>
        </p:spPr>
      </p:pic>
      <p:sp>
        <p:nvSpPr>
          <p:cNvPr id="8" name="Rounded Rectangle 7"/>
          <p:cNvSpPr/>
          <p:nvPr/>
        </p:nvSpPr>
        <p:spPr>
          <a:xfrm>
            <a:off x="7635240" y="1417320"/>
            <a:ext cx="3977639" cy="14173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0" y="1527048"/>
            <a:ext cx="3703320" cy="779526"/>
          </a:xfrm>
          <a:prstGeom prst="rect">
            <a:avLst/>
          </a:prstGeom>
          <a:noFill/>
        </p:spPr>
        <p:txBody>
          <a:bodyPr wrap="square" lIns="27432" tIns="27432" rIns="27432" bIns="27432" anchor="ctr">
            <a:noAutofit/>
          </a:bodyPr>
          <a:lstStyle/>
          <a:p>
            <a:pPr algn="l">
              <a:lnSpc>
                <a:spcPct val="105000"/>
              </a:lnSpc>
            </a:pPr>
            <a:r>
              <a:rPr sz="3000" b="1">
                <a:solidFill>
                  <a:srgbClr val="2A78D6"/>
                </a:solidFill>
                <a:latin typeface="Helvetica Neue"/>
              </a:rPr>
              <a:t>418 · 37.7%</a:t>
            </a:r>
          </a:p>
        </p:txBody>
      </p:sp>
      <p:sp>
        <p:nvSpPr>
          <p:cNvPr id="10" name="TextBox 9"/>
          <p:cNvSpPr txBox="1"/>
          <p:nvPr/>
        </p:nvSpPr>
        <p:spPr>
          <a:xfrm>
            <a:off x="7772400" y="2239365"/>
            <a:ext cx="3703320" cy="566928"/>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most common: 90% or more</a:t>
            </a:r>
          </a:p>
        </p:txBody>
      </p:sp>
      <p:sp>
        <p:nvSpPr>
          <p:cNvPr id="11" name="Rounded Rectangle 10"/>
          <p:cNvSpPr/>
          <p:nvPr/>
        </p:nvSpPr>
        <p:spPr>
          <a:xfrm>
            <a:off x="7635240" y="3017520"/>
            <a:ext cx="3977639" cy="14173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0" y="3127248"/>
            <a:ext cx="3703320" cy="779526"/>
          </a:xfrm>
          <a:prstGeom prst="rect">
            <a:avLst/>
          </a:prstGeom>
          <a:noFill/>
        </p:spPr>
        <p:txBody>
          <a:bodyPr wrap="square" lIns="27432" tIns="27432" rIns="27432" bIns="27432" anchor="ctr">
            <a:noAutofit/>
          </a:bodyPr>
          <a:lstStyle/>
          <a:p>
            <a:pPr algn="l">
              <a:lnSpc>
                <a:spcPct val="105000"/>
              </a:lnSpc>
            </a:pPr>
            <a:r>
              <a:rPr sz="3000" b="1">
                <a:solidFill>
                  <a:srgbClr val="2A78D6"/>
                </a:solidFill>
                <a:latin typeface="Helvetica Neue"/>
              </a:rPr>
              <a:t>799 · 72.1%</a:t>
            </a:r>
          </a:p>
        </p:txBody>
      </p:sp>
      <p:sp>
        <p:nvSpPr>
          <p:cNvPr id="13" name="TextBox 12"/>
          <p:cNvSpPr txBox="1"/>
          <p:nvPr/>
        </p:nvSpPr>
        <p:spPr>
          <a:xfrm>
            <a:off x="7772400" y="3839565"/>
            <a:ext cx="3703320" cy="566928"/>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attend 75% or more</a:t>
            </a:r>
          </a:p>
        </p:txBody>
      </p:sp>
      <p:sp>
        <p:nvSpPr>
          <p:cNvPr id="14" name="Rounded Rectangle 13"/>
          <p:cNvSpPr/>
          <p:nvPr/>
        </p:nvSpPr>
        <p:spPr>
          <a:xfrm>
            <a:off x="7635240" y="4617720"/>
            <a:ext cx="3977639" cy="14173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0" y="4727448"/>
            <a:ext cx="3703320" cy="779526"/>
          </a:xfrm>
          <a:prstGeom prst="rect">
            <a:avLst/>
          </a:prstGeom>
          <a:noFill/>
        </p:spPr>
        <p:txBody>
          <a:bodyPr wrap="square" lIns="27432" tIns="27432" rIns="27432" bIns="27432" anchor="ctr">
            <a:noAutofit/>
          </a:bodyPr>
          <a:lstStyle/>
          <a:p>
            <a:pPr algn="l">
              <a:lnSpc>
                <a:spcPct val="105000"/>
              </a:lnSpc>
            </a:pPr>
            <a:r>
              <a:rPr sz="3000" b="1">
                <a:solidFill>
                  <a:srgbClr val="2A78D6"/>
                </a:solidFill>
                <a:latin typeface="Helvetica Neue"/>
              </a:rPr>
              <a:t>33 · 3.0%</a:t>
            </a:r>
          </a:p>
        </p:txBody>
      </p:sp>
      <p:sp>
        <p:nvSpPr>
          <p:cNvPr id="16" name="TextBox 15"/>
          <p:cNvSpPr txBox="1"/>
          <p:nvPr/>
        </p:nvSpPr>
        <p:spPr>
          <a:xfrm>
            <a:off x="7772400" y="5439765"/>
            <a:ext cx="3703320" cy="566928"/>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attend below 60%</a:t>
            </a:r>
          </a:p>
        </p:txBody>
      </p:sp>
      <p:sp>
        <p:nvSpPr>
          <p:cNvPr id="17" name="SimpleLightSectionLabel">
            <a:extLst>
              <a:ext uri="{FF2B5EF4-FFF2-40B4-BE49-F238E27FC236}">
                <a16:creationId xmlns:a16="http://schemas.microsoft.com/office/drawing/2014/main" id="{1A6E1377-F8D2-489E-A4BA-DE4085875888}"/>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OBSERVED PATTERNS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WHAT STUDENTS ANSWERED</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How Much Time Do Students Study?</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20</a:t>
            </a:r>
          </a:p>
        </p:txBody>
      </p:sp>
      <p:pic>
        <p:nvPicPr>
          <p:cNvPr id="7" name="Picture 6" descr="rc_weekly_study_time.png"/>
          <p:cNvPicPr>
            <a:picLocks noChangeAspect="1"/>
          </p:cNvPicPr>
          <p:nvPr/>
        </p:nvPicPr>
        <p:blipFill>
          <a:blip r:embed="rId3"/>
          <a:stretch>
            <a:fillRect/>
          </a:stretch>
        </p:blipFill>
        <p:spPr>
          <a:xfrm>
            <a:off x="548640" y="1414371"/>
            <a:ext cx="6766560" cy="4715056"/>
          </a:xfrm>
          <a:prstGeom prst="rect">
            <a:avLst/>
          </a:prstGeom>
        </p:spPr>
      </p:pic>
      <p:sp>
        <p:nvSpPr>
          <p:cNvPr id="8" name="Rounded Rectangle 7"/>
          <p:cNvSpPr/>
          <p:nvPr/>
        </p:nvSpPr>
        <p:spPr>
          <a:xfrm>
            <a:off x="7635240" y="1417320"/>
            <a:ext cx="3977639" cy="14173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0" y="1527048"/>
            <a:ext cx="3703320" cy="779526"/>
          </a:xfrm>
          <a:prstGeom prst="rect">
            <a:avLst/>
          </a:prstGeom>
          <a:noFill/>
        </p:spPr>
        <p:txBody>
          <a:bodyPr wrap="square" lIns="27432" tIns="27432" rIns="27432" bIns="27432" anchor="ctr">
            <a:noAutofit/>
          </a:bodyPr>
          <a:lstStyle/>
          <a:p>
            <a:pPr algn="l">
              <a:lnSpc>
                <a:spcPct val="105000"/>
              </a:lnSpc>
            </a:pPr>
            <a:r>
              <a:rPr sz="3000" b="1">
                <a:solidFill>
                  <a:srgbClr val="2A78D6"/>
                </a:solidFill>
                <a:latin typeface="Helvetica Neue"/>
              </a:rPr>
              <a:t>281 · 25.4%</a:t>
            </a:r>
          </a:p>
        </p:txBody>
      </p:sp>
      <p:sp>
        <p:nvSpPr>
          <p:cNvPr id="10" name="TextBox 9"/>
          <p:cNvSpPr txBox="1"/>
          <p:nvPr/>
        </p:nvSpPr>
        <p:spPr>
          <a:xfrm>
            <a:off x="7772400" y="2239365"/>
            <a:ext cx="3703320" cy="566928"/>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most common: 3–6 hrs a week</a:t>
            </a:r>
          </a:p>
        </p:txBody>
      </p:sp>
      <p:sp>
        <p:nvSpPr>
          <p:cNvPr id="11" name="Rounded Rectangle 10"/>
          <p:cNvSpPr/>
          <p:nvPr/>
        </p:nvSpPr>
        <p:spPr>
          <a:xfrm>
            <a:off x="7635240" y="3017520"/>
            <a:ext cx="3977639" cy="14173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0" y="3127248"/>
            <a:ext cx="3703320" cy="779526"/>
          </a:xfrm>
          <a:prstGeom prst="rect">
            <a:avLst/>
          </a:prstGeom>
          <a:noFill/>
        </p:spPr>
        <p:txBody>
          <a:bodyPr wrap="square" lIns="27432" tIns="27432" rIns="27432" bIns="27432" anchor="ctr">
            <a:noAutofit/>
          </a:bodyPr>
          <a:lstStyle/>
          <a:p>
            <a:pPr algn="l">
              <a:lnSpc>
                <a:spcPct val="105000"/>
              </a:lnSpc>
            </a:pPr>
            <a:r>
              <a:rPr sz="3000" b="1">
                <a:solidFill>
                  <a:srgbClr val="2A78D6"/>
                </a:solidFill>
                <a:latin typeface="Helvetica Neue"/>
              </a:rPr>
              <a:t>235 · 21.2%</a:t>
            </a:r>
          </a:p>
        </p:txBody>
      </p:sp>
      <p:sp>
        <p:nvSpPr>
          <p:cNvPr id="13" name="TextBox 12"/>
          <p:cNvSpPr txBox="1"/>
          <p:nvPr/>
        </p:nvSpPr>
        <p:spPr>
          <a:xfrm>
            <a:off x="7772400" y="3839565"/>
            <a:ext cx="3703320" cy="566928"/>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study less than 3 hrs a week</a:t>
            </a:r>
          </a:p>
        </p:txBody>
      </p:sp>
      <p:sp>
        <p:nvSpPr>
          <p:cNvPr id="14" name="Rounded Rectangle 13"/>
          <p:cNvSpPr/>
          <p:nvPr/>
        </p:nvSpPr>
        <p:spPr>
          <a:xfrm>
            <a:off x="7635240" y="4617720"/>
            <a:ext cx="3977639" cy="14173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0" y="4727448"/>
            <a:ext cx="3703320" cy="779526"/>
          </a:xfrm>
          <a:prstGeom prst="rect">
            <a:avLst/>
          </a:prstGeom>
          <a:noFill/>
        </p:spPr>
        <p:txBody>
          <a:bodyPr wrap="square" lIns="27432" tIns="27432" rIns="27432" bIns="27432" anchor="ctr">
            <a:noAutofit/>
          </a:bodyPr>
          <a:lstStyle/>
          <a:p>
            <a:pPr algn="l">
              <a:lnSpc>
                <a:spcPct val="105000"/>
              </a:lnSpc>
            </a:pPr>
            <a:r>
              <a:rPr sz="3000" b="1">
                <a:solidFill>
                  <a:srgbClr val="2A78D6"/>
                </a:solidFill>
                <a:latin typeface="Helvetica Neue"/>
              </a:rPr>
              <a:t>341 · 30.8%</a:t>
            </a:r>
          </a:p>
        </p:txBody>
      </p:sp>
      <p:sp>
        <p:nvSpPr>
          <p:cNvPr id="16" name="TextBox 15"/>
          <p:cNvSpPr txBox="1"/>
          <p:nvPr/>
        </p:nvSpPr>
        <p:spPr>
          <a:xfrm>
            <a:off x="7772400" y="5439765"/>
            <a:ext cx="3703320" cy="566928"/>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study more than 10 hrs a week</a:t>
            </a:r>
          </a:p>
        </p:txBody>
      </p:sp>
      <p:sp>
        <p:nvSpPr>
          <p:cNvPr id="17" name="SimpleLightSectionLabel">
            <a:extLst>
              <a:ext uri="{FF2B5EF4-FFF2-40B4-BE49-F238E27FC236}">
                <a16:creationId xmlns:a16="http://schemas.microsoft.com/office/drawing/2014/main" id="{5A2AD51F-4B56-4579-98E6-39F417D1E3B3}"/>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OBSERVED PATTERNS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WHAT STUDENTS ANSWERED</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What Do Students Report About Stress and Sleep?</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21</a:t>
            </a:r>
          </a:p>
        </p:txBody>
      </p:sp>
      <p:sp>
        <p:nvSpPr>
          <p:cNvPr id="7" name="TextBox 6"/>
          <p:cNvSpPr txBox="1"/>
          <p:nvPr/>
        </p:nvSpPr>
        <p:spPr>
          <a:xfrm>
            <a:off x="548640" y="1325880"/>
            <a:ext cx="5394959" cy="411480"/>
          </a:xfrm>
          <a:prstGeom prst="rect">
            <a:avLst/>
          </a:prstGeom>
          <a:noFill/>
        </p:spPr>
        <p:txBody>
          <a:bodyPr wrap="square" lIns="27432" tIns="27432" rIns="27432" bIns="27432" anchor="t">
            <a:noAutofit/>
          </a:bodyPr>
          <a:lstStyle/>
          <a:p>
            <a:pPr algn="l">
              <a:lnSpc>
                <a:spcPct val="105000"/>
              </a:lnSpc>
            </a:pPr>
            <a:r>
              <a:rPr sz="1900" b="1">
                <a:solidFill>
                  <a:srgbClr val="0B0B0B"/>
                </a:solidFill>
                <a:latin typeface="Helvetica Neue"/>
              </a:rPr>
              <a:t>Stress made studying difficult</a:t>
            </a:r>
          </a:p>
        </p:txBody>
      </p:sp>
      <p:pic>
        <p:nvPicPr>
          <p:cNvPr id="8" name="Picture 7" descr="rc_stress_frequency.png"/>
          <p:cNvPicPr>
            <a:picLocks noChangeAspect="1"/>
          </p:cNvPicPr>
          <p:nvPr/>
        </p:nvPicPr>
        <p:blipFill>
          <a:blip r:embed="rId3"/>
          <a:stretch>
            <a:fillRect/>
          </a:stretch>
        </p:blipFill>
        <p:spPr>
          <a:xfrm>
            <a:off x="650081" y="1783080"/>
            <a:ext cx="5192077" cy="3611880"/>
          </a:xfrm>
          <a:prstGeom prst="rect">
            <a:avLst/>
          </a:prstGeom>
        </p:spPr>
      </p:pic>
      <p:sp>
        <p:nvSpPr>
          <p:cNvPr id="9" name="Rounded Rectangle 8"/>
          <p:cNvSpPr/>
          <p:nvPr/>
        </p:nvSpPr>
        <p:spPr>
          <a:xfrm>
            <a:off x="548640" y="5532120"/>
            <a:ext cx="5394959"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1">
                <a:solidFill>
                  <a:srgbClr val="1F3B5C"/>
                </a:solidFill>
                <a:latin typeface="Helvetica Neue"/>
              </a:rPr>
              <a:t>Often + almost always: 441 students (39.8%)</a:t>
            </a:r>
          </a:p>
        </p:txBody>
      </p:sp>
      <p:sp>
        <p:nvSpPr>
          <p:cNvPr id="10" name="TextBox 9"/>
          <p:cNvSpPr txBox="1"/>
          <p:nvPr/>
        </p:nvSpPr>
        <p:spPr>
          <a:xfrm>
            <a:off x="6217919" y="1325880"/>
            <a:ext cx="5394959" cy="411480"/>
          </a:xfrm>
          <a:prstGeom prst="rect">
            <a:avLst/>
          </a:prstGeom>
          <a:noFill/>
        </p:spPr>
        <p:txBody>
          <a:bodyPr wrap="square" lIns="27432" tIns="27432" rIns="27432" bIns="27432" anchor="t">
            <a:noAutofit/>
          </a:bodyPr>
          <a:lstStyle/>
          <a:p>
            <a:pPr algn="l">
              <a:lnSpc>
                <a:spcPct val="105000"/>
              </a:lnSpc>
            </a:pPr>
            <a:r>
              <a:rPr sz="1900" b="1">
                <a:solidFill>
                  <a:srgbClr val="0B0B0B"/>
                </a:solidFill>
                <a:latin typeface="Helvetica Neue"/>
              </a:rPr>
              <a:t>Sleep on a normal night</a:t>
            </a:r>
          </a:p>
        </p:txBody>
      </p:sp>
      <p:pic>
        <p:nvPicPr>
          <p:cNvPr id="11" name="Picture 10" descr="rc_sleep_duration.png"/>
          <p:cNvPicPr>
            <a:picLocks noChangeAspect="1"/>
          </p:cNvPicPr>
          <p:nvPr/>
        </p:nvPicPr>
        <p:blipFill>
          <a:blip r:embed="rId4"/>
          <a:stretch>
            <a:fillRect/>
          </a:stretch>
        </p:blipFill>
        <p:spPr>
          <a:xfrm>
            <a:off x="6323702" y="1783080"/>
            <a:ext cx="5183395" cy="3611880"/>
          </a:xfrm>
          <a:prstGeom prst="rect">
            <a:avLst/>
          </a:prstGeom>
        </p:spPr>
      </p:pic>
      <p:sp>
        <p:nvSpPr>
          <p:cNvPr id="12" name="Rounded Rectangle 11"/>
          <p:cNvSpPr/>
          <p:nvPr/>
        </p:nvSpPr>
        <p:spPr>
          <a:xfrm>
            <a:off x="6217919" y="5532120"/>
            <a:ext cx="5394959"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1">
                <a:solidFill>
                  <a:srgbClr val="1F3B5C"/>
                </a:solidFill>
                <a:latin typeface="Helvetica Neue"/>
              </a:rPr>
              <a:t>Under 6 hours: 491 students (44.3%)</a:t>
            </a:r>
          </a:p>
        </p:txBody>
      </p:sp>
      <p:sp>
        <p:nvSpPr>
          <p:cNvPr id="13" name="SimpleLightSectionLabel">
            <a:extLst>
              <a:ext uri="{FF2B5EF4-FFF2-40B4-BE49-F238E27FC236}">
                <a16:creationId xmlns:a16="http://schemas.microsoft.com/office/drawing/2014/main" id="{75ACC20C-A4DC-4FB9-82F3-E3C752A49FB5}"/>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OBSERVED PATTERNS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WHAT STUDENTS ANSWERED</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Distraction and Outside Commitments</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22</a:t>
            </a:r>
          </a:p>
        </p:txBody>
      </p:sp>
      <p:sp>
        <p:nvSpPr>
          <p:cNvPr id="7" name="TextBox 6"/>
          <p:cNvSpPr txBox="1"/>
          <p:nvPr/>
        </p:nvSpPr>
        <p:spPr>
          <a:xfrm>
            <a:off x="548640" y="1325880"/>
            <a:ext cx="5394959" cy="411480"/>
          </a:xfrm>
          <a:prstGeom prst="rect">
            <a:avLst/>
          </a:prstGeom>
          <a:noFill/>
        </p:spPr>
        <p:txBody>
          <a:bodyPr wrap="square" lIns="27432" tIns="27432" rIns="27432" bIns="27432" anchor="t">
            <a:noAutofit/>
          </a:bodyPr>
          <a:lstStyle/>
          <a:p>
            <a:pPr algn="l">
              <a:lnSpc>
                <a:spcPct val="105000"/>
              </a:lnSpc>
            </a:pPr>
            <a:r>
              <a:rPr sz="1900" b="1">
                <a:solidFill>
                  <a:srgbClr val="0B0B0B"/>
                </a:solidFill>
                <a:latin typeface="Helvetica Neue"/>
              </a:rPr>
              <a:t>Phone / gaming / social media took study time</a:t>
            </a:r>
          </a:p>
        </p:txBody>
      </p:sp>
      <p:pic>
        <p:nvPicPr>
          <p:cNvPr id="8" name="Picture 7" descr="rc_distraction_frequency.png"/>
          <p:cNvPicPr>
            <a:picLocks noChangeAspect="1"/>
          </p:cNvPicPr>
          <p:nvPr/>
        </p:nvPicPr>
        <p:blipFill>
          <a:blip r:embed="rId3"/>
          <a:stretch>
            <a:fillRect/>
          </a:stretch>
        </p:blipFill>
        <p:spPr>
          <a:xfrm>
            <a:off x="665275" y="1783080"/>
            <a:ext cx="5161689" cy="3611880"/>
          </a:xfrm>
          <a:prstGeom prst="rect">
            <a:avLst/>
          </a:prstGeom>
        </p:spPr>
      </p:pic>
      <p:sp>
        <p:nvSpPr>
          <p:cNvPr id="9" name="Rounded Rectangle 8"/>
          <p:cNvSpPr/>
          <p:nvPr/>
        </p:nvSpPr>
        <p:spPr>
          <a:xfrm>
            <a:off x="548640" y="5532120"/>
            <a:ext cx="5394959"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1">
                <a:solidFill>
                  <a:srgbClr val="1F3B5C"/>
                </a:solidFill>
                <a:latin typeface="Helvetica Neue"/>
              </a:rPr>
              <a:t>Often + almost every day: 528 (47.7%)</a:t>
            </a:r>
          </a:p>
        </p:txBody>
      </p:sp>
      <p:sp>
        <p:nvSpPr>
          <p:cNvPr id="10" name="TextBox 9"/>
          <p:cNvSpPr txBox="1"/>
          <p:nvPr/>
        </p:nvSpPr>
        <p:spPr>
          <a:xfrm>
            <a:off x="6217919" y="1325880"/>
            <a:ext cx="5394959" cy="411480"/>
          </a:xfrm>
          <a:prstGeom prst="rect">
            <a:avLst/>
          </a:prstGeom>
          <a:noFill/>
        </p:spPr>
        <p:txBody>
          <a:bodyPr wrap="square" lIns="27432" tIns="27432" rIns="27432" bIns="27432" anchor="t">
            <a:noAutofit/>
          </a:bodyPr>
          <a:lstStyle/>
          <a:p>
            <a:pPr algn="l">
              <a:lnSpc>
                <a:spcPct val="105000"/>
              </a:lnSpc>
            </a:pPr>
            <a:r>
              <a:rPr sz="1900" b="1">
                <a:solidFill>
                  <a:srgbClr val="0B0B0B"/>
                </a:solidFill>
                <a:latin typeface="Helvetica Neue"/>
              </a:rPr>
              <a:t>Outside commitments: tuition, job, club hours</a:t>
            </a:r>
          </a:p>
        </p:txBody>
      </p:sp>
      <p:pic>
        <p:nvPicPr>
          <p:cNvPr id="11" name="Picture 10" descr="rc_weekly_responsibilities.png"/>
          <p:cNvPicPr>
            <a:picLocks noChangeAspect="1"/>
          </p:cNvPicPr>
          <p:nvPr/>
        </p:nvPicPr>
        <p:blipFill>
          <a:blip r:embed="rId4"/>
          <a:stretch>
            <a:fillRect/>
          </a:stretch>
        </p:blipFill>
        <p:spPr>
          <a:xfrm>
            <a:off x="6323702" y="1783080"/>
            <a:ext cx="5183395" cy="3611880"/>
          </a:xfrm>
          <a:prstGeom prst="rect">
            <a:avLst/>
          </a:prstGeom>
        </p:spPr>
      </p:pic>
      <p:sp>
        <p:nvSpPr>
          <p:cNvPr id="12" name="Rounded Rectangle 11"/>
          <p:cNvSpPr/>
          <p:nvPr/>
        </p:nvSpPr>
        <p:spPr>
          <a:xfrm>
            <a:off x="6217919" y="5532120"/>
            <a:ext cx="5394959"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1">
                <a:solidFill>
                  <a:srgbClr val="1F3B5C"/>
                </a:solidFill>
                <a:latin typeface="Helvetica Neue"/>
              </a:rPr>
              <a:t>6 hours or more: 571 (51.5%)</a:t>
            </a:r>
          </a:p>
        </p:txBody>
      </p:sp>
      <p:sp>
        <p:nvSpPr>
          <p:cNvPr id="13" name="SimpleLightSectionLabel">
            <a:extLst>
              <a:ext uri="{FF2B5EF4-FFF2-40B4-BE49-F238E27FC236}">
                <a16:creationId xmlns:a16="http://schemas.microsoft.com/office/drawing/2014/main" id="{52D458FE-4F09-4454-ABF2-D85A1D91A22A}"/>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OBSERVED PATTERNS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WHAT STUDENTS ANSWERED</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Motivation, Support and Study Environment</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23</a:t>
            </a:r>
          </a:p>
        </p:txBody>
      </p:sp>
      <p:sp>
        <p:nvSpPr>
          <p:cNvPr id="7" name="TextBox 6"/>
          <p:cNvSpPr txBox="1"/>
          <p:nvPr/>
        </p:nvSpPr>
        <p:spPr>
          <a:xfrm>
            <a:off x="548640" y="1325880"/>
            <a:ext cx="3505200" cy="411480"/>
          </a:xfrm>
          <a:prstGeom prst="rect">
            <a:avLst/>
          </a:prstGeom>
          <a:noFill/>
        </p:spPr>
        <p:txBody>
          <a:bodyPr wrap="square" lIns="27432" tIns="27432" rIns="27432" bIns="27432" anchor="t">
            <a:noAutofit/>
          </a:bodyPr>
          <a:lstStyle/>
          <a:p>
            <a:pPr algn="l">
              <a:lnSpc>
                <a:spcPct val="105000"/>
              </a:lnSpc>
            </a:pPr>
            <a:r>
              <a:rPr sz="1900" b="1">
                <a:solidFill>
                  <a:srgbClr val="0B0B0B"/>
                </a:solidFill>
                <a:latin typeface="Helvetica Neue"/>
              </a:rPr>
              <a:t>Got desired department</a:t>
            </a:r>
          </a:p>
        </p:txBody>
      </p:sp>
      <p:pic>
        <p:nvPicPr>
          <p:cNvPr id="8" name="Picture 7" descr="rc_desired_department_match_small.png"/>
          <p:cNvPicPr>
            <a:picLocks noChangeAspect="1"/>
          </p:cNvPicPr>
          <p:nvPr/>
        </p:nvPicPr>
        <p:blipFill>
          <a:blip r:embed="rId3"/>
          <a:stretch>
            <a:fillRect/>
          </a:stretch>
        </p:blipFill>
        <p:spPr>
          <a:xfrm>
            <a:off x="548640" y="1937631"/>
            <a:ext cx="3505200" cy="3348496"/>
          </a:xfrm>
          <a:prstGeom prst="rect">
            <a:avLst/>
          </a:prstGeom>
        </p:spPr>
      </p:pic>
      <p:sp>
        <p:nvSpPr>
          <p:cNvPr id="9" name="Rounded Rectangle 8"/>
          <p:cNvSpPr/>
          <p:nvPr/>
        </p:nvSpPr>
        <p:spPr>
          <a:xfrm>
            <a:off x="548640" y="5532120"/>
            <a:ext cx="3505200"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400" b="1">
                <a:solidFill>
                  <a:srgbClr val="1F3B5C"/>
                </a:solidFill>
                <a:latin typeface="Helvetica Neue"/>
              </a:rPr>
              <a:t>Exactly what I wanted: 408 (36.8%)</a:t>
            </a:r>
          </a:p>
        </p:txBody>
      </p:sp>
      <p:sp>
        <p:nvSpPr>
          <p:cNvPr id="10" name="TextBox 9"/>
          <p:cNvSpPr txBox="1"/>
          <p:nvPr/>
        </p:nvSpPr>
        <p:spPr>
          <a:xfrm>
            <a:off x="4328160" y="1325880"/>
            <a:ext cx="3505200" cy="411480"/>
          </a:xfrm>
          <a:prstGeom prst="rect">
            <a:avLst/>
          </a:prstGeom>
          <a:noFill/>
        </p:spPr>
        <p:txBody>
          <a:bodyPr wrap="square" lIns="27432" tIns="27432" rIns="27432" bIns="27432" anchor="t">
            <a:noAutofit/>
          </a:bodyPr>
          <a:lstStyle/>
          <a:p>
            <a:pPr algn="l">
              <a:lnSpc>
                <a:spcPct val="105000"/>
              </a:lnSpc>
            </a:pPr>
            <a:r>
              <a:rPr sz="1900" b="1">
                <a:solidFill>
                  <a:srgbClr val="0B0B0B"/>
                </a:solidFill>
                <a:latin typeface="Helvetica Neue"/>
              </a:rPr>
              <a:t>Family / friend support</a:t>
            </a:r>
          </a:p>
        </p:txBody>
      </p:sp>
      <p:pic>
        <p:nvPicPr>
          <p:cNvPr id="11" name="Picture 10" descr="rc_support_level_small.png"/>
          <p:cNvPicPr>
            <a:picLocks noChangeAspect="1"/>
          </p:cNvPicPr>
          <p:nvPr/>
        </p:nvPicPr>
        <p:blipFill>
          <a:blip r:embed="rId4"/>
          <a:stretch>
            <a:fillRect/>
          </a:stretch>
        </p:blipFill>
        <p:spPr>
          <a:xfrm>
            <a:off x="4328160" y="1945473"/>
            <a:ext cx="3505200" cy="3332813"/>
          </a:xfrm>
          <a:prstGeom prst="rect">
            <a:avLst/>
          </a:prstGeom>
        </p:spPr>
      </p:pic>
      <p:sp>
        <p:nvSpPr>
          <p:cNvPr id="12" name="Rounded Rectangle 11"/>
          <p:cNvSpPr/>
          <p:nvPr/>
        </p:nvSpPr>
        <p:spPr>
          <a:xfrm>
            <a:off x="4328160" y="5532120"/>
            <a:ext cx="3505200"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400" b="1">
                <a:solidFill>
                  <a:srgbClr val="1F3B5C"/>
                </a:solidFill>
                <a:latin typeface="Helvetica Neue"/>
              </a:rPr>
              <a:t>Good + strong: 515 (46.5%)</a:t>
            </a:r>
          </a:p>
        </p:txBody>
      </p:sp>
      <p:sp>
        <p:nvSpPr>
          <p:cNvPr id="13" name="TextBox 12"/>
          <p:cNvSpPr txBox="1"/>
          <p:nvPr/>
        </p:nvSpPr>
        <p:spPr>
          <a:xfrm>
            <a:off x="8107680" y="1325880"/>
            <a:ext cx="3505200" cy="411480"/>
          </a:xfrm>
          <a:prstGeom prst="rect">
            <a:avLst/>
          </a:prstGeom>
          <a:noFill/>
        </p:spPr>
        <p:txBody>
          <a:bodyPr wrap="square" lIns="27432" tIns="27432" rIns="27432" bIns="27432" anchor="t">
            <a:noAutofit/>
          </a:bodyPr>
          <a:lstStyle/>
          <a:p>
            <a:pPr algn="l">
              <a:lnSpc>
                <a:spcPct val="105000"/>
              </a:lnSpc>
            </a:pPr>
            <a:r>
              <a:rPr sz="1900" b="1">
                <a:solidFill>
                  <a:srgbClr val="0B0B0B"/>
                </a:solidFill>
                <a:latin typeface="Helvetica Neue"/>
              </a:rPr>
              <a:t>Study-friendly living place</a:t>
            </a:r>
          </a:p>
        </p:txBody>
      </p:sp>
      <p:pic>
        <p:nvPicPr>
          <p:cNvPr id="14" name="Picture 13" descr="rc_study_environment_small.png"/>
          <p:cNvPicPr>
            <a:picLocks noChangeAspect="1"/>
          </p:cNvPicPr>
          <p:nvPr/>
        </p:nvPicPr>
        <p:blipFill>
          <a:blip r:embed="rId5"/>
          <a:stretch>
            <a:fillRect/>
          </a:stretch>
        </p:blipFill>
        <p:spPr>
          <a:xfrm>
            <a:off x="8107680" y="1939598"/>
            <a:ext cx="3505200" cy="3344562"/>
          </a:xfrm>
          <a:prstGeom prst="rect">
            <a:avLst/>
          </a:prstGeom>
        </p:spPr>
      </p:pic>
      <p:sp>
        <p:nvSpPr>
          <p:cNvPr id="15" name="Rounded Rectangle 14"/>
          <p:cNvSpPr/>
          <p:nvPr/>
        </p:nvSpPr>
        <p:spPr>
          <a:xfrm>
            <a:off x="8107680" y="5532120"/>
            <a:ext cx="3505200"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400" b="1">
                <a:solidFill>
                  <a:srgbClr val="1F3B5C"/>
                </a:solidFill>
                <a:latin typeface="Helvetica Neue"/>
              </a:rPr>
              <a:t>Mostly suitable + excellent: 504 (45.5%)</a:t>
            </a:r>
          </a:p>
        </p:txBody>
      </p:sp>
      <p:sp>
        <p:nvSpPr>
          <p:cNvPr id="16" name="SimpleLightSectionLabel">
            <a:extLst>
              <a:ext uri="{FF2B5EF4-FFF2-40B4-BE49-F238E27FC236}">
                <a16:creationId xmlns:a16="http://schemas.microsoft.com/office/drawing/2014/main" id="{4C6B15F4-19A2-4FB3-BCA6-480AC9BD5023}"/>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OBSERVED PATTERNS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OBSERVED PATTERNS</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Which Student Features Move With CGPA?</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24</a:t>
            </a:r>
          </a:p>
        </p:txBody>
      </p:sp>
      <p:pic>
        <p:nvPicPr>
          <p:cNvPr id="7" name="Picture 6" descr="association_strength.png"/>
          <p:cNvPicPr>
            <a:picLocks noChangeAspect="1"/>
          </p:cNvPicPr>
          <p:nvPr/>
        </p:nvPicPr>
        <p:blipFill>
          <a:blip r:embed="rId3"/>
          <a:stretch>
            <a:fillRect/>
          </a:stretch>
        </p:blipFill>
        <p:spPr>
          <a:xfrm>
            <a:off x="789940" y="1280160"/>
            <a:ext cx="6924040" cy="4297680"/>
          </a:xfrm>
          <a:prstGeom prst="rect">
            <a:avLst/>
          </a:prstGeom>
        </p:spPr>
      </p:pic>
      <p:sp>
        <p:nvSpPr>
          <p:cNvPr id="8" name="Rounded Rectangle 7"/>
          <p:cNvSpPr/>
          <p:nvPr/>
        </p:nvSpPr>
        <p:spPr>
          <a:xfrm>
            <a:off x="8229600" y="1371600"/>
            <a:ext cx="3383280" cy="11887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21040" y="1508760"/>
            <a:ext cx="594360" cy="914400"/>
          </a:xfrm>
          <a:prstGeom prst="rect">
            <a:avLst/>
          </a:prstGeom>
          <a:noFill/>
        </p:spPr>
        <p:txBody>
          <a:bodyPr wrap="square" lIns="27432" tIns="27432" rIns="27432" bIns="27432" anchor="ctr">
            <a:noAutofit/>
          </a:bodyPr>
          <a:lstStyle/>
          <a:p>
            <a:pPr algn="l">
              <a:lnSpc>
                <a:spcPct val="105000"/>
              </a:lnSpc>
            </a:pPr>
            <a:r>
              <a:rPr sz="3600" b="1">
                <a:solidFill>
                  <a:srgbClr val="2A78D6"/>
                </a:solidFill>
                <a:latin typeface="Helvetica Neue"/>
              </a:rPr>
              <a:t>⬆</a:t>
            </a:r>
          </a:p>
        </p:txBody>
      </p:sp>
      <p:sp>
        <p:nvSpPr>
          <p:cNvPr id="10" name="TextBox 9"/>
          <p:cNvSpPr txBox="1"/>
          <p:nvPr/>
        </p:nvSpPr>
        <p:spPr>
          <a:xfrm>
            <a:off x="8915400" y="1481328"/>
            <a:ext cx="2651760" cy="502920"/>
          </a:xfrm>
          <a:prstGeom prst="rect">
            <a:avLst/>
          </a:prstGeom>
          <a:noFill/>
        </p:spPr>
        <p:txBody>
          <a:bodyPr wrap="square" lIns="27432" tIns="27432" rIns="27432" bIns="27432" anchor="t">
            <a:noAutofit/>
          </a:bodyPr>
          <a:lstStyle/>
          <a:p>
            <a:pPr algn="l">
              <a:lnSpc>
                <a:spcPct val="105000"/>
              </a:lnSpc>
            </a:pPr>
            <a:r>
              <a:rPr sz="1600" b="1">
                <a:solidFill>
                  <a:srgbClr val="0B0B0B"/>
                </a:solidFill>
                <a:latin typeface="Helvetica Neue"/>
              </a:rPr>
              <a:t>Got desired department</a:t>
            </a:r>
          </a:p>
        </p:txBody>
      </p:sp>
      <p:sp>
        <p:nvSpPr>
          <p:cNvPr id="11" name="TextBox 10"/>
          <p:cNvSpPr txBox="1"/>
          <p:nvPr/>
        </p:nvSpPr>
        <p:spPr>
          <a:xfrm>
            <a:off x="8915400" y="1993392"/>
            <a:ext cx="2651760" cy="502920"/>
          </a:xfrm>
          <a:prstGeom prst="rect">
            <a:avLst/>
          </a:prstGeom>
          <a:noFill/>
        </p:spPr>
        <p:txBody>
          <a:bodyPr wrap="square" lIns="27432" tIns="27432" rIns="27432" bIns="27432" anchor="t">
            <a:noAutofit/>
          </a:bodyPr>
          <a:lstStyle/>
          <a:p>
            <a:pPr algn="l">
              <a:lnSpc>
                <a:spcPct val="105000"/>
              </a:lnSpc>
            </a:pPr>
            <a:r>
              <a:rPr sz="1300" b="0">
                <a:solidFill>
                  <a:srgbClr val="52514E"/>
                </a:solidFill>
                <a:latin typeface="Helvetica Neue"/>
              </a:rPr>
              <a:t>small positive pattern (+0.12)</a:t>
            </a:r>
          </a:p>
        </p:txBody>
      </p:sp>
      <p:sp>
        <p:nvSpPr>
          <p:cNvPr id="12" name="Rounded Rectangle 11"/>
          <p:cNvSpPr/>
          <p:nvPr/>
        </p:nvSpPr>
        <p:spPr>
          <a:xfrm>
            <a:off x="8229600" y="2743200"/>
            <a:ext cx="3383280" cy="11887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21040" y="2880360"/>
            <a:ext cx="594360" cy="914400"/>
          </a:xfrm>
          <a:prstGeom prst="rect">
            <a:avLst/>
          </a:prstGeom>
          <a:noFill/>
        </p:spPr>
        <p:txBody>
          <a:bodyPr wrap="square" lIns="27432" tIns="27432" rIns="27432" bIns="27432" anchor="ctr">
            <a:noAutofit/>
          </a:bodyPr>
          <a:lstStyle/>
          <a:p>
            <a:pPr algn="l">
              <a:lnSpc>
                <a:spcPct val="105000"/>
              </a:lnSpc>
            </a:pPr>
            <a:r>
              <a:rPr sz="3600" b="1">
                <a:solidFill>
                  <a:srgbClr val="2A78D6"/>
                </a:solidFill>
                <a:latin typeface="Helvetica Neue"/>
              </a:rPr>
              <a:t>⬆</a:t>
            </a:r>
          </a:p>
        </p:txBody>
      </p:sp>
      <p:sp>
        <p:nvSpPr>
          <p:cNvPr id="14" name="TextBox 13"/>
          <p:cNvSpPr txBox="1"/>
          <p:nvPr/>
        </p:nvSpPr>
        <p:spPr>
          <a:xfrm>
            <a:off x="8915400" y="2852928"/>
            <a:ext cx="2651760" cy="502920"/>
          </a:xfrm>
          <a:prstGeom prst="rect">
            <a:avLst/>
          </a:prstGeom>
          <a:noFill/>
        </p:spPr>
        <p:txBody>
          <a:bodyPr wrap="square" lIns="27432" tIns="27432" rIns="27432" bIns="27432" anchor="t">
            <a:noAutofit/>
          </a:bodyPr>
          <a:lstStyle/>
          <a:p>
            <a:pPr algn="l">
              <a:lnSpc>
                <a:spcPct val="105000"/>
              </a:lnSpc>
            </a:pPr>
            <a:r>
              <a:rPr sz="1600" b="1">
                <a:solidFill>
                  <a:srgbClr val="0B0B0B"/>
                </a:solidFill>
                <a:latin typeface="Helvetica Neue"/>
              </a:rPr>
              <a:t>Class attendance</a:t>
            </a:r>
          </a:p>
        </p:txBody>
      </p:sp>
      <p:sp>
        <p:nvSpPr>
          <p:cNvPr id="15" name="TextBox 14"/>
          <p:cNvSpPr txBox="1"/>
          <p:nvPr/>
        </p:nvSpPr>
        <p:spPr>
          <a:xfrm>
            <a:off x="8915400" y="3364992"/>
            <a:ext cx="2651760" cy="502920"/>
          </a:xfrm>
          <a:prstGeom prst="rect">
            <a:avLst/>
          </a:prstGeom>
          <a:noFill/>
        </p:spPr>
        <p:txBody>
          <a:bodyPr wrap="square" lIns="27432" tIns="27432" rIns="27432" bIns="27432" anchor="t">
            <a:noAutofit/>
          </a:bodyPr>
          <a:lstStyle/>
          <a:p>
            <a:pPr algn="l">
              <a:lnSpc>
                <a:spcPct val="105000"/>
              </a:lnSpc>
            </a:pPr>
            <a:r>
              <a:rPr sz="1300" b="0">
                <a:solidFill>
                  <a:srgbClr val="52514E"/>
                </a:solidFill>
                <a:latin typeface="Helvetica Neue"/>
              </a:rPr>
              <a:t>small positive pattern (+0.09)</a:t>
            </a:r>
          </a:p>
        </p:txBody>
      </p:sp>
      <p:sp>
        <p:nvSpPr>
          <p:cNvPr id="16" name="Rounded Rectangle 15"/>
          <p:cNvSpPr/>
          <p:nvPr/>
        </p:nvSpPr>
        <p:spPr>
          <a:xfrm>
            <a:off x="8229600" y="4114800"/>
            <a:ext cx="3383280" cy="11887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21040" y="4251960"/>
            <a:ext cx="594360" cy="914400"/>
          </a:xfrm>
          <a:prstGeom prst="rect">
            <a:avLst/>
          </a:prstGeom>
          <a:noFill/>
        </p:spPr>
        <p:txBody>
          <a:bodyPr wrap="square" lIns="27432" tIns="27432" rIns="27432" bIns="27432" anchor="ctr">
            <a:noAutofit/>
          </a:bodyPr>
          <a:lstStyle/>
          <a:p>
            <a:pPr algn="l">
              <a:lnSpc>
                <a:spcPct val="105000"/>
              </a:lnSpc>
            </a:pPr>
            <a:r>
              <a:rPr sz="3600" b="1">
                <a:solidFill>
                  <a:srgbClr val="A83A3A"/>
                </a:solidFill>
                <a:latin typeface="Helvetica Neue"/>
              </a:rPr>
              <a:t>⬇</a:t>
            </a:r>
          </a:p>
        </p:txBody>
      </p:sp>
      <p:sp>
        <p:nvSpPr>
          <p:cNvPr id="18" name="TextBox 17"/>
          <p:cNvSpPr txBox="1"/>
          <p:nvPr/>
        </p:nvSpPr>
        <p:spPr>
          <a:xfrm>
            <a:off x="8915400" y="4224528"/>
            <a:ext cx="2651760" cy="502920"/>
          </a:xfrm>
          <a:prstGeom prst="rect">
            <a:avLst/>
          </a:prstGeom>
          <a:noFill/>
        </p:spPr>
        <p:txBody>
          <a:bodyPr wrap="square" lIns="27432" tIns="27432" rIns="27432" bIns="27432" anchor="t">
            <a:noAutofit/>
          </a:bodyPr>
          <a:lstStyle/>
          <a:p>
            <a:pPr algn="l">
              <a:lnSpc>
                <a:spcPct val="105000"/>
              </a:lnSpc>
            </a:pPr>
            <a:r>
              <a:rPr sz="1600" b="1">
                <a:solidFill>
                  <a:srgbClr val="0B0B0B"/>
                </a:solidFill>
                <a:latin typeface="Helvetica Neue"/>
              </a:rPr>
              <a:t>Outside commitments</a:t>
            </a:r>
          </a:p>
        </p:txBody>
      </p:sp>
      <p:sp>
        <p:nvSpPr>
          <p:cNvPr id="19" name="TextBox 18"/>
          <p:cNvSpPr txBox="1"/>
          <p:nvPr/>
        </p:nvSpPr>
        <p:spPr>
          <a:xfrm>
            <a:off x="8915400" y="4736592"/>
            <a:ext cx="2651760" cy="502920"/>
          </a:xfrm>
          <a:prstGeom prst="rect">
            <a:avLst/>
          </a:prstGeom>
          <a:noFill/>
        </p:spPr>
        <p:txBody>
          <a:bodyPr wrap="square" lIns="27432" tIns="27432" rIns="27432" bIns="27432" anchor="t">
            <a:noAutofit/>
          </a:bodyPr>
          <a:lstStyle/>
          <a:p>
            <a:pPr algn="l">
              <a:lnSpc>
                <a:spcPct val="105000"/>
              </a:lnSpc>
            </a:pPr>
            <a:r>
              <a:rPr sz="1300" b="0">
                <a:solidFill>
                  <a:srgbClr val="52514E"/>
                </a:solidFill>
                <a:latin typeface="Helvetica Neue"/>
              </a:rPr>
              <a:t>small negative pattern (-0.09)</a:t>
            </a:r>
          </a:p>
        </p:txBody>
      </p:sp>
      <p:sp>
        <p:nvSpPr>
          <p:cNvPr id="20" name="Rounded Rectangle 19"/>
          <p:cNvSpPr/>
          <p:nvPr/>
        </p:nvSpPr>
        <p:spPr>
          <a:xfrm>
            <a:off x="548640" y="5669280"/>
            <a:ext cx="11064240" cy="594360"/>
          </a:xfrm>
          <a:prstGeom prst="roundRect">
            <a:avLst>
              <a:gd name="adj" fmla="val 8000"/>
            </a:avLst>
          </a:prstGeom>
          <a:solidFill>
            <a:srgbClr val="FFF1D6"/>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600" b="1">
                <a:solidFill>
                  <a:srgbClr val="8A5A00"/>
                </a:solidFill>
                <a:latin typeface="Helvetica Neue"/>
              </a:rPr>
              <a:t>Larger number = stronger pattern, and all are small. Associations, not causes. Blue = reliable after checking.</a:t>
            </a:r>
          </a:p>
        </p:txBody>
      </p:sp>
      <p:sp>
        <p:nvSpPr>
          <p:cNvPr id="21" name="SimpleLightSectionLabel">
            <a:extLst>
              <a:ext uri="{FF2B5EF4-FFF2-40B4-BE49-F238E27FC236}">
                <a16:creationId xmlns:a16="http://schemas.microsoft.com/office/drawing/2014/main" id="{1A50A1A1-1282-459D-AEF6-2F413F44966D}"/>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OBSERVED PATTERNS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lang="en-US" sz="1200" b="1">
                <a:solidFill>
                  <a:srgbClr val="2A78D6"/>
                </a:solidFill>
                <a:latin typeface="Helvetica Neue"/>
              </a:rPr>
              <a:t>SGPA + CGPA PATTERNS</a:t>
            </a:r>
            <a:endParaRPr sz="1200" b="1">
              <a:solidFill>
                <a:srgbClr val="2A78D6"/>
              </a:solidFill>
              <a:latin typeface="Helvetica Neue"/>
            </a:endParaRP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Do SGPA and CGPA Show the Same Patterns?</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38</a:t>
            </a:r>
          </a:p>
        </p:txBody>
      </p:sp>
      <p:pic>
        <p:nvPicPr>
          <p:cNvPr id="7" name="Picture 6" descr="sgpa_vs_cgpa_pattern.png"/>
          <p:cNvPicPr>
            <a:picLocks noChangeAspect="1"/>
          </p:cNvPicPr>
          <p:nvPr/>
        </p:nvPicPr>
        <p:blipFill>
          <a:blip r:embed="rId3"/>
          <a:stretch>
            <a:fillRect/>
          </a:stretch>
        </p:blipFill>
        <p:spPr>
          <a:xfrm>
            <a:off x="557038" y="1280160"/>
            <a:ext cx="7481282" cy="4983480"/>
          </a:xfrm>
          <a:prstGeom prst="rect">
            <a:avLst/>
          </a:prstGeom>
        </p:spPr>
      </p:pic>
      <p:sp>
        <p:nvSpPr>
          <p:cNvPr id="8" name="Rounded Rectangle 7"/>
          <p:cNvSpPr/>
          <p:nvPr/>
        </p:nvSpPr>
        <p:spPr>
          <a:xfrm>
            <a:off x="8321040" y="1417320"/>
            <a:ext cx="3291840" cy="1234440"/>
          </a:xfrm>
          <a:prstGeom prst="roundRect">
            <a:avLst>
              <a:gd name="adj" fmla="val 8000"/>
            </a:avLst>
          </a:prstGeom>
          <a:solidFill>
            <a:srgbClr val="E3F4E3"/>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l">
              <a:lnSpc>
                <a:spcPct val="105000"/>
              </a:lnSpc>
            </a:pPr>
            <a:r>
              <a:rPr sz="1700" b="1">
                <a:solidFill>
                  <a:srgbClr val="0B6B0B"/>
                </a:solidFill>
                <a:latin typeface="Helvetica Neue"/>
              </a:rPr>
              <a:t>✔ Class attendance</a:t>
            </a:r>
          </a:p>
          <a:p>
            <a:pPr algn="l">
              <a:lnSpc>
                <a:spcPct val="105000"/>
              </a:lnSpc>
            </a:pPr>
            <a:r>
              <a:rPr sz="1300" b="0">
                <a:solidFill>
                  <a:srgbClr val="0B6B0B"/>
                </a:solidFill>
                <a:latin typeface="Helvetica Neue"/>
              </a:rPr>
              <a:t>same direction: SGPA +0.09, CGPA +0.09</a:t>
            </a:r>
          </a:p>
        </p:txBody>
      </p:sp>
      <p:sp>
        <p:nvSpPr>
          <p:cNvPr id="9" name="Rounded Rectangle 8"/>
          <p:cNvSpPr/>
          <p:nvPr/>
        </p:nvSpPr>
        <p:spPr>
          <a:xfrm>
            <a:off x="8321040" y="2788920"/>
            <a:ext cx="3291840" cy="1234440"/>
          </a:xfrm>
          <a:prstGeom prst="roundRect">
            <a:avLst>
              <a:gd name="adj" fmla="val 8000"/>
            </a:avLst>
          </a:prstGeom>
          <a:solidFill>
            <a:srgbClr val="E3F4E3"/>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l">
              <a:lnSpc>
                <a:spcPct val="105000"/>
              </a:lnSpc>
            </a:pPr>
            <a:r>
              <a:rPr sz="1700" b="1">
                <a:solidFill>
                  <a:srgbClr val="0B6B0B"/>
                </a:solidFill>
                <a:latin typeface="Helvetica Neue"/>
              </a:rPr>
              <a:t>✔ Got desired department</a:t>
            </a:r>
          </a:p>
          <a:p>
            <a:pPr algn="l">
              <a:lnSpc>
                <a:spcPct val="105000"/>
              </a:lnSpc>
            </a:pPr>
            <a:r>
              <a:rPr sz="1300" b="0">
                <a:solidFill>
                  <a:srgbClr val="0B6B0B"/>
                </a:solidFill>
                <a:latin typeface="Helvetica Neue"/>
              </a:rPr>
              <a:t>same direction: SGPA +0.10, CGPA +0.12</a:t>
            </a:r>
          </a:p>
        </p:txBody>
      </p:sp>
      <p:sp>
        <p:nvSpPr>
          <p:cNvPr id="10" name="Rounded Rectangle 9"/>
          <p:cNvSpPr/>
          <p:nvPr/>
        </p:nvSpPr>
        <p:spPr>
          <a:xfrm>
            <a:off x="8321040" y="4160520"/>
            <a:ext cx="3291840" cy="146304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l">
              <a:lnSpc>
                <a:spcPct val="105000"/>
              </a:lnSpc>
            </a:pPr>
            <a:r>
              <a:rPr sz="1700" b="1">
                <a:solidFill>
                  <a:srgbClr val="52514E"/>
                </a:solidFill>
                <a:latin typeface="Helvetica Neue"/>
              </a:rPr>
              <a:t>10 other questions</a:t>
            </a:r>
          </a:p>
          <a:p>
            <a:pPr algn="l">
              <a:lnSpc>
                <a:spcPct val="105000"/>
              </a:lnSpc>
            </a:pPr>
            <a:r>
              <a:rPr sz="1300" b="0">
                <a:solidFill>
                  <a:srgbClr val="52514E"/>
                </a:solidFill>
                <a:latin typeface="Helvetica Neue"/>
              </a:rPr>
              <a:t>too weak to claim a matching pattern</a:t>
            </a:r>
          </a:p>
        </p:txBody>
      </p:sp>
      <p:sp>
        <p:nvSpPr>
          <p:cNvPr id="11" name="SimpleLightSectionLabel">
            <a:extLst>
              <a:ext uri="{FF2B5EF4-FFF2-40B4-BE49-F238E27FC236}">
                <a16:creationId xmlns:a16="http://schemas.microsoft.com/office/drawing/2014/main" id="{DBE8BBAD-64AA-49D7-BC63-F36D449C72CB}"/>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SGPA + CGPA PATTERNS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16</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dirty="0">
                <a:latin typeface="Times New Roman"/>
                <a:ea typeface="Times New Roman"/>
                <a:cs typeface="Times New Roman"/>
              </a:rPr>
              <a:t>Attendance and CGPA</a:t>
            </a:r>
          </a:p>
        </p:txBody>
      </p:sp>
      <p:sp>
        <p:nvSpPr>
          <p:cNvPr id="534" name="Less than 40%">
            <a:extLst>
              <a:ext uri="{FF2B5EF4-FFF2-40B4-BE49-F238E27FC236}">
                <a16:creationId xmlns:a16="http://schemas.microsoft.com/office/drawing/2014/main" id="{AE12E83A-60EE-432B-A6AD-369AC8EA2273}"/>
              </a:ext>
            </a:extLst>
          </p:cNvPr>
          <p:cNvSpPr>
            <a:spLocks noGrp="1"/>
          </p:cNvSpPr>
          <p:nvPr/>
        </p:nvSpPr>
        <p:spPr>
          <a:xfrm>
            <a:off x="400050" y="19431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dirty="0">
                <a:solidFill>
                  <a:srgbClr val="121212"/>
                </a:solidFill>
                <a:latin typeface="Times New Roman"/>
                <a:ea typeface="Times New Roman"/>
                <a:cs typeface="Times New Roman"/>
              </a:rPr>
              <a:t>Less than 40%</a:t>
            </a:r>
          </a:p>
        </p:txBody>
      </p:sp>
      <p:sp>
        <p:nvSpPr>
          <p:cNvPr id="535" name="Rectangle 534">
            <a:extLst>
              <a:ext uri="{FF2B5EF4-FFF2-40B4-BE49-F238E27FC236}">
                <a16:creationId xmlns:a16="http://schemas.microsoft.com/office/drawing/2014/main" id="{8F2FEFD5-83A7-4939-999B-500A9B776B79}"/>
              </a:ext>
            </a:extLst>
          </p:cNvPr>
          <p:cNvSpPr>
            <a:spLocks noGrp="1"/>
          </p:cNvSpPr>
          <p:nvPr/>
        </p:nvSpPr>
        <p:spPr>
          <a:xfrm>
            <a:off x="3667125" y="1905000"/>
            <a:ext cx="2085975" cy="447675"/>
          </a:xfrm>
          <a:prstGeom prst="rect">
            <a:avLst/>
          </a:prstGeom>
          <a:solidFill>
            <a:srgbClr val="A83A3A"/>
          </a:solidFill>
          <a:ln w="0">
            <a:noFill/>
          </a:ln>
        </p:spPr>
        <p:txBody>
          <a:bodyPr/>
          <a:lstStyle/>
          <a:p>
            <a:endParaRPr lang="en-US"/>
          </a:p>
        </p:txBody>
      </p:sp>
      <p:sp>
        <p:nvSpPr>
          <p:cNvPr id="536" name="30%">
            <a:extLst>
              <a:ext uri="{FF2B5EF4-FFF2-40B4-BE49-F238E27FC236}">
                <a16:creationId xmlns:a16="http://schemas.microsoft.com/office/drawing/2014/main" id="{02404CD3-9935-487A-901F-BB3FCD5C461F}"/>
              </a:ext>
            </a:extLst>
          </p:cNvPr>
          <p:cNvSpPr>
            <a:spLocks noGrp="1"/>
          </p:cNvSpPr>
          <p:nvPr/>
        </p:nvSpPr>
        <p:spPr>
          <a:xfrm>
            <a:off x="3705225" y="2009775"/>
            <a:ext cx="202882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dirty="0">
                <a:solidFill>
                  <a:srgbClr val="FFFFFF"/>
                </a:solidFill>
                <a:latin typeface="Times New Roman"/>
                <a:ea typeface="Times New Roman"/>
                <a:cs typeface="Times New Roman"/>
              </a:rPr>
              <a:t>30%</a:t>
            </a:r>
          </a:p>
        </p:txBody>
      </p:sp>
      <p:sp>
        <p:nvSpPr>
          <p:cNvPr id="537" name="Rectangle 536">
            <a:extLst>
              <a:ext uri="{FF2B5EF4-FFF2-40B4-BE49-F238E27FC236}">
                <a16:creationId xmlns:a16="http://schemas.microsoft.com/office/drawing/2014/main" id="{B662595F-20C4-4BCE-9429-F0AFE1C9A088}"/>
              </a:ext>
            </a:extLst>
          </p:cNvPr>
          <p:cNvSpPr>
            <a:spLocks noGrp="1"/>
          </p:cNvSpPr>
          <p:nvPr/>
        </p:nvSpPr>
        <p:spPr>
          <a:xfrm>
            <a:off x="5753100" y="1905000"/>
            <a:ext cx="1390650" cy="447675"/>
          </a:xfrm>
          <a:prstGeom prst="rect">
            <a:avLst/>
          </a:prstGeom>
          <a:solidFill>
            <a:srgbClr val="DC713D"/>
          </a:solidFill>
          <a:ln w="0">
            <a:noFill/>
          </a:ln>
        </p:spPr>
        <p:txBody>
          <a:bodyPr/>
          <a:lstStyle/>
          <a:p>
            <a:endParaRPr lang="en-US"/>
          </a:p>
        </p:txBody>
      </p:sp>
      <p:sp>
        <p:nvSpPr>
          <p:cNvPr id="538" name="20%">
            <a:extLst>
              <a:ext uri="{FF2B5EF4-FFF2-40B4-BE49-F238E27FC236}">
                <a16:creationId xmlns:a16="http://schemas.microsoft.com/office/drawing/2014/main" id="{75B88EF2-8FF8-458B-BF9C-166768F7924E}"/>
              </a:ext>
            </a:extLst>
          </p:cNvPr>
          <p:cNvSpPr>
            <a:spLocks noGrp="1"/>
          </p:cNvSpPr>
          <p:nvPr/>
        </p:nvSpPr>
        <p:spPr>
          <a:xfrm>
            <a:off x="5791200" y="2009775"/>
            <a:ext cx="133350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39" name="Rectangle 538">
            <a:extLst>
              <a:ext uri="{FF2B5EF4-FFF2-40B4-BE49-F238E27FC236}">
                <a16:creationId xmlns:a16="http://schemas.microsoft.com/office/drawing/2014/main" id="{5F086FEB-2EBC-4970-850F-961FD67172CF}"/>
              </a:ext>
            </a:extLst>
          </p:cNvPr>
          <p:cNvSpPr>
            <a:spLocks noGrp="1"/>
          </p:cNvSpPr>
          <p:nvPr/>
        </p:nvSpPr>
        <p:spPr>
          <a:xfrm>
            <a:off x="7143750" y="1905000"/>
            <a:ext cx="1390650" cy="447675"/>
          </a:xfrm>
          <a:prstGeom prst="rect">
            <a:avLst/>
          </a:prstGeom>
          <a:solidFill>
            <a:srgbClr val="4C91D8"/>
          </a:solidFill>
          <a:ln w="0">
            <a:noFill/>
          </a:ln>
        </p:spPr>
        <p:txBody>
          <a:bodyPr/>
          <a:lstStyle/>
          <a:p>
            <a:endParaRPr lang="en-US"/>
          </a:p>
        </p:txBody>
      </p:sp>
      <p:sp>
        <p:nvSpPr>
          <p:cNvPr id="540" name="20%">
            <a:extLst>
              <a:ext uri="{FF2B5EF4-FFF2-40B4-BE49-F238E27FC236}">
                <a16:creationId xmlns:a16="http://schemas.microsoft.com/office/drawing/2014/main" id="{220F01EB-1750-42AD-B2FF-3CBF36DB46A7}"/>
              </a:ext>
            </a:extLst>
          </p:cNvPr>
          <p:cNvSpPr>
            <a:spLocks noGrp="1"/>
          </p:cNvSpPr>
          <p:nvPr/>
        </p:nvSpPr>
        <p:spPr>
          <a:xfrm>
            <a:off x="7181850" y="2009775"/>
            <a:ext cx="133350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41" name="Rectangle 540">
            <a:extLst>
              <a:ext uri="{FF2B5EF4-FFF2-40B4-BE49-F238E27FC236}">
                <a16:creationId xmlns:a16="http://schemas.microsoft.com/office/drawing/2014/main" id="{D22B8B00-D0E1-4AB3-A3AA-DCCF11EE88DA}"/>
              </a:ext>
            </a:extLst>
          </p:cNvPr>
          <p:cNvSpPr>
            <a:spLocks noGrp="1"/>
          </p:cNvSpPr>
          <p:nvPr/>
        </p:nvSpPr>
        <p:spPr>
          <a:xfrm>
            <a:off x="8534400" y="1905000"/>
            <a:ext cx="2085975" cy="447675"/>
          </a:xfrm>
          <a:prstGeom prst="rect">
            <a:avLst/>
          </a:prstGeom>
          <a:solidFill>
            <a:srgbClr val="285B9F"/>
          </a:solidFill>
          <a:ln w="0">
            <a:noFill/>
          </a:ln>
        </p:spPr>
        <p:txBody>
          <a:bodyPr/>
          <a:lstStyle/>
          <a:p>
            <a:endParaRPr lang="en-US"/>
          </a:p>
        </p:txBody>
      </p:sp>
      <p:sp>
        <p:nvSpPr>
          <p:cNvPr id="542" name="30%">
            <a:extLst>
              <a:ext uri="{FF2B5EF4-FFF2-40B4-BE49-F238E27FC236}">
                <a16:creationId xmlns:a16="http://schemas.microsoft.com/office/drawing/2014/main" id="{BD883531-2ED1-46C4-B734-4583340AD188}"/>
              </a:ext>
            </a:extLst>
          </p:cNvPr>
          <p:cNvSpPr>
            <a:spLocks noGrp="1"/>
          </p:cNvSpPr>
          <p:nvPr/>
        </p:nvSpPr>
        <p:spPr>
          <a:xfrm>
            <a:off x="8572500" y="2009775"/>
            <a:ext cx="202882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30%</a:t>
            </a:r>
          </a:p>
        </p:txBody>
      </p:sp>
      <p:sp>
        <p:nvSpPr>
          <p:cNvPr id="543" name="n=10">
            <a:extLst>
              <a:ext uri="{FF2B5EF4-FFF2-40B4-BE49-F238E27FC236}">
                <a16:creationId xmlns:a16="http://schemas.microsoft.com/office/drawing/2014/main" id="{D8D0B816-35F4-4467-BABB-BDB563541156}"/>
              </a:ext>
            </a:extLst>
          </p:cNvPr>
          <p:cNvSpPr>
            <a:spLocks noGrp="1"/>
          </p:cNvSpPr>
          <p:nvPr/>
        </p:nvSpPr>
        <p:spPr>
          <a:xfrm>
            <a:off x="10782300" y="20002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n=10</a:t>
            </a:r>
          </a:p>
        </p:txBody>
      </p:sp>
      <p:sp>
        <p:nvSpPr>
          <p:cNvPr id="544" name="40-59%">
            <a:extLst>
              <a:ext uri="{FF2B5EF4-FFF2-40B4-BE49-F238E27FC236}">
                <a16:creationId xmlns:a16="http://schemas.microsoft.com/office/drawing/2014/main" id="{C7AA33CF-FF4A-40DD-A5B1-64C10B548782}"/>
              </a:ext>
            </a:extLst>
          </p:cNvPr>
          <p:cNvSpPr>
            <a:spLocks noGrp="1"/>
          </p:cNvSpPr>
          <p:nvPr/>
        </p:nvSpPr>
        <p:spPr>
          <a:xfrm>
            <a:off x="400050" y="26670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40-59%</a:t>
            </a:r>
          </a:p>
        </p:txBody>
      </p:sp>
      <p:sp>
        <p:nvSpPr>
          <p:cNvPr id="545" name="Rectangle 544">
            <a:extLst>
              <a:ext uri="{FF2B5EF4-FFF2-40B4-BE49-F238E27FC236}">
                <a16:creationId xmlns:a16="http://schemas.microsoft.com/office/drawing/2014/main" id="{12EA070F-42F7-4033-9E9F-1B5BFA15182D}"/>
              </a:ext>
            </a:extLst>
          </p:cNvPr>
          <p:cNvSpPr>
            <a:spLocks noGrp="1"/>
          </p:cNvSpPr>
          <p:nvPr/>
        </p:nvSpPr>
        <p:spPr>
          <a:xfrm>
            <a:off x="3667125" y="2628900"/>
            <a:ext cx="1813891" cy="447675"/>
          </a:xfrm>
          <a:prstGeom prst="rect">
            <a:avLst/>
          </a:prstGeom>
          <a:solidFill>
            <a:srgbClr val="A83A3A"/>
          </a:solidFill>
          <a:ln w="0">
            <a:noFill/>
          </a:ln>
        </p:spPr>
        <p:txBody>
          <a:bodyPr/>
          <a:lstStyle/>
          <a:p>
            <a:endParaRPr lang="en-US"/>
          </a:p>
        </p:txBody>
      </p:sp>
      <p:sp>
        <p:nvSpPr>
          <p:cNvPr id="546" name="26%">
            <a:extLst>
              <a:ext uri="{FF2B5EF4-FFF2-40B4-BE49-F238E27FC236}">
                <a16:creationId xmlns:a16="http://schemas.microsoft.com/office/drawing/2014/main" id="{C811AA8E-A500-4C21-8E06-F54A4D25E810}"/>
              </a:ext>
            </a:extLst>
          </p:cNvPr>
          <p:cNvSpPr>
            <a:spLocks noGrp="1"/>
          </p:cNvSpPr>
          <p:nvPr/>
        </p:nvSpPr>
        <p:spPr>
          <a:xfrm>
            <a:off x="3705225" y="2733675"/>
            <a:ext cx="175674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47" name="Rectangle 546">
            <a:extLst>
              <a:ext uri="{FF2B5EF4-FFF2-40B4-BE49-F238E27FC236}">
                <a16:creationId xmlns:a16="http://schemas.microsoft.com/office/drawing/2014/main" id="{72D8DB3D-B440-4FE3-9965-A8AEA2B0ADE2}"/>
              </a:ext>
            </a:extLst>
          </p:cNvPr>
          <p:cNvSpPr>
            <a:spLocks noGrp="1"/>
          </p:cNvSpPr>
          <p:nvPr/>
        </p:nvSpPr>
        <p:spPr>
          <a:xfrm>
            <a:off x="5481016" y="2628900"/>
            <a:ext cx="2116207" cy="447675"/>
          </a:xfrm>
          <a:prstGeom prst="rect">
            <a:avLst/>
          </a:prstGeom>
          <a:solidFill>
            <a:srgbClr val="DC713D"/>
          </a:solidFill>
          <a:ln w="0">
            <a:noFill/>
          </a:ln>
        </p:spPr>
        <p:txBody>
          <a:bodyPr/>
          <a:lstStyle/>
          <a:p>
            <a:endParaRPr lang="en-US"/>
          </a:p>
        </p:txBody>
      </p:sp>
      <p:sp>
        <p:nvSpPr>
          <p:cNvPr id="548" name="30%">
            <a:extLst>
              <a:ext uri="{FF2B5EF4-FFF2-40B4-BE49-F238E27FC236}">
                <a16:creationId xmlns:a16="http://schemas.microsoft.com/office/drawing/2014/main" id="{52337BFD-6AB4-469E-9FEA-D9F8749B1250}"/>
              </a:ext>
            </a:extLst>
          </p:cNvPr>
          <p:cNvSpPr>
            <a:spLocks noGrp="1"/>
          </p:cNvSpPr>
          <p:nvPr/>
        </p:nvSpPr>
        <p:spPr>
          <a:xfrm>
            <a:off x="5519116" y="2733675"/>
            <a:ext cx="205905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30%</a:t>
            </a:r>
          </a:p>
        </p:txBody>
      </p:sp>
      <p:sp>
        <p:nvSpPr>
          <p:cNvPr id="549" name="Rectangle 548">
            <a:extLst>
              <a:ext uri="{FF2B5EF4-FFF2-40B4-BE49-F238E27FC236}">
                <a16:creationId xmlns:a16="http://schemas.microsoft.com/office/drawing/2014/main" id="{887ADC16-D06E-49E0-9497-9E74E3E85AB4}"/>
              </a:ext>
            </a:extLst>
          </p:cNvPr>
          <p:cNvSpPr>
            <a:spLocks noGrp="1"/>
          </p:cNvSpPr>
          <p:nvPr/>
        </p:nvSpPr>
        <p:spPr>
          <a:xfrm>
            <a:off x="7597223" y="2628900"/>
            <a:ext cx="1813891" cy="447675"/>
          </a:xfrm>
          <a:prstGeom prst="rect">
            <a:avLst/>
          </a:prstGeom>
          <a:solidFill>
            <a:srgbClr val="4C91D8"/>
          </a:solidFill>
          <a:ln w="0">
            <a:noFill/>
          </a:ln>
        </p:spPr>
        <p:txBody>
          <a:bodyPr/>
          <a:lstStyle/>
          <a:p>
            <a:endParaRPr lang="en-US"/>
          </a:p>
        </p:txBody>
      </p:sp>
      <p:sp>
        <p:nvSpPr>
          <p:cNvPr id="550" name="26%">
            <a:extLst>
              <a:ext uri="{FF2B5EF4-FFF2-40B4-BE49-F238E27FC236}">
                <a16:creationId xmlns:a16="http://schemas.microsoft.com/office/drawing/2014/main" id="{F962FD4C-E2C9-48A8-BE18-957074F4437D}"/>
              </a:ext>
            </a:extLst>
          </p:cNvPr>
          <p:cNvSpPr>
            <a:spLocks noGrp="1"/>
          </p:cNvSpPr>
          <p:nvPr/>
        </p:nvSpPr>
        <p:spPr>
          <a:xfrm>
            <a:off x="7635323" y="2733675"/>
            <a:ext cx="175674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51" name="Rectangle 550">
            <a:extLst>
              <a:ext uri="{FF2B5EF4-FFF2-40B4-BE49-F238E27FC236}">
                <a16:creationId xmlns:a16="http://schemas.microsoft.com/office/drawing/2014/main" id="{0A8237A8-780B-41E6-ABFD-319054E65535}"/>
              </a:ext>
            </a:extLst>
          </p:cNvPr>
          <p:cNvSpPr>
            <a:spLocks noGrp="1"/>
          </p:cNvSpPr>
          <p:nvPr/>
        </p:nvSpPr>
        <p:spPr>
          <a:xfrm>
            <a:off x="9411114" y="2628900"/>
            <a:ext cx="1209261" cy="447675"/>
          </a:xfrm>
          <a:prstGeom prst="rect">
            <a:avLst/>
          </a:prstGeom>
          <a:solidFill>
            <a:srgbClr val="285B9F"/>
          </a:solidFill>
          <a:ln w="0">
            <a:noFill/>
          </a:ln>
        </p:spPr>
        <p:txBody>
          <a:bodyPr/>
          <a:lstStyle/>
          <a:p>
            <a:endParaRPr lang="en-US"/>
          </a:p>
        </p:txBody>
      </p:sp>
      <p:sp>
        <p:nvSpPr>
          <p:cNvPr id="552" name="17%">
            <a:extLst>
              <a:ext uri="{FF2B5EF4-FFF2-40B4-BE49-F238E27FC236}">
                <a16:creationId xmlns:a16="http://schemas.microsoft.com/office/drawing/2014/main" id="{C97ED008-598C-4DEA-AE83-3EE7DD222286}"/>
              </a:ext>
            </a:extLst>
          </p:cNvPr>
          <p:cNvSpPr>
            <a:spLocks noGrp="1"/>
          </p:cNvSpPr>
          <p:nvPr/>
        </p:nvSpPr>
        <p:spPr>
          <a:xfrm>
            <a:off x="9449214" y="2733675"/>
            <a:ext cx="115211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17%</a:t>
            </a:r>
          </a:p>
        </p:txBody>
      </p:sp>
      <p:sp>
        <p:nvSpPr>
          <p:cNvPr id="553" name="n=23">
            <a:extLst>
              <a:ext uri="{FF2B5EF4-FFF2-40B4-BE49-F238E27FC236}">
                <a16:creationId xmlns:a16="http://schemas.microsoft.com/office/drawing/2014/main" id="{60B59414-BFBD-49E2-959F-ABD19705D3E3}"/>
              </a:ext>
            </a:extLst>
          </p:cNvPr>
          <p:cNvSpPr>
            <a:spLocks noGrp="1"/>
          </p:cNvSpPr>
          <p:nvPr/>
        </p:nvSpPr>
        <p:spPr>
          <a:xfrm>
            <a:off x="10782300" y="27241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n=23</a:t>
            </a:r>
          </a:p>
        </p:txBody>
      </p:sp>
      <p:sp>
        <p:nvSpPr>
          <p:cNvPr id="554" name="60-74%">
            <a:extLst>
              <a:ext uri="{FF2B5EF4-FFF2-40B4-BE49-F238E27FC236}">
                <a16:creationId xmlns:a16="http://schemas.microsoft.com/office/drawing/2014/main" id="{F42C6B45-8864-4E88-8B34-6F528F8F94CD}"/>
              </a:ext>
            </a:extLst>
          </p:cNvPr>
          <p:cNvSpPr>
            <a:spLocks noGrp="1"/>
          </p:cNvSpPr>
          <p:nvPr/>
        </p:nvSpPr>
        <p:spPr>
          <a:xfrm>
            <a:off x="400050" y="33909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60-74%</a:t>
            </a:r>
          </a:p>
        </p:txBody>
      </p:sp>
      <p:sp>
        <p:nvSpPr>
          <p:cNvPr id="555" name="Rectangle 554">
            <a:extLst>
              <a:ext uri="{FF2B5EF4-FFF2-40B4-BE49-F238E27FC236}">
                <a16:creationId xmlns:a16="http://schemas.microsoft.com/office/drawing/2014/main" id="{4EECE117-11A0-4FEA-9906-D5F0F1957E50}"/>
              </a:ext>
            </a:extLst>
          </p:cNvPr>
          <p:cNvSpPr>
            <a:spLocks noGrp="1"/>
          </p:cNvSpPr>
          <p:nvPr/>
        </p:nvSpPr>
        <p:spPr>
          <a:xfrm>
            <a:off x="3667125" y="3352800"/>
            <a:ext cx="1713120" cy="447675"/>
          </a:xfrm>
          <a:prstGeom prst="rect">
            <a:avLst/>
          </a:prstGeom>
          <a:solidFill>
            <a:srgbClr val="A83A3A"/>
          </a:solidFill>
          <a:ln w="0">
            <a:noFill/>
          </a:ln>
        </p:spPr>
        <p:txBody>
          <a:bodyPr/>
          <a:lstStyle/>
          <a:p>
            <a:endParaRPr lang="en-US"/>
          </a:p>
        </p:txBody>
      </p:sp>
      <p:sp>
        <p:nvSpPr>
          <p:cNvPr id="556" name="25%">
            <a:extLst>
              <a:ext uri="{FF2B5EF4-FFF2-40B4-BE49-F238E27FC236}">
                <a16:creationId xmlns:a16="http://schemas.microsoft.com/office/drawing/2014/main" id="{A849D535-7E2F-406D-834F-03BD403D5250}"/>
              </a:ext>
            </a:extLst>
          </p:cNvPr>
          <p:cNvSpPr>
            <a:spLocks noGrp="1"/>
          </p:cNvSpPr>
          <p:nvPr/>
        </p:nvSpPr>
        <p:spPr>
          <a:xfrm>
            <a:off x="3705225" y="3457575"/>
            <a:ext cx="165597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57" name="Rectangle 556">
            <a:extLst>
              <a:ext uri="{FF2B5EF4-FFF2-40B4-BE49-F238E27FC236}">
                <a16:creationId xmlns:a16="http://schemas.microsoft.com/office/drawing/2014/main" id="{BB061EAA-9F57-4CA3-8354-D525E0314143}"/>
              </a:ext>
            </a:extLst>
          </p:cNvPr>
          <p:cNvSpPr>
            <a:spLocks noGrp="1"/>
          </p:cNvSpPr>
          <p:nvPr/>
        </p:nvSpPr>
        <p:spPr>
          <a:xfrm>
            <a:off x="5380245" y="3352800"/>
            <a:ext cx="2040628" cy="447675"/>
          </a:xfrm>
          <a:prstGeom prst="rect">
            <a:avLst/>
          </a:prstGeom>
          <a:solidFill>
            <a:srgbClr val="DC713D"/>
          </a:solidFill>
          <a:ln w="0">
            <a:noFill/>
          </a:ln>
        </p:spPr>
        <p:txBody>
          <a:bodyPr/>
          <a:lstStyle/>
          <a:p>
            <a:endParaRPr lang="en-US"/>
          </a:p>
        </p:txBody>
      </p:sp>
      <p:sp>
        <p:nvSpPr>
          <p:cNvPr id="558" name="29%">
            <a:extLst>
              <a:ext uri="{FF2B5EF4-FFF2-40B4-BE49-F238E27FC236}">
                <a16:creationId xmlns:a16="http://schemas.microsoft.com/office/drawing/2014/main" id="{953F70AB-BA9E-4C94-BEAC-40169BB9E651}"/>
              </a:ext>
            </a:extLst>
          </p:cNvPr>
          <p:cNvSpPr>
            <a:spLocks noGrp="1"/>
          </p:cNvSpPr>
          <p:nvPr/>
        </p:nvSpPr>
        <p:spPr>
          <a:xfrm>
            <a:off x="5418345" y="3457575"/>
            <a:ext cx="198347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59" name="Rectangle 558">
            <a:extLst>
              <a:ext uri="{FF2B5EF4-FFF2-40B4-BE49-F238E27FC236}">
                <a16:creationId xmlns:a16="http://schemas.microsoft.com/office/drawing/2014/main" id="{C2BE6111-AC4B-4E17-B072-E3B354F6426B}"/>
              </a:ext>
            </a:extLst>
          </p:cNvPr>
          <p:cNvSpPr>
            <a:spLocks noGrp="1"/>
          </p:cNvSpPr>
          <p:nvPr/>
        </p:nvSpPr>
        <p:spPr>
          <a:xfrm>
            <a:off x="7420872" y="3352800"/>
            <a:ext cx="1990242" cy="447675"/>
          </a:xfrm>
          <a:prstGeom prst="rect">
            <a:avLst/>
          </a:prstGeom>
          <a:solidFill>
            <a:srgbClr val="4C91D8"/>
          </a:solidFill>
          <a:ln w="0">
            <a:noFill/>
          </a:ln>
        </p:spPr>
        <p:txBody>
          <a:bodyPr/>
          <a:lstStyle/>
          <a:p>
            <a:endParaRPr lang="en-US"/>
          </a:p>
        </p:txBody>
      </p:sp>
      <p:sp>
        <p:nvSpPr>
          <p:cNvPr id="560" name="29%">
            <a:extLst>
              <a:ext uri="{FF2B5EF4-FFF2-40B4-BE49-F238E27FC236}">
                <a16:creationId xmlns:a16="http://schemas.microsoft.com/office/drawing/2014/main" id="{86309F7F-E36D-437D-ACA9-4DFAC7DED7AD}"/>
              </a:ext>
            </a:extLst>
          </p:cNvPr>
          <p:cNvSpPr>
            <a:spLocks noGrp="1"/>
          </p:cNvSpPr>
          <p:nvPr/>
        </p:nvSpPr>
        <p:spPr>
          <a:xfrm>
            <a:off x="7458972" y="3457575"/>
            <a:ext cx="193309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61" name="Rectangle 560">
            <a:extLst>
              <a:ext uri="{FF2B5EF4-FFF2-40B4-BE49-F238E27FC236}">
                <a16:creationId xmlns:a16="http://schemas.microsoft.com/office/drawing/2014/main" id="{359550D8-3716-412A-B12F-8306E8D6BF45}"/>
              </a:ext>
            </a:extLst>
          </p:cNvPr>
          <p:cNvSpPr>
            <a:spLocks noGrp="1"/>
          </p:cNvSpPr>
          <p:nvPr/>
        </p:nvSpPr>
        <p:spPr>
          <a:xfrm>
            <a:off x="9411114" y="3352800"/>
            <a:ext cx="1209261" cy="447675"/>
          </a:xfrm>
          <a:prstGeom prst="rect">
            <a:avLst/>
          </a:prstGeom>
          <a:solidFill>
            <a:srgbClr val="285B9F"/>
          </a:solidFill>
          <a:ln w="0">
            <a:noFill/>
          </a:ln>
        </p:spPr>
        <p:txBody>
          <a:bodyPr/>
          <a:lstStyle/>
          <a:p>
            <a:endParaRPr lang="en-US"/>
          </a:p>
        </p:txBody>
      </p:sp>
      <p:sp>
        <p:nvSpPr>
          <p:cNvPr id="562" name="17%">
            <a:extLst>
              <a:ext uri="{FF2B5EF4-FFF2-40B4-BE49-F238E27FC236}">
                <a16:creationId xmlns:a16="http://schemas.microsoft.com/office/drawing/2014/main" id="{4195C0A2-C00D-4D75-8B60-37BEE670294E}"/>
              </a:ext>
            </a:extLst>
          </p:cNvPr>
          <p:cNvSpPr>
            <a:spLocks noGrp="1"/>
          </p:cNvSpPr>
          <p:nvPr/>
        </p:nvSpPr>
        <p:spPr>
          <a:xfrm>
            <a:off x="9449214" y="3457575"/>
            <a:ext cx="115211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17%</a:t>
            </a:r>
          </a:p>
        </p:txBody>
      </p:sp>
      <p:sp>
        <p:nvSpPr>
          <p:cNvPr id="563" name="n=276">
            <a:extLst>
              <a:ext uri="{FF2B5EF4-FFF2-40B4-BE49-F238E27FC236}">
                <a16:creationId xmlns:a16="http://schemas.microsoft.com/office/drawing/2014/main" id="{1213A360-34B3-4821-8C78-4C118DD5389F}"/>
              </a:ext>
            </a:extLst>
          </p:cNvPr>
          <p:cNvSpPr>
            <a:spLocks noGrp="1"/>
          </p:cNvSpPr>
          <p:nvPr/>
        </p:nvSpPr>
        <p:spPr>
          <a:xfrm>
            <a:off x="10782300" y="34480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n=276</a:t>
            </a:r>
          </a:p>
        </p:txBody>
      </p:sp>
      <p:sp>
        <p:nvSpPr>
          <p:cNvPr id="564" name="75-89%">
            <a:extLst>
              <a:ext uri="{FF2B5EF4-FFF2-40B4-BE49-F238E27FC236}">
                <a16:creationId xmlns:a16="http://schemas.microsoft.com/office/drawing/2014/main" id="{06ABAAEB-E573-418C-8280-4748922B999A}"/>
              </a:ext>
            </a:extLst>
          </p:cNvPr>
          <p:cNvSpPr>
            <a:spLocks noGrp="1"/>
          </p:cNvSpPr>
          <p:nvPr/>
        </p:nvSpPr>
        <p:spPr>
          <a:xfrm>
            <a:off x="400050" y="41148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75-89%</a:t>
            </a:r>
          </a:p>
        </p:txBody>
      </p:sp>
      <p:sp>
        <p:nvSpPr>
          <p:cNvPr id="565" name="Rectangle 564">
            <a:extLst>
              <a:ext uri="{FF2B5EF4-FFF2-40B4-BE49-F238E27FC236}">
                <a16:creationId xmlns:a16="http://schemas.microsoft.com/office/drawing/2014/main" id="{616C7541-83A7-4F6D-A104-6B50EBC7EE6F}"/>
              </a:ext>
            </a:extLst>
          </p:cNvPr>
          <p:cNvSpPr>
            <a:spLocks noGrp="1"/>
          </p:cNvSpPr>
          <p:nvPr/>
        </p:nvSpPr>
        <p:spPr>
          <a:xfrm>
            <a:off x="3667125" y="4076700"/>
            <a:ext cx="1478250" cy="447675"/>
          </a:xfrm>
          <a:prstGeom prst="rect">
            <a:avLst/>
          </a:prstGeom>
          <a:solidFill>
            <a:srgbClr val="A83A3A"/>
          </a:solidFill>
          <a:ln w="0">
            <a:noFill/>
          </a:ln>
        </p:spPr>
        <p:txBody>
          <a:bodyPr/>
          <a:lstStyle/>
          <a:p>
            <a:endParaRPr lang="en-US"/>
          </a:p>
        </p:txBody>
      </p:sp>
      <p:sp>
        <p:nvSpPr>
          <p:cNvPr id="566" name="21%">
            <a:extLst>
              <a:ext uri="{FF2B5EF4-FFF2-40B4-BE49-F238E27FC236}">
                <a16:creationId xmlns:a16="http://schemas.microsoft.com/office/drawing/2014/main" id="{68A9922F-0927-4306-B67B-AF037B4D645A}"/>
              </a:ext>
            </a:extLst>
          </p:cNvPr>
          <p:cNvSpPr>
            <a:spLocks noGrp="1"/>
          </p:cNvSpPr>
          <p:nvPr/>
        </p:nvSpPr>
        <p:spPr>
          <a:xfrm>
            <a:off x="3705225" y="4181475"/>
            <a:ext cx="142110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21%</a:t>
            </a:r>
          </a:p>
        </p:txBody>
      </p:sp>
      <p:sp>
        <p:nvSpPr>
          <p:cNvPr id="567" name="Rectangle 566">
            <a:extLst>
              <a:ext uri="{FF2B5EF4-FFF2-40B4-BE49-F238E27FC236}">
                <a16:creationId xmlns:a16="http://schemas.microsoft.com/office/drawing/2014/main" id="{4C064842-F186-41FD-B8A9-70FDB9B3B6D3}"/>
              </a:ext>
            </a:extLst>
          </p:cNvPr>
          <p:cNvSpPr>
            <a:spLocks noGrp="1"/>
          </p:cNvSpPr>
          <p:nvPr/>
        </p:nvSpPr>
        <p:spPr>
          <a:xfrm>
            <a:off x="5145375" y="4076700"/>
            <a:ext cx="2190000" cy="447675"/>
          </a:xfrm>
          <a:prstGeom prst="rect">
            <a:avLst/>
          </a:prstGeom>
          <a:solidFill>
            <a:srgbClr val="DC713D"/>
          </a:solidFill>
          <a:ln w="0">
            <a:noFill/>
          </a:ln>
        </p:spPr>
        <p:txBody>
          <a:bodyPr/>
          <a:lstStyle/>
          <a:p>
            <a:endParaRPr lang="en-US"/>
          </a:p>
        </p:txBody>
      </p:sp>
      <p:sp>
        <p:nvSpPr>
          <p:cNvPr id="568" name="31%">
            <a:extLst>
              <a:ext uri="{FF2B5EF4-FFF2-40B4-BE49-F238E27FC236}">
                <a16:creationId xmlns:a16="http://schemas.microsoft.com/office/drawing/2014/main" id="{8246D488-4AEE-4D5F-B9BB-35C7FC9A4818}"/>
              </a:ext>
            </a:extLst>
          </p:cNvPr>
          <p:cNvSpPr>
            <a:spLocks noGrp="1"/>
          </p:cNvSpPr>
          <p:nvPr/>
        </p:nvSpPr>
        <p:spPr>
          <a:xfrm>
            <a:off x="5183475" y="4181475"/>
            <a:ext cx="213285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31%</a:t>
            </a:r>
          </a:p>
        </p:txBody>
      </p:sp>
      <p:sp>
        <p:nvSpPr>
          <p:cNvPr id="569" name="Rectangle 568">
            <a:extLst>
              <a:ext uri="{FF2B5EF4-FFF2-40B4-BE49-F238E27FC236}">
                <a16:creationId xmlns:a16="http://schemas.microsoft.com/office/drawing/2014/main" id="{AB480511-06DE-4030-8591-BCA9CF5004F8}"/>
              </a:ext>
            </a:extLst>
          </p:cNvPr>
          <p:cNvSpPr>
            <a:spLocks noGrp="1"/>
          </p:cNvSpPr>
          <p:nvPr/>
        </p:nvSpPr>
        <p:spPr>
          <a:xfrm>
            <a:off x="7335375" y="4076700"/>
            <a:ext cx="1770250" cy="447675"/>
          </a:xfrm>
          <a:prstGeom prst="rect">
            <a:avLst/>
          </a:prstGeom>
          <a:solidFill>
            <a:srgbClr val="4C91D8"/>
          </a:solidFill>
          <a:ln w="0">
            <a:noFill/>
          </a:ln>
        </p:spPr>
        <p:txBody>
          <a:bodyPr/>
          <a:lstStyle/>
          <a:p>
            <a:endParaRPr lang="en-US"/>
          </a:p>
        </p:txBody>
      </p:sp>
      <p:sp>
        <p:nvSpPr>
          <p:cNvPr id="570" name="25%">
            <a:extLst>
              <a:ext uri="{FF2B5EF4-FFF2-40B4-BE49-F238E27FC236}">
                <a16:creationId xmlns:a16="http://schemas.microsoft.com/office/drawing/2014/main" id="{141A2321-E553-4D9C-8051-383D6D69EA77}"/>
              </a:ext>
            </a:extLst>
          </p:cNvPr>
          <p:cNvSpPr>
            <a:spLocks noGrp="1"/>
          </p:cNvSpPr>
          <p:nvPr/>
        </p:nvSpPr>
        <p:spPr>
          <a:xfrm>
            <a:off x="7373475" y="4181475"/>
            <a:ext cx="171310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71" name="Rectangle 570">
            <a:extLst>
              <a:ext uri="{FF2B5EF4-FFF2-40B4-BE49-F238E27FC236}">
                <a16:creationId xmlns:a16="http://schemas.microsoft.com/office/drawing/2014/main" id="{12F7EA68-B272-4F7B-835B-8F553702EAA3}"/>
              </a:ext>
            </a:extLst>
          </p:cNvPr>
          <p:cNvSpPr>
            <a:spLocks noGrp="1"/>
          </p:cNvSpPr>
          <p:nvPr/>
        </p:nvSpPr>
        <p:spPr>
          <a:xfrm>
            <a:off x="9105625" y="4076700"/>
            <a:ext cx="1514750" cy="447675"/>
          </a:xfrm>
          <a:prstGeom prst="rect">
            <a:avLst/>
          </a:prstGeom>
          <a:solidFill>
            <a:srgbClr val="285B9F"/>
          </a:solidFill>
          <a:ln w="0">
            <a:noFill/>
          </a:ln>
        </p:spPr>
        <p:txBody>
          <a:bodyPr/>
          <a:lstStyle/>
          <a:p>
            <a:endParaRPr lang="en-US"/>
          </a:p>
        </p:txBody>
      </p:sp>
      <p:sp>
        <p:nvSpPr>
          <p:cNvPr id="572" name="22%">
            <a:extLst>
              <a:ext uri="{FF2B5EF4-FFF2-40B4-BE49-F238E27FC236}">
                <a16:creationId xmlns:a16="http://schemas.microsoft.com/office/drawing/2014/main" id="{E25B7881-6BAA-4439-BB57-44CED5C3CEA2}"/>
              </a:ext>
            </a:extLst>
          </p:cNvPr>
          <p:cNvSpPr>
            <a:spLocks noGrp="1"/>
          </p:cNvSpPr>
          <p:nvPr/>
        </p:nvSpPr>
        <p:spPr>
          <a:xfrm>
            <a:off x="9143725" y="4181475"/>
            <a:ext cx="145760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73" name="n=381">
            <a:extLst>
              <a:ext uri="{FF2B5EF4-FFF2-40B4-BE49-F238E27FC236}">
                <a16:creationId xmlns:a16="http://schemas.microsoft.com/office/drawing/2014/main" id="{0465DDAD-F33A-4CE9-ACAA-629F7B2DC168}"/>
              </a:ext>
            </a:extLst>
          </p:cNvPr>
          <p:cNvSpPr>
            <a:spLocks noGrp="1"/>
          </p:cNvSpPr>
          <p:nvPr/>
        </p:nvSpPr>
        <p:spPr>
          <a:xfrm>
            <a:off x="10782300" y="41719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n=381</a:t>
            </a:r>
          </a:p>
        </p:txBody>
      </p:sp>
      <p:sp>
        <p:nvSpPr>
          <p:cNvPr id="574" name="90% or more">
            <a:extLst>
              <a:ext uri="{FF2B5EF4-FFF2-40B4-BE49-F238E27FC236}">
                <a16:creationId xmlns:a16="http://schemas.microsoft.com/office/drawing/2014/main" id="{F5411FAE-A15F-4452-80E6-DB1199CF1A42}"/>
              </a:ext>
            </a:extLst>
          </p:cNvPr>
          <p:cNvSpPr>
            <a:spLocks noGrp="1"/>
          </p:cNvSpPr>
          <p:nvPr/>
        </p:nvSpPr>
        <p:spPr>
          <a:xfrm>
            <a:off x="400050" y="48387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90% or more</a:t>
            </a:r>
          </a:p>
        </p:txBody>
      </p:sp>
      <p:sp>
        <p:nvSpPr>
          <p:cNvPr id="575" name="Rectangle 574">
            <a:extLst>
              <a:ext uri="{FF2B5EF4-FFF2-40B4-BE49-F238E27FC236}">
                <a16:creationId xmlns:a16="http://schemas.microsoft.com/office/drawing/2014/main" id="{5C93551C-D5B1-4C8C-9C8D-9B0734874F3B}"/>
              </a:ext>
            </a:extLst>
          </p:cNvPr>
          <p:cNvSpPr>
            <a:spLocks noGrp="1"/>
          </p:cNvSpPr>
          <p:nvPr/>
        </p:nvSpPr>
        <p:spPr>
          <a:xfrm>
            <a:off x="3667125" y="4800600"/>
            <a:ext cx="1297496" cy="447675"/>
          </a:xfrm>
          <a:prstGeom prst="rect">
            <a:avLst/>
          </a:prstGeom>
          <a:solidFill>
            <a:srgbClr val="A83A3A"/>
          </a:solidFill>
          <a:ln w="0">
            <a:noFill/>
          </a:ln>
        </p:spPr>
        <p:txBody>
          <a:bodyPr/>
          <a:lstStyle/>
          <a:p>
            <a:endParaRPr lang="en-US"/>
          </a:p>
        </p:txBody>
      </p:sp>
      <p:sp>
        <p:nvSpPr>
          <p:cNvPr id="576" name="19%">
            <a:extLst>
              <a:ext uri="{FF2B5EF4-FFF2-40B4-BE49-F238E27FC236}">
                <a16:creationId xmlns:a16="http://schemas.microsoft.com/office/drawing/2014/main" id="{AC4EC6DF-5C03-4B2E-95FD-4C8B94E8339D}"/>
              </a:ext>
            </a:extLst>
          </p:cNvPr>
          <p:cNvSpPr>
            <a:spLocks noGrp="1"/>
          </p:cNvSpPr>
          <p:nvPr/>
        </p:nvSpPr>
        <p:spPr>
          <a:xfrm>
            <a:off x="3705225" y="4905375"/>
            <a:ext cx="124034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19%</a:t>
            </a:r>
          </a:p>
        </p:txBody>
      </p:sp>
      <p:sp>
        <p:nvSpPr>
          <p:cNvPr id="577" name="Rectangle 576">
            <a:extLst>
              <a:ext uri="{FF2B5EF4-FFF2-40B4-BE49-F238E27FC236}">
                <a16:creationId xmlns:a16="http://schemas.microsoft.com/office/drawing/2014/main" id="{A27C66C0-686A-43D2-A478-48545E11682F}"/>
              </a:ext>
            </a:extLst>
          </p:cNvPr>
          <p:cNvSpPr>
            <a:spLocks noGrp="1"/>
          </p:cNvSpPr>
          <p:nvPr/>
        </p:nvSpPr>
        <p:spPr>
          <a:xfrm>
            <a:off x="4964621" y="4800600"/>
            <a:ext cx="1846437" cy="447675"/>
          </a:xfrm>
          <a:prstGeom prst="rect">
            <a:avLst/>
          </a:prstGeom>
          <a:solidFill>
            <a:srgbClr val="DC713D"/>
          </a:solidFill>
          <a:ln w="0">
            <a:noFill/>
          </a:ln>
        </p:spPr>
        <p:txBody>
          <a:bodyPr/>
          <a:lstStyle/>
          <a:p>
            <a:endParaRPr lang="en-US"/>
          </a:p>
        </p:txBody>
      </p:sp>
      <p:sp>
        <p:nvSpPr>
          <p:cNvPr id="578" name="27%">
            <a:extLst>
              <a:ext uri="{FF2B5EF4-FFF2-40B4-BE49-F238E27FC236}">
                <a16:creationId xmlns:a16="http://schemas.microsoft.com/office/drawing/2014/main" id="{A8D71486-BD82-400E-A2E9-7AE926D0B442}"/>
              </a:ext>
            </a:extLst>
          </p:cNvPr>
          <p:cNvSpPr>
            <a:spLocks noGrp="1"/>
          </p:cNvSpPr>
          <p:nvPr/>
        </p:nvSpPr>
        <p:spPr>
          <a:xfrm>
            <a:off x="5002721" y="4905375"/>
            <a:ext cx="178928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79" name="Rectangle 578">
            <a:extLst>
              <a:ext uri="{FF2B5EF4-FFF2-40B4-BE49-F238E27FC236}">
                <a16:creationId xmlns:a16="http://schemas.microsoft.com/office/drawing/2014/main" id="{4D7E2659-29DA-47FF-81A3-D9C54017D23C}"/>
              </a:ext>
            </a:extLst>
          </p:cNvPr>
          <p:cNvSpPr>
            <a:spLocks noGrp="1"/>
          </p:cNvSpPr>
          <p:nvPr/>
        </p:nvSpPr>
        <p:spPr>
          <a:xfrm>
            <a:off x="6811059" y="4800600"/>
            <a:ext cx="1979514" cy="447675"/>
          </a:xfrm>
          <a:prstGeom prst="rect">
            <a:avLst/>
          </a:prstGeom>
          <a:solidFill>
            <a:srgbClr val="4C91D8"/>
          </a:solidFill>
          <a:ln w="0">
            <a:noFill/>
          </a:ln>
        </p:spPr>
        <p:txBody>
          <a:bodyPr/>
          <a:lstStyle/>
          <a:p>
            <a:endParaRPr lang="en-US"/>
          </a:p>
        </p:txBody>
      </p:sp>
      <p:sp>
        <p:nvSpPr>
          <p:cNvPr id="580" name="28%">
            <a:extLst>
              <a:ext uri="{FF2B5EF4-FFF2-40B4-BE49-F238E27FC236}">
                <a16:creationId xmlns:a16="http://schemas.microsoft.com/office/drawing/2014/main" id="{AF42DE66-547E-48CC-917A-8A133A15C046}"/>
              </a:ext>
            </a:extLst>
          </p:cNvPr>
          <p:cNvSpPr>
            <a:spLocks noGrp="1"/>
          </p:cNvSpPr>
          <p:nvPr/>
        </p:nvSpPr>
        <p:spPr>
          <a:xfrm>
            <a:off x="6849159" y="4905375"/>
            <a:ext cx="192236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81" name="Rectangle 580">
            <a:extLst>
              <a:ext uri="{FF2B5EF4-FFF2-40B4-BE49-F238E27FC236}">
                <a16:creationId xmlns:a16="http://schemas.microsoft.com/office/drawing/2014/main" id="{783F3CD6-D639-447A-A735-5C15E94DDD19}"/>
              </a:ext>
            </a:extLst>
          </p:cNvPr>
          <p:cNvSpPr>
            <a:spLocks noGrp="1"/>
          </p:cNvSpPr>
          <p:nvPr/>
        </p:nvSpPr>
        <p:spPr>
          <a:xfrm>
            <a:off x="8790572" y="4800600"/>
            <a:ext cx="1829803" cy="447675"/>
          </a:xfrm>
          <a:prstGeom prst="rect">
            <a:avLst/>
          </a:prstGeom>
          <a:solidFill>
            <a:srgbClr val="285B9F"/>
          </a:solidFill>
          <a:ln w="0">
            <a:noFill/>
          </a:ln>
        </p:spPr>
        <p:txBody>
          <a:bodyPr/>
          <a:lstStyle/>
          <a:p>
            <a:endParaRPr lang="en-US"/>
          </a:p>
        </p:txBody>
      </p:sp>
      <p:sp>
        <p:nvSpPr>
          <p:cNvPr id="582" name="26%">
            <a:extLst>
              <a:ext uri="{FF2B5EF4-FFF2-40B4-BE49-F238E27FC236}">
                <a16:creationId xmlns:a16="http://schemas.microsoft.com/office/drawing/2014/main" id="{FC827F02-5966-4002-AA9E-9F8FF77618FF}"/>
              </a:ext>
            </a:extLst>
          </p:cNvPr>
          <p:cNvSpPr>
            <a:spLocks noGrp="1"/>
          </p:cNvSpPr>
          <p:nvPr/>
        </p:nvSpPr>
        <p:spPr>
          <a:xfrm>
            <a:off x="8828672" y="4905375"/>
            <a:ext cx="177265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83" name="n=418">
            <a:extLst>
              <a:ext uri="{FF2B5EF4-FFF2-40B4-BE49-F238E27FC236}">
                <a16:creationId xmlns:a16="http://schemas.microsoft.com/office/drawing/2014/main" id="{51DE1F61-3779-4D5B-99DB-A08CC2EE173F}"/>
              </a:ext>
            </a:extLst>
          </p:cNvPr>
          <p:cNvSpPr>
            <a:spLocks noGrp="1"/>
          </p:cNvSpPr>
          <p:nvPr/>
        </p:nvSpPr>
        <p:spPr>
          <a:xfrm>
            <a:off x="10782300" y="48958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n=418</a:t>
            </a:r>
          </a:p>
        </p:txBody>
      </p:sp>
      <p:sp>
        <p:nvSpPr>
          <p:cNvPr id="584" name="Rectangle 583">
            <a:extLst>
              <a:ext uri="{FF2B5EF4-FFF2-40B4-BE49-F238E27FC236}">
                <a16:creationId xmlns:a16="http://schemas.microsoft.com/office/drawing/2014/main" id="{8E61EA85-6D73-4892-99C1-DF37B1ECAB69}"/>
              </a:ext>
            </a:extLst>
          </p:cNvPr>
          <p:cNvSpPr>
            <a:spLocks noGrp="1"/>
          </p:cNvSpPr>
          <p:nvPr/>
        </p:nvSpPr>
        <p:spPr>
          <a:xfrm>
            <a:off x="3667125" y="1409700"/>
            <a:ext cx="190500" cy="190500"/>
          </a:xfrm>
          <a:prstGeom prst="rect">
            <a:avLst/>
          </a:prstGeom>
          <a:solidFill>
            <a:srgbClr val="A83A3A"/>
          </a:solidFill>
          <a:ln w="0">
            <a:noFill/>
          </a:ln>
        </p:spPr>
        <p:txBody>
          <a:bodyPr/>
          <a:lstStyle/>
          <a:p>
            <a:endParaRPr lang="en-US"/>
          </a:p>
        </p:txBody>
      </p:sp>
      <p:sp>
        <p:nvSpPr>
          <p:cNvPr id="585" name="C0  &lt; 3.20">
            <a:extLst>
              <a:ext uri="{FF2B5EF4-FFF2-40B4-BE49-F238E27FC236}">
                <a16:creationId xmlns:a16="http://schemas.microsoft.com/office/drawing/2014/main" id="{0A74C96B-5166-4C72-B600-E6CC730BF67C}"/>
              </a:ext>
            </a:extLst>
          </p:cNvPr>
          <p:cNvSpPr>
            <a:spLocks noGrp="1"/>
          </p:cNvSpPr>
          <p:nvPr/>
        </p:nvSpPr>
        <p:spPr>
          <a:xfrm>
            <a:off x="39433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C0  &lt; 3.20</a:t>
            </a:r>
          </a:p>
        </p:txBody>
      </p:sp>
      <p:sp>
        <p:nvSpPr>
          <p:cNvPr id="586" name="Rectangle 585">
            <a:extLst>
              <a:ext uri="{FF2B5EF4-FFF2-40B4-BE49-F238E27FC236}">
                <a16:creationId xmlns:a16="http://schemas.microsoft.com/office/drawing/2014/main" id="{650B9770-DFBA-4FA3-9455-50BA2E76EF8A}"/>
              </a:ext>
            </a:extLst>
          </p:cNvPr>
          <p:cNvSpPr>
            <a:spLocks noGrp="1"/>
          </p:cNvSpPr>
          <p:nvPr/>
        </p:nvSpPr>
        <p:spPr>
          <a:xfrm>
            <a:off x="5476875" y="1409700"/>
            <a:ext cx="190500" cy="190500"/>
          </a:xfrm>
          <a:prstGeom prst="rect">
            <a:avLst/>
          </a:prstGeom>
          <a:solidFill>
            <a:srgbClr val="DC713D"/>
          </a:solidFill>
          <a:ln w="0">
            <a:noFill/>
          </a:ln>
        </p:spPr>
        <p:txBody>
          <a:bodyPr/>
          <a:lstStyle/>
          <a:p>
            <a:endParaRPr lang="en-US"/>
          </a:p>
        </p:txBody>
      </p:sp>
      <p:sp>
        <p:nvSpPr>
          <p:cNvPr id="587" name="C1  3.20–3.49">
            <a:extLst>
              <a:ext uri="{FF2B5EF4-FFF2-40B4-BE49-F238E27FC236}">
                <a16:creationId xmlns:a16="http://schemas.microsoft.com/office/drawing/2014/main" id="{39687255-2F25-4C7D-8EA8-AA594C397AE8}"/>
              </a:ext>
            </a:extLst>
          </p:cNvPr>
          <p:cNvSpPr>
            <a:spLocks noGrp="1"/>
          </p:cNvSpPr>
          <p:nvPr/>
        </p:nvSpPr>
        <p:spPr>
          <a:xfrm>
            <a:off x="57531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C1  3.20–3.49</a:t>
            </a:r>
          </a:p>
        </p:txBody>
      </p:sp>
      <p:sp>
        <p:nvSpPr>
          <p:cNvPr id="588" name="Rectangle 587">
            <a:extLst>
              <a:ext uri="{FF2B5EF4-FFF2-40B4-BE49-F238E27FC236}">
                <a16:creationId xmlns:a16="http://schemas.microsoft.com/office/drawing/2014/main" id="{0A0860D4-B323-4017-BCDF-FEDE7313D387}"/>
              </a:ext>
            </a:extLst>
          </p:cNvPr>
          <p:cNvSpPr>
            <a:spLocks noGrp="1"/>
          </p:cNvSpPr>
          <p:nvPr/>
        </p:nvSpPr>
        <p:spPr>
          <a:xfrm>
            <a:off x="7286625" y="1409700"/>
            <a:ext cx="190500" cy="190500"/>
          </a:xfrm>
          <a:prstGeom prst="rect">
            <a:avLst/>
          </a:prstGeom>
          <a:solidFill>
            <a:srgbClr val="4C91D8"/>
          </a:solidFill>
          <a:ln w="0">
            <a:noFill/>
          </a:ln>
        </p:spPr>
        <p:txBody>
          <a:bodyPr/>
          <a:lstStyle/>
          <a:p>
            <a:endParaRPr lang="en-US"/>
          </a:p>
        </p:txBody>
      </p:sp>
      <p:sp>
        <p:nvSpPr>
          <p:cNvPr id="589" name="C2  3.50–3.74">
            <a:extLst>
              <a:ext uri="{FF2B5EF4-FFF2-40B4-BE49-F238E27FC236}">
                <a16:creationId xmlns:a16="http://schemas.microsoft.com/office/drawing/2014/main" id="{1BE2B5E4-C7B3-432D-A6A5-C5E92BDDDFEC}"/>
              </a:ext>
            </a:extLst>
          </p:cNvPr>
          <p:cNvSpPr>
            <a:spLocks noGrp="1"/>
          </p:cNvSpPr>
          <p:nvPr/>
        </p:nvSpPr>
        <p:spPr>
          <a:xfrm>
            <a:off x="75628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C2  3.50–3.74</a:t>
            </a:r>
          </a:p>
        </p:txBody>
      </p:sp>
      <p:sp>
        <p:nvSpPr>
          <p:cNvPr id="590" name="Rectangle 589">
            <a:extLst>
              <a:ext uri="{FF2B5EF4-FFF2-40B4-BE49-F238E27FC236}">
                <a16:creationId xmlns:a16="http://schemas.microsoft.com/office/drawing/2014/main" id="{AFACCF0D-0B10-4F36-9556-EC81C65BFF93}"/>
              </a:ext>
            </a:extLst>
          </p:cNvPr>
          <p:cNvSpPr>
            <a:spLocks noGrp="1"/>
          </p:cNvSpPr>
          <p:nvPr/>
        </p:nvSpPr>
        <p:spPr>
          <a:xfrm>
            <a:off x="9096375" y="1409700"/>
            <a:ext cx="190500" cy="190500"/>
          </a:xfrm>
          <a:prstGeom prst="rect">
            <a:avLst/>
          </a:prstGeom>
          <a:solidFill>
            <a:srgbClr val="285B9F"/>
          </a:solidFill>
          <a:ln w="0">
            <a:noFill/>
          </a:ln>
        </p:spPr>
        <p:txBody>
          <a:bodyPr/>
          <a:lstStyle/>
          <a:p>
            <a:endParaRPr lang="en-US"/>
          </a:p>
        </p:txBody>
      </p:sp>
      <p:sp>
        <p:nvSpPr>
          <p:cNvPr id="591" name="C3  ≥ 3.75">
            <a:extLst>
              <a:ext uri="{FF2B5EF4-FFF2-40B4-BE49-F238E27FC236}">
                <a16:creationId xmlns:a16="http://schemas.microsoft.com/office/drawing/2014/main" id="{17BF479C-AEBD-47FE-B9B6-FC4D08118380}"/>
              </a:ext>
            </a:extLst>
          </p:cNvPr>
          <p:cNvSpPr>
            <a:spLocks noGrp="1"/>
          </p:cNvSpPr>
          <p:nvPr/>
        </p:nvSpPr>
        <p:spPr>
          <a:xfrm>
            <a:off x="93726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C3  ≥ 3.75</a:t>
            </a:r>
          </a:p>
        </p:txBody>
      </p:sp>
      <p:cxnSp>
        <p:nvCxnSpPr>
          <p:cNvPr id="3" name="Straight Arrow Connector 2">
            <a:extLst>
              <a:ext uri="{FF2B5EF4-FFF2-40B4-BE49-F238E27FC236}">
                <a16:creationId xmlns:a16="http://schemas.microsoft.com/office/drawing/2014/main" id="{9A1C4D91-DFFF-DE55-0038-74206E0960FF}"/>
              </a:ext>
            </a:extLst>
          </p:cNvPr>
          <p:cNvCxnSpPr>
            <a:cxnSpLocks/>
          </p:cNvCxnSpPr>
          <p:nvPr/>
        </p:nvCxnSpPr>
        <p:spPr>
          <a:xfrm>
            <a:off x="204107" y="5763986"/>
            <a:ext cx="105781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87370C7B-D38B-4D8A-0A2F-4319423D0E32}"/>
              </a:ext>
            </a:extLst>
          </p:cNvPr>
          <p:cNvCxnSpPr>
            <a:cxnSpLocks/>
          </p:cNvCxnSpPr>
          <p:nvPr/>
        </p:nvCxnSpPr>
        <p:spPr>
          <a:xfrm flipV="1">
            <a:off x="356507" y="971550"/>
            <a:ext cx="0" cy="4944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E56809DF-2BB9-8D46-F09E-A1FFB0A7DE02}"/>
              </a:ext>
            </a:extLst>
          </p:cNvPr>
          <p:cNvSpPr txBox="1"/>
          <p:nvPr/>
        </p:nvSpPr>
        <p:spPr>
          <a:xfrm>
            <a:off x="5532723" y="5787509"/>
            <a:ext cx="821572" cy="369332"/>
          </a:xfrm>
          <a:prstGeom prst="rect">
            <a:avLst/>
          </a:prstGeom>
          <a:noFill/>
        </p:spPr>
        <p:txBody>
          <a:bodyPr wrap="none" rtlCol="0">
            <a:spAutoFit/>
          </a:bodyPr>
          <a:lstStyle/>
          <a:p>
            <a:r>
              <a:rPr lang="en-US" dirty="0"/>
              <a:t>CGPA</a:t>
            </a:r>
          </a:p>
        </p:txBody>
      </p:sp>
      <p:sp>
        <p:nvSpPr>
          <p:cNvPr id="12" name="TextBox 11">
            <a:extLst>
              <a:ext uri="{FF2B5EF4-FFF2-40B4-BE49-F238E27FC236}">
                <a16:creationId xmlns:a16="http://schemas.microsoft.com/office/drawing/2014/main" id="{79E311A4-ECB6-FE8F-E074-5FC9C156B4A0}"/>
              </a:ext>
            </a:extLst>
          </p:cNvPr>
          <p:cNvSpPr txBox="1"/>
          <p:nvPr/>
        </p:nvSpPr>
        <p:spPr>
          <a:xfrm rot="16200000">
            <a:off x="-460441" y="2715997"/>
            <a:ext cx="1351652" cy="369332"/>
          </a:xfrm>
          <a:prstGeom prst="rect">
            <a:avLst/>
          </a:prstGeom>
          <a:noFill/>
        </p:spPr>
        <p:txBody>
          <a:bodyPr wrap="none" rtlCol="0">
            <a:spAutoFit/>
          </a:bodyPr>
          <a:lstStyle/>
          <a:p>
            <a:r>
              <a:rPr lang="en-US" dirty="0"/>
              <a:t>Attendance</a:t>
            </a:r>
          </a:p>
        </p:txBody>
      </p:sp>
    </p:spTree>
    <p:extLst>
      <p:ext uri="{BB962C8B-B14F-4D97-AF65-F5344CB8AC3E}">
        <p14:creationId xmlns:p14="http://schemas.microsoft.com/office/powerpoint/2010/main" val="5462217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17</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Weekly study time and CGPA</a:t>
            </a:r>
          </a:p>
        </p:txBody>
      </p:sp>
      <p:sp>
        <p:nvSpPr>
          <p:cNvPr id="534" name="Less than 3 hrs">
            <a:extLst>
              <a:ext uri="{FF2B5EF4-FFF2-40B4-BE49-F238E27FC236}">
                <a16:creationId xmlns:a16="http://schemas.microsoft.com/office/drawing/2014/main" id="{70778BCB-E655-437B-9DD3-E03E58F3C925}"/>
              </a:ext>
            </a:extLst>
          </p:cNvPr>
          <p:cNvSpPr>
            <a:spLocks noGrp="1"/>
          </p:cNvSpPr>
          <p:nvPr/>
        </p:nvSpPr>
        <p:spPr>
          <a:xfrm>
            <a:off x="400050" y="19431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Less than 3 hrs</a:t>
            </a:r>
          </a:p>
        </p:txBody>
      </p:sp>
      <p:sp>
        <p:nvSpPr>
          <p:cNvPr id="535" name="Rectangle 534">
            <a:extLst>
              <a:ext uri="{FF2B5EF4-FFF2-40B4-BE49-F238E27FC236}">
                <a16:creationId xmlns:a16="http://schemas.microsoft.com/office/drawing/2014/main" id="{590C2AEA-6F7A-4912-BDF6-4509D1E7DC8F}"/>
              </a:ext>
            </a:extLst>
          </p:cNvPr>
          <p:cNvSpPr>
            <a:spLocks noGrp="1"/>
          </p:cNvSpPr>
          <p:nvPr/>
        </p:nvSpPr>
        <p:spPr>
          <a:xfrm>
            <a:off x="3667125" y="1905000"/>
            <a:ext cx="1656945" cy="447675"/>
          </a:xfrm>
          <a:prstGeom prst="rect">
            <a:avLst/>
          </a:prstGeom>
          <a:solidFill>
            <a:srgbClr val="A83A3A"/>
          </a:solidFill>
          <a:ln w="0">
            <a:noFill/>
          </a:ln>
        </p:spPr>
        <p:txBody>
          <a:bodyPr/>
          <a:lstStyle/>
          <a:p>
            <a:endParaRPr lang="en-US"/>
          </a:p>
        </p:txBody>
      </p:sp>
      <p:sp>
        <p:nvSpPr>
          <p:cNvPr id="536" name="24%">
            <a:extLst>
              <a:ext uri="{FF2B5EF4-FFF2-40B4-BE49-F238E27FC236}">
                <a16:creationId xmlns:a16="http://schemas.microsoft.com/office/drawing/2014/main" id="{F2769B4C-70EF-445C-8DB1-516CE7274BF8}"/>
              </a:ext>
            </a:extLst>
          </p:cNvPr>
          <p:cNvSpPr>
            <a:spLocks noGrp="1"/>
          </p:cNvSpPr>
          <p:nvPr/>
        </p:nvSpPr>
        <p:spPr>
          <a:xfrm>
            <a:off x="3705225" y="2009775"/>
            <a:ext cx="159979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37" name="Rectangle 536">
            <a:extLst>
              <a:ext uri="{FF2B5EF4-FFF2-40B4-BE49-F238E27FC236}">
                <a16:creationId xmlns:a16="http://schemas.microsoft.com/office/drawing/2014/main" id="{1CA4B648-03DB-4FF2-8994-34D50CC193EE}"/>
              </a:ext>
            </a:extLst>
          </p:cNvPr>
          <p:cNvSpPr>
            <a:spLocks noGrp="1"/>
          </p:cNvSpPr>
          <p:nvPr/>
        </p:nvSpPr>
        <p:spPr>
          <a:xfrm>
            <a:off x="5324070" y="1905000"/>
            <a:ext cx="1952828" cy="447675"/>
          </a:xfrm>
          <a:prstGeom prst="rect">
            <a:avLst/>
          </a:prstGeom>
          <a:solidFill>
            <a:srgbClr val="DC713D"/>
          </a:solidFill>
          <a:ln w="0">
            <a:noFill/>
          </a:ln>
        </p:spPr>
        <p:txBody>
          <a:bodyPr/>
          <a:lstStyle/>
          <a:p>
            <a:endParaRPr lang="en-US"/>
          </a:p>
        </p:txBody>
      </p:sp>
      <p:sp>
        <p:nvSpPr>
          <p:cNvPr id="538" name="28%">
            <a:extLst>
              <a:ext uri="{FF2B5EF4-FFF2-40B4-BE49-F238E27FC236}">
                <a16:creationId xmlns:a16="http://schemas.microsoft.com/office/drawing/2014/main" id="{CF8C6C7E-A8E8-4854-BEF4-0BCDBFC9D9FC}"/>
              </a:ext>
            </a:extLst>
          </p:cNvPr>
          <p:cNvSpPr>
            <a:spLocks noGrp="1"/>
          </p:cNvSpPr>
          <p:nvPr/>
        </p:nvSpPr>
        <p:spPr>
          <a:xfrm>
            <a:off x="5362170" y="2009775"/>
            <a:ext cx="189567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39" name="Rectangle 538">
            <a:extLst>
              <a:ext uri="{FF2B5EF4-FFF2-40B4-BE49-F238E27FC236}">
                <a16:creationId xmlns:a16="http://schemas.microsoft.com/office/drawing/2014/main" id="{8FE69750-DEE1-46F4-BEB7-18B27FBCC9C7}"/>
              </a:ext>
            </a:extLst>
          </p:cNvPr>
          <p:cNvSpPr>
            <a:spLocks noGrp="1"/>
          </p:cNvSpPr>
          <p:nvPr/>
        </p:nvSpPr>
        <p:spPr>
          <a:xfrm>
            <a:off x="7276897" y="1905000"/>
            <a:ext cx="2012004" cy="447675"/>
          </a:xfrm>
          <a:prstGeom prst="rect">
            <a:avLst/>
          </a:prstGeom>
          <a:solidFill>
            <a:srgbClr val="4C91D8"/>
          </a:solidFill>
          <a:ln w="0">
            <a:noFill/>
          </a:ln>
        </p:spPr>
        <p:txBody>
          <a:bodyPr/>
          <a:lstStyle/>
          <a:p>
            <a:endParaRPr lang="en-US"/>
          </a:p>
        </p:txBody>
      </p:sp>
      <p:sp>
        <p:nvSpPr>
          <p:cNvPr id="540" name="29%">
            <a:extLst>
              <a:ext uri="{FF2B5EF4-FFF2-40B4-BE49-F238E27FC236}">
                <a16:creationId xmlns:a16="http://schemas.microsoft.com/office/drawing/2014/main" id="{20ADEF86-D466-4878-B7E8-1E8E089CFF10}"/>
              </a:ext>
            </a:extLst>
          </p:cNvPr>
          <p:cNvSpPr>
            <a:spLocks noGrp="1"/>
          </p:cNvSpPr>
          <p:nvPr/>
        </p:nvSpPr>
        <p:spPr>
          <a:xfrm>
            <a:off x="7314997" y="2009775"/>
            <a:ext cx="195485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41" name="Rectangle 540">
            <a:extLst>
              <a:ext uri="{FF2B5EF4-FFF2-40B4-BE49-F238E27FC236}">
                <a16:creationId xmlns:a16="http://schemas.microsoft.com/office/drawing/2014/main" id="{07BC572C-CF0C-4BF0-9CF1-D279D9D2BDF5}"/>
              </a:ext>
            </a:extLst>
          </p:cNvPr>
          <p:cNvSpPr>
            <a:spLocks noGrp="1"/>
          </p:cNvSpPr>
          <p:nvPr/>
        </p:nvSpPr>
        <p:spPr>
          <a:xfrm>
            <a:off x="9288902" y="1905000"/>
            <a:ext cx="1331473" cy="447675"/>
          </a:xfrm>
          <a:prstGeom prst="rect">
            <a:avLst/>
          </a:prstGeom>
          <a:solidFill>
            <a:srgbClr val="285B9F"/>
          </a:solidFill>
          <a:ln w="0">
            <a:noFill/>
          </a:ln>
        </p:spPr>
        <p:txBody>
          <a:bodyPr/>
          <a:lstStyle/>
          <a:p>
            <a:endParaRPr lang="en-US"/>
          </a:p>
        </p:txBody>
      </p:sp>
      <p:sp>
        <p:nvSpPr>
          <p:cNvPr id="542" name="19%">
            <a:extLst>
              <a:ext uri="{FF2B5EF4-FFF2-40B4-BE49-F238E27FC236}">
                <a16:creationId xmlns:a16="http://schemas.microsoft.com/office/drawing/2014/main" id="{90D7E1D5-D057-46E2-8C35-9C7988D5F133}"/>
              </a:ext>
            </a:extLst>
          </p:cNvPr>
          <p:cNvSpPr>
            <a:spLocks noGrp="1"/>
          </p:cNvSpPr>
          <p:nvPr/>
        </p:nvSpPr>
        <p:spPr>
          <a:xfrm>
            <a:off x="9327002" y="2009775"/>
            <a:ext cx="127432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19%</a:t>
            </a:r>
          </a:p>
        </p:txBody>
      </p:sp>
      <p:sp>
        <p:nvSpPr>
          <p:cNvPr id="543" name="n=235">
            <a:extLst>
              <a:ext uri="{FF2B5EF4-FFF2-40B4-BE49-F238E27FC236}">
                <a16:creationId xmlns:a16="http://schemas.microsoft.com/office/drawing/2014/main" id="{27CC9F38-B2FF-406A-A1A7-AA36ECBF9F11}"/>
              </a:ext>
            </a:extLst>
          </p:cNvPr>
          <p:cNvSpPr>
            <a:spLocks noGrp="1"/>
          </p:cNvSpPr>
          <p:nvPr/>
        </p:nvSpPr>
        <p:spPr>
          <a:xfrm>
            <a:off x="10782300" y="20002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n=235</a:t>
            </a:r>
          </a:p>
        </p:txBody>
      </p:sp>
      <p:sp>
        <p:nvSpPr>
          <p:cNvPr id="544" name="3-6 hrs">
            <a:extLst>
              <a:ext uri="{FF2B5EF4-FFF2-40B4-BE49-F238E27FC236}">
                <a16:creationId xmlns:a16="http://schemas.microsoft.com/office/drawing/2014/main" id="{D07F0436-65F3-4ED3-AFC1-0CD33ACB6CDD}"/>
              </a:ext>
            </a:extLst>
          </p:cNvPr>
          <p:cNvSpPr>
            <a:spLocks noGrp="1"/>
          </p:cNvSpPr>
          <p:nvPr/>
        </p:nvSpPr>
        <p:spPr>
          <a:xfrm>
            <a:off x="400050" y="26670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3-6 hrs</a:t>
            </a:r>
          </a:p>
        </p:txBody>
      </p:sp>
      <p:sp>
        <p:nvSpPr>
          <p:cNvPr id="545" name="Rectangle 544">
            <a:extLst>
              <a:ext uri="{FF2B5EF4-FFF2-40B4-BE49-F238E27FC236}">
                <a16:creationId xmlns:a16="http://schemas.microsoft.com/office/drawing/2014/main" id="{0664C06E-B518-4B5E-BD1F-2CFD392BE599}"/>
              </a:ext>
            </a:extLst>
          </p:cNvPr>
          <p:cNvSpPr>
            <a:spLocks noGrp="1"/>
          </p:cNvSpPr>
          <p:nvPr/>
        </p:nvSpPr>
        <p:spPr>
          <a:xfrm>
            <a:off x="3667125" y="2628900"/>
            <a:ext cx="1781616" cy="447675"/>
          </a:xfrm>
          <a:prstGeom prst="rect">
            <a:avLst/>
          </a:prstGeom>
          <a:solidFill>
            <a:srgbClr val="A83A3A"/>
          </a:solidFill>
          <a:ln w="0">
            <a:noFill/>
          </a:ln>
        </p:spPr>
        <p:txBody>
          <a:bodyPr/>
          <a:lstStyle/>
          <a:p>
            <a:endParaRPr lang="en-US"/>
          </a:p>
        </p:txBody>
      </p:sp>
      <p:sp>
        <p:nvSpPr>
          <p:cNvPr id="546" name="26%">
            <a:extLst>
              <a:ext uri="{FF2B5EF4-FFF2-40B4-BE49-F238E27FC236}">
                <a16:creationId xmlns:a16="http://schemas.microsoft.com/office/drawing/2014/main" id="{DA377271-797E-4E31-B89A-53E5ED1497B7}"/>
              </a:ext>
            </a:extLst>
          </p:cNvPr>
          <p:cNvSpPr>
            <a:spLocks noGrp="1"/>
          </p:cNvSpPr>
          <p:nvPr/>
        </p:nvSpPr>
        <p:spPr>
          <a:xfrm>
            <a:off x="3705225" y="2733675"/>
            <a:ext cx="172446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47" name="Rectangle 546">
            <a:extLst>
              <a:ext uri="{FF2B5EF4-FFF2-40B4-BE49-F238E27FC236}">
                <a16:creationId xmlns:a16="http://schemas.microsoft.com/office/drawing/2014/main" id="{324D13B8-6A30-4990-8220-1441E41E9F03}"/>
              </a:ext>
            </a:extLst>
          </p:cNvPr>
          <p:cNvSpPr>
            <a:spLocks noGrp="1"/>
          </p:cNvSpPr>
          <p:nvPr/>
        </p:nvSpPr>
        <p:spPr>
          <a:xfrm>
            <a:off x="5448741" y="2628900"/>
            <a:ext cx="2004318" cy="447675"/>
          </a:xfrm>
          <a:prstGeom prst="rect">
            <a:avLst/>
          </a:prstGeom>
          <a:solidFill>
            <a:srgbClr val="DC713D"/>
          </a:solidFill>
          <a:ln w="0">
            <a:noFill/>
          </a:ln>
        </p:spPr>
        <p:txBody>
          <a:bodyPr/>
          <a:lstStyle/>
          <a:p>
            <a:endParaRPr lang="en-US"/>
          </a:p>
        </p:txBody>
      </p:sp>
      <p:sp>
        <p:nvSpPr>
          <p:cNvPr id="548" name="29%">
            <a:extLst>
              <a:ext uri="{FF2B5EF4-FFF2-40B4-BE49-F238E27FC236}">
                <a16:creationId xmlns:a16="http://schemas.microsoft.com/office/drawing/2014/main" id="{597691AB-36B4-44E4-9DF8-D75FAB641BFE}"/>
              </a:ext>
            </a:extLst>
          </p:cNvPr>
          <p:cNvSpPr>
            <a:spLocks noGrp="1"/>
          </p:cNvSpPr>
          <p:nvPr/>
        </p:nvSpPr>
        <p:spPr>
          <a:xfrm>
            <a:off x="5486841" y="2733675"/>
            <a:ext cx="194716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49" name="Rectangle 548">
            <a:extLst>
              <a:ext uri="{FF2B5EF4-FFF2-40B4-BE49-F238E27FC236}">
                <a16:creationId xmlns:a16="http://schemas.microsoft.com/office/drawing/2014/main" id="{4CA30C58-AB23-411F-90C2-10430F2DE73D}"/>
              </a:ext>
            </a:extLst>
          </p:cNvPr>
          <p:cNvSpPr>
            <a:spLocks noGrp="1"/>
          </p:cNvSpPr>
          <p:nvPr/>
        </p:nvSpPr>
        <p:spPr>
          <a:xfrm>
            <a:off x="7453058" y="2628900"/>
            <a:ext cx="1880594" cy="447675"/>
          </a:xfrm>
          <a:prstGeom prst="rect">
            <a:avLst/>
          </a:prstGeom>
          <a:solidFill>
            <a:srgbClr val="4C91D8"/>
          </a:solidFill>
          <a:ln w="0">
            <a:noFill/>
          </a:ln>
        </p:spPr>
        <p:txBody>
          <a:bodyPr/>
          <a:lstStyle/>
          <a:p>
            <a:endParaRPr lang="en-US"/>
          </a:p>
        </p:txBody>
      </p:sp>
      <p:sp>
        <p:nvSpPr>
          <p:cNvPr id="550" name="27%">
            <a:extLst>
              <a:ext uri="{FF2B5EF4-FFF2-40B4-BE49-F238E27FC236}">
                <a16:creationId xmlns:a16="http://schemas.microsoft.com/office/drawing/2014/main" id="{593DA408-8A1A-4913-8B4E-086E805E984C}"/>
              </a:ext>
            </a:extLst>
          </p:cNvPr>
          <p:cNvSpPr>
            <a:spLocks noGrp="1"/>
          </p:cNvSpPr>
          <p:nvPr/>
        </p:nvSpPr>
        <p:spPr>
          <a:xfrm>
            <a:off x="7491158" y="2733675"/>
            <a:ext cx="182344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51" name="Rectangle 550">
            <a:extLst>
              <a:ext uri="{FF2B5EF4-FFF2-40B4-BE49-F238E27FC236}">
                <a16:creationId xmlns:a16="http://schemas.microsoft.com/office/drawing/2014/main" id="{9BA655DE-8304-4EA0-BB9C-71D807F5329E}"/>
              </a:ext>
            </a:extLst>
          </p:cNvPr>
          <p:cNvSpPr>
            <a:spLocks noGrp="1"/>
          </p:cNvSpPr>
          <p:nvPr/>
        </p:nvSpPr>
        <p:spPr>
          <a:xfrm>
            <a:off x="9333653" y="2628900"/>
            <a:ext cx="1286722" cy="447675"/>
          </a:xfrm>
          <a:prstGeom prst="rect">
            <a:avLst/>
          </a:prstGeom>
          <a:solidFill>
            <a:srgbClr val="285B9F"/>
          </a:solidFill>
          <a:ln w="0">
            <a:noFill/>
          </a:ln>
        </p:spPr>
        <p:txBody>
          <a:bodyPr/>
          <a:lstStyle/>
          <a:p>
            <a:endParaRPr lang="en-US"/>
          </a:p>
        </p:txBody>
      </p:sp>
      <p:sp>
        <p:nvSpPr>
          <p:cNvPr id="552" name="19%">
            <a:extLst>
              <a:ext uri="{FF2B5EF4-FFF2-40B4-BE49-F238E27FC236}">
                <a16:creationId xmlns:a16="http://schemas.microsoft.com/office/drawing/2014/main" id="{E05CFD60-315B-4EDF-A286-4608BA761D49}"/>
              </a:ext>
            </a:extLst>
          </p:cNvPr>
          <p:cNvSpPr>
            <a:spLocks noGrp="1"/>
          </p:cNvSpPr>
          <p:nvPr/>
        </p:nvSpPr>
        <p:spPr>
          <a:xfrm>
            <a:off x="9371753" y="2733675"/>
            <a:ext cx="122957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19%</a:t>
            </a:r>
          </a:p>
        </p:txBody>
      </p:sp>
      <p:sp>
        <p:nvSpPr>
          <p:cNvPr id="553" name="n=281">
            <a:extLst>
              <a:ext uri="{FF2B5EF4-FFF2-40B4-BE49-F238E27FC236}">
                <a16:creationId xmlns:a16="http://schemas.microsoft.com/office/drawing/2014/main" id="{9CFDA46E-1F09-4D69-B6DD-DBFE9176CEC7}"/>
              </a:ext>
            </a:extLst>
          </p:cNvPr>
          <p:cNvSpPr>
            <a:spLocks noGrp="1"/>
          </p:cNvSpPr>
          <p:nvPr/>
        </p:nvSpPr>
        <p:spPr>
          <a:xfrm>
            <a:off x="10782300" y="27241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n=281</a:t>
            </a:r>
          </a:p>
        </p:txBody>
      </p:sp>
      <p:sp>
        <p:nvSpPr>
          <p:cNvPr id="554" name="7-10 hrs">
            <a:extLst>
              <a:ext uri="{FF2B5EF4-FFF2-40B4-BE49-F238E27FC236}">
                <a16:creationId xmlns:a16="http://schemas.microsoft.com/office/drawing/2014/main" id="{8B20D5B9-52AD-47A8-B86B-D18FD006039D}"/>
              </a:ext>
            </a:extLst>
          </p:cNvPr>
          <p:cNvSpPr>
            <a:spLocks noGrp="1"/>
          </p:cNvSpPr>
          <p:nvPr/>
        </p:nvSpPr>
        <p:spPr>
          <a:xfrm>
            <a:off x="400050" y="33909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7-10 hrs</a:t>
            </a:r>
          </a:p>
        </p:txBody>
      </p:sp>
      <p:sp>
        <p:nvSpPr>
          <p:cNvPr id="555" name="Rectangle 554">
            <a:extLst>
              <a:ext uri="{FF2B5EF4-FFF2-40B4-BE49-F238E27FC236}">
                <a16:creationId xmlns:a16="http://schemas.microsoft.com/office/drawing/2014/main" id="{2C0B80F8-0C93-4498-BEDA-96866B71E28C}"/>
              </a:ext>
            </a:extLst>
          </p:cNvPr>
          <p:cNvSpPr>
            <a:spLocks noGrp="1"/>
          </p:cNvSpPr>
          <p:nvPr/>
        </p:nvSpPr>
        <p:spPr>
          <a:xfrm>
            <a:off x="3667125" y="3352800"/>
            <a:ext cx="1135790" cy="447675"/>
          </a:xfrm>
          <a:prstGeom prst="rect">
            <a:avLst/>
          </a:prstGeom>
          <a:solidFill>
            <a:srgbClr val="A83A3A"/>
          </a:solidFill>
          <a:ln w="0">
            <a:noFill/>
          </a:ln>
        </p:spPr>
        <p:txBody>
          <a:bodyPr/>
          <a:lstStyle/>
          <a:p>
            <a:endParaRPr lang="en-US"/>
          </a:p>
        </p:txBody>
      </p:sp>
      <p:sp>
        <p:nvSpPr>
          <p:cNvPr id="556" name="16%">
            <a:extLst>
              <a:ext uri="{FF2B5EF4-FFF2-40B4-BE49-F238E27FC236}">
                <a16:creationId xmlns:a16="http://schemas.microsoft.com/office/drawing/2014/main" id="{E0FDE422-EE85-4091-84A4-42EAA6D985AD}"/>
              </a:ext>
            </a:extLst>
          </p:cNvPr>
          <p:cNvSpPr>
            <a:spLocks noGrp="1"/>
          </p:cNvSpPr>
          <p:nvPr/>
        </p:nvSpPr>
        <p:spPr>
          <a:xfrm>
            <a:off x="3705225" y="3457575"/>
            <a:ext cx="107864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16%</a:t>
            </a:r>
          </a:p>
        </p:txBody>
      </p:sp>
      <p:sp>
        <p:nvSpPr>
          <p:cNvPr id="557" name="Rectangle 556">
            <a:extLst>
              <a:ext uri="{FF2B5EF4-FFF2-40B4-BE49-F238E27FC236}">
                <a16:creationId xmlns:a16="http://schemas.microsoft.com/office/drawing/2014/main" id="{8CE00508-D597-4FD2-BEAF-76E6794B3809}"/>
              </a:ext>
            </a:extLst>
          </p:cNvPr>
          <p:cNvSpPr>
            <a:spLocks noGrp="1"/>
          </p:cNvSpPr>
          <p:nvPr/>
        </p:nvSpPr>
        <p:spPr>
          <a:xfrm>
            <a:off x="4802915" y="3352800"/>
            <a:ext cx="2077664" cy="447675"/>
          </a:xfrm>
          <a:prstGeom prst="rect">
            <a:avLst/>
          </a:prstGeom>
          <a:solidFill>
            <a:srgbClr val="DC713D"/>
          </a:solidFill>
          <a:ln w="0">
            <a:noFill/>
          </a:ln>
        </p:spPr>
        <p:txBody>
          <a:bodyPr/>
          <a:lstStyle/>
          <a:p>
            <a:endParaRPr lang="en-US"/>
          </a:p>
        </p:txBody>
      </p:sp>
      <p:sp>
        <p:nvSpPr>
          <p:cNvPr id="558" name="30%">
            <a:extLst>
              <a:ext uri="{FF2B5EF4-FFF2-40B4-BE49-F238E27FC236}">
                <a16:creationId xmlns:a16="http://schemas.microsoft.com/office/drawing/2014/main" id="{E834BA59-4962-4D1E-A1D8-E441EE560A1F}"/>
              </a:ext>
            </a:extLst>
          </p:cNvPr>
          <p:cNvSpPr>
            <a:spLocks noGrp="1"/>
          </p:cNvSpPr>
          <p:nvPr/>
        </p:nvSpPr>
        <p:spPr>
          <a:xfrm>
            <a:off x="4841015" y="3457575"/>
            <a:ext cx="202051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30%</a:t>
            </a:r>
          </a:p>
        </p:txBody>
      </p:sp>
      <p:sp>
        <p:nvSpPr>
          <p:cNvPr id="559" name="Rectangle 558">
            <a:extLst>
              <a:ext uri="{FF2B5EF4-FFF2-40B4-BE49-F238E27FC236}">
                <a16:creationId xmlns:a16="http://schemas.microsoft.com/office/drawing/2014/main" id="{EB8240C7-15D9-4850-89CE-5E70B3D8B77B}"/>
              </a:ext>
            </a:extLst>
          </p:cNvPr>
          <p:cNvSpPr>
            <a:spLocks noGrp="1"/>
          </p:cNvSpPr>
          <p:nvPr/>
        </p:nvSpPr>
        <p:spPr>
          <a:xfrm>
            <a:off x="6880579" y="3352800"/>
            <a:ext cx="2077664" cy="447675"/>
          </a:xfrm>
          <a:prstGeom prst="rect">
            <a:avLst/>
          </a:prstGeom>
          <a:solidFill>
            <a:srgbClr val="4C91D8"/>
          </a:solidFill>
          <a:ln w="0">
            <a:noFill/>
          </a:ln>
        </p:spPr>
        <p:txBody>
          <a:bodyPr/>
          <a:lstStyle/>
          <a:p>
            <a:endParaRPr lang="en-US"/>
          </a:p>
        </p:txBody>
      </p:sp>
      <p:sp>
        <p:nvSpPr>
          <p:cNvPr id="560" name="30%">
            <a:extLst>
              <a:ext uri="{FF2B5EF4-FFF2-40B4-BE49-F238E27FC236}">
                <a16:creationId xmlns:a16="http://schemas.microsoft.com/office/drawing/2014/main" id="{29B81990-F961-49EB-8FCC-693E440F2F42}"/>
              </a:ext>
            </a:extLst>
          </p:cNvPr>
          <p:cNvSpPr>
            <a:spLocks noGrp="1"/>
          </p:cNvSpPr>
          <p:nvPr/>
        </p:nvSpPr>
        <p:spPr>
          <a:xfrm>
            <a:off x="6918679" y="3457575"/>
            <a:ext cx="202051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30%</a:t>
            </a:r>
          </a:p>
        </p:txBody>
      </p:sp>
      <p:sp>
        <p:nvSpPr>
          <p:cNvPr id="561" name="Rectangle 560">
            <a:extLst>
              <a:ext uri="{FF2B5EF4-FFF2-40B4-BE49-F238E27FC236}">
                <a16:creationId xmlns:a16="http://schemas.microsoft.com/office/drawing/2014/main" id="{CCC73F04-DC4C-4339-900E-073548342F63}"/>
              </a:ext>
            </a:extLst>
          </p:cNvPr>
          <p:cNvSpPr>
            <a:spLocks noGrp="1"/>
          </p:cNvSpPr>
          <p:nvPr/>
        </p:nvSpPr>
        <p:spPr>
          <a:xfrm>
            <a:off x="8958244" y="3352800"/>
            <a:ext cx="1662131" cy="447675"/>
          </a:xfrm>
          <a:prstGeom prst="rect">
            <a:avLst/>
          </a:prstGeom>
          <a:solidFill>
            <a:srgbClr val="285B9F"/>
          </a:solidFill>
          <a:ln w="0">
            <a:noFill/>
          </a:ln>
        </p:spPr>
        <p:txBody>
          <a:bodyPr/>
          <a:lstStyle/>
          <a:p>
            <a:endParaRPr lang="en-US"/>
          </a:p>
        </p:txBody>
      </p:sp>
      <p:sp>
        <p:nvSpPr>
          <p:cNvPr id="562" name="24%">
            <a:extLst>
              <a:ext uri="{FF2B5EF4-FFF2-40B4-BE49-F238E27FC236}">
                <a16:creationId xmlns:a16="http://schemas.microsoft.com/office/drawing/2014/main" id="{00524BD5-60CE-4C5F-BC10-DD220CFAB322}"/>
              </a:ext>
            </a:extLst>
          </p:cNvPr>
          <p:cNvSpPr>
            <a:spLocks noGrp="1"/>
          </p:cNvSpPr>
          <p:nvPr/>
        </p:nvSpPr>
        <p:spPr>
          <a:xfrm>
            <a:off x="8996344" y="3457575"/>
            <a:ext cx="160498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63" name="n=251">
            <a:extLst>
              <a:ext uri="{FF2B5EF4-FFF2-40B4-BE49-F238E27FC236}">
                <a16:creationId xmlns:a16="http://schemas.microsoft.com/office/drawing/2014/main" id="{0CECC818-499B-449F-ABF8-F8F6550B918C}"/>
              </a:ext>
            </a:extLst>
          </p:cNvPr>
          <p:cNvSpPr>
            <a:spLocks noGrp="1"/>
          </p:cNvSpPr>
          <p:nvPr/>
        </p:nvSpPr>
        <p:spPr>
          <a:xfrm>
            <a:off x="10782300" y="34480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n=251</a:t>
            </a:r>
          </a:p>
        </p:txBody>
      </p:sp>
      <p:sp>
        <p:nvSpPr>
          <p:cNvPr id="564" name="11-15 hrs">
            <a:extLst>
              <a:ext uri="{FF2B5EF4-FFF2-40B4-BE49-F238E27FC236}">
                <a16:creationId xmlns:a16="http://schemas.microsoft.com/office/drawing/2014/main" id="{56656A85-AB22-4768-92FB-0F83A58A4B52}"/>
              </a:ext>
            </a:extLst>
          </p:cNvPr>
          <p:cNvSpPr>
            <a:spLocks noGrp="1"/>
          </p:cNvSpPr>
          <p:nvPr/>
        </p:nvSpPr>
        <p:spPr>
          <a:xfrm>
            <a:off x="400050" y="41148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11-15 hrs</a:t>
            </a:r>
          </a:p>
        </p:txBody>
      </p:sp>
      <p:sp>
        <p:nvSpPr>
          <p:cNvPr id="565" name="Rectangle 564">
            <a:extLst>
              <a:ext uri="{FF2B5EF4-FFF2-40B4-BE49-F238E27FC236}">
                <a16:creationId xmlns:a16="http://schemas.microsoft.com/office/drawing/2014/main" id="{42E4A8BB-0FA4-409E-9728-FF592BB73463}"/>
              </a:ext>
            </a:extLst>
          </p:cNvPr>
          <p:cNvSpPr>
            <a:spLocks noGrp="1"/>
          </p:cNvSpPr>
          <p:nvPr/>
        </p:nvSpPr>
        <p:spPr>
          <a:xfrm>
            <a:off x="3667125" y="4076700"/>
            <a:ext cx="1277895" cy="447675"/>
          </a:xfrm>
          <a:prstGeom prst="rect">
            <a:avLst/>
          </a:prstGeom>
          <a:solidFill>
            <a:srgbClr val="A83A3A"/>
          </a:solidFill>
          <a:ln w="0">
            <a:noFill/>
          </a:ln>
        </p:spPr>
        <p:txBody>
          <a:bodyPr/>
          <a:lstStyle/>
          <a:p>
            <a:endParaRPr lang="en-US"/>
          </a:p>
        </p:txBody>
      </p:sp>
      <p:sp>
        <p:nvSpPr>
          <p:cNvPr id="566" name="18%">
            <a:extLst>
              <a:ext uri="{FF2B5EF4-FFF2-40B4-BE49-F238E27FC236}">
                <a16:creationId xmlns:a16="http://schemas.microsoft.com/office/drawing/2014/main" id="{C36043BA-31A3-4AD5-8E4F-BD8E83F0C4F5}"/>
              </a:ext>
            </a:extLst>
          </p:cNvPr>
          <p:cNvSpPr>
            <a:spLocks noGrp="1"/>
          </p:cNvSpPr>
          <p:nvPr/>
        </p:nvSpPr>
        <p:spPr>
          <a:xfrm>
            <a:off x="3705225" y="4181475"/>
            <a:ext cx="122074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67" name="Rectangle 566">
            <a:extLst>
              <a:ext uri="{FF2B5EF4-FFF2-40B4-BE49-F238E27FC236}">
                <a16:creationId xmlns:a16="http://schemas.microsoft.com/office/drawing/2014/main" id="{A07D8E76-D99A-4E8E-8664-DC58FD97EB50}"/>
              </a:ext>
            </a:extLst>
          </p:cNvPr>
          <p:cNvSpPr>
            <a:spLocks noGrp="1"/>
          </p:cNvSpPr>
          <p:nvPr/>
        </p:nvSpPr>
        <p:spPr>
          <a:xfrm>
            <a:off x="4945020" y="4076700"/>
            <a:ext cx="2179938" cy="447675"/>
          </a:xfrm>
          <a:prstGeom prst="rect">
            <a:avLst/>
          </a:prstGeom>
          <a:solidFill>
            <a:srgbClr val="DC713D"/>
          </a:solidFill>
          <a:ln w="0">
            <a:noFill/>
          </a:ln>
        </p:spPr>
        <p:txBody>
          <a:bodyPr/>
          <a:lstStyle/>
          <a:p>
            <a:endParaRPr lang="en-US"/>
          </a:p>
        </p:txBody>
      </p:sp>
      <p:sp>
        <p:nvSpPr>
          <p:cNvPr id="568" name="31%">
            <a:extLst>
              <a:ext uri="{FF2B5EF4-FFF2-40B4-BE49-F238E27FC236}">
                <a16:creationId xmlns:a16="http://schemas.microsoft.com/office/drawing/2014/main" id="{F4ADD8D5-4CF4-4B25-8ABB-550F01BEF16D}"/>
              </a:ext>
            </a:extLst>
          </p:cNvPr>
          <p:cNvSpPr>
            <a:spLocks noGrp="1"/>
          </p:cNvSpPr>
          <p:nvPr/>
        </p:nvSpPr>
        <p:spPr>
          <a:xfrm>
            <a:off x="4983120" y="4181475"/>
            <a:ext cx="212278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31%</a:t>
            </a:r>
          </a:p>
        </p:txBody>
      </p:sp>
      <p:sp>
        <p:nvSpPr>
          <p:cNvPr id="569" name="Rectangle 568">
            <a:extLst>
              <a:ext uri="{FF2B5EF4-FFF2-40B4-BE49-F238E27FC236}">
                <a16:creationId xmlns:a16="http://schemas.microsoft.com/office/drawing/2014/main" id="{20CEC772-ED85-42E8-B357-F7944AB37A33}"/>
              </a:ext>
            </a:extLst>
          </p:cNvPr>
          <p:cNvSpPr>
            <a:spLocks noGrp="1"/>
          </p:cNvSpPr>
          <p:nvPr/>
        </p:nvSpPr>
        <p:spPr>
          <a:xfrm>
            <a:off x="7124957" y="4076700"/>
            <a:ext cx="1653746" cy="447675"/>
          </a:xfrm>
          <a:prstGeom prst="rect">
            <a:avLst/>
          </a:prstGeom>
          <a:solidFill>
            <a:srgbClr val="4C91D8"/>
          </a:solidFill>
          <a:ln w="0">
            <a:noFill/>
          </a:ln>
        </p:spPr>
        <p:txBody>
          <a:bodyPr/>
          <a:lstStyle/>
          <a:p>
            <a:endParaRPr lang="en-US"/>
          </a:p>
        </p:txBody>
      </p:sp>
      <p:sp>
        <p:nvSpPr>
          <p:cNvPr id="570" name="24%">
            <a:extLst>
              <a:ext uri="{FF2B5EF4-FFF2-40B4-BE49-F238E27FC236}">
                <a16:creationId xmlns:a16="http://schemas.microsoft.com/office/drawing/2014/main" id="{D43F9CC3-EBDC-4D6B-87D8-D0F6A903063D}"/>
              </a:ext>
            </a:extLst>
          </p:cNvPr>
          <p:cNvSpPr>
            <a:spLocks noGrp="1"/>
          </p:cNvSpPr>
          <p:nvPr/>
        </p:nvSpPr>
        <p:spPr>
          <a:xfrm>
            <a:off x="7163057" y="4181475"/>
            <a:ext cx="159659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71" name="Rectangle 570">
            <a:extLst>
              <a:ext uri="{FF2B5EF4-FFF2-40B4-BE49-F238E27FC236}">
                <a16:creationId xmlns:a16="http://schemas.microsoft.com/office/drawing/2014/main" id="{F7FCF0AA-C2A2-45E3-8964-4177B237004D}"/>
              </a:ext>
            </a:extLst>
          </p:cNvPr>
          <p:cNvSpPr>
            <a:spLocks noGrp="1"/>
          </p:cNvSpPr>
          <p:nvPr/>
        </p:nvSpPr>
        <p:spPr>
          <a:xfrm>
            <a:off x="8778703" y="4076700"/>
            <a:ext cx="1841672" cy="447675"/>
          </a:xfrm>
          <a:prstGeom prst="rect">
            <a:avLst/>
          </a:prstGeom>
          <a:solidFill>
            <a:srgbClr val="285B9F"/>
          </a:solidFill>
          <a:ln w="0">
            <a:noFill/>
          </a:ln>
        </p:spPr>
        <p:txBody>
          <a:bodyPr/>
          <a:lstStyle/>
          <a:p>
            <a:endParaRPr lang="en-US"/>
          </a:p>
        </p:txBody>
      </p:sp>
      <p:sp>
        <p:nvSpPr>
          <p:cNvPr id="572" name="26%">
            <a:extLst>
              <a:ext uri="{FF2B5EF4-FFF2-40B4-BE49-F238E27FC236}">
                <a16:creationId xmlns:a16="http://schemas.microsoft.com/office/drawing/2014/main" id="{C7E82EC8-05A1-485A-BF99-6A85701429F6}"/>
              </a:ext>
            </a:extLst>
          </p:cNvPr>
          <p:cNvSpPr>
            <a:spLocks noGrp="1"/>
          </p:cNvSpPr>
          <p:nvPr/>
        </p:nvSpPr>
        <p:spPr>
          <a:xfrm>
            <a:off x="8816803" y="4181475"/>
            <a:ext cx="178452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73" name="n=185">
            <a:extLst>
              <a:ext uri="{FF2B5EF4-FFF2-40B4-BE49-F238E27FC236}">
                <a16:creationId xmlns:a16="http://schemas.microsoft.com/office/drawing/2014/main" id="{D98DC9E8-FE24-4CEF-A3DA-C7C9BAEC2088}"/>
              </a:ext>
            </a:extLst>
          </p:cNvPr>
          <p:cNvSpPr>
            <a:spLocks noGrp="1"/>
          </p:cNvSpPr>
          <p:nvPr/>
        </p:nvSpPr>
        <p:spPr>
          <a:xfrm>
            <a:off x="10782300" y="41719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n=185</a:t>
            </a:r>
          </a:p>
        </p:txBody>
      </p:sp>
      <p:sp>
        <p:nvSpPr>
          <p:cNvPr id="574" name="More than 15 hrs">
            <a:extLst>
              <a:ext uri="{FF2B5EF4-FFF2-40B4-BE49-F238E27FC236}">
                <a16:creationId xmlns:a16="http://schemas.microsoft.com/office/drawing/2014/main" id="{C7D50BD3-902C-4904-A403-5A7FD467DA4E}"/>
              </a:ext>
            </a:extLst>
          </p:cNvPr>
          <p:cNvSpPr>
            <a:spLocks noGrp="1"/>
          </p:cNvSpPr>
          <p:nvPr/>
        </p:nvSpPr>
        <p:spPr>
          <a:xfrm>
            <a:off x="400050" y="48387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More than 15 hrs</a:t>
            </a:r>
          </a:p>
        </p:txBody>
      </p:sp>
      <p:sp>
        <p:nvSpPr>
          <p:cNvPr id="575" name="Rectangle 574">
            <a:extLst>
              <a:ext uri="{FF2B5EF4-FFF2-40B4-BE49-F238E27FC236}">
                <a16:creationId xmlns:a16="http://schemas.microsoft.com/office/drawing/2014/main" id="{7383586B-3BE6-4360-A770-B700347FCB79}"/>
              </a:ext>
            </a:extLst>
          </p:cNvPr>
          <p:cNvSpPr>
            <a:spLocks noGrp="1"/>
          </p:cNvSpPr>
          <p:nvPr/>
        </p:nvSpPr>
        <p:spPr>
          <a:xfrm>
            <a:off x="3667125" y="4800600"/>
            <a:ext cx="1470880" cy="447675"/>
          </a:xfrm>
          <a:prstGeom prst="rect">
            <a:avLst/>
          </a:prstGeom>
          <a:solidFill>
            <a:srgbClr val="A83A3A"/>
          </a:solidFill>
          <a:ln w="0">
            <a:noFill/>
          </a:ln>
        </p:spPr>
        <p:txBody>
          <a:bodyPr/>
          <a:lstStyle/>
          <a:p>
            <a:endParaRPr lang="en-US"/>
          </a:p>
        </p:txBody>
      </p:sp>
      <p:sp>
        <p:nvSpPr>
          <p:cNvPr id="576" name="21%">
            <a:extLst>
              <a:ext uri="{FF2B5EF4-FFF2-40B4-BE49-F238E27FC236}">
                <a16:creationId xmlns:a16="http://schemas.microsoft.com/office/drawing/2014/main" id="{903FBD5A-BD65-4844-A549-D10A303799D7}"/>
              </a:ext>
            </a:extLst>
          </p:cNvPr>
          <p:cNvSpPr>
            <a:spLocks noGrp="1"/>
          </p:cNvSpPr>
          <p:nvPr/>
        </p:nvSpPr>
        <p:spPr>
          <a:xfrm>
            <a:off x="3705225" y="4905375"/>
            <a:ext cx="141373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21%</a:t>
            </a:r>
          </a:p>
        </p:txBody>
      </p:sp>
      <p:sp>
        <p:nvSpPr>
          <p:cNvPr id="577" name="Rectangle 576">
            <a:extLst>
              <a:ext uri="{FF2B5EF4-FFF2-40B4-BE49-F238E27FC236}">
                <a16:creationId xmlns:a16="http://schemas.microsoft.com/office/drawing/2014/main" id="{DA5AF128-524E-4342-A77A-0E462F17ED9A}"/>
              </a:ext>
            </a:extLst>
          </p:cNvPr>
          <p:cNvSpPr>
            <a:spLocks noGrp="1"/>
          </p:cNvSpPr>
          <p:nvPr/>
        </p:nvSpPr>
        <p:spPr>
          <a:xfrm>
            <a:off x="5138005" y="4800600"/>
            <a:ext cx="1827457" cy="447675"/>
          </a:xfrm>
          <a:prstGeom prst="rect">
            <a:avLst/>
          </a:prstGeom>
          <a:solidFill>
            <a:srgbClr val="DC713D"/>
          </a:solidFill>
          <a:ln w="0">
            <a:noFill/>
          </a:ln>
        </p:spPr>
        <p:txBody>
          <a:bodyPr/>
          <a:lstStyle/>
          <a:p>
            <a:endParaRPr lang="en-US"/>
          </a:p>
        </p:txBody>
      </p:sp>
      <p:sp>
        <p:nvSpPr>
          <p:cNvPr id="578" name="26%">
            <a:extLst>
              <a:ext uri="{FF2B5EF4-FFF2-40B4-BE49-F238E27FC236}">
                <a16:creationId xmlns:a16="http://schemas.microsoft.com/office/drawing/2014/main" id="{02115BFF-614B-4CAB-92EA-87CF00EA4946}"/>
              </a:ext>
            </a:extLst>
          </p:cNvPr>
          <p:cNvSpPr>
            <a:spLocks noGrp="1"/>
          </p:cNvSpPr>
          <p:nvPr/>
        </p:nvSpPr>
        <p:spPr>
          <a:xfrm>
            <a:off x="5176105" y="4905375"/>
            <a:ext cx="177030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79" name="Rectangle 578">
            <a:extLst>
              <a:ext uri="{FF2B5EF4-FFF2-40B4-BE49-F238E27FC236}">
                <a16:creationId xmlns:a16="http://schemas.microsoft.com/office/drawing/2014/main" id="{49602A28-92A3-4853-9BF4-76EAE0D6ACC1}"/>
              </a:ext>
            </a:extLst>
          </p:cNvPr>
          <p:cNvSpPr>
            <a:spLocks noGrp="1"/>
          </p:cNvSpPr>
          <p:nvPr/>
        </p:nvSpPr>
        <p:spPr>
          <a:xfrm>
            <a:off x="6965462" y="4800600"/>
            <a:ext cx="1782885" cy="447675"/>
          </a:xfrm>
          <a:prstGeom prst="rect">
            <a:avLst/>
          </a:prstGeom>
          <a:solidFill>
            <a:srgbClr val="4C91D8"/>
          </a:solidFill>
          <a:ln w="0">
            <a:noFill/>
          </a:ln>
        </p:spPr>
        <p:txBody>
          <a:bodyPr/>
          <a:lstStyle/>
          <a:p>
            <a:endParaRPr lang="en-US"/>
          </a:p>
        </p:txBody>
      </p:sp>
      <p:sp>
        <p:nvSpPr>
          <p:cNvPr id="580" name="26%">
            <a:extLst>
              <a:ext uri="{FF2B5EF4-FFF2-40B4-BE49-F238E27FC236}">
                <a16:creationId xmlns:a16="http://schemas.microsoft.com/office/drawing/2014/main" id="{A1205194-473D-43F5-9456-BE4D0E30C2B5}"/>
              </a:ext>
            </a:extLst>
          </p:cNvPr>
          <p:cNvSpPr>
            <a:spLocks noGrp="1"/>
          </p:cNvSpPr>
          <p:nvPr/>
        </p:nvSpPr>
        <p:spPr>
          <a:xfrm>
            <a:off x="7003562" y="4905375"/>
            <a:ext cx="172573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81" name="Rectangle 580">
            <a:extLst>
              <a:ext uri="{FF2B5EF4-FFF2-40B4-BE49-F238E27FC236}">
                <a16:creationId xmlns:a16="http://schemas.microsoft.com/office/drawing/2014/main" id="{24537B98-ABC4-4F7C-A74E-AB91F77420C3}"/>
              </a:ext>
            </a:extLst>
          </p:cNvPr>
          <p:cNvSpPr>
            <a:spLocks noGrp="1"/>
          </p:cNvSpPr>
          <p:nvPr/>
        </p:nvSpPr>
        <p:spPr>
          <a:xfrm>
            <a:off x="8748346" y="4800600"/>
            <a:ext cx="1872029" cy="447675"/>
          </a:xfrm>
          <a:prstGeom prst="rect">
            <a:avLst/>
          </a:prstGeom>
          <a:solidFill>
            <a:srgbClr val="285B9F"/>
          </a:solidFill>
          <a:ln w="0">
            <a:noFill/>
          </a:ln>
        </p:spPr>
        <p:txBody>
          <a:bodyPr/>
          <a:lstStyle/>
          <a:p>
            <a:endParaRPr lang="en-US"/>
          </a:p>
        </p:txBody>
      </p:sp>
      <p:sp>
        <p:nvSpPr>
          <p:cNvPr id="582" name="27%">
            <a:extLst>
              <a:ext uri="{FF2B5EF4-FFF2-40B4-BE49-F238E27FC236}">
                <a16:creationId xmlns:a16="http://schemas.microsoft.com/office/drawing/2014/main" id="{49D09081-BEC5-4E8F-A4F7-06810AE30DA0}"/>
              </a:ext>
            </a:extLst>
          </p:cNvPr>
          <p:cNvSpPr>
            <a:spLocks noGrp="1"/>
          </p:cNvSpPr>
          <p:nvPr/>
        </p:nvSpPr>
        <p:spPr>
          <a:xfrm>
            <a:off x="8786446" y="4905375"/>
            <a:ext cx="1814879"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83" name="n=156">
            <a:extLst>
              <a:ext uri="{FF2B5EF4-FFF2-40B4-BE49-F238E27FC236}">
                <a16:creationId xmlns:a16="http://schemas.microsoft.com/office/drawing/2014/main" id="{6EFC19D9-E0A7-433C-AD1B-10E0EE861BB4}"/>
              </a:ext>
            </a:extLst>
          </p:cNvPr>
          <p:cNvSpPr>
            <a:spLocks noGrp="1"/>
          </p:cNvSpPr>
          <p:nvPr/>
        </p:nvSpPr>
        <p:spPr>
          <a:xfrm>
            <a:off x="10782300" y="48958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n=156</a:t>
            </a:r>
          </a:p>
        </p:txBody>
      </p:sp>
      <p:sp>
        <p:nvSpPr>
          <p:cNvPr id="584" name="Rectangle 583">
            <a:extLst>
              <a:ext uri="{FF2B5EF4-FFF2-40B4-BE49-F238E27FC236}">
                <a16:creationId xmlns:a16="http://schemas.microsoft.com/office/drawing/2014/main" id="{8A570E08-7050-447E-9D07-4E00BF3120D7}"/>
              </a:ext>
            </a:extLst>
          </p:cNvPr>
          <p:cNvSpPr>
            <a:spLocks noGrp="1"/>
          </p:cNvSpPr>
          <p:nvPr/>
        </p:nvSpPr>
        <p:spPr>
          <a:xfrm>
            <a:off x="3667125" y="1409700"/>
            <a:ext cx="190500" cy="190500"/>
          </a:xfrm>
          <a:prstGeom prst="rect">
            <a:avLst/>
          </a:prstGeom>
          <a:solidFill>
            <a:srgbClr val="A83A3A"/>
          </a:solidFill>
          <a:ln w="0">
            <a:noFill/>
          </a:ln>
        </p:spPr>
        <p:txBody>
          <a:bodyPr/>
          <a:lstStyle/>
          <a:p>
            <a:endParaRPr lang="en-US"/>
          </a:p>
        </p:txBody>
      </p:sp>
      <p:sp>
        <p:nvSpPr>
          <p:cNvPr id="585" name="C0  &lt; 3.20">
            <a:extLst>
              <a:ext uri="{FF2B5EF4-FFF2-40B4-BE49-F238E27FC236}">
                <a16:creationId xmlns:a16="http://schemas.microsoft.com/office/drawing/2014/main" id="{09738630-722E-4A07-83DA-6F1945EE29E3}"/>
              </a:ext>
            </a:extLst>
          </p:cNvPr>
          <p:cNvSpPr>
            <a:spLocks noGrp="1"/>
          </p:cNvSpPr>
          <p:nvPr/>
        </p:nvSpPr>
        <p:spPr>
          <a:xfrm>
            <a:off x="39433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C0  &lt; 3.20</a:t>
            </a:r>
          </a:p>
        </p:txBody>
      </p:sp>
      <p:sp>
        <p:nvSpPr>
          <p:cNvPr id="586" name="Rectangle 585">
            <a:extLst>
              <a:ext uri="{FF2B5EF4-FFF2-40B4-BE49-F238E27FC236}">
                <a16:creationId xmlns:a16="http://schemas.microsoft.com/office/drawing/2014/main" id="{5082B37C-6266-4982-A8AB-3A8D9488DC99}"/>
              </a:ext>
            </a:extLst>
          </p:cNvPr>
          <p:cNvSpPr>
            <a:spLocks noGrp="1"/>
          </p:cNvSpPr>
          <p:nvPr/>
        </p:nvSpPr>
        <p:spPr>
          <a:xfrm>
            <a:off x="5476875" y="1409700"/>
            <a:ext cx="190500" cy="190500"/>
          </a:xfrm>
          <a:prstGeom prst="rect">
            <a:avLst/>
          </a:prstGeom>
          <a:solidFill>
            <a:srgbClr val="DC713D"/>
          </a:solidFill>
          <a:ln w="0">
            <a:noFill/>
          </a:ln>
        </p:spPr>
        <p:txBody>
          <a:bodyPr/>
          <a:lstStyle/>
          <a:p>
            <a:endParaRPr lang="en-US"/>
          </a:p>
        </p:txBody>
      </p:sp>
      <p:sp>
        <p:nvSpPr>
          <p:cNvPr id="587" name="C1  3.20–3.49">
            <a:extLst>
              <a:ext uri="{FF2B5EF4-FFF2-40B4-BE49-F238E27FC236}">
                <a16:creationId xmlns:a16="http://schemas.microsoft.com/office/drawing/2014/main" id="{D2668A20-CC25-4A0B-827B-3A5347FBE1D1}"/>
              </a:ext>
            </a:extLst>
          </p:cNvPr>
          <p:cNvSpPr>
            <a:spLocks noGrp="1"/>
          </p:cNvSpPr>
          <p:nvPr/>
        </p:nvSpPr>
        <p:spPr>
          <a:xfrm>
            <a:off x="57531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C1  3.20–3.49</a:t>
            </a:r>
          </a:p>
        </p:txBody>
      </p:sp>
      <p:sp>
        <p:nvSpPr>
          <p:cNvPr id="588" name="Rectangle 587">
            <a:extLst>
              <a:ext uri="{FF2B5EF4-FFF2-40B4-BE49-F238E27FC236}">
                <a16:creationId xmlns:a16="http://schemas.microsoft.com/office/drawing/2014/main" id="{748C4BD5-DE4C-44E2-BFAD-AB5C6D689AE0}"/>
              </a:ext>
            </a:extLst>
          </p:cNvPr>
          <p:cNvSpPr>
            <a:spLocks noGrp="1"/>
          </p:cNvSpPr>
          <p:nvPr/>
        </p:nvSpPr>
        <p:spPr>
          <a:xfrm>
            <a:off x="7286625" y="1409700"/>
            <a:ext cx="190500" cy="190500"/>
          </a:xfrm>
          <a:prstGeom prst="rect">
            <a:avLst/>
          </a:prstGeom>
          <a:solidFill>
            <a:srgbClr val="4C91D8"/>
          </a:solidFill>
          <a:ln w="0">
            <a:noFill/>
          </a:ln>
        </p:spPr>
        <p:txBody>
          <a:bodyPr/>
          <a:lstStyle/>
          <a:p>
            <a:endParaRPr lang="en-US"/>
          </a:p>
        </p:txBody>
      </p:sp>
      <p:sp>
        <p:nvSpPr>
          <p:cNvPr id="589" name="C2  3.50–3.74">
            <a:extLst>
              <a:ext uri="{FF2B5EF4-FFF2-40B4-BE49-F238E27FC236}">
                <a16:creationId xmlns:a16="http://schemas.microsoft.com/office/drawing/2014/main" id="{BACB4EF2-F521-4C1B-89D7-FA3FE0D0106B}"/>
              </a:ext>
            </a:extLst>
          </p:cNvPr>
          <p:cNvSpPr>
            <a:spLocks noGrp="1"/>
          </p:cNvSpPr>
          <p:nvPr/>
        </p:nvSpPr>
        <p:spPr>
          <a:xfrm>
            <a:off x="75628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C2  3.50–3.74</a:t>
            </a:r>
          </a:p>
        </p:txBody>
      </p:sp>
      <p:sp>
        <p:nvSpPr>
          <p:cNvPr id="590" name="Rectangle 589">
            <a:extLst>
              <a:ext uri="{FF2B5EF4-FFF2-40B4-BE49-F238E27FC236}">
                <a16:creationId xmlns:a16="http://schemas.microsoft.com/office/drawing/2014/main" id="{D40D1489-0AB1-470E-9891-8BEB7DE6D3AE}"/>
              </a:ext>
            </a:extLst>
          </p:cNvPr>
          <p:cNvSpPr>
            <a:spLocks noGrp="1"/>
          </p:cNvSpPr>
          <p:nvPr/>
        </p:nvSpPr>
        <p:spPr>
          <a:xfrm>
            <a:off x="9096375" y="1409700"/>
            <a:ext cx="190500" cy="190500"/>
          </a:xfrm>
          <a:prstGeom prst="rect">
            <a:avLst/>
          </a:prstGeom>
          <a:solidFill>
            <a:srgbClr val="285B9F"/>
          </a:solidFill>
          <a:ln w="0">
            <a:noFill/>
          </a:ln>
        </p:spPr>
        <p:txBody>
          <a:bodyPr/>
          <a:lstStyle/>
          <a:p>
            <a:endParaRPr lang="en-US"/>
          </a:p>
        </p:txBody>
      </p:sp>
      <p:sp>
        <p:nvSpPr>
          <p:cNvPr id="591" name="C3  ≥ 3.75">
            <a:extLst>
              <a:ext uri="{FF2B5EF4-FFF2-40B4-BE49-F238E27FC236}">
                <a16:creationId xmlns:a16="http://schemas.microsoft.com/office/drawing/2014/main" id="{5DB3B506-DD0D-4DB7-87E0-E357AEC894AD}"/>
              </a:ext>
            </a:extLst>
          </p:cNvPr>
          <p:cNvSpPr>
            <a:spLocks noGrp="1"/>
          </p:cNvSpPr>
          <p:nvPr/>
        </p:nvSpPr>
        <p:spPr>
          <a:xfrm>
            <a:off x="93726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C3  ≥ 3.75</a:t>
            </a:r>
          </a:p>
        </p:txBody>
      </p:sp>
      <p:cxnSp>
        <p:nvCxnSpPr>
          <p:cNvPr id="2" name="Straight Arrow Connector 1">
            <a:extLst>
              <a:ext uri="{FF2B5EF4-FFF2-40B4-BE49-F238E27FC236}">
                <a16:creationId xmlns:a16="http://schemas.microsoft.com/office/drawing/2014/main" id="{ADFA3D6B-541E-E5FF-6DF3-3FBECEC836FC}"/>
              </a:ext>
            </a:extLst>
          </p:cNvPr>
          <p:cNvCxnSpPr>
            <a:cxnSpLocks/>
          </p:cNvCxnSpPr>
          <p:nvPr/>
        </p:nvCxnSpPr>
        <p:spPr>
          <a:xfrm>
            <a:off x="204107" y="5763986"/>
            <a:ext cx="105781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08F1EA31-2E89-84CD-BF93-FC6F2912B28C}"/>
              </a:ext>
            </a:extLst>
          </p:cNvPr>
          <p:cNvCxnSpPr>
            <a:cxnSpLocks/>
          </p:cNvCxnSpPr>
          <p:nvPr/>
        </p:nvCxnSpPr>
        <p:spPr>
          <a:xfrm flipV="1">
            <a:off x="356507" y="971550"/>
            <a:ext cx="0" cy="4944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D42AA4D3-B08C-BC38-73F0-925900DE4E80}"/>
              </a:ext>
            </a:extLst>
          </p:cNvPr>
          <p:cNvSpPr txBox="1"/>
          <p:nvPr/>
        </p:nvSpPr>
        <p:spPr>
          <a:xfrm>
            <a:off x="5532723" y="5787509"/>
            <a:ext cx="821572" cy="369332"/>
          </a:xfrm>
          <a:prstGeom prst="rect">
            <a:avLst/>
          </a:prstGeom>
          <a:noFill/>
        </p:spPr>
        <p:txBody>
          <a:bodyPr wrap="none" rtlCol="0">
            <a:spAutoFit/>
          </a:bodyPr>
          <a:lstStyle/>
          <a:p>
            <a:r>
              <a:rPr lang="en-US" dirty="0"/>
              <a:t>CGPA</a:t>
            </a:r>
          </a:p>
        </p:txBody>
      </p:sp>
      <p:sp>
        <p:nvSpPr>
          <p:cNvPr id="5" name="TextBox 4">
            <a:extLst>
              <a:ext uri="{FF2B5EF4-FFF2-40B4-BE49-F238E27FC236}">
                <a16:creationId xmlns:a16="http://schemas.microsoft.com/office/drawing/2014/main" id="{DD7C0EC1-480D-98E6-80DD-A0E71978286E}"/>
              </a:ext>
            </a:extLst>
          </p:cNvPr>
          <p:cNvSpPr txBox="1"/>
          <p:nvPr/>
        </p:nvSpPr>
        <p:spPr>
          <a:xfrm rot="16200000">
            <a:off x="-468604" y="2715997"/>
            <a:ext cx="1351652" cy="369332"/>
          </a:xfrm>
          <a:prstGeom prst="rect">
            <a:avLst/>
          </a:prstGeom>
          <a:noFill/>
        </p:spPr>
        <p:txBody>
          <a:bodyPr wrap="none" rtlCol="0">
            <a:spAutoFit/>
          </a:bodyPr>
          <a:lstStyle/>
          <a:p>
            <a:r>
              <a:rPr lang="en-US" dirty="0"/>
              <a:t>Study Time</a:t>
            </a:r>
          </a:p>
        </p:txBody>
      </p:sp>
    </p:spTree>
    <p:extLst>
      <p:ext uri="{BB962C8B-B14F-4D97-AF65-F5344CB8AC3E}">
        <p14:creationId xmlns:p14="http://schemas.microsoft.com/office/powerpoint/2010/main" val="28978926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18</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Study style and CGPA</a:t>
            </a:r>
          </a:p>
        </p:txBody>
      </p:sp>
      <p:sp>
        <p:nvSpPr>
          <p:cNvPr id="534" name="Occasionally when necessary">
            <a:extLst>
              <a:ext uri="{FF2B5EF4-FFF2-40B4-BE49-F238E27FC236}">
                <a16:creationId xmlns:a16="http://schemas.microsoft.com/office/drawing/2014/main" id="{54D3D74A-FE82-4D75-A882-3997F3EAAC82}"/>
              </a:ext>
            </a:extLst>
          </p:cNvPr>
          <p:cNvSpPr>
            <a:spLocks noGrp="1"/>
          </p:cNvSpPr>
          <p:nvPr/>
        </p:nvSpPr>
        <p:spPr>
          <a:xfrm>
            <a:off x="400050" y="19431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Occasionally when necessary</a:t>
            </a:r>
          </a:p>
        </p:txBody>
      </p:sp>
      <p:sp>
        <p:nvSpPr>
          <p:cNvPr id="535" name="Rectangle 534">
            <a:extLst>
              <a:ext uri="{FF2B5EF4-FFF2-40B4-BE49-F238E27FC236}">
                <a16:creationId xmlns:a16="http://schemas.microsoft.com/office/drawing/2014/main" id="{6A873BA4-D3DB-4757-988C-8DF037435643}"/>
              </a:ext>
            </a:extLst>
          </p:cNvPr>
          <p:cNvSpPr>
            <a:spLocks noGrp="1"/>
          </p:cNvSpPr>
          <p:nvPr/>
        </p:nvSpPr>
        <p:spPr>
          <a:xfrm>
            <a:off x="3667125" y="1905000"/>
            <a:ext cx="1406275" cy="447675"/>
          </a:xfrm>
          <a:prstGeom prst="rect">
            <a:avLst/>
          </a:prstGeom>
          <a:solidFill>
            <a:srgbClr val="A83A3A"/>
          </a:solidFill>
          <a:ln w="0">
            <a:noFill/>
          </a:ln>
        </p:spPr>
        <p:txBody>
          <a:bodyPr/>
          <a:lstStyle/>
          <a:p>
            <a:endParaRPr lang="en-US"/>
          </a:p>
        </p:txBody>
      </p:sp>
      <p:sp>
        <p:nvSpPr>
          <p:cNvPr id="536" name="20%">
            <a:extLst>
              <a:ext uri="{FF2B5EF4-FFF2-40B4-BE49-F238E27FC236}">
                <a16:creationId xmlns:a16="http://schemas.microsoft.com/office/drawing/2014/main" id="{95F5E801-6034-42E1-AEF0-DE45F6D122A0}"/>
              </a:ext>
            </a:extLst>
          </p:cNvPr>
          <p:cNvSpPr>
            <a:spLocks noGrp="1"/>
          </p:cNvSpPr>
          <p:nvPr/>
        </p:nvSpPr>
        <p:spPr>
          <a:xfrm>
            <a:off x="3705225" y="2009775"/>
            <a:ext cx="134912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37" name="Rectangle 536">
            <a:extLst>
              <a:ext uri="{FF2B5EF4-FFF2-40B4-BE49-F238E27FC236}">
                <a16:creationId xmlns:a16="http://schemas.microsoft.com/office/drawing/2014/main" id="{D16EA419-C318-4A4F-9DBF-316CEC290588}"/>
              </a:ext>
            </a:extLst>
          </p:cNvPr>
          <p:cNvSpPr>
            <a:spLocks noGrp="1"/>
          </p:cNvSpPr>
          <p:nvPr/>
        </p:nvSpPr>
        <p:spPr>
          <a:xfrm>
            <a:off x="5073400" y="1905000"/>
            <a:ext cx="1640654" cy="447675"/>
          </a:xfrm>
          <a:prstGeom prst="rect">
            <a:avLst/>
          </a:prstGeom>
          <a:solidFill>
            <a:srgbClr val="DC713D"/>
          </a:solidFill>
          <a:ln w="0">
            <a:noFill/>
          </a:ln>
        </p:spPr>
        <p:txBody>
          <a:bodyPr/>
          <a:lstStyle/>
          <a:p>
            <a:endParaRPr lang="en-US"/>
          </a:p>
        </p:txBody>
      </p:sp>
      <p:sp>
        <p:nvSpPr>
          <p:cNvPr id="538" name="24%">
            <a:extLst>
              <a:ext uri="{FF2B5EF4-FFF2-40B4-BE49-F238E27FC236}">
                <a16:creationId xmlns:a16="http://schemas.microsoft.com/office/drawing/2014/main" id="{10519A91-2437-454B-AC1E-5A2A413F9A62}"/>
              </a:ext>
            </a:extLst>
          </p:cNvPr>
          <p:cNvSpPr>
            <a:spLocks noGrp="1"/>
          </p:cNvSpPr>
          <p:nvPr/>
        </p:nvSpPr>
        <p:spPr>
          <a:xfrm>
            <a:off x="5111500" y="2009775"/>
            <a:ext cx="158350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39" name="Rectangle 538">
            <a:extLst>
              <a:ext uri="{FF2B5EF4-FFF2-40B4-BE49-F238E27FC236}">
                <a16:creationId xmlns:a16="http://schemas.microsoft.com/office/drawing/2014/main" id="{4B234988-F963-4665-B8AA-85AB081DEDFE}"/>
              </a:ext>
            </a:extLst>
          </p:cNvPr>
          <p:cNvSpPr>
            <a:spLocks noGrp="1"/>
          </p:cNvSpPr>
          <p:nvPr/>
        </p:nvSpPr>
        <p:spPr>
          <a:xfrm>
            <a:off x="6714055" y="1905000"/>
            <a:ext cx="2109413" cy="447675"/>
          </a:xfrm>
          <a:prstGeom prst="rect">
            <a:avLst/>
          </a:prstGeom>
          <a:solidFill>
            <a:srgbClr val="4C91D8"/>
          </a:solidFill>
          <a:ln w="0">
            <a:noFill/>
          </a:ln>
        </p:spPr>
        <p:txBody>
          <a:bodyPr/>
          <a:lstStyle/>
          <a:p>
            <a:endParaRPr lang="en-US"/>
          </a:p>
        </p:txBody>
      </p:sp>
      <p:sp>
        <p:nvSpPr>
          <p:cNvPr id="540" name="30%">
            <a:extLst>
              <a:ext uri="{FF2B5EF4-FFF2-40B4-BE49-F238E27FC236}">
                <a16:creationId xmlns:a16="http://schemas.microsoft.com/office/drawing/2014/main" id="{97519FA0-CA60-44CB-9CCB-E9838F73AA31}"/>
              </a:ext>
            </a:extLst>
          </p:cNvPr>
          <p:cNvSpPr>
            <a:spLocks noGrp="1"/>
          </p:cNvSpPr>
          <p:nvPr/>
        </p:nvSpPr>
        <p:spPr>
          <a:xfrm>
            <a:off x="6752155" y="2009775"/>
            <a:ext cx="205226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30%</a:t>
            </a:r>
          </a:p>
        </p:txBody>
      </p:sp>
      <p:sp>
        <p:nvSpPr>
          <p:cNvPr id="541" name="Rectangle 540">
            <a:extLst>
              <a:ext uri="{FF2B5EF4-FFF2-40B4-BE49-F238E27FC236}">
                <a16:creationId xmlns:a16="http://schemas.microsoft.com/office/drawing/2014/main" id="{372B23EF-7FB6-4A9A-A044-B1557B95F850}"/>
              </a:ext>
            </a:extLst>
          </p:cNvPr>
          <p:cNvSpPr>
            <a:spLocks noGrp="1"/>
          </p:cNvSpPr>
          <p:nvPr/>
        </p:nvSpPr>
        <p:spPr>
          <a:xfrm>
            <a:off x="8823468" y="1905000"/>
            <a:ext cx="1796907" cy="447675"/>
          </a:xfrm>
          <a:prstGeom prst="rect">
            <a:avLst/>
          </a:prstGeom>
          <a:solidFill>
            <a:srgbClr val="285B9F"/>
          </a:solidFill>
          <a:ln w="0">
            <a:noFill/>
          </a:ln>
        </p:spPr>
        <p:txBody>
          <a:bodyPr/>
          <a:lstStyle/>
          <a:p>
            <a:endParaRPr lang="en-US"/>
          </a:p>
        </p:txBody>
      </p:sp>
      <p:sp>
        <p:nvSpPr>
          <p:cNvPr id="542" name="26%">
            <a:extLst>
              <a:ext uri="{FF2B5EF4-FFF2-40B4-BE49-F238E27FC236}">
                <a16:creationId xmlns:a16="http://schemas.microsoft.com/office/drawing/2014/main" id="{B7EBD41E-8C09-4AF3-8E65-E3FFC7E4F473}"/>
              </a:ext>
            </a:extLst>
          </p:cNvPr>
          <p:cNvSpPr>
            <a:spLocks noGrp="1"/>
          </p:cNvSpPr>
          <p:nvPr/>
        </p:nvSpPr>
        <p:spPr>
          <a:xfrm>
            <a:off x="8861568" y="2009775"/>
            <a:ext cx="173975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43" name="n=267">
            <a:extLst>
              <a:ext uri="{FF2B5EF4-FFF2-40B4-BE49-F238E27FC236}">
                <a16:creationId xmlns:a16="http://schemas.microsoft.com/office/drawing/2014/main" id="{AC4877B9-9121-4520-AED8-EDDA772694CB}"/>
              </a:ext>
            </a:extLst>
          </p:cNvPr>
          <p:cNvSpPr>
            <a:spLocks noGrp="1"/>
          </p:cNvSpPr>
          <p:nvPr/>
        </p:nvSpPr>
        <p:spPr>
          <a:xfrm>
            <a:off x="10782300" y="20002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n=267</a:t>
            </a:r>
          </a:p>
        </p:txBody>
      </p:sp>
      <p:sp>
        <p:nvSpPr>
          <p:cNvPr id="544" name="Mostly just before exams">
            <a:extLst>
              <a:ext uri="{FF2B5EF4-FFF2-40B4-BE49-F238E27FC236}">
                <a16:creationId xmlns:a16="http://schemas.microsoft.com/office/drawing/2014/main" id="{A5D29BD6-9532-4800-A5E5-52D895720111}"/>
              </a:ext>
            </a:extLst>
          </p:cNvPr>
          <p:cNvSpPr>
            <a:spLocks noGrp="1"/>
          </p:cNvSpPr>
          <p:nvPr/>
        </p:nvSpPr>
        <p:spPr>
          <a:xfrm>
            <a:off x="400050" y="26670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Mostly just before exams</a:t>
            </a:r>
          </a:p>
        </p:txBody>
      </p:sp>
      <p:sp>
        <p:nvSpPr>
          <p:cNvPr id="545" name="Rectangle 544">
            <a:extLst>
              <a:ext uri="{FF2B5EF4-FFF2-40B4-BE49-F238E27FC236}">
                <a16:creationId xmlns:a16="http://schemas.microsoft.com/office/drawing/2014/main" id="{BC1F8AA0-2143-4F06-8B80-BF144CD0A7E0}"/>
              </a:ext>
            </a:extLst>
          </p:cNvPr>
          <p:cNvSpPr>
            <a:spLocks noGrp="1"/>
          </p:cNvSpPr>
          <p:nvPr/>
        </p:nvSpPr>
        <p:spPr>
          <a:xfrm>
            <a:off x="3667125" y="2628900"/>
            <a:ext cx="1667840" cy="447675"/>
          </a:xfrm>
          <a:prstGeom prst="rect">
            <a:avLst/>
          </a:prstGeom>
          <a:solidFill>
            <a:srgbClr val="A83A3A"/>
          </a:solidFill>
          <a:ln w="0">
            <a:noFill/>
          </a:ln>
        </p:spPr>
        <p:txBody>
          <a:bodyPr/>
          <a:lstStyle/>
          <a:p>
            <a:endParaRPr lang="en-US"/>
          </a:p>
        </p:txBody>
      </p:sp>
      <p:sp>
        <p:nvSpPr>
          <p:cNvPr id="546" name="24%">
            <a:extLst>
              <a:ext uri="{FF2B5EF4-FFF2-40B4-BE49-F238E27FC236}">
                <a16:creationId xmlns:a16="http://schemas.microsoft.com/office/drawing/2014/main" id="{16D2FF0D-871C-4762-8C9E-CA2073A63D69}"/>
              </a:ext>
            </a:extLst>
          </p:cNvPr>
          <p:cNvSpPr>
            <a:spLocks noGrp="1"/>
          </p:cNvSpPr>
          <p:nvPr/>
        </p:nvSpPr>
        <p:spPr>
          <a:xfrm>
            <a:off x="3705225" y="2733675"/>
            <a:ext cx="161069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47" name="Rectangle 546">
            <a:extLst>
              <a:ext uri="{FF2B5EF4-FFF2-40B4-BE49-F238E27FC236}">
                <a16:creationId xmlns:a16="http://schemas.microsoft.com/office/drawing/2014/main" id="{CFBAE124-F6F5-423E-AA03-FEA3B6B68785}"/>
              </a:ext>
            </a:extLst>
          </p:cNvPr>
          <p:cNvSpPr>
            <a:spLocks noGrp="1"/>
          </p:cNvSpPr>
          <p:nvPr/>
        </p:nvSpPr>
        <p:spPr>
          <a:xfrm>
            <a:off x="5334965" y="2628900"/>
            <a:ext cx="2231617" cy="447675"/>
          </a:xfrm>
          <a:prstGeom prst="rect">
            <a:avLst/>
          </a:prstGeom>
          <a:solidFill>
            <a:srgbClr val="DC713D"/>
          </a:solidFill>
          <a:ln w="0">
            <a:noFill/>
          </a:ln>
        </p:spPr>
        <p:txBody>
          <a:bodyPr/>
          <a:lstStyle/>
          <a:p>
            <a:endParaRPr lang="en-US"/>
          </a:p>
        </p:txBody>
      </p:sp>
      <p:sp>
        <p:nvSpPr>
          <p:cNvPr id="548" name="32%">
            <a:extLst>
              <a:ext uri="{FF2B5EF4-FFF2-40B4-BE49-F238E27FC236}">
                <a16:creationId xmlns:a16="http://schemas.microsoft.com/office/drawing/2014/main" id="{55DDB69B-5C81-4B20-BC6B-88CDC294F5C4}"/>
              </a:ext>
            </a:extLst>
          </p:cNvPr>
          <p:cNvSpPr>
            <a:spLocks noGrp="1"/>
          </p:cNvSpPr>
          <p:nvPr/>
        </p:nvSpPr>
        <p:spPr>
          <a:xfrm>
            <a:off x="5373065" y="2733675"/>
            <a:ext cx="217446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32%</a:t>
            </a:r>
          </a:p>
        </p:txBody>
      </p:sp>
      <p:sp>
        <p:nvSpPr>
          <p:cNvPr id="549" name="Rectangle 548">
            <a:extLst>
              <a:ext uri="{FF2B5EF4-FFF2-40B4-BE49-F238E27FC236}">
                <a16:creationId xmlns:a16="http://schemas.microsoft.com/office/drawing/2014/main" id="{D74DCB4C-A399-4AB8-ADE7-A255A181CEFB}"/>
              </a:ext>
            </a:extLst>
          </p:cNvPr>
          <p:cNvSpPr>
            <a:spLocks noGrp="1"/>
          </p:cNvSpPr>
          <p:nvPr/>
        </p:nvSpPr>
        <p:spPr>
          <a:xfrm>
            <a:off x="7566583" y="2628900"/>
            <a:ext cx="1785294" cy="447675"/>
          </a:xfrm>
          <a:prstGeom prst="rect">
            <a:avLst/>
          </a:prstGeom>
          <a:solidFill>
            <a:srgbClr val="4C91D8"/>
          </a:solidFill>
          <a:ln w="0">
            <a:noFill/>
          </a:ln>
        </p:spPr>
        <p:txBody>
          <a:bodyPr/>
          <a:lstStyle/>
          <a:p>
            <a:endParaRPr lang="en-US"/>
          </a:p>
        </p:txBody>
      </p:sp>
      <p:sp>
        <p:nvSpPr>
          <p:cNvPr id="550" name="26%">
            <a:extLst>
              <a:ext uri="{FF2B5EF4-FFF2-40B4-BE49-F238E27FC236}">
                <a16:creationId xmlns:a16="http://schemas.microsoft.com/office/drawing/2014/main" id="{0D0B3765-7D4D-47EA-A65E-8455D5B6408B}"/>
              </a:ext>
            </a:extLst>
          </p:cNvPr>
          <p:cNvSpPr>
            <a:spLocks noGrp="1"/>
          </p:cNvSpPr>
          <p:nvPr/>
        </p:nvSpPr>
        <p:spPr>
          <a:xfrm>
            <a:off x="7604683" y="2733675"/>
            <a:ext cx="172814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51" name="Rectangle 550">
            <a:extLst>
              <a:ext uri="{FF2B5EF4-FFF2-40B4-BE49-F238E27FC236}">
                <a16:creationId xmlns:a16="http://schemas.microsoft.com/office/drawing/2014/main" id="{72B00EEE-9BDE-4860-9EBB-B1165F8BFF0E}"/>
              </a:ext>
            </a:extLst>
          </p:cNvPr>
          <p:cNvSpPr>
            <a:spLocks noGrp="1"/>
          </p:cNvSpPr>
          <p:nvPr/>
        </p:nvSpPr>
        <p:spPr>
          <a:xfrm>
            <a:off x="9351877" y="2628900"/>
            <a:ext cx="1268498" cy="447675"/>
          </a:xfrm>
          <a:prstGeom prst="rect">
            <a:avLst/>
          </a:prstGeom>
          <a:solidFill>
            <a:srgbClr val="285B9F"/>
          </a:solidFill>
          <a:ln w="0">
            <a:noFill/>
          </a:ln>
        </p:spPr>
        <p:txBody>
          <a:bodyPr/>
          <a:lstStyle/>
          <a:p>
            <a:endParaRPr lang="en-US"/>
          </a:p>
        </p:txBody>
      </p:sp>
      <p:sp>
        <p:nvSpPr>
          <p:cNvPr id="552" name="18%">
            <a:extLst>
              <a:ext uri="{FF2B5EF4-FFF2-40B4-BE49-F238E27FC236}">
                <a16:creationId xmlns:a16="http://schemas.microsoft.com/office/drawing/2014/main" id="{7B116D11-3A6F-4370-AA5D-7BCECC845CF9}"/>
              </a:ext>
            </a:extLst>
          </p:cNvPr>
          <p:cNvSpPr>
            <a:spLocks noGrp="1"/>
          </p:cNvSpPr>
          <p:nvPr/>
        </p:nvSpPr>
        <p:spPr>
          <a:xfrm>
            <a:off x="9389977" y="2733675"/>
            <a:ext cx="121134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53" name="n=296">
            <a:extLst>
              <a:ext uri="{FF2B5EF4-FFF2-40B4-BE49-F238E27FC236}">
                <a16:creationId xmlns:a16="http://schemas.microsoft.com/office/drawing/2014/main" id="{2B8A6883-EE4D-4356-98B1-9D86EABA866E}"/>
              </a:ext>
            </a:extLst>
          </p:cNvPr>
          <p:cNvSpPr>
            <a:spLocks noGrp="1"/>
          </p:cNvSpPr>
          <p:nvPr/>
        </p:nvSpPr>
        <p:spPr>
          <a:xfrm>
            <a:off x="10782300" y="27241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n=296</a:t>
            </a:r>
          </a:p>
        </p:txBody>
      </p:sp>
      <p:sp>
        <p:nvSpPr>
          <p:cNvPr id="554" name="Regularly but not every day">
            <a:extLst>
              <a:ext uri="{FF2B5EF4-FFF2-40B4-BE49-F238E27FC236}">
                <a16:creationId xmlns:a16="http://schemas.microsoft.com/office/drawing/2014/main" id="{A2B5D3B8-F809-481A-BE65-D8144C60811C}"/>
              </a:ext>
            </a:extLst>
          </p:cNvPr>
          <p:cNvSpPr>
            <a:spLocks noGrp="1"/>
          </p:cNvSpPr>
          <p:nvPr/>
        </p:nvSpPr>
        <p:spPr>
          <a:xfrm>
            <a:off x="400050" y="33909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Regularly but not every day</a:t>
            </a:r>
          </a:p>
        </p:txBody>
      </p:sp>
      <p:sp>
        <p:nvSpPr>
          <p:cNvPr id="555" name="Rectangle 554">
            <a:extLst>
              <a:ext uri="{FF2B5EF4-FFF2-40B4-BE49-F238E27FC236}">
                <a16:creationId xmlns:a16="http://schemas.microsoft.com/office/drawing/2014/main" id="{DDC39C02-DF5D-49AD-B474-CE82027A0985}"/>
              </a:ext>
            </a:extLst>
          </p:cNvPr>
          <p:cNvSpPr>
            <a:spLocks noGrp="1"/>
          </p:cNvSpPr>
          <p:nvPr/>
        </p:nvSpPr>
        <p:spPr>
          <a:xfrm>
            <a:off x="3667125" y="3352800"/>
            <a:ext cx="1271606" cy="447675"/>
          </a:xfrm>
          <a:prstGeom prst="rect">
            <a:avLst/>
          </a:prstGeom>
          <a:solidFill>
            <a:srgbClr val="A83A3A"/>
          </a:solidFill>
          <a:ln w="0">
            <a:noFill/>
          </a:ln>
        </p:spPr>
        <p:txBody>
          <a:bodyPr/>
          <a:lstStyle/>
          <a:p>
            <a:endParaRPr lang="en-US"/>
          </a:p>
        </p:txBody>
      </p:sp>
      <p:sp>
        <p:nvSpPr>
          <p:cNvPr id="556" name="18%">
            <a:extLst>
              <a:ext uri="{FF2B5EF4-FFF2-40B4-BE49-F238E27FC236}">
                <a16:creationId xmlns:a16="http://schemas.microsoft.com/office/drawing/2014/main" id="{159A3473-B2BA-4D7C-9375-4D4D4ED8A0B0}"/>
              </a:ext>
            </a:extLst>
          </p:cNvPr>
          <p:cNvSpPr>
            <a:spLocks noGrp="1"/>
          </p:cNvSpPr>
          <p:nvPr/>
        </p:nvSpPr>
        <p:spPr>
          <a:xfrm>
            <a:off x="3705225" y="3457575"/>
            <a:ext cx="121445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57" name="Rectangle 556">
            <a:extLst>
              <a:ext uri="{FF2B5EF4-FFF2-40B4-BE49-F238E27FC236}">
                <a16:creationId xmlns:a16="http://schemas.microsoft.com/office/drawing/2014/main" id="{8AD9CB36-48B3-46BF-A102-7E2DAD0C429F}"/>
              </a:ext>
            </a:extLst>
          </p:cNvPr>
          <p:cNvSpPr>
            <a:spLocks noGrp="1"/>
          </p:cNvSpPr>
          <p:nvPr/>
        </p:nvSpPr>
        <p:spPr>
          <a:xfrm>
            <a:off x="4938731" y="3352800"/>
            <a:ext cx="2407935" cy="447675"/>
          </a:xfrm>
          <a:prstGeom prst="rect">
            <a:avLst/>
          </a:prstGeom>
          <a:solidFill>
            <a:srgbClr val="DC713D"/>
          </a:solidFill>
          <a:ln w="0">
            <a:noFill/>
          </a:ln>
        </p:spPr>
        <p:txBody>
          <a:bodyPr/>
          <a:lstStyle/>
          <a:p>
            <a:endParaRPr lang="en-US"/>
          </a:p>
        </p:txBody>
      </p:sp>
      <p:sp>
        <p:nvSpPr>
          <p:cNvPr id="558" name="35%">
            <a:extLst>
              <a:ext uri="{FF2B5EF4-FFF2-40B4-BE49-F238E27FC236}">
                <a16:creationId xmlns:a16="http://schemas.microsoft.com/office/drawing/2014/main" id="{242DDA1B-7E75-44FC-BEF4-19AF5C2718E0}"/>
              </a:ext>
            </a:extLst>
          </p:cNvPr>
          <p:cNvSpPr>
            <a:spLocks noGrp="1"/>
          </p:cNvSpPr>
          <p:nvPr/>
        </p:nvSpPr>
        <p:spPr>
          <a:xfrm>
            <a:off x="4976831" y="3457575"/>
            <a:ext cx="235078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35%</a:t>
            </a:r>
          </a:p>
        </p:txBody>
      </p:sp>
      <p:sp>
        <p:nvSpPr>
          <p:cNvPr id="559" name="Rectangle 558">
            <a:extLst>
              <a:ext uri="{FF2B5EF4-FFF2-40B4-BE49-F238E27FC236}">
                <a16:creationId xmlns:a16="http://schemas.microsoft.com/office/drawing/2014/main" id="{DF581EDB-6F0E-4675-8F40-CBD85803D6D0}"/>
              </a:ext>
            </a:extLst>
          </p:cNvPr>
          <p:cNvSpPr>
            <a:spLocks noGrp="1"/>
          </p:cNvSpPr>
          <p:nvPr/>
        </p:nvSpPr>
        <p:spPr>
          <a:xfrm>
            <a:off x="7346666" y="3352800"/>
            <a:ext cx="1920937" cy="447675"/>
          </a:xfrm>
          <a:prstGeom prst="rect">
            <a:avLst/>
          </a:prstGeom>
          <a:solidFill>
            <a:srgbClr val="4C91D8"/>
          </a:solidFill>
          <a:ln w="0">
            <a:noFill/>
          </a:ln>
        </p:spPr>
        <p:txBody>
          <a:bodyPr/>
          <a:lstStyle/>
          <a:p>
            <a:endParaRPr lang="en-US"/>
          </a:p>
        </p:txBody>
      </p:sp>
      <p:sp>
        <p:nvSpPr>
          <p:cNvPr id="560" name="28%">
            <a:extLst>
              <a:ext uri="{FF2B5EF4-FFF2-40B4-BE49-F238E27FC236}">
                <a16:creationId xmlns:a16="http://schemas.microsoft.com/office/drawing/2014/main" id="{A5FA72EB-65B3-4C9F-867F-16A015C26F8B}"/>
              </a:ext>
            </a:extLst>
          </p:cNvPr>
          <p:cNvSpPr>
            <a:spLocks noGrp="1"/>
          </p:cNvSpPr>
          <p:nvPr/>
        </p:nvSpPr>
        <p:spPr>
          <a:xfrm>
            <a:off x="7384766" y="3457575"/>
            <a:ext cx="186378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61" name="Rectangle 560">
            <a:extLst>
              <a:ext uri="{FF2B5EF4-FFF2-40B4-BE49-F238E27FC236}">
                <a16:creationId xmlns:a16="http://schemas.microsoft.com/office/drawing/2014/main" id="{4B88A009-A024-45F7-87B5-4EF3D2F477E1}"/>
              </a:ext>
            </a:extLst>
          </p:cNvPr>
          <p:cNvSpPr>
            <a:spLocks noGrp="1"/>
          </p:cNvSpPr>
          <p:nvPr/>
        </p:nvSpPr>
        <p:spPr>
          <a:xfrm>
            <a:off x="9267603" y="3352800"/>
            <a:ext cx="1352772" cy="447675"/>
          </a:xfrm>
          <a:prstGeom prst="rect">
            <a:avLst/>
          </a:prstGeom>
          <a:solidFill>
            <a:srgbClr val="285B9F"/>
          </a:solidFill>
          <a:ln w="0">
            <a:noFill/>
          </a:ln>
        </p:spPr>
        <p:txBody>
          <a:bodyPr/>
          <a:lstStyle/>
          <a:p>
            <a:endParaRPr lang="en-US"/>
          </a:p>
        </p:txBody>
      </p:sp>
      <p:sp>
        <p:nvSpPr>
          <p:cNvPr id="562" name="19%">
            <a:extLst>
              <a:ext uri="{FF2B5EF4-FFF2-40B4-BE49-F238E27FC236}">
                <a16:creationId xmlns:a16="http://schemas.microsoft.com/office/drawing/2014/main" id="{6F5FC641-51B4-46F5-8772-042E9938B3CF}"/>
              </a:ext>
            </a:extLst>
          </p:cNvPr>
          <p:cNvSpPr>
            <a:spLocks noGrp="1"/>
          </p:cNvSpPr>
          <p:nvPr/>
        </p:nvSpPr>
        <p:spPr>
          <a:xfrm>
            <a:off x="9305703" y="3457575"/>
            <a:ext cx="129562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19%</a:t>
            </a:r>
          </a:p>
        </p:txBody>
      </p:sp>
      <p:sp>
        <p:nvSpPr>
          <p:cNvPr id="563" name="n=257">
            <a:extLst>
              <a:ext uri="{FF2B5EF4-FFF2-40B4-BE49-F238E27FC236}">
                <a16:creationId xmlns:a16="http://schemas.microsoft.com/office/drawing/2014/main" id="{8F5CC149-FB9D-4FE7-AE5C-B08CB4EAF174}"/>
              </a:ext>
            </a:extLst>
          </p:cNvPr>
          <p:cNvSpPr>
            <a:spLocks noGrp="1"/>
          </p:cNvSpPr>
          <p:nvPr/>
        </p:nvSpPr>
        <p:spPr>
          <a:xfrm>
            <a:off x="10782300" y="34480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n=257</a:t>
            </a:r>
          </a:p>
        </p:txBody>
      </p:sp>
      <p:sp>
        <p:nvSpPr>
          <p:cNvPr id="564" name="Mostly consistent routine">
            <a:extLst>
              <a:ext uri="{FF2B5EF4-FFF2-40B4-BE49-F238E27FC236}">
                <a16:creationId xmlns:a16="http://schemas.microsoft.com/office/drawing/2014/main" id="{D252252E-42F5-4F3B-90ED-D2FB26CA04DB}"/>
              </a:ext>
            </a:extLst>
          </p:cNvPr>
          <p:cNvSpPr>
            <a:spLocks noGrp="1"/>
          </p:cNvSpPr>
          <p:nvPr/>
        </p:nvSpPr>
        <p:spPr>
          <a:xfrm>
            <a:off x="400050" y="41148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Mostly consistent routine</a:t>
            </a:r>
          </a:p>
        </p:txBody>
      </p:sp>
      <p:sp>
        <p:nvSpPr>
          <p:cNvPr id="565" name="Rectangle 564">
            <a:extLst>
              <a:ext uri="{FF2B5EF4-FFF2-40B4-BE49-F238E27FC236}">
                <a16:creationId xmlns:a16="http://schemas.microsoft.com/office/drawing/2014/main" id="{5FAF3D3E-EA52-4E85-B6FF-2F2B23479C43}"/>
              </a:ext>
            </a:extLst>
          </p:cNvPr>
          <p:cNvSpPr>
            <a:spLocks noGrp="1"/>
          </p:cNvSpPr>
          <p:nvPr/>
        </p:nvSpPr>
        <p:spPr>
          <a:xfrm>
            <a:off x="3667125" y="4076700"/>
            <a:ext cx="1682952" cy="447675"/>
          </a:xfrm>
          <a:prstGeom prst="rect">
            <a:avLst/>
          </a:prstGeom>
          <a:solidFill>
            <a:srgbClr val="A83A3A"/>
          </a:solidFill>
          <a:ln w="0">
            <a:noFill/>
          </a:ln>
        </p:spPr>
        <p:txBody>
          <a:bodyPr/>
          <a:lstStyle/>
          <a:p>
            <a:endParaRPr lang="en-US"/>
          </a:p>
        </p:txBody>
      </p:sp>
      <p:sp>
        <p:nvSpPr>
          <p:cNvPr id="566" name="24%">
            <a:extLst>
              <a:ext uri="{FF2B5EF4-FFF2-40B4-BE49-F238E27FC236}">
                <a16:creationId xmlns:a16="http://schemas.microsoft.com/office/drawing/2014/main" id="{7D2A7AD0-CB91-49C4-96A9-0655C8FEF8FA}"/>
              </a:ext>
            </a:extLst>
          </p:cNvPr>
          <p:cNvSpPr>
            <a:spLocks noGrp="1"/>
          </p:cNvSpPr>
          <p:nvPr/>
        </p:nvSpPr>
        <p:spPr>
          <a:xfrm>
            <a:off x="3705225" y="4181475"/>
            <a:ext cx="162580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67" name="Rectangle 566">
            <a:extLst>
              <a:ext uri="{FF2B5EF4-FFF2-40B4-BE49-F238E27FC236}">
                <a16:creationId xmlns:a16="http://schemas.microsoft.com/office/drawing/2014/main" id="{D09CDF4A-CB50-4159-A0F7-48ABF044380B}"/>
              </a:ext>
            </a:extLst>
          </p:cNvPr>
          <p:cNvSpPr>
            <a:spLocks noGrp="1"/>
          </p:cNvSpPr>
          <p:nvPr/>
        </p:nvSpPr>
        <p:spPr>
          <a:xfrm>
            <a:off x="5350077" y="4076700"/>
            <a:ext cx="1860105" cy="447675"/>
          </a:xfrm>
          <a:prstGeom prst="rect">
            <a:avLst/>
          </a:prstGeom>
          <a:solidFill>
            <a:srgbClr val="DC713D"/>
          </a:solidFill>
          <a:ln w="0">
            <a:noFill/>
          </a:ln>
        </p:spPr>
        <p:txBody>
          <a:bodyPr/>
          <a:lstStyle/>
          <a:p>
            <a:endParaRPr lang="en-US"/>
          </a:p>
        </p:txBody>
      </p:sp>
      <p:sp>
        <p:nvSpPr>
          <p:cNvPr id="568" name="27%">
            <a:extLst>
              <a:ext uri="{FF2B5EF4-FFF2-40B4-BE49-F238E27FC236}">
                <a16:creationId xmlns:a16="http://schemas.microsoft.com/office/drawing/2014/main" id="{428292C7-887B-44DE-B51D-E9E47E37EFE1}"/>
              </a:ext>
            </a:extLst>
          </p:cNvPr>
          <p:cNvSpPr>
            <a:spLocks noGrp="1"/>
          </p:cNvSpPr>
          <p:nvPr/>
        </p:nvSpPr>
        <p:spPr>
          <a:xfrm>
            <a:off x="5388177" y="4181475"/>
            <a:ext cx="180295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69" name="Rectangle 568">
            <a:extLst>
              <a:ext uri="{FF2B5EF4-FFF2-40B4-BE49-F238E27FC236}">
                <a16:creationId xmlns:a16="http://schemas.microsoft.com/office/drawing/2014/main" id="{F970D7F4-FEE8-4474-B8A2-6F875684459A}"/>
              </a:ext>
            </a:extLst>
          </p:cNvPr>
          <p:cNvSpPr>
            <a:spLocks noGrp="1"/>
          </p:cNvSpPr>
          <p:nvPr/>
        </p:nvSpPr>
        <p:spPr>
          <a:xfrm>
            <a:off x="7210182" y="4076700"/>
            <a:ext cx="1727240" cy="447675"/>
          </a:xfrm>
          <a:prstGeom prst="rect">
            <a:avLst/>
          </a:prstGeom>
          <a:solidFill>
            <a:srgbClr val="4C91D8"/>
          </a:solidFill>
          <a:ln w="0">
            <a:noFill/>
          </a:ln>
        </p:spPr>
        <p:txBody>
          <a:bodyPr/>
          <a:lstStyle/>
          <a:p>
            <a:endParaRPr lang="en-US"/>
          </a:p>
        </p:txBody>
      </p:sp>
      <p:sp>
        <p:nvSpPr>
          <p:cNvPr id="570" name="25%">
            <a:extLst>
              <a:ext uri="{FF2B5EF4-FFF2-40B4-BE49-F238E27FC236}">
                <a16:creationId xmlns:a16="http://schemas.microsoft.com/office/drawing/2014/main" id="{A094B96C-C21D-4F9D-979B-C17BF1C87196}"/>
              </a:ext>
            </a:extLst>
          </p:cNvPr>
          <p:cNvSpPr>
            <a:spLocks noGrp="1"/>
          </p:cNvSpPr>
          <p:nvPr/>
        </p:nvSpPr>
        <p:spPr>
          <a:xfrm>
            <a:off x="7248282" y="4181475"/>
            <a:ext cx="167009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71" name="Rectangle 570">
            <a:extLst>
              <a:ext uri="{FF2B5EF4-FFF2-40B4-BE49-F238E27FC236}">
                <a16:creationId xmlns:a16="http://schemas.microsoft.com/office/drawing/2014/main" id="{902AB6B9-6D31-4019-B1D0-E7F8C249A26A}"/>
              </a:ext>
            </a:extLst>
          </p:cNvPr>
          <p:cNvSpPr>
            <a:spLocks noGrp="1"/>
          </p:cNvSpPr>
          <p:nvPr/>
        </p:nvSpPr>
        <p:spPr>
          <a:xfrm>
            <a:off x="8937423" y="4076700"/>
            <a:ext cx="1682952" cy="447675"/>
          </a:xfrm>
          <a:prstGeom prst="rect">
            <a:avLst/>
          </a:prstGeom>
          <a:solidFill>
            <a:srgbClr val="285B9F"/>
          </a:solidFill>
          <a:ln w="0">
            <a:noFill/>
          </a:ln>
        </p:spPr>
        <p:txBody>
          <a:bodyPr/>
          <a:lstStyle/>
          <a:p>
            <a:endParaRPr lang="en-US"/>
          </a:p>
        </p:txBody>
      </p:sp>
      <p:sp>
        <p:nvSpPr>
          <p:cNvPr id="572" name="24%">
            <a:extLst>
              <a:ext uri="{FF2B5EF4-FFF2-40B4-BE49-F238E27FC236}">
                <a16:creationId xmlns:a16="http://schemas.microsoft.com/office/drawing/2014/main" id="{A69C0D18-8924-4571-B774-04B2E8746B90}"/>
              </a:ext>
            </a:extLst>
          </p:cNvPr>
          <p:cNvSpPr>
            <a:spLocks noGrp="1"/>
          </p:cNvSpPr>
          <p:nvPr/>
        </p:nvSpPr>
        <p:spPr>
          <a:xfrm>
            <a:off x="8975523" y="4181475"/>
            <a:ext cx="162580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73" name="n=157">
            <a:extLst>
              <a:ext uri="{FF2B5EF4-FFF2-40B4-BE49-F238E27FC236}">
                <a16:creationId xmlns:a16="http://schemas.microsoft.com/office/drawing/2014/main" id="{949B9123-25D8-4794-942B-788BAE8B48AD}"/>
              </a:ext>
            </a:extLst>
          </p:cNvPr>
          <p:cNvSpPr>
            <a:spLocks noGrp="1"/>
          </p:cNvSpPr>
          <p:nvPr/>
        </p:nvSpPr>
        <p:spPr>
          <a:xfrm>
            <a:off x="10782300" y="41719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n=157</a:t>
            </a:r>
          </a:p>
        </p:txBody>
      </p:sp>
      <p:sp>
        <p:nvSpPr>
          <p:cNvPr id="574" name="Consistent throughout the semester">
            <a:extLst>
              <a:ext uri="{FF2B5EF4-FFF2-40B4-BE49-F238E27FC236}">
                <a16:creationId xmlns:a16="http://schemas.microsoft.com/office/drawing/2014/main" id="{5C96F9EF-FB20-4F21-BF5F-FF681CB5BDAA}"/>
              </a:ext>
            </a:extLst>
          </p:cNvPr>
          <p:cNvSpPr>
            <a:spLocks noGrp="1"/>
          </p:cNvSpPr>
          <p:nvPr/>
        </p:nvSpPr>
        <p:spPr>
          <a:xfrm>
            <a:off x="400050" y="48387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Consistent throughout the semester</a:t>
            </a:r>
          </a:p>
        </p:txBody>
      </p:sp>
      <p:sp>
        <p:nvSpPr>
          <p:cNvPr id="575" name="Rectangle 574">
            <a:extLst>
              <a:ext uri="{FF2B5EF4-FFF2-40B4-BE49-F238E27FC236}">
                <a16:creationId xmlns:a16="http://schemas.microsoft.com/office/drawing/2014/main" id="{A234D04A-9FEE-418F-BF8E-A7112DC84A1D}"/>
              </a:ext>
            </a:extLst>
          </p:cNvPr>
          <p:cNvSpPr>
            <a:spLocks noGrp="1"/>
          </p:cNvSpPr>
          <p:nvPr/>
        </p:nvSpPr>
        <p:spPr>
          <a:xfrm>
            <a:off x="3667125" y="4800600"/>
            <a:ext cx="1380034" cy="447675"/>
          </a:xfrm>
          <a:prstGeom prst="rect">
            <a:avLst/>
          </a:prstGeom>
          <a:solidFill>
            <a:srgbClr val="A83A3A"/>
          </a:solidFill>
          <a:ln w="0">
            <a:noFill/>
          </a:ln>
        </p:spPr>
        <p:txBody>
          <a:bodyPr/>
          <a:lstStyle/>
          <a:p>
            <a:endParaRPr lang="en-US"/>
          </a:p>
        </p:txBody>
      </p:sp>
      <p:sp>
        <p:nvSpPr>
          <p:cNvPr id="576" name="20%">
            <a:extLst>
              <a:ext uri="{FF2B5EF4-FFF2-40B4-BE49-F238E27FC236}">
                <a16:creationId xmlns:a16="http://schemas.microsoft.com/office/drawing/2014/main" id="{8BC4011F-F4AB-4BE0-A349-1822C4C18AF4}"/>
              </a:ext>
            </a:extLst>
          </p:cNvPr>
          <p:cNvSpPr>
            <a:spLocks noGrp="1"/>
          </p:cNvSpPr>
          <p:nvPr/>
        </p:nvSpPr>
        <p:spPr>
          <a:xfrm>
            <a:off x="3705225" y="4905375"/>
            <a:ext cx="132288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77" name="Rectangle 576">
            <a:extLst>
              <a:ext uri="{FF2B5EF4-FFF2-40B4-BE49-F238E27FC236}">
                <a16:creationId xmlns:a16="http://schemas.microsoft.com/office/drawing/2014/main" id="{1F4A64E7-CCAB-4B87-B7DE-30E1EF5A4024}"/>
              </a:ext>
            </a:extLst>
          </p:cNvPr>
          <p:cNvSpPr>
            <a:spLocks noGrp="1"/>
          </p:cNvSpPr>
          <p:nvPr/>
        </p:nvSpPr>
        <p:spPr>
          <a:xfrm>
            <a:off x="5047159" y="4800600"/>
            <a:ext cx="1698504" cy="447675"/>
          </a:xfrm>
          <a:prstGeom prst="rect">
            <a:avLst/>
          </a:prstGeom>
          <a:solidFill>
            <a:srgbClr val="DC713D"/>
          </a:solidFill>
          <a:ln w="0">
            <a:noFill/>
          </a:ln>
        </p:spPr>
        <p:txBody>
          <a:bodyPr/>
          <a:lstStyle/>
          <a:p>
            <a:endParaRPr lang="en-US"/>
          </a:p>
        </p:txBody>
      </p:sp>
      <p:sp>
        <p:nvSpPr>
          <p:cNvPr id="578" name="24%">
            <a:extLst>
              <a:ext uri="{FF2B5EF4-FFF2-40B4-BE49-F238E27FC236}">
                <a16:creationId xmlns:a16="http://schemas.microsoft.com/office/drawing/2014/main" id="{E34B7E70-80C3-4B20-AAA9-A5D0E88E71C5}"/>
              </a:ext>
            </a:extLst>
          </p:cNvPr>
          <p:cNvSpPr>
            <a:spLocks noGrp="1"/>
          </p:cNvSpPr>
          <p:nvPr/>
        </p:nvSpPr>
        <p:spPr>
          <a:xfrm>
            <a:off x="5085259" y="4905375"/>
            <a:ext cx="164135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79" name="Rectangle 578">
            <a:extLst>
              <a:ext uri="{FF2B5EF4-FFF2-40B4-BE49-F238E27FC236}">
                <a16:creationId xmlns:a16="http://schemas.microsoft.com/office/drawing/2014/main" id="{2A3B2B2D-3674-4836-B6CC-EEAAFDAF6D45}"/>
              </a:ext>
            </a:extLst>
          </p:cNvPr>
          <p:cNvSpPr>
            <a:spLocks noGrp="1"/>
          </p:cNvSpPr>
          <p:nvPr/>
        </p:nvSpPr>
        <p:spPr>
          <a:xfrm>
            <a:off x="6745663" y="4800600"/>
            <a:ext cx="1910817" cy="447675"/>
          </a:xfrm>
          <a:prstGeom prst="rect">
            <a:avLst/>
          </a:prstGeom>
          <a:solidFill>
            <a:srgbClr val="4C91D8"/>
          </a:solidFill>
          <a:ln w="0">
            <a:noFill/>
          </a:ln>
        </p:spPr>
        <p:txBody>
          <a:bodyPr/>
          <a:lstStyle/>
          <a:p>
            <a:endParaRPr lang="en-US"/>
          </a:p>
        </p:txBody>
      </p:sp>
      <p:sp>
        <p:nvSpPr>
          <p:cNvPr id="580" name="27%">
            <a:extLst>
              <a:ext uri="{FF2B5EF4-FFF2-40B4-BE49-F238E27FC236}">
                <a16:creationId xmlns:a16="http://schemas.microsoft.com/office/drawing/2014/main" id="{13284156-6768-4D11-A057-FCB01AC640C7}"/>
              </a:ext>
            </a:extLst>
          </p:cNvPr>
          <p:cNvSpPr>
            <a:spLocks noGrp="1"/>
          </p:cNvSpPr>
          <p:nvPr/>
        </p:nvSpPr>
        <p:spPr>
          <a:xfrm>
            <a:off x="6783763" y="4905375"/>
            <a:ext cx="185366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81" name="Rectangle 580">
            <a:extLst>
              <a:ext uri="{FF2B5EF4-FFF2-40B4-BE49-F238E27FC236}">
                <a16:creationId xmlns:a16="http://schemas.microsoft.com/office/drawing/2014/main" id="{4756183A-AE0C-41B4-A2B8-4C989447E623}"/>
              </a:ext>
            </a:extLst>
          </p:cNvPr>
          <p:cNvSpPr>
            <a:spLocks noGrp="1"/>
          </p:cNvSpPr>
          <p:nvPr/>
        </p:nvSpPr>
        <p:spPr>
          <a:xfrm>
            <a:off x="8656480" y="4800600"/>
            <a:ext cx="1963895" cy="447675"/>
          </a:xfrm>
          <a:prstGeom prst="rect">
            <a:avLst/>
          </a:prstGeom>
          <a:solidFill>
            <a:srgbClr val="285B9F"/>
          </a:solidFill>
          <a:ln w="0">
            <a:noFill/>
          </a:ln>
        </p:spPr>
        <p:txBody>
          <a:bodyPr/>
          <a:lstStyle/>
          <a:p>
            <a:endParaRPr lang="en-US"/>
          </a:p>
        </p:txBody>
      </p:sp>
      <p:sp>
        <p:nvSpPr>
          <p:cNvPr id="582" name="28%">
            <a:extLst>
              <a:ext uri="{FF2B5EF4-FFF2-40B4-BE49-F238E27FC236}">
                <a16:creationId xmlns:a16="http://schemas.microsoft.com/office/drawing/2014/main" id="{F789F10D-B47F-488B-BFFC-DFB3E4C4B3B8}"/>
              </a:ext>
            </a:extLst>
          </p:cNvPr>
          <p:cNvSpPr>
            <a:spLocks noGrp="1"/>
          </p:cNvSpPr>
          <p:nvPr/>
        </p:nvSpPr>
        <p:spPr>
          <a:xfrm>
            <a:off x="8694580" y="4905375"/>
            <a:ext cx="190674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83" name="n=131">
            <a:extLst>
              <a:ext uri="{FF2B5EF4-FFF2-40B4-BE49-F238E27FC236}">
                <a16:creationId xmlns:a16="http://schemas.microsoft.com/office/drawing/2014/main" id="{F99591CD-D969-4E8E-A8F5-09B5641C9F6B}"/>
              </a:ext>
            </a:extLst>
          </p:cNvPr>
          <p:cNvSpPr>
            <a:spLocks noGrp="1"/>
          </p:cNvSpPr>
          <p:nvPr/>
        </p:nvSpPr>
        <p:spPr>
          <a:xfrm>
            <a:off x="10782300" y="48958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n=131</a:t>
            </a:r>
          </a:p>
        </p:txBody>
      </p:sp>
      <p:sp>
        <p:nvSpPr>
          <p:cNvPr id="584" name="Rectangle 583">
            <a:extLst>
              <a:ext uri="{FF2B5EF4-FFF2-40B4-BE49-F238E27FC236}">
                <a16:creationId xmlns:a16="http://schemas.microsoft.com/office/drawing/2014/main" id="{86BD05C8-4C53-4DC1-BA2D-D0F6C2821311}"/>
              </a:ext>
            </a:extLst>
          </p:cNvPr>
          <p:cNvSpPr>
            <a:spLocks noGrp="1"/>
          </p:cNvSpPr>
          <p:nvPr/>
        </p:nvSpPr>
        <p:spPr>
          <a:xfrm>
            <a:off x="3667125" y="1409700"/>
            <a:ext cx="190500" cy="190500"/>
          </a:xfrm>
          <a:prstGeom prst="rect">
            <a:avLst/>
          </a:prstGeom>
          <a:solidFill>
            <a:srgbClr val="A83A3A"/>
          </a:solidFill>
          <a:ln w="0">
            <a:noFill/>
          </a:ln>
        </p:spPr>
        <p:txBody>
          <a:bodyPr/>
          <a:lstStyle/>
          <a:p>
            <a:endParaRPr lang="en-US"/>
          </a:p>
        </p:txBody>
      </p:sp>
      <p:sp>
        <p:nvSpPr>
          <p:cNvPr id="585" name="C0  &lt; 3.20">
            <a:extLst>
              <a:ext uri="{FF2B5EF4-FFF2-40B4-BE49-F238E27FC236}">
                <a16:creationId xmlns:a16="http://schemas.microsoft.com/office/drawing/2014/main" id="{3CECFDAE-1B7B-4854-A84E-9F7104C69828}"/>
              </a:ext>
            </a:extLst>
          </p:cNvPr>
          <p:cNvSpPr>
            <a:spLocks noGrp="1"/>
          </p:cNvSpPr>
          <p:nvPr/>
        </p:nvSpPr>
        <p:spPr>
          <a:xfrm>
            <a:off x="39433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C0  &lt; 3.20</a:t>
            </a:r>
          </a:p>
        </p:txBody>
      </p:sp>
      <p:sp>
        <p:nvSpPr>
          <p:cNvPr id="586" name="Rectangle 585">
            <a:extLst>
              <a:ext uri="{FF2B5EF4-FFF2-40B4-BE49-F238E27FC236}">
                <a16:creationId xmlns:a16="http://schemas.microsoft.com/office/drawing/2014/main" id="{23B3A29E-579B-4385-BBF7-9E86215E4C4F}"/>
              </a:ext>
            </a:extLst>
          </p:cNvPr>
          <p:cNvSpPr>
            <a:spLocks noGrp="1"/>
          </p:cNvSpPr>
          <p:nvPr/>
        </p:nvSpPr>
        <p:spPr>
          <a:xfrm>
            <a:off x="5476875" y="1409700"/>
            <a:ext cx="190500" cy="190500"/>
          </a:xfrm>
          <a:prstGeom prst="rect">
            <a:avLst/>
          </a:prstGeom>
          <a:solidFill>
            <a:srgbClr val="DC713D"/>
          </a:solidFill>
          <a:ln w="0">
            <a:noFill/>
          </a:ln>
        </p:spPr>
        <p:txBody>
          <a:bodyPr/>
          <a:lstStyle/>
          <a:p>
            <a:endParaRPr lang="en-US"/>
          </a:p>
        </p:txBody>
      </p:sp>
      <p:sp>
        <p:nvSpPr>
          <p:cNvPr id="587" name="C1  3.20–3.49">
            <a:extLst>
              <a:ext uri="{FF2B5EF4-FFF2-40B4-BE49-F238E27FC236}">
                <a16:creationId xmlns:a16="http://schemas.microsoft.com/office/drawing/2014/main" id="{EA3EBBF0-9483-46BA-AD23-B9AE12684DA9}"/>
              </a:ext>
            </a:extLst>
          </p:cNvPr>
          <p:cNvSpPr>
            <a:spLocks noGrp="1"/>
          </p:cNvSpPr>
          <p:nvPr/>
        </p:nvSpPr>
        <p:spPr>
          <a:xfrm>
            <a:off x="57531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C1  3.20–3.49</a:t>
            </a:r>
          </a:p>
        </p:txBody>
      </p:sp>
      <p:sp>
        <p:nvSpPr>
          <p:cNvPr id="588" name="Rectangle 587">
            <a:extLst>
              <a:ext uri="{FF2B5EF4-FFF2-40B4-BE49-F238E27FC236}">
                <a16:creationId xmlns:a16="http://schemas.microsoft.com/office/drawing/2014/main" id="{2614B997-0652-4246-9926-4851ADC0D0FD}"/>
              </a:ext>
            </a:extLst>
          </p:cNvPr>
          <p:cNvSpPr>
            <a:spLocks noGrp="1"/>
          </p:cNvSpPr>
          <p:nvPr/>
        </p:nvSpPr>
        <p:spPr>
          <a:xfrm>
            <a:off x="7286625" y="1409700"/>
            <a:ext cx="190500" cy="190500"/>
          </a:xfrm>
          <a:prstGeom prst="rect">
            <a:avLst/>
          </a:prstGeom>
          <a:solidFill>
            <a:srgbClr val="4C91D8"/>
          </a:solidFill>
          <a:ln w="0">
            <a:noFill/>
          </a:ln>
        </p:spPr>
        <p:txBody>
          <a:bodyPr/>
          <a:lstStyle/>
          <a:p>
            <a:endParaRPr lang="en-US"/>
          </a:p>
        </p:txBody>
      </p:sp>
      <p:sp>
        <p:nvSpPr>
          <p:cNvPr id="589" name="C2  3.50–3.74">
            <a:extLst>
              <a:ext uri="{FF2B5EF4-FFF2-40B4-BE49-F238E27FC236}">
                <a16:creationId xmlns:a16="http://schemas.microsoft.com/office/drawing/2014/main" id="{F31DD538-6FBB-4F13-AF6A-5686FECC28A3}"/>
              </a:ext>
            </a:extLst>
          </p:cNvPr>
          <p:cNvSpPr>
            <a:spLocks noGrp="1"/>
          </p:cNvSpPr>
          <p:nvPr/>
        </p:nvSpPr>
        <p:spPr>
          <a:xfrm>
            <a:off x="75628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C2  3.50–3.74</a:t>
            </a:r>
          </a:p>
        </p:txBody>
      </p:sp>
      <p:sp>
        <p:nvSpPr>
          <p:cNvPr id="590" name="Rectangle 589">
            <a:extLst>
              <a:ext uri="{FF2B5EF4-FFF2-40B4-BE49-F238E27FC236}">
                <a16:creationId xmlns:a16="http://schemas.microsoft.com/office/drawing/2014/main" id="{C10C7523-9D0D-4C17-B662-C22A38E694A2}"/>
              </a:ext>
            </a:extLst>
          </p:cNvPr>
          <p:cNvSpPr>
            <a:spLocks noGrp="1"/>
          </p:cNvSpPr>
          <p:nvPr/>
        </p:nvSpPr>
        <p:spPr>
          <a:xfrm>
            <a:off x="9096375" y="1409700"/>
            <a:ext cx="190500" cy="190500"/>
          </a:xfrm>
          <a:prstGeom prst="rect">
            <a:avLst/>
          </a:prstGeom>
          <a:solidFill>
            <a:srgbClr val="285B9F"/>
          </a:solidFill>
          <a:ln w="0">
            <a:noFill/>
          </a:ln>
        </p:spPr>
        <p:txBody>
          <a:bodyPr/>
          <a:lstStyle/>
          <a:p>
            <a:endParaRPr lang="en-US"/>
          </a:p>
        </p:txBody>
      </p:sp>
      <p:sp>
        <p:nvSpPr>
          <p:cNvPr id="591" name="C3  ≥ 3.75">
            <a:extLst>
              <a:ext uri="{FF2B5EF4-FFF2-40B4-BE49-F238E27FC236}">
                <a16:creationId xmlns:a16="http://schemas.microsoft.com/office/drawing/2014/main" id="{6E315968-A477-4DA0-A5BB-0B828AFBDA04}"/>
              </a:ext>
            </a:extLst>
          </p:cNvPr>
          <p:cNvSpPr>
            <a:spLocks noGrp="1"/>
          </p:cNvSpPr>
          <p:nvPr/>
        </p:nvSpPr>
        <p:spPr>
          <a:xfrm>
            <a:off x="93726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C3  ≥ 3.75</a:t>
            </a:r>
          </a:p>
        </p:txBody>
      </p:sp>
      <p:cxnSp>
        <p:nvCxnSpPr>
          <p:cNvPr id="2" name="Straight Arrow Connector 1">
            <a:extLst>
              <a:ext uri="{FF2B5EF4-FFF2-40B4-BE49-F238E27FC236}">
                <a16:creationId xmlns:a16="http://schemas.microsoft.com/office/drawing/2014/main" id="{F3691A7B-179E-DF51-4A05-5596A3367835}"/>
              </a:ext>
            </a:extLst>
          </p:cNvPr>
          <p:cNvCxnSpPr>
            <a:cxnSpLocks/>
          </p:cNvCxnSpPr>
          <p:nvPr/>
        </p:nvCxnSpPr>
        <p:spPr>
          <a:xfrm>
            <a:off x="204107" y="5763986"/>
            <a:ext cx="105781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01BD39BD-57CE-DB79-17BE-8C49E63DFBEE}"/>
              </a:ext>
            </a:extLst>
          </p:cNvPr>
          <p:cNvCxnSpPr>
            <a:cxnSpLocks/>
          </p:cNvCxnSpPr>
          <p:nvPr/>
        </p:nvCxnSpPr>
        <p:spPr>
          <a:xfrm flipV="1">
            <a:off x="356507" y="971550"/>
            <a:ext cx="0" cy="4944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6E6715EA-6DB1-8DE6-9AFC-51409F51B8CF}"/>
              </a:ext>
            </a:extLst>
          </p:cNvPr>
          <p:cNvSpPr txBox="1"/>
          <p:nvPr/>
        </p:nvSpPr>
        <p:spPr>
          <a:xfrm>
            <a:off x="5532723" y="5787509"/>
            <a:ext cx="821572" cy="369332"/>
          </a:xfrm>
          <a:prstGeom prst="rect">
            <a:avLst/>
          </a:prstGeom>
          <a:noFill/>
        </p:spPr>
        <p:txBody>
          <a:bodyPr wrap="none" rtlCol="0">
            <a:spAutoFit/>
          </a:bodyPr>
          <a:lstStyle/>
          <a:p>
            <a:r>
              <a:rPr lang="en-US" dirty="0"/>
              <a:t>CGPA</a:t>
            </a:r>
          </a:p>
        </p:txBody>
      </p:sp>
      <p:sp>
        <p:nvSpPr>
          <p:cNvPr id="5" name="TextBox 4">
            <a:extLst>
              <a:ext uri="{FF2B5EF4-FFF2-40B4-BE49-F238E27FC236}">
                <a16:creationId xmlns:a16="http://schemas.microsoft.com/office/drawing/2014/main" id="{CE3827BA-1997-00D7-076A-8531F048D392}"/>
              </a:ext>
            </a:extLst>
          </p:cNvPr>
          <p:cNvSpPr txBox="1"/>
          <p:nvPr/>
        </p:nvSpPr>
        <p:spPr>
          <a:xfrm rot="16200000">
            <a:off x="-460440" y="2715997"/>
            <a:ext cx="1351652" cy="369332"/>
          </a:xfrm>
          <a:prstGeom prst="rect">
            <a:avLst/>
          </a:prstGeom>
          <a:noFill/>
        </p:spPr>
        <p:txBody>
          <a:bodyPr wrap="none" rtlCol="0">
            <a:spAutoFit/>
          </a:bodyPr>
          <a:lstStyle/>
          <a:p>
            <a:r>
              <a:rPr lang="en-US" dirty="0"/>
              <a:t>Study Style</a:t>
            </a:r>
          </a:p>
        </p:txBody>
      </p:sp>
    </p:spTree>
    <p:extLst>
      <p:ext uri="{BB962C8B-B14F-4D97-AF65-F5344CB8AC3E}">
        <p14:creationId xmlns:p14="http://schemas.microsoft.com/office/powerpoint/2010/main" val="23461318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19</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Topic clarity and CGPA</a:t>
            </a:r>
          </a:p>
        </p:txBody>
      </p:sp>
      <p:sp>
        <p:nvSpPr>
          <p:cNvPr id="534" name="Almost nothing">
            <a:extLst>
              <a:ext uri="{FF2B5EF4-FFF2-40B4-BE49-F238E27FC236}">
                <a16:creationId xmlns:a16="http://schemas.microsoft.com/office/drawing/2014/main" id="{728DD5F2-D936-49AF-8C99-480AA72BD719}"/>
              </a:ext>
            </a:extLst>
          </p:cNvPr>
          <p:cNvSpPr>
            <a:spLocks noGrp="1"/>
          </p:cNvSpPr>
          <p:nvPr/>
        </p:nvSpPr>
        <p:spPr>
          <a:xfrm>
            <a:off x="400050" y="19431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Almost nothing</a:t>
            </a:r>
          </a:p>
        </p:txBody>
      </p:sp>
      <p:sp>
        <p:nvSpPr>
          <p:cNvPr id="535" name="Rectangle 534">
            <a:extLst>
              <a:ext uri="{FF2B5EF4-FFF2-40B4-BE49-F238E27FC236}">
                <a16:creationId xmlns:a16="http://schemas.microsoft.com/office/drawing/2014/main" id="{AF3105BC-0124-42C4-8081-CF8696382845}"/>
              </a:ext>
            </a:extLst>
          </p:cNvPr>
          <p:cNvSpPr>
            <a:spLocks noGrp="1"/>
          </p:cNvSpPr>
          <p:nvPr/>
        </p:nvSpPr>
        <p:spPr>
          <a:xfrm>
            <a:off x="3667125" y="1905000"/>
            <a:ext cx="1651877" cy="447675"/>
          </a:xfrm>
          <a:prstGeom prst="rect">
            <a:avLst/>
          </a:prstGeom>
          <a:solidFill>
            <a:srgbClr val="A83A3A"/>
          </a:solidFill>
          <a:ln w="0">
            <a:noFill/>
          </a:ln>
        </p:spPr>
        <p:txBody>
          <a:bodyPr/>
          <a:lstStyle/>
          <a:p>
            <a:endParaRPr lang="en-US"/>
          </a:p>
        </p:txBody>
      </p:sp>
      <p:sp>
        <p:nvSpPr>
          <p:cNvPr id="536" name="24%">
            <a:extLst>
              <a:ext uri="{FF2B5EF4-FFF2-40B4-BE49-F238E27FC236}">
                <a16:creationId xmlns:a16="http://schemas.microsoft.com/office/drawing/2014/main" id="{3DD396A3-2BB9-4118-9E51-FAB7432A5FAB}"/>
              </a:ext>
            </a:extLst>
          </p:cNvPr>
          <p:cNvSpPr>
            <a:spLocks noGrp="1"/>
          </p:cNvSpPr>
          <p:nvPr/>
        </p:nvSpPr>
        <p:spPr>
          <a:xfrm>
            <a:off x="3705225" y="2009775"/>
            <a:ext cx="159472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37" name="Rectangle 536">
            <a:extLst>
              <a:ext uri="{FF2B5EF4-FFF2-40B4-BE49-F238E27FC236}">
                <a16:creationId xmlns:a16="http://schemas.microsoft.com/office/drawing/2014/main" id="{5CA9C875-3208-4796-B07B-DC64B61FCEC5}"/>
              </a:ext>
            </a:extLst>
          </p:cNvPr>
          <p:cNvSpPr>
            <a:spLocks noGrp="1"/>
          </p:cNvSpPr>
          <p:nvPr/>
        </p:nvSpPr>
        <p:spPr>
          <a:xfrm>
            <a:off x="5319002" y="1905000"/>
            <a:ext cx="2151282" cy="447675"/>
          </a:xfrm>
          <a:prstGeom prst="rect">
            <a:avLst/>
          </a:prstGeom>
          <a:solidFill>
            <a:srgbClr val="DC713D"/>
          </a:solidFill>
          <a:ln w="0">
            <a:noFill/>
          </a:ln>
        </p:spPr>
        <p:txBody>
          <a:bodyPr/>
          <a:lstStyle/>
          <a:p>
            <a:endParaRPr lang="en-US"/>
          </a:p>
        </p:txBody>
      </p:sp>
      <p:sp>
        <p:nvSpPr>
          <p:cNvPr id="538" name="31%">
            <a:extLst>
              <a:ext uri="{FF2B5EF4-FFF2-40B4-BE49-F238E27FC236}">
                <a16:creationId xmlns:a16="http://schemas.microsoft.com/office/drawing/2014/main" id="{688E1CBF-891E-4070-8FE0-7A7371336139}"/>
              </a:ext>
            </a:extLst>
          </p:cNvPr>
          <p:cNvSpPr>
            <a:spLocks noGrp="1"/>
          </p:cNvSpPr>
          <p:nvPr/>
        </p:nvSpPr>
        <p:spPr>
          <a:xfrm>
            <a:off x="5357102" y="2009775"/>
            <a:ext cx="209413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31%</a:t>
            </a:r>
          </a:p>
        </p:txBody>
      </p:sp>
      <p:sp>
        <p:nvSpPr>
          <p:cNvPr id="539" name="Rectangle 538">
            <a:extLst>
              <a:ext uri="{FF2B5EF4-FFF2-40B4-BE49-F238E27FC236}">
                <a16:creationId xmlns:a16="http://schemas.microsoft.com/office/drawing/2014/main" id="{D5E2570C-C6FE-45B7-900C-31EE0867ED92}"/>
              </a:ext>
            </a:extLst>
          </p:cNvPr>
          <p:cNvSpPr>
            <a:spLocks noGrp="1"/>
          </p:cNvSpPr>
          <p:nvPr/>
        </p:nvSpPr>
        <p:spPr>
          <a:xfrm>
            <a:off x="7470284" y="1905000"/>
            <a:ext cx="1728709" cy="447675"/>
          </a:xfrm>
          <a:prstGeom prst="rect">
            <a:avLst/>
          </a:prstGeom>
          <a:solidFill>
            <a:srgbClr val="4C91D8"/>
          </a:solidFill>
          <a:ln w="0">
            <a:noFill/>
          </a:ln>
        </p:spPr>
        <p:txBody>
          <a:bodyPr/>
          <a:lstStyle/>
          <a:p>
            <a:endParaRPr lang="en-US"/>
          </a:p>
        </p:txBody>
      </p:sp>
      <p:sp>
        <p:nvSpPr>
          <p:cNvPr id="540" name="25%">
            <a:extLst>
              <a:ext uri="{FF2B5EF4-FFF2-40B4-BE49-F238E27FC236}">
                <a16:creationId xmlns:a16="http://schemas.microsoft.com/office/drawing/2014/main" id="{535EFA1F-6C2D-4AAE-8146-D5E512D04886}"/>
              </a:ext>
            </a:extLst>
          </p:cNvPr>
          <p:cNvSpPr>
            <a:spLocks noGrp="1"/>
          </p:cNvSpPr>
          <p:nvPr/>
        </p:nvSpPr>
        <p:spPr>
          <a:xfrm>
            <a:off x="7508384" y="2009775"/>
            <a:ext cx="1671559"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41" name="Rectangle 540">
            <a:extLst>
              <a:ext uri="{FF2B5EF4-FFF2-40B4-BE49-F238E27FC236}">
                <a16:creationId xmlns:a16="http://schemas.microsoft.com/office/drawing/2014/main" id="{DD7095CB-703F-43A0-8C86-CD65782504AE}"/>
              </a:ext>
            </a:extLst>
          </p:cNvPr>
          <p:cNvSpPr>
            <a:spLocks noGrp="1"/>
          </p:cNvSpPr>
          <p:nvPr/>
        </p:nvSpPr>
        <p:spPr>
          <a:xfrm>
            <a:off x="9198992" y="1905000"/>
            <a:ext cx="1421383" cy="447675"/>
          </a:xfrm>
          <a:prstGeom prst="rect">
            <a:avLst/>
          </a:prstGeom>
          <a:solidFill>
            <a:srgbClr val="285B9F"/>
          </a:solidFill>
          <a:ln w="0">
            <a:noFill/>
          </a:ln>
        </p:spPr>
        <p:txBody>
          <a:bodyPr/>
          <a:lstStyle/>
          <a:p>
            <a:endParaRPr lang="en-US"/>
          </a:p>
        </p:txBody>
      </p:sp>
      <p:sp>
        <p:nvSpPr>
          <p:cNvPr id="542" name="20%">
            <a:extLst>
              <a:ext uri="{FF2B5EF4-FFF2-40B4-BE49-F238E27FC236}">
                <a16:creationId xmlns:a16="http://schemas.microsoft.com/office/drawing/2014/main" id="{64BDE92A-ABB1-48DB-B76F-E31EAA20D15F}"/>
              </a:ext>
            </a:extLst>
          </p:cNvPr>
          <p:cNvSpPr>
            <a:spLocks noGrp="1"/>
          </p:cNvSpPr>
          <p:nvPr/>
        </p:nvSpPr>
        <p:spPr>
          <a:xfrm>
            <a:off x="9237092" y="2009775"/>
            <a:ext cx="136423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43" name="n=181">
            <a:extLst>
              <a:ext uri="{FF2B5EF4-FFF2-40B4-BE49-F238E27FC236}">
                <a16:creationId xmlns:a16="http://schemas.microsoft.com/office/drawing/2014/main" id="{A02A6DDB-8B68-4D5D-AF92-B712FCF5E963}"/>
              </a:ext>
            </a:extLst>
          </p:cNvPr>
          <p:cNvSpPr>
            <a:spLocks noGrp="1"/>
          </p:cNvSpPr>
          <p:nvPr/>
        </p:nvSpPr>
        <p:spPr>
          <a:xfrm>
            <a:off x="10782300" y="20002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n=181</a:t>
            </a:r>
          </a:p>
        </p:txBody>
      </p:sp>
      <p:sp>
        <p:nvSpPr>
          <p:cNvPr id="544" name="A little">
            <a:extLst>
              <a:ext uri="{FF2B5EF4-FFF2-40B4-BE49-F238E27FC236}">
                <a16:creationId xmlns:a16="http://schemas.microsoft.com/office/drawing/2014/main" id="{FE270BC4-CAFD-43E5-8E7E-BF8FFD597C4F}"/>
              </a:ext>
            </a:extLst>
          </p:cNvPr>
          <p:cNvSpPr>
            <a:spLocks noGrp="1"/>
          </p:cNvSpPr>
          <p:nvPr/>
        </p:nvSpPr>
        <p:spPr>
          <a:xfrm>
            <a:off x="400050" y="26670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A little</a:t>
            </a:r>
          </a:p>
        </p:txBody>
      </p:sp>
      <p:sp>
        <p:nvSpPr>
          <p:cNvPr id="545" name="Rectangle 544">
            <a:extLst>
              <a:ext uri="{FF2B5EF4-FFF2-40B4-BE49-F238E27FC236}">
                <a16:creationId xmlns:a16="http://schemas.microsoft.com/office/drawing/2014/main" id="{52C114DC-5356-44FA-87FE-9041B172D1C7}"/>
              </a:ext>
            </a:extLst>
          </p:cNvPr>
          <p:cNvSpPr>
            <a:spLocks noGrp="1"/>
          </p:cNvSpPr>
          <p:nvPr/>
        </p:nvSpPr>
        <p:spPr>
          <a:xfrm>
            <a:off x="3667125" y="2628900"/>
            <a:ext cx="1626798" cy="447675"/>
          </a:xfrm>
          <a:prstGeom prst="rect">
            <a:avLst/>
          </a:prstGeom>
          <a:solidFill>
            <a:srgbClr val="A83A3A"/>
          </a:solidFill>
          <a:ln w="0">
            <a:noFill/>
          </a:ln>
        </p:spPr>
        <p:txBody>
          <a:bodyPr/>
          <a:lstStyle/>
          <a:p>
            <a:endParaRPr lang="en-US"/>
          </a:p>
        </p:txBody>
      </p:sp>
      <p:sp>
        <p:nvSpPr>
          <p:cNvPr id="546" name="23%">
            <a:extLst>
              <a:ext uri="{FF2B5EF4-FFF2-40B4-BE49-F238E27FC236}">
                <a16:creationId xmlns:a16="http://schemas.microsoft.com/office/drawing/2014/main" id="{E71A5F7B-45A0-42E6-BA77-C450ABD463D4}"/>
              </a:ext>
            </a:extLst>
          </p:cNvPr>
          <p:cNvSpPr>
            <a:spLocks noGrp="1"/>
          </p:cNvSpPr>
          <p:nvPr/>
        </p:nvSpPr>
        <p:spPr>
          <a:xfrm>
            <a:off x="3705225" y="2733675"/>
            <a:ext cx="156964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23%</a:t>
            </a:r>
          </a:p>
        </p:txBody>
      </p:sp>
      <p:sp>
        <p:nvSpPr>
          <p:cNvPr id="547" name="Rectangle 546">
            <a:extLst>
              <a:ext uri="{FF2B5EF4-FFF2-40B4-BE49-F238E27FC236}">
                <a16:creationId xmlns:a16="http://schemas.microsoft.com/office/drawing/2014/main" id="{5411A477-E296-4DFC-BD29-E3B5A4D2242F}"/>
              </a:ext>
            </a:extLst>
          </p:cNvPr>
          <p:cNvSpPr>
            <a:spLocks noGrp="1"/>
          </p:cNvSpPr>
          <p:nvPr/>
        </p:nvSpPr>
        <p:spPr>
          <a:xfrm>
            <a:off x="5293923" y="2628900"/>
            <a:ext cx="1836708" cy="447675"/>
          </a:xfrm>
          <a:prstGeom prst="rect">
            <a:avLst/>
          </a:prstGeom>
          <a:solidFill>
            <a:srgbClr val="DC713D"/>
          </a:solidFill>
          <a:ln w="0">
            <a:noFill/>
          </a:ln>
        </p:spPr>
        <p:txBody>
          <a:bodyPr/>
          <a:lstStyle/>
          <a:p>
            <a:endParaRPr lang="en-US"/>
          </a:p>
        </p:txBody>
      </p:sp>
      <p:sp>
        <p:nvSpPr>
          <p:cNvPr id="548" name="26%">
            <a:extLst>
              <a:ext uri="{FF2B5EF4-FFF2-40B4-BE49-F238E27FC236}">
                <a16:creationId xmlns:a16="http://schemas.microsoft.com/office/drawing/2014/main" id="{7392D2ED-0E80-41FB-B071-273EA5D14AFB}"/>
              </a:ext>
            </a:extLst>
          </p:cNvPr>
          <p:cNvSpPr>
            <a:spLocks noGrp="1"/>
          </p:cNvSpPr>
          <p:nvPr/>
        </p:nvSpPr>
        <p:spPr>
          <a:xfrm>
            <a:off x="5332023" y="2733675"/>
            <a:ext cx="177955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49" name="Rectangle 548">
            <a:extLst>
              <a:ext uri="{FF2B5EF4-FFF2-40B4-BE49-F238E27FC236}">
                <a16:creationId xmlns:a16="http://schemas.microsoft.com/office/drawing/2014/main" id="{671845DA-9AE8-4F2F-823B-9422686FC321}"/>
              </a:ext>
            </a:extLst>
          </p:cNvPr>
          <p:cNvSpPr>
            <a:spLocks noGrp="1"/>
          </p:cNvSpPr>
          <p:nvPr/>
        </p:nvSpPr>
        <p:spPr>
          <a:xfrm>
            <a:off x="7130631" y="2628900"/>
            <a:ext cx="1836708" cy="447675"/>
          </a:xfrm>
          <a:prstGeom prst="rect">
            <a:avLst/>
          </a:prstGeom>
          <a:solidFill>
            <a:srgbClr val="4C91D8"/>
          </a:solidFill>
          <a:ln w="0">
            <a:noFill/>
          </a:ln>
        </p:spPr>
        <p:txBody>
          <a:bodyPr/>
          <a:lstStyle/>
          <a:p>
            <a:endParaRPr lang="en-US"/>
          </a:p>
        </p:txBody>
      </p:sp>
      <p:sp>
        <p:nvSpPr>
          <p:cNvPr id="550" name="26%">
            <a:extLst>
              <a:ext uri="{FF2B5EF4-FFF2-40B4-BE49-F238E27FC236}">
                <a16:creationId xmlns:a16="http://schemas.microsoft.com/office/drawing/2014/main" id="{E2617B2E-4948-4CB4-A9CA-D7114785F377}"/>
              </a:ext>
            </a:extLst>
          </p:cNvPr>
          <p:cNvSpPr>
            <a:spLocks noGrp="1"/>
          </p:cNvSpPr>
          <p:nvPr/>
        </p:nvSpPr>
        <p:spPr>
          <a:xfrm>
            <a:off x="7168731" y="2733675"/>
            <a:ext cx="177955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51" name="Rectangle 550">
            <a:extLst>
              <a:ext uri="{FF2B5EF4-FFF2-40B4-BE49-F238E27FC236}">
                <a16:creationId xmlns:a16="http://schemas.microsoft.com/office/drawing/2014/main" id="{B1292710-161E-4662-B0BF-3B3849B041C1}"/>
              </a:ext>
            </a:extLst>
          </p:cNvPr>
          <p:cNvSpPr>
            <a:spLocks noGrp="1"/>
          </p:cNvSpPr>
          <p:nvPr/>
        </p:nvSpPr>
        <p:spPr>
          <a:xfrm>
            <a:off x="8967338" y="2628900"/>
            <a:ext cx="1653037" cy="447675"/>
          </a:xfrm>
          <a:prstGeom prst="rect">
            <a:avLst/>
          </a:prstGeom>
          <a:solidFill>
            <a:srgbClr val="285B9F"/>
          </a:solidFill>
          <a:ln w="0">
            <a:noFill/>
          </a:ln>
        </p:spPr>
        <p:txBody>
          <a:bodyPr/>
          <a:lstStyle/>
          <a:p>
            <a:endParaRPr lang="en-US"/>
          </a:p>
        </p:txBody>
      </p:sp>
      <p:sp>
        <p:nvSpPr>
          <p:cNvPr id="552" name="24%">
            <a:extLst>
              <a:ext uri="{FF2B5EF4-FFF2-40B4-BE49-F238E27FC236}">
                <a16:creationId xmlns:a16="http://schemas.microsoft.com/office/drawing/2014/main" id="{55D4EEF8-6816-4174-B372-B31B763140A2}"/>
              </a:ext>
            </a:extLst>
          </p:cNvPr>
          <p:cNvSpPr>
            <a:spLocks noGrp="1"/>
          </p:cNvSpPr>
          <p:nvPr/>
        </p:nvSpPr>
        <p:spPr>
          <a:xfrm>
            <a:off x="9005438" y="2733675"/>
            <a:ext cx="159588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53" name="n=265">
            <a:extLst>
              <a:ext uri="{FF2B5EF4-FFF2-40B4-BE49-F238E27FC236}">
                <a16:creationId xmlns:a16="http://schemas.microsoft.com/office/drawing/2014/main" id="{66AA2194-760B-41C4-B303-F74839B1F335}"/>
              </a:ext>
            </a:extLst>
          </p:cNvPr>
          <p:cNvSpPr>
            <a:spLocks noGrp="1"/>
          </p:cNvSpPr>
          <p:nvPr/>
        </p:nvSpPr>
        <p:spPr>
          <a:xfrm>
            <a:off x="10782300" y="27241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n=265</a:t>
            </a:r>
          </a:p>
        </p:txBody>
      </p:sp>
      <p:sp>
        <p:nvSpPr>
          <p:cNvPr id="554" name="About half">
            <a:extLst>
              <a:ext uri="{FF2B5EF4-FFF2-40B4-BE49-F238E27FC236}">
                <a16:creationId xmlns:a16="http://schemas.microsoft.com/office/drawing/2014/main" id="{48D24B51-1FCD-4D51-8D2B-B6F80AF0FFEA}"/>
              </a:ext>
            </a:extLst>
          </p:cNvPr>
          <p:cNvSpPr>
            <a:spLocks noGrp="1"/>
          </p:cNvSpPr>
          <p:nvPr/>
        </p:nvSpPr>
        <p:spPr>
          <a:xfrm>
            <a:off x="400050" y="33909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About half</a:t>
            </a:r>
          </a:p>
        </p:txBody>
      </p:sp>
      <p:sp>
        <p:nvSpPr>
          <p:cNvPr id="555" name="Rectangle 554">
            <a:extLst>
              <a:ext uri="{FF2B5EF4-FFF2-40B4-BE49-F238E27FC236}">
                <a16:creationId xmlns:a16="http://schemas.microsoft.com/office/drawing/2014/main" id="{6DE3E3A9-7D0C-4AB0-ADA0-E883A9E5DAE9}"/>
              </a:ext>
            </a:extLst>
          </p:cNvPr>
          <p:cNvSpPr>
            <a:spLocks noGrp="1"/>
          </p:cNvSpPr>
          <p:nvPr/>
        </p:nvSpPr>
        <p:spPr>
          <a:xfrm>
            <a:off x="3667125" y="3352800"/>
            <a:ext cx="1337163" cy="447675"/>
          </a:xfrm>
          <a:prstGeom prst="rect">
            <a:avLst/>
          </a:prstGeom>
          <a:solidFill>
            <a:srgbClr val="A83A3A"/>
          </a:solidFill>
          <a:ln w="0">
            <a:noFill/>
          </a:ln>
        </p:spPr>
        <p:txBody>
          <a:bodyPr/>
          <a:lstStyle/>
          <a:p>
            <a:endParaRPr lang="en-US"/>
          </a:p>
        </p:txBody>
      </p:sp>
      <p:sp>
        <p:nvSpPr>
          <p:cNvPr id="556" name="19%">
            <a:extLst>
              <a:ext uri="{FF2B5EF4-FFF2-40B4-BE49-F238E27FC236}">
                <a16:creationId xmlns:a16="http://schemas.microsoft.com/office/drawing/2014/main" id="{C769C505-2143-4BC4-A3AC-BB7B2C0B5DAC}"/>
              </a:ext>
            </a:extLst>
          </p:cNvPr>
          <p:cNvSpPr>
            <a:spLocks noGrp="1"/>
          </p:cNvSpPr>
          <p:nvPr/>
        </p:nvSpPr>
        <p:spPr>
          <a:xfrm>
            <a:off x="3705225" y="3457575"/>
            <a:ext cx="128001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19%</a:t>
            </a:r>
          </a:p>
        </p:txBody>
      </p:sp>
      <p:sp>
        <p:nvSpPr>
          <p:cNvPr id="557" name="Rectangle 556">
            <a:extLst>
              <a:ext uri="{FF2B5EF4-FFF2-40B4-BE49-F238E27FC236}">
                <a16:creationId xmlns:a16="http://schemas.microsoft.com/office/drawing/2014/main" id="{58F2DC11-6A8E-4A06-A09A-88B78F02E19D}"/>
              </a:ext>
            </a:extLst>
          </p:cNvPr>
          <p:cNvSpPr>
            <a:spLocks noGrp="1"/>
          </p:cNvSpPr>
          <p:nvPr/>
        </p:nvSpPr>
        <p:spPr>
          <a:xfrm>
            <a:off x="5004288" y="3352800"/>
            <a:ext cx="2206320" cy="447675"/>
          </a:xfrm>
          <a:prstGeom prst="rect">
            <a:avLst/>
          </a:prstGeom>
          <a:solidFill>
            <a:srgbClr val="DC713D"/>
          </a:solidFill>
          <a:ln w="0">
            <a:noFill/>
          </a:ln>
        </p:spPr>
        <p:txBody>
          <a:bodyPr/>
          <a:lstStyle/>
          <a:p>
            <a:endParaRPr lang="en-US"/>
          </a:p>
        </p:txBody>
      </p:sp>
      <p:sp>
        <p:nvSpPr>
          <p:cNvPr id="558" name="32%">
            <a:extLst>
              <a:ext uri="{FF2B5EF4-FFF2-40B4-BE49-F238E27FC236}">
                <a16:creationId xmlns:a16="http://schemas.microsoft.com/office/drawing/2014/main" id="{C0861014-8E3E-4FB0-89EE-C7CF3987D979}"/>
              </a:ext>
            </a:extLst>
          </p:cNvPr>
          <p:cNvSpPr>
            <a:spLocks noGrp="1"/>
          </p:cNvSpPr>
          <p:nvPr/>
        </p:nvSpPr>
        <p:spPr>
          <a:xfrm>
            <a:off x="5042388" y="3457575"/>
            <a:ext cx="214917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32%</a:t>
            </a:r>
          </a:p>
        </p:txBody>
      </p:sp>
      <p:sp>
        <p:nvSpPr>
          <p:cNvPr id="559" name="Rectangle 558">
            <a:extLst>
              <a:ext uri="{FF2B5EF4-FFF2-40B4-BE49-F238E27FC236}">
                <a16:creationId xmlns:a16="http://schemas.microsoft.com/office/drawing/2014/main" id="{A837C6F1-EC54-47CF-8840-B93836621CD2}"/>
              </a:ext>
            </a:extLst>
          </p:cNvPr>
          <p:cNvSpPr>
            <a:spLocks noGrp="1"/>
          </p:cNvSpPr>
          <p:nvPr/>
        </p:nvSpPr>
        <p:spPr>
          <a:xfrm>
            <a:off x="7210608" y="3352800"/>
            <a:ext cx="2028031" cy="447675"/>
          </a:xfrm>
          <a:prstGeom prst="rect">
            <a:avLst/>
          </a:prstGeom>
          <a:solidFill>
            <a:srgbClr val="4C91D8"/>
          </a:solidFill>
          <a:ln w="0">
            <a:noFill/>
          </a:ln>
        </p:spPr>
        <p:txBody>
          <a:bodyPr/>
          <a:lstStyle/>
          <a:p>
            <a:endParaRPr lang="en-US"/>
          </a:p>
        </p:txBody>
      </p:sp>
      <p:sp>
        <p:nvSpPr>
          <p:cNvPr id="560" name="29%">
            <a:extLst>
              <a:ext uri="{FF2B5EF4-FFF2-40B4-BE49-F238E27FC236}">
                <a16:creationId xmlns:a16="http://schemas.microsoft.com/office/drawing/2014/main" id="{FD120E4F-E370-469C-A14E-359BCC8A22A9}"/>
              </a:ext>
            </a:extLst>
          </p:cNvPr>
          <p:cNvSpPr>
            <a:spLocks noGrp="1"/>
          </p:cNvSpPr>
          <p:nvPr/>
        </p:nvSpPr>
        <p:spPr>
          <a:xfrm>
            <a:off x="7248708" y="3457575"/>
            <a:ext cx="197088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61" name="Rectangle 560">
            <a:extLst>
              <a:ext uri="{FF2B5EF4-FFF2-40B4-BE49-F238E27FC236}">
                <a16:creationId xmlns:a16="http://schemas.microsoft.com/office/drawing/2014/main" id="{EC392B0F-9ADF-4413-91BD-5E90BC416D2B}"/>
              </a:ext>
            </a:extLst>
          </p:cNvPr>
          <p:cNvSpPr>
            <a:spLocks noGrp="1"/>
          </p:cNvSpPr>
          <p:nvPr/>
        </p:nvSpPr>
        <p:spPr>
          <a:xfrm>
            <a:off x="9238639" y="3352800"/>
            <a:ext cx="1381736" cy="447675"/>
          </a:xfrm>
          <a:prstGeom prst="rect">
            <a:avLst/>
          </a:prstGeom>
          <a:solidFill>
            <a:srgbClr val="285B9F"/>
          </a:solidFill>
          <a:ln w="0">
            <a:noFill/>
          </a:ln>
        </p:spPr>
        <p:txBody>
          <a:bodyPr/>
          <a:lstStyle/>
          <a:p>
            <a:endParaRPr lang="en-US"/>
          </a:p>
        </p:txBody>
      </p:sp>
      <p:sp>
        <p:nvSpPr>
          <p:cNvPr id="562" name="20%">
            <a:extLst>
              <a:ext uri="{FF2B5EF4-FFF2-40B4-BE49-F238E27FC236}">
                <a16:creationId xmlns:a16="http://schemas.microsoft.com/office/drawing/2014/main" id="{E5D18BE6-4548-4959-A7B8-B45D6B32CFA6}"/>
              </a:ext>
            </a:extLst>
          </p:cNvPr>
          <p:cNvSpPr>
            <a:spLocks noGrp="1"/>
          </p:cNvSpPr>
          <p:nvPr/>
        </p:nvSpPr>
        <p:spPr>
          <a:xfrm>
            <a:off x="9276739" y="3457575"/>
            <a:ext cx="132458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63" name="n=312">
            <a:extLst>
              <a:ext uri="{FF2B5EF4-FFF2-40B4-BE49-F238E27FC236}">
                <a16:creationId xmlns:a16="http://schemas.microsoft.com/office/drawing/2014/main" id="{68D06ACE-1C90-4F40-A2EF-81CD6D98FC7C}"/>
              </a:ext>
            </a:extLst>
          </p:cNvPr>
          <p:cNvSpPr>
            <a:spLocks noGrp="1"/>
          </p:cNvSpPr>
          <p:nvPr/>
        </p:nvSpPr>
        <p:spPr>
          <a:xfrm>
            <a:off x="10782300" y="34480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n=312</a:t>
            </a:r>
          </a:p>
        </p:txBody>
      </p:sp>
      <p:sp>
        <p:nvSpPr>
          <p:cNvPr id="564" name="Most of it">
            <a:extLst>
              <a:ext uri="{FF2B5EF4-FFF2-40B4-BE49-F238E27FC236}">
                <a16:creationId xmlns:a16="http://schemas.microsoft.com/office/drawing/2014/main" id="{6421512E-D70F-4393-8BBD-D890064CB3F6}"/>
              </a:ext>
            </a:extLst>
          </p:cNvPr>
          <p:cNvSpPr>
            <a:spLocks noGrp="1"/>
          </p:cNvSpPr>
          <p:nvPr/>
        </p:nvSpPr>
        <p:spPr>
          <a:xfrm>
            <a:off x="400050" y="41148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Most of it</a:t>
            </a:r>
          </a:p>
        </p:txBody>
      </p:sp>
      <p:sp>
        <p:nvSpPr>
          <p:cNvPr id="565" name="Rectangle 564">
            <a:extLst>
              <a:ext uri="{FF2B5EF4-FFF2-40B4-BE49-F238E27FC236}">
                <a16:creationId xmlns:a16="http://schemas.microsoft.com/office/drawing/2014/main" id="{4471D58F-BDC4-4D3D-8B79-AF484ABFD17B}"/>
              </a:ext>
            </a:extLst>
          </p:cNvPr>
          <p:cNvSpPr>
            <a:spLocks noGrp="1"/>
          </p:cNvSpPr>
          <p:nvPr/>
        </p:nvSpPr>
        <p:spPr>
          <a:xfrm>
            <a:off x="3667125" y="4076700"/>
            <a:ext cx="1217620" cy="447675"/>
          </a:xfrm>
          <a:prstGeom prst="rect">
            <a:avLst/>
          </a:prstGeom>
          <a:solidFill>
            <a:srgbClr val="A83A3A"/>
          </a:solidFill>
          <a:ln w="0">
            <a:noFill/>
          </a:ln>
        </p:spPr>
        <p:txBody>
          <a:bodyPr/>
          <a:lstStyle/>
          <a:p>
            <a:endParaRPr lang="en-US"/>
          </a:p>
        </p:txBody>
      </p:sp>
      <p:sp>
        <p:nvSpPr>
          <p:cNvPr id="566" name="18%">
            <a:extLst>
              <a:ext uri="{FF2B5EF4-FFF2-40B4-BE49-F238E27FC236}">
                <a16:creationId xmlns:a16="http://schemas.microsoft.com/office/drawing/2014/main" id="{D769472D-1A58-486C-81AC-4F8EB22BE05B}"/>
              </a:ext>
            </a:extLst>
          </p:cNvPr>
          <p:cNvSpPr>
            <a:spLocks noGrp="1"/>
          </p:cNvSpPr>
          <p:nvPr/>
        </p:nvSpPr>
        <p:spPr>
          <a:xfrm>
            <a:off x="3705225" y="4181475"/>
            <a:ext cx="116047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67" name="Rectangle 566">
            <a:extLst>
              <a:ext uri="{FF2B5EF4-FFF2-40B4-BE49-F238E27FC236}">
                <a16:creationId xmlns:a16="http://schemas.microsoft.com/office/drawing/2014/main" id="{E8CA0FAB-59A0-49EA-8423-9172FE4F888F}"/>
              </a:ext>
            </a:extLst>
          </p:cNvPr>
          <p:cNvSpPr>
            <a:spLocks noGrp="1"/>
          </p:cNvSpPr>
          <p:nvPr/>
        </p:nvSpPr>
        <p:spPr>
          <a:xfrm>
            <a:off x="4884745" y="4076700"/>
            <a:ext cx="1986643" cy="447675"/>
          </a:xfrm>
          <a:prstGeom prst="rect">
            <a:avLst/>
          </a:prstGeom>
          <a:solidFill>
            <a:srgbClr val="DC713D"/>
          </a:solidFill>
          <a:ln w="0">
            <a:noFill/>
          </a:ln>
        </p:spPr>
        <p:txBody>
          <a:bodyPr/>
          <a:lstStyle/>
          <a:p>
            <a:endParaRPr lang="en-US"/>
          </a:p>
        </p:txBody>
      </p:sp>
      <p:sp>
        <p:nvSpPr>
          <p:cNvPr id="568" name="29%">
            <a:extLst>
              <a:ext uri="{FF2B5EF4-FFF2-40B4-BE49-F238E27FC236}">
                <a16:creationId xmlns:a16="http://schemas.microsoft.com/office/drawing/2014/main" id="{B49D83DC-CA92-4CC3-9272-E8B4638D9A82}"/>
              </a:ext>
            </a:extLst>
          </p:cNvPr>
          <p:cNvSpPr>
            <a:spLocks noGrp="1"/>
          </p:cNvSpPr>
          <p:nvPr/>
        </p:nvSpPr>
        <p:spPr>
          <a:xfrm>
            <a:off x="4922845" y="4181475"/>
            <a:ext cx="192949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69" name="Rectangle 568">
            <a:extLst>
              <a:ext uri="{FF2B5EF4-FFF2-40B4-BE49-F238E27FC236}">
                <a16:creationId xmlns:a16="http://schemas.microsoft.com/office/drawing/2014/main" id="{110F1807-FA4D-4D42-B518-3557C24A6A22}"/>
              </a:ext>
            </a:extLst>
          </p:cNvPr>
          <p:cNvSpPr>
            <a:spLocks noGrp="1"/>
          </p:cNvSpPr>
          <p:nvPr/>
        </p:nvSpPr>
        <p:spPr>
          <a:xfrm>
            <a:off x="6871388" y="4076700"/>
            <a:ext cx="2210941" cy="447675"/>
          </a:xfrm>
          <a:prstGeom prst="rect">
            <a:avLst/>
          </a:prstGeom>
          <a:solidFill>
            <a:srgbClr val="4C91D8"/>
          </a:solidFill>
          <a:ln w="0">
            <a:noFill/>
          </a:ln>
        </p:spPr>
        <p:txBody>
          <a:bodyPr/>
          <a:lstStyle/>
          <a:p>
            <a:endParaRPr lang="en-US"/>
          </a:p>
        </p:txBody>
      </p:sp>
      <p:sp>
        <p:nvSpPr>
          <p:cNvPr id="570" name="32%">
            <a:extLst>
              <a:ext uri="{FF2B5EF4-FFF2-40B4-BE49-F238E27FC236}">
                <a16:creationId xmlns:a16="http://schemas.microsoft.com/office/drawing/2014/main" id="{12060D8C-384C-4D66-9B5C-B2C4D1209F97}"/>
              </a:ext>
            </a:extLst>
          </p:cNvPr>
          <p:cNvSpPr>
            <a:spLocks noGrp="1"/>
          </p:cNvSpPr>
          <p:nvPr/>
        </p:nvSpPr>
        <p:spPr>
          <a:xfrm>
            <a:off x="6909488" y="4181475"/>
            <a:ext cx="215379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32%</a:t>
            </a:r>
          </a:p>
        </p:txBody>
      </p:sp>
      <p:sp>
        <p:nvSpPr>
          <p:cNvPr id="571" name="Rectangle 570">
            <a:extLst>
              <a:ext uri="{FF2B5EF4-FFF2-40B4-BE49-F238E27FC236}">
                <a16:creationId xmlns:a16="http://schemas.microsoft.com/office/drawing/2014/main" id="{B2461F02-D6BA-4DCF-A2BE-444E840ED40D}"/>
              </a:ext>
            </a:extLst>
          </p:cNvPr>
          <p:cNvSpPr>
            <a:spLocks noGrp="1"/>
          </p:cNvSpPr>
          <p:nvPr/>
        </p:nvSpPr>
        <p:spPr>
          <a:xfrm>
            <a:off x="9082329" y="4076700"/>
            <a:ext cx="1538046" cy="447675"/>
          </a:xfrm>
          <a:prstGeom prst="rect">
            <a:avLst/>
          </a:prstGeom>
          <a:solidFill>
            <a:srgbClr val="285B9F"/>
          </a:solidFill>
          <a:ln w="0">
            <a:noFill/>
          </a:ln>
        </p:spPr>
        <p:txBody>
          <a:bodyPr/>
          <a:lstStyle/>
          <a:p>
            <a:endParaRPr lang="en-US"/>
          </a:p>
        </p:txBody>
      </p:sp>
      <p:sp>
        <p:nvSpPr>
          <p:cNvPr id="572" name="22%">
            <a:extLst>
              <a:ext uri="{FF2B5EF4-FFF2-40B4-BE49-F238E27FC236}">
                <a16:creationId xmlns:a16="http://schemas.microsoft.com/office/drawing/2014/main" id="{53012205-65C8-43C1-BC6E-E242801FDF1A}"/>
              </a:ext>
            </a:extLst>
          </p:cNvPr>
          <p:cNvSpPr>
            <a:spLocks noGrp="1"/>
          </p:cNvSpPr>
          <p:nvPr/>
        </p:nvSpPr>
        <p:spPr>
          <a:xfrm>
            <a:off x="9120429" y="4181475"/>
            <a:ext cx="148089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73" name="n=217">
            <a:extLst>
              <a:ext uri="{FF2B5EF4-FFF2-40B4-BE49-F238E27FC236}">
                <a16:creationId xmlns:a16="http://schemas.microsoft.com/office/drawing/2014/main" id="{38FECF88-E59B-4669-9E46-F562DB215586}"/>
              </a:ext>
            </a:extLst>
          </p:cNvPr>
          <p:cNvSpPr>
            <a:spLocks noGrp="1"/>
          </p:cNvSpPr>
          <p:nvPr/>
        </p:nvSpPr>
        <p:spPr>
          <a:xfrm>
            <a:off x="10782300" y="41719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n=217</a:t>
            </a:r>
          </a:p>
        </p:txBody>
      </p:sp>
      <p:sp>
        <p:nvSpPr>
          <p:cNvPr id="574" name="Almost everything">
            <a:extLst>
              <a:ext uri="{FF2B5EF4-FFF2-40B4-BE49-F238E27FC236}">
                <a16:creationId xmlns:a16="http://schemas.microsoft.com/office/drawing/2014/main" id="{3A552C76-C9F2-49AA-B5CE-1F64570A7018}"/>
              </a:ext>
            </a:extLst>
          </p:cNvPr>
          <p:cNvSpPr>
            <a:spLocks noGrp="1"/>
          </p:cNvSpPr>
          <p:nvPr/>
        </p:nvSpPr>
        <p:spPr>
          <a:xfrm>
            <a:off x="400050" y="48387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Almost everything</a:t>
            </a:r>
          </a:p>
        </p:txBody>
      </p:sp>
      <p:sp>
        <p:nvSpPr>
          <p:cNvPr id="575" name="Rectangle 574">
            <a:extLst>
              <a:ext uri="{FF2B5EF4-FFF2-40B4-BE49-F238E27FC236}">
                <a16:creationId xmlns:a16="http://schemas.microsoft.com/office/drawing/2014/main" id="{1F6F189E-42E7-46E7-B9D6-9E86571F61FE}"/>
              </a:ext>
            </a:extLst>
          </p:cNvPr>
          <p:cNvSpPr>
            <a:spLocks noGrp="1"/>
          </p:cNvSpPr>
          <p:nvPr/>
        </p:nvSpPr>
        <p:spPr>
          <a:xfrm>
            <a:off x="3667125" y="4800600"/>
            <a:ext cx="1725242" cy="447675"/>
          </a:xfrm>
          <a:prstGeom prst="rect">
            <a:avLst/>
          </a:prstGeom>
          <a:solidFill>
            <a:srgbClr val="A83A3A"/>
          </a:solidFill>
          <a:ln w="0">
            <a:noFill/>
          </a:ln>
        </p:spPr>
        <p:txBody>
          <a:bodyPr/>
          <a:lstStyle/>
          <a:p>
            <a:endParaRPr lang="en-US"/>
          </a:p>
        </p:txBody>
      </p:sp>
      <p:sp>
        <p:nvSpPr>
          <p:cNvPr id="576" name="25%">
            <a:extLst>
              <a:ext uri="{FF2B5EF4-FFF2-40B4-BE49-F238E27FC236}">
                <a16:creationId xmlns:a16="http://schemas.microsoft.com/office/drawing/2014/main" id="{65805CDC-8AFC-4AF1-A20B-AEC20A74D73B}"/>
              </a:ext>
            </a:extLst>
          </p:cNvPr>
          <p:cNvSpPr>
            <a:spLocks noGrp="1"/>
          </p:cNvSpPr>
          <p:nvPr/>
        </p:nvSpPr>
        <p:spPr>
          <a:xfrm>
            <a:off x="3705225" y="4905375"/>
            <a:ext cx="166809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77" name="Rectangle 576">
            <a:extLst>
              <a:ext uri="{FF2B5EF4-FFF2-40B4-BE49-F238E27FC236}">
                <a16:creationId xmlns:a16="http://schemas.microsoft.com/office/drawing/2014/main" id="{0238FF5D-DF2B-47DD-B729-E06FBDB3F15C}"/>
              </a:ext>
            </a:extLst>
          </p:cNvPr>
          <p:cNvSpPr>
            <a:spLocks noGrp="1"/>
          </p:cNvSpPr>
          <p:nvPr/>
        </p:nvSpPr>
        <p:spPr>
          <a:xfrm>
            <a:off x="5392367" y="4800600"/>
            <a:ext cx="1777523" cy="447675"/>
          </a:xfrm>
          <a:prstGeom prst="rect">
            <a:avLst/>
          </a:prstGeom>
          <a:solidFill>
            <a:srgbClr val="DC713D"/>
          </a:solidFill>
          <a:ln w="0">
            <a:noFill/>
          </a:ln>
        </p:spPr>
        <p:txBody>
          <a:bodyPr/>
          <a:lstStyle/>
          <a:p>
            <a:endParaRPr lang="en-US"/>
          </a:p>
        </p:txBody>
      </p:sp>
      <p:sp>
        <p:nvSpPr>
          <p:cNvPr id="578" name="26%">
            <a:extLst>
              <a:ext uri="{FF2B5EF4-FFF2-40B4-BE49-F238E27FC236}">
                <a16:creationId xmlns:a16="http://schemas.microsoft.com/office/drawing/2014/main" id="{AF2930B4-605C-42C7-A2A6-5086C164563B}"/>
              </a:ext>
            </a:extLst>
          </p:cNvPr>
          <p:cNvSpPr>
            <a:spLocks noGrp="1"/>
          </p:cNvSpPr>
          <p:nvPr/>
        </p:nvSpPr>
        <p:spPr>
          <a:xfrm>
            <a:off x="5430467" y="4905375"/>
            <a:ext cx="172037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79" name="Rectangle 578">
            <a:extLst>
              <a:ext uri="{FF2B5EF4-FFF2-40B4-BE49-F238E27FC236}">
                <a16:creationId xmlns:a16="http://schemas.microsoft.com/office/drawing/2014/main" id="{C2F23FC6-8456-4ED7-A895-E6C21E569DD6}"/>
              </a:ext>
            </a:extLst>
          </p:cNvPr>
          <p:cNvSpPr>
            <a:spLocks noGrp="1"/>
          </p:cNvSpPr>
          <p:nvPr/>
        </p:nvSpPr>
        <p:spPr>
          <a:xfrm>
            <a:off x="7169890" y="4800600"/>
            <a:ext cx="1463842" cy="447675"/>
          </a:xfrm>
          <a:prstGeom prst="rect">
            <a:avLst/>
          </a:prstGeom>
          <a:solidFill>
            <a:srgbClr val="4C91D8"/>
          </a:solidFill>
          <a:ln w="0">
            <a:noFill/>
          </a:ln>
        </p:spPr>
        <p:txBody>
          <a:bodyPr/>
          <a:lstStyle/>
          <a:p>
            <a:endParaRPr lang="en-US"/>
          </a:p>
        </p:txBody>
      </p:sp>
      <p:sp>
        <p:nvSpPr>
          <p:cNvPr id="580" name="21%">
            <a:extLst>
              <a:ext uri="{FF2B5EF4-FFF2-40B4-BE49-F238E27FC236}">
                <a16:creationId xmlns:a16="http://schemas.microsoft.com/office/drawing/2014/main" id="{54037535-A91E-44C6-9E73-E03369D6996D}"/>
              </a:ext>
            </a:extLst>
          </p:cNvPr>
          <p:cNvSpPr>
            <a:spLocks noGrp="1"/>
          </p:cNvSpPr>
          <p:nvPr/>
        </p:nvSpPr>
        <p:spPr>
          <a:xfrm>
            <a:off x="7207990" y="4905375"/>
            <a:ext cx="140669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21%</a:t>
            </a:r>
          </a:p>
        </p:txBody>
      </p:sp>
      <p:sp>
        <p:nvSpPr>
          <p:cNvPr id="581" name="Rectangle 580">
            <a:extLst>
              <a:ext uri="{FF2B5EF4-FFF2-40B4-BE49-F238E27FC236}">
                <a16:creationId xmlns:a16="http://schemas.microsoft.com/office/drawing/2014/main" id="{6FF74CF7-5BC9-4E14-897C-E8BE237EA514}"/>
              </a:ext>
            </a:extLst>
          </p:cNvPr>
          <p:cNvSpPr>
            <a:spLocks noGrp="1"/>
          </p:cNvSpPr>
          <p:nvPr/>
        </p:nvSpPr>
        <p:spPr>
          <a:xfrm>
            <a:off x="8633732" y="4800600"/>
            <a:ext cx="1986643" cy="447675"/>
          </a:xfrm>
          <a:prstGeom prst="rect">
            <a:avLst/>
          </a:prstGeom>
          <a:solidFill>
            <a:srgbClr val="285B9F"/>
          </a:solidFill>
          <a:ln w="0">
            <a:noFill/>
          </a:ln>
        </p:spPr>
        <p:txBody>
          <a:bodyPr/>
          <a:lstStyle/>
          <a:p>
            <a:endParaRPr lang="en-US"/>
          </a:p>
        </p:txBody>
      </p:sp>
      <p:sp>
        <p:nvSpPr>
          <p:cNvPr id="582" name="29%">
            <a:extLst>
              <a:ext uri="{FF2B5EF4-FFF2-40B4-BE49-F238E27FC236}">
                <a16:creationId xmlns:a16="http://schemas.microsoft.com/office/drawing/2014/main" id="{79F526A3-E265-4B72-8E56-98E790739D35}"/>
              </a:ext>
            </a:extLst>
          </p:cNvPr>
          <p:cNvSpPr>
            <a:spLocks noGrp="1"/>
          </p:cNvSpPr>
          <p:nvPr/>
        </p:nvSpPr>
        <p:spPr>
          <a:xfrm>
            <a:off x="8671832" y="4905375"/>
            <a:ext cx="192949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83" name="n=133">
            <a:extLst>
              <a:ext uri="{FF2B5EF4-FFF2-40B4-BE49-F238E27FC236}">
                <a16:creationId xmlns:a16="http://schemas.microsoft.com/office/drawing/2014/main" id="{FC44BEA1-5B99-4662-88D0-0FD3DD1C32A3}"/>
              </a:ext>
            </a:extLst>
          </p:cNvPr>
          <p:cNvSpPr>
            <a:spLocks noGrp="1"/>
          </p:cNvSpPr>
          <p:nvPr/>
        </p:nvSpPr>
        <p:spPr>
          <a:xfrm>
            <a:off x="10782300" y="48958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n=133</a:t>
            </a:r>
          </a:p>
        </p:txBody>
      </p:sp>
      <p:sp>
        <p:nvSpPr>
          <p:cNvPr id="584" name="Rectangle 583">
            <a:extLst>
              <a:ext uri="{FF2B5EF4-FFF2-40B4-BE49-F238E27FC236}">
                <a16:creationId xmlns:a16="http://schemas.microsoft.com/office/drawing/2014/main" id="{AF2E17A2-15AF-4C80-B797-C101DE914AC8}"/>
              </a:ext>
            </a:extLst>
          </p:cNvPr>
          <p:cNvSpPr>
            <a:spLocks noGrp="1"/>
          </p:cNvSpPr>
          <p:nvPr/>
        </p:nvSpPr>
        <p:spPr>
          <a:xfrm>
            <a:off x="3667125" y="1409700"/>
            <a:ext cx="190500" cy="190500"/>
          </a:xfrm>
          <a:prstGeom prst="rect">
            <a:avLst/>
          </a:prstGeom>
          <a:solidFill>
            <a:srgbClr val="A83A3A"/>
          </a:solidFill>
          <a:ln w="0">
            <a:noFill/>
          </a:ln>
        </p:spPr>
        <p:txBody>
          <a:bodyPr/>
          <a:lstStyle/>
          <a:p>
            <a:endParaRPr lang="en-US"/>
          </a:p>
        </p:txBody>
      </p:sp>
      <p:sp>
        <p:nvSpPr>
          <p:cNvPr id="585" name="C0  &lt; 3.20">
            <a:extLst>
              <a:ext uri="{FF2B5EF4-FFF2-40B4-BE49-F238E27FC236}">
                <a16:creationId xmlns:a16="http://schemas.microsoft.com/office/drawing/2014/main" id="{154D55A6-5488-44D6-8B2A-91176F2537CC}"/>
              </a:ext>
            </a:extLst>
          </p:cNvPr>
          <p:cNvSpPr>
            <a:spLocks noGrp="1"/>
          </p:cNvSpPr>
          <p:nvPr/>
        </p:nvSpPr>
        <p:spPr>
          <a:xfrm>
            <a:off x="39433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C0  &lt; 3.20</a:t>
            </a:r>
          </a:p>
        </p:txBody>
      </p:sp>
      <p:sp>
        <p:nvSpPr>
          <p:cNvPr id="586" name="Rectangle 585">
            <a:extLst>
              <a:ext uri="{FF2B5EF4-FFF2-40B4-BE49-F238E27FC236}">
                <a16:creationId xmlns:a16="http://schemas.microsoft.com/office/drawing/2014/main" id="{F5DE9467-6CB5-499F-92BF-34DDB612788A}"/>
              </a:ext>
            </a:extLst>
          </p:cNvPr>
          <p:cNvSpPr>
            <a:spLocks noGrp="1"/>
          </p:cNvSpPr>
          <p:nvPr/>
        </p:nvSpPr>
        <p:spPr>
          <a:xfrm>
            <a:off x="5476875" y="1409700"/>
            <a:ext cx="190500" cy="190500"/>
          </a:xfrm>
          <a:prstGeom prst="rect">
            <a:avLst/>
          </a:prstGeom>
          <a:solidFill>
            <a:srgbClr val="DC713D"/>
          </a:solidFill>
          <a:ln w="0">
            <a:noFill/>
          </a:ln>
        </p:spPr>
        <p:txBody>
          <a:bodyPr/>
          <a:lstStyle/>
          <a:p>
            <a:endParaRPr lang="en-US"/>
          </a:p>
        </p:txBody>
      </p:sp>
      <p:sp>
        <p:nvSpPr>
          <p:cNvPr id="587" name="C1  3.20–3.49">
            <a:extLst>
              <a:ext uri="{FF2B5EF4-FFF2-40B4-BE49-F238E27FC236}">
                <a16:creationId xmlns:a16="http://schemas.microsoft.com/office/drawing/2014/main" id="{E6DB8F5E-B53F-4F14-830C-F09C2CCCB205}"/>
              </a:ext>
            </a:extLst>
          </p:cNvPr>
          <p:cNvSpPr>
            <a:spLocks noGrp="1"/>
          </p:cNvSpPr>
          <p:nvPr/>
        </p:nvSpPr>
        <p:spPr>
          <a:xfrm>
            <a:off x="57531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C1  3.20–3.49</a:t>
            </a:r>
          </a:p>
        </p:txBody>
      </p:sp>
      <p:sp>
        <p:nvSpPr>
          <p:cNvPr id="588" name="Rectangle 587">
            <a:extLst>
              <a:ext uri="{FF2B5EF4-FFF2-40B4-BE49-F238E27FC236}">
                <a16:creationId xmlns:a16="http://schemas.microsoft.com/office/drawing/2014/main" id="{AB31E7A5-A0F2-44B5-BF01-312E2B592032}"/>
              </a:ext>
            </a:extLst>
          </p:cNvPr>
          <p:cNvSpPr>
            <a:spLocks noGrp="1"/>
          </p:cNvSpPr>
          <p:nvPr/>
        </p:nvSpPr>
        <p:spPr>
          <a:xfrm>
            <a:off x="7286625" y="1409700"/>
            <a:ext cx="190500" cy="190500"/>
          </a:xfrm>
          <a:prstGeom prst="rect">
            <a:avLst/>
          </a:prstGeom>
          <a:solidFill>
            <a:srgbClr val="4C91D8"/>
          </a:solidFill>
          <a:ln w="0">
            <a:noFill/>
          </a:ln>
        </p:spPr>
        <p:txBody>
          <a:bodyPr/>
          <a:lstStyle/>
          <a:p>
            <a:endParaRPr lang="en-US"/>
          </a:p>
        </p:txBody>
      </p:sp>
      <p:sp>
        <p:nvSpPr>
          <p:cNvPr id="589" name="C2  3.50–3.74">
            <a:extLst>
              <a:ext uri="{FF2B5EF4-FFF2-40B4-BE49-F238E27FC236}">
                <a16:creationId xmlns:a16="http://schemas.microsoft.com/office/drawing/2014/main" id="{D7B2DA2A-72C3-4B1B-AF86-FAC4E6A7C86F}"/>
              </a:ext>
            </a:extLst>
          </p:cNvPr>
          <p:cNvSpPr>
            <a:spLocks noGrp="1"/>
          </p:cNvSpPr>
          <p:nvPr/>
        </p:nvSpPr>
        <p:spPr>
          <a:xfrm>
            <a:off x="75628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C2  3.50–3.74</a:t>
            </a:r>
          </a:p>
        </p:txBody>
      </p:sp>
      <p:sp>
        <p:nvSpPr>
          <p:cNvPr id="590" name="Rectangle 589">
            <a:extLst>
              <a:ext uri="{FF2B5EF4-FFF2-40B4-BE49-F238E27FC236}">
                <a16:creationId xmlns:a16="http://schemas.microsoft.com/office/drawing/2014/main" id="{6E8BAF0F-F548-4A29-A222-A6CB42057E95}"/>
              </a:ext>
            </a:extLst>
          </p:cNvPr>
          <p:cNvSpPr>
            <a:spLocks noGrp="1"/>
          </p:cNvSpPr>
          <p:nvPr/>
        </p:nvSpPr>
        <p:spPr>
          <a:xfrm>
            <a:off x="9096375" y="1409700"/>
            <a:ext cx="190500" cy="190500"/>
          </a:xfrm>
          <a:prstGeom prst="rect">
            <a:avLst/>
          </a:prstGeom>
          <a:solidFill>
            <a:srgbClr val="285B9F"/>
          </a:solidFill>
          <a:ln w="0">
            <a:noFill/>
          </a:ln>
        </p:spPr>
        <p:txBody>
          <a:bodyPr/>
          <a:lstStyle/>
          <a:p>
            <a:endParaRPr lang="en-US"/>
          </a:p>
        </p:txBody>
      </p:sp>
      <p:sp>
        <p:nvSpPr>
          <p:cNvPr id="591" name="C3  ≥ 3.75">
            <a:extLst>
              <a:ext uri="{FF2B5EF4-FFF2-40B4-BE49-F238E27FC236}">
                <a16:creationId xmlns:a16="http://schemas.microsoft.com/office/drawing/2014/main" id="{F60A1E47-562A-4EF0-9496-D02B0364F97E}"/>
              </a:ext>
            </a:extLst>
          </p:cNvPr>
          <p:cNvSpPr>
            <a:spLocks noGrp="1"/>
          </p:cNvSpPr>
          <p:nvPr/>
        </p:nvSpPr>
        <p:spPr>
          <a:xfrm>
            <a:off x="93726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C3  ≥ 3.75</a:t>
            </a:r>
          </a:p>
        </p:txBody>
      </p:sp>
      <p:cxnSp>
        <p:nvCxnSpPr>
          <p:cNvPr id="2" name="Straight Arrow Connector 1">
            <a:extLst>
              <a:ext uri="{FF2B5EF4-FFF2-40B4-BE49-F238E27FC236}">
                <a16:creationId xmlns:a16="http://schemas.microsoft.com/office/drawing/2014/main" id="{718A55AA-820B-E53E-751B-1DFE828241BD}"/>
              </a:ext>
            </a:extLst>
          </p:cNvPr>
          <p:cNvCxnSpPr>
            <a:cxnSpLocks/>
          </p:cNvCxnSpPr>
          <p:nvPr/>
        </p:nvCxnSpPr>
        <p:spPr>
          <a:xfrm>
            <a:off x="204107" y="5763986"/>
            <a:ext cx="105781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14908FF0-7172-2B37-8D95-1DD5598B2DE8}"/>
              </a:ext>
            </a:extLst>
          </p:cNvPr>
          <p:cNvCxnSpPr>
            <a:cxnSpLocks/>
          </p:cNvCxnSpPr>
          <p:nvPr/>
        </p:nvCxnSpPr>
        <p:spPr>
          <a:xfrm flipV="1">
            <a:off x="356507" y="971550"/>
            <a:ext cx="0" cy="4944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83A4D126-B348-324A-B399-4CDFF7C1507D}"/>
              </a:ext>
            </a:extLst>
          </p:cNvPr>
          <p:cNvSpPr txBox="1"/>
          <p:nvPr/>
        </p:nvSpPr>
        <p:spPr>
          <a:xfrm>
            <a:off x="5532723" y="5787509"/>
            <a:ext cx="821572" cy="369332"/>
          </a:xfrm>
          <a:prstGeom prst="rect">
            <a:avLst/>
          </a:prstGeom>
          <a:noFill/>
        </p:spPr>
        <p:txBody>
          <a:bodyPr wrap="none" rtlCol="0">
            <a:spAutoFit/>
          </a:bodyPr>
          <a:lstStyle/>
          <a:p>
            <a:r>
              <a:rPr lang="en-US" dirty="0"/>
              <a:t>CGPA</a:t>
            </a:r>
          </a:p>
        </p:txBody>
      </p:sp>
      <p:sp>
        <p:nvSpPr>
          <p:cNvPr id="5" name="TextBox 4">
            <a:extLst>
              <a:ext uri="{FF2B5EF4-FFF2-40B4-BE49-F238E27FC236}">
                <a16:creationId xmlns:a16="http://schemas.microsoft.com/office/drawing/2014/main" id="{A960FC45-D15A-FBB0-D0D4-8642BC4DF5D5}"/>
              </a:ext>
            </a:extLst>
          </p:cNvPr>
          <p:cNvSpPr txBox="1"/>
          <p:nvPr/>
        </p:nvSpPr>
        <p:spPr>
          <a:xfrm rot="16200000">
            <a:off x="-534476" y="2715997"/>
            <a:ext cx="1467068" cy="369332"/>
          </a:xfrm>
          <a:prstGeom prst="rect">
            <a:avLst/>
          </a:prstGeom>
          <a:noFill/>
        </p:spPr>
        <p:txBody>
          <a:bodyPr wrap="none" rtlCol="0">
            <a:spAutoFit/>
          </a:bodyPr>
          <a:lstStyle/>
          <a:p>
            <a:r>
              <a:rPr lang="en-US" dirty="0"/>
              <a:t>Topic Clarity</a:t>
            </a:r>
          </a:p>
        </p:txBody>
      </p:sp>
    </p:spTree>
    <p:extLst>
      <p:ext uri="{BB962C8B-B14F-4D97-AF65-F5344CB8AC3E}">
        <p14:creationId xmlns:p14="http://schemas.microsoft.com/office/powerpoint/2010/main" val="39397771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20</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Sleep and CGPA</a:t>
            </a:r>
          </a:p>
        </p:txBody>
      </p:sp>
      <p:sp>
        <p:nvSpPr>
          <p:cNvPr id="534" name="Less than 5 hrs">
            <a:extLst>
              <a:ext uri="{FF2B5EF4-FFF2-40B4-BE49-F238E27FC236}">
                <a16:creationId xmlns:a16="http://schemas.microsoft.com/office/drawing/2014/main" id="{F3DF7095-85D8-4006-B332-2A75FB545611}"/>
              </a:ext>
            </a:extLst>
          </p:cNvPr>
          <p:cNvSpPr>
            <a:spLocks noGrp="1"/>
          </p:cNvSpPr>
          <p:nvPr/>
        </p:nvSpPr>
        <p:spPr>
          <a:xfrm>
            <a:off x="400050" y="19431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Less than 5 hrs</a:t>
            </a:r>
          </a:p>
        </p:txBody>
      </p:sp>
      <p:sp>
        <p:nvSpPr>
          <p:cNvPr id="535" name="Rectangle 534">
            <a:extLst>
              <a:ext uri="{FF2B5EF4-FFF2-40B4-BE49-F238E27FC236}">
                <a16:creationId xmlns:a16="http://schemas.microsoft.com/office/drawing/2014/main" id="{FD06A6E2-3D79-4516-8749-43ECF98996DF}"/>
              </a:ext>
            </a:extLst>
          </p:cNvPr>
          <p:cNvSpPr>
            <a:spLocks noGrp="1"/>
          </p:cNvSpPr>
          <p:nvPr/>
        </p:nvSpPr>
        <p:spPr>
          <a:xfrm>
            <a:off x="3667125" y="1905000"/>
            <a:ext cx="1536630" cy="447675"/>
          </a:xfrm>
          <a:prstGeom prst="rect">
            <a:avLst/>
          </a:prstGeom>
          <a:solidFill>
            <a:srgbClr val="A83A3A"/>
          </a:solidFill>
          <a:ln w="0">
            <a:noFill/>
          </a:ln>
        </p:spPr>
        <p:txBody>
          <a:bodyPr/>
          <a:lstStyle/>
          <a:p>
            <a:endParaRPr lang="en-US"/>
          </a:p>
        </p:txBody>
      </p:sp>
      <p:sp>
        <p:nvSpPr>
          <p:cNvPr id="536" name="22%">
            <a:extLst>
              <a:ext uri="{FF2B5EF4-FFF2-40B4-BE49-F238E27FC236}">
                <a16:creationId xmlns:a16="http://schemas.microsoft.com/office/drawing/2014/main" id="{EFFA381E-B597-4939-B957-0C57D363AC8B}"/>
              </a:ext>
            </a:extLst>
          </p:cNvPr>
          <p:cNvSpPr>
            <a:spLocks noGrp="1"/>
          </p:cNvSpPr>
          <p:nvPr/>
        </p:nvSpPr>
        <p:spPr>
          <a:xfrm>
            <a:off x="3705225" y="2009775"/>
            <a:ext cx="147948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37" name="Rectangle 536">
            <a:extLst>
              <a:ext uri="{FF2B5EF4-FFF2-40B4-BE49-F238E27FC236}">
                <a16:creationId xmlns:a16="http://schemas.microsoft.com/office/drawing/2014/main" id="{8B383FC1-3504-4F02-A1F7-0B0D72ABE8BD}"/>
              </a:ext>
            </a:extLst>
          </p:cNvPr>
          <p:cNvSpPr>
            <a:spLocks noGrp="1"/>
          </p:cNvSpPr>
          <p:nvPr/>
        </p:nvSpPr>
        <p:spPr>
          <a:xfrm>
            <a:off x="5203755" y="1905000"/>
            <a:ext cx="2458608" cy="447675"/>
          </a:xfrm>
          <a:prstGeom prst="rect">
            <a:avLst/>
          </a:prstGeom>
          <a:solidFill>
            <a:srgbClr val="DC713D"/>
          </a:solidFill>
          <a:ln w="0">
            <a:noFill/>
          </a:ln>
        </p:spPr>
        <p:txBody>
          <a:bodyPr/>
          <a:lstStyle/>
          <a:p>
            <a:endParaRPr lang="en-US"/>
          </a:p>
        </p:txBody>
      </p:sp>
      <p:sp>
        <p:nvSpPr>
          <p:cNvPr id="538" name="35%">
            <a:extLst>
              <a:ext uri="{FF2B5EF4-FFF2-40B4-BE49-F238E27FC236}">
                <a16:creationId xmlns:a16="http://schemas.microsoft.com/office/drawing/2014/main" id="{3B670E97-AA2F-4A82-BD9E-28FA882CE331}"/>
              </a:ext>
            </a:extLst>
          </p:cNvPr>
          <p:cNvSpPr>
            <a:spLocks noGrp="1"/>
          </p:cNvSpPr>
          <p:nvPr/>
        </p:nvSpPr>
        <p:spPr>
          <a:xfrm>
            <a:off x="5241855" y="2009775"/>
            <a:ext cx="240145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35%</a:t>
            </a:r>
          </a:p>
        </p:txBody>
      </p:sp>
      <p:sp>
        <p:nvSpPr>
          <p:cNvPr id="539" name="Rectangle 538">
            <a:extLst>
              <a:ext uri="{FF2B5EF4-FFF2-40B4-BE49-F238E27FC236}">
                <a16:creationId xmlns:a16="http://schemas.microsoft.com/office/drawing/2014/main" id="{581934B2-7891-4D1F-A20C-90F73C6B4BF0}"/>
              </a:ext>
            </a:extLst>
          </p:cNvPr>
          <p:cNvSpPr>
            <a:spLocks noGrp="1"/>
          </p:cNvSpPr>
          <p:nvPr/>
        </p:nvSpPr>
        <p:spPr>
          <a:xfrm>
            <a:off x="7662363" y="1905000"/>
            <a:ext cx="1651877" cy="447675"/>
          </a:xfrm>
          <a:prstGeom prst="rect">
            <a:avLst/>
          </a:prstGeom>
          <a:solidFill>
            <a:srgbClr val="4C91D8"/>
          </a:solidFill>
          <a:ln w="0">
            <a:noFill/>
          </a:ln>
        </p:spPr>
        <p:txBody>
          <a:bodyPr/>
          <a:lstStyle/>
          <a:p>
            <a:endParaRPr lang="en-US"/>
          </a:p>
        </p:txBody>
      </p:sp>
      <p:sp>
        <p:nvSpPr>
          <p:cNvPr id="540" name="24%">
            <a:extLst>
              <a:ext uri="{FF2B5EF4-FFF2-40B4-BE49-F238E27FC236}">
                <a16:creationId xmlns:a16="http://schemas.microsoft.com/office/drawing/2014/main" id="{8A08817D-4633-4F4C-9F33-CCEF3BC31492}"/>
              </a:ext>
            </a:extLst>
          </p:cNvPr>
          <p:cNvSpPr>
            <a:spLocks noGrp="1"/>
          </p:cNvSpPr>
          <p:nvPr/>
        </p:nvSpPr>
        <p:spPr>
          <a:xfrm>
            <a:off x="7700463" y="2009775"/>
            <a:ext cx="159472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41" name="Rectangle 540">
            <a:extLst>
              <a:ext uri="{FF2B5EF4-FFF2-40B4-BE49-F238E27FC236}">
                <a16:creationId xmlns:a16="http://schemas.microsoft.com/office/drawing/2014/main" id="{9C8683B5-29C0-415B-8DE5-9FA435ECEB54}"/>
              </a:ext>
            </a:extLst>
          </p:cNvPr>
          <p:cNvSpPr>
            <a:spLocks noGrp="1"/>
          </p:cNvSpPr>
          <p:nvPr/>
        </p:nvSpPr>
        <p:spPr>
          <a:xfrm>
            <a:off x="9314240" y="1905000"/>
            <a:ext cx="1306135" cy="447675"/>
          </a:xfrm>
          <a:prstGeom prst="rect">
            <a:avLst/>
          </a:prstGeom>
          <a:solidFill>
            <a:srgbClr val="285B9F"/>
          </a:solidFill>
          <a:ln w="0">
            <a:noFill/>
          </a:ln>
        </p:spPr>
        <p:txBody>
          <a:bodyPr/>
          <a:lstStyle/>
          <a:p>
            <a:endParaRPr lang="en-US"/>
          </a:p>
        </p:txBody>
      </p:sp>
      <p:sp>
        <p:nvSpPr>
          <p:cNvPr id="542" name="19%">
            <a:extLst>
              <a:ext uri="{FF2B5EF4-FFF2-40B4-BE49-F238E27FC236}">
                <a16:creationId xmlns:a16="http://schemas.microsoft.com/office/drawing/2014/main" id="{D46F16EF-DE05-4D79-94DE-340468CFD4CA}"/>
              </a:ext>
            </a:extLst>
          </p:cNvPr>
          <p:cNvSpPr>
            <a:spLocks noGrp="1"/>
          </p:cNvSpPr>
          <p:nvPr/>
        </p:nvSpPr>
        <p:spPr>
          <a:xfrm>
            <a:off x="9352340" y="2009775"/>
            <a:ext cx="124898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19%</a:t>
            </a:r>
          </a:p>
        </p:txBody>
      </p:sp>
      <p:sp>
        <p:nvSpPr>
          <p:cNvPr id="543" name="n=181">
            <a:extLst>
              <a:ext uri="{FF2B5EF4-FFF2-40B4-BE49-F238E27FC236}">
                <a16:creationId xmlns:a16="http://schemas.microsoft.com/office/drawing/2014/main" id="{02952132-C799-4B3E-A115-D928C94FF737}"/>
              </a:ext>
            </a:extLst>
          </p:cNvPr>
          <p:cNvSpPr>
            <a:spLocks noGrp="1"/>
          </p:cNvSpPr>
          <p:nvPr/>
        </p:nvSpPr>
        <p:spPr>
          <a:xfrm>
            <a:off x="10782300" y="20002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n=181</a:t>
            </a:r>
          </a:p>
        </p:txBody>
      </p:sp>
      <p:sp>
        <p:nvSpPr>
          <p:cNvPr id="544" name="5-6 hrs">
            <a:extLst>
              <a:ext uri="{FF2B5EF4-FFF2-40B4-BE49-F238E27FC236}">
                <a16:creationId xmlns:a16="http://schemas.microsoft.com/office/drawing/2014/main" id="{E07C1FCB-36A7-4409-9E21-99CA59113A83}"/>
              </a:ext>
            </a:extLst>
          </p:cNvPr>
          <p:cNvSpPr>
            <a:spLocks noGrp="1"/>
          </p:cNvSpPr>
          <p:nvPr/>
        </p:nvSpPr>
        <p:spPr>
          <a:xfrm>
            <a:off x="400050" y="26670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5-6 hrs</a:t>
            </a:r>
          </a:p>
        </p:txBody>
      </p:sp>
      <p:sp>
        <p:nvSpPr>
          <p:cNvPr id="545" name="Rectangle 544">
            <a:extLst>
              <a:ext uri="{FF2B5EF4-FFF2-40B4-BE49-F238E27FC236}">
                <a16:creationId xmlns:a16="http://schemas.microsoft.com/office/drawing/2014/main" id="{510C40D5-AD58-40A9-9470-AFE26A173175}"/>
              </a:ext>
            </a:extLst>
          </p:cNvPr>
          <p:cNvSpPr>
            <a:spLocks noGrp="1"/>
          </p:cNvSpPr>
          <p:nvPr/>
        </p:nvSpPr>
        <p:spPr>
          <a:xfrm>
            <a:off x="3667125" y="2628900"/>
            <a:ext cx="1435510" cy="447675"/>
          </a:xfrm>
          <a:prstGeom prst="rect">
            <a:avLst/>
          </a:prstGeom>
          <a:solidFill>
            <a:srgbClr val="A83A3A"/>
          </a:solidFill>
          <a:ln w="0">
            <a:noFill/>
          </a:ln>
        </p:spPr>
        <p:txBody>
          <a:bodyPr/>
          <a:lstStyle/>
          <a:p>
            <a:endParaRPr lang="en-US"/>
          </a:p>
        </p:txBody>
      </p:sp>
      <p:sp>
        <p:nvSpPr>
          <p:cNvPr id="546" name="21%">
            <a:extLst>
              <a:ext uri="{FF2B5EF4-FFF2-40B4-BE49-F238E27FC236}">
                <a16:creationId xmlns:a16="http://schemas.microsoft.com/office/drawing/2014/main" id="{8994B669-DF78-4892-ABB3-07F29443EC9F}"/>
              </a:ext>
            </a:extLst>
          </p:cNvPr>
          <p:cNvSpPr>
            <a:spLocks noGrp="1"/>
          </p:cNvSpPr>
          <p:nvPr/>
        </p:nvSpPr>
        <p:spPr>
          <a:xfrm>
            <a:off x="3705225" y="2733675"/>
            <a:ext cx="137836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21%</a:t>
            </a:r>
          </a:p>
        </p:txBody>
      </p:sp>
      <p:sp>
        <p:nvSpPr>
          <p:cNvPr id="547" name="Rectangle 546">
            <a:extLst>
              <a:ext uri="{FF2B5EF4-FFF2-40B4-BE49-F238E27FC236}">
                <a16:creationId xmlns:a16="http://schemas.microsoft.com/office/drawing/2014/main" id="{C1DCD715-BD65-4375-979A-C59B6E9ED91D}"/>
              </a:ext>
            </a:extLst>
          </p:cNvPr>
          <p:cNvSpPr>
            <a:spLocks noGrp="1"/>
          </p:cNvSpPr>
          <p:nvPr/>
        </p:nvSpPr>
        <p:spPr>
          <a:xfrm>
            <a:off x="5102635" y="2628900"/>
            <a:ext cx="1816817" cy="447675"/>
          </a:xfrm>
          <a:prstGeom prst="rect">
            <a:avLst/>
          </a:prstGeom>
          <a:solidFill>
            <a:srgbClr val="DC713D"/>
          </a:solidFill>
          <a:ln w="0">
            <a:noFill/>
          </a:ln>
        </p:spPr>
        <p:txBody>
          <a:bodyPr/>
          <a:lstStyle/>
          <a:p>
            <a:endParaRPr lang="en-US"/>
          </a:p>
        </p:txBody>
      </p:sp>
      <p:sp>
        <p:nvSpPr>
          <p:cNvPr id="548" name="26%">
            <a:extLst>
              <a:ext uri="{FF2B5EF4-FFF2-40B4-BE49-F238E27FC236}">
                <a16:creationId xmlns:a16="http://schemas.microsoft.com/office/drawing/2014/main" id="{EA00C5A4-C2FF-4111-9F96-E9F08357262E}"/>
              </a:ext>
            </a:extLst>
          </p:cNvPr>
          <p:cNvSpPr>
            <a:spLocks noGrp="1"/>
          </p:cNvSpPr>
          <p:nvPr/>
        </p:nvSpPr>
        <p:spPr>
          <a:xfrm>
            <a:off x="5140735" y="2733675"/>
            <a:ext cx="175966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49" name="Rectangle 548">
            <a:extLst>
              <a:ext uri="{FF2B5EF4-FFF2-40B4-BE49-F238E27FC236}">
                <a16:creationId xmlns:a16="http://schemas.microsoft.com/office/drawing/2014/main" id="{ABCB1226-7961-4076-B9E0-1AB3E3E2DE2D}"/>
              </a:ext>
            </a:extLst>
          </p:cNvPr>
          <p:cNvSpPr>
            <a:spLocks noGrp="1"/>
          </p:cNvSpPr>
          <p:nvPr/>
        </p:nvSpPr>
        <p:spPr>
          <a:xfrm>
            <a:off x="6919452" y="2628900"/>
            <a:ext cx="2153265" cy="447675"/>
          </a:xfrm>
          <a:prstGeom prst="rect">
            <a:avLst/>
          </a:prstGeom>
          <a:solidFill>
            <a:srgbClr val="4C91D8"/>
          </a:solidFill>
          <a:ln w="0">
            <a:noFill/>
          </a:ln>
        </p:spPr>
        <p:txBody>
          <a:bodyPr/>
          <a:lstStyle/>
          <a:p>
            <a:endParaRPr lang="en-US"/>
          </a:p>
        </p:txBody>
      </p:sp>
      <p:sp>
        <p:nvSpPr>
          <p:cNvPr id="550" name="31%">
            <a:extLst>
              <a:ext uri="{FF2B5EF4-FFF2-40B4-BE49-F238E27FC236}">
                <a16:creationId xmlns:a16="http://schemas.microsoft.com/office/drawing/2014/main" id="{70932471-6AB1-4EB5-9988-E2858E67D25B}"/>
              </a:ext>
            </a:extLst>
          </p:cNvPr>
          <p:cNvSpPr>
            <a:spLocks noGrp="1"/>
          </p:cNvSpPr>
          <p:nvPr/>
        </p:nvSpPr>
        <p:spPr>
          <a:xfrm>
            <a:off x="6957552" y="2733675"/>
            <a:ext cx="209611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31%</a:t>
            </a:r>
          </a:p>
        </p:txBody>
      </p:sp>
      <p:sp>
        <p:nvSpPr>
          <p:cNvPr id="551" name="Rectangle 550">
            <a:extLst>
              <a:ext uri="{FF2B5EF4-FFF2-40B4-BE49-F238E27FC236}">
                <a16:creationId xmlns:a16="http://schemas.microsoft.com/office/drawing/2014/main" id="{ABE01831-6636-4F32-9C94-48C438DEA99C}"/>
              </a:ext>
            </a:extLst>
          </p:cNvPr>
          <p:cNvSpPr>
            <a:spLocks noGrp="1"/>
          </p:cNvSpPr>
          <p:nvPr/>
        </p:nvSpPr>
        <p:spPr>
          <a:xfrm>
            <a:off x="9072716" y="2628900"/>
            <a:ext cx="1547659" cy="447675"/>
          </a:xfrm>
          <a:prstGeom prst="rect">
            <a:avLst/>
          </a:prstGeom>
          <a:solidFill>
            <a:srgbClr val="285B9F"/>
          </a:solidFill>
          <a:ln w="0">
            <a:noFill/>
          </a:ln>
        </p:spPr>
        <p:txBody>
          <a:bodyPr/>
          <a:lstStyle/>
          <a:p>
            <a:endParaRPr lang="en-US"/>
          </a:p>
        </p:txBody>
      </p:sp>
      <p:sp>
        <p:nvSpPr>
          <p:cNvPr id="552" name="22%">
            <a:extLst>
              <a:ext uri="{FF2B5EF4-FFF2-40B4-BE49-F238E27FC236}">
                <a16:creationId xmlns:a16="http://schemas.microsoft.com/office/drawing/2014/main" id="{B0E65ADD-1946-488F-9F3E-412F74F27CF6}"/>
              </a:ext>
            </a:extLst>
          </p:cNvPr>
          <p:cNvSpPr>
            <a:spLocks noGrp="1"/>
          </p:cNvSpPr>
          <p:nvPr/>
        </p:nvSpPr>
        <p:spPr>
          <a:xfrm>
            <a:off x="9110816" y="2733675"/>
            <a:ext cx="1490509"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53" name="n=310">
            <a:extLst>
              <a:ext uri="{FF2B5EF4-FFF2-40B4-BE49-F238E27FC236}">
                <a16:creationId xmlns:a16="http://schemas.microsoft.com/office/drawing/2014/main" id="{A789972D-D81F-4274-AD95-7909A2EB0D2C}"/>
              </a:ext>
            </a:extLst>
          </p:cNvPr>
          <p:cNvSpPr>
            <a:spLocks noGrp="1"/>
          </p:cNvSpPr>
          <p:nvPr/>
        </p:nvSpPr>
        <p:spPr>
          <a:xfrm>
            <a:off x="10782300" y="27241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n=310</a:t>
            </a:r>
          </a:p>
        </p:txBody>
      </p:sp>
      <p:sp>
        <p:nvSpPr>
          <p:cNvPr id="554" name="6-7 hrs">
            <a:extLst>
              <a:ext uri="{FF2B5EF4-FFF2-40B4-BE49-F238E27FC236}">
                <a16:creationId xmlns:a16="http://schemas.microsoft.com/office/drawing/2014/main" id="{995572E7-6EC7-45BF-B550-C5AF42266428}"/>
              </a:ext>
            </a:extLst>
          </p:cNvPr>
          <p:cNvSpPr>
            <a:spLocks noGrp="1"/>
          </p:cNvSpPr>
          <p:nvPr/>
        </p:nvSpPr>
        <p:spPr>
          <a:xfrm>
            <a:off x="400050" y="33909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6-7 hrs</a:t>
            </a:r>
          </a:p>
        </p:txBody>
      </p:sp>
      <p:sp>
        <p:nvSpPr>
          <p:cNvPr id="555" name="Rectangle 554">
            <a:extLst>
              <a:ext uri="{FF2B5EF4-FFF2-40B4-BE49-F238E27FC236}">
                <a16:creationId xmlns:a16="http://schemas.microsoft.com/office/drawing/2014/main" id="{AC916197-F7D3-4EF1-9241-B453C19D49DF}"/>
              </a:ext>
            </a:extLst>
          </p:cNvPr>
          <p:cNvSpPr>
            <a:spLocks noGrp="1"/>
          </p:cNvSpPr>
          <p:nvPr/>
        </p:nvSpPr>
        <p:spPr>
          <a:xfrm>
            <a:off x="3667125" y="3352800"/>
            <a:ext cx="1385788" cy="447675"/>
          </a:xfrm>
          <a:prstGeom prst="rect">
            <a:avLst/>
          </a:prstGeom>
          <a:solidFill>
            <a:srgbClr val="A83A3A"/>
          </a:solidFill>
          <a:ln w="0">
            <a:noFill/>
          </a:ln>
        </p:spPr>
        <p:txBody>
          <a:bodyPr/>
          <a:lstStyle/>
          <a:p>
            <a:endParaRPr lang="en-US"/>
          </a:p>
        </p:txBody>
      </p:sp>
      <p:sp>
        <p:nvSpPr>
          <p:cNvPr id="556" name="20%">
            <a:extLst>
              <a:ext uri="{FF2B5EF4-FFF2-40B4-BE49-F238E27FC236}">
                <a16:creationId xmlns:a16="http://schemas.microsoft.com/office/drawing/2014/main" id="{26384405-E510-4392-BE28-CFFCC2191883}"/>
              </a:ext>
            </a:extLst>
          </p:cNvPr>
          <p:cNvSpPr>
            <a:spLocks noGrp="1"/>
          </p:cNvSpPr>
          <p:nvPr/>
        </p:nvSpPr>
        <p:spPr>
          <a:xfrm>
            <a:off x="3705225" y="3457575"/>
            <a:ext cx="132863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57" name="Rectangle 556">
            <a:extLst>
              <a:ext uri="{FF2B5EF4-FFF2-40B4-BE49-F238E27FC236}">
                <a16:creationId xmlns:a16="http://schemas.microsoft.com/office/drawing/2014/main" id="{30806C5A-6FF6-4D67-B266-E7C7AE8D69A5}"/>
              </a:ext>
            </a:extLst>
          </p:cNvPr>
          <p:cNvSpPr>
            <a:spLocks noGrp="1"/>
          </p:cNvSpPr>
          <p:nvPr/>
        </p:nvSpPr>
        <p:spPr>
          <a:xfrm>
            <a:off x="5052913" y="3352800"/>
            <a:ext cx="2236710" cy="447675"/>
          </a:xfrm>
          <a:prstGeom prst="rect">
            <a:avLst/>
          </a:prstGeom>
          <a:solidFill>
            <a:srgbClr val="DC713D"/>
          </a:solidFill>
          <a:ln w="0">
            <a:noFill/>
          </a:ln>
        </p:spPr>
        <p:txBody>
          <a:bodyPr/>
          <a:lstStyle/>
          <a:p>
            <a:endParaRPr lang="en-US"/>
          </a:p>
        </p:txBody>
      </p:sp>
      <p:sp>
        <p:nvSpPr>
          <p:cNvPr id="558" name="32%">
            <a:extLst>
              <a:ext uri="{FF2B5EF4-FFF2-40B4-BE49-F238E27FC236}">
                <a16:creationId xmlns:a16="http://schemas.microsoft.com/office/drawing/2014/main" id="{8E540F2E-C603-4BE2-A077-74BA404AE181}"/>
              </a:ext>
            </a:extLst>
          </p:cNvPr>
          <p:cNvSpPr>
            <a:spLocks noGrp="1"/>
          </p:cNvSpPr>
          <p:nvPr/>
        </p:nvSpPr>
        <p:spPr>
          <a:xfrm>
            <a:off x="5091013" y="3457575"/>
            <a:ext cx="217956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32%</a:t>
            </a:r>
          </a:p>
        </p:txBody>
      </p:sp>
      <p:sp>
        <p:nvSpPr>
          <p:cNvPr id="559" name="Rectangle 558">
            <a:extLst>
              <a:ext uri="{FF2B5EF4-FFF2-40B4-BE49-F238E27FC236}">
                <a16:creationId xmlns:a16="http://schemas.microsoft.com/office/drawing/2014/main" id="{585CB4A7-4F2E-4A9E-92E5-D3BE6E2A26B5}"/>
              </a:ext>
            </a:extLst>
          </p:cNvPr>
          <p:cNvSpPr>
            <a:spLocks noGrp="1"/>
          </p:cNvSpPr>
          <p:nvPr/>
        </p:nvSpPr>
        <p:spPr>
          <a:xfrm>
            <a:off x="7289622" y="3352800"/>
            <a:ext cx="1799093" cy="447675"/>
          </a:xfrm>
          <a:prstGeom prst="rect">
            <a:avLst/>
          </a:prstGeom>
          <a:solidFill>
            <a:srgbClr val="4C91D8"/>
          </a:solidFill>
          <a:ln w="0">
            <a:noFill/>
          </a:ln>
        </p:spPr>
        <p:txBody>
          <a:bodyPr/>
          <a:lstStyle/>
          <a:p>
            <a:endParaRPr lang="en-US"/>
          </a:p>
        </p:txBody>
      </p:sp>
      <p:sp>
        <p:nvSpPr>
          <p:cNvPr id="560" name="26%">
            <a:extLst>
              <a:ext uri="{FF2B5EF4-FFF2-40B4-BE49-F238E27FC236}">
                <a16:creationId xmlns:a16="http://schemas.microsoft.com/office/drawing/2014/main" id="{933DA2DC-AF1F-4EA7-BDFA-236C38444802}"/>
              </a:ext>
            </a:extLst>
          </p:cNvPr>
          <p:cNvSpPr>
            <a:spLocks noGrp="1"/>
          </p:cNvSpPr>
          <p:nvPr/>
        </p:nvSpPr>
        <p:spPr>
          <a:xfrm>
            <a:off x="7327722" y="3457575"/>
            <a:ext cx="174194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61" name="Rectangle 560">
            <a:extLst>
              <a:ext uri="{FF2B5EF4-FFF2-40B4-BE49-F238E27FC236}">
                <a16:creationId xmlns:a16="http://schemas.microsoft.com/office/drawing/2014/main" id="{C41F3676-7703-47D5-BD2E-7CD3949D0588}"/>
              </a:ext>
            </a:extLst>
          </p:cNvPr>
          <p:cNvSpPr>
            <a:spLocks noGrp="1"/>
          </p:cNvSpPr>
          <p:nvPr/>
        </p:nvSpPr>
        <p:spPr>
          <a:xfrm>
            <a:off x="9088715" y="3352800"/>
            <a:ext cx="1531660" cy="447675"/>
          </a:xfrm>
          <a:prstGeom prst="rect">
            <a:avLst/>
          </a:prstGeom>
          <a:solidFill>
            <a:srgbClr val="285B9F"/>
          </a:solidFill>
          <a:ln w="0">
            <a:noFill/>
          </a:ln>
        </p:spPr>
        <p:txBody>
          <a:bodyPr/>
          <a:lstStyle/>
          <a:p>
            <a:endParaRPr lang="en-US"/>
          </a:p>
        </p:txBody>
      </p:sp>
      <p:sp>
        <p:nvSpPr>
          <p:cNvPr id="562" name="22%">
            <a:extLst>
              <a:ext uri="{FF2B5EF4-FFF2-40B4-BE49-F238E27FC236}">
                <a16:creationId xmlns:a16="http://schemas.microsoft.com/office/drawing/2014/main" id="{E53E8D33-676F-4224-8408-99E21DB1CAB6}"/>
              </a:ext>
            </a:extLst>
          </p:cNvPr>
          <p:cNvSpPr>
            <a:spLocks noGrp="1"/>
          </p:cNvSpPr>
          <p:nvPr/>
        </p:nvSpPr>
        <p:spPr>
          <a:xfrm>
            <a:off x="9126815" y="3457575"/>
            <a:ext cx="147451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63" name="n=286">
            <a:extLst>
              <a:ext uri="{FF2B5EF4-FFF2-40B4-BE49-F238E27FC236}">
                <a16:creationId xmlns:a16="http://schemas.microsoft.com/office/drawing/2014/main" id="{D9A9414A-C747-4354-B6F6-06C2CB938463}"/>
              </a:ext>
            </a:extLst>
          </p:cNvPr>
          <p:cNvSpPr>
            <a:spLocks noGrp="1"/>
          </p:cNvSpPr>
          <p:nvPr/>
        </p:nvSpPr>
        <p:spPr>
          <a:xfrm>
            <a:off x="10782300" y="34480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n=286</a:t>
            </a:r>
          </a:p>
        </p:txBody>
      </p:sp>
      <p:sp>
        <p:nvSpPr>
          <p:cNvPr id="564" name="7-8 hrs">
            <a:extLst>
              <a:ext uri="{FF2B5EF4-FFF2-40B4-BE49-F238E27FC236}">
                <a16:creationId xmlns:a16="http://schemas.microsoft.com/office/drawing/2014/main" id="{145558ED-7500-4D2B-AE1E-A3D133F814DF}"/>
              </a:ext>
            </a:extLst>
          </p:cNvPr>
          <p:cNvSpPr>
            <a:spLocks noGrp="1"/>
          </p:cNvSpPr>
          <p:nvPr/>
        </p:nvSpPr>
        <p:spPr>
          <a:xfrm>
            <a:off x="400050" y="41148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7-8 hrs</a:t>
            </a:r>
          </a:p>
        </p:txBody>
      </p:sp>
      <p:sp>
        <p:nvSpPr>
          <p:cNvPr id="565" name="Rectangle 564">
            <a:extLst>
              <a:ext uri="{FF2B5EF4-FFF2-40B4-BE49-F238E27FC236}">
                <a16:creationId xmlns:a16="http://schemas.microsoft.com/office/drawing/2014/main" id="{EA24939C-50C5-4632-A235-DEB65AC2D3FC}"/>
              </a:ext>
            </a:extLst>
          </p:cNvPr>
          <p:cNvSpPr>
            <a:spLocks noGrp="1"/>
          </p:cNvSpPr>
          <p:nvPr/>
        </p:nvSpPr>
        <p:spPr>
          <a:xfrm>
            <a:off x="3667125" y="4076700"/>
            <a:ext cx="1384212" cy="447675"/>
          </a:xfrm>
          <a:prstGeom prst="rect">
            <a:avLst/>
          </a:prstGeom>
          <a:solidFill>
            <a:srgbClr val="A83A3A"/>
          </a:solidFill>
          <a:ln w="0">
            <a:noFill/>
          </a:ln>
        </p:spPr>
        <p:txBody>
          <a:bodyPr/>
          <a:lstStyle/>
          <a:p>
            <a:endParaRPr lang="en-US"/>
          </a:p>
        </p:txBody>
      </p:sp>
      <p:sp>
        <p:nvSpPr>
          <p:cNvPr id="566" name="20%">
            <a:extLst>
              <a:ext uri="{FF2B5EF4-FFF2-40B4-BE49-F238E27FC236}">
                <a16:creationId xmlns:a16="http://schemas.microsoft.com/office/drawing/2014/main" id="{CBC1E457-BA1D-44F6-B252-92394D9DFA4D}"/>
              </a:ext>
            </a:extLst>
          </p:cNvPr>
          <p:cNvSpPr>
            <a:spLocks noGrp="1"/>
          </p:cNvSpPr>
          <p:nvPr/>
        </p:nvSpPr>
        <p:spPr>
          <a:xfrm>
            <a:off x="3705225" y="4181475"/>
            <a:ext cx="132706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67" name="Rectangle 566">
            <a:extLst>
              <a:ext uri="{FF2B5EF4-FFF2-40B4-BE49-F238E27FC236}">
                <a16:creationId xmlns:a16="http://schemas.microsoft.com/office/drawing/2014/main" id="{885F5512-97CC-4089-8B41-511ABB611332}"/>
              </a:ext>
            </a:extLst>
          </p:cNvPr>
          <p:cNvSpPr>
            <a:spLocks noGrp="1"/>
          </p:cNvSpPr>
          <p:nvPr/>
        </p:nvSpPr>
        <p:spPr>
          <a:xfrm>
            <a:off x="5051337" y="4076700"/>
            <a:ext cx="1995840" cy="447675"/>
          </a:xfrm>
          <a:prstGeom prst="rect">
            <a:avLst/>
          </a:prstGeom>
          <a:solidFill>
            <a:srgbClr val="DC713D"/>
          </a:solidFill>
          <a:ln w="0">
            <a:noFill/>
          </a:ln>
        </p:spPr>
        <p:txBody>
          <a:bodyPr/>
          <a:lstStyle/>
          <a:p>
            <a:endParaRPr lang="en-US"/>
          </a:p>
        </p:txBody>
      </p:sp>
      <p:sp>
        <p:nvSpPr>
          <p:cNvPr id="568" name="29%">
            <a:extLst>
              <a:ext uri="{FF2B5EF4-FFF2-40B4-BE49-F238E27FC236}">
                <a16:creationId xmlns:a16="http://schemas.microsoft.com/office/drawing/2014/main" id="{61063409-B905-4BCC-A7C4-E70A2C485123}"/>
              </a:ext>
            </a:extLst>
          </p:cNvPr>
          <p:cNvSpPr>
            <a:spLocks noGrp="1"/>
          </p:cNvSpPr>
          <p:nvPr/>
        </p:nvSpPr>
        <p:spPr>
          <a:xfrm>
            <a:off x="5089437" y="4181475"/>
            <a:ext cx="193869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69" name="Rectangle 568">
            <a:extLst>
              <a:ext uri="{FF2B5EF4-FFF2-40B4-BE49-F238E27FC236}">
                <a16:creationId xmlns:a16="http://schemas.microsoft.com/office/drawing/2014/main" id="{B07F84D0-33EB-48F7-B237-DA7A43FAD16E}"/>
              </a:ext>
            </a:extLst>
          </p:cNvPr>
          <p:cNvSpPr>
            <a:spLocks noGrp="1"/>
          </p:cNvSpPr>
          <p:nvPr/>
        </p:nvSpPr>
        <p:spPr>
          <a:xfrm>
            <a:off x="7047177" y="4076700"/>
            <a:ext cx="1770503" cy="447675"/>
          </a:xfrm>
          <a:prstGeom prst="rect">
            <a:avLst/>
          </a:prstGeom>
          <a:solidFill>
            <a:srgbClr val="4C91D8"/>
          </a:solidFill>
          <a:ln w="0">
            <a:noFill/>
          </a:ln>
        </p:spPr>
        <p:txBody>
          <a:bodyPr/>
          <a:lstStyle/>
          <a:p>
            <a:endParaRPr lang="en-US"/>
          </a:p>
        </p:txBody>
      </p:sp>
      <p:sp>
        <p:nvSpPr>
          <p:cNvPr id="570" name="25%">
            <a:extLst>
              <a:ext uri="{FF2B5EF4-FFF2-40B4-BE49-F238E27FC236}">
                <a16:creationId xmlns:a16="http://schemas.microsoft.com/office/drawing/2014/main" id="{5D27EACF-D3CD-4DFC-8111-F51DC4B1C474}"/>
              </a:ext>
            </a:extLst>
          </p:cNvPr>
          <p:cNvSpPr>
            <a:spLocks noGrp="1"/>
          </p:cNvSpPr>
          <p:nvPr/>
        </p:nvSpPr>
        <p:spPr>
          <a:xfrm>
            <a:off x="7085277" y="4181475"/>
            <a:ext cx="171335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71" name="Rectangle 570">
            <a:extLst>
              <a:ext uri="{FF2B5EF4-FFF2-40B4-BE49-F238E27FC236}">
                <a16:creationId xmlns:a16="http://schemas.microsoft.com/office/drawing/2014/main" id="{151ED6C2-DB0C-448E-A59B-842E00B7485B}"/>
              </a:ext>
            </a:extLst>
          </p:cNvPr>
          <p:cNvSpPr>
            <a:spLocks noGrp="1"/>
          </p:cNvSpPr>
          <p:nvPr/>
        </p:nvSpPr>
        <p:spPr>
          <a:xfrm>
            <a:off x="8817681" y="4076700"/>
            <a:ext cx="1802694" cy="447675"/>
          </a:xfrm>
          <a:prstGeom prst="rect">
            <a:avLst/>
          </a:prstGeom>
          <a:solidFill>
            <a:srgbClr val="285B9F"/>
          </a:solidFill>
          <a:ln w="0">
            <a:noFill/>
          </a:ln>
        </p:spPr>
        <p:txBody>
          <a:bodyPr/>
          <a:lstStyle/>
          <a:p>
            <a:endParaRPr lang="en-US"/>
          </a:p>
        </p:txBody>
      </p:sp>
      <p:sp>
        <p:nvSpPr>
          <p:cNvPr id="572" name="26%">
            <a:extLst>
              <a:ext uri="{FF2B5EF4-FFF2-40B4-BE49-F238E27FC236}">
                <a16:creationId xmlns:a16="http://schemas.microsoft.com/office/drawing/2014/main" id="{4632412D-E888-484E-A395-C407075E24D3}"/>
              </a:ext>
            </a:extLst>
          </p:cNvPr>
          <p:cNvSpPr>
            <a:spLocks noGrp="1"/>
          </p:cNvSpPr>
          <p:nvPr/>
        </p:nvSpPr>
        <p:spPr>
          <a:xfrm>
            <a:off x="8855781" y="4181475"/>
            <a:ext cx="174554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73" name="n=216">
            <a:extLst>
              <a:ext uri="{FF2B5EF4-FFF2-40B4-BE49-F238E27FC236}">
                <a16:creationId xmlns:a16="http://schemas.microsoft.com/office/drawing/2014/main" id="{1AC0477C-EC21-4A6E-BD6D-842A8A3AFF17}"/>
              </a:ext>
            </a:extLst>
          </p:cNvPr>
          <p:cNvSpPr>
            <a:spLocks noGrp="1"/>
          </p:cNvSpPr>
          <p:nvPr/>
        </p:nvSpPr>
        <p:spPr>
          <a:xfrm>
            <a:off x="10782300" y="41719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n=216</a:t>
            </a:r>
          </a:p>
        </p:txBody>
      </p:sp>
      <p:sp>
        <p:nvSpPr>
          <p:cNvPr id="574" name="More than 8 hrs">
            <a:extLst>
              <a:ext uri="{FF2B5EF4-FFF2-40B4-BE49-F238E27FC236}">
                <a16:creationId xmlns:a16="http://schemas.microsoft.com/office/drawing/2014/main" id="{68A4EAED-0189-48F7-AD7C-795745ABCC71}"/>
              </a:ext>
            </a:extLst>
          </p:cNvPr>
          <p:cNvSpPr>
            <a:spLocks noGrp="1"/>
          </p:cNvSpPr>
          <p:nvPr/>
        </p:nvSpPr>
        <p:spPr>
          <a:xfrm>
            <a:off x="400050" y="48387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More than 8 hrs</a:t>
            </a:r>
          </a:p>
        </p:txBody>
      </p:sp>
      <p:sp>
        <p:nvSpPr>
          <p:cNvPr id="575" name="Rectangle 574">
            <a:extLst>
              <a:ext uri="{FF2B5EF4-FFF2-40B4-BE49-F238E27FC236}">
                <a16:creationId xmlns:a16="http://schemas.microsoft.com/office/drawing/2014/main" id="{4DCD466A-B09E-4C1D-887A-1574581E5858}"/>
              </a:ext>
            </a:extLst>
          </p:cNvPr>
          <p:cNvSpPr>
            <a:spLocks noGrp="1"/>
          </p:cNvSpPr>
          <p:nvPr/>
        </p:nvSpPr>
        <p:spPr>
          <a:xfrm>
            <a:off x="3667125" y="4800600"/>
            <a:ext cx="1934817" cy="447675"/>
          </a:xfrm>
          <a:prstGeom prst="rect">
            <a:avLst/>
          </a:prstGeom>
          <a:solidFill>
            <a:srgbClr val="A83A3A"/>
          </a:solidFill>
          <a:ln w="0">
            <a:noFill/>
          </a:ln>
        </p:spPr>
        <p:txBody>
          <a:bodyPr/>
          <a:lstStyle/>
          <a:p>
            <a:endParaRPr lang="en-US"/>
          </a:p>
        </p:txBody>
      </p:sp>
      <p:sp>
        <p:nvSpPr>
          <p:cNvPr id="576" name="28%">
            <a:extLst>
              <a:ext uri="{FF2B5EF4-FFF2-40B4-BE49-F238E27FC236}">
                <a16:creationId xmlns:a16="http://schemas.microsoft.com/office/drawing/2014/main" id="{9691B53D-D313-47D1-9FE5-1C9386B08E41}"/>
              </a:ext>
            </a:extLst>
          </p:cNvPr>
          <p:cNvSpPr>
            <a:spLocks noGrp="1"/>
          </p:cNvSpPr>
          <p:nvPr/>
        </p:nvSpPr>
        <p:spPr>
          <a:xfrm>
            <a:off x="3705225" y="4905375"/>
            <a:ext cx="187766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77" name="Rectangle 576">
            <a:extLst>
              <a:ext uri="{FF2B5EF4-FFF2-40B4-BE49-F238E27FC236}">
                <a16:creationId xmlns:a16="http://schemas.microsoft.com/office/drawing/2014/main" id="{BBF95E5D-9704-4A28-BCE7-635FB42E22AA}"/>
              </a:ext>
            </a:extLst>
          </p:cNvPr>
          <p:cNvSpPr>
            <a:spLocks noGrp="1"/>
          </p:cNvSpPr>
          <p:nvPr/>
        </p:nvSpPr>
        <p:spPr>
          <a:xfrm>
            <a:off x="5601942" y="4800600"/>
            <a:ext cx="1330187" cy="447675"/>
          </a:xfrm>
          <a:prstGeom prst="rect">
            <a:avLst/>
          </a:prstGeom>
          <a:solidFill>
            <a:srgbClr val="DC713D"/>
          </a:solidFill>
          <a:ln w="0">
            <a:noFill/>
          </a:ln>
        </p:spPr>
        <p:txBody>
          <a:bodyPr/>
          <a:lstStyle/>
          <a:p>
            <a:endParaRPr lang="en-US"/>
          </a:p>
        </p:txBody>
      </p:sp>
      <p:sp>
        <p:nvSpPr>
          <p:cNvPr id="578" name="19%">
            <a:extLst>
              <a:ext uri="{FF2B5EF4-FFF2-40B4-BE49-F238E27FC236}">
                <a16:creationId xmlns:a16="http://schemas.microsoft.com/office/drawing/2014/main" id="{DAE50840-C72B-43AF-BD72-955F2739F910}"/>
              </a:ext>
            </a:extLst>
          </p:cNvPr>
          <p:cNvSpPr>
            <a:spLocks noGrp="1"/>
          </p:cNvSpPr>
          <p:nvPr/>
        </p:nvSpPr>
        <p:spPr>
          <a:xfrm>
            <a:off x="5640042" y="4905375"/>
            <a:ext cx="127303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19%</a:t>
            </a:r>
          </a:p>
        </p:txBody>
      </p:sp>
      <p:sp>
        <p:nvSpPr>
          <p:cNvPr id="579" name="Rectangle 578">
            <a:extLst>
              <a:ext uri="{FF2B5EF4-FFF2-40B4-BE49-F238E27FC236}">
                <a16:creationId xmlns:a16="http://schemas.microsoft.com/office/drawing/2014/main" id="{7DC172DB-AF2A-462E-B0E2-782DCE325E88}"/>
              </a:ext>
            </a:extLst>
          </p:cNvPr>
          <p:cNvSpPr>
            <a:spLocks noGrp="1"/>
          </p:cNvSpPr>
          <p:nvPr/>
        </p:nvSpPr>
        <p:spPr>
          <a:xfrm>
            <a:off x="6932129" y="4800600"/>
            <a:ext cx="2116207" cy="447675"/>
          </a:xfrm>
          <a:prstGeom prst="rect">
            <a:avLst/>
          </a:prstGeom>
          <a:solidFill>
            <a:srgbClr val="4C91D8"/>
          </a:solidFill>
          <a:ln w="0">
            <a:noFill/>
          </a:ln>
        </p:spPr>
        <p:txBody>
          <a:bodyPr/>
          <a:lstStyle/>
          <a:p>
            <a:endParaRPr lang="en-US"/>
          </a:p>
        </p:txBody>
      </p:sp>
      <p:sp>
        <p:nvSpPr>
          <p:cNvPr id="580" name="30%">
            <a:extLst>
              <a:ext uri="{FF2B5EF4-FFF2-40B4-BE49-F238E27FC236}">
                <a16:creationId xmlns:a16="http://schemas.microsoft.com/office/drawing/2014/main" id="{766572DC-5F32-41AA-8A40-A4EC2EF271BF}"/>
              </a:ext>
            </a:extLst>
          </p:cNvPr>
          <p:cNvSpPr>
            <a:spLocks noGrp="1"/>
          </p:cNvSpPr>
          <p:nvPr/>
        </p:nvSpPr>
        <p:spPr>
          <a:xfrm>
            <a:off x="6970229" y="4905375"/>
            <a:ext cx="205905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30%</a:t>
            </a:r>
          </a:p>
        </p:txBody>
      </p:sp>
      <p:sp>
        <p:nvSpPr>
          <p:cNvPr id="581" name="Rectangle 580">
            <a:extLst>
              <a:ext uri="{FF2B5EF4-FFF2-40B4-BE49-F238E27FC236}">
                <a16:creationId xmlns:a16="http://schemas.microsoft.com/office/drawing/2014/main" id="{C7E421DB-DEEC-40BB-B09C-9C0812A2DEB5}"/>
              </a:ext>
            </a:extLst>
          </p:cNvPr>
          <p:cNvSpPr>
            <a:spLocks noGrp="1"/>
          </p:cNvSpPr>
          <p:nvPr/>
        </p:nvSpPr>
        <p:spPr>
          <a:xfrm>
            <a:off x="9048336" y="4800600"/>
            <a:ext cx="1572039" cy="447675"/>
          </a:xfrm>
          <a:prstGeom prst="rect">
            <a:avLst/>
          </a:prstGeom>
          <a:solidFill>
            <a:srgbClr val="285B9F"/>
          </a:solidFill>
          <a:ln w="0">
            <a:noFill/>
          </a:ln>
        </p:spPr>
        <p:txBody>
          <a:bodyPr/>
          <a:lstStyle/>
          <a:p>
            <a:endParaRPr lang="en-US"/>
          </a:p>
        </p:txBody>
      </p:sp>
      <p:sp>
        <p:nvSpPr>
          <p:cNvPr id="582" name="23%">
            <a:extLst>
              <a:ext uri="{FF2B5EF4-FFF2-40B4-BE49-F238E27FC236}">
                <a16:creationId xmlns:a16="http://schemas.microsoft.com/office/drawing/2014/main" id="{BF9E844A-7E3A-4E10-962D-78B6E2FEE871}"/>
              </a:ext>
            </a:extLst>
          </p:cNvPr>
          <p:cNvSpPr>
            <a:spLocks noGrp="1"/>
          </p:cNvSpPr>
          <p:nvPr/>
        </p:nvSpPr>
        <p:spPr>
          <a:xfrm>
            <a:off x="9086436" y="4905375"/>
            <a:ext cx="1514889"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23%</a:t>
            </a:r>
          </a:p>
        </p:txBody>
      </p:sp>
      <p:sp>
        <p:nvSpPr>
          <p:cNvPr id="583" name="n=115">
            <a:extLst>
              <a:ext uri="{FF2B5EF4-FFF2-40B4-BE49-F238E27FC236}">
                <a16:creationId xmlns:a16="http://schemas.microsoft.com/office/drawing/2014/main" id="{935A2D00-0E09-4B4D-82B2-DD89F81B46AA}"/>
              </a:ext>
            </a:extLst>
          </p:cNvPr>
          <p:cNvSpPr>
            <a:spLocks noGrp="1"/>
          </p:cNvSpPr>
          <p:nvPr/>
        </p:nvSpPr>
        <p:spPr>
          <a:xfrm>
            <a:off x="10782300" y="48958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n=115</a:t>
            </a:r>
          </a:p>
        </p:txBody>
      </p:sp>
      <p:sp>
        <p:nvSpPr>
          <p:cNvPr id="584" name="Rectangle 583">
            <a:extLst>
              <a:ext uri="{FF2B5EF4-FFF2-40B4-BE49-F238E27FC236}">
                <a16:creationId xmlns:a16="http://schemas.microsoft.com/office/drawing/2014/main" id="{41BABA3E-8044-4E0C-8412-2575F1C25848}"/>
              </a:ext>
            </a:extLst>
          </p:cNvPr>
          <p:cNvSpPr>
            <a:spLocks noGrp="1"/>
          </p:cNvSpPr>
          <p:nvPr/>
        </p:nvSpPr>
        <p:spPr>
          <a:xfrm>
            <a:off x="3667125" y="1409700"/>
            <a:ext cx="190500" cy="190500"/>
          </a:xfrm>
          <a:prstGeom prst="rect">
            <a:avLst/>
          </a:prstGeom>
          <a:solidFill>
            <a:srgbClr val="A83A3A"/>
          </a:solidFill>
          <a:ln w="0">
            <a:noFill/>
          </a:ln>
        </p:spPr>
        <p:txBody>
          <a:bodyPr/>
          <a:lstStyle/>
          <a:p>
            <a:endParaRPr lang="en-US"/>
          </a:p>
        </p:txBody>
      </p:sp>
      <p:sp>
        <p:nvSpPr>
          <p:cNvPr id="585" name="C0  &lt; 3.20">
            <a:extLst>
              <a:ext uri="{FF2B5EF4-FFF2-40B4-BE49-F238E27FC236}">
                <a16:creationId xmlns:a16="http://schemas.microsoft.com/office/drawing/2014/main" id="{0E1D5672-34C0-4869-B27C-F3304042ED17}"/>
              </a:ext>
            </a:extLst>
          </p:cNvPr>
          <p:cNvSpPr>
            <a:spLocks noGrp="1"/>
          </p:cNvSpPr>
          <p:nvPr/>
        </p:nvSpPr>
        <p:spPr>
          <a:xfrm>
            <a:off x="39433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C0  &lt; 3.20</a:t>
            </a:r>
          </a:p>
        </p:txBody>
      </p:sp>
      <p:sp>
        <p:nvSpPr>
          <p:cNvPr id="586" name="Rectangle 585">
            <a:extLst>
              <a:ext uri="{FF2B5EF4-FFF2-40B4-BE49-F238E27FC236}">
                <a16:creationId xmlns:a16="http://schemas.microsoft.com/office/drawing/2014/main" id="{518A434A-83D4-43EE-B82F-89281B7511A9}"/>
              </a:ext>
            </a:extLst>
          </p:cNvPr>
          <p:cNvSpPr>
            <a:spLocks noGrp="1"/>
          </p:cNvSpPr>
          <p:nvPr/>
        </p:nvSpPr>
        <p:spPr>
          <a:xfrm>
            <a:off x="5476875" y="1409700"/>
            <a:ext cx="190500" cy="190500"/>
          </a:xfrm>
          <a:prstGeom prst="rect">
            <a:avLst/>
          </a:prstGeom>
          <a:solidFill>
            <a:srgbClr val="DC713D"/>
          </a:solidFill>
          <a:ln w="0">
            <a:noFill/>
          </a:ln>
        </p:spPr>
        <p:txBody>
          <a:bodyPr/>
          <a:lstStyle/>
          <a:p>
            <a:endParaRPr lang="en-US"/>
          </a:p>
        </p:txBody>
      </p:sp>
      <p:sp>
        <p:nvSpPr>
          <p:cNvPr id="587" name="C1  3.20–3.49">
            <a:extLst>
              <a:ext uri="{FF2B5EF4-FFF2-40B4-BE49-F238E27FC236}">
                <a16:creationId xmlns:a16="http://schemas.microsoft.com/office/drawing/2014/main" id="{65CF8668-CFAC-4A84-938B-8B13BBDFC590}"/>
              </a:ext>
            </a:extLst>
          </p:cNvPr>
          <p:cNvSpPr>
            <a:spLocks noGrp="1"/>
          </p:cNvSpPr>
          <p:nvPr/>
        </p:nvSpPr>
        <p:spPr>
          <a:xfrm>
            <a:off x="57531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C1  3.20–3.49</a:t>
            </a:r>
          </a:p>
        </p:txBody>
      </p:sp>
      <p:sp>
        <p:nvSpPr>
          <p:cNvPr id="588" name="Rectangle 587">
            <a:extLst>
              <a:ext uri="{FF2B5EF4-FFF2-40B4-BE49-F238E27FC236}">
                <a16:creationId xmlns:a16="http://schemas.microsoft.com/office/drawing/2014/main" id="{9F86DF02-905C-4686-97AB-E0D5B970B3AB}"/>
              </a:ext>
            </a:extLst>
          </p:cNvPr>
          <p:cNvSpPr>
            <a:spLocks noGrp="1"/>
          </p:cNvSpPr>
          <p:nvPr/>
        </p:nvSpPr>
        <p:spPr>
          <a:xfrm>
            <a:off x="7286625" y="1409700"/>
            <a:ext cx="190500" cy="190500"/>
          </a:xfrm>
          <a:prstGeom prst="rect">
            <a:avLst/>
          </a:prstGeom>
          <a:solidFill>
            <a:srgbClr val="4C91D8"/>
          </a:solidFill>
          <a:ln w="0">
            <a:noFill/>
          </a:ln>
        </p:spPr>
        <p:txBody>
          <a:bodyPr/>
          <a:lstStyle/>
          <a:p>
            <a:endParaRPr lang="en-US"/>
          </a:p>
        </p:txBody>
      </p:sp>
      <p:sp>
        <p:nvSpPr>
          <p:cNvPr id="589" name="C2  3.50–3.74">
            <a:extLst>
              <a:ext uri="{FF2B5EF4-FFF2-40B4-BE49-F238E27FC236}">
                <a16:creationId xmlns:a16="http://schemas.microsoft.com/office/drawing/2014/main" id="{1EAAA1FF-2AE4-4BA3-B345-DFD255A2723A}"/>
              </a:ext>
            </a:extLst>
          </p:cNvPr>
          <p:cNvSpPr>
            <a:spLocks noGrp="1"/>
          </p:cNvSpPr>
          <p:nvPr/>
        </p:nvSpPr>
        <p:spPr>
          <a:xfrm>
            <a:off x="75628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C2  3.50–3.74</a:t>
            </a:r>
          </a:p>
        </p:txBody>
      </p:sp>
      <p:sp>
        <p:nvSpPr>
          <p:cNvPr id="590" name="Rectangle 589">
            <a:extLst>
              <a:ext uri="{FF2B5EF4-FFF2-40B4-BE49-F238E27FC236}">
                <a16:creationId xmlns:a16="http://schemas.microsoft.com/office/drawing/2014/main" id="{D7F1D0C3-FC03-4C29-80BC-B194E593D132}"/>
              </a:ext>
            </a:extLst>
          </p:cNvPr>
          <p:cNvSpPr>
            <a:spLocks noGrp="1"/>
          </p:cNvSpPr>
          <p:nvPr/>
        </p:nvSpPr>
        <p:spPr>
          <a:xfrm>
            <a:off x="9096375" y="1409700"/>
            <a:ext cx="190500" cy="190500"/>
          </a:xfrm>
          <a:prstGeom prst="rect">
            <a:avLst/>
          </a:prstGeom>
          <a:solidFill>
            <a:srgbClr val="285B9F"/>
          </a:solidFill>
          <a:ln w="0">
            <a:noFill/>
          </a:ln>
        </p:spPr>
        <p:txBody>
          <a:bodyPr/>
          <a:lstStyle/>
          <a:p>
            <a:endParaRPr lang="en-US"/>
          </a:p>
        </p:txBody>
      </p:sp>
      <p:sp>
        <p:nvSpPr>
          <p:cNvPr id="591" name="C3  ≥ 3.75">
            <a:extLst>
              <a:ext uri="{FF2B5EF4-FFF2-40B4-BE49-F238E27FC236}">
                <a16:creationId xmlns:a16="http://schemas.microsoft.com/office/drawing/2014/main" id="{8EE1ADA1-CD9A-4662-A4B8-70B84E5DB563}"/>
              </a:ext>
            </a:extLst>
          </p:cNvPr>
          <p:cNvSpPr>
            <a:spLocks noGrp="1"/>
          </p:cNvSpPr>
          <p:nvPr/>
        </p:nvSpPr>
        <p:spPr>
          <a:xfrm>
            <a:off x="93726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C3  ≥ 3.75</a:t>
            </a:r>
          </a:p>
        </p:txBody>
      </p:sp>
      <p:cxnSp>
        <p:nvCxnSpPr>
          <p:cNvPr id="2" name="Straight Arrow Connector 1">
            <a:extLst>
              <a:ext uri="{FF2B5EF4-FFF2-40B4-BE49-F238E27FC236}">
                <a16:creationId xmlns:a16="http://schemas.microsoft.com/office/drawing/2014/main" id="{B5DCFF11-EC79-AEB1-1EAC-89E4A2FB56C4}"/>
              </a:ext>
            </a:extLst>
          </p:cNvPr>
          <p:cNvCxnSpPr>
            <a:cxnSpLocks/>
          </p:cNvCxnSpPr>
          <p:nvPr/>
        </p:nvCxnSpPr>
        <p:spPr>
          <a:xfrm>
            <a:off x="204107" y="5763986"/>
            <a:ext cx="105781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8EACC69A-08E5-0EC2-23E1-B9C4BEDD517B}"/>
              </a:ext>
            </a:extLst>
          </p:cNvPr>
          <p:cNvCxnSpPr>
            <a:cxnSpLocks/>
          </p:cNvCxnSpPr>
          <p:nvPr/>
        </p:nvCxnSpPr>
        <p:spPr>
          <a:xfrm flipV="1">
            <a:off x="356507" y="971550"/>
            <a:ext cx="0" cy="4944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A5B9396E-E5BF-1ADD-ADB5-FA2033A85575}"/>
              </a:ext>
            </a:extLst>
          </p:cNvPr>
          <p:cNvSpPr txBox="1"/>
          <p:nvPr/>
        </p:nvSpPr>
        <p:spPr>
          <a:xfrm>
            <a:off x="5532723" y="5787509"/>
            <a:ext cx="821572" cy="369332"/>
          </a:xfrm>
          <a:prstGeom prst="rect">
            <a:avLst/>
          </a:prstGeom>
          <a:noFill/>
        </p:spPr>
        <p:txBody>
          <a:bodyPr wrap="none" rtlCol="0">
            <a:spAutoFit/>
          </a:bodyPr>
          <a:lstStyle/>
          <a:p>
            <a:r>
              <a:rPr lang="en-US" dirty="0"/>
              <a:t>CGPA</a:t>
            </a:r>
          </a:p>
        </p:txBody>
      </p:sp>
      <p:sp>
        <p:nvSpPr>
          <p:cNvPr id="5" name="TextBox 4">
            <a:extLst>
              <a:ext uri="{FF2B5EF4-FFF2-40B4-BE49-F238E27FC236}">
                <a16:creationId xmlns:a16="http://schemas.microsoft.com/office/drawing/2014/main" id="{C222C401-4996-E9B7-03A8-8D9D15B7B490}"/>
              </a:ext>
            </a:extLst>
          </p:cNvPr>
          <p:cNvSpPr txBox="1"/>
          <p:nvPr/>
        </p:nvSpPr>
        <p:spPr>
          <a:xfrm rot="16200000">
            <a:off x="-171900" y="2715997"/>
            <a:ext cx="774571" cy="369332"/>
          </a:xfrm>
          <a:prstGeom prst="rect">
            <a:avLst/>
          </a:prstGeom>
          <a:noFill/>
        </p:spPr>
        <p:txBody>
          <a:bodyPr wrap="none" rtlCol="0">
            <a:spAutoFit/>
          </a:bodyPr>
          <a:lstStyle/>
          <a:p>
            <a:r>
              <a:rPr lang="en-US" dirty="0"/>
              <a:t>Sleep</a:t>
            </a:r>
          </a:p>
        </p:txBody>
      </p:sp>
    </p:spTree>
    <p:extLst>
      <p:ext uri="{BB962C8B-B14F-4D97-AF65-F5344CB8AC3E}">
        <p14:creationId xmlns:p14="http://schemas.microsoft.com/office/powerpoint/2010/main" val="32578680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21</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Stress and CGPA</a:t>
            </a:r>
          </a:p>
        </p:txBody>
      </p:sp>
      <p:sp>
        <p:nvSpPr>
          <p:cNvPr id="534" name="Never">
            <a:extLst>
              <a:ext uri="{FF2B5EF4-FFF2-40B4-BE49-F238E27FC236}">
                <a16:creationId xmlns:a16="http://schemas.microsoft.com/office/drawing/2014/main" id="{B180C138-1091-4A3A-B5BB-518E3DE1F03A}"/>
              </a:ext>
            </a:extLst>
          </p:cNvPr>
          <p:cNvSpPr>
            <a:spLocks noGrp="1"/>
          </p:cNvSpPr>
          <p:nvPr/>
        </p:nvSpPr>
        <p:spPr>
          <a:xfrm>
            <a:off x="400050" y="19431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Never</a:t>
            </a:r>
          </a:p>
        </p:txBody>
      </p:sp>
      <p:sp>
        <p:nvSpPr>
          <p:cNvPr id="535" name="Rectangle 534">
            <a:extLst>
              <a:ext uri="{FF2B5EF4-FFF2-40B4-BE49-F238E27FC236}">
                <a16:creationId xmlns:a16="http://schemas.microsoft.com/office/drawing/2014/main" id="{5BF87C44-0FEC-489E-B01A-25406C9E39E2}"/>
              </a:ext>
            </a:extLst>
          </p:cNvPr>
          <p:cNvSpPr>
            <a:spLocks noGrp="1"/>
          </p:cNvSpPr>
          <p:nvPr/>
        </p:nvSpPr>
        <p:spPr>
          <a:xfrm>
            <a:off x="3667125" y="1905000"/>
            <a:ext cx="1670936" cy="447675"/>
          </a:xfrm>
          <a:prstGeom prst="rect">
            <a:avLst/>
          </a:prstGeom>
          <a:solidFill>
            <a:srgbClr val="A83A3A"/>
          </a:solidFill>
          <a:ln w="0">
            <a:noFill/>
          </a:ln>
        </p:spPr>
        <p:txBody>
          <a:bodyPr/>
          <a:lstStyle/>
          <a:p>
            <a:endParaRPr lang="en-US"/>
          </a:p>
        </p:txBody>
      </p:sp>
      <p:sp>
        <p:nvSpPr>
          <p:cNvPr id="536" name="24%">
            <a:extLst>
              <a:ext uri="{FF2B5EF4-FFF2-40B4-BE49-F238E27FC236}">
                <a16:creationId xmlns:a16="http://schemas.microsoft.com/office/drawing/2014/main" id="{73EE8629-D994-475E-BC8D-0BB4CDA00E2D}"/>
              </a:ext>
            </a:extLst>
          </p:cNvPr>
          <p:cNvSpPr>
            <a:spLocks noGrp="1"/>
          </p:cNvSpPr>
          <p:nvPr/>
        </p:nvSpPr>
        <p:spPr>
          <a:xfrm>
            <a:off x="3705225" y="2009775"/>
            <a:ext cx="161378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37" name="Rectangle 536">
            <a:extLst>
              <a:ext uri="{FF2B5EF4-FFF2-40B4-BE49-F238E27FC236}">
                <a16:creationId xmlns:a16="http://schemas.microsoft.com/office/drawing/2014/main" id="{D64EB400-A0D1-4638-ACEE-6A76FE11A829}"/>
              </a:ext>
            </a:extLst>
          </p:cNvPr>
          <p:cNvSpPr>
            <a:spLocks noGrp="1"/>
          </p:cNvSpPr>
          <p:nvPr/>
        </p:nvSpPr>
        <p:spPr>
          <a:xfrm>
            <a:off x="5338061" y="1905000"/>
            <a:ext cx="1994343" cy="447675"/>
          </a:xfrm>
          <a:prstGeom prst="rect">
            <a:avLst/>
          </a:prstGeom>
          <a:solidFill>
            <a:srgbClr val="DC713D"/>
          </a:solidFill>
          <a:ln w="0">
            <a:noFill/>
          </a:ln>
        </p:spPr>
        <p:txBody>
          <a:bodyPr/>
          <a:lstStyle/>
          <a:p>
            <a:endParaRPr lang="en-US"/>
          </a:p>
        </p:txBody>
      </p:sp>
      <p:sp>
        <p:nvSpPr>
          <p:cNvPr id="538" name="29%">
            <a:extLst>
              <a:ext uri="{FF2B5EF4-FFF2-40B4-BE49-F238E27FC236}">
                <a16:creationId xmlns:a16="http://schemas.microsoft.com/office/drawing/2014/main" id="{83877F0A-478A-4A7F-9778-09C067F18F21}"/>
              </a:ext>
            </a:extLst>
          </p:cNvPr>
          <p:cNvSpPr>
            <a:spLocks noGrp="1"/>
          </p:cNvSpPr>
          <p:nvPr/>
        </p:nvSpPr>
        <p:spPr>
          <a:xfrm>
            <a:off x="5376161" y="2009775"/>
            <a:ext cx="193719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39" name="Rectangle 538">
            <a:extLst>
              <a:ext uri="{FF2B5EF4-FFF2-40B4-BE49-F238E27FC236}">
                <a16:creationId xmlns:a16="http://schemas.microsoft.com/office/drawing/2014/main" id="{A3C83AD7-2FF6-43EB-9365-798F57FFC378}"/>
              </a:ext>
            </a:extLst>
          </p:cNvPr>
          <p:cNvSpPr>
            <a:spLocks noGrp="1"/>
          </p:cNvSpPr>
          <p:nvPr/>
        </p:nvSpPr>
        <p:spPr>
          <a:xfrm>
            <a:off x="7332404" y="1905000"/>
            <a:ext cx="1724837" cy="447675"/>
          </a:xfrm>
          <a:prstGeom prst="rect">
            <a:avLst/>
          </a:prstGeom>
          <a:solidFill>
            <a:srgbClr val="4C91D8"/>
          </a:solidFill>
          <a:ln w="0">
            <a:noFill/>
          </a:ln>
        </p:spPr>
        <p:txBody>
          <a:bodyPr/>
          <a:lstStyle/>
          <a:p>
            <a:endParaRPr lang="en-US"/>
          </a:p>
        </p:txBody>
      </p:sp>
      <p:sp>
        <p:nvSpPr>
          <p:cNvPr id="540" name="25%">
            <a:extLst>
              <a:ext uri="{FF2B5EF4-FFF2-40B4-BE49-F238E27FC236}">
                <a16:creationId xmlns:a16="http://schemas.microsoft.com/office/drawing/2014/main" id="{609D6585-367D-4807-8EDA-0FAB21B464FC}"/>
              </a:ext>
            </a:extLst>
          </p:cNvPr>
          <p:cNvSpPr>
            <a:spLocks noGrp="1"/>
          </p:cNvSpPr>
          <p:nvPr/>
        </p:nvSpPr>
        <p:spPr>
          <a:xfrm>
            <a:off x="7370504" y="2009775"/>
            <a:ext cx="166768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41" name="Rectangle 540">
            <a:extLst>
              <a:ext uri="{FF2B5EF4-FFF2-40B4-BE49-F238E27FC236}">
                <a16:creationId xmlns:a16="http://schemas.microsoft.com/office/drawing/2014/main" id="{FF861B48-AE84-4CBE-A60C-B58EB2D1C9C3}"/>
              </a:ext>
            </a:extLst>
          </p:cNvPr>
          <p:cNvSpPr>
            <a:spLocks noGrp="1"/>
          </p:cNvSpPr>
          <p:nvPr/>
        </p:nvSpPr>
        <p:spPr>
          <a:xfrm>
            <a:off x="9057241" y="1905000"/>
            <a:ext cx="1563134" cy="447675"/>
          </a:xfrm>
          <a:prstGeom prst="rect">
            <a:avLst/>
          </a:prstGeom>
          <a:solidFill>
            <a:srgbClr val="285B9F"/>
          </a:solidFill>
          <a:ln w="0">
            <a:noFill/>
          </a:ln>
        </p:spPr>
        <p:txBody>
          <a:bodyPr/>
          <a:lstStyle/>
          <a:p>
            <a:endParaRPr lang="en-US"/>
          </a:p>
        </p:txBody>
      </p:sp>
      <p:sp>
        <p:nvSpPr>
          <p:cNvPr id="542" name="22%">
            <a:extLst>
              <a:ext uri="{FF2B5EF4-FFF2-40B4-BE49-F238E27FC236}">
                <a16:creationId xmlns:a16="http://schemas.microsoft.com/office/drawing/2014/main" id="{E305BCF2-5B20-4EFF-BAFA-61F3D8B6E3B9}"/>
              </a:ext>
            </a:extLst>
          </p:cNvPr>
          <p:cNvSpPr>
            <a:spLocks noGrp="1"/>
          </p:cNvSpPr>
          <p:nvPr/>
        </p:nvSpPr>
        <p:spPr>
          <a:xfrm>
            <a:off x="9095341" y="2009775"/>
            <a:ext cx="150598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43" name="n=129">
            <a:extLst>
              <a:ext uri="{FF2B5EF4-FFF2-40B4-BE49-F238E27FC236}">
                <a16:creationId xmlns:a16="http://schemas.microsoft.com/office/drawing/2014/main" id="{33A8C08B-7FB1-47AD-862D-D99BE0A6F89F}"/>
              </a:ext>
            </a:extLst>
          </p:cNvPr>
          <p:cNvSpPr>
            <a:spLocks noGrp="1"/>
          </p:cNvSpPr>
          <p:nvPr/>
        </p:nvSpPr>
        <p:spPr>
          <a:xfrm>
            <a:off x="10782300" y="20002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n=129</a:t>
            </a:r>
          </a:p>
        </p:txBody>
      </p:sp>
      <p:sp>
        <p:nvSpPr>
          <p:cNvPr id="544" name="Rarely">
            <a:extLst>
              <a:ext uri="{FF2B5EF4-FFF2-40B4-BE49-F238E27FC236}">
                <a16:creationId xmlns:a16="http://schemas.microsoft.com/office/drawing/2014/main" id="{8695E0D0-6D14-4F14-9F8F-6593A9B1C65C}"/>
              </a:ext>
            </a:extLst>
          </p:cNvPr>
          <p:cNvSpPr>
            <a:spLocks noGrp="1"/>
          </p:cNvSpPr>
          <p:nvPr/>
        </p:nvSpPr>
        <p:spPr>
          <a:xfrm>
            <a:off x="400050" y="26670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Rarely</a:t>
            </a:r>
          </a:p>
        </p:txBody>
      </p:sp>
      <p:sp>
        <p:nvSpPr>
          <p:cNvPr id="545" name="Rectangle 544">
            <a:extLst>
              <a:ext uri="{FF2B5EF4-FFF2-40B4-BE49-F238E27FC236}">
                <a16:creationId xmlns:a16="http://schemas.microsoft.com/office/drawing/2014/main" id="{7F378D2F-04BE-4F05-BAF5-08CB6DBE53DA}"/>
              </a:ext>
            </a:extLst>
          </p:cNvPr>
          <p:cNvSpPr>
            <a:spLocks noGrp="1"/>
          </p:cNvSpPr>
          <p:nvPr/>
        </p:nvSpPr>
        <p:spPr>
          <a:xfrm>
            <a:off x="3667125" y="2628900"/>
            <a:ext cx="1590998" cy="447675"/>
          </a:xfrm>
          <a:prstGeom prst="rect">
            <a:avLst/>
          </a:prstGeom>
          <a:solidFill>
            <a:srgbClr val="A83A3A"/>
          </a:solidFill>
          <a:ln w="0">
            <a:noFill/>
          </a:ln>
        </p:spPr>
        <p:txBody>
          <a:bodyPr/>
          <a:lstStyle/>
          <a:p>
            <a:endParaRPr lang="en-US"/>
          </a:p>
        </p:txBody>
      </p:sp>
      <p:sp>
        <p:nvSpPr>
          <p:cNvPr id="546" name="23%">
            <a:extLst>
              <a:ext uri="{FF2B5EF4-FFF2-40B4-BE49-F238E27FC236}">
                <a16:creationId xmlns:a16="http://schemas.microsoft.com/office/drawing/2014/main" id="{B6295E0B-9AE4-4C36-B9E4-EFFF32266E82}"/>
              </a:ext>
            </a:extLst>
          </p:cNvPr>
          <p:cNvSpPr>
            <a:spLocks noGrp="1"/>
          </p:cNvSpPr>
          <p:nvPr/>
        </p:nvSpPr>
        <p:spPr>
          <a:xfrm>
            <a:off x="3705225" y="2733675"/>
            <a:ext cx="153384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23%</a:t>
            </a:r>
          </a:p>
        </p:txBody>
      </p:sp>
      <p:sp>
        <p:nvSpPr>
          <p:cNvPr id="547" name="Rectangle 546">
            <a:extLst>
              <a:ext uri="{FF2B5EF4-FFF2-40B4-BE49-F238E27FC236}">
                <a16:creationId xmlns:a16="http://schemas.microsoft.com/office/drawing/2014/main" id="{4BA95F61-D409-420F-82AD-3C444F628D81}"/>
              </a:ext>
            </a:extLst>
          </p:cNvPr>
          <p:cNvSpPr>
            <a:spLocks noGrp="1"/>
          </p:cNvSpPr>
          <p:nvPr/>
        </p:nvSpPr>
        <p:spPr>
          <a:xfrm>
            <a:off x="5258123" y="2628900"/>
            <a:ext cx="1679387" cy="447675"/>
          </a:xfrm>
          <a:prstGeom prst="rect">
            <a:avLst/>
          </a:prstGeom>
          <a:solidFill>
            <a:srgbClr val="DC713D"/>
          </a:solidFill>
          <a:ln w="0">
            <a:noFill/>
          </a:ln>
        </p:spPr>
        <p:txBody>
          <a:bodyPr/>
          <a:lstStyle/>
          <a:p>
            <a:endParaRPr lang="en-US"/>
          </a:p>
        </p:txBody>
      </p:sp>
      <p:sp>
        <p:nvSpPr>
          <p:cNvPr id="548" name="24%">
            <a:extLst>
              <a:ext uri="{FF2B5EF4-FFF2-40B4-BE49-F238E27FC236}">
                <a16:creationId xmlns:a16="http://schemas.microsoft.com/office/drawing/2014/main" id="{D660CBCF-0B8A-4D64-9012-8D78ED181155}"/>
              </a:ext>
            </a:extLst>
          </p:cNvPr>
          <p:cNvSpPr>
            <a:spLocks noGrp="1"/>
          </p:cNvSpPr>
          <p:nvPr/>
        </p:nvSpPr>
        <p:spPr>
          <a:xfrm>
            <a:off x="5296223" y="2733675"/>
            <a:ext cx="162223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49" name="Rectangle 548">
            <a:extLst>
              <a:ext uri="{FF2B5EF4-FFF2-40B4-BE49-F238E27FC236}">
                <a16:creationId xmlns:a16="http://schemas.microsoft.com/office/drawing/2014/main" id="{E9B8DEA1-225B-4D8C-B980-93E72ABF75CC}"/>
              </a:ext>
            </a:extLst>
          </p:cNvPr>
          <p:cNvSpPr>
            <a:spLocks noGrp="1"/>
          </p:cNvSpPr>
          <p:nvPr/>
        </p:nvSpPr>
        <p:spPr>
          <a:xfrm>
            <a:off x="6937510" y="2628900"/>
            <a:ext cx="2357034" cy="447675"/>
          </a:xfrm>
          <a:prstGeom prst="rect">
            <a:avLst/>
          </a:prstGeom>
          <a:solidFill>
            <a:srgbClr val="4C91D8"/>
          </a:solidFill>
          <a:ln w="0">
            <a:noFill/>
          </a:ln>
        </p:spPr>
        <p:txBody>
          <a:bodyPr/>
          <a:lstStyle/>
          <a:p>
            <a:endParaRPr lang="en-US"/>
          </a:p>
        </p:txBody>
      </p:sp>
      <p:sp>
        <p:nvSpPr>
          <p:cNvPr id="550" name="34%">
            <a:extLst>
              <a:ext uri="{FF2B5EF4-FFF2-40B4-BE49-F238E27FC236}">
                <a16:creationId xmlns:a16="http://schemas.microsoft.com/office/drawing/2014/main" id="{58B74E3E-13BD-401E-A26D-0FC64F469473}"/>
              </a:ext>
            </a:extLst>
          </p:cNvPr>
          <p:cNvSpPr>
            <a:spLocks noGrp="1"/>
          </p:cNvSpPr>
          <p:nvPr/>
        </p:nvSpPr>
        <p:spPr>
          <a:xfrm>
            <a:off x="6975610" y="2733675"/>
            <a:ext cx="229988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34%</a:t>
            </a:r>
          </a:p>
        </p:txBody>
      </p:sp>
      <p:sp>
        <p:nvSpPr>
          <p:cNvPr id="551" name="Rectangle 550">
            <a:extLst>
              <a:ext uri="{FF2B5EF4-FFF2-40B4-BE49-F238E27FC236}">
                <a16:creationId xmlns:a16="http://schemas.microsoft.com/office/drawing/2014/main" id="{A9EE9641-EFCA-4BB8-8E39-59919F3CDA77}"/>
              </a:ext>
            </a:extLst>
          </p:cNvPr>
          <p:cNvSpPr>
            <a:spLocks noGrp="1"/>
          </p:cNvSpPr>
          <p:nvPr/>
        </p:nvSpPr>
        <p:spPr>
          <a:xfrm>
            <a:off x="9294543" y="2628900"/>
            <a:ext cx="1325832" cy="447675"/>
          </a:xfrm>
          <a:prstGeom prst="rect">
            <a:avLst/>
          </a:prstGeom>
          <a:solidFill>
            <a:srgbClr val="285B9F"/>
          </a:solidFill>
          <a:ln w="0">
            <a:noFill/>
          </a:ln>
        </p:spPr>
        <p:txBody>
          <a:bodyPr/>
          <a:lstStyle/>
          <a:p>
            <a:endParaRPr lang="en-US"/>
          </a:p>
        </p:txBody>
      </p:sp>
      <p:sp>
        <p:nvSpPr>
          <p:cNvPr id="552" name="19%">
            <a:extLst>
              <a:ext uri="{FF2B5EF4-FFF2-40B4-BE49-F238E27FC236}">
                <a16:creationId xmlns:a16="http://schemas.microsoft.com/office/drawing/2014/main" id="{B2241433-4BB6-4655-81D2-A65E78167A1A}"/>
              </a:ext>
            </a:extLst>
          </p:cNvPr>
          <p:cNvSpPr>
            <a:spLocks noGrp="1"/>
          </p:cNvSpPr>
          <p:nvPr/>
        </p:nvSpPr>
        <p:spPr>
          <a:xfrm>
            <a:off x="9332643" y="2733675"/>
            <a:ext cx="126868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19%</a:t>
            </a:r>
          </a:p>
        </p:txBody>
      </p:sp>
      <p:sp>
        <p:nvSpPr>
          <p:cNvPr id="553" name="n=236">
            <a:extLst>
              <a:ext uri="{FF2B5EF4-FFF2-40B4-BE49-F238E27FC236}">
                <a16:creationId xmlns:a16="http://schemas.microsoft.com/office/drawing/2014/main" id="{4C7BEBCF-C893-496B-A10E-F2BCDCE3F8BB}"/>
              </a:ext>
            </a:extLst>
          </p:cNvPr>
          <p:cNvSpPr>
            <a:spLocks noGrp="1"/>
          </p:cNvSpPr>
          <p:nvPr/>
        </p:nvSpPr>
        <p:spPr>
          <a:xfrm>
            <a:off x="10782300" y="27241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n=236</a:t>
            </a:r>
          </a:p>
        </p:txBody>
      </p:sp>
      <p:sp>
        <p:nvSpPr>
          <p:cNvPr id="554" name="Sometimes">
            <a:extLst>
              <a:ext uri="{FF2B5EF4-FFF2-40B4-BE49-F238E27FC236}">
                <a16:creationId xmlns:a16="http://schemas.microsoft.com/office/drawing/2014/main" id="{500FF9F7-AFF4-41EC-8559-B5BFB65CB30B}"/>
              </a:ext>
            </a:extLst>
          </p:cNvPr>
          <p:cNvSpPr>
            <a:spLocks noGrp="1"/>
          </p:cNvSpPr>
          <p:nvPr/>
        </p:nvSpPr>
        <p:spPr>
          <a:xfrm>
            <a:off x="400050" y="33909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Sometimes</a:t>
            </a:r>
          </a:p>
        </p:txBody>
      </p:sp>
      <p:sp>
        <p:nvSpPr>
          <p:cNvPr id="555" name="Rectangle 554">
            <a:extLst>
              <a:ext uri="{FF2B5EF4-FFF2-40B4-BE49-F238E27FC236}">
                <a16:creationId xmlns:a16="http://schemas.microsoft.com/office/drawing/2014/main" id="{50D07462-E611-4DD0-917B-F8D2B3EDCD30}"/>
              </a:ext>
            </a:extLst>
          </p:cNvPr>
          <p:cNvSpPr>
            <a:spLocks noGrp="1"/>
          </p:cNvSpPr>
          <p:nvPr/>
        </p:nvSpPr>
        <p:spPr>
          <a:xfrm>
            <a:off x="3667125" y="3352800"/>
            <a:ext cx="1174224" cy="447675"/>
          </a:xfrm>
          <a:prstGeom prst="rect">
            <a:avLst/>
          </a:prstGeom>
          <a:solidFill>
            <a:srgbClr val="A83A3A"/>
          </a:solidFill>
          <a:ln w="0">
            <a:noFill/>
          </a:ln>
        </p:spPr>
        <p:txBody>
          <a:bodyPr/>
          <a:lstStyle/>
          <a:p>
            <a:endParaRPr lang="en-US"/>
          </a:p>
        </p:txBody>
      </p:sp>
      <p:sp>
        <p:nvSpPr>
          <p:cNvPr id="556" name="17%">
            <a:extLst>
              <a:ext uri="{FF2B5EF4-FFF2-40B4-BE49-F238E27FC236}">
                <a16:creationId xmlns:a16="http://schemas.microsoft.com/office/drawing/2014/main" id="{43518822-8E84-43E0-AA73-B623896ADB8A}"/>
              </a:ext>
            </a:extLst>
          </p:cNvPr>
          <p:cNvSpPr>
            <a:spLocks noGrp="1"/>
          </p:cNvSpPr>
          <p:nvPr/>
        </p:nvSpPr>
        <p:spPr>
          <a:xfrm>
            <a:off x="3705225" y="3457575"/>
            <a:ext cx="111707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17%</a:t>
            </a:r>
          </a:p>
        </p:txBody>
      </p:sp>
      <p:sp>
        <p:nvSpPr>
          <p:cNvPr id="557" name="Rectangle 556">
            <a:extLst>
              <a:ext uri="{FF2B5EF4-FFF2-40B4-BE49-F238E27FC236}">
                <a16:creationId xmlns:a16="http://schemas.microsoft.com/office/drawing/2014/main" id="{AB458823-423B-43AE-AB91-D8E4F9EB5B14}"/>
              </a:ext>
            </a:extLst>
          </p:cNvPr>
          <p:cNvSpPr>
            <a:spLocks noGrp="1"/>
          </p:cNvSpPr>
          <p:nvPr/>
        </p:nvSpPr>
        <p:spPr>
          <a:xfrm>
            <a:off x="4841349" y="3352800"/>
            <a:ext cx="2279377" cy="447675"/>
          </a:xfrm>
          <a:prstGeom prst="rect">
            <a:avLst/>
          </a:prstGeom>
          <a:solidFill>
            <a:srgbClr val="DC713D"/>
          </a:solidFill>
          <a:ln w="0">
            <a:noFill/>
          </a:ln>
        </p:spPr>
        <p:txBody>
          <a:bodyPr/>
          <a:lstStyle/>
          <a:p>
            <a:endParaRPr lang="en-US"/>
          </a:p>
        </p:txBody>
      </p:sp>
      <p:sp>
        <p:nvSpPr>
          <p:cNvPr id="558" name="33%">
            <a:extLst>
              <a:ext uri="{FF2B5EF4-FFF2-40B4-BE49-F238E27FC236}">
                <a16:creationId xmlns:a16="http://schemas.microsoft.com/office/drawing/2014/main" id="{D8ACBC79-EA75-4126-9B22-7C0E144F7B3F}"/>
              </a:ext>
            </a:extLst>
          </p:cNvPr>
          <p:cNvSpPr>
            <a:spLocks noGrp="1"/>
          </p:cNvSpPr>
          <p:nvPr/>
        </p:nvSpPr>
        <p:spPr>
          <a:xfrm>
            <a:off x="4879449" y="3457575"/>
            <a:ext cx="222222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33%</a:t>
            </a:r>
          </a:p>
        </p:txBody>
      </p:sp>
      <p:sp>
        <p:nvSpPr>
          <p:cNvPr id="559" name="Rectangle 558">
            <a:extLst>
              <a:ext uri="{FF2B5EF4-FFF2-40B4-BE49-F238E27FC236}">
                <a16:creationId xmlns:a16="http://schemas.microsoft.com/office/drawing/2014/main" id="{BC88CDFD-CA1C-48DA-A970-BCFAD80534F0}"/>
              </a:ext>
            </a:extLst>
          </p:cNvPr>
          <p:cNvSpPr>
            <a:spLocks noGrp="1"/>
          </p:cNvSpPr>
          <p:nvPr/>
        </p:nvSpPr>
        <p:spPr>
          <a:xfrm>
            <a:off x="7120726" y="3352800"/>
            <a:ext cx="1703776" cy="447675"/>
          </a:xfrm>
          <a:prstGeom prst="rect">
            <a:avLst/>
          </a:prstGeom>
          <a:solidFill>
            <a:srgbClr val="4C91D8"/>
          </a:solidFill>
          <a:ln w="0">
            <a:noFill/>
          </a:ln>
        </p:spPr>
        <p:txBody>
          <a:bodyPr/>
          <a:lstStyle/>
          <a:p>
            <a:endParaRPr lang="en-US"/>
          </a:p>
        </p:txBody>
      </p:sp>
      <p:sp>
        <p:nvSpPr>
          <p:cNvPr id="560" name="25%">
            <a:extLst>
              <a:ext uri="{FF2B5EF4-FFF2-40B4-BE49-F238E27FC236}">
                <a16:creationId xmlns:a16="http://schemas.microsoft.com/office/drawing/2014/main" id="{E6F28B75-C9CA-482B-AD0A-763124340AC5}"/>
              </a:ext>
            </a:extLst>
          </p:cNvPr>
          <p:cNvSpPr>
            <a:spLocks noGrp="1"/>
          </p:cNvSpPr>
          <p:nvPr/>
        </p:nvSpPr>
        <p:spPr>
          <a:xfrm>
            <a:off x="7158826" y="3457575"/>
            <a:ext cx="164662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61" name="Rectangle 560">
            <a:extLst>
              <a:ext uri="{FF2B5EF4-FFF2-40B4-BE49-F238E27FC236}">
                <a16:creationId xmlns:a16="http://schemas.microsoft.com/office/drawing/2014/main" id="{44626A1A-74C7-4362-92CE-E3CADDAE651E}"/>
              </a:ext>
            </a:extLst>
          </p:cNvPr>
          <p:cNvSpPr>
            <a:spLocks noGrp="1"/>
          </p:cNvSpPr>
          <p:nvPr/>
        </p:nvSpPr>
        <p:spPr>
          <a:xfrm>
            <a:off x="8824502" y="3352800"/>
            <a:ext cx="1795873" cy="447675"/>
          </a:xfrm>
          <a:prstGeom prst="rect">
            <a:avLst/>
          </a:prstGeom>
          <a:solidFill>
            <a:srgbClr val="285B9F"/>
          </a:solidFill>
          <a:ln w="0">
            <a:noFill/>
          </a:ln>
        </p:spPr>
        <p:txBody>
          <a:bodyPr/>
          <a:lstStyle/>
          <a:p>
            <a:endParaRPr lang="en-US"/>
          </a:p>
        </p:txBody>
      </p:sp>
      <p:sp>
        <p:nvSpPr>
          <p:cNvPr id="562" name="26%">
            <a:extLst>
              <a:ext uri="{FF2B5EF4-FFF2-40B4-BE49-F238E27FC236}">
                <a16:creationId xmlns:a16="http://schemas.microsoft.com/office/drawing/2014/main" id="{3C8C6C0B-0FCB-4F1C-911D-0A1530AD1083}"/>
              </a:ext>
            </a:extLst>
          </p:cNvPr>
          <p:cNvSpPr>
            <a:spLocks noGrp="1"/>
          </p:cNvSpPr>
          <p:nvPr/>
        </p:nvSpPr>
        <p:spPr>
          <a:xfrm>
            <a:off x="8862602" y="3457575"/>
            <a:ext cx="173872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63" name="n=302">
            <a:extLst>
              <a:ext uri="{FF2B5EF4-FFF2-40B4-BE49-F238E27FC236}">
                <a16:creationId xmlns:a16="http://schemas.microsoft.com/office/drawing/2014/main" id="{338CF3AA-0C9E-4323-8760-0A62949AA25F}"/>
              </a:ext>
            </a:extLst>
          </p:cNvPr>
          <p:cNvSpPr>
            <a:spLocks noGrp="1"/>
          </p:cNvSpPr>
          <p:nvPr/>
        </p:nvSpPr>
        <p:spPr>
          <a:xfrm>
            <a:off x="10782300" y="34480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n=302</a:t>
            </a:r>
          </a:p>
        </p:txBody>
      </p:sp>
      <p:sp>
        <p:nvSpPr>
          <p:cNvPr id="564" name="Often">
            <a:extLst>
              <a:ext uri="{FF2B5EF4-FFF2-40B4-BE49-F238E27FC236}">
                <a16:creationId xmlns:a16="http://schemas.microsoft.com/office/drawing/2014/main" id="{DF5BE59F-58CA-40AF-9381-EF119B610FE6}"/>
              </a:ext>
            </a:extLst>
          </p:cNvPr>
          <p:cNvSpPr>
            <a:spLocks noGrp="1"/>
          </p:cNvSpPr>
          <p:nvPr/>
        </p:nvSpPr>
        <p:spPr>
          <a:xfrm>
            <a:off x="400050" y="41148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Often</a:t>
            </a:r>
          </a:p>
        </p:txBody>
      </p:sp>
      <p:sp>
        <p:nvSpPr>
          <p:cNvPr id="565" name="Rectangle 564">
            <a:extLst>
              <a:ext uri="{FF2B5EF4-FFF2-40B4-BE49-F238E27FC236}">
                <a16:creationId xmlns:a16="http://schemas.microsoft.com/office/drawing/2014/main" id="{8FD74BBD-3A15-4D8B-9F3C-F35A2F9F72DE}"/>
              </a:ext>
            </a:extLst>
          </p:cNvPr>
          <p:cNvSpPr>
            <a:spLocks noGrp="1"/>
          </p:cNvSpPr>
          <p:nvPr/>
        </p:nvSpPr>
        <p:spPr>
          <a:xfrm>
            <a:off x="3667125" y="4076700"/>
            <a:ext cx="1396235" cy="447675"/>
          </a:xfrm>
          <a:prstGeom prst="rect">
            <a:avLst/>
          </a:prstGeom>
          <a:solidFill>
            <a:srgbClr val="A83A3A"/>
          </a:solidFill>
          <a:ln w="0">
            <a:noFill/>
          </a:ln>
        </p:spPr>
        <p:txBody>
          <a:bodyPr/>
          <a:lstStyle/>
          <a:p>
            <a:endParaRPr lang="en-US"/>
          </a:p>
        </p:txBody>
      </p:sp>
      <p:sp>
        <p:nvSpPr>
          <p:cNvPr id="566" name="20%">
            <a:extLst>
              <a:ext uri="{FF2B5EF4-FFF2-40B4-BE49-F238E27FC236}">
                <a16:creationId xmlns:a16="http://schemas.microsoft.com/office/drawing/2014/main" id="{284759EE-E2EE-46AC-9B36-8FDAA77C3619}"/>
              </a:ext>
            </a:extLst>
          </p:cNvPr>
          <p:cNvSpPr>
            <a:spLocks noGrp="1"/>
          </p:cNvSpPr>
          <p:nvPr/>
        </p:nvSpPr>
        <p:spPr>
          <a:xfrm>
            <a:off x="3705225" y="4181475"/>
            <a:ext cx="133908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67" name="Rectangle 566">
            <a:extLst>
              <a:ext uri="{FF2B5EF4-FFF2-40B4-BE49-F238E27FC236}">
                <a16:creationId xmlns:a16="http://schemas.microsoft.com/office/drawing/2014/main" id="{5894D387-F45E-427E-BB95-117B483AB895}"/>
              </a:ext>
            </a:extLst>
          </p:cNvPr>
          <p:cNvSpPr>
            <a:spLocks noGrp="1"/>
          </p:cNvSpPr>
          <p:nvPr/>
        </p:nvSpPr>
        <p:spPr>
          <a:xfrm>
            <a:off x="5063360" y="4076700"/>
            <a:ext cx="2401524" cy="447675"/>
          </a:xfrm>
          <a:prstGeom prst="rect">
            <a:avLst/>
          </a:prstGeom>
          <a:solidFill>
            <a:srgbClr val="DC713D"/>
          </a:solidFill>
          <a:ln w="0">
            <a:noFill/>
          </a:ln>
        </p:spPr>
        <p:txBody>
          <a:bodyPr/>
          <a:lstStyle/>
          <a:p>
            <a:endParaRPr lang="en-US"/>
          </a:p>
        </p:txBody>
      </p:sp>
      <p:sp>
        <p:nvSpPr>
          <p:cNvPr id="568" name="35%">
            <a:extLst>
              <a:ext uri="{FF2B5EF4-FFF2-40B4-BE49-F238E27FC236}">
                <a16:creationId xmlns:a16="http://schemas.microsoft.com/office/drawing/2014/main" id="{EF1BB90C-BDA4-40D6-A510-962CA507BD54}"/>
              </a:ext>
            </a:extLst>
          </p:cNvPr>
          <p:cNvSpPr>
            <a:spLocks noGrp="1"/>
          </p:cNvSpPr>
          <p:nvPr/>
        </p:nvSpPr>
        <p:spPr>
          <a:xfrm>
            <a:off x="5101460" y="4181475"/>
            <a:ext cx="234437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35%</a:t>
            </a:r>
          </a:p>
        </p:txBody>
      </p:sp>
      <p:sp>
        <p:nvSpPr>
          <p:cNvPr id="569" name="Rectangle 568">
            <a:extLst>
              <a:ext uri="{FF2B5EF4-FFF2-40B4-BE49-F238E27FC236}">
                <a16:creationId xmlns:a16="http://schemas.microsoft.com/office/drawing/2014/main" id="{E0483293-20B6-4BEC-9DBE-262DE8F11DD8}"/>
              </a:ext>
            </a:extLst>
          </p:cNvPr>
          <p:cNvSpPr>
            <a:spLocks noGrp="1"/>
          </p:cNvSpPr>
          <p:nvPr/>
        </p:nvSpPr>
        <p:spPr>
          <a:xfrm>
            <a:off x="7464884" y="4076700"/>
            <a:ext cx="1591708" cy="447675"/>
          </a:xfrm>
          <a:prstGeom prst="rect">
            <a:avLst/>
          </a:prstGeom>
          <a:solidFill>
            <a:srgbClr val="4C91D8"/>
          </a:solidFill>
          <a:ln w="0">
            <a:noFill/>
          </a:ln>
        </p:spPr>
        <p:txBody>
          <a:bodyPr/>
          <a:lstStyle/>
          <a:p>
            <a:endParaRPr lang="en-US"/>
          </a:p>
        </p:txBody>
      </p:sp>
      <p:sp>
        <p:nvSpPr>
          <p:cNvPr id="570" name="23%">
            <a:extLst>
              <a:ext uri="{FF2B5EF4-FFF2-40B4-BE49-F238E27FC236}">
                <a16:creationId xmlns:a16="http://schemas.microsoft.com/office/drawing/2014/main" id="{EECD7402-5BD1-4F31-BB19-1094985F4D78}"/>
              </a:ext>
            </a:extLst>
          </p:cNvPr>
          <p:cNvSpPr>
            <a:spLocks noGrp="1"/>
          </p:cNvSpPr>
          <p:nvPr/>
        </p:nvSpPr>
        <p:spPr>
          <a:xfrm>
            <a:off x="7502984" y="4181475"/>
            <a:ext cx="153455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23%</a:t>
            </a:r>
          </a:p>
        </p:txBody>
      </p:sp>
      <p:sp>
        <p:nvSpPr>
          <p:cNvPr id="571" name="Rectangle 570">
            <a:extLst>
              <a:ext uri="{FF2B5EF4-FFF2-40B4-BE49-F238E27FC236}">
                <a16:creationId xmlns:a16="http://schemas.microsoft.com/office/drawing/2014/main" id="{9D355CD4-7DD0-4422-B731-EE800B9929D8}"/>
              </a:ext>
            </a:extLst>
          </p:cNvPr>
          <p:cNvSpPr>
            <a:spLocks noGrp="1"/>
          </p:cNvSpPr>
          <p:nvPr/>
        </p:nvSpPr>
        <p:spPr>
          <a:xfrm>
            <a:off x="9056592" y="4076700"/>
            <a:ext cx="1563783" cy="447675"/>
          </a:xfrm>
          <a:prstGeom prst="rect">
            <a:avLst/>
          </a:prstGeom>
          <a:solidFill>
            <a:srgbClr val="285B9F"/>
          </a:solidFill>
          <a:ln w="0">
            <a:noFill/>
          </a:ln>
        </p:spPr>
        <p:txBody>
          <a:bodyPr/>
          <a:lstStyle/>
          <a:p>
            <a:endParaRPr lang="en-US"/>
          </a:p>
        </p:txBody>
      </p:sp>
      <p:sp>
        <p:nvSpPr>
          <p:cNvPr id="572" name="22%">
            <a:extLst>
              <a:ext uri="{FF2B5EF4-FFF2-40B4-BE49-F238E27FC236}">
                <a16:creationId xmlns:a16="http://schemas.microsoft.com/office/drawing/2014/main" id="{E64772BC-BD7E-42E5-B97C-93859D3F0FEB}"/>
              </a:ext>
            </a:extLst>
          </p:cNvPr>
          <p:cNvSpPr>
            <a:spLocks noGrp="1"/>
          </p:cNvSpPr>
          <p:nvPr/>
        </p:nvSpPr>
        <p:spPr>
          <a:xfrm>
            <a:off x="9094692" y="4181475"/>
            <a:ext cx="150663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73" name="n=249">
            <a:extLst>
              <a:ext uri="{FF2B5EF4-FFF2-40B4-BE49-F238E27FC236}">
                <a16:creationId xmlns:a16="http://schemas.microsoft.com/office/drawing/2014/main" id="{0736DEEC-C7BB-401A-A921-42C08E989F31}"/>
              </a:ext>
            </a:extLst>
          </p:cNvPr>
          <p:cNvSpPr>
            <a:spLocks noGrp="1"/>
          </p:cNvSpPr>
          <p:nvPr/>
        </p:nvSpPr>
        <p:spPr>
          <a:xfrm>
            <a:off x="10782300" y="41719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n=249</a:t>
            </a:r>
          </a:p>
        </p:txBody>
      </p:sp>
      <p:sp>
        <p:nvSpPr>
          <p:cNvPr id="574" name="Almost always">
            <a:extLst>
              <a:ext uri="{FF2B5EF4-FFF2-40B4-BE49-F238E27FC236}">
                <a16:creationId xmlns:a16="http://schemas.microsoft.com/office/drawing/2014/main" id="{A545B364-40CB-48E6-BB41-2277AD655AF4}"/>
              </a:ext>
            </a:extLst>
          </p:cNvPr>
          <p:cNvSpPr>
            <a:spLocks noGrp="1"/>
          </p:cNvSpPr>
          <p:nvPr/>
        </p:nvSpPr>
        <p:spPr>
          <a:xfrm>
            <a:off x="400050" y="48387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Almost always</a:t>
            </a:r>
          </a:p>
        </p:txBody>
      </p:sp>
      <p:sp>
        <p:nvSpPr>
          <p:cNvPr id="575" name="Rectangle 574">
            <a:extLst>
              <a:ext uri="{FF2B5EF4-FFF2-40B4-BE49-F238E27FC236}">
                <a16:creationId xmlns:a16="http://schemas.microsoft.com/office/drawing/2014/main" id="{FDC3E031-5617-4F7D-9236-CAC4F36B90AD}"/>
              </a:ext>
            </a:extLst>
          </p:cNvPr>
          <p:cNvSpPr>
            <a:spLocks noGrp="1"/>
          </p:cNvSpPr>
          <p:nvPr/>
        </p:nvSpPr>
        <p:spPr>
          <a:xfrm>
            <a:off x="3667125" y="4800600"/>
            <a:ext cx="1810742" cy="447675"/>
          </a:xfrm>
          <a:prstGeom prst="rect">
            <a:avLst/>
          </a:prstGeom>
          <a:solidFill>
            <a:srgbClr val="A83A3A"/>
          </a:solidFill>
          <a:ln w="0">
            <a:noFill/>
          </a:ln>
        </p:spPr>
        <p:txBody>
          <a:bodyPr/>
          <a:lstStyle/>
          <a:p>
            <a:endParaRPr lang="en-US"/>
          </a:p>
        </p:txBody>
      </p:sp>
      <p:sp>
        <p:nvSpPr>
          <p:cNvPr id="576" name="26%">
            <a:extLst>
              <a:ext uri="{FF2B5EF4-FFF2-40B4-BE49-F238E27FC236}">
                <a16:creationId xmlns:a16="http://schemas.microsoft.com/office/drawing/2014/main" id="{7AB5FFC2-FF74-4F00-9810-4A1634B19186}"/>
              </a:ext>
            </a:extLst>
          </p:cNvPr>
          <p:cNvSpPr>
            <a:spLocks noGrp="1"/>
          </p:cNvSpPr>
          <p:nvPr/>
        </p:nvSpPr>
        <p:spPr>
          <a:xfrm>
            <a:off x="3705225" y="4905375"/>
            <a:ext cx="175359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77" name="Rectangle 576">
            <a:extLst>
              <a:ext uri="{FF2B5EF4-FFF2-40B4-BE49-F238E27FC236}">
                <a16:creationId xmlns:a16="http://schemas.microsoft.com/office/drawing/2014/main" id="{B01543B3-FB43-438C-929A-A432DAA45164}"/>
              </a:ext>
            </a:extLst>
          </p:cNvPr>
          <p:cNvSpPr>
            <a:spLocks noGrp="1"/>
          </p:cNvSpPr>
          <p:nvPr/>
        </p:nvSpPr>
        <p:spPr>
          <a:xfrm>
            <a:off x="5477867" y="4800600"/>
            <a:ext cx="1521023" cy="447675"/>
          </a:xfrm>
          <a:prstGeom prst="rect">
            <a:avLst/>
          </a:prstGeom>
          <a:solidFill>
            <a:srgbClr val="DC713D"/>
          </a:solidFill>
          <a:ln w="0">
            <a:noFill/>
          </a:ln>
        </p:spPr>
        <p:txBody>
          <a:bodyPr/>
          <a:lstStyle/>
          <a:p>
            <a:endParaRPr lang="en-US"/>
          </a:p>
        </p:txBody>
      </p:sp>
      <p:sp>
        <p:nvSpPr>
          <p:cNvPr id="578" name="22%">
            <a:extLst>
              <a:ext uri="{FF2B5EF4-FFF2-40B4-BE49-F238E27FC236}">
                <a16:creationId xmlns:a16="http://schemas.microsoft.com/office/drawing/2014/main" id="{B38A0195-200D-4437-9538-34AEAE2735CA}"/>
              </a:ext>
            </a:extLst>
          </p:cNvPr>
          <p:cNvSpPr>
            <a:spLocks noGrp="1"/>
          </p:cNvSpPr>
          <p:nvPr/>
        </p:nvSpPr>
        <p:spPr>
          <a:xfrm>
            <a:off x="5515967" y="4905375"/>
            <a:ext cx="146387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79" name="Rectangle 578">
            <a:extLst>
              <a:ext uri="{FF2B5EF4-FFF2-40B4-BE49-F238E27FC236}">
                <a16:creationId xmlns:a16="http://schemas.microsoft.com/office/drawing/2014/main" id="{74FA46FA-CC71-4CE0-8991-D563EEE866CF}"/>
              </a:ext>
            </a:extLst>
          </p:cNvPr>
          <p:cNvSpPr>
            <a:spLocks noGrp="1"/>
          </p:cNvSpPr>
          <p:nvPr/>
        </p:nvSpPr>
        <p:spPr>
          <a:xfrm>
            <a:off x="6998891" y="4800600"/>
            <a:ext cx="2172891" cy="447675"/>
          </a:xfrm>
          <a:prstGeom prst="rect">
            <a:avLst/>
          </a:prstGeom>
          <a:solidFill>
            <a:srgbClr val="4C91D8"/>
          </a:solidFill>
          <a:ln w="0">
            <a:noFill/>
          </a:ln>
        </p:spPr>
        <p:txBody>
          <a:bodyPr/>
          <a:lstStyle/>
          <a:p>
            <a:endParaRPr lang="en-US"/>
          </a:p>
        </p:txBody>
      </p:sp>
      <p:sp>
        <p:nvSpPr>
          <p:cNvPr id="580" name="31%">
            <a:extLst>
              <a:ext uri="{FF2B5EF4-FFF2-40B4-BE49-F238E27FC236}">
                <a16:creationId xmlns:a16="http://schemas.microsoft.com/office/drawing/2014/main" id="{46F3D874-9AEA-400D-A98D-97EBA310A1B7}"/>
              </a:ext>
            </a:extLst>
          </p:cNvPr>
          <p:cNvSpPr>
            <a:spLocks noGrp="1"/>
          </p:cNvSpPr>
          <p:nvPr/>
        </p:nvSpPr>
        <p:spPr>
          <a:xfrm>
            <a:off x="7036991" y="4905375"/>
            <a:ext cx="211574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31%</a:t>
            </a:r>
          </a:p>
        </p:txBody>
      </p:sp>
      <p:sp>
        <p:nvSpPr>
          <p:cNvPr id="581" name="Rectangle 580">
            <a:extLst>
              <a:ext uri="{FF2B5EF4-FFF2-40B4-BE49-F238E27FC236}">
                <a16:creationId xmlns:a16="http://schemas.microsoft.com/office/drawing/2014/main" id="{543DD36C-31B3-47FE-A02B-9D4116A22EC5}"/>
              </a:ext>
            </a:extLst>
          </p:cNvPr>
          <p:cNvSpPr>
            <a:spLocks noGrp="1"/>
          </p:cNvSpPr>
          <p:nvPr/>
        </p:nvSpPr>
        <p:spPr>
          <a:xfrm>
            <a:off x="9171781" y="4800600"/>
            <a:ext cx="1448594" cy="447675"/>
          </a:xfrm>
          <a:prstGeom prst="rect">
            <a:avLst/>
          </a:prstGeom>
          <a:solidFill>
            <a:srgbClr val="285B9F"/>
          </a:solidFill>
          <a:ln w="0">
            <a:noFill/>
          </a:ln>
        </p:spPr>
        <p:txBody>
          <a:bodyPr/>
          <a:lstStyle/>
          <a:p>
            <a:endParaRPr lang="en-US"/>
          </a:p>
        </p:txBody>
      </p:sp>
      <p:sp>
        <p:nvSpPr>
          <p:cNvPr id="582" name="21%">
            <a:extLst>
              <a:ext uri="{FF2B5EF4-FFF2-40B4-BE49-F238E27FC236}">
                <a16:creationId xmlns:a16="http://schemas.microsoft.com/office/drawing/2014/main" id="{D5515542-A20C-4FAE-9D37-F5BFECD6C783}"/>
              </a:ext>
            </a:extLst>
          </p:cNvPr>
          <p:cNvSpPr>
            <a:spLocks noGrp="1"/>
          </p:cNvSpPr>
          <p:nvPr/>
        </p:nvSpPr>
        <p:spPr>
          <a:xfrm>
            <a:off x="9209881" y="4905375"/>
            <a:ext cx="139144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21%</a:t>
            </a:r>
          </a:p>
        </p:txBody>
      </p:sp>
      <p:sp>
        <p:nvSpPr>
          <p:cNvPr id="583" name="n=192">
            <a:extLst>
              <a:ext uri="{FF2B5EF4-FFF2-40B4-BE49-F238E27FC236}">
                <a16:creationId xmlns:a16="http://schemas.microsoft.com/office/drawing/2014/main" id="{5EF1799B-0F23-43F6-9CDA-04F7E1F3D781}"/>
              </a:ext>
            </a:extLst>
          </p:cNvPr>
          <p:cNvSpPr>
            <a:spLocks noGrp="1"/>
          </p:cNvSpPr>
          <p:nvPr/>
        </p:nvSpPr>
        <p:spPr>
          <a:xfrm>
            <a:off x="10782300" y="48958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n=192</a:t>
            </a:r>
          </a:p>
        </p:txBody>
      </p:sp>
      <p:sp>
        <p:nvSpPr>
          <p:cNvPr id="584" name="Rectangle 583">
            <a:extLst>
              <a:ext uri="{FF2B5EF4-FFF2-40B4-BE49-F238E27FC236}">
                <a16:creationId xmlns:a16="http://schemas.microsoft.com/office/drawing/2014/main" id="{1DD43469-7158-4356-8749-8E02D2D3B537}"/>
              </a:ext>
            </a:extLst>
          </p:cNvPr>
          <p:cNvSpPr>
            <a:spLocks noGrp="1"/>
          </p:cNvSpPr>
          <p:nvPr/>
        </p:nvSpPr>
        <p:spPr>
          <a:xfrm>
            <a:off x="3667125" y="1409700"/>
            <a:ext cx="190500" cy="190500"/>
          </a:xfrm>
          <a:prstGeom prst="rect">
            <a:avLst/>
          </a:prstGeom>
          <a:solidFill>
            <a:srgbClr val="A83A3A"/>
          </a:solidFill>
          <a:ln w="0">
            <a:noFill/>
          </a:ln>
        </p:spPr>
        <p:txBody>
          <a:bodyPr/>
          <a:lstStyle/>
          <a:p>
            <a:endParaRPr lang="en-US"/>
          </a:p>
        </p:txBody>
      </p:sp>
      <p:sp>
        <p:nvSpPr>
          <p:cNvPr id="585" name="C0  &lt; 3.20">
            <a:extLst>
              <a:ext uri="{FF2B5EF4-FFF2-40B4-BE49-F238E27FC236}">
                <a16:creationId xmlns:a16="http://schemas.microsoft.com/office/drawing/2014/main" id="{2D85C876-4B3A-4C7F-BEDB-48AE3C73F089}"/>
              </a:ext>
            </a:extLst>
          </p:cNvPr>
          <p:cNvSpPr>
            <a:spLocks noGrp="1"/>
          </p:cNvSpPr>
          <p:nvPr/>
        </p:nvSpPr>
        <p:spPr>
          <a:xfrm>
            <a:off x="39433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C0  &lt; 3.20</a:t>
            </a:r>
          </a:p>
        </p:txBody>
      </p:sp>
      <p:sp>
        <p:nvSpPr>
          <p:cNvPr id="586" name="Rectangle 585">
            <a:extLst>
              <a:ext uri="{FF2B5EF4-FFF2-40B4-BE49-F238E27FC236}">
                <a16:creationId xmlns:a16="http://schemas.microsoft.com/office/drawing/2014/main" id="{E681E399-CBC3-4591-80FF-A1D6F1C312AA}"/>
              </a:ext>
            </a:extLst>
          </p:cNvPr>
          <p:cNvSpPr>
            <a:spLocks noGrp="1"/>
          </p:cNvSpPr>
          <p:nvPr/>
        </p:nvSpPr>
        <p:spPr>
          <a:xfrm>
            <a:off x="5476875" y="1409700"/>
            <a:ext cx="190500" cy="190500"/>
          </a:xfrm>
          <a:prstGeom prst="rect">
            <a:avLst/>
          </a:prstGeom>
          <a:solidFill>
            <a:srgbClr val="DC713D"/>
          </a:solidFill>
          <a:ln w="0">
            <a:noFill/>
          </a:ln>
        </p:spPr>
        <p:txBody>
          <a:bodyPr/>
          <a:lstStyle/>
          <a:p>
            <a:endParaRPr lang="en-US"/>
          </a:p>
        </p:txBody>
      </p:sp>
      <p:sp>
        <p:nvSpPr>
          <p:cNvPr id="587" name="C1  3.20–3.49">
            <a:extLst>
              <a:ext uri="{FF2B5EF4-FFF2-40B4-BE49-F238E27FC236}">
                <a16:creationId xmlns:a16="http://schemas.microsoft.com/office/drawing/2014/main" id="{2B93B68B-898E-4B4F-9A0E-9C334AE31E84}"/>
              </a:ext>
            </a:extLst>
          </p:cNvPr>
          <p:cNvSpPr>
            <a:spLocks noGrp="1"/>
          </p:cNvSpPr>
          <p:nvPr/>
        </p:nvSpPr>
        <p:spPr>
          <a:xfrm>
            <a:off x="57531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C1  3.20–3.49</a:t>
            </a:r>
          </a:p>
        </p:txBody>
      </p:sp>
      <p:sp>
        <p:nvSpPr>
          <p:cNvPr id="588" name="Rectangle 587">
            <a:extLst>
              <a:ext uri="{FF2B5EF4-FFF2-40B4-BE49-F238E27FC236}">
                <a16:creationId xmlns:a16="http://schemas.microsoft.com/office/drawing/2014/main" id="{7AA853B8-BACE-4176-89C1-6E5031BAC0EC}"/>
              </a:ext>
            </a:extLst>
          </p:cNvPr>
          <p:cNvSpPr>
            <a:spLocks noGrp="1"/>
          </p:cNvSpPr>
          <p:nvPr/>
        </p:nvSpPr>
        <p:spPr>
          <a:xfrm>
            <a:off x="7286625" y="1409700"/>
            <a:ext cx="190500" cy="190500"/>
          </a:xfrm>
          <a:prstGeom prst="rect">
            <a:avLst/>
          </a:prstGeom>
          <a:solidFill>
            <a:srgbClr val="4C91D8"/>
          </a:solidFill>
          <a:ln w="0">
            <a:noFill/>
          </a:ln>
        </p:spPr>
        <p:txBody>
          <a:bodyPr/>
          <a:lstStyle/>
          <a:p>
            <a:endParaRPr lang="en-US"/>
          </a:p>
        </p:txBody>
      </p:sp>
      <p:sp>
        <p:nvSpPr>
          <p:cNvPr id="589" name="C2  3.50–3.74">
            <a:extLst>
              <a:ext uri="{FF2B5EF4-FFF2-40B4-BE49-F238E27FC236}">
                <a16:creationId xmlns:a16="http://schemas.microsoft.com/office/drawing/2014/main" id="{6797C5EF-285B-4FEC-B78C-6405AE1F6632}"/>
              </a:ext>
            </a:extLst>
          </p:cNvPr>
          <p:cNvSpPr>
            <a:spLocks noGrp="1"/>
          </p:cNvSpPr>
          <p:nvPr/>
        </p:nvSpPr>
        <p:spPr>
          <a:xfrm>
            <a:off x="75628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C2  3.50–3.74</a:t>
            </a:r>
          </a:p>
        </p:txBody>
      </p:sp>
      <p:sp>
        <p:nvSpPr>
          <p:cNvPr id="590" name="Rectangle 589">
            <a:extLst>
              <a:ext uri="{FF2B5EF4-FFF2-40B4-BE49-F238E27FC236}">
                <a16:creationId xmlns:a16="http://schemas.microsoft.com/office/drawing/2014/main" id="{55D77CD7-AC6C-4956-94B9-A0401AE85BB2}"/>
              </a:ext>
            </a:extLst>
          </p:cNvPr>
          <p:cNvSpPr>
            <a:spLocks noGrp="1"/>
          </p:cNvSpPr>
          <p:nvPr/>
        </p:nvSpPr>
        <p:spPr>
          <a:xfrm>
            <a:off x="9096375" y="1409700"/>
            <a:ext cx="190500" cy="190500"/>
          </a:xfrm>
          <a:prstGeom prst="rect">
            <a:avLst/>
          </a:prstGeom>
          <a:solidFill>
            <a:srgbClr val="285B9F"/>
          </a:solidFill>
          <a:ln w="0">
            <a:noFill/>
          </a:ln>
        </p:spPr>
        <p:txBody>
          <a:bodyPr/>
          <a:lstStyle/>
          <a:p>
            <a:endParaRPr lang="en-US"/>
          </a:p>
        </p:txBody>
      </p:sp>
      <p:sp>
        <p:nvSpPr>
          <p:cNvPr id="591" name="C3  ≥ 3.75">
            <a:extLst>
              <a:ext uri="{FF2B5EF4-FFF2-40B4-BE49-F238E27FC236}">
                <a16:creationId xmlns:a16="http://schemas.microsoft.com/office/drawing/2014/main" id="{6FF864FE-F07A-48AD-879E-48A7112B0F8E}"/>
              </a:ext>
            </a:extLst>
          </p:cNvPr>
          <p:cNvSpPr>
            <a:spLocks noGrp="1"/>
          </p:cNvSpPr>
          <p:nvPr/>
        </p:nvSpPr>
        <p:spPr>
          <a:xfrm>
            <a:off x="93726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C3  ≥ 3.75</a:t>
            </a:r>
          </a:p>
        </p:txBody>
      </p:sp>
      <p:cxnSp>
        <p:nvCxnSpPr>
          <p:cNvPr id="2" name="Straight Arrow Connector 1">
            <a:extLst>
              <a:ext uri="{FF2B5EF4-FFF2-40B4-BE49-F238E27FC236}">
                <a16:creationId xmlns:a16="http://schemas.microsoft.com/office/drawing/2014/main" id="{C3D36535-0E35-02CB-1897-9EE0E1466233}"/>
              </a:ext>
            </a:extLst>
          </p:cNvPr>
          <p:cNvCxnSpPr>
            <a:cxnSpLocks/>
          </p:cNvCxnSpPr>
          <p:nvPr/>
        </p:nvCxnSpPr>
        <p:spPr>
          <a:xfrm>
            <a:off x="204107" y="5763986"/>
            <a:ext cx="105781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8E76A9D0-B92C-AE02-871D-E8AD19C2D4FA}"/>
              </a:ext>
            </a:extLst>
          </p:cNvPr>
          <p:cNvCxnSpPr>
            <a:cxnSpLocks/>
          </p:cNvCxnSpPr>
          <p:nvPr/>
        </p:nvCxnSpPr>
        <p:spPr>
          <a:xfrm flipV="1">
            <a:off x="356507" y="971550"/>
            <a:ext cx="0" cy="4944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E877473B-EA48-2E6D-D944-AF3C77629A47}"/>
              </a:ext>
            </a:extLst>
          </p:cNvPr>
          <p:cNvSpPr txBox="1"/>
          <p:nvPr/>
        </p:nvSpPr>
        <p:spPr>
          <a:xfrm>
            <a:off x="5532723" y="5787509"/>
            <a:ext cx="821572" cy="369332"/>
          </a:xfrm>
          <a:prstGeom prst="rect">
            <a:avLst/>
          </a:prstGeom>
          <a:noFill/>
        </p:spPr>
        <p:txBody>
          <a:bodyPr wrap="none" rtlCol="0">
            <a:spAutoFit/>
          </a:bodyPr>
          <a:lstStyle/>
          <a:p>
            <a:r>
              <a:rPr lang="en-US" dirty="0"/>
              <a:t>CGPA</a:t>
            </a:r>
          </a:p>
        </p:txBody>
      </p:sp>
      <p:sp>
        <p:nvSpPr>
          <p:cNvPr id="5" name="TextBox 4">
            <a:extLst>
              <a:ext uri="{FF2B5EF4-FFF2-40B4-BE49-F238E27FC236}">
                <a16:creationId xmlns:a16="http://schemas.microsoft.com/office/drawing/2014/main" id="{7A004FC3-A210-65EA-3AD3-266B0B5EC468}"/>
              </a:ext>
            </a:extLst>
          </p:cNvPr>
          <p:cNvSpPr txBox="1"/>
          <p:nvPr/>
        </p:nvSpPr>
        <p:spPr>
          <a:xfrm rot="16200000">
            <a:off x="-203960" y="2715997"/>
            <a:ext cx="838691" cy="369332"/>
          </a:xfrm>
          <a:prstGeom prst="rect">
            <a:avLst/>
          </a:prstGeom>
          <a:noFill/>
        </p:spPr>
        <p:txBody>
          <a:bodyPr wrap="none" rtlCol="0">
            <a:spAutoFit/>
          </a:bodyPr>
          <a:lstStyle/>
          <a:p>
            <a:r>
              <a:rPr lang="en-US" dirty="0"/>
              <a:t>Stress</a:t>
            </a:r>
          </a:p>
        </p:txBody>
      </p:sp>
    </p:spTree>
    <p:extLst>
      <p:ext uri="{BB962C8B-B14F-4D97-AF65-F5344CB8AC3E}">
        <p14:creationId xmlns:p14="http://schemas.microsoft.com/office/powerpoint/2010/main" val="17410688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22</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Phone distraction and CGPA</a:t>
            </a:r>
          </a:p>
        </p:txBody>
      </p:sp>
      <p:sp>
        <p:nvSpPr>
          <p:cNvPr id="534" name="Never">
            <a:extLst>
              <a:ext uri="{FF2B5EF4-FFF2-40B4-BE49-F238E27FC236}">
                <a16:creationId xmlns:a16="http://schemas.microsoft.com/office/drawing/2014/main" id="{51EC90A5-1DF9-4612-8391-70341B2FF5D8}"/>
              </a:ext>
            </a:extLst>
          </p:cNvPr>
          <p:cNvSpPr>
            <a:spLocks noGrp="1"/>
          </p:cNvSpPr>
          <p:nvPr/>
        </p:nvSpPr>
        <p:spPr>
          <a:xfrm>
            <a:off x="400050" y="19431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Never</a:t>
            </a:r>
          </a:p>
        </p:txBody>
      </p:sp>
      <p:sp>
        <p:nvSpPr>
          <p:cNvPr id="535" name="Rectangle 534">
            <a:extLst>
              <a:ext uri="{FF2B5EF4-FFF2-40B4-BE49-F238E27FC236}">
                <a16:creationId xmlns:a16="http://schemas.microsoft.com/office/drawing/2014/main" id="{89861678-73E3-4F9C-9C12-3A55228E5D14}"/>
              </a:ext>
            </a:extLst>
          </p:cNvPr>
          <p:cNvSpPr>
            <a:spLocks noGrp="1"/>
          </p:cNvSpPr>
          <p:nvPr/>
        </p:nvSpPr>
        <p:spPr>
          <a:xfrm>
            <a:off x="3667125" y="1905000"/>
            <a:ext cx="1590998" cy="447675"/>
          </a:xfrm>
          <a:prstGeom prst="rect">
            <a:avLst/>
          </a:prstGeom>
          <a:solidFill>
            <a:srgbClr val="A83A3A"/>
          </a:solidFill>
          <a:ln w="0">
            <a:noFill/>
          </a:ln>
        </p:spPr>
        <p:txBody>
          <a:bodyPr/>
          <a:lstStyle/>
          <a:p>
            <a:endParaRPr lang="en-US"/>
          </a:p>
        </p:txBody>
      </p:sp>
      <p:sp>
        <p:nvSpPr>
          <p:cNvPr id="536" name="23%">
            <a:extLst>
              <a:ext uri="{FF2B5EF4-FFF2-40B4-BE49-F238E27FC236}">
                <a16:creationId xmlns:a16="http://schemas.microsoft.com/office/drawing/2014/main" id="{BA0B6792-9838-428C-9967-36AFEA4FDEAC}"/>
              </a:ext>
            </a:extLst>
          </p:cNvPr>
          <p:cNvSpPr>
            <a:spLocks noGrp="1"/>
          </p:cNvSpPr>
          <p:nvPr/>
        </p:nvSpPr>
        <p:spPr>
          <a:xfrm>
            <a:off x="3705225" y="2009775"/>
            <a:ext cx="153384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23%</a:t>
            </a:r>
          </a:p>
        </p:txBody>
      </p:sp>
      <p:sp>
        <p:nvSpPr>
          <p:cNvPr id="537" name="Rectangle 536">
            <a:extLst>
              <a:ext uri="{FF2B5EF4-FFF2-40B4-BE49-F238E27FC236}">
                <a16:creationId xmlns:a16="http://schemas.microsoft.com/office/drawing/2014/main" id="{247F012C-F7ED-4433-AB85-3ECF8BC54346}"/>
              </a:ext>
            </a:extLst>
          </p:cNvPr>
          <p:cNvSpPr>
            <a:spLocks noGrp="1"/>
          </p:cNvSpPr>
          <p:nvPr/>
        </p:nvSpPr>
        <p:spPr>
          <a:xfrm>
            <a:off x="5258123" y="1905000"/>
            <a:ext cx="1355294" cy="447675"/>
          </a:xfrm>
          <a:prstGeom prst="rect">
            <a:avLst/>
          </a:prstGeom>
          <a:solidFill>
            <a:srgbClr val="DC713D"/>
          </a:solidFill>
          <a:ln w="0">
            <a:noFill/>
          </a:ln>
        </p:spPr>
        <p:txBody>
          <a:bodyPr/>
          <a:lstStyle/>
          <a:p>
            <a:endParaRPr lang="en-US"/>
          </a:p>
        </p:txBody>
      </p:sp>
      <p:sp>
        <p:nvSpPr>
          <p:cNvPr id="538" name="19%">
            <a:extLst>
              <a:ext uri="{FF2B5EF4-FFF2-40B4-BE49-F238E27FC236}">
                <a16:creationId xmlns:a16="http://schemas.microsoft.com/office/drawing/2014/main" id="{F59E8521-D586-48C9-95EC-4391030D0A15}"/>
              </a:ext>
            </a:extLst>
          </p:cNvPr>
          <p:cNvSpPr>
            <a:spLocks noGrp="1"/>
          </p:cNvSpPr>
          <p:nvPr/>
        </p:nvSpPr>
        <p:spPr>
          <a:xfrm>
            <a:off x="5296223" y="2009775"/>
            <a:ext cx="129814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19%</a:t>
            </a:r>
          </a:p>
        </p:txBody>
      </p:sp>
      <p:sp>
        <p:nvSpPr>
          <p:cNvPr id="539" name="Rectangle 538">
            <a:extLst>
              <a:ext uri="{FF2B5EF4-FFF2-40B4-BE49-F238E27FC236}">
                <a16:creationId xmlns:a16="http://schemas.microsoft.com/office/drawing/2014/main" id="{F4007075-0209-46D9-9520-C5DB61C4E8EF}"/>
              </a:ext>
            </a:extLst>
          </p:cNvPr>
          <p:cNvSpPr>
            <a:spLocks noGrp="1"/>
          </p:cNvSpPr>
          <p:nvPr/>
        </p:nvSpPr>
        <p:spPr>
          <a:xfrm>
            <a:off x="6613417" y="1905000"/>
            <a:ext cx="2121331" cy="447675"/>
          </a:xfrm>
          <a:prstGeom prst="rect">
            <a:avLst/>
          </a:prstGeom>
          <a:solidFill>
            <a:srgbClr val="4C91D8"/>
          </a:solidFill>
          <a:ln w="0">
            <a:noFill/>
          </a:ln>
        </p:spPr>
        <p:txBody>
          <a:bodyPr/>
          <a:lstStyle/>
          <a:p>
            <a:endParaRPr lang="en-US"/>
          </a:p>
        </p:txBody>
      </p:sp>
      <p:sp>
        <p:nvSpPr>
          <p:cNvPr id="540" name="31%">
            <a:extLst>
              <a:ext uri="{FF2B5EF4-FFF2-40B4-BE49-F238E27FC236}">
                <a16:creationId xmlns:a16="http://schemas.microsoft.com/office/drawing/2014/main" id="{1BA2DDCA-8A77-4CAD-89CA-D1F66BC1C037}"/>
              </a:ext>
            </a:extLst>
          </p:cNvPr>
          <p:cNvSpPr>
            <a:spLocks noGrp="1"/>
          </p:cNvSpPr>
          <p:nvPr/>
        </p:nvSpPr>
        <p:spPr>
          <a:xfrm>
            <a:off x="6651517" y="2009775"/>
            <a:ext cx="206418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31%</a:t>
            </a:r>
          </a:p>
        </p:txBody>
      </p:sp>
      <p:sp>
        <p:nvSpPr>
          <p:cNvPr id="541" name="Rectangle 540">
            <a:extLst>
              <a:ext uri="{FF2B5EF4-FFF2-40B4-BE49-F238E27FC236}">
                <a16:creationId xmlns:a16="http://schemas.microsoft.com/office/drawing/2014/main" id="{14137148-F681-498A-9554-E73F20C47902}"/>
              </a:ext>
            </a:extLst>
          </p:cNvPr>
          <p:cNvSpPr>
            <a:spLocks noGrp="1"/>
          </p:cNvSpPr>
          <p:nvPr/>
        </p:nvSpPr>
        <p:spPr>
          <a:xfrm>
            <a:off x="8734748" y="1905000"/>
            <a:ext cx="1885627" cy="447675"/>
          </a:xfrm>
          <a:prstGeom prst="rect">
            <a:avLst/>
          </a:prstGeom>
          <a:solidFill>
            <a:srgbClr val="285B9F"/>
          </a:solidFill>
          <a:ln w="0">
            <a:noFill/>
          </a:ln>
        </p:spPr>
        <p:txBody>
          <a:bodyPr/>
          <a:lstStyle/>
          <a:p>
            <a:endParaRPr lang="en-US"/>
          </a:p>
        </p:txBody>
      </p:sp>
      <p:sp>
        <p:nvSpPr>
          <p:cNvPr id="542" name="27%">
            <a:extLst>
              <a:ext uri="{FF2B5EF4-FFF2-40B4-BE49-F238E27FC236}">
                <a16:creationId xmlns:a16="http://schemas.microsoft.com/office/drawing/2014/main" id="{38B9DB2B-1B04-41D6-805F-389AE9DA0502}"/>
              </a:ext>
            </a:extLst>
          </p:cNvPr>
          <p:cNvSpPr>
            <a:spLocks noGrp="1"/>
          </p:cNvSpPr>
          <p:nvPr/>
        </p:nvSpPr>
        <p:spPr>
          <a:xfrm>
            <a:off x="8772848" y="2009775"/>
            <a:ext cx="182847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43" name="n=118">
            <a:extLst>
              <a:ext uri="{FF2B5EF4-FFF2-40B4-BE49-F238E27FC236}">
                <a16:creationId xmlns:a16="http://schemas.microsoft.com/office/drawing/2014/main" id="{890BCD84-8EF1-4A42-8EA3-106A19CE2F04}"/>
              </a:ext>
            </a:extLst>
          </p:cNvPr>
          <p:cNvSpPr>
            <a:spLocks noGrp="1"/>
          </p:cNvSpPr>
          <p:nvPr/>
        </p:nvSpPr>
        <p:spPr>
          <a:xfrm>
            <a:off x="10782300" y="20002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n=118</a:t>
            </a:r>
          </a:p>
        </p:txBody>
      </p:sp>
      <p:sp>
        <p:nvSpPr>
          <p:cNvPr id="544" name="Rarely">
            <a:extLst>
              <a:ext uri="{FF2B5EF4-FFF2-40B4-BE49-F238E27FC236}">
                <a16:creationId xmlns:a16="http://schemas.microsoft.com/office/drawing/2014/main" id="{1FEF9248-3983-432E-BBB1-DABBDF405758}"/>
              </a:ext>
            </a:extLst>
          </p:cNvPr>
          <p:cNvSpPr>
            <a:spLocks noGrp="1"/>
          </p:cNvSpPr>
          <p:nvPr/>
        </p:nvSpPr>
        <p:spPr>
          <a:xfrm>
            <a:off x="400050" y="26670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Rarely</a:t>
            </a:r>
          </a:p>
        </p:txBody>
      </p:sp>
      <p:sp>
        <p:nvSpPr>
          <p:cNvPr id="545" name="Rectangle 544">
            <a:extLst>
              <a:ext uri="{FF2B5EF4-FFF2-40B4-BE49-F238E27FC236}">
                <a16:creationId xmlns:a16="http://schemas.microsoft.com/office/drawing/2014/main" id="{694620A7-8050-412A-AC4E-37B4AF124167}"/>
              </a:ext>
            </a:extLst>
          </p:cNvPr>
          <p:cNvSpPr>
            <a:spLocks noGrp="1"/>
          </p:cNvSpPr>
          <p:nvPr/>
        </p:nvSpPr>
        <p:spPr>
          <a:xfrm>
            <a:off x="3667125" y="2628900"/>
            <a:ext cx="1545167" cy="447675"/>
          </a:xfrm>
          <a:prstGeom prst="rect">
            <a:avLst/>
          </a:prstGeom>
          <a:solidFill>
            <a:srgbClr val="A83A3A"/>
          </a:solidFill>
          <a:ln w="0">
            <a:noFill/>
          </a:ln>
        </p:spPr>
        <p:txBody>
          <a:bodyPr/>
          <a:lstStyle/>
          <a:p>
            <a:endParaRPr lang="en-US"/>
          </a:p>
        </p:txBody>
      </p:sp>
      <p:sp>
        <p:nvSpPr>
          <p:cNvPr id="546" name="22%">
            <a:extLst>
              <a:ext uri="{FF2B5EF4-FFF2-40B4-BE49-F238E27FC236}">
                <a16:creationId xmlns:a16="http://schemas.microsoft.com/office/drawing/2014/main" id="{12C1C337-35B3-43D8-B24C-8D033081D021}"/>
              </a:ext>
            </a:extLst>
          </p:cNvPr>
          <p:cNvSpPr>
            <a:spLocks noGrp="1"/>
          </p:cNvSpPr>
          <p:nvPr/>
        </p:nvSpPr>
        <p:spPr>
          <a:xfrm>
            <a:off x="3705225" y="2733675"/>
            <a:ext cx="148801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47" name="Rectangle 546">
            <a:extLst>
              <a:ext uri="{FF2B5EF4-FFF2-40B4-BE49-F238E27FC236}">
                <a16:creationId xmlns:a16="http://schemas.microsoft.com/office/drawing/2014/main" id="{EF30A451-6664-4BB9-8688-B0A2FAE1BCB1}"/>
              </a:ext>
            </a:extLst>
          </p:cNvPr>
          <p:cNvSpPr>
            <a:spLocks noGrp="1"/>
          </p:cNvSpPr>
          <p:nvPr/>
        </p:nvSpPr>
        <p:spPr>
          <a:xfrm>
            <a:off x="5212292" y="2628900"/>
            <a:ext cx="1888537" cy="447675"/>
          </a:xfrm>
          <a:prstGeom prst="rect">
            <a:avLst/>
          </a:prstGeom>
          <a:solidFill>
            <a:srgbClr val="DC713D"/>
          </a:solidFill>
          <a:ln w="0">
            <a:noFill/>
          </a:ln>
        </p:spPr>
        <p:txBody>
          <a:bodyPr/>
          <a:lstStyle/>
          <a:p>
            <a:endParaRPr lang="en-US"/>
          </a:p>
        </p:txBody>
      </p:sp>
      <p:sp>
        <p:nvSpPr>
          <p:cNvPr id="548" name="27%">
            <a:extLst>
              <a:ext uri="{FF2B5EF4-FFF2-40B4-BE49-F238E27FC236}">
                <a16:creationId xmlns:a16="http://schemas.microsoft.com/office/drawing/2014/main" id="{36A97571-E14A-4192-A8F0-DCC5D4EFE8C0}"/>
              </a:ext>
            </a:extLst>
          </p:cNvPr>
          <p:cNvSpPr>
            <a:spLocks noGrp="1"/>
          </p:cNvSpPr>
          <p:nvPr/>
        </p:nvSpPr>
        <p:spPr>
          <a:xfrm>
            <a:off x="5250392" y="2733675"/>
            <a:ext cx="183138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49" name="Rectangle 548">
            <a:extLst>
              <a:ext uri="{FF2B5EF4-FFF2-40B4-BE49-F238E27FC236}">
                <a16:creationId xmlns:a16="http://schemas.microsoft.com/office/drawing/2014/main" id="{D8C02268-EA67-49C8-A487-E7BFE4527F30}"/>
              </a:ext>
            </a:extLst>
          </p:cNvPr>
          <p:cNvSpPr>
            <a:spLocks noGrp="1"/>
          </p:cNvSpPr>
          <p:nvPr/>
        </p:nvSpPr>
        <p:spPr>
          <a:xfrm>
            <a:off x="7100829" y="2628900"/>
            <a:ext cx="2188986" cy="447675"/>
          </a:xfrm>
          <a:prstGeom prst="rect">
            <a:avLst/>
          </a:prstGeom>
          <a:solidFill>
            <a:srgbClr val="4C91D8"/>
          </a:solidFill>
          <a:ln w="0">
            <a:noFill/>
          </a:ln>
        </p:spPr>
        <p:txBody>
          <a:bodyPr/>
          <a:lstStyle/>
          <a:p>
            <a:endParaRPr lang="en-US"/>
          </a:p>
        </p:txBody>
      </p:sp>
      <p:sp>
        <p:nvSpPr>
          <p:cNvPr id="550" name="31%">
            <a:extLst>
              <a:ext uri="{FF2B5EF4-FFF2-40B4-BE49-F238E27FC236}">
                <a16:creationId xmlns:a16="http://schemas.microsoft.com/office/drawing/2014/main" id="{253EAFC3-AD66-4B9D-B5FC-CF331D93A291}"/>
              </a:ext>
            </a:extLst>
          </p:cNvPr>
          <p:cNvSpPr>
            <a:spLocks noGrp="1"/>
          </p:cNvSpPr>
          <p:nvPr/>
        </p:nvSpPr>
        <p:spPr>
          <a:xfrm>
            <a:off x="7138929" y="2733675"/>
            <a:ext cx="213183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31%</a:t>
            </a:r>
          </a:p>
        </p:txBody>
      </p:sp>
      <p:sp>
        <p:nvSpPr>
          <p:cNvPr id="551" name="Rectangle 550">
            <a:extLst>
              <a:ext uri="{FF2B5EF4-FFF2-40B4-BE49-F238E27FC236}">
                <a16:creationId xmlns:a16="http://schemas.microsoft.com/office/drawing/2014/main" id="{2238E98C-7E79-4794-AD08-BA3BF0157DED}"/>
              </a:ext>
            </a:extLst>
          </p:cNvPr>
          <p:cNvSpPr>
            <a:spLocks noGrp="1"/>
          </p:cNvSpPr>
          <p:nvPr/>
        </p:nvSpPr>
        <p:spPr>
          <a:xfrm>
            <a:off x="9289815" y="2628900"/>
            <a:ext cx="1330560" cy="447675"/>
          </a:xfrm>
          <a:prstGeom prst="rect">
            <a:avLst/>
          </a:prstGeom>
          <a:solidFill>
            <a:srgbClr val="285B9F"/>
          </a:solidFill>
          <a:ln w="0">
            <a:noFill/>
          </a:ln>
        </p:spPr>
        <p:txBody>
          <a:bodyPr/>
          <a:lstStyle/>
          <a:p>
            <a:endParaRPr lang="en-US"/>
          </a:p>
        </p:txBody>
      </p:sp>
      <p:sp>
        <p:nvSpPr>
          <p:cNvPr id="552" name="19%">
            <a:extLst>
              <a:ext uri="{FF2B5EF4-FFF2-40B4-BE49-F238E27FC236}">
                <a16:creationId xmlns:a16="http://schemas.microsoft.com/office/drawing/2014/main" id="{4A751709-2020-424B-ABB1-016D7D8B03B5}"/>
              </a:ext>
            </a:extLst>
          </p:cNvPr>
          <p:cNvSpPr>
            <a:spLocks noGrp="1"/>
          </p:cNvSpPr>
          <p:nvPr/>
        </p:nvSpPr>
        <p:spPr>
          <a:xfrm>
            <a:off x="9327915" y="2733675"/>
            <a:ext cx="127341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19%</a:t>
            </a:r>
          </a:p>
        </p:txBody>
      </p:sp>
      <p:sp>
        <p:nvSpPr>
          <p:cNvPr id="553" name="n=162">
            <a:extLst>
              <a:ext uri="{FF2B5EF4-FFF2-40B4-BE49-F238E27FC236}">
                <a16:creationId xmlns:a16="http://schemas.microsoft.com/office/drawing/2014/main" id="{67F6CD3B-9FFA-4AF0-97C8-AC029A5F7C71}"/>
              </a:ext>
            </a:extLst>
          </p:cNvPr>
          <p:cNvSpPr>
            <a:spLocks noGrp="1"/>
          </p:cNvSpPr>
          <p:nvPr/>
        </p:nvSpPr>
        <p:spPr>
          <a:xfrm>
            <a:off x="10782300" y="27241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n=162</a:t>
            </a:r>
          </a:p>
        </p:txBody>
      </p:sp>
      <p:sp>
        <p:nvSpPr>
          <p:cNvPr id="554" name="Sometimes">
            <a:extLst>
              <a:ext uri="{FF2B5EF4-FFF2-40B4-BE49-F238E27FC236}">
                <a16:creationId xmlns:a16="http://schemas.microsoft.com/office/drawing/2014/main" id="{637C514F-02FB-4718-9B31-E063E6768192}"/>
              </a:ext>
            </a:extLst>
          </p:cNvPr>
          <p:cNvSpPr>
            <a:spLocks noGrp="1"/>
          </p:cNvSpPr>
          <p:nvPr/>
        </p:nvSpPr>
        <p:spPr>
          <a:xfrm>
            <a:off x="400050" y="33909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Sometimes</a:t>
            </a:r>
          </a:p>
        </p:txBody>
      </p:sp>
      <p:sp>
        <p:nvSpPr>
          <p:cNvPr id="555" name="Rectangle 554">
            <a:extLst>
              <a:ext uri="{FF2B5EF4-FFF2-40B4-BE49-F238E27FC236}">
                <a16:creationId xmlns:a16="http://schemas.microsoft.com/office/drawing/2014/main" id="{51FB84BC-DAC6-45BD-B777-4C6EDCDF52F9}"/>
              </a:ext>
            </a:extLst>
          </p:cNvPr>
          <p:cNvSpPr>
            <a:spLocks noGrp="1"/>
          </p:cNvSpPr>
          <p:nvPr/>
        </p:nvSpPr>
        <p:spPr>
          <a:xfrm>
            <a:off x="3667125" y="3352800"/>
            <a:ext cx="1274762" cy="447675"/>
          </a:xfrm>
          <a:prstGeom prst="rect">
            <a:avLst/>
          </a:prstGeom>
          <a:solidFill>
            <a:srgbClr val="A83A3A"/>
          </a:solidFill>
          <a:ln w="0">
            <a:noFill/>
          </a:ln>
        </p:spPr>
        <p:txBody>
          <a:bodyPr/>
          <a:lstStyle/>
          <a:p>
            <a:endParaRPr lang="en-US"/>
          </a:p>
        </p:txBody>
      </p:sp>
      <p:sp>
        <p:nvSpPr>
          <p:cNvPr id="556" name="18%">
            <a:extLst>
              <a:ext uri="{FF2B5EF4-FFF2-40B4-BE49-F238E27FC236}">
                <a16:creationId xmlns:a16="http://schemas.microsoft.com/office/drawing/2014/main" id="{38FB3DD0-7A68-4203-92D5-64C3E7E6C7DB}"/>
              </a:ext>
            </a:extLst>
          </p:cNvPr>
          <p:cNvSpPr>
            <a:spLocks noGrp="1"/>
          </p:cNvSpPr>
          <p:nvPr/>
        </p:nvSpPr>
        <p:spPr>
          <a:xfrm>
            <a:off x="3705225" y="3457575"/>
            <a:ext cx="121761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57" name="Rectangle 556">
            <a:extLst>
              <a:ext uri="{FF2B5EF4-FFF2-40B4-BE49-F238E27FC236}">
                <a16:creationId xmlns:a16="http://schemas.microsoft.com/office/drawing/2014/main" id="{D03A5E37-AA18-47A0-B3E3-E8ADD7701D7E}"/>
              </a:ext>
            </a:extLst>
          </p:cNvPr>
          <p:cNvSpPr>
            <a:spLocks noGrp="1"/>
          </p:cNvSpPr>
          <p:nvPr/>
        </p:nvSpPr>
        <p:spPr>
          <a:xfrm>
            <a:off x="4941887" y="3352800"/>
            <a:ext cx="2294573" cy="447675"/>
          </a:xfrm>
          <a:prstGeom prst="rect">
            <a:avLst/>
          </a:prstGeom>
          <a:solidFill>
            <a:srgbClr val="DC713D"/>
          </a:solidFill>
          <a:ln w="0">
            <a:noFill/>
          </a:ln>
        </p:spPr>
        <p:txBody>
          <a:bodyPr/>
          <a:lstStyle/>
          <a:p>
            <a:endParaRPr lang="en-US"/>
          </a:p>
        </p:txBody>
      </p:sp>
      <p:sp>
        <p:nvSpPr>
          <p:cNvPr id="558" name="33%">
            <a:extLst>
              <a:ext uri="{FF2B5EF4-FFF2-40B4-BE49-F238E27FC236}">
                <a16:creationId xmlns:a16="http://schemas.microsoft.com/office/drawing/2014/main" id="{C619F5FD-3F1C-4276-A578-AFD5C23E5525}"/>
              </a:ext>
            </a:extLst>
          </p:cNvPr>
          <p:cNvSpPr>
            <a:spLocks noGrp="1"/>
          </p:cNvSpPr>
          <p:nvPr/>
        </p:nvSpPr>
        <p:spPr>
          <a:xfrm>
            <a:off x="4979987" y="3457575"/>
            <a:ext cx="223742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33%</a:t>
            </a:r>
          </a:p>
        </p:txBody>
      </p:sp>
      <p:sp>
        <p:nvSpPr>
          <p:cNvPr id="559" name="Rectangle 558">
            <a:extLst>
              <a:ext uri="{FF2B5EF4-FFF2-40B4-BE49-F238E27FC236}">
                <a16:creationId xmlns:a16="http://schemas.microsoft.com/office/drawing/2014/main" id="{F29F9A2A-A0C9-40C2-886C-0BEA581898C5}"/>
              </a:ext>
            </a:extLst>
          </p:cNvPr>
          <p:cNvSpPr>
            <a:spLocks noGrp="1"/>
          </p:cNvSpPr>
          <p:nvPr/>
        </p:nvSpPr>
        <p:spPr>
          <a:xfrm>
            <a:off x="7236460" y="3352800"/>
            <a:ext cx="1923733" cy="447675"/>
          </a:xfrm>
          <a:prstGeom prst="rect">
            <a:avLst/>
          </a:prstGeom>
          <a:solidFill>
            <a:srgbClr val="4C91D8"/>
          </a:solidFill>
          <a:ln w="0">
            <a:noFill/>
          </a:ln>
        </p:spPr>
        <p:txBody>
          <a:bodyPr/>
          <a:lstStyle/>
          <a:p>
            <a:endParaRPr lang="en-US"/>
          </a:p>
        </p:txBody>
      </p:sp>
      <p:sp>
        <p:nvSpPr>
          <p:cNvPr id="560" name="28%">
            <a:extLst>
              <a:ext uri="{FF2B5EF4-FFF2-40B4-BE49-F238E27FC236}">
                <a16:creationId xmlns:a16="http://schemas.microsoft.com/office/drawing/2014/main" id="{F01E2228-1700-41A4-89FB-A8760F47A360}"/>
              </a:ext>
            </a:extLst>
          </p:cNvPr>
          <p:cNvSpPr>
            <a:spLocks noGrp="1"/>
          </p:cNvSpPr>
          <p:nvPr/>
        </p:nvSpPr>
        <p:spPr>
          <a:xfrm>
            <a:off x="7274560" y="3457575"/>
            <a:ext cx="186658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61" name="Rectangle 560">
            <a:extLst>
              <a:ext uri="{FF2B5EF4-FFF2-40B4-BE49-F238E27FC236}">
                <a16:creationId xmlns:a16="http://schemas.microsoft.com/office/drawing/2014/main" id="{AADEC357-5665-4A1C-9AB7-11D15729FBE5}"/>
              </a:ext>
            </a:extLst>
          </p:cNvPr>
          <p:cNvSpPr>
            <a:spLocks noGrp="1"/>
          </p:cNvSpPr>
          <p:nvPr/>
        </p:nvSpPr>
        <p:spPr>
          <a:xfrm>
            <a:off x="9160193" y="3352800"/>
            <a:ext cx="1460182" cy="447675"/>
          </a:xfrm>
          <a:prstGeom prst="rect">
            <a:avLst/>
          </a:prstGeom>
          <a:solidFill>
            <a:srgbClr val="285B9F"/>
          </a:solidFill>
          <a:ln w="0">
            <a:noFill/>
          </a:ln>
        </p:spPr>
        <p:txBody>
          <a:bodyPr/>
          <a:lstStyle/>
          <a:p>
            <a:endParaRPr lang="en-US"/>
          </a:p>
        </p:txBody>
      </p:sp>
      <p:sp>
        <p:nvSpPr>
          <p:cNvPr id="562" name="21%">
            <a:extLst>
              <a:ext uri="{FF2B5EF4-FFF2-40B4-BE49-F238E27FC236}">
                <a16:creationId xmlns:a16="http://schemas.microsoft.com/office/drawing/2014/main" id="{2547E506-2A17-4619-A70D-3BC03EB43345}"/>
              </a:ext>
            </a:extLst>
          </p:cNvPr>
          <p:cNvSpPr>
            <a:spLocks noGrp="1"/>
          </p:cNvSpPr>
          <p:nvPr/>
        </p:nvSpPr>
        <p:spPr>
          <a:xfrm>
            <a:off x="9198293" y="3457575"/>
            <a:ext cx="140303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21%</a:t>
            </a:r>
          </a:p>
        </p:txBody>
      </p:sp>
      <p:sp>
        <p:nvSpPr>
          <p:cNvPr id="563" name="n=300">
            <a:extLst>
              <a:ext uri="{FF2B5EF4-FFF2-40B4-BE49-F238E27FC236}">
                <a16:creationId xmlns:a16="http://schemas.microsoft.com/office/drawing/2014/main" id="{B4E17E6C-1758-4116-A565-10842200994D}"/>
              </a:ext>
            </a:extLst>
          </p:cNvPr>
          <p:cNvSpPr>
            <a:spLocks noGrp="1"/>
          </p:cNvSpPr>
          <p:nvPr/>
        </p:nvSpPr>
        <p:spPr>
          <a:xfrm>
            <a:off x="10782300" y="34480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n=300</a:t>
            </a:r>
          </a:p>
        </p:txBody>
      </p:sp>
      <p:sp>
        <p:nvSpPr>
          <p:cNvPr id="564" name="Often">
            <a:extLst>
              <a:ext uri="{FF2B5EF4-FFF2-40B4-BE49-F238E27FC236}">
                <a16:creationId xmlns:a16="http://schemas.microsoft.com/office/drawing/2014/main" id="{0594DB75-1338-45D1-B098-3DDBE405A997}"/>
              </a:ext>
            </a:extLst>
          </p:cNvPr>
          <p:cNvSpPr>
            <a:spLocks noGrp="1"/>
          </p:cNvSpPr>
          <p:nvPr/>
        </p:nvSpPr>
        <p:spPr>
          <a:xfrm>
            <a:off x="400050" y="41148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Often</a:t>
            </a:r>
          </a:p>
        </p:txBody>
      </p:sp>
      <p:sp>
        <p:nvSpPr>
          <p:cNvPr id="565" name="Rectangle 564">
            <a:extLst>
              <a:ext uri="{FF2B5EF4-FFF2-40B4-BE49-F238E27FC236}">
                <a16:creationId xmlns:a16="http://schemas.microsoft.com/office/drawing/2014/main" id="{18B3E242-61F9-4338-9092-0E0909AEAB36}"/>
              </a:ext>
            </a:extLst>
          </p:cNvPr>
          <p:cNvSpPr>
            <a:spLocks noGrp="1"/>
          </p:cNvSpPr>
          <p:nvPr/>
        </p:nvSpPr>
        <p:spPr>
          <a:xfrm>
            <a:off x="3667125" y="4076700"/>
            <a:ext cx="1404938" cy="447675"/>
          </a:xfrm>
          <a:prstGeom prst="rect">
            <a:avLst/>
          </a:prstGeom>
          <a:solidFill>
            <a:srgbClr val="A83A3A"/>
          </a:solidFill>
          <a:ln w="0">
            <a:noFill/>
          </a:ln>
        </p:spPr>
        <p:txBody>
          <a:bodyPr/>
          <a:lstStyle/>
          <a:p>
            <a:endParaRPr lang="en-US"/>
          </a:p>
        </p:txBody>
      </p:sp>
      <p:sp>
        <p:nvSpPr>
          <p:cNvPr id="566" name="20%">
            <a:extLst>
              <a:ext uri="{FF2B5EF4-FFF2-40B4-BE49-F238E27FC236}">
                <a16:creationId xmlns:a16="http://schemas.microsoft.com/office/drawing/2014/main" id="{7D2F10D3-983B-4652-B4ED-DDFD0328DE4E}"/>
              </a:ext>
            </a:extLst>
          </p:cNvPr>
          <p:cNvSpPr>
            <a:spLocks noGrp="1"/>
          </p:cNvSpPr>
          <p:nvPr/>
        </p:nvSpPr>
        <p:spPr>
          <a:xfrm>
            <a:off x="3705225" y="4181475"/>
            <a:ext cx="134778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67" name="Rectangle 566">
            <a:extLst>
              <a:ext uri="{FF2B5EF4-FFF2-40B4-BE49-F238E27FC236}">
                <a16:creationId xmlns:a16="http://schemas.microsoft.com/office/drawing/2014/main" id="{BB79B03B-E89C-4111-83EC-34BBE1542444}"/>
              </a:ext>
            </a:extLst>
          </p:cNvPr>
          <p:cNvSpPr>
            <a:spLocks noGrp="1"/>
          </p:cNvSpPr>
          <p:nvPr/>
        </p:nvSpPr>
        <p:spPr>
          <a:xfrm>
            <a:off x="5072063" y="4076700"/>
            <a:ext cx="2143125" cy="447675"/>
          </a:xfrm>
          <a:prstGeom prst="rect">
            <a:avLst/>
          </a:prstGeom>
          <a:solidFill>
            <a:srgbClr val="DC713D"/>
          </a:solidFill>
          <a:ln w="0">
            <a:noFill/>
          </a:ln>
        </p:spPr>
        <p:txBody>
          <a:bodyPr/>
          <a:lstStyle/>
          <a:p>
            <a:endParaRPr lang="en-US"/>
          </a:p>
        </p:txBody>
      </p:sp>
      <p:sp>
        <p:nvSpPr>
          <p:cNvPr id="568" name="31%">
            <a:extLst>
              <a:ext uri="{FF2B5EF4-FFF2-40B4-BE49-F238E27FC236}">
                <a16:creationId xmlns:a16="http://schemas.microsoft.com/office/drawing/2014/main" id="{1147633D-DE12-49A1-91ED-F66329448679}"/>
              </a:ext>
            </a:extLst>
          </p:cNvPr>
          <p:cNvSpPr>
            <a:spLocks noGrp="1"/>
          </p:cNvSpPr>
          <p:nvPr/>
        </p:nvSpPr>
        <p:spPr>
          <a:xfrm>
            <a:off x="5110163" y="4181475"/>
            <a:ext cx="208597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31%</a:t>
            </a:r>
          </a:p>
        </p:txBody>
      </p:sp>
      <p:sp>
        <p:nvSpPr>
          <p:cNvPr id="569" name="Rectangle 568">
            <a:extLst>
              <a:ext uri="{FF2B5EF4-FFF2-40B4-BE49-F238E27FC236}">
                <a16:creationId xmlns:a16="http://schemas.microsoft.com/office/drawing/2014/main" id="{F5088481-6960-4F21-81A2-F35FD6EFB355}"/>
              </a:ext>
            </a:extLst>
          </p:cNvPr>
          <p:cNvSpPr>
            <a:spLocks noGrp="1"/>
          </p:cNvSpPr>
          <p:nvPr/>
        </p:nvSpPr>
        <p:spPr>
          <a:xfrm>
            <a:off x="7215188" y="4076700"/>
            <a:ext cx="1833563" cy="447675"/>
          </a:xfrm>
          <a:prstGeom prst="rect">
            <a:avLst/>
          </a:prstGeom>
          <a:solidFill>
            <a:srgbClr val="4C91D8"/>
          </a:solidFill>
          <a:ln w="0">
            <a:noFill/>
          </a:ln>
        </p:spPr>
        <p:txBody>
          <a:bodyPr/>
          <a:lstStyle/>
          <a:p>
            <a:endParaRPr lang="en-US"/>
          </a:p>
        </p:txBody>
      </p:sp>
      <p:sp>
        <p:nvSpPr>
          <p:cNvPr id="570" name="26%">
            <a:extLst>
              <a:ext uri="{FF2B5EF4-FFF2-40B4-BE49-F238E27FC236}">
                <a16:creationId xmlns:a16="http://schemas.microsoft.com/office/drawing/2014/main" id="{F246AAA2-48ED-4886-8D59-5C02BCBED049}"/>
              </a:ext>
            </a:extLst>
          </p:cNvPr>
          <p:cNvSpPr>
            <a:spLocks noGrp="1"/>
          </p:cNvSpPr>
          <p:nvPr/>
        </p:nvSpPr>
        <p:spPr>
          <a:xfrm>
            <a:off x="7253288" y="4181475"/>
            <a:ext cx="177641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71" name="Rectangle 570">
            <a:extLst>
              <a:ext uri="{FF2B5EF4-FFF2-40B4-BE49-F238E27FC236}">
                <a16:creationId xmlns:a16="http://schemas.microsoft.com/office/drawing/2014/main" id="{E771E050-B47D-4BD6-887A-1C7F0E1F6B55}"/>
              </a:ext>
            </a:extLst>
          </p:cNvPr>
          <p:cNvSpPr>
            <a:spLocks noGrp="1"/>
          </p:cNvSpPr>
          <p:nvPr/>
        </p:nvSpPr>
        <p:spPr>
          <a:xfrm>
            <a:off x="9048750" y="4076700"/>
            <a:ext cx="1571625" cy="447675"/>
          </a:xfrm>
          <a:prstGeom prst="rect">
            <a:avLst/>
          </a:prstGeom>
          <a:solidFill>
            <a:srgbClr val="285B9F"/>
          </a:solidFill>
          <a:ln w="0">
            <a:noFill/>
          </a:ln>
        </p:spPr>
        <p:txBody>
          <a:bodyPr/>
          <a:lstStyle/>
          <a:p>
            <a:endParaRPr lang="en-US"/>
          </a:p>
        </p:txBody>
      </p:sp>
      <p:sp>
        <p:nvSpPr>
          <p:cNvPr id="572" name="23%">
            <a:extLst>
              <a:ext uri="{FF2B5EF4-FFF2-40B4-BE49-F238E27FC236}">
                <a16:creationId xmlns:a16="http://schemas.microsoft.com/office/drawing/2014/main" id="{1336BB8D-3B27-4877-BE3D-02097978EE23}"/>
              </a:ext>
            </a:extLst>
          </p:cNvPr>
          <p:cNvSpPr>
            <a:spLocks noGrp="1"/>
          </p:cNvSpPr>
          <p:nvPr/>
        </p:nvSpPr>
        <p:spPr>
          <a:xfrm>
            <a:off x="9086850" y="4181475"/>
            <a:ext cx="151447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23%</a:t>
            </a:r>
          </a:p>
        </p:txBody>
      </p:sp>
      <p:sp>
        <p:nvSpPr>
          <p:cNvPr id="573" name="n=292">
            <a:extLst>
              <a:ext uri="{FF2B5EF4-FFF2-40B4-BE49-F238E27FC236}">
                <a16:creationId xmlns:a16="http://schemas.microsoft.com/office/drawing/2014/main" id="{FA16AB85-F9B6-417C-A997-77DA7FBB9A84}"/>
              </a:ext>
            </a:extLst>
          </p:cNvPr>
          <p:cNvSpPr>
            <a:spLocks noGrp="1"/>
          </p:cNvSpPr>
          <p:nvPr/>
        </p:nvSpPr>
        <p:spPr>
          <a:xfrm>
            <a:off x="10782300" y="41719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n=292</a:t>
            </a:r>
          </a:p>
        </p:txBody>
      </p:sp>
      <p:sp>
        <p:nvSpPr>
          <p:cNvPr id="574" name="Almost every day">
            <a:extLst>
              <a:ext uri="{FF2B5EF4-FFF2-40B4-BE49-F238E27FC236}">
                <a16:creationId xmlns:a16="http://schemas.microsoft.com/office/drawing/2014/main" id="{852654AD-2429-4AE4-9C5C-1EC7D3A01508}"/>
              </a:ext>
            </a:extLst>
          </p:cNvPr>
          <p:cNvSpPr>
            <a:spLocks noGrp="1"/>
          </p:cNvSpPr>
          <p:nvPr/>
        </p:nvSpPr>
        <p:spPr>
          <a:xfrm>
            <a:off x="400050" y="48387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Almost every day</a:t>
            </a:r>
          </a:p>
        </p:txBody>
      </p:sp>
      <p:sp>
        <p:nvSpPr>
          <p:cNvPr id="575" name="Rectangle 574">
            <a:extLst>
              <a:ext uri="{FF2B5EF4-FFF2-40B4-BE49-F238E27FC236}">
                <a16:creationId xmlns:a16="http://schemas.microsoft.com/office/drawing/2014/main" id="{6393A1BE-0C69-4928-97C1-2480E76C25A9}"/>
              </a:ext>
            </a:extLst>
          </p:cNvPr>
          <p:cNvSpPr>
            <a:spLocks noGrp="1"/>
          </p:cNvSpPr>
          <p:nvPr/>
        </p:nvSpPr>
        <p:spPr>
          <a:xfrm>
            <a:off x="3667125" y="4800600"/>
            <a:ext cx="1738313" cy="447675"/>
          </a:xfrm>
          <a:prstGeom prst="rect">
            <a:avLst/>
          </a:prstGeom>
          <a:solidFill>
            <a:srgbClr val="A83A3A"/>
          </a:solidFill>
          <a:ln w="0">
            <a:noFill/>
          </a:ln>
        </p:spPr>
        <p:txBody>
          <a:bodyPr/>
          <a:lstStyle/>
          <a:p>
            <a:endParaRPr lang="en-US"/>
          </a:p>
        </p:txBody>
      </p:sp>
      <p:sp>
        <p:nvSpPr>
          <p:cNvPr id="576" name="25%">
            <a:extLst>
              <a:ext uri="{FF2B5EF4-FFF2-40B4-BE49-F238E27FC236}">
                <a16:creationId xmlns:a16="http://schemas.microsoft.com/office/drawing/2014/main" id="{6773BF48-828E-48F8-AE82-184E8A7CB857}"/>
              </a:ext>
            </a:extLst>
          </p:cNvPr>
          <p:cNvSpPr>
            <a:spLocks noGrp="1"/>
          </p:cNvSpPr>
          <p:nvPr/>
        </p:nvSpPr>
        <p:spPr>
          <a:xfrm>
            <a:off x="3705225" y="4905375"/>
            <a:ext cx="168116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77" name="Rectangle 576">
            <a:extLst>
              <a:ext uri="{FF2B5EF4-FFF2-40B4-BE49-F238E27FC236}">
                <a16:creationId xmlns:a16="http://schemas.microsoft.com/office/drawing/2014/main" id="{93B05832-2C90-4161-BE7C-8E19A5EF4C89}"/>
              </a:ext>
            </a:extLst>
          </p:cNvPr>
          <p:cNvSpPr>
            <a:spLocks noGrp="1"/>
          </p:cNvSpPr>
          <p:nvPr/>
        </p:nvSpPr>
        <p:spPr>
          <a:xfrm>
            <a:off x="5405438" y="4800600"/>
            <a:ext cx="1915090" cy="447675"/>
          </a:xfrm>
          <a:prstGeom prst="rect">
            <a:avLst/>
          </a:prstGeom>
          <a:solidFill>
            <a:srgbClr val="DC713D"/>
          </a:solidFill>
          <a:ln w="0">
            <a:noFill/>
          </a:ln>
        </p:spPr>
        <p:txBody>
          <a:bodyPr/>
          <a:lstStyle/>
          <a:p>
            <a:endParaRPr lang="en-US"/>
          </a:p>
        </p:txBody>
      </p:sp>
      <p:sp>
        <p:nvSpPr>
          <p:cNvPr id="578" name="28%">
            <a:extLst>
              <a:ext uri="{FF2B5EF4-FFF2-40B4-BE49-F238E27FC236}">
                <a16:creationId xmlns:a16="http://schemas.microsoft.com/office/drawing/2014/main" id="{BD68F51F-EB0E-421C-88A3-63A808DE6D1B}"/>
              </a:ext>
            </a:extLst>
          </p:cNvPr>
          <p:cNvSpPr>
            <a:spLocks noGrp="1"/>
          </p:cNvSpPr>
          <p:nvPr/>
        </p:nvSpPr>
        <p:spPr>
          <a:xfrm>
            <a:off x="5443538" y="4905375"/>
            <a:ext cx="185794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79" name="Rectangle 578">
            <a:extLst>
              <a:ext uri="{FF2B5EF4-FFF2-40B4-BE49-F238E27FC236}">
                <a16:creationId xmlns:a16="http://schemas.microsoft.com/office/drawing/2014/main" id="{2E61A240-900B-4D66-82F9-8144461A15E6}"/>
              </a:ext>
            </a:extLst>
          </p:cNvPr>
          <p:cNvSpPr>
            <a:spLocks noGrp="1"/>
          </p:cNvSpPr>
          <p:nvPr/>
        </p:nvSpPr>
        <p:spPr>
          <a:xfrm>
            <a:off x="7320528" y="4800600"/>
            <a:ext cx="1649924" cy="447675"/>
          </a:xfrm>
          <a:prstGeom prst="rect">
            <a:avLst/>
          </a:prstGeom>
          <a:solidFill>
            <a:srgbClr val="4C91D8"/>
          </a:solidFill>
          <a:ln w="0">
            <a:noFill/>
          </a:ln>
        </p:spPr>
        <p:txBody>
          <a:bodyPr/>
          <a:lstStyle/>
          <a:p>
            <a:endParaRPr lang="en-US"/>
          </a:p>
        </p:txBody>
      </p:sp>
      <p:sp>
        <p:nvSpPr>
          <p:cNvPr id="580" name="24%">
            <a:extLst>
              <a:ext uri="{FF2B5EF4-FFF2-40B4-BE49-F238E27FC236}">
                <a16:creationId xmlns:a16="http://schemas.microsoft.com/office/drawing/2014/main" id="{257F30A3-9026-457F-B34F-A44A58538EE1}"/>
              </a:ext>
            </a:extLst>
          </p:cNvPr>
          <p:cNvSpPr>
            <a:spLocks noGrp="1"/>
          </p:cNvSpPr>
          <p:nvPr/>
        </p:nvSpPr>
        <p:spPr>
          <a:xfrm>
            <a:off x="7358628" y="4905375"/>
            <a:ext cx="159277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81" name="Rectangle 580">
            <a:extLst>
              <a:ext uri="{FF2B5EF4-FFF2-40B4-BE49-F238E27FC236}">
                <a16:creationId xmlns:a16="http://schemas.microsoft.com/office/drawing/2014/main" id="{3464327D-BFF4-459E-9F85-E3BEBFED8499}"/>
              </a:ext>
            </a:extLst>
          </p:cNvPr>
          <p:cNvSpPr>
            <a:spLocks noGrp="1"/>
          </p:cNvSpPr>
          <p:nvPr/>
        </p:nvSpPr>
        <p:spPr>
          <a:xfrm>
            <a:off x="8970451" y="4800600"/>
            <a:ext cx="1649924" cy="447675"/>
          </a:xfrm>
          <a:prstGeom prst="rect">
            <a:avLst/>
          </a:prstGeom>
          <a:solidFill>
            <a:srgbClr val="285B9F"/>
          </a:solidFill>
          <a:ln w="0">
            <a:noFill/>
          </a:ln>
        </p:spPr>
        <p:txBody>
          <a:bodyPr/>
          <a:lstStyle/>
          <a:p>
            <a:endParaRPr lang="en-US"/>
          </a:p>
        </p:txBody>
      </p:sp>
      <p:sp>
        <p:nvSpPr>
          <p:cNvPr id="582" name="24%">
            <a:extLst>
              <a:ext uri="{FF2B5EF4-FFF2-40B4-BE49-F238E27FC236}">
                <a16:creationId xmlns:a16="http://schemas.microsoft.com/office/drawing/2014/main" id="{9638882E-77B8-4B01-A7F6-248B2743B7B8}"/>
              </a:ext>
            </a:extLst>
          </p:cNvPr>
          <p:cNvSpPr>
            <a:spLocks noGrp="1"/>
          </p:cNvSpPr>
          <p:nvPr/>
        </p:nvSpPr>
        <p:spPr>
          <a:xfrm>
            <a:off x="9008551" y="4905375"/>
            <a:ext cx="159277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83" name="n=236">
            <a:extLst>
              <a:ext uri="{FF2B5EF4-FFF2-40B4-BE49-F238E27FC236}">
                <a16:creationId xmlns:a16="http://schemas.microsoft.com/office/drawing/2014/main" id="{5216C554-FC22-4464-97B7-D7C0F4911E28}"/>
              </a:ext>
            </a:extLst>
          </p:cNvPr>
          <p:cNvSpPr>
            <a:spLocks noGrp="1"/>
          </p:cNvSpPr>
          <p:nvPr/>
        </p:nvSpPr>
        <p:spPr>
          <a:xfrm>
            <a:off x="10782300" y="48958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n=236</a:t>
            </a:r>
          </a:p>
        </p:txBody>
      </p:sp>
      <p:sp>
        <p:nvSpPr>
          <p:cNvPr id="584" name="Rectangle 583">
            <a:extLst>
              <a:ext uri="{FF2B5EF4-FFF2-40B4-BE49-F238E27FC236}">
                <a16:creationId xmlns:a16="http://schemas.microsoft.com/office/drawing/2014/main" id="{7D213B97-6A03-4099-957A-DA7603390A7D}"/>
              </a:ext>
            </a:extLst>
          </p:cNvPr>
          <p:cNvSpPr>
            <a:spLocks noGrp="1"/>
          </p:cNvSpPr>
          <p:nvPr/>
        </p:nvSpPr>
        <p:spPr>
          <a:xfrm>
            <a:off x="3667125" y="1409700"/>
            <a:ext cx="190500" cy="190500"/>
          </a:xfrm>
          <a:prstGeom prst="rect">
            <a:avLst/>
          </a:prstGeom>
          <a:solidFill>
            <a:srgbClr val="A83A3A"/>
          </a:solidFill>
          <a:ln w="0">
            <a:noFill/>
          </a:ln>
        </p:spPr>
        <p:txBody>
          <a:bodyPr/>
          <a:lstStyle/>
          <a:p>
            <a:endParaRPr lang="en-US"/>
          </a:p>
        </p:txBody>
      </p:sp>
      <p:sp>
        <p:nvSpPr>
          <p:cNvPr id="585" name="C0  &lt; 3.20">
            <a:extLst>
              <a:ext uri="{FF2B5EF4-FFF2-40B4-BE49-F238E27FC236}">
                <a16:creationId xmlns:a16="http://schemas.microsoft.com/office/drawing/2014/main" id="{22DFB10E-BD2E-4C7E-A12D-1DFE3D8FED7A}"/>
              </a:ext>
            </a:extLst>
          </p:cNvPr>
          <p:cNvSpPr>
            <a:spLocks noGrp="1"/>
          </p:cNvSpPr>
          <p:nvPr/>
        </p:nvSpPr>
        <p:spPr>
          <a:xfrm>
            <a:off x="39433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C0  &lt; 3.20</a:t>
            </a:r>
          </a:p>
        </p:txBody>
      </p:sp>
      <p:sp>
        <p:nvSpPr>
          <p:cNvPr id="586" name="Rectangle 585">
            <a:extLst>
              <a:ext uri="{FF2B5EF4-FFF2-40B4-BE49-F238E27FC236}">
                <a16:creationId xmlns:a16="http://schemas.microsoft.com/office/drawing/2014/main" id="{66043DDC-E47F-41DA-9CDC-3CE21C3C69B6}"/>
              </a:ext>
            </a:extLst>
          </p:cNvPr>
          <p:cNvSpPr>
            <a:spLocks noGrp="1"/>
          </p:cNvSpPr>
          <p:nvPr/>
        </p:nvSpPr>
        <p:spPr>
          <a:xfrm>
            <a:off x="5476875" y="1409700"/>
            <a:ext cx="190500" cy="190500"/>
          </a:xfrm>
          <a:prstGeom prst="rect">
            <a:avLst/>
          </a:prstGeom>
          <a:solidFill>
            <a:srgbClr val="DC713D"/>
          </a:solidFill>
          <a:ln w="0">
            <a:noFill/>
          </a:ln>
        </p:spPr>
        <p:txBody>
          <a:bodyPr/>
          <a:lstStyle/>
          <a:p>
            <a:endParaRPr lang="en-US"/>
          </a:p>
        </p:txBody>
      </p:sp>
      <p:sp>
        <p:nvSpPr>
          <p:cNvPr id="587" name="C1  3.20–3.49">
            <a:extLst>
              <a:ext uri="{FF2B5EF4-FFF2-40B4-BE49-F238E27FC236}">
                <a16:creationId xmlns:a16="http://schemas.microsoft.com/office/drawing/2014/main" id="{FAD25904-9E7B-41ED-BD14-63BDD86F7F32}"/>
              </a:ext>
            </a:extLst>
          </p:cNvPr>
          <p:cNvSpPr>
            <a:spLocks noGrp="1"/>
          </p:cNvSpPr>
          <p:nvPr/>
        </p:nvSpPr>
        <p:spPr>
          <a:xfrm>
            <a:off x="57531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C1  3.20–3.49</a:t>
            </a:r>
          </a:p>
        </p:txBody>
      </p:sp>
      <p:sp>
        <p:nvSpPr>
          <p:cNvPr id="588" name="Rectangle 587">
            <a:extLst>
              <a:ext uri="{FF2B5EF4-FFF2-40B4-BE49-F238E27FC236}">
                <a16:creationId xmlns:a16="http://schemas.microsoft.com/office/drawing/2014/main" id="{5C5AC57A-D5D1-4F0B-9AE5-7E5F1608FC07}"/>
              </a:ext>
            </a:extLst>
          </p:cNvPr>
          <p:cNvSpPr>
            <a:spLocks noGrp="1"/>
          </p:cNvSpPr>
          <p:nvPr/>
        </p:nvSpPr>
        <p:spPr>
          <a:xfrm>
            <a:off x="7286625" y="1409700"/>
            <a:ext cx="190500" cy="190500"/>
          </a:xfrm>
          <a:prstGeom prst="rect">
            <a:avLst/>
          </a:prstGeom>
          <a:solidFill>
            <a:srgbClr val="4C91D8"/>
          </a:solidFill>
          <a:ln w="0">
            <a:noFill/>
          </a:ln>
        </p:spPr>
        <p:txBody>
          <a:bodyPr/>
          <a:lstStyle/>
          <a:p>
            <a:endParaRPr lang="en-US"/>
          </a:p>
        </p:txBody>
      </p:sp>
      <p:sp>
        <p:nvSpPr>
          <p:cNvPr id="589" name="C2  3.50–3.74">
            <a:extLst>
              <a:ext uri="{FF2B5EF4-FFF2-40B4-BE49-F238E27FC236}">
                <a16:creationId xmlns:a16="http://schemas.microsoft.com/office/drawing/2014/main" id="{EDB5EC64-3288-4DD9-9B00-E514B18F3B60}"/>
              </a:ext>
            </a:extLst>
          </p:cNvPr>
          <p:cNvSpPr>
            <a:spLocks noGrp="1"/>
          </p:cNvSpPr>
          <p:nvPr/>
        </p:nvSpPr>
        <p:spPr>
          <a:xfrm>
            <a:off x="75628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C2  3.50–3.74</a:t>
            </a:r>
          </a:p>
        </p:txBody>
      </p:sp>
      <p:sp>
        <p:nvSpPr>
          <p:cNvPr id="590" name="Rectangle 589">
            <a:extLst>
              <a:ext uri="{FF2B5EF4-FFF2-40B4-BE49-F238E27FC236}">
                <a16:creationId xmlns:a16="http://schemas.microsoft.com/office/drawing/2014/main" id="{D7EF505B-BD78-4B21-BE2E-09D181F05DFA}"/>
              </a:ext>
            </a:extLst>
          </p:cNvPr>
          <p:cNvSpPr>
            <a:spLocks noGrp="1"/>
          </p:cNvSpPr>
          <p:nvPr/>
        </p:nvSpPr>
        <p:spPr>
          <a:xfrm>
            <a:off x="9096375" y="1409700"/>
            <a:ext cx="190500" cy="190500"/>
          </a:xfrm>
          <a:prstGeom prst="rect">
            <a:avLst/>
          </a:prstGeom>
          <a:solidFill>
            <a:srgbClr val="285B9F"/>
          </a:solidFill>
          <a:ln w="0">
            <a:noFill/>
          </a:ln>
        </p:spPr>
        <p:txBody>
          <a:bodyPr/>
          <a:lstStyle/>
          <a:p>
            <a:endParaRPr lang="en-US"/>
          </a:p>
        </p:txBody>
      </p:sp>
      <p:sp>
        <p:nvSpPr>
          <p:cNvPr id="591" name="C3  ≥ 3.75">
            <a:extLst>
              <a:ext uri="{FF2B5EF4-FFF2-40B4-BE49-F238E27FC236}">
                <a16:creationId xmlns:a16="http://schemas.microsoft.com/office/drawing/2014/main" id="{8E1ED000-D5DC-48C5-AEC5-CC9CC9C31336}"/>
              </a:ext>
            </a:extLst>
          </p:cNvPr>
          <p:cNvSpPr>
            <a:spLocks noGrp="1"/>
          </p:cNvSpPr>
          <p:nvPr/>
        </p:nvSpPr>
        <p:spPr>
          <a:xfrm>
            <a:off x="93726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C3  ≥ 3.75</a:t>
            </a:r>
          </a:p>
        </p:txBody>
      </p:sp>
      <p:sp>
        <p:nvSpPr>
          <p:cNvPr id="592" name="Each bar = 100% of students choosing that answer. Descr">
            <a:extLst>
              <a:ext uri="{FF2B5EF4-FFF2-40B4-BE49-F238E27FC236}">
                <a16:creationId xmlns:a16="http://schemas.microsoft.com/office/drawing/2014/main" id="{E6B51464-5FA8-4872-994F-E68F20070F13}"/>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Each bar = 100% of students choosing that answer. Descriptive association, N = 1,108.</a:t>
            </a:r>
          </a:p>
        </p:txBody>
      </p:sp>
      <p:cxnSp>
        <p:nvCxnSpPr>
          <p:cNvPr id="2" name="Straight Arrow Connector 1">
            <a:extLst>
              <a:ext uri="{FF2B5EF4-FFF2-40B4-BE49-F238E27FC236}">
                <a16:creationId xmlns:a16="http://schemas.microsoft.com/office/drawing/2014/main" id="{ED70984D-D058-B8B3-9313-33D0A89130B5}"/>
              </a:ext>
            </a:extLst>
          </p:cNvPr>
          <p:cNvCxnSpPr>
            <a:cxnSpLocks/>
          </p:cNvCxnSpPr>
          <p:nvPr/>
        </p:nvCxnSpPr>
        <p:spPr>
          <a:xfrm>
            <a:off x="204107" y="5763986"/>
            <a:ext cx="105781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CA6FA82A-02F2-E0C2-3D84-BA55C1E3B595}"/>
              </a:ext>
            </a:extLst>
          </p:cNvPr>
          <p:cNvCxnSpPr>
            <a:cxnSpLocks/>
          </p:cNvCxnSpPr>
          <p:nvPr/>
        </p:nvCxnSpPr>
        <p:spPr>
          <a:xfrm flipV="1">
            <a:off x="356507" y="971550"/>
            <a:ext cx="0" cy="4944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E3844927-1DFB-A686-E115-BCF186E04BEC}"/>
              </a:ext>
            </a:extLst>
          </p:cNvPr>
          <p:cNvSpPr txBox="1"/>
          <p:nvPr/>
        </p:nvSpPr>
        <p:spPr>
          <a:xfrm>
            <a:off x="5532723" y="5787509"/>
            <a:ext cx="821572" cy="369332"/>
          </a:xfrm>
          <a:prstGeom prst="rect">
            <a:avLst/>
          </a:prstGeom>
          <a:noFill/>
        </p:spPr>
        <p:txBody>
          <a:bodyPr wrap="none" rtlCol="0">
            <a:spAutoFit/>
          </a:bodyPr>
          <a:lstStyle/>
          <a:p>
            <a:r>
              <a:rPr lang="en-US" dirty="0"/>
              <a:t>CGPA</a:t>
            </a:r>
          </a:p>
        </p:txBody>
      </p:sp>
      <p:sp>
        <p:nvSpPr>
          <p:cNvPr id="5" name="TextBox 4">
            <a:extLst>
              <a:ext uri="{FF2B5EF4-FFF2-40B4-BE49-F238E27FC236}">
                <a16:creationId xmlns:a16="http://schemas.microsoft.com/office/drawing/2014/main" id="{A84DB131-FA70-8AE8-D9C2-9A8835A96EB3}"/>
              </a:ext>
            </a:extLst>
          </p:cNvPr>
          <p:cNvSpPr txBox="1"/>
          <p:nvPr/>
        </p:nvSpPr>
        <p:spPr>
          <a:xfrm rot="16200000">
            <a:off x="-460441" y="2715997"/>
            <a:ext cx="1351652" cy="369332"/>
          </a:xfrm>
          <a:prstGeom prst="rect">
            <a:avLst/>
          </a:prstGeom>
          <a:noFill/>
        </p:spPr>
        <p:txBody>
          <a:bodyPr wrap="none" rtlCol="0">
            <a:spAutoFit/>
          </a:bodyPr>
          <a:lstStyle/>
          <a:p>
            <a:r>
              <a:rPr lang="en-US" dirty="0"/>
              <a:t>Attendance</a:t>
            </a:r>
          </a:p>
        </p:txBody>
      </p:sp>
    </p:spTree>
    <p:extLst>
      <p:ext uri="{BB962C8B-B14F-4D97-AF65-F5344CB8AC3E}">
        <p14:creationId xmlns:p14="http://schemas.microsoft.com/office/powerpoint/2010/main" val="18389581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23</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Outside commitments and CGPA</a:t>
            </a:r>
          </a:p>
        </p:txBody>
      </p:sp>
      <p:sp>
        <p:nvSpPr>
          <p:cNvPr id="534" name="None">
            <a:extLst>
              <a:ext uri="{FF2B5EF4-FFF2-40B4-BE49-F238E27FC236}">
                <a16:creationId xmlns:a16="http://schemas.microsoft.com/office/drawing/2014/main" id="{06F73B64-2A9A-44AE-B5B8-2E1DD35B3684}"/>
              </a:ext>
            </a:extLst>
          </p:cNvPr>
          <p:cNvSpPr>
            <a:spLocks noGrp="1"/>
          </p:cNvSpPr>
          <p:nvPr/>
        </p:nvSpPr>
        <p:spPr>
          <a:xfrm>
            <a:off x="400050" y="19431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None</a:t>
            </a:r>
          </a:p>
        </p:txBody>
      </p:sp>
      <p:sp>
        <p:nvSpPr>
          <p:cNvPr id="535" name="Rectangle 534">
            <a:extLst>
              <a:ext uri="{FF2B5EF4-FFF2-40B4-BE49-F238E27FC236}">
                <a16:creationId xmlns:a16="http://schemas.microsoft.com/office/drawing/2014/main" id="{0533FF35-5E33-4C6D-A482-94241812BC77}"/>
              </a:ext>
            </a:extLst>
          </p:cNvPr>
          <p:cNvSpPr>
            <a:spLocks noGrp="1"/>
          </p:cNvSpPr>
          <p:nvPr/>
        </p:nvSpPr>
        <p:spPr>
          <a:xfrm>
            <a:off x="3667125" y="1905000"/>
            <a:ext cx="1395725" cy="447675"/>
          </a:xfrm>
          <a:prstGeom prst="rect">
            <a:avLst/>
          </a:prstGeom>
          <a:solidFill>
            <a:srgbClr val="A83A3A"/>
          </a:solidFill>
          <a:ln w="0">
            <a:noFill/>
          </a:ln>
        </p:spPr>
        <p:txBody>
          <a:bodyPr/>
          <a:lstStyle/>
          <a:p>
            <a:endParaRPr lang="en-US"/>
          </a:p>
        </p:txBody>
      </p:sp>
      <p:sp>
        <p:nvSpPr>
          <p:cNvPr id="536" name="20%">
            <a:extLst>
              <a:ext uri="{FF2B5EF4-FFF2-40B4-BE49-F238E27FC236}">
                <a16:creationId xmlns:a16="http://schemas.microsoft.com/office/drawing/2014/main" id="{A2E048ED-831E-4188-B98F-70C01D360B46}"/>
              </a:ext>
            </a:extLst>
          </p:cNvPr>
          <p:cNvSpPr>
            <a:spLocks noGrp="1"/>
          </p:cNvSpPr>
          <p:nvPr/>
        </p:nvSpPr>
        <p:spPr>
          <a:xfrm>
            <a:off x="3705225" y="2009775"/>
            <a:ext cx="133857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37" name="Rectangle 536">
            <a:extLst>
              <a:ext uri="{FF2B5EF4-FFF2-40B4-BE49-F238E27FC236}">
                <a16:creationId xmlns:a16="http://schemas.microsoft.com/office/drawing/2014/main" id="{58BA7B73-60B0-4DC9-BEAF-3A87948C91BF}"/>
              </a:ext>
            </a:extLst>
          </p:cNvPr>
          <p:cNvSpPr>
            <a:spLocks noGrp="1"/>
          </p:cNvSpPr>
          <p:nvPr/>
        </p:nvSpPr>
        <p:spPr>
          <a:xfrm>
            <a:off x="5062850" y="1905000"/>
            <a:ext cx="1700247" cy="447675"/>
          </a:xfrm>
          <a:prstGeom prst="rect">
            <a:avLst/>
          </a:prstGeom>
          <a:solidFill>
            <a:srgbClr val="DC713D"/>
          </a:solidFill>
          <a:ln w="0">
            <a:noFill/>
          </a:ln>
        </p:spPr>
        <p:txBody>
          <a:bodyPr/>
          <a:lstStyle/>
          <a:p>
            <a:endParaRPr lang="en-US"/>
          </a:p>
        </p:txBody>
      </p:sp>
      <p:sp>
        <p:nvSpPr>
          <p:cNvPr id="538" name="24%">
            <a:extLst>
              <a:ext uri="{FF2B5EF4-FFF2-40B4-BE49-F238E27FC236}">
                <a16:creationId xmlns:a16="http://schemas.microsoft.com/office/drawing/2014/main" id="{9684E1E3-D626-4FE0-A099-A90B4D8633CF}"/>
              </a:ext>
            </a:extLst>
          </p:cNvPr>
          <p:cNvSpPr>
            <a:spLocks noGrp="1"/>
          </p:cNvSpPr>
          <p:nvPr/>
        </p:nvSpPr>
        <p:spPr>
          <a:xfrm>
            <a:off x="5100950" y="2009775"/>
            <a:ext cx="164309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39" name="Rectangle 538">
            <a:extLst>
              <a:ext uri="{FF2B5EF4-FFF2-40B4-BE49-F238E27FC236}">
                <a16:creationId xmlns:a16="http://schemas.microsoft.com/office/drawing/2014/main" id="{B42106E5-2E2B-4C48-9B73-28D953B8DCE6}"/>
              </a:ext>
            </a:extLst>
          </p:cNvPr>
          <p:cNvSpPr>
            <a:spLocks noGrp="1"/>
          </p:cNvSpPr>
          <p:nvPr/>
        </p:nvSpPr>
        <p:spPr>
          <a:xfrm>
            <a:off x="6763098" y="1905000"/>
            <a:ext cx="1928639" cy="447675"/>
          </a:xfrm>
          <a:prstGeom prst="rect">
            <a:avLst/>
          </a:prstGeom>
          <a:solidFill>
            <a:srgbClr val="4C91D8"/>
          </a:solidFill>
          <a:ln w="0">
            <a:noFill/>
          </a:ln>
        </p:spPr>
        <p:txBody>
          <a:bodyPr/>
          <a:lstStyle/>
          <a:p>
            <a:endParaRPr lang="en-US"/>
          </a:p>
        </p:txBody>
      </p:sp>
      <p:sp>
        <p:nvSpPr>
          <p:cNvPr id="540" name="28%">
            <a:extLst>
              <a:ext uri="{FF2B5EF4-FFF2-40B4-BE49-F238E27FC236}">
                <a16:creationId xmlns:a16="http://schemas.microsoft.com/office/drawing/2014/main" id="{ACBAC976-DFB0-4F79-A3A5-AFD1D44D7812}"/>
              </a:ext>
            </a:extLst>
          </p:cNvPr>
          <p:cNvSpPr>
            <a:spLocks noGrp="1"/>
          </p:cNvSpPr>
          <p:nvPr/>
        </p:nvSpPr>
        <p:spPr>
          <a:xfrm>
            <a:off x="6801198" y="2009775"/>
            <a:ext cx="1871489"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41" name="Rectangle 540">
            <a:extLst>
              <a:ext uri="{FF2B5EF4-FFF2-40B4-BE49-F238E27FC236}">
                <a16:creationId xmlns:a16="http://schemas.microsoft.com/office/drawing/2014/main" id="{6199AB25-9023-40C8-AED9-8891FA07C6CF}"/>
              </a:ext>
            </a:extLst>
          </p:cNvPr>
          <p:cNvSpPr>
            <a:spLocks noGrp="1"/>
          </p:cNvSpPr>
          <p:nvPr/>
        </p:nvSpPr>
        <p:spPr>
          <a:xfrm>
            <a:off x="8691736" y="1905000"/>
            <a:ext cx="1928639" cy="447675"/>
          </a:xfrm>
          <a:prstGeom prst="rect">
            <a:avLst/>
          </a:prstGeom>
          <a:solidFill>
            <a:srgbClr val="285B9F"/>
          </a:solidFill>
          <a:ln w="0">
            <a:noFill/>
          </a:ln>
        </p:spPr>
        <p:txBody>
          <a:bodyPr/>
          <a:lstStyle/>
          <a:p>
            <a:endParaRPr lang="en-US"/>
          </a:p>
        </p:txBody>
      </p:sp>
      <p:sp>
        <p:nvSpPr>
          <p:cNvPr id="542" name="28%">
            <a:extLst>
              <a:ext uri="{FF2B5EF4-FFF2-40B4-BE49-F238E27FC236}">
                <a16:creationId xmlns:a16="http://schemas.microsoft.com/office/drawing/2014/main" id="{3934E198-843A-4DF2-9234-346483A6D42E}"/>
              </a:ext>
            </a:extLst>
          </p:cNvPr>
          <p:cNvSpPr>
            <a:spLocks noGrp="1"/>
          </p:cNvSpPr>
          <p:nvPr/>
        </p:nvSpPr>
        <p:spPr>
          <a:xfrm>
            <a:off x="8729836" y="2009775"/>
            <a:ext cx="1871489"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43" name="n=274">
            <a:extLst>
              <a:ext uri="{FF2B5EF4-FFF2-40B4-BE49-F238E27FC236}">
                <a16:creationId xmlns:a16="http://schemas.microsoft.com/office/drawing/2014/main" id="{0EB77608-C8CC-43D9-87DB-96DEDF4A8740}"/>
              </a:ext>
            </a:extLst>
          </p:cNvPr>
          <p:cNvSpPr>
            <a:spLocks noGrp="1"/>
          </p:cNvSpPr>
          <p:nvPr/>
        </p:nvSpPr>
        <p:spPr>
          <a:xfrm>
            <a:off x="10782300" y="20002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n=274</a:t>
            </a:r>
          </a:p>
        </p:txBody>
      </p:sp>
      <p:sp>
        <p:nvSpPr>
          <p:cNvPr id="544" name="1-5 hrs">
            <a:extLst>
              <a:ext uri="{FF2B5EF4-FFF2-40B4-BE49-F238E27FC236}">
                <a16:creationId xmlns:a16="http://schemas.microsoft.com/office/drawing/2014/main" id="{2BF9A136-326C-4564-9D4A-08F26E956CB8}"/>
              </a:ext>
            </a:extLst>
          </p:cNvPr>
          <p:cNvSpPr>
            <a:spLocks noGrp="1"/>
          </p:cNvSpPr>
          <p:nvPr/>
        </p:nvSpPr>
        <p:spPr>
          <a:xfrm>
            <a:off x="400050" y="26670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1-5 hrs</a:t>
            </a:r>
          </a:p>
        </p:txBody>
      </p:sp>
      <p:sp>
        <p:nvSpPr>
          <p:cNvPr id="545" name="Rectangle 544">
            <a:extLst>
              <a:ext uri="{FF2B5EF4-FFF2-40B4-BE49-F238E27FC236}">
                <a16:creationId xmlns:a16="http://schemas.microsoft.com/office/drawing/2014/main" id="{3103342D-DADA-4D50-BB8F-3F2906179F74}"/>
              </a:ext>
            </a:extLst>
          </p:cNvPr>
          <p:cNvSpPr>
            <a:spLocks noGrp="1"/>
          </p:cNvSpPr>
          <p:nvPr/>
        </p:nvSpPr>
        <p:spPr>
          <a:xfrm>
            <a:off x="3667125" y="2628900"/>
            <a:ext cx="1401225" cy="447675"/>
          </a:xfrm>
          <a:prstGeom prst="rect">
            <a:avLst/>
          </a:prstGeom>
          <a:solidFill>
            <a:srgbClr val="A83A3A"/>
          </a:solidFill>
          <a:ln w="0">
            <a:noFill/>
          </a:ln>
        </p:spPr>
        <p:txBody>
          <a:bodyPr/>
          <a:lstStyle/>
          <a:p>
            <a:endParaRPr lang="en-US"/>
          </a:p>
        </p:txBody>
      </p:sp>
      <p:sp>
        <p:nvSpPr>
          <p:cNvPr id="546" name="20%">
            <a:extLst>
              <a:ext uri="{FF2B5EF4-FFF2-40B4-BE49-F238E27FC236}">
                <a16:creationId xmlns:a16="http://schemas.microsoft.com/office/drawing/2014/main" id="{D1221AC4-0867-4F35-B210-5CD437F7CFC2}"/>
              </a:ext>
            </a:extLst>
          </p:cNvPr>
          <p:cNvSpPr>
            <a:spLocks noGrp="1"/>
          </p:cNvSpPr>
          <p:nvPr/>
        </p:nvSpPr>
        <p:spPr>
          <a:xfrm>
            <a:off x="3705225" y="2733675"/>
            <a:ext cx="134407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47" name="Rectangle 546">
            <a:extLst>
              <a:ext uri="{FF2B5EF4-FFF2-40B4-BE49-F238E27FC236}">
                <a16:creationId xmlns:a16="http://schemas.microsoft.com/office/drawing/2014/main" id="{455AD0F1-C86A-4216-A7E5-0E94AEF22D25}"/>
              </a:ext>
            </a:extLst>
          </p:cNvPr>
          <p:cNvSpPr>
            <a:spLocks noGrp="1"/>
          </p:cNvSpPr>
          <p:nvPr/>
        </p:nvSpPr>
        <p:spPr>
          <a:xfrm>
            <a:off x="5068350" y="2628900"/>
            <a:ext cx="1903551" cy="447675"/>
          </a:xfrm>
          <a:prstGeom prst="rect">
            <a:avLst/>
          </a:prstGeom>
          <a:solidFill>
            <a:srgbClr val="DC713D"/>
          </a:solidFill>
          <a:ln w="0">
            <a:noFill/>
          </a:ln>
        </p:spPr>
        <p:txBody>
          <a:bodyPr/>
          <a:lstStyle/>
          <a:p>
            <a:endParaRPr lang="en-US"/>
          </a:p>
        </p:txBody>
      </p:sp>
      <p:sp>
        <p:nvSpPr>
          <p:cNvPr id="548" name="27%">
            <a:extLst>
              <a:ext uri="{FF2B5EF4-FFF2-40B4-BE49-F238E27FC236}">
                <a16:creationId xmlns:a16="http://schemas.microsoft.com/office/drawing/2014/main" id="{E3CB562C-C30B-4F35-9555-EEDD06AA3DF4}"/>
              </a:ext>
            </a:extLst>
          </p:cNvPr>
          <p:cNvSpPr>
            <a:spLocks noGrp="1"/>
          </p:cNvSpPr>
          <p:nvPr/>
        </p:nvSpPr>
        <p:spPr>
          <a:xfrm>
            <a:off x="5106450" y="2733675"/>
            <a:ext cx="184640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49" name="Rectangle 548">
            <a:extLst>
              <a:ext uri="{FF2B5EF4-FFF2-40B4-BE49-F238E27FC236}">
                <a16:creationId xmlns:a16="http://schemas.microsoft.com/office/drawing/2014/main" id="{FA6374F7-B994-4E84-900E-740EB0BCA3CA}"/>
              </a:ext>
            </a:extLst>
          </p:cNvPr>
          <p:cNvSpPr>
            <a:spLocks noGrp="1"/>
          </p:cNvSpPr>
          <p:nvPr/>
        </p:nvSpPr>
        <p:spPr>
          <a:xfrm>
            <a:off x="6971902" y="2628900"/>
            <a:ext cx="1903551" cy="447675"/>
          </a:xfrm>
          <a:prstGeom prst="rect">
            <a:avLst/>
          </a:prstGeom>
          <a:solidFill>
            <a:srgbClr val="4C91D8"/>
          </a:solidFill>
          <a:ln w="0">
            <a:noFill/>
          </a:ln>
        </p:spPr>
        <p:txBody>
          <a:bodyPr/>
          <a:lstStyle/>
          <a:p>
            <a:endParaRPr lang="en-US"/>
          </a:p>
        </p:txBody>
      </p:sp>
      <p:sp>
        <p:nvSpPr>
          <p:cNvPr id="550" name="27%">
            <a:extLst>
              <a:ext uri="{FF2B5EF4-FFF2-40B4-BE49-F238E27FC236}">
                <a16:creationId xmlns:a16="http://schemas.microsoft.com/office/drawing/2014/main" id="{1EE2E7AD-93D1-489D-A761-7E7096AEB4D1}"/>
              </a:ext>
            </a:extLst>
          </p:cNvPr>
          <p:cNvSpPr>
            <a:spLocks noGrp="1"/>
          </p:cNvSpPr>
          <p:nvPr/>
        </p:nvSpPr>
        <p:spPr>
          <a:xfrm>
            <a:off x="7010002" y="2733675"/>
            <a:ext cx="184640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51" name="Rectangle 550">
            <a:extLst>
              <a:ext uri="{FF2B5EF4-FFF2-40B4-BE49-F238E27FC236}">
                <a16:creationId xmlns:a16="http://schemas.microsoft.com/office/drawing/2014/main" id="{7CD6CAAF-D6FB-4015-914D-EE3764E64A4A}"/>
              </a:ext>
            </a:extLst>
          </p:cNvPr>
          <p:cNvSpPr>
            <a:spLocks noGrp="1"/>
          </p:cNvSpPr>
          <p:nvPr/>
        </p:nvSpPr>
        <p:spPr>
          <a:xfrm>
            <a:off x="8875453" y="2628900"/>
            <a:ext cx="1744922" cy="447675"/>
          </a:xfrm>
          <a:prstGeom prst="rect">
            <a:avLst/>
          </a:prstGeom>
          <a:solidFill>
            <a:srgbClr val="285B9F"/>
          </a:solidFill>
          <a:ln w="0">
            <a:noFill/>
          </a:ln>
        </p:spPr>
        <p:txBody>
          <a:bodyPr/>
          <a:lstStyle/>
          <a:p>
            <a:endParaRPr lang="en-US"/>
          </a:p>
        </p:txBody>
      </p:sp>
      <p:sp>
        <p:nvSpPr>
          <p:cNvPr id="552" name="25%">
            <a:extLst>
              <a:ext uri="{FF2B5EF4-FFF2-40B4-BE49-F238E27FC236}">
                <a16:creationId xmlns:a16="http://schemas.microsoft.com/office/drawing/2014/main" id="{4D15D9B5-8EBE-40A8-AB3A-BD5FA08EE01A}"/>
              </a:ext>
            </a:extLst>
          </p:cNvPr>
          <p:cNvSpPr>
            <a:spLocks noGrp="1"/>
          </p:cNvSpPr>
          <p:nvPr/>
        </p:nvSpPr>
        <p:spPr>
          <a:xfrm>
            <a:off x="8913553" y="2733675"/>
            <a:ext cx="168777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53" name="n=263">
            <a:extLst>
              <a:ext uri="{FF2B5EF4-FFF2-40B4-BE49-F238E27FC236}">
                <a16:creationId xmlns:a16="http://schemas.microsoft.com/office/drawing/2014/main" id="{F27A5FD8-E001-4E0A-93C5-C709308FB011}"/>
              </a:ext>
            </a:extLst>
          </p:cNvPr>
          <p:cNvSpPr>
            <a:spLocks noGrp="1"/>
          </p:cNvSpPr>
          <p:nvPr/>
        </p:nvSpPr>
        <p:spPr>
          <a:xfrm>
            <a:off x="10782300" y="27241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n=263</a:t>
            </a:r>
          </a:p>
        </p:txBody>
      </p:sp>
      <p:sp>
        <p:nvSpPr>
          <p:cNvPr id="554" name="6-10 hrs">
            <a:extLst>
              <a:ext uri="{FF2B5EF4-FFF2-40B4-BE49-F238E27FC236}">
                <a16:creationId xmlns:a16="http://schemas.microsoft.com/office/drawing/2014/main" id="{AE587873-1B78-46C6-9ED9-941EFBA5DB63}"/>
              </a:ext>
            </a:extLst>
          </p:cNvPr>
          <p:cNvSpPr>
            <a:spLocks noGrp="1"/>
          </p:cNvSpPr>
          <p:nvPr/>
        </p:nvSpPr>
        <p:spPr>
          <a:xfrm>
            <a:off x="400050" y="33909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6-10 hrs</a:t>
            </a:r>
          </a:p>
        </p:txBody>
      </p:sp>
      <p:sp>
        <p:nvSpPr>
          <p:cNvPr id="555" name="Rectangle 554">
            <a:extLst>
              <a:ext uri="{FF2B5EF4-FFF2-40B4-BE49-F238E27FC236}">
                <a16:creationId xmlns:a16="http://schemas.microsoft.com/office/drawing/2014/main" id="{66055E24-EB83-435F-8430-12F038719890}"/>
              </a:ext>
            </a:extLst>
          </p:cNvPr>
          <p:cNvSpPr>
            <a:spLocks noGrp="1"/>
          </p:cNvSpPr>
          <p:nvPr/>
        </p:nvSpPr>
        <p:spPr>
          <a:xfrm>
            <a:off x="3667125" y="3352800"/>
            <a:ext cx="1378662" cy="447675"/>
          </a:xfrm>
          <a:prstGeom prst="rect">
            <a:avLst/>
          </a:prstGeom>
          <a:solidFill>
            <a:srgbClr val="A83A3A"/>
          </a:solidFill>
          <a:ln w="0">
            <a:noFill/>
          </a:ln>
        </p:spPr>
        <p:txBody>
          <a:bodyPr/>
          <a:lstStyle/>
          <a:p>
            <a:endParaRPr lang="en-US"/>
          </a:p>
        </p:txBody>
      </p:sp>
      <p:sp>
        <p:nvSpPr>
          <p:cNvPr id="556" name="20%">
            <a:extLst>
              <a:ext uri="{FF2B5EF4-FFF2-40B4-BE49-F238E27FC236}">
                <a16:creationId xmlns:a16="http://schemas.microsoft.com/office/drawing/2014/main" id="{BF5479A6-9D96-40A1-9EF1-CDEA2C6EA4A6}"/>
              </a:ext>
            </a:extLst>
          </p:cNvPr>
          <p:cNvSpPr>
            <a:spLocks noGrp="1"/>
          </p:cNvSpPr>
          <p:nvPr/>
        </p:nvSpPr>
        <p:spPr>
          <a:xfrm>
            <a:off x="3705225" y="3457575"/>
            <a:ext cx="132151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57" name="Rectangle 556">
            <a:extLst>
              <a:ext uri="{FF2B5EF4-FFF2-40B4-BE49-F238E27FC236}">
                <a16:creationId xmlns:a16="http://schemas.microsoft.com/office/drawing/2014/main" id="{EB3C9F75-1C4A-4CCA-86A8-D0ED3AF565FB}"/>
              </a:ext>
            </a:extLst>
          </p:cNvPr>
          <p:cNvSpPr>
            <a:spLocks noGrp="1"/>
          </p:cNvSpPr>
          <p:nvPr/>
        </p:nvSpPr>
        <p:spPr>
          <a:xfrm>
            <a:off x="5045787" y="3352800"/>
            <a:ext cx="2367702" cy="447675"/>
          </a:xfrm>
          <a:prstGeom prst="rect">
            <a:avLst/>
          </a:prstGeom>
          <a:solidFill>
            <a:srgbClr val="DC713D"/>
          </a:solidFill>
          <a:ln w="0">
            <a:noFill/>
          </a:ln>
        </p:spPr>
        <p:txBody>
          <a:bodyPr/>
          <a:lstStyle/>
          <a:p>
            <a:endParaRPr lang="en-US"/>
          </a:p>
        </p:txBody>
      </p:sp>
      <p:sp>
        <p:nvSpPr>
          <p:cNvPr id="558" name="34%">
            <a:extLst>
              <a:ext uri="{FF2B5EF4-FFF2-40B4-BE49-F238E27FC236}">
                <a16:creationId xmlns:a16="http://schemas.microsoft.com/office/drawing/2014/main" id="{7D463A22-BDCA-456B-9C48-6B6EB7000D39}"/>
              </a:ext>
            </a:extLst>
          </p:cNvPr>
          <p:cNvSpPr>
            <a:spLocks noGrp="1"/>
          </p:cNvSpPr>
          <p:nvPr/>
        </p:nvSpPr>
        <p:spPr>
          <a:xfrm>
            <a:off x="5083887" y="3457575"/>
            <a:ext cx="231055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34%</a:t>
            </a:r>
          </a:p>
        </p:txBody>
      </p:sp>
      <p:sp>
        <p:nvSpPr>
          <p:cNvPr id="559" name="Rectangle 558">
            <a:extLst>
              <a:ext uri="{FF2B5EF4-FFF2-40B4-BE49-F238E27FC236}">
                <a16:creationId xmlns:a16="http://schemas.microsoft.com/office/drawing/2014/main" id="{5DC6573E-B281-405F-91D7-58A9C7343C38}"/>
              </a:ext>
            </a:extLst>
          </p:cNvPr>
          <p:cNvSpPr>
            <a:spLocks noGrp="1"/>
          </p:cNvSpPr>
          <p:nvPr/>
        </p:nvSpPr>
        <p:spPr>
          <a:xfrm>
            <a:off x="7413488" y="3352800"/>
            <a:ext cx="1978080" cy="447675"/>
          </a:xfrm>
          <a:prstGeom prst="rect">
            <a:avLst/>
          </a:prstGeom>
          <a:solidFill>
            <a:srgbClr val="4C91D8"/>
          </a:solidFill>
          <a:ln w="0">
            <a:noFill/>
          </a:ln>
        </p:spPr>
        <p:txBody>
          <a:bodyPr/>
          <a:lstStyle/>
          <a:p>
            <a:endParaRPr lang="en-US"/>
          </a:p>
        </p:txBody>
      </p:sp>
      <p:sp>
        <p:nvSpPr>
          <p:cNvPr id="560" name="28%">
            <a:extLst>
              <a:ext uri="{FF2B5EF4-FFF2-40B4-BE49-F238E27FC236}">
                <a16:creationId xmlns:a16="http://schemas.microsoft.com/office/drawing/2014/main" id="{12171C3A-FFD1-4EB3-ACE7-310BF7AC76FD}"/>
              </a:ext>
            </a:extLst>
          </p:cNvPr>
          <p:cNvSpPr>
            <a:spLocks noGrp="1"/>
          </p:cNvSpPr>
          <p:nvPr/>
        </p:nvSpPr>
        <p:spPr>
          <a:xfrm>
            <a:off x="7451588" y="3457575"/>
            <a:ext cx="192093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61" name="Rectangle 560">
            <a:extLst>
              <a:ext uri="{FF2B5EF4-FFF2-40B4-BE49-F238E27FC236}">
                <a16:creationId xmlns:a16="http://schemas.microsoft.com/office/drawing/2014/main" id="{AABD8618-8E51-474B-ACD6-831CA7A4D733}"/>
              </a:ext>
            </a:extLst>
          </p:cNvPr>
          <p:cNvSpPr>
            <a:spLocks noGrp="1"/>
          </p:cNvSpPr>
          <p:nvPr/>
        </p:nvSpPr>
        <p:spPr>
          <a:xfrm>
            <a:off x="9391568" y="3352800"/>
            <a:ext cx="1228807" cy="447675"/>
          </a:xfrm>
          <a:prstGeom prst="rect">
            <a:avLst/>
          </a:prstGeom>
          <a:solidFill>
            <a:srgbClr val="285B9F"/>
          </a:solidFill>
          <a:ln w="0">
            <a:noFill/>
          </a:ln>
        </p:spPr>
        <p:txBody>
          <a:bodyPr/>
          <a:lstStyle/>
          <a:p>
            <a:endParaRPr lang="en-US"/>
          </a:p>
        </p:txBody>
      </p:sp>
      <p:sp>
        <p:nvSpPr>
          <p:cNvPr id="562" name="18%">
            <a:extLst>
              <a:ext uri="{FF2B5EF4-FFF2-40B4-BE49-F238E27FC236}">
                <a16:creationId xmlns:a16="http://schemas.microsoft.com/office/drawing/2014/main" id="{4AEE8657-0D1D-4377-AE1E-50BA3BA09558}"/>
              </a:ext>
            </a:extLst>
          </p:cNvPr>
          <p:cNvSpPr>
            <a:spLocks noGrp="1"/>
          </p:cNvSpPr>
          <p:nvPr/>
        </p:nvSpPr>
        <p:spPr>
          <a:xfrm>
            <a:off x="9429668" y="3457575"/>
            <a:ext cx="117165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63" name="n=232">
            <a:extLst>
              <a:ext uri="{FF2B5EF4-FFF2-40B4-BE49-F238E27FC236}">
                <a16:creationId xmlns:a16="http://schemas.microsoft.com/office/drawing/2014/main" id="{A8D2ADFC-18B9-487E-9868-7E153FF53B88}"/>
              </a:ext>
            </a:extLst>
          </p:cNvPr>
          <p:cNvSpPr>
            <a:spLocks noGrp="1"/>
          </p:cNvSpPr>
          <p:nvPr/>
        </p:nvSpPr>
        <p:spPr>
          <a:xfrm>
            <a:off x="10782300" y="34480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n=232</a:t>
            </a:r>
          </a:p>
        </p:txBody>
      </p:sp>
      <p:sp>
        <p:nvSpPr>
          <p:cNvPr id="564" name="11-15 hrs">
            <a:extLst>
              <a:ext uri="{FF2B5EF4-FFF2-40B4-BE49-F238E27FC236}">
                <a16:creationId xmlns:a16="http://schemas.microsoft.com/office/drawing/2014/main" id="{540113E8-EDF3-4CE5-8922-D16422B00E8D}"/>
              </a:ext>
            </a:extLst>
          </p:cNvPr>
          <p:cNvSpPr>
            <a:spLocks noGrp="1"/>
          </p:cNvSpPr>
          <p:nvPr/>
        </p:nvSpPr>
        <p:spPr>
          <a:xfrm>
            <a:off x="400050" y="41148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11-15 hrs</a:t>
            </a:r>
          </a:p>
        </p:txBody>
      </p:sp>
      <p:sp>
        <p:nvSpPr>
          <p:cNvPr id="565" name="Rectangle 564">
            <a:extLst>
              <a:ext uri="{FF2B5EF4-FFF2-40B4-BE49-F238E27FC236}">
                <a16:creationId xmlns:a16="http://schemas.microsoft.com/office/drawing/2014/main" id="{49EF01FD-11E1-4FED-A5BF-73FF8AFFACDF}"/>
              </a:ext>
            </a:extLst>
          </p:cNvPr>
          <p:cNvSpPr>
            <a:spLocks noGrp="1"/>
          </p:cNvSpPr>
          <p:nvPr/>
        </p:nvSpPr>
        <p:spPr>
          <a:xfrm>
            <a:off x="3667125" y="4076700"/>
            <a:ext cx="1747414" cy="447675"/>
          </a:xfrm>
          <a:prstGeom prst="rect">
            <a:avLst/>
          </a:prstGeom>
          <a:solidFill>
            <a:srgbClr val="A83A3A"/>
          </a:solidFill>
          <a:ln w="0">
            <a:noFill/>
          </a:ln>
        </p:spPr>
        <p:txBody>
          <a:bodyPr/>
          <a:lstStyle/>
          <a:p>
            <a:endParaRPr lang="en-US"/>
          </a:p>
        </p:txBody>
      </p:sp>
      <p:sp>
        <p:nvSpPr>
          <p:cNvPr id="566" name="25%">
            <a:extLst>
              <a:ext uri="{FF2B5EF4-FFF2-40B4-BE49-F238E27FC236}">
                <a16:creationId xmlns:a16="http://schemas.microsoft.com/office/drawing/2014/main" id="{DA0C6208-6F09-4E38-88FD-0F8C0882D535}"/>
              </a:ext>
            </a:extLst>
          </p:cNvPr>
          <p:cNvSpPr>
            <a:spLocks noGrp="1"/>
          </p:cNvSpPr>
          <p:nvPr/>
        </p:nvSpPr>
        <p:spPr>
          <a:xfrm>
            <a:off x="3705225" y="4181475"/>
            <a:ext cx="169026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67" name="Rectangle 566">
            <a:extLst>
              <a:ext uri="{FF2B5EF4-FFF2-40B4-BE49-F238E27FC236}">
                <a16:creationId xmlns:a16="http://schemas.microsoft.com/office/drawing/2014/main" id="{4E7794F8-08C8-4743-A081-2A383B9EAD94}"/>
              </a:ext>
            </a:extLst>
          </p:cNvPr>
          <p:cNvSpPr>
            <a:spLocks noGrp="1"/>
          </p:cNvSpPr>
          <p:nvPr/>
        </p:nvSpPr>
        <p:spPr>
          <a:xfrm>
            <a:off x="5414539" y="4076700"/>
            <a:ext cx="2002245" cy="447675"/>
          </a:xfrm>
          <a:prstGeom prst="rect">
            <a:avLst/>
          </a:prstGeom>
          <a:solidFill>
            <a:srgbClr val="DC713D"/>
          </a:solidFill>
          <a:ln w="0">
            <a:noFill/>
          </a:ln>
        </p:spPr>
        <p:txBody>
          <a:bodyPr/>
          <a:lstStyle/>
          <a:p>
            <a:endParaRPr lang="en-US"/>
          </a:p>
        </p:txBody>
      </p:sp>
      <p:sp>
        <p:nvSpPr>
          <p:cNvPr id="568" name="29%">
            <a:extLst>
              <a:ext uri="{FF2B5EF4-FFF2-40B4-BE49-F238E27FC236}">
                <a16:creationId xmlns:a16="http://schemas.microsoft.com/office/drawing/2014/main" id="{1697362B-47CC-4300-A13A-4321B444AD3A}"/>
              </a:ext>
            </a:extLst>
          </p:cNvPr>
          <p:cNvSpPr>
            <a:spLocks noGrp="1"/>
          </p:cNvSpPr>
          <p:nvPr/>
        </p:nvSpPr>
        <p:spPr>
          <a:xfrm>
            <a:off x="5452639" y="4181475"/>
            <a:ext cx="194509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69" name="Rectangle 568">
            <a:extLst>
              <a:ext uri="{FF2B5EF4-FFF2-40B4-BE49-F238E27FC236}">
                <a16:creationId xmlns:a16="http://schemas.microsoft.com/office/drawing/2014/main" id="{41E41954-CBDA-4147-88EA-17457D099289}"/>
              </a:ext>
            </a:extLst>
          </p:cNvPr>
          <p:cNvSpPr>
            <a:spLocks noGrp="1"/>
          </p:cNvSpPr>
          <p:nvPr/>
        </p:nvSpPr>
        <p:spPr>
          <a:xfrm>
            <a:off x="7416783" y="4076700"/>
            <a:ext cx="1893031" cy="447675"/>
          </a:xfrm>
          <a:prstGeom prst="rect">
            <a:avLst/>
          </a:prstGeom>
          <a:solidFill>
            <a:srgbClr val="4C91D8"/>
          </a:solidFill>
          <a:ln w="0">
            <a:noFill/>
          </a:ln>
        </p:spPr>
        <p:txBody>
          <a:bodyPr/>
          <a:lstStyle/>
          <a:p>
            <a:endParaRPr lang="en-US"/>
          </a:p>
        </p:txBody>
      </p:sp>
      <p:sp>
        <p:nvSpPr>
          <p:cNvPr id="570" name="27%">
            <a:extLst>
              <a:ext uri="{FF2B5EF4-FFF2-40B4-BE49-F238E27FC236}">
                <a16:creationId xmlns:a16="http://schemas.microsoft.com/office/drawing/2014/main" id="{FADA3301-091C-40F6-96CB-0FFC697D2F19}"/>
              </a:ext>
            </a:extLst>
          </p:cNvPr>
          <p:cNvSpPr>
            <a:spLocks noGrp="1"/>
          </p:cNvSpPr>
          <p:nvPr/>
        </p:nvSpPr>
        <p:spPr>
          <a:xfrm>
            <a:off x="7454883" y="4181475"/>
            <a:ext cx="183588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71" name="Rectangle 570">
            <a:extLst>
              <a:ext uri="{FF2B5EF4-FFF2-40B4-BE49-F238E27FC236}">
                <a16:creationId xmlns:a16="http://schemas.microsoft.com/office/drawing/2014/main" id="{2F54900E-7D4D-4571-B5F2-422543A7ACBC}"/>
              </a:ext>
            </a:extLst>
          </p:cNvPr>
          <p:cNvSpPr>
            <a:spLocks noGrp="1"/>
          </p:cNvSpPr>
          <p:nvPr/>
        </p:nvSpPr>
        <p:spPr>
          <a:xfrm>
            <a:off x="9309815" y="4076700"/>
            <a:ext cx="1310560" cy="447675"/>
          </a:xfrm>
          <a:prstGeom prst="rect">
            <a:avLst/>
          </a:prstGeom>
          <a:solidFill>
            <a:srgbClr val="285B9F"/>
          </a:solidFill>
          <a:ln w="0">
            <a:noFill/>
          </a:ln>
        </p:spPr>
        <p:txBody>
          <a:bodyPr/>
          <a:lstStyle/>
          <a:p>
            <a:endParaRPr lang="en-US"/>
          </a:p>
        </p:txBody>
      </p:sp>
      <p:sp>
        <p:nvSpPr>
          <p:cNvPr id="572" name="19%">
            <a:extLst>
              <a:ext uri="{FF2B5EF4-FFF2-40B4-BE49-F238E27FC236}">
                <a16:creationId xmlns:a16="http://schemas.microsoft.com/office/drawing/2014/main" id="{A181E119-AE8D-4E44-AFF7-55A201D78152}"/>
              </a:ext>
            </a:extLst>
          </p:cNvPr>
          <p:cNvSpPr>
            <a:spLocks noGrp="1"/>
          </p:cNvSpPr>
          <p:nvPr/>
        </p:nvSpPr>
        <p:spPr>
          <a:xfrm>
            <a:off x="9347915" y="4181475"/>
            <a:ext cx="125341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19%</a:t>
            </a:r>
          </a:p>
        </p:txBody>
      </p:sp>
      <p:sp>
        <p:nvSpPr>
          <p:cNvPr id="573" name="n=191">
            <a:extLst>
              <a:ext uri="{FF2B5EF4-FFF2-40B4-BE49-F238E27FC236}">
                <a16:creationId xmlns:a16="http://schemas.microsoft.com/office/drawing/2014/main" id="{CBEEAF55-4EB3-4E5C-AE9E-0C0B9978595D}"/>
              </a:ext>
            </a:extLst>
          </p:cNvPr>
          <p:cNvSpPr>
            <a:spLocks noGrp="1"/>
          </p:cNvSpPr>
          <p:nvPr/>
        </p:nvSpPr>
        <p:spPr>
          <a:xfrm>
            <a:off x="10782300" y="41719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n=191</a:t>
            </a:r>
          </a:p>
        </p:txBody>
      </p:sp>
      <p:sp>
        <p:nvSpPr>
          <p:cNvPr id="574" name="More than 15 hrs">
            <a:extLst>
              <a:ext uri="{FF2B5EF4-FFF2-40B4-BE49-F238E27FC236}">
                <a16:creationId xmlns:a16="http://schemas.microsoft.com/office/drawing/2014/main" id="{9D6BE75D-6DBB-49BF-A353-17BFEC4FD8FD}"/>
              </a:ext>
            </a:extLst>
          </p:cNvPr>
          <p:cNvSpPr>
            <a:spLocks noGrp="1"/>
          </p:cNvSpPr>
          <p:nvPr/>
        </p:nvSpPr>
        <p:spPr>
          <a:xfrm>
            <a:off x="400050" y="48387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More than 15 hrs</a:t>
            </a:r>
          </a:p>
        </p:txBody>
      </p:sp>
      <p:sp>
        <p:nvSpPr>
          <p:cNvPr id="575" name="Rectangle 574">
            <a:extLst>
              <a:ext uri="{FF2B5EF4-FFF2-40B4-BE49-F238E27FC236}">
                <a16:creationId xmlns:a16="http://schemas.microsoft.com/office/drawing/2014/main" id="{56F9BEF3-33E3-4842-9CE5-FD4F96E47E47}"/>
              </a:ext>
            </a:extLst>
          </p:cNvPr>
          <p:cNvSpPr>
            <a:spLocks noGrp="1"/>
          </p:cNvSpPr>
          <p:nvPr/>
        </p:nvSpPr>
        <p:spPr>
          <a:xfrm>
            <a:off x="3667125" y="4800600"/>
            <a:ext cx="1597368" cy="447675"/>
          </a:xfrm>
          <a:prstGeom prst="rect">
            <a:avLst/>
          </a:prstGeom>
          <a:solidFill>
            <a:srgbClr val="A83A3A"/>
          </a:solidFill>
          <a:ln w="0">
            <a:noFill/>
          </a:ln>
        </p:spPr>
        <p:txBody>
          <a:bodyPr/>
          <a:lstStyle/>
          <a:p>
            <a:endParaRPr lang="en-US"/>
          </a:p>
        </p:txBody>
      </p:sp>
      <p:sp>
        <p:nvSpPr>
          <p:cNvPr id="576" name="23%">
            <a:extLst>
              <a:ext uri="{FF2B5EF4-FFF2-40B4-BE49-F238E27FC236}">
                <a16:creationId xmlns:a16="http://schemas.microsoft.com/office/drawing/2014/main" id="{A7887C4E-4D36-4BE2-B490-E472FFCD2EFD}"/>
              </a:ext>
            </a:extLst>
          </p:cNvPr>
          <p:cNvSpPr>
            <a:spLocks noGrp="1"/>
          </p:cNvSpPr>
          <p:nvPr/>
        </p:nvSpPr>
        <p:spPr>
          <a:xfrm>
            <a:off x="3705225" y="4905375"/>
            <a:ext cx="154021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23%</a:t>
            </a:r>
          </a:p>
        </p:txBody>
      </p:sp>
      <p:sp>
        <p:nvSpPr>
          <p:cNvPr id="577" name="Rectangle 576">
            <a:extLst>
              <a:ext uri="{FF2B5EF4-FFF2-40B4-BE49-F238E27FC236}">
                <a16:creationId xmlns:a16="http://schemas.microsoft.com/office/drawing/2014/main" id="{80DDF048-BC34-4895-B364-7C6CCFDBB0DE}"/>
              </a:ext>
            </a:extLst>
          </p:cNvPr>
          <p:cNvSpPr>
            <a:spLocks noGrp="1"/>
          </p:cNvSpPr>
          <p:nvPr/>
        </p:nvSpPr>
        <p:spPr>
          <a:xfrm>
            <a:off x="5264493" y="4800600"/>
            <a:ext cx="2255108" cy="447675"/>
          </a:xfrm>
          <a:prstGeom prst="rect">
            <a:avLst/>
          </a:prstGeom>
          <a:solidFill>
            <a:srgbClr val="DC713D"/>
          </a:solidFill>
          <a:ln w="0">
            <a:noFill/>
          </a:ln>
        </p:spPr>
        <p:txBody>
          <a:bodyPr/>
          <a:lstStyle/>
          <a:p>
            <a:endParaRPr lang="en-US"/>
          </a:p>
        </p:txBody>
      </p:sp>
      <p:sp>
        <p:nvSpPr>
          <p:cNvPr id="578" name="32%">
            <a:extLst>
              <a:ext uri="{FF2B5EF4-FFF2-40B4-BE49-F238E27FC236}">
                <a16:creationId xmlns:a16="http://schemas.microsoft.com/office/drawing/2014/main" id="{79CA9FA5-1A72-48CD-898A-7CC6347295B9}"/>
              </a:ext>
            </a:extLst>
          </p:cNvPr>
          <p:cNvSpPr>
            <a:spLocks noGrp="1"/>
          </p:cNvSpPr>
          <p:nvPr/>
        </p:nvSpPr>
        <p:spPr>
          <a:xfrm>
            <a:off x="5302593" y="4905375"/>
            <a:ext cx="219795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32%</a:t>
            </a:r>
          </a:p>
        </p:txBody>
      </p:sp>
      <p:sp>
        <p:nvSpPr>
          <p:cNvPr id="579" name="Rectangle 578">
            <a:extLst>
              <a:ext uri="{FF2B5EF4-FFF2-40B4-BE49-F238E27FC236}">
                <a16:creationId xmlns:a16="http://schemas.microsoft.com/office/drawing/2014/main" id="{71BF492F-8C6E-4879-8F52-89D1D3A2E5D1}"/>
              </a:ext>
            </a:extLst>
          </p:cNvPr>
          <p:cNvSpPr>
            <a:spLocks noGrp="1"/>
          </p:cNvSpPr>
          <p:nvPr/>
        </p:nvSpPr>
        <p:spPr>
          <a:xfrm>
            <a:off x="7519601" y="4800600"/>
            <a:ext cx="1738313" cy="447675"/>
          </a:xfrm>
          <a:prstGeom prst="rect">
            <a:avLst/>
          </a:prstGeom>
          <a:solidFill>
            <a:srgbClr val="4C91D8"/>
          </a:solidFill>
          <a:ln w="0">
            <a:noFill/>
          </a:ln>
        </p:spPr>
        <p:txBody>
          <a:bodyPr/>
          <a:lstStyle/>
          <a:p>
            <a:endParaRPr lang="en-US"/>
          </a:p>
        </p:txBody>
      </p:sp>
      <p:sp>
        <p:nvSpPr>
          <p:cNvPr id="580" name="25%">
            <a:extLst>
              <a:ext uri="{FF2B5EF4-FFF2-40B4-BE49-F238E27FC236}">
                <a16:creationId xmlns:a16="http://schemas.microsoft.com/office/drawing/2014/main" id="{988098A0-5280-4C72-84B9-3CFAAAD3F012}"/>
              </a:ext>
            </a:extLst>
          </p:cNvPr>
          <p:cNvSpPr>
            <a:spLocks noGrp="1"/>
          </p:cNvSpPr>
          <p:nvPr/>
        </p:nvSpPr>
        <p:spPr>
          <a:xfrm>
            <a:off x="7557701" y="4905375"/>
            <a:ext cx="168116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81" name="Rectangle 580">
            <a:extLst>
              <a:ext uri="{FF2B5EF4-FFF2-40B4-BE49-F238E27FC236}">
                <a16:creationId xmlns:a16="http://schemas.microsoft.com/office/drawing/2014/main" id="{6C89BD47-8D30-46BB-AF8C-9E8F67546147}"/>
              </a:ext>
            </a:extLst>
          </p:cNvPr>
          <p:cNvSpPr>
            <a:spLocks noGrp="1"/>
          </p:cNvSpPr>
          <p:nvPr/>
        </p:nvSpPr>
        <p:spPr>
          <a:xfrm>
            <a:off x="9257914" y="4800600"/>
            <a:ext cx="1362461" cy="447675"/>
          </a:xfrm>
          <a:prstGeom prst="rect">
            <a:avLst/>
          </a:prstGeom>
          <a:solidFill>
            <a:srgbClr val="285B9F"/>
          </a:solidFill>
          <a:ln w="0">
            <a:noFill/>
          </a:ln>
        </p:spPr>
        <p:txBody>
          <a:bodyPr/>
          <a:lstStyle/>
          <a:p>
            <a:endParaRPr lang="en-US"/>
          </a:p>
        </p:txBody>
      </p:sp>
      <p:sp>
        <p:nvSpPr>
          <p:cNvPr id="582" name="20%">
            <a:extLst>
              <a:ext uri="{FF2B5EF4-FFF2-40B4-BE49-F238E27FC236}">
                <a16:creationId xmlns:a16="http://schemas.microsoft.com/office/drawing/2014/main" id="{53766011-626B-4CE2-9353-7FDF56C0EFD6}"/>
              </a:ext>
            </a:extLst>
          </p:cNvPr>
          <p:cNvSpPr>
            <a:spLocks noGrp="1"/>
          </p:cNvSpPr>
          <p:nvPr/>
        </p:nvSpPr>
        <p:spPr>
          <a:xfrm>
            <a:off x="9296014" y="4905375"/>
            <a:ext cx="130531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83" name="n=148">
            <a:extLst>
              <a:ext uri="{FF2B5EF4-FFF2-40B4-BE49-F238E27FC236}">
                <a16:creationId xmlns:a16="http://schemas.microsoft.com/office/drawing/2014/main" id="{AEE1BA63-0A9C-4AF6-90C5-1027DB121F48}"/>
              </a:ext>
            </a:extLst>
          </p:cNvPr>
          <p:cNvSpPr>
            <a:spLocks noGrp="1"/>
          </p:cNvSpPr>
          <p:nvPr/>
        </p:nvSpPr>
        <p:spPr>
          <a:xfrm>
            <a:off x="10782300" y="48958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n=148</a:t>
            </a:r>
          </a:p>
        </p:txBody>
      </p:sp>
      <p:sp>
        <p:nvSpPr>
          <p:cNvPr id="584" name="Rectangle 583">
            <a:extLst>
              <a:ext uri="{FF2B5EF4-FFF2-40B4-BE49-F238E27FC236}">
                <a16:creationId xmlns:a16="http://schemas.microsoft.com/office/drawing/2014/main" id="{922ED1F0-CF14-4998-9ADA-1E739A6D3C10}"/>
              </a:ext>
            </a:extLst>
          </p:cNvPr>
          <p:cNvSpPr>
            <a:spLocks noGrp="1"/>
          </p:cNvSpPr>
          <p:nvPr/>
        </p:nvSpPr>
        <p:spPr>
          <a:xfrm>
            <a:off x="3667125" y="1409700"/>
            <a:ext cx="190500" cy="190500"/>
          </a:xfrm>
          <a:prstGeom prst="rect">
            <a:avLst/>
          </a:prstGeom>
          <a:solidFill>
            <a:srgbClr val="A83A3A"/>
          </a:solidFill>
          <a:ln w="0">
            <a:noFill/>
          </a:ln>
        </p:spPr>
        <p:txBody>
          <a:bodyPr/>
          <a:lstStyle/>
          <a:p>
            <a:endParaRPr lang="en-US"/>
          </a:p>
        </p:txBody>
      </p:sp>
      <p:sp>
        <p:nvSpPr>
          <p:cNvPr id="585" name="C0  &lt; 3.20">
            <a:extLst>
              <a:ext uri="{FF2B5EF4-FFF2-40B4-BE49-F238E27FC236}">
                <a16:creationId xmlns:a16="http://schemas.microsoft.com/office/drawing/2014/main" id="{CF3A29F5-E008-4AB0-974E-795047E8504F}"/>
              </a:ext>
            </a:extLst>
          </p:cNvPr>
          <p:cNvSpPr>
            <a:spLocks noGrp="1"/>
          </p:cNvSpPr>
          <p:nvPr/>
        </p:nvSpPr>
        <p:spPr>
          <a:xfrm>
            <a:off x="39433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C0  &lt; 3.20</a:t>
            </a:r>
          </a:p>
        </p:txBody>
      </p:sp>
      <p:sp>
        <p:nvSpPr>
          <p:cNvPr id="586" name="Rectangle 585">
            <a:extLst>
              <a:ext uri="{FF2B5EF4-FFF2-40B4-BE49-F238E27FC236}">
                <a16:creationId xmlns:a16="http://schemas.microsoft.com/office/drawing/2014/main" id="{C9266015-FE9E-433C-9399-F0FA1AB1FC34}"/>
              </a:ext>
            </a:extLst>
          </p:cNvPr>
          <p:cNvSpPr>
            <a:spLocks noGrp="1"/>
          </p:cNvSpPr>
          <p:nvPr/>
        </p:nvSpPr>
        <p:spPr>
          <a:xfrm>
            <a:off x="5476875" y="1409700"/>
            <a:ext cx="190500" cy="190500"/>
          </a:xfrm>
          <a:prstGeom prst="rect">
            <a:avLst/>
          </a:prstGeom>
          <a:solidFill>
            <a:srgbClr val="DC713D"/>
          </a:solidFill>
          <a:ln w="0">
            <a:noFill/>
          </a:ln>
        </p:spPr>
        <p:txBody>
          <a:bodyPr/>
          <a:lstStyle/>
          <a:p>
            <a:endParaRPr lang="en-US"/>
          </a:p>
        </p:txBody>
      </p:sp>
      <p:sp>
        <p:nvSpPr>
          <p:cNvPr id="587" name="C1  3.20–3.49">
            <a:extLst>
              <a:ext uri="{FF2B5EF4-FFF2-40B4-BE49-F238E27FC236}">
                <a16:creationId xmlns:a16="http://schemas.microsoft.com/office/drawing/2014/main" id="{A180E62E-1B54-4A06-B55E-C5F40D0848C6}"/>
              </a:ext>
            </a:extLst>
          </p:cNvPr>
          <p:cNvSpPr>
            <a:spLocks noGrp="1"/>
          </p:cNvSpPr>
          <p:nvPr/>
        </p:nvSpPr>
        <p:spPr>
          <a:xfrm>
            <a:off x="57531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C1  3.20–3.49</a:t>
            </a:r>
          </a:p>
        </p:txBody>
      </p:sp>
      <p:sp>
        <p:nvSpPr>
          <p:cNvPr id="588" name="Rectangle 587">
            <a:extLst>
              <a:ext uri="{FF2B5EF4-FFF2-40B4-BE49-F238E27FC236}">
                <a16:creationId xmlns:a16="http://schemas.microsoft.com/office/drawing/2014/main" id="{FF770ABB-CBBE-4CD7-B5A5-263E034DE0C7}"/>
              </a:ext>
            </a:extLst>
          </p:cNvPr>
          <p:cNvSpPr>
            <a:spLocks noGrp="1"/>
          </p:cNvSpPr>
          <p:nvPr/>
        </p:nvSpPr>
        <p:spPr>
          <a:xfrm>
            <a:off x="7286625" y="1409700"/>
            <a:ext cx="190500" cy="190500"/>
          </a:xfrm>
          <a:prstGeom prst="rect">
            <a:avLst/>
          </a:prstGeom>
          <a:solidFill>
            <a:srgbClr val="4C91D8"/>
          </a:solidFill>
          <a:ln w="0">
            <a:noFill/>
          </a:ln>
        </p:spPr>
        <p:txBody>
          <a:bodyPr/>
          <a:lstStyle/>
          <a:p>
            <a:endParaRPr lang="en-US"/>
          </a:p>
        </p:txBody>
      </p:sp>
      <p:sp>
        <p:nvSpPr>
          <p:cNvPr id="589" name="C2  3.50–3.74">
            <a:extLst>
              <a:ext uri="{FF2B5EF4-FFF2-40B4-BE49-F238E27FC236}">
                <a16:creationId xmlns:a16="http://schemas.microsoft.com/office/drawing/2014/main" id="{4179D3BE-519E-4319-B324-AD630D49D849}"/>
              </a:ext>
            </a:extLst>
          </p:cNvPr>
          <p:cNvSpPr>
            <a:spLocks noGrp="1"/>
          </p:cNvSpPr>
          <p:nvPr/>
        </p:nvSpPr>
        <p:spPr>
          <a:xfrm>
            <a:off x="75628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C2  3.50–3.74</a:t>
            </a:r>
          </a:p>
        </p:txBody>
      </p:sp>
      <p:sp>
        <p:nvSpPr>
          <p:cNvPr id="590" name="Rectangle 589">
            <a:extLst>
              <a:ext uri="{FF2B5EF4-FFF2-40B4-BE49-F238E27FC236}">
                <a16:creationId xmlns:a16="http://schemas.microsoft.com/office/drawing/2014/main" id="{C79B2415-C853-4C02-B729-8CC6B39437E8}"/>
              </a:ext>
            </a:extLst>
          </p:cNvPr>
          <p:cNvSpPr>
            <a:spLocks noGrp="1"/>
          </p:cNvSpPr>
          <p:nvPr/>
        </p:nvSpPr>
        <p:spPr>
          <a:xfrm>
            <a:off x="9096375" y="1409700"/>
            <a:ext cx="190500" cy="190500"/>
          </a:xfrm>
          <a:prstGeom prst="rect">
            <a:avLst/>
          </a:prstGeom>
          <a:solidFill>
            <a:srgbClr val="285B9F"/>
          </a:solidFill>
          <a:ln w="0">
            <a:noFill/>
          </a:ln>
        </p:spPr>
        <p:txBody>
          <a:bodyPr/>
          <a:lstStyle/>
          <a:p>
            <a:endParaRPr lang="en-US"/>
          </a:p>
        </p:txBody>
      </p:sp>
      <p:sp>
        <p:nvSpPr>
          <p:cNvPr id="591" name="C3  ≥ 3.75">
            <a:extLst>
              <a:ext uri="{FF2B5EF4-FFF2-40B4-BE49-F238E27FC236}">
                <a16:creationId xmlns:a16="http://schemas.microsoft.com/office/drawing/2014/main" id="{3CD76AEB-2410-4AD6-BAFC-6877A2939B07}"/>
              </a:ext>
            </a:extLst>
          </p:cNvPr>
          <p:cNvSpPr>
            <a:spLocks noGrp="1"/>
          </p:cNvSpPr>
          <p:nvPr/>
        </p:nvSpPr>
        <p:spPr>
          <a:xfrm>
            <a:off x="93726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C3  ≥ 3.75</a:t>
            </a:r>
          </a:p>
        </p:txBody>
      </p:sp>
      <p:cxnSp>
        <p:nvCxnSpPr>
          <p:cNvPr id="2" name="Straight Arrow Connector 1">
            <a:extLst>
              <a:ext uri="{FF2B5EF4-FFF2-40B4-BE49-F238E27FC236}">
                <a16:creationId xmlns:a16="http://schemas.microsoft.com/office/drawing/2014/main" id="{5F3B55B8-BCD2-EAF0-C419-872CD991936C}"/>
              </a:ext>
            </a:extLst>
          </p:cNvPr>
          <p:cNvCxnSpPr>
            <a:cxnSpLocks/>
          </p:cNvCxnSpPr>
          <p:nvPr/>
        </p:nvCxnSpPr>
        <p:spPr>
          <a:xfrm>
            <a:off x="204107" y="5763986"/>
            <a:ext cx="105781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E4F9009D-57AB-34D0-60DC-8AD95FBB6DBD}"/>
              </a:ext>
            </a:extLst>
          </p:cNvPr>
          <p:cNvCxnSpPr>
            <a:cxnSpLocks/>
          </p:cNvCxnSpPr>
          <p:nvPr/>
        </p:nvCxnSpPr>
        <p:spPr>
          <a:xfrm flipV="1">
            <a:off x="356507" y="971550"/>
            <a:ext cx="0" cy="4944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640AE33F-FD45-5104-DF03-8C70B72F6A1E}"/>
              </a:ext>
            </a:extLst>
          </p:cNvPr>
          <p:cNvSpPr txBox="1"/>
          <p:nvPr/>
        </p:nvSpPr>
        <p:spPr>
          <a:xfrm>
            <a:off x="5532723" y="5787509"/>
            <a:ext cx="821572" cy="369332"/>
          </a:xfrm>
          <a:prstGeom prst="rect">
            <a:avLst/>
          </a:prstGeom>
          <a:noFill/>
        </p:spPr>
        <p:txBody>
          <a:bodyPr wrap="none" rtlCol="0">
            <a:spAutoFit/>
          </a:bodyPr>
          <a:lstStyle/>
          <a:p>
            <a:r>
              <a:rPr lang="en-US" dirty="0"/>
              <a:t>CGPA</a:t>
            </a:r>
          </a:p>
        </p:txBody>
      </p:sp>
      <p:sp>
        <p:nvSpPr>
          <p:cNvPr id="5" name="TextBox 4">
            <a:extLst>
              <a:ext uri="{FF2B5EF4-FFF2-40B4-BE49-F238E27FC236}">
                <a16:creationId xmlns:a16="http://schemas.microsoft.com/office/drawing/2014/main" id="{7750D1E8-53CB-7753-59BD-F5B3E8B74B9D}"/>
              </a:ext>
            </a:extLst>
          </p:cNvPr>
          <p:cNvSpPr txBox="1"/>
          <p:nvPr/>
        </p:nvSpPr>
        <p:spPr>
          <a:xfrm rot="16200000">
            <a:off x="-992636" y="2715997"/>
            <a:ext cx="2416046" cy="369332"/>
          </a:xfrm>
          <a:prstGeom prst="rect">
            <a:avLst/>
          </a:prstGeom>
          <a:noFill/>
        </p:spPr>
        <p:txBody>
          <a:bodyPr wrap="none" rtlCol="0">
            <a:spAutoFit/>
          </a:bodyPr>
          <a:lstStyle/>
          <a:p>
            <a:r>
              <a:rPr lang="en-US" dirty="0"/>
              <a:t>Outside commitments</a:t>
            </a:r>
          </a:p>
        </p:txBody>
      </p:sp>
    </p:spTree>
    <p:extLst>
      <p:ext uri="{BB962C8B-B14F-4D97-AF65-F5344CB8AC3E}">
        <p14:creationId xmlns:p14="http://schemas.microsoft.com/office/powerpoint/2010/main" val="10612305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24</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Desired department and CGPA</a:t>
            </a:r>
          </a:p>
        </p:txBody>
      </p:sp>
      <p:sp>
        <p:nvSpPr>
          <p:cNvPr id="534" name="Not at all what I wanted">
            <a:extLst>
              <a:ext uri="{FF2B5EF4-FFF2-40B4-BE49-F238E27FC236}">
                <a16:creationId xmlns:a16="http://schemas.microsoft.com/office/drawing/2014/main" id="{1F50F564-D3C8-487B-8BB3-4E920B47E3D5}"/>
              </a:ext>
            </a:extLst>
          </p:cNvPr>
          <p:cNvSpPr>
            <a:spLocks noGrp="1"/>
          </p:cNvSpPr>
          <p:nvPr/>
        </p:nvSpPr>
        <p:spPr>
          <a:xfrm>
            <a:off x="400050" y="19431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Not at all what I wanted</a:t>
            </a:r>
          </a:p>
        </p:txBody>
      </p:sp>
      <p:sp>
        <p:nvSpPr>
          <p:cNvPr id="535" name="Rectangle 534">
            <a:extLst>
              <a:ext uri="{FF2B5EF4-FFF2-40B4-BE49-F238E27FC236}">
                <a16:creationId xmlns:a16="http://schemas.microsoft.com/office/drawing/2014/main" id="{BD4ABE00-6890-4E70-8F34-3D49F74821F8}"/>
              </a:ext>
            </a:extLst>
          </p:cNvPr>
          <p:cNvSpPr>
            <a:spLocks noGrp="1"/>
          </p:cNvSpPr>
          <p:nvPr/>
        </p:nvSpPr>
        <p:spPr>
          <a:xfrm>
            <a:off x="3667125" y="1905000"/>
            <a:ext cx="1979745" cy="447675"/>
          </a:xfrm>
          <a:prstGeom prst="rect">
            <a:avLst/>
          </a:prstGeom>
          <a:solidFill>
            <a:srgbClr val="A83A3A"/>
          </a:solidFill>
          <a:ln w="0">
            <a:noFill/>
          </a:ln>
        </p:spPr>
        <p:txBody>
          <a:bodyPr/>
          <a:lstStyle/>
          <a:p>
            <a:endParaRPr lang="en-US"/>
          </a:p>
        </p:txBody>
      </p:sp>
      <p:sp>
        <p:nvSpPr>
          <p:cNvPr id="536" name="28%">
            <a:extLst>
              <a:ext uri="{FF2B5EF4-FFF2-40B4-BE49-F238E27FC236}">
                <a16:creationId xmlns:a16="http://schemas.microsoft.com/office/drawing/2014/main" id="{E43DC5BF-F574-4B95-A051-20D00EA286C9}"/>
              </a:ext>
            </a:extLst>
          </p:cNvPr>
          <p:cNvSpPr>
            <a:spLocks noGrp="1"/>
          </p:cNvSpPr>
          <p:nvPr/>
        </p:nvSpPr>
        <p:spPr>
          <a:xfrm>
            <a:off x="3705225" y="2009775"/>
            <a:ext cx="192259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37" name="Rectangle 536">
            <a:extLst>
              <a:ext uri="{FF2B5EF4-FFF2-40B4-BE49-F238E27FC236}">
                <a16:creationId xmlns:a16="http://schemas.microsoft.com/office/drawing/2014/main" id="{4F40EB25-E1CC-4372-BBB8-3F885198EFD8}"/>
              </a:ext>
            </a:extLst>
          </p:cNvPr>
          <p:cNvSpPr>
            <a:spLocks noGrp="1"/>
          </p:cNvSpPr>
          <p:nvPr/>
        </p:nvSpPr>
        <p:spPr>
          <a:xfrm>
            <a:off x="5646870" y="1905000"/>
            <a:ext cx="2124604" cy="447675"/>
          </a:xfrm>
          <a:prstGeom prst="rect">
            <a:avLst/>
          </a:prstGeom>
          <a:solidFill>
            <a:srgbClr val="DC713D"/>
          </a:solidFill>
          <a:ln w="0">
            <a:noFill/>
          </a:ln>
        </p:spPr>
        <p:txBody>
          <a:bodyPr/>
          <a:lstStyle/>
          <a:p>
            <a:endParaRPr lang="en-US"/>
          </a:p>
        </p:txBody>
      </p:sp>
      <p:sp>
        <p:nvSpPr>
          <p:cNvPr id="538" name="31%">
            <a:extLst>
              <a:ext uri="{FF2B5EF4-FFF2-40B4-BE49-F238E27FC236}">
                <a16:creationId xmlns:a16="http://schemas.microsoft.com/office/drawing/2014/main" id="{EA51A354-775C-45BC-A9B6-A5811B086CF8}"/>
              </a:ext>
            </a:extLst>
          </p:cNvPr>
          <p:cNvSpPr>
            <a:spLocks noGrp="1"/>
          </p:cNvSpPr>
          <p:nvPr/>
        </p:nvSpPr>
        <p:spPr>
          <a:xfrm>
            <a:off x="5684970" y="2009775"/>
            <a:ext cx="206745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31%</a:t>
            </a:r>
          </a:p>
        </p:txBody>
      </p:sp>
      <p:sp>
        <p:nvSpPr>
          <p:cNvPr id="539" name="Rectangle 538">
            <a:extLst>
              <a:ext uri="{FF2B5EF4-FFF2-40B4-BE49-F238E27FC236}">
                <a16:creationId xmlns:a16="http://schemas.microsoft.com/office/drawing/2014/main" id="{C9F2B437-F675-4C03-B3D1-E1E4B0EA7D19}"/>
              </a:ext>
            </a:extLst>
          </p:cNvPr>
          <p:cNvSpPr>
            <a:spLocks noGrp="1"/>
          </p:cNvSpPr>
          <p:nvPr/>
        </p:nvSpPr>
        <p:spPr>
          <a:xfrm>
            <a:off x="7771474" y="1905000"/>
            <a:ext cx="1593453" cy="447675"/>
          </a:xfrm>
          <a:prstGeom prst="rect">
            <a:avLst/>
          </a:prstGeom>
          <a:solidFill>
            <a:srgbClr val="4C91D8"/>
          </a:solidFill>
          <a:ln w="0">
            <a:noFill/>
          </a:ln>
        </p:spPr>
        <p:txBody>
          <a:bodyPr/>
          <a:lstStyle/>
          <a:p>
            <a:endParaRPr lang="en-US"/>
          </a:p>
        </p:txBody>
      </p:sp>
      <p:sp>
        <p:nvSpPr>
          <p:cNvPr id="540" name="23%">
            <a:extLst>
              <a:ext uri="{FF2B5EF4-FFF2-40B4-BE49-F238E27FC236}">
                <a16:creationId xmlns:a16="http://schemas.microsoft.com/office/drawing/2014/main" id="{59D0EC28-B218-45F9-84B9-5194CCB6B21F}"/>
              </a:ext>
            </a:extLst>
          </p:cNvPr>
          <p:cNvSpPr>
            <a:spLocks noGrp="1"/>
          </p:cNvSpPr>
          <p:nvPr/>
        </p:nvSpPr>
        <p:spPr>
          <a:xfrm>
            <a:off x="7809574" y="2009775"/>
            <a:ext cx="153630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23%</a:t>
            </a:r>
          </a:p>
        </p:txBody>
      </p:sp>
      <p:sp>
        <p:nvSpPr>
          <p:cNvPr id="541" name="Rectangle 540">
            <a:extLst>
              <a:ext uri="{FF2B5EF4-FFF2-40B4-BE49-F238E27FC236}">
                <a16:creationId xmlns:a16="http://schemas.microsoft.com/office/drawing/2014/main" id="{6463D124-ABD5-49AA-B43B-DFEFE8C07156}"/>
              </a:ext>
            </a:extLst>
          </p:cNvPr>
          <p:cNvSpPr>
            <a:spLocks noGrp="1"/>
          </p:cNvSpPr>
          <p:nvPr/>
        </p:nvSpPr>
        <p:spPr>
          <a:xfrm>
            <a:off x="9364927" y="1905000"/>
            <a:ext cx="1255448" cy="447675"/>
          </a:xfrm>
          <a:prstGeom prst="rect">
            <a:avLst/>
          </a:prstGeom>
          <a:solidFill>
            <a:srgbClr val="285B9F"/>
          </a:solidFill>
          <a:ln w="0">
            <a:noFill/>
          </a:ln>
        </p:spPr>
        <p:txBody>
          <a:bodyPr/>
          <a:lstStyle/>
          <a:p>
            <a:endParaRPr lang="en-US"/>
          </a:p>
        </p:txBody>
      </p:sp>
      <p:sp>
        <p:nvSpPr>
          <p:cNvPr id="542" name="18%">
            <a:extLst>
              <a:ext uri="{FF2B5EF4-FFF2-40B4-BE49-F238E27FC236}">
                <a16:creationId xmlns:a16="http://schemas.microsoft.com/office/drawing/2014/main" id="{E25F6198-B4D4-4E87-9251-6B065D2B2ADE}"/>
              </a:ext>
            </a:extLst>
          </p:cNvPr>
          <p:cNvSpPr>
            <a:spLocks noGrp="1"/>
          </p:cNvSpPr>
          <p:nvPr/>
        </p:nvSpPr>
        <p:spPr>
          <a:xfrm>
            <a:off x="9403027" y="2009775"/>
            <a:ext cx="119829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43" name="n=144">
            <a:extLst>
              <a:ext uri="{FF2B5EF4-FFF2-40B4-BE49-F238E27FC236}">
                <a16:creationId xmlns:a16="http://schemas.microsoft.com/office/drawing/2014/main" id="{9424D5B4-F87D-4680-9615-6A7A095AF7F8}"/>
              </a:ext>
            </a:extLst>
          </p:cNvPr>
          <p:cNvSpPr>
            <a:spLocks noGrp="1"/>
          </p:cNvSpPr>
          <p:nvPr/>
        </p:nvSpPr>
        <p:spPr>
          <a:xfrm>
            <a:off x="10782300" y="20002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n=144</a:t>
            </a:r>
          </a:p>
        </p:txBody>
      </p:sp>
      <p:sp>
        <p:nvSpPr>
          <p:cNvPr id="544" name="Mostly different">
            <a:extLst>
              <a:ext uri="{FF2B5EF4-FFF2-40B4-BE49-F238E27FC236}">
                <a16:creationId xmlns:a16="http://schemas.microsoft.com/office/drawing/2014/main" id="{3718D5B7-61FC-402A-ACC8-10E365A90DE2}"/>
              </a:ext>
            </a:extLst>
          </p:cNvPr>
          <p:cNvSpPr>
            <a:spLocks noGrp="1"/>
          </p:cNvSpPr>
          <p:nvPr/>
        </p:nvSpPr>
        <p:spPr>
          <a:xfrm>
            <a:off x="400050" y="26670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Mostly different</a:t>
            </a:r>
          </a:p>
        </p:txBody>
      </p:sp>
      <p:sp>
        <p:nvSpPr>
          <p:cNvPr id="545" name="Rectangle 544">
            <a:extLst>
              <a:ext uri="{FF2B5EF4-FFF2-40B4-BE49-F238E27FC236}">
                <a16:creationId xmlns:a16="http://schemas.microsoft.com/office/drawing/2014/main" id="{090FCFFA-3990-4B07-BB4E-464D59B0C868}"/>
              </a:ext>
            </a:extLst>
          </p:cNvPr>
          <p:cNvSpPr>
            <a:spLocks noGrp="1"/>
          </p:cNvSpPr>
          <p:nvPr/>
        </p:nvSpPr>
        <p:spPr>
          <a:xfrm>
            <a:off x="3667125" y="2628900"/>
            <a:ext cx="2317750" cy="447675"/>
          </a:xfrm>
          <a:prstGeom prst="rect">
            <a:avLst/>
          </a:prstGeom>
          <a:solidFill>
            <a:srgbClr val="A83A3A"/>
          </a:solidFill>
          <a:ln w="0">
            <a:noFill/>
          </a:ln>
        </p:spPr>
        <p:txBody>
          <a:bodyPr/>
          <a:lstStyle/>
          <a:p>
            <a:endParaRPr lang="en-US"/>
          </a:p>
        </p:txBody>
      </p:sp>
      <p:sp>
        <p:nvSpPr>
          <p:cNvPr id="546" name="33%">
            <a:extLst>
              <a:ext uri="{FF2B5EF4-FFF2-40B4-BE49-F238E27FC236}">
                <a16:creationId xmlns:a16="http://schemas.microsoft.com/office/drawing/2014/main" id="{5D7C3CF4-AFD9-474D-BFA0-018CD1C85BAD}"/>
              </a:ext>
            </a:extLst>
          </p:cNvPr>
          <p:cNvSpPr>
            <a:spLocks noGrp="1"/>
          </p:cNvSpPr>
          <p:nvPr/>
        </p:nvSpPr>
        <p:spPr>
          <a:xfrm>
            <a:off x="3705225" y="2733675"/>
            <a:ext cx="226060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33%</a:t>
            </a:r>
          </a:p>
        </p:txBody>
      </p:sp>
      <p:sp>
        <p:nvSpPr>
          <p:cNvPr id="547" name="Rectangle 546">
            <a:extLst>
              <a:ext uri="{FF2B5EF4-FFF2-40B4-BE49-F238E27FC236}">
                <a16:creationId xmlns:a16="http://schemas.microsoft.com/office/drawing/2014/main" id="{3108A24A-99A4-4300-A6B6-016DD7A03F60}"/>
              </a:ext>
            </a:extLst>
          </p:cNvPr>
          <p:cNvSpPr>
            <a:spLocks noGrp="1"/>
          </p:cNvSpPr>
          <p:nvPr/>
        </p:nvSpPr>
        <p:spPr>
          <a:xfrm>
            <a:off x="5984875" y="2628900"/>
            <a:ext cx="1662734" cy="447675"/>
          </a:xfrm>
          <a:prstGeom prst="rect">
            <a:avLst/>
          </a:prstGeom>
          <a:solidFill>
            <a:srgbClr val="DC713D"/>
          </a:solidFill>
          <a:ln w="0">
            <a:noFill/>
          </a:ln>
        </p:spPr>
        <p:txBody>
          <a:bodyPr/>
          <a:lstStyle/>
          <a:p>
            <a:endParaRPr lang="en-US"/>
          </a:p>
        </p:txBody>
      </p:sp>
      <p:sp>
        <p:nvSpPr>
          <p:cNvPr id="548" name="24%">
            <a:extLst>
              <a:ext uri="{FF2B5EF4-FFF2-40B4-BE49-F238E27FC236}">
                <a16:creationId xmlns:a16="http://schemas.microsoft.com/office/drawing/2014/main" id="{D880C110-517B-45A1-AD0C-3307361774F3}"/>
              </a:ext>
            </a:extLst>
          </p:cNvPr>
          <p:cNvSpPr>
            <a:spLocks noGrp="1"/>
          </p:cNvSpPr>
          <p:nvPr/>
        </p:nvSpPr>
        <p:spPr>
          <a:xfrm>
            <a:off x="6022975" y="2733675"/>
            <a:ext cx="160558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49" name="Rectangle 548">
            <a:extLst>
              <a:ext uri="{FF2B5EF4-FFF2-40B4-BE49-F238E27FC236}">
                <a16:creationId xmlns:a16="http://schemas.microsoft.com/office/drawing/2014/main" id="{854E0E9B-2775-447D-B7DF-E9E6E0E91CEC}"/>
              </a:ext>
            </a:extLst>
          </p:cNvPr>
          <p:cNvSpPr>
            <a:spLocks noGrp="1"/>
          </p:cNvSpPr>
          <p:nvPr/>
        </p:nvSpPr>
        <p:spPr>
          <a:xfrm>
            <a:off x="7647609" y="2628900"/>
            <a:ext cx="1561962" cy="447675"/>
          </a:xfrm>
          <a:prstGeom prst="rect">
            <a:avLst/>
          </a:prstGeom>
          <a:solidFill>
            <a:srgbClr val="4C91D8"/>
          </a:solidFill>
          <a:ln w="0">
            <a:noFill/>
          </a:ln>
        </p:spPr>
        <p:txBody>
          <a:bodyPr/>
          <a:lstStyle/>
          <a:p>
            <a:endParaRPr lang="en-US"/>
          </a:p>
        </p:txBody>
      </p:sp>
      <p:sp>
        <p:nvSpPr>
          <p:cNvPr id="550" name="22%">
            <a:extLst>
              <a:ext uri="{FF2B5EF4-FFF2-40B4-BE49-F238E27FC236}">
                <a16:creationId xmlns:a16="http://schemas.microsoft.com/office/drawing/2014/main" id="{CC078C4D-5E42-44CD-BA09-B8A70C2556DD}"/>
              </a:ext>
            </a:extLst>
          </p:cNvPr>
          <p:cNvSpPr>
            <a:spLocks noGrp="1"/>
          </p:cNvSpPr>
          <p:nvPr/>
        </p:nvSpPr>
        <p:spPr>
          <a:xfrm>
            <a:off x="7685709" y="2733675"/>
            <a:ext cx="150481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51" name="Rectangle 550">
            <a:extLst>
              <a:ext uri="{FF2B5EF4-FFF2-40B4-BE49-F238E27FC236}">
                <a16:creationId xmlns:a16="http://schemas.microsoft.com/office/drawing/2014/main" id="{02C69F7F-8BB2-41CB-A167-4388D3114C5A}"/>
              </a:ext>
            </a:extLst>
          </p:cNvPr>
          <p:cNvSpPr>
            <a:spLocks noGrp="1"/>
          </p:cNvSpPr>
          <p:nvPr/>
        </p:nvSpPr>
        <p:spPr>
          <a:xfrm>
            <a:off x="9209571" y="2628900"/>
            <a:ext cx="1410804" cy="447675"/>
          </a:xfrm>
          <a:prstGeom prst="rect">
            <a:avLst/>
          </a:prstGeom>
          <a:solidFill>
            <a:srgbClr val="285B9F"/>
          </a:solidFill>
          <a:ln w="0">
            <a:noFill/>
          </a:ln>
        </p:spPr>
        <p:txBody>
          <a:bodyPr/>
          <a:lstStyle/>
          <a:p>
            <a:endParaRPr lang="en-US"/>
          </a:p>
        </p:txBody>
      </p:sp>
      <p:sp>
        <p:nvSpPr>
          <p:cNvPr id="552" name="20%">
            <a:extLst>
              <a:ext uri="{FF2B5EF4-FFF2-40B4-BE49-F238E27FC236}">
                <a16:creationId xmlns:a16="http://schemas.microsoft.com/office/drawing/2014/main" id="{8CDD0D83-2FE2-474D-B9B1-939FA8935755}"/>
              </a:ext>
            </a:extLst>
          </p:cNvPr>
          <p:cNvSpPr>
            <a:spLocks noGrp="1"/>
          </p:cNvSpPr>
          <p:nvPr/>
        </p:nvSpPr>
        <p:spPr>
          <a:xfrm>
            <a:off x="9247671" y="2733675"/>
            <a:ext cx="135365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53" name="n=138">
            <a:extLst>
              <a:ext uri="{FF2B5EF4-FFF2-40B4-BE49-F238E27FC236}">
                <a16:creationId xmlns:a16="http://schemas.microsoft.com/office/drawing/2014/main" id="{22CE227A-168E-4680-B739-65E4305AF22B}"/>
              </a:ext>
            </a:extLst>
          </p:cNvPr>
          <p:cNvSpPr>
            <a:spLocks noGrp="1"/>
          </p:cNvSpPr>
          <p:nvPr/>
        </p:nvSpPr>
        <p:spPr>
          <a:xfrm>
            <a:off x="10782300" y="27241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n=138</a:t>
            </a:r>
          </a:p>
        </p:txBody>
      </p:sp>
      <p:sp>
        <p:nvSpPr>
          <p:cNvPr id="554" name="Somewhat different">
            <a:extLst>
              <a:ext uri="{FF2B5EF4-FFF2-40B4-BE49-F238E27FC236}">
                <a16:creationId xmlns:a16="http://schemas.microsoft.com/office/drawing/2014/main" id="{6F2E9840-8612-4BBB-8603-0F449190DC6D}"/>
              </a:ext>
            </a:extLst>
          </p:cNvPr>
          <p:cNvSpPr>
            <a:spLocks noGrp="1"/>
          </p:cNvSpPr>
          <p:nvPr/>
        </p:nvSpPr>
        <p:spPr>
          <a:xfrm>
            <a:off x="400050" y="33909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Somewhat different</a:t>
            </a:r>
          </a:p>
        </p:txBody>
      </p:sp>
      <p:sp>
        <p:nvSpPr>
          <p:cNvPr id="555" name="Rectangle 554">
            <a:extLst>
              <a:ext uri="{FF2B5EF4-FFF2-40B4-BE49-F238E27FC236}">
                <a16:creationId xmlns:a16="http://schemas.microsoft.com/office/drawing/2014/main" id="{6D44FDAB-8872-4653-B23C-DE07D928707C}"/>
              </a:ext>
            </a:extLst>
          </p:cNvPr>
          <p:cNvSpPr>
            <a:spLocks noGrp="1"/>
          </p:cNvSpPr>
          <p:nvPr/>
        </p:nvSpPr>
        <p:spPr>
          <a:xfrm>
            <a:off x="3667125" y="3352800"/>
            <a:ext cx="1478565" cy="447675"/>
          </a:xfrm>
          <a:prstGeom prst="rect">
            <a:avLst/>
          </a:prstGeom>
          <a:solidFill>
            <a:srgbClr val="A83A3A"/>
          </a:solidFill>
          <a:ln w="0">
            <a:noFill/>
          </a:ln>
        </p:spPr>
        <p:txBody>
          <a:bodyPr/>
          <a:lstStyle/>
          <a:p>
            <a:endParaRPr lang="en-US"/>
          </a:p>
        </p:txBody>
      </p:sp>
      <p:sp>
        <p:nvSpPr>
          <p:cNvPr id="556" name="21%">
            <a:extLst>
              <a:ext uri="{FF2B5EF4-FFF2-40B4-BE49-F238E27FC236}">
                <a16:creationId xmlns:a16="http://schemas.microsoft.com/office/drawing/2014/main" id="{C02C37CC-A4F3-4DBC-B5BE-486A4A768B25}"/>
              </a:ext>
            </a:extLst>
          </p:cNvPr>
          <p:cNvSpPr>
            <a:spLocks noGrp="1"/>
          </p:cNvSpPr>
          <p:nvPr/>
        </p:nvSpPr>
        <p:spPr>
          <a:xfrm>
            <a:off x="3705225" y="3457575"/>
            <a:ext cx="142141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21%</a:t>
            </a:r>
          </a:p>
        </p:txBody>
      </p:sp>
      <p:sp>
        <p:nvSpPr>
          <p:cNvPr id="557" name="Rectangle 556">
            <a:extLst>
              <a:ext uri="{FF2B5EF4-FFF2-40B4-BE49-F238E27FC236}">
                <a16:creationId xmlns:a16="http://schemas.microsoft.com/office/drawing/2014/main" id="{97B6D807-9F22-47BD-944B-EBA0B0DA76A7}"/>
              </a:ext>
            </a:extLst>
          </p:cNvPr>
          <p:cNvSpPr>
            <a:spLocks noGrp="1"/>
          </p:cNvSpPr>
          <p:nvPr/>
        </p:nvSpPr>
        <p:spPr>
          <a:xfrm>
            <a:off x="5145690" y="3352800"/>
            <a:ext cx="2317750" cy="447675"/>
          </a:xfrm>
          <a:prstGeom prst="rect">
            <a:avLst/>
          </a:prstGeom>
          <a:solidFill>
            <a:srgbClr val="DC713D"/>
          </a:solidFill>
          <a:ln w="0">
            <a:noFill/>
          </a:ln>
        </p:spPr>
        <p:txBody>
          <a:bodyPr/>
          <a:lstStyle/>
          <a:p>
            <a:endParaRPr lang="en-US"/>
          </a:p>
        </p:txBody>
      </p:sp>
      <p:sp>
        <p:nvSpPr>
          <p:cNvPr id="558" name="33%">
            <a:extLst>
              <a:ext uri="{FF2B5EF4-FFF2-40B4-BE49-F238E27FC236}">
                <a16:creationId xmlns:a16="http://schemas.microsoft.com/office/drawing/2014/main" id="{60A36C94-3EFE-43EE-AB10-D15C2B0F04C7}"/>
              </a:ext>
            </a:extLst>
          </p:cNvPr>
          <p:cNvSpPr>
            <a:spLocks noGrp="1"/>
          </p:cNvSpPr>
          <p:nvPr/>
        </p:nvSpPr>
        <p:spPr>
          <a:xfrm>
            <a:off x="5183790" y="3457575"/>
            <a:ext cx="226060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33%</a:t>
            </a:r>
          </a:p>
        </p:txBody>
      </p:sp>
      <p:sp>
        <p:nvSpPr>
          <p:cNvPr id="559" name="Rectangle 558">
            <a:extLst>
              <a:ext uri="{FF2B5EF4-FFF2-40B4-BE49-F238E27FC236}">
                <a16:creationId xmlns:a16="http://schemas.microsoft.com/office/drawing/2014/main" id="{54674443-474D-451D-A9B9-0E634EBC8924}"/>
              </a:ext>
            </a:extLst>
          </p:cNvPr>
          <p:cNvSpPr>
            <a:spLocks noGrp="1"/>
          </p:cNvSpPr>
          <p:nvPr/>
        </p:nvSpPr>
        <p:spPr>
          <a:xfrm>
            <a:off x="7463440" y="3352800"/>
            <a:ext cx="1918138" cy="447675"/>
          </a:xfrm>
          <a:prstGeom prst="rect">
            <a:avLst/>
          </a:prstGeom>
          <a:solidFill>
            <a:srgbClr val="4C91D8"/>
          </a:solidFill>
          <a:ln w="0">
            <a:noFill/>
          </a:ln>
        </p:spPr>
        <p:txBody>
          <a:bodyPr/>
          <a:lstStyle/>
          <a:p>
            <a:endParaRPr lang="en-US"/>
          </a:p>
        </p:txBody>
      </p:sp>
      <p:sp>
        <p:nvSpPr>
          <p:cNvPr id="560" name="28%">
            <a:extLst>
              <a:ext uri="{FF2B5EF4-FFF2-40B4-BE49-F238E27FC236}">
                <a16:creationId xmlns:a16="http://schemas.microsoft.com/office/drawing/2014/main" id="{D9FE81B1-1AEA-496A-A63A-08409DE89CE0}"/>
              </a:ext>
            </a:extLst>
          </p:cNvPr>
          <p:cNvSpPr>
            <a:spLocks noGrp="1"/>
          </p:cNvSpPr>
          <p:nvPr/>
        </p:nvSpPr>
        <p:spPr>
          <a:xfrm>
            <a:off x="7501540" y="3457575"/>
            <a:ext cx="186098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61" name="Rectangle 560">
            <a:extLst>
              <a:ext uri="{FF2B5EF4-FFF2-40B4-BE49-F238E27FC236}">
                <a16:creationId xmlns:a16="http://schemas.microsoft.com/office/drawing/2014/main" id="{8D7EEA3C-1AE0-4923-A697-02EEDA3A6B42}"/>
              </a:ext>
            </a:extLst>
          </p:cNvPr>
          <p:cNvSpPr>
            <a:spLocks noGrp="1"/>
          </p:cNvSpPr>
          <p:nvPr/>
        </p:nvSpPr>
        <p:spPr>
          <a:xfrm>
            <a:off x="9381578" y="3352800"/>
            <a:ext cx="1238797" cy="447675"/>
          </a:xfrm>
          <a:prstGeom prst="rect">
            <a:avLst/>
          </a:prstGeom>
          <a:solidFill>
            <a:srgbClr val="285B9F"/>
          </a:solidFill>
          <a:ln w="0">
            <a:noFill/>
          </a:ln>
        </p:spPr>
        <p:txBody>
          <a:bodyPr/>
          <a:lstStyle/>
          <a:p>
            <a:endParaRPr lang="en-US"/>
          </a:p>
        </p:txBody>
      </p:sp>
      <p:sp>
        <p:nvSpPr>
          <p:cNvPr id="562" name="18%">
            <a:extLst>
              <a:ext uri="{FF2B5EF4-FFF2-40B4-BE49-F238E27FC236}">
                <a16:creationId xmlns:a16="http://schemas.microsoft.com/office/drawing/2014/main" id="{AB1F7F42-B041-4CA6-AADD-46728146297D}"/>
              </a:ext>
            </a:extLst>
          </p:cNvPr>
          <p:cNvSpPr>
            <a:spLocks noGrp="1"/>
          </p:cNvSpPr>
          <p:nvPr/>
        </p:nvSpPr>
        <p:spPr>
          <a:xfrm>
            <a:off x="9419678" y="3457575"/>
            <a:ext cx="118164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63" name="n=174">
            <a:extLst>
              <a:ext uri="{FF2B5EF4-FFF2-40B4-BE49-F238E27FC236}">
                <a16:creationId xmlns:a16="http://schemas.microsoft.com/office/drawing/2014/main" id="{236D3C60-1ED1-46B0-969A-49CD864D49F5}"/>
              </a:ext>
            </a:extLst>
          </p:cNvPr>
          <p:cNvSpPr>
            <a:spLocks noGrp="1"/>
          </p:cNvSpPr>
          <p:nvPr/>
        </p:nvSpPr>
        <p:spPr>
          <a:xfrm>
            <a:off x="10782300" y="34480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n=174</a:t>
            </a:r>
          </a:p>
        </p:txBody>
      </p:sp>
      <p:sp>
        <p:nvSpPr>
          <p:cNvPr id="564" name="Close to what I wanted">
            <a:extLst>
              <a:ext uri="{FF2B5EF4-FFF2-40B4-BE49-F238E27FC236}">
                <a16:creationId xmlns:a16="http://schemas.microsoft.com/office/drawing/2014/main" id="{821F7993-5330-467B-B031-AB6F7ABDD6DE}"/>
              </a:ext>
            </a:extLst>
          </p:cNvPr>
          <p:cNvSpPr>
            <a:spLocks noGrp="1"/>
          </p:cNvSpPr>
          <p:nvPr/>
        </p:nvSpPr>
        <p:spPr>
          <a:xfrm>
            <a:off x="400050" y="41148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Close to what I wanted</a:t>
            </a:r>
          </a:p>
        </p:txBody>
      </p:sp>
      <p:sp>
        <p:nvSpPr>
          <p:cNvPr id="565" name="Rectangle 564">
            <a:extLst>
              <a:ext uri="{FF2B5EF4-FFF2-40B4-BE49-F238E27FC236}">
                <a16:creationId xmlns:a16="http://schemas.microsoft.com/office/drawing/2014/main" id="{68C45CA7-9530-4B34-968D-C6F0F94D1C0B}"/>
              </a:ext>
            </a:extLst>
          </p:cNvPr>
          <p:cNvSpPr>
            <a:spLocks noGrp="1"/>
          </p:cNvSpPr>
          <p:nvPr/>
        </p:nvSpPr>
        <p:spPr>
          <a:xfrm>
            <a:off x="3667125" y="4076700"/>
            <a:ext cx="1253865" cy="447675"/>
          </a:xfrm>
          <a:prstGeom prst="rect">
            <a:avLst/>
          </a:prstGeom>
          <a:solidFill>
            <a:srgbClr val="A83A3A"/>
          </a:solidFill>
          <a:ln w="0">
            <a:noFill/>
          </a:ln>
        </p:spPr>
        <p:txBody>
          <a:bodyPr/>
          <a:lstStyle/>
          <a:p>
            <a:endParaRPr lang="en-US"/>
          </a:p>
        </p:txBody>
      </p:sp>
      <p:sp>
        <p:nvSpPr>
          <p:cNvPr id="566" name="18%">
            <a:extLst>
              <a:ext uri="{FF2B5EF4-FFF2-40B4-BE49-F238E27FC236}">
                <a16:creationId xmlns:a16="http://schemas.microsoft.com/office/drawing/2014/main" id="{DE166358-509D-46FF-A1CE-E0E27D118E8A}"/>
              </a:ext>
            </a:extLst>
          </p:cNvPr>
          <p:cNvSpPr>
            <a:spLocks noGrp="1"/>
          </p:cNvSpPr>
          <p:nvPr/>
        </p:nvSpPr>
        <p:spPr>
          <a:xfrm>
            <a:off x="3705225" y="4181475"/>
            <a:ext cx="119671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67" name="Rectangle 566">
            <a:extLst>
              <a:ext uri="{FF2B5EF4-FFF2-40B4-BE49-F238E27FC236}">
                <a16:creationId xmlns:a16="http://schemas.microsoft.com/office/drawing/2014/main" id="{A2E1F0AE-B349-452B-99E8-CF750ED06C6F}"/>
              </a:ext>
            </a:extLst>
          </p:cNvPr>
          <p:cNvSpPr>
            <a:spLocks noGrp="1"/>
          </p:cNvSpPr>
          <p:nvPr/>
        </p:nvSpPr>
        <p:spPr>
          <a:xfrm>
            <a:off x="4920990" y="4076700"/>
            <a:ext cx="1966288" cy="447675"/>
          </a:xfrm>
          <a:prstGeom prst="rect">
            <a:avLst/>
          </a:prstGeom>
          <a:solidFill>
            <a:srgbClr val="DC713D"/>
          </a:solidFill>
          <a:ln w="0">
            <a:noFill/>
          </a:ln>
        </p:spPr>
        <p:txBody>
          <a:bodyPr/>
          <a:lstStyle/>
          <a:p>
            <a:endParaRPr lang="en-US"/>
          </a:p>
        </p:txBody>
      </p:sp>
      <p:sp>
        <p:nvSpPr>
          <p:cNvPr id="568" name="28%">
            <a:extLst>
              <a:ext uri="{FF2B5EF4-FFF2-40B4-BE49-F238E27FC236}">
                <a16:creationId xmlns:a16="http://schemas.microsoft.com/office/drawing/2014/main" id="{A7CFBDB7-75D5-4280-B7EB-E1955458A8FE}"/>
              </a:ext>
            </a:extLst>
          </p:cNvPr>
          <p:cNvSpPr>
            <a:spLocks noGrp="1"/>
          </p:cNvSpPr>
          <p:nvPr/>
        </p:nvSpPr>
        <p:spPr>
          <a:xfrm>
            <a:off x="4959090" y="4181475"/>
            <a:ext cx="190913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69" name="Rectangle 568">
            <a:extLst>
              <a:ext uri="{FF2B5EF4-FFF2-40B4-BE49-F238E27FC236}">
                <a16:creationId xmlns:a16="http://schemas.microsoft.com/office/drawing/2014/main" id="{5EC45747-03BB-4773-9A51-89C7748AAF35}"/>
              </a:ext>
            </a:extLst>
          </p:cNvPr>
          <p:cNvSpPr>
            <a:spLocks noGrp="1"/>
          </p:cNvSpPr>
          <p:nvPr/>
        </p:nvSpPr>
        <p:spPr>
          <a:xfrm>
            <a:off x="6887278" y="4076700"/>
            <a:ext cx="1852300" cy="447675"/>
          </a:xfrm>
          <a:prstGeom prst="rect">
            <a:avLst/>
          </a:prstGeom>
          <a:solidFill>
            <a:srgbClr val="4C91D8"/>
          </a:solidFill>
          <a:ln w="0">
            <a:noFill/>
          </a:ln>
        </p:spPr>
        <p:txBody>
          <a:bodyPr/>
          <a:lstStyle/>
          <a:p>
            <a:endParaRPr lang="en-US"/>
          </a:p>
        </p:txBody>
      </p:sp>
      <p:sp>
        <p:nvSpPr>
          <p:cNvPr id="570" name="27%">
            <a:extLst>
              <a:ext uri="{FF2B5EF4-FFF2-40B4-BE49-F238E27FC236}">
                <a16:creationId xmlns:a16="http://schemas.microsoft.com/office/drawing/2014/main" id="{0753EC11-5217-4B35-8B9A-D7881BFEAEAF}"/>
              </a:ext>
            </a:extLst>
          </p:cNvPr>
          <p:cNvSpPr>
            <a:spLocks noGrp="1"/>
          </p:cNvSpPr>
          <p:nvPr/>
        </p:nvSpPr>
        <p:spPr>
          <a:xfrm>
            <a:off x="6925378" y="4181475"/>
            <a:ext cx="179515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71" name="Rectangle 570">
            <a:extLst>
              <a:ext uri="{FF2B5EF4-FFF2-40B4-BE49-F238E27FC236}">
                <a16:creationId xmlns:a16="http://schemas.microsoft.com/office/drawing/2014/main" id="{17B67E4D-2F33-492B-8C3C-ABB42C8184FC}"/>
              </a:ext>
            </a:extLst>
          </p:cNvPr>
          <p:cNvSpPr>
            <a:spLocks noGrp="1"/>
          </p:cNvSpPr>
          <p:nvPr/>
        </p:nvSpPr>
        <p:spPr>
          <a:xfrm>
            <a:off x="8739578" y="4076700"/>
            <a:ext cx="1880797" cy="447675"/>
          </a:xfrm>
          <a:prstGeom prst="rect">
            <a:avLst/>
          </a:prstGeom>
          <a:solidFill>
            <a:srgbClr val="285B9F"/>
          </a:solidFill>
          <a:ln w="0">
            <a:noFill/>
          </a:ln>
        </p:spPr>
        <p:txBody>
          <a:bodyPr/>
          <a:lstStyle/>
          <a:p>
            <a:endParaRPr lang="en-US"/>
          </a:p>
        </p:txBody>
      </p:sp>
      <p:sp>
        <p:nvSpPr>
          <p:cNvPr id="572" name="27%">
            <a:extLst>
              <a:ext uri="{FF2B5EF4-FFF2-40B4-BE49-F238E27FC236}">
                <a16:creationId xmlns:a16="http://schemas.microsoft.com/office/drawing/2014/main" id="{6E315094-8541-49BD-A729-EBDAFE8D16E3}"/>
              </a:ext>
            </a:extLst>
          </p:cNvPr>
          <p:cNvSpPr>
            <a:spLocks noGrp="1"/>
          </p:cNvSpPr>
          <p:nvPr/>
        </p:nvSpPr>
        <p:spPr>
          <a:xfrm>
            <a:off x="8777678" y="4181475"/>
            <a:ext cx="182364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73" name="n=244">
            <a:extLst>
              <a:ext uri="{FF2B5EF4-FFF2-40B4-BE49-F238E27FC236}">
                <a16:creationId xmlns:a16="http://schemas.microsoft.com/office/drawing/2014/main" id="{C2A30120-DD03-4CE5-B517-DECE4EA41912}"/>
              </a:ext>
            </a:extLst>
          </p:cNvPr>
          <p:cNvSpPr>
            <a:spLocks noGrp="1"/>
          </p:cNvSpPr>
          <p:nvPr/>
        </p:nvSpPr>
        <p:spPr>
          <a:xfrm>
            <a:off x="10782300" y="41719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n=244</a:t>
            </a:r>
          </a:p>
        </p:txBody>
      </p:sp>
      <p:sp>
        <p:nvSpPr>
          <p:cNvPr id="574" name="Yes, exactly what I wanted">
            <a:extLst>
              <a:ext uri="{FF2B5EF4-FFF2-40B4-BE49-F238E27FC236}">
                <a16:creationId xmlns:a16="http://schemas.microsoft.com/office/drawing/2014/main" id="{D36F2B64-533C-4B56-919E-987E797D978F}"/>
              </a:ext>
            </a:extLst>
          </p:cNvPr>
          <p:cNvSpPr>
            <a:spLocks noGrp="1"/>
          </p:cNvSpPr>
          <p:nvPr/>
        </p:nvSpPr>
        <p:spPr>
          <a:xfrm>
            <a:off x="400050" y="48387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Yes, exactly what I wanted</a:t>
            </a:r>
          </a:p>
        </p:txBody>
      </p:sp>
      <p:sp>
        <p:nvSpPr>
          <p:cNvPr id="575" name="Rectangle 574">
            <a:extLst>
              <a:ext uri="{FF2B5EF4-FFF2-40B4-BE49-F238E27FC236}">
                <a16:creationId xmlns:a16="http://schemas.microsoft.com/office/drawing/2014/main" id="{0DD4F495-BBF5-4EB3-95C8-4E5CEE634E81}"/>
              </a:ext>
            </a:extLst>
          </p:cNvPr>
          <p:cNvSpPr>
            <a:spLocks noGrp="1"/>
          </p:cNvSpPr>
          <p:nvPr/>
        </p:nvSpPr>
        <p:spPr>
          <a:xfrm>
            <a:off x="3667125" y="4800600"/>
            <a:ext cx="1158875" cy="447675"/>
          </a:xfrm>
          <a:prstGeom prst="rect">
            <a:avLst/>
          </a:prstGeom>
          <a:solidFill>
            <a:srgbClr val="A83A3A"/>
          </a:solidFill>
          <a:ln w="0">
            <a:noFill/>
          </a:ln>
        </p:spPr>
        <p:txBody>
          <a:bodyPr/>
          <a:lstStyle/>
          <a:p>
            <a:endParaRPr lang="en-US"/>
          </a:p>
        </p:txBody>
      </p:sp>
      <p:sp>
        <p:nvSpPr>
          <p:cNvPr id="576" name="17%">
            <a:extLst>
              <a:ext uri="{FF2B5EF4-FFF2-40B4-BE49-F238E27FC236}">
                <a16:creationId xmlns:a16="http://schemas.microsoft.com/office/drawing/2014/main" id="{B113C637-9D0F-4D24-BC87-E3E755E52245}"/>
              </a:ext>
            </a:extLst>
          </p:cNvPr>
          <p:cNvSpPr>
            <a:spLocks noGrp="1"/>
          </p:cNvSpPr>
          <p:nvPr/>
        </p:nvSpPr>
        <p:spPr>
          <a:xfrm>
            <a:off x="3705225" y="4905375"/>
            <a:ext cx="110172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17%</a:t>
            </a:r>
          </a:p>
        </p:txBody>
      </p:sp>
      <p:sp>
        <p:nvSpPr>
          <p:cNvPr id="577" name="Rectangle 576">
            <a:extLst>
              <a:ext uri="{FF2B5EF4-FFF2-40B4-BE49-F238E27FC236}">
                <a16:creationId xmlns:a16="http://schemas.microsoft.com/office/drawing/2014/main" id="{48A759BE-7919-4A75-B596-F2071B817B42}"/>
              </a:ext>
            </a:extLst>
          </p:cNvPr>
          <p:cNvSpPr>
            <a:spLocks noGrp="1"/>
          </p:cNvSpPr>
          <p:nvPr/>
        </p:nvSpPr>
        <p:spPr>
          <a:xfrm>
            <a:off x="4826000" y="4800600"/>
            <a:ext cx="1993947" cy="447675"/>
          </a:xfrm>
          <a:prstGeom prst="rect">
            <a:avLst/>
          </a:prstGeom>
          <a:solidFill>
            <a:srgbClr val="DC713D"/>
          </a:solidFill>
          <a:ln w="0">
            <a:noFill/>
          </a:ln>
        </p:spPr>
        <p:txBody>
          <a:bodyPr/>
          <a:lstStyle/>
          <a:p>
            <a:endParaRPr lang="en-US"/>
          </a:p>
        </p:txBody>
      </p:sp>
      <p:sp>
        <p:nvSpPr>
          <p:cNvPr id="578" name="29%">
            <a:extLst>
              <a:ext uri="{FF2B5EF4-FFF2-40B4-BE49-F238E27FC236}">
                <a16:creationId xmlns:a16="http://schemas.microsoft.com/office/drawing/2014/main" id="{00CB7921-B8E2-4BB7-83F8-E9CBD09FC45F}"/>
              </a:ext>
            </a:extLst>
          </p:cNvPr>
          <p:cNvSpPr>
            <a:spLocks noGrp="1"/>
          </p:cNvSpPr>
          <p:nvPr/>
        </p:nvSpPr>
        <p:spPr>
          <a:xfrm>
            <a:off x="4864100" y="4905375"/>
            <a:ext cx="193679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79" name="Rectangle 578">
            <a:extLst>
              <a:ext uri="{FF2B5EF4-FFF2-40B4-BE49-F238E27FC236}">
                <a16:creationId xmlns:a16="http://schemas.microsoft.com/office/drawing/2014/main" id="{42C36EFD-BCB5-4FC2-B6D2-2AE10CB771CD}"/>
              </a:ext>
            </a:extLst>
          </p:cNvPr>
          <p:cNvSpPr>
            <a:spLocks noGrp="1"/>
          </p:cNvSpPr>
          <p:nvPr/>
        </p:nvSpPr>
        <p:spPr>
          <a:xfrm>
            <a:off x="6819947" y="4800600"/>
            <a:ext cx="2147327" cy="447675"/>
          </a:xfrm>
          <a:prstGeom prst="rect">
            <a:avLst/>
          </a:prstGeom>
          <a:solidFill>
            <a:srgbClr val="4C91D8"/>
          </a:solidFill>
          <a:ln w="0">
            <a:noFill/>
          </a:ln>
        </p:spPr>
        <p:txBody>
          <a:bodyPr/>
          <a:lstStyle/>
          <a:p>
            <a:endParaRPr lang="en-US"/>
          </a:p>
        </p:txBody>
      </p:sp>
      <p:sp>
        <p:nvSpPr>
          <p:cNvPr id="580" name="31%">
            <a:extLst>
              <a:ext uri="{FF2B5EF4-FFF2-40B4-BE49-F238E27FC236}">
                <a16:creationId xmlns:a16="http://schemas.microsoft.com/office/drawing/2014/main" id="{E9B0B2BB-405D-44FB-B5FC-CF27F05D31D3}"/>
              </a:ext>
            </a:extLst>
          </p:cNvPr>
          <p:cNvSpPr>
            <a:spLocks noGrp="1"/>
          </p:cNvSpPr>
          <p:nvPr/>
        </p:nvSpPr>
        <p:spPr>
          <a:xfrm>
            <a:off x="6858047" y="4905375"/>
            <a:ext cx="209017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31%</a:t>
            </a:r>
          </a:p>
        </p:txBody>
      </p:sp>
      <p:sp>
        <p:nvSpPr>
          <p:cNvPr id="581" name="Rectangle 580">
            <a:extLst>
              <a:ext uri="{FF2B5EF4-FFF2-40B4-BE49-F238E27FC236}">
                <a16:creationId xmlns:a16="http://schemas.microsoft.com/office/drawing/2014/main" id="{F593C7DA-9BDA-43D4-A69B-623942EE4AD5}"/>
              </a:ext>
            </a:extLst>
          </p:cNvPr>
          <p:cNvSpPr>
            <a:spLocks noGrp="1"/>
          </p:cNvSpPr>
          <p:nvPr/>
        </p:nvSpPr>
        <p:spPr>
          <a:xfrm>
            <a:off x="8967274" y="4800600"/>
            <a:ext cx="1653101" cy="447675"/>
          </a:xfrm>
          <a:prstGeom prst="rect">
            <a:avLst/>
          </a:prstGeom>
          <a:solidFill>
            <a:srgbClr val="285B9F"/>
          </a:solidFill>
          <a:ln w="0">
            <a:noFill/>
          </a:ln>
        </p:spPr>
        <p:txBody>
          <a:bodyPr/>
          <a:lstStyle/>
          <a:p>
            <a:endParaRPr lang="en-US"/>
          </a:p>
        </p:txBody>
      </p:sp>
      <p:sp>
        <p:nvSpPr>
          <p:cNvPr id="582" name="24%">
            <a:extLst>
              <a:ext uri="{FF2B5EF4-FFF2-40B4-BE49-F238E27FC236}">
                <a16:creationId xmlns:a16="http://schemas.microsoft.com/office/drawing/2014/main" id="{8FB37369-9759-49A2-AA5C-3EB62A1E58F9}"/>
              </a:ext>
            </a:extLst>
          </p:cNvPr>
          <p:cNvSpPr>
            <a:spLocks noGrp="1"/>
          </p:cNvSpPr>
          <p:nvPr/>
        </p:nvSpPr>
        <p:spPr>
          <a:xfrm>
            <a:off x="9005374" y="4905375"/>
            <a:ext cx="159595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83" name="n=408">
            <a:extLst>
              <a:ext uri="{FF2B5EF4-FFF2-40B4-BE49-F238E27FC236}">
                <a16:creationId xmlns:a16="http://schemas.microsoft.com/office/drawing/2014/main" id="{CB7939D6-C78B-45CF-94CB-4548E85F403F}"/>
              </a:ext>
            </a:extLst>
          </p:cNvPr>
          <p:cNvSpPr>
            <a:spLocks noGrp="1"/>
          </p:cNvSpPr>
          <p:nvPr/>
        </p:nvSpPr>
        <p:spPr>
          <a:xfrm>
            <a:off x="10782300" y="48958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n=408</a:t>
            </a:r>
          </a:p>
        </p:txBody>
      </p:sp>
      <p:sp>
        <p:nvSpPr>
          <p:cNvPr id="584" name="Rectangle 583">
            <a:extLst>
              <a:ext uri="{FF2B5EF4-FFF2-40B4-BE49-F238E27FC236}">
                <a16:creationId xmlns:a16="http://schemas.microsoft.com/office/drawing/2014/main" id="{74D08ECF-D0E5-4CD8-9F53-4A23D580AD41}"/>
              </a:ext>
            </a:extLst>
          </p:cNvPr>
          <p:cNvSpPr>
            <a:spLocks noGrp="1"/>
          </p:cNvSpPr>
          <p:nvPr/>
        </p:nvSpPr>
        <p:spPr>
          <a:xfrm>
            <a:off x="3667125" y="1409700"/>
            <a:ext cx="190500" cy="190500"/>
          </a:xfrm>
          <a:prstGeom prst="rect">
            <a:avLst/>
          </a:prstGeom>
          <a:solidFill>
            <a:srgbClr val="A83A3A"/>
          </a:solidFill>
          <a:ln w="0">
            <a:noFill/>
          </a:ln>
        </p:spPr>
        <p:txBody>
          <a:bodyPr/>
          <a:lstStyle/>
          <a:p>
            <a:endParaRPr lang="en-US"/>
          </a:p>
        </p:txBody>
      </p:sp>
      <p:sp>
        <p:nvSpPr>
          <p:cNvPr id="585" name="C0  &lt; 3.20">
            <a:extLst>
              <a:ext uri="{FF2B5EF4-FFF2-40B4-BE49-F238E27FC236}">
                <a16:creationId xmlns:a16="http://schemas.microsoft.com/office/drawing/2014/main" id="{7D26BC27-9378-4915-A399-F0A7AA382978}"/>
              </a:ext>
            </a:extLst>
          </p:cNvPr>
          <p:cNvSpPr>
            <a:spLocks noGrp="1"/>
          </p:cNvSpPr>
          <p:nvPr/>
        </p:nvSpPr>
        <p:spPr>
          <a:xfrm>
            <a:off x="39433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C0  &lt; 3.20</a:t>
            </a:r>
          </a:p>
        </p:txBody>
      </p:sp>
      <p:sp>
        <p:nvSpPr>
          <p:cNvPr id="586" name="Rectangle 585">
            <a:extLst>
              <a:ext uri="{FF2B5EF4-FFF2-40B4-BE49-F238E27FC236}">
                <a16:creationId xmlns:a16="http://schemas.microsoft.com/office/drawing/2014/main" id="{D5474C4B-59A0-443B-BD04-1D21C6710CBB}"/>
              </a:ext>
            </a:extLst>
          </p:cNvPr>
          <p:cNvSpPr>
            <a:spLocks noGrp="1"/>
          </p:cNvSpPr>
          <p:nvPr/>
        </p:nvSpPr>
        <p:spPr>
          <a:xfrm>
            <a:off x="5476875" y="1409700"/>
            <a:ext cx="190500" cy="190500"/>
          </a:xfrm>
          <a:prstGeom prst="rect">
            <a:avLst/>
          </a:prstGeom>
          <a:solidFill>
            <a:srgbClr val="DC713D"/>
          </a:solidFill>
          <a:ln w="0">
            <a:noFill/>
          </a:ln>
        </p:spPr>
        <p:txBody>
          <a:bodyPr/>
          <a:lstStyle/>
          <a:p>
            <a:endParaRPr lang="en-US"/>
          </a:p>
        </p:txBody>
      </p:sp>
      <p:sp>
        <p:nvSpPr>
          <p:cNvPr id="587" name="C1  3.20–3.49">
            <a:extLst>
              <a:ext uri="{FF2B5EF4-FFF2-40B4-BE49-F238E27FC236}">
                <a16:creationId xmlns:a16="http://schemas.microsoft.com/office/drawing/2014/main" id="{011B52F7-C3BE-4439-8578-EECDC4AF5221}"/>
              </a:ext>
            </a:extLst>
          </p:cNvPr>
          <p:cNvSpPr>
            <a:spLocks noGrp="1"/>
          </p:cNvSpPr>
          <p:nvPr/>
        </p:nvSpPr>
        <p:spPr>
          <a:xfrm>
            <a:off x="57531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C1  3.20–3.49</a:t>
            </a:r>
          </a:p>
        </p:txBody>
      </p:sp>
      <p:sp>
        <p:nvSpPr>
          <p:cNvPr id="588" name="Rectangle 587">
            <a:extLst>
              <a:ext uri="{FF2B5EF4-FFF2-40B4-BE49-F238E27FC236}">
                <a16:creationId xmlns:a16="http://schemas.microsoft.com/office/drawing/2014/main" id="{59786784-23B1-4DC3-AFE3-850ADB7AB105}"/>
              </a:ext>
            </a:extLst>
          </p:cNvPr>
          <p:cNvSpPr>
            <a:spLocks noGrp="1"/>
          </p:cNvSpPr>
          <p:nvPr/>
        </p:nvSpPr>
        <p:spPr>
          <a:xfrm>
            <a:off x="7286625" y="1409700"/>
            <a:ext cx="190500" cy="190500"/>
          </a:xfrm>
          <a:prstGeom prst="rect">
            <a:avLst/>
          </a:prstGeom>
          <a:solidFill>
            <a:srgbClr val="4C91D8"/>
          </a:solidFill>
          <a:ln w="0">
            <a:noFill/>
          </a:ln>
        </p:spPr>
        <p:txBody>
          <a:bodyPr/>
          <a:lstStyle/>
          <a:p>
            <a:endParaRPr lang="en-US"/>
          </a:p>
        </p:txBody>
      </p:sp>
      <p:sp>
        <p:nvSpPr>
          <p:cNvPr id="589" name="C2  3.50–3.74">
            <a:extLst>
              <a:ext uri="{FF2B5EF4-FFF2-40B4-BE49-F238E27FC236}">
                <a16:creationId xmlns:a16="http://schemas.microsoft.com/office/drawing/2014/main" id="{E11F95B9-E3EB-4E4E-8798-78D6C13C648A}"/>
              </a:ext>
            </a:extLst>
          </p:cNvPr>
          <p:cNvSpPr>
            <a:spLocks noGrp="1"/>
          </p:cNvSpPr>
          <p:nvPr/>
        </p:nvSpPr>
        <p:spPr>
          <a:xfrm>
            <a:off x="75628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C2  3.50–3.74</a:t>
            </a:r>
          </a:p>
        </p:txBody>
      </p:sp>
      <p:sp>
        <p:nvSpPr>
          <p:cNvPr id="590" name="Rectangle 589">
            <a:extLst>
              <a:ext uri="{FF2B5EF4-FFF2-40B4-BE49-F238E27FC236}">
                <a16:creationId xmlns:a16="http://schemas.microsoft.com/office/drawing/2014/main" id="{B9D36B1E-8514-4892-839E-909C9126D411}"/>
              </a:ext>
            </a:extLst>
          </p:cNvPr>
          <p:cNvSpPr>
            <a:spLocks noGrp="1"/>
          </p:cNvSpPr>
          <p:nvPr/>
        </p:nvSpPr>
        <p:spPr>
          <a:xfrm>
            <a:off x="9096375" y="1409700"/>
            <a:ext cx="190500" cy="190500"/>
          </a:xfrm>
          <a:prstGeom prst="rect">
            <a:avLst/>
          </a:prstGeom>
          <a:solidFill>
            <a:srgbClr val="285B9F"/>
          </a:solidFill>
          <a:ln w="0">
            <a:noFill/>
          </a:ln>
        </p:spPr>
        <p:txBody>
          <a:bodyPr/>
          <a:lstStyle/>
          <a:p>
            <a:endParaRPr lang="en-US"/>
          </a:p>
        </p:txBody>
      </p:sp>
      <p:sp>
        <p:nvSpPr>
          <p:cNvPr id="591" name="C3  ≥ 3.75">
            <a:extLst>
              <a:ext uri="{FF2B5EF4-FFF2-40B4-BE49-F238E27FC236}">
                <a16:creationId xmlns:a16="http://schemas.microsoft.com/office/drawing/2014/main" id="{BA4D24B2-2775-4150-8BFA-56441621BC7E}"/>
              </a:ext>
            </a:extLst>
          </p:cNvPr>
          <p:cNvSpPr>
            <a:spLocks noGrp="1"/>
          </p:cNvSpPr>
          <p:nvPr/>
        </p:nvSpPr>
        <p:spPr>
          <a:xfrm>
            <a:off x="93726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C3  ≥ 3.75</a:t>
            </a:r>
          </a:p>
        </p:txBody>
      </p:sp>
      <p:cxnSp>
        <p:nvCxnSpPr>
          <p:cNvPr id="2" name="Straight Arrow Connector 1">
            <a:extLst>
              <a:ext uri="{FF2B5EF4-FFF2-40B4-BE49-F238E27FC236}">
                <a16:creationId xmlns:a16="http://schemas.microsoft.com/office/drawing/2014/main" id="{5C3537C9-52E9-4EEA-D25F-6104A8F97FEE}"/>
              </a:ext>
            </a:extLst>
          </p:cNvPr>
          <p:cNvCxnSpPr>
            <a:cxnSpLocks/>
          </p:cNvCxnSpPr>
          <p:nvPr/>
        </p:nvCxnSpPr>
        <p:spPr>
          <a:xfrm>
            <a:off x="204107" y="5763986"/>
            <a:ext cx="105781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1C45820A-9ECB-3FB3-F472-2F0D262A4EB3}"/>
              </a:ext>
            </a:extLst>
          </p:cNvPr>
          <p:cNvCxnSpPr>
            <a:cxnSpLocks/>
          </p:cNvCxnSpPr>
          <p:nvPr/>
        </p:nvCxnSpPr>
        <p:spPr>
          <a:xfrm flipV="1">
            <a:off x="356507" y="971550"/>
            <a:ext cx="0" cy="4944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4931C8C5-2E4B-B136-3EA7-116C0ABD0DBD}"/>
              </a:ext>
            </a:extLst>
          </p:cNvPr>
          <p:cNvSpPr txBox="1"/>
          <p:nvPr/>
        </p:nvSpPr>
        <p:spPr>
          <a:xfrm>
            <a:off x="5532723" y="5787509"/>
            <a:ext cx="821572" cy="369332"/>
          </a:xfrm>
          <a:prstGeom prst="rect">
            <a:avLst/>
          </a:prstGeom>
          <a:noFill/>
        </p:spPr>
        <p:txBody>
          <a:bodyPr wrap="none" rtlCol="0">
            <a:spAutoFit/>
          </a:bodyPr>
          <a:lstStyle/>
          <a:p>
            <a:r>
              <a:rPr lang="en-US" dirty="0"/>
              <a:t>CGPA</a:t>
            </a:r>
          </a:p>
        </p:txBody>
      </p:sp>
      <p:sp>
        <p:nvSpPr>
          <p:cNvPr id="5" name="TextBox 4">
            <a:extLst>
              <a:ext uri="{FF2B5EF4-FFF2-40B4-BE49-F238E27FC236}">
                <a16:creationId xmlns:a16="http://schemas.microsoft.com/office/drawing/2014/main" id="{B88198EF-C9A3-A6AA-FF0B-A4B6098BC436}"/>
              </a:ext>
            </a:extLst>
          </p:cNvPr>
          <p:cNvSpPr txBox="1"/>
          <p:nvPr/>
        </p:nvSpPr>
        <p:spPr>
          <a:xfrm rot="16200000">
            <a:off x="-909280" y="2715997"/>
            <a:ext cx="2249334" cy="369332"/>
          </a:xfrm>
          <a:prstGeom prst="rect">
            <a:avLst/>
          </a:prstGeom>
          <a:noFill/>
        </p:spPr>
        <p:txBody>
          <a:bodyPr wrap="none" rtlCol="0">
            <a:spAutoFit/>
          </a:bodyPr>
          <a:lstStyle/>
          <a:p>
            <a:r>
              <a:rPr lang="en-US" dirty="0"/>
              <a:t>Desired Department</a:t>
            </a:r>
          </a:p>
        </p:txBody>
      </p:sp>
    </p:spTree>
    <p:extLst>
      <p:ext uri="{BB962C8B-B14F-4D97-AF65-F5344CB8AC3E}">
        <p14:creationId xmlns:p14="http://schemas.microsoft.com/office/powerpoint/2010/main" val="35135755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25</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Support and CGPA</a:t>
            </a:r>
          </a:p>
        </p:txBody>
      </p:sp>
      <p:sp>
        <p:nvSpPr>
          <p:cNvPr id="534" name="No support">
            <a:extLst>
              <a:ext uri="{FF2B5EF4-FFF2-40B4-BE49-F238E27FC236}">
                <a16:creationId xmlns:a16="http://schemas.microsoft.com/office/drawing/2014/main" id="{D1E0881A-FF0B-4C60-976E-53F5A3524696}"/>
              </a:ext>
            </a:extLst>
          </p:cNvPr>
          <p:cNvSpPr>
            <a:spLocks noGrp="1"/>
          </p:cNvSpPr>
          <p:nvPr/>
        </p:nvSpPr>
        <p:spPr>
          <a:xfrm>
            <a:off x="400050" y="19431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No support</a:t>
            </a:r>
          </a:p>
        </p:txBody>
      </p:sp>
      <p:sp>
        <p:nvSpPr>
          <p:cNvPr id="535" name="Rectangle 534">
            <a:extLst>
              <a:ext uri="{FF2B5EF4-FFF2-40B4-BE49-F238E27FC236}">
                <a16:creationId xmlns:a16="http://schemas.microsoft.com/office/drawing/2014/main" id="{57B0AF86-F1D6-40F6-81D4-057AC0321FEE}"/>
              </a:ext>
            </a:extLst>
          </p:cNvPr>
          <p:cNvSpPr>
            <a:spLocks noGrp="1"/>
          </p:cNvSpPr>
          <p:nvPr/>
        </p:nvSpPr>
        <p:spPr>
          <a:xfrm>
            <a:off x="3667125" y="1905000"/>
            <a:ext cx="1715135" cy="447675"/>
          </a:xfrm>
          <a:prstGeom prst="rect">
            <a:avLst/>
          </a:prstGeom>
          <a:solidFill>
            <a:srgbClr val="A83A3A"/>
          </a:solidFill>
          <a:ln w="0">
            <a:noFill/>
          </a:ln>
        </p:spPr>
        <p:txBody>
          <a:bodyPr/>
          <a:lstStyle/>
          <a:p>
            <a:endParaRPr lang="en-US"/>
          </a:p>
        </p:txBody>
      </p:sp>
      <p:sp>
        <p:nvSpPr>
          <p:cNvPr id="536" name="25%">
            <a:extLst>
              <a:ext uri="{FF2B5EF4-FFF2-40B4-BE49-F238E27FC236}">
                <a16:creationId xmlns:a16="http://schemas.microsoft.com/office/drawing/2014/main" id="{85F701B8-3297-4C7F-89CA-674EEA88CE3B}"/>
              </a:ext>
            </a:extLst>
          </p:cNvPr>
          <p:cNvSpPr>
            <a:spLocks noGrp="1"/>
          </p:cNvSpPr>
          <p:nvPr/>
        </p:nvSpPr>
        <p:spPr>
          <a:xfrm>
            <a:off x="3705225" y="2009775"/>
            <a:ext cx="165798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37" name="Rectangle 536">
            <a:extLst>
              <a:ext uri="{FF2B5EF4-FFF2-40B4-BE49-F238E27FC236}">
                <a16:creationId xmlns:a16="http://schemas.microsoft.com/office/drawing/2014/main" id="{F71E70B5-20C8-4CA6-8B63-0AD86D5A8B7E}"/>
              </a:ext>
            </a:extLst>
          </p:cNvPr>
          <p:cNvSpPr>
            <a:spLocks noGrp="1"/>
          </p:cNvSpPr>
          <p:nvPr/>
        </p:nvSpPr>
        <p:spPr>
          <a:xfrm>
            <a:off x="5382260" y="1905000"/>
            <a:ext cx="1807845" cy="447675"/>
          </a:xfrm>
          <a:prstGeom prst="rect">
            <a:avLst/>
          </a:prstGeom>
          <a:solidFill>
            <a:srgbClr val="DC713D"/>
          </a:solidFill>
          <a:ln w="0">
            <a:noFill/>
          </a:ln>
        </p:spPr>
        <p:txBody>
          <a:bodyPr/>
          <a:lstStyle/>
          <a:p>
            <a:endParaRPr lang="en-US"/>
          </a:p>
        </p:txBody>
      </p:sp>
      <p:sp>
        <p:nvSpPr>
          <p:cNvPr id="538" name="26%">
            <a:extLst>
              <a:ext uri="{FF2B5EF4-FFF2-40B4-BE49-F238E27FC236}">
                <a16:creationId xmlns:a16="http://schemas.microsoft.com/office/drawing/2014/main" id="{94D1E499-4749-46EC-A3B1-27EC88F5C51E}"/>
              </a:ext>
            </a:extLst>
          </p:cNvPr>
          <p:cNvSpPr>
            <a:spLocks noGrp="1"/>
          </p:cNvSpPr>
          <p:nvPr/>
        </p:nvSpPr>
        <p:spPr>
          <a:xfrm>
            <a:off x="5420360" y="2009775"/>
            <a:ext cx="175069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39" name="Rectangle 538">
            <a:extLst>
              <a:ext uri="{FF2B5EF4-FFF2-40B4-BE49-F238E27FC236}">
                <a16:creationId xmlns:a16="http://schemas.microsoft.com/office/drawing/2014/main" id="{494465DC-282B-40A8-AAB6-3B8634FDA850}"/>
              </a:ext>
            </a:extLst>
          </p:cNvPr>
          <p:cNvSpPr>
            <a:spLocks noGrp="1"/>
          </p:cNvSpPr>
          <p:nvPr/>
        </p:nvSpPr>
        <p:spPr>
          <a:xfrm>
            <a:off x="7190105" y="1905000"/>
            <a:ext cx="1807845" cy="447675"/>
          </a:xfrm>
          <a:prstGeom prst="rect">
            <a:avLst/>
          </a:prstGeom>
          <a:solidFill>
            <a:srgbClr val="4C91D8"/>
          </a:solidFill>
          <a:ln w="0">
            <a:noFill/>
          </a:ln>
        </p:spPr>
        <p:txBody>
          <a:bodyPr/>
          <a:lstStyle/>
          <a:p>
            <a:endParaRPr lang="en-US"/>
          </a:p>
        </p:txBody>
      </p:sp>
      <p:sp>
        <p:nvSpPr>
          <p:cNvPr id="540" name="26%">
            <a:extLst>
              <a:ext uri="{FF2B5EF4-FFF2-40B4-BE49-F238E27FC236}">
                <a16:creationId xmlns:a16="http://schemas.microsoft.com/office/drawing/2014/main" id="{316CB0D3-2CB2-4A82-B612-F651BD3293C0}"/>
              </a:ext>
            </a:extLst>
          </p:cNvPr>
          <p:cNvSpPr>
            <a:spLocks noGrp="1"/>
          </p:cNvSpPr>
          <p:nvPr/>
        </p:nvSpPr>
        <p:spPr>
          <a:xfrm>
            <a:off x="7228205" y="2009775"/>
            <a:ext cx="175069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41" name="Rectangle 540">
            <a:extLst>
              <a:ext uri="{FF2B5EF4-FFF2-40B4-BE49-F238E27FC236}">
                <a16:creationId xmlns:a16="http://schemas.microsoft.com/office/drawing/2014/main" id="{622BE65A-DA39-436A-B2FE-6F7DBBFE8E1A}"/>
              </a:ext>
            </a:extLst>
          </p:cNvPr>
          <p:cNvSpPr>
            <a:spLocks noGrp="1"/>
          </p:cNvSpPr>
          <p:nvPr/>
        </p:nvSpPr>
        <p:spPr>
          <a:xfrm>
            <a:off x="8997950" y="1905000"/>
            <a:ext cx="1622425" cy="447675"/>
          </a:xfrm>
          <a:prstGeom prst="rect">
            <a:avLst/>
          </a:prstGeom>
          <a:solidFill>
            <a:srgbClr val="285B9F"/>
          </a:solidFill>
          <a:ln w="0">
            <a:noFill/>
          </a:ln>
        </p:spPr>
        <p:txBody>
          <a:bodyPr/>
          <a:lstStyle/>
          <a:p>
            <a:endParaRPr lang="en-US"/>
          </a:p>
        </p:txBody>
      </p:sp>
      <p:sp>
        <p:nvSpPr>
          <p:cNvPr id="542" name="23%">
            <a:extLst>
              <a:ext uri="{FF2B5EF4-FFF2-40B4-BE49-F238E27FC236}">
                <a16:creationId xmlns:a16="http://schemas.microsoft.com/office/drawing/2014/main" id="{67B000F3-616A-4A70-A485-45201F4B8D24}"/>
              </a:ext>
            </a:extLst>
          </p:cNvPr>
          <p:cNvSpPr>
            <a:spLocks noGrp="1"/>
          </p:cNvSpPr>
          <p:nvPr/>
        </p:nvSpPr>
        <p:spPr>
          <a:xfrm>
            <a:off x="9036050" y="2009775"/>
            <a:ext cx="156527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23%</a:t>
            </a:r>
          </a:p>
        </p:txBody>
      </p:sp>
      <p:sp>
        <p:nvSpPr>
          <p:cNvPr id="543" name="n=150">
            <a:extLst>
              <a:ext uri="{FF2B5EF4-FFF2-40B4-BE49-F238E27FC236}">
                <a16:creationId xmlns:a16="http://schemas.microsoft.com/office/drawing/2014/main" id="{1F7BD537-A4C5-44F2-9665-84B7763E6ADA}"/>
              </a:ext>
            </a:extLst>
          </p:cNvPr>
          <p:cNvSpPr>
            <a:spLocks noGrp="1"/>
          </p:cNvSpPr>
          <p:nvPr/>
        </p:nvSpPr>
        <p:spPr>
          <a:xfrm>
            <a:off x="10782300" y="20002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n=150</a:t>
            </a:r>
          </a:p>
        </p:txBody>
      </p:sp>
      <p:sp>
        <p:nvSpPr>
          <p:cNvPr id="544" name="Very little support">
            <a:extLst>
              <a:ext uri="{FF2B5EF4-FFF2-40B4-BE49-F238E27FC236}">
                <a16:creationId xmlns:a16="http://schemas.microsoft.com/office/drawing/2014/main" id="{CD4CE4CE-4EA7-4109-9734-E910A86B5058}"/>
              </a:ext>
            </a:extLst>
          </p:cNvPr>
          <p:cNvSpPr>
            <a:spLocks noGrp="1"/>
          </p:cNvSpPr>
          <p:nvPr/>
        </p:nvSpPr>
        <p:spPr>
          <a:xfrm>
            <a:off x="400050" y="26670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Very little support</a:t>
            </a:r>
          </a:p>
        </p:txBody>
      </p:sp>
      <p:sp>
        <p:nvSpPr>
          <p:cNvPr id="545" name="Rectangle 544">
            <a:extLst>
              <a:ext uri="{FF2B5EF4-FFF2-40B4-BE49-F238E27FC236}">
                <a16:creationId xmlns:a16="http://schemas.microsoft.com/office/drawing/2014/main" id="{98110E0B-2E47-427C-B95B-75AE5522F1B7}"/>
              </a:ext>
            </a:extLst>
          </p:cNvPr>
          <p:cNvSpPr>
            <a:spLocks noGrp="1"/>
          </p:cNvSpPr>
          <p:nvPr/>
        </p:nvSpPr>
        <p:spPr>
          <a:xfrm>
            <a:off x="3667125" y="2628900"/>
            <a:ext cx="1980868" cy="447675"/>
          </a:xfrm>
          <a:prstGeom prst="rect">
            <a:avLst/>
          </a:prstGeom>
          <a:solidFill>
            <a:srgbClr val="A83A3A"/>
          </a:solidFill>
          <a:ln w="0">
            <a:noFill/>
          </a:ln>
        </p:spPr>
        <p:txBody>
          <a:bodyPr/>
          <a:lstStyle/>
          <a:p>
            <a:endParaRPr lang="en-US"/>
          </a:p>
        </p:txBody>
      </p:sp>
      <p:sp>
        <p:nvSpPr>
          <p:cNvPr id="546" name="28%">
            <a:extLst>
              <a:ext uri="{FF2B5EF4-FFF2-40B4-BE49-F238E27FC236}">
                <a16:creationId xmlns:a16="http://schemas.microsoft.com/office/drawing/2014/main" id="{4058CE26-E860-4463-A1D1-8E5E8298F65C}"/>
              </a:ext>
            </a:extLst>
          </p:cNvPr>
          <p:cNvSpPr>
            <a:spLocks noGrp="1"/>
          </p:cNvSpPr>
          <p:nvPr/>
        </p:nvSpPr>
        <p:spPr>
          <a:xfrm>
            <a:off x="3705225" y="2733675"/>
            <a:ext cx="192371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47" name="Rectangle 546">
            <a:extLst>
              <a:ext uri="{FF2B5EF4-FFF2-40B4-BE49-F238E27FC236}">
                <a16:creationId xmlns:a16="http://schemas.microsoft.com/office/drawing/2014/main" id="{A0D56D3E-70DC-4D70-B610-049CCA3BFBDC}"/>
              </a:ext>
            </a:extLst>
          </p:cNvPr>
          <p:cNvSpPr>
            <a:spLocks noGrp="1"/>
          </p:cNvSpPr>
          <p:nvPr/>
        </p:nvSpPr>
        <p:spPr>
          <a:xfrm>
            <a:off x="5647993" y="2628900"/>
            <a:ext cx="1738313" cy="447675"/>
          </a:xfrm>
          <a:prstGeom prst="rect">
            <a:avLst/>
          </a:prstGeom>
          <a:solidFill>
            <a:srgbClr val="DC713D"/>
          </a:solidFill>
          <a:ln w="0">
            <a:noFill/>
          </a:ln>
        </p:spPr>
        <p:txBody>
          <a:bodyPr/>
          <a:lstStyle/>
          <a:p>
            <a:endParaRPr lang="en-US"/>
          </a:p>
        </p:txBody>
      </p:sp>
      <p:sp>
        <p:nvSpPr>
          <p:cNvPr id="548" name="25%">
            <a:extLst>
              <a:ext uri="{FF2B5EF4-FFF2-40B4-BE49-F238E27FC236}">
                <a16:creationId xmlns:a16="http://schemas.microsoft.com/office/drawing/2014/main" id="{1D40E7A0-A045-4968-B2A7-052B475F87E3}"/>
              </a:ext>
            </a:extLst>
          </p:cNvPr>
          <p:cNvSpPr>
            <a:spLocks noGrp="1"/>
          </p:cNvSpPr>
          <p:nvPr/>
        </p:nvSpPr>
        <p:spPr>
          <a:xfrm>
            <a:off x="5686093" y="2733675"/>
            <a:ext cx="168116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49" name="Rectangle 548">
            <a:extLst>
              <a:ext uri="{FF2B5EF4-FFF2-40B4-BE49-F238E27FC236}">
                <a16:creationId xmlns:a16="http://schemas.microsoft.com/office/drawing/2014/main" id="{DABC3684-7076-4DF6-A5E3-37B05E4B4D25}"/>
              </a:ext>
            </a:extLst>
          </p:cNvPr>
          <p:cNvSpPr>
            <a:spLocks noGrp="1"/>
          </p:cNvSpPr>
          <p:nvPr/>
        </p:nvSpPr>
        <p:spPr>
          <a:xfrm>
            <a:off x="7386305" y="2628900"/>
            <a:ext cx="1697887" cy="447675"/>
          </a:xfrm>
          <a:prstGeom prst="rect">
            <a:avLst/>
          </a:prstGeom>
          <a:solidFill>
            <a:srgbClr val="4C91D8"/>
          </a:solidFill>
          <a:ln w="0">
            <a:noFill/>
          </a:ln>
        </p:spPr>
        <p:txBody>
          <a:bodyPr/>
          <a:lstStyle/>
          <a:p>
            <a:endParaRPr lang="en-US"/>
          </a:p>
        </p:txBody>
      </p:sp>
      <p:sp>
        <p:nvSpPr>
          <p:cNvPr id="550" name="24%">
            <a:extLst>
              <a:ext uri="{FF2B5EF4-FFF2-40B4-BE49-F238E27FC236}">
                <a16:creationId xmlns:a16="http://schemas.microsoft.com/office/drawing/2014/main" id="{23CA0931-A240-4A36-A329-AAE4E8CACA6E}"/>
              </a:ext>
            </a:extLst>
          </p:cNvPr>
          <p:cNvSpPr>
            <a:spLocks noGrp="1"/>
          </p:cNvSpPr>
          <p:nvPr/>
        </p:nvSpPr>
        <p:spPr>
          <a:xfrm>
            <a:off x="7424405" y="2733675"/>
            <a:ext cx="164073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51" name="Rectangle 550">
            <a:extLst>
              <a:ext uri="{FF2B5EF4-FFF2-40B4-BE49-F238E27FC236}">
                <a16:creationId xmlns:a16="http://schemas.microsoft.com/office/drawing/2014/main" id="{4DC8E9F8-445B-4822-9FC9-D6E3039FB06A}"/>
              </a:ext>
            </a:extLst>
          </p:cNvPr>
          <p:cNvSpPr>
            <a:spLocks noGrp="1"/>
          </p:cNvSpPr>
          <p:nvPr/>
        </p:nvSpPr>
        <p:spPr>
          <a:xfrm>
            <a:off x="9084192" y="2628900"/>
            <a:ext cx="1536183" cy="447675"/>
          </a:xfrm>
          <a:prstGeom prst="rect">
            <a:avLst/>
          </a:prstGeom>
          <a:solidFill>
            <a:srgbClr val="285B9F"/>
          </a:solidFill>
          <a:ln w="0">
            <a:noFill/>
          </a:ln>
        </p:spPr>
        <p:txBody>
          <a:bodyPr/>
          <a:lstStyle/>
          <a:p>
            <a:endParaRPr lang="en-US"/>
          </a:p>
        </p:txBody>
      </p:sp>
      <p:sp>
        <p:nvSpPr>
          <p:cNvPr id="552" name="22%">
            <a:extLst>
              <a:ext uri="{FF2B5EF4-FFF2-40B4-BE49-F238E27FC236}">
                <a16:creationId xmlns:a16="http://schemas.microsoft.com/office/drawing/2014/main" id="{1CDE1EB6-7BF1-4FEE-ACED-98014DF9FC9C}"/>
              </a:ext>
            </a:extLst>
          </p:cNvPr>
          <p:cNvSpPr>
            <a:spLocks noGrp="1"/>
          </p:cNvSpPr>
          <p:nvPr/>
        </p:nvSpPr>
        <p:spPr>
          <a:xfrm>
            <a:off x="9122292" y="2733675"/>
            <a:ext cx="147903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53" name="n=172">
            <a:extLst>
              <a:ext uri="{FF2B5EF4-FFF2-40B4-BE49-F238E27FC236}">
                <a16:creationId xmlns:a16="http://schemas.microsoft.com/office/drawing/2014/main" id="{B092F0A8-CD89-4608-90D8-E79E886073BE}"/>
              </a:ext>
            </a:extLst>
          </p:cNvPr>
          <p:cNvSpPr>
            <a:spLocks noGrp="1"/>
          </p:cNvSpPr>
          <p:nvPr/>
        </p:nvSpPr>
        <p:spPr>
          <a:xfrm>
            <a:off x="10782300" y="27241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n=172</a:t>
            </a:r>
          </a:p>
        </p:txBody>
      </p:sp>
      <p:sp>
        <p:nvSpPr>
          <p:cNvPr id="554" name="Some support">
            <a:extLst>
              <a:ext uri="{FF2B5EF4-FFF2-40B4-BE49-F238E27FC236}">
                <a16:creationId xmlns:a16="http://schemas.microsoft.com/office/drawing/2014/main" id="{B7E00B0F-6843-4F14-AE08-930521672D88}"/>
              </a:ext>
            </a:extLst>
          </p:cNvPr>
          <p:cNvSpPr>
            <a:spLocks noGrp="1"/>
          </p:cNvSpPr>
          <p:nvPr/>
        </p:nvSpPr>
        <p:spPr>
          <a:xfrm>
            <a:off x="400050" y="33909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Some support</a:t>
            </a:r>
          </a:p>
        </p:txBody>
      </p:sp>
      <p:sp>
        <p:nvSpPr>
          <p:cNvPr id="555" name="Rectangle 554">
            <a:extLst>
              <a:ext uri="{FF2B5EF4-FFF2-40B4-BE49-F238E27FC236}">
                <a16:creationId xmlns:a16="http://schemas.microsoft.com/office/drawing/2014/main" id="{B830FE8D-CAE5-4CE0-A502-BA51D16BF8EF}"/>
              </a:ext>
            </a:extLst>
          </p:cNvPr>
          <p:cNvSpPr>
            <a:spLocks noGrp="1"/>
          </p:cNvSpPr>
          <p:nvPr/>
        </p:nvSpPr>
        <p:spPr>
          <a:xfrm>
            <a:off x="3667125" y="3352800"/>
            <a:ext cx="1308545" cy="447675"/>
          </a:xfrm>
          <a:prstGeom prst="rect">
            <a:avLst/>
          </a:prstGeom>
          <a:solidFill>
            <a:srgbClr val="A83A3A"/>
          </a:solidFill>
          <a:ln w="0">
            <a:noFill/>
          </a:ln>
        </p:spPr>
        <p:txBody>
          <a:bodyPr/>
          <a:lstStyle/>
          <a:p>
            <a:endParaRPr lang="en-US"/>
          </a:p>
        </p:txBody>
      </p:sp>
      <p:sp>
        <p:nvSpPr>
          <p:cNvPr id="556" name="19%">
            <a:extLst>
              <a:ext uri="{FF2B5EF4-FFF2-40B4-BE49-F238E27FC236}">
                <a16:creationId xmlns:a16="http://schemas.microsoft.com/office/drawing/2014/main" id="{58091ECD-E5F7-4666-B3FD-1FA6BF2AC21E}"/>
              </a:ext>
            </a:extLst>
          </p:cNvPr>
          <p:cNvSpPr>
            <a:spLocks noGrp="1"/>
          </p:cNvSpPr>
          <p:nvPr/>
        </p:nvSpPr>
        <p:spPr>
          <a:xfrm>
            <a:off x="3705225" y="3457575"/>
            <a:ext cx="125139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19%</a:t>
            </a:r>
          </a:p>
        </p:txBody>
      </p:sp>
      <p:sp>
        <p:nvSpPr>
          <p:cNvPr id="557" name="Rectangle 556">
            <a:extLst>
              <a:ext uri="{FF2B5EF4-FFF2-40B4-BE49-F238E27FC236}">
                <a16:creationId xmlns:a16="http://schemas.microsoft.com/office/drawing/2014/main" id="{0C02A49D-45D1-46D3-8F2C-E69D502CB5AD}"/>
              </a:ext>
            </a:extLst>
          </p:cNvPr>
          <p:cNvSpPr>
            <a:spLocks noGrp="1"/>
          </p:cNvSpPr>
          <p:nvPr/>
        </p:nvSpPr>
        <p:spPr>
          <a:xfrm>
            <a:off x="4975670" y="3352800"/>
            <a:ext cx="2591433" cy="447675"/>
          </a:xfrm>
          <a:prstGeom prst="rect">
            <a:avLst/>
          </a:prstGeom>
          <a:solidFill>
            <a:srgbClr val="DC713D"/>
          </a:solidFill>
          <a:ln w="0">
            <a:noFill/>
          </a:ln>
        </p:spPr>
        <p:txBody>
          <a:bodyPr/>
          <a:lstStyle/>
          <a:p>
            <a:endParaRPr lang="en-US"/>
          </a:p>
        </p:txBody>
      </p:sp>
      <p:sp>
        <p:nvSpPr>
          <p:cNvPr id="558" name="37%">
            <a:extLst>
              <a:ext uri="{FF2B5EF4-FFF2-40B4-BE49-F238E27FC236}">
                <a16:creationId xmlns:a16="http://schemas.microsoft.com/office/drawing/2014/main" id="{15AEFED7-A8E5-4214-9AEC-F88FE03ECDAA}"/>
              </a:ext>
            </a:extLst>
          </p:cNvPr>
          <p:cNvSpPr>
            <a:spLocks noGrp="1"/>
          </p:cNvSpPr>
          <p:nvPr/>
        </p:nvSpPr>
        <p:spPr>
          <a:xfrm>
            <a:off x="5013770" y="3457575"/>
            <a:ext cx="253428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37%</a:t>
            </a:r>
          </a:p>
        </p:txBody>
      </p:sp>
      <p:sp>
        <p:nvSpPr>
          <p:cNvPr id="559" name="Rectangle 558">
            <a:extLst>
              <a:ext uri="{FF2B5EF4-FFF2-40B4-BE49-F238E27FC236}">
                <a16:creationId xmlns:a16="http://schemas.microsoft.com/office/drawing/2014/main" id="{585A4FDC-1DB4-450A-91B8-FD95584EE070}"/>
              </a:ext>
            </a:extLst>
          </p:cNvPr>
          <p:cNvSpPr>
            <a:spLocks noGrp="1"/>
          </p:cNvSpPr>
          <p:nvPr/>
        </p:nvSpPr>
        <p:spPr>
          <a:xfrm>
            <a:off x="7567103" y="3352800"/>
            <a:ext cx="1770385" cy="447675"/>
          </a:xfrm>
          <a:prstGeom prst="rect">
            <a:avLst/>
          </a:prstGeom>
          <a:solidFill>
            <a:srgbClr val="4C91D8"/>
          </a:solidFill>
          <a:ln w="0">
            <a:noFill/>
          </a:ln>
        </p:spPr>
        <p:txBody>
          <a:bodyPr/>
          <a:lstStyle/>
          <a:p>
            <a:endParaRPr lang="en-US"/>
          </a:p>
        </p:txBody>
      </p:sp>
      <p:sp>
        <p:nvSpPr>
          <p:cNvPr id="560" name="25%">
            <a:extLst>
              <a:ext uri="{FF2B5EF4-FFF2-40B4-BE49-F238E27FC236}">
                <a16:creationId xmlns:a16="http://schemas.microsoft.com/office/drawing/2014/main" id="{5581858B-8030-48E4-BE84-E25814135F67}"/>
              </a:ext>
            </a:extLst>
          </p:cNvPr>
          <p:cNvSpPr>
            <a:spLocks noGrp="1"/>
          </p:cNvSpPr>
          <p:nvPr/>
        </p:nvSpPr>
        <p:spPr>
          <a:xfrm>
            <a:off x="7605203" y="3457575"/>
            <a:ext cx="171323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61" name="Rectangle 560">
            <a:extLst>
              <a:ext uri="{FF2B5EF4-FFF2-40B4-BE49-F238E27FC236}">
                <a16:creationId xmlns:a16="http://schemas.microsoft.com/office/drawing/2014/main" id="{7517621A-017C-4E43-A52B-285AAD8B1588}"/>
              </a:ext>
            </a:extLst>
          </p:cNvPr>
          <p:cNvSpPr>
            <a:spLocks noGrp="1"/>
          </p:cNvSpPr>
          <p:nvPr/>
        </p:nvSpPr>
        <p:spPr>
          <a:xfrm>
            <a:off x="9337488" y="3352800"/>
            <a:ext cx="1282887" cy="447675"/>
          </a:xfrm>
          <a:prstGeom prst="rect">
            <a:avLst/>
          </a:prstGeom>
          <a:solidFill>
            <a:srgbClr val="285B9F"/>
          </a:solidFill>
          <a:ln w="0">
            <a:noFill/>
          </a:ln>
        </p:spPr>
        <p:txBody>
          <a:bodyPr/>
          <a:lstStyle/>
          <a:p>
            <a:endParaRPr lang="en-US"/>
          </a:p>
        </p:txBody>
      </p:sp>
      <p:sp>
        <p:nvSpPr>
          <p:cNvPr id="562" name="18%">
            <a:extLst>
              <a:ext uri="{FF2B5EF4-FFF2-40B4-BE49-F238E27FC236}">
                <a16:creationId xmlns:a16="http://schemas.microsoft.com/office/drawing/2014/main" id="{FD6AD43E-F2D2-4827-9C2F-2A407B979E8D}"/>
              </a:ext>
            </a:extLst>
          </p:cNvPr>
          <p:cNvSpPr>
            <a:spLocks noGrp="1"/>
          </p:cNvSpPr>
          <p:nvPr/>
        </p:nvSpPr>
        <p:spPr>
          <a:xfrm>
            <a:off x="9375588" y="3457575"/>
            <a:ext cx="122573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63" name="n=271">
            <a:extLst>
              <a:ext uri="{FF2B5EF4-FFF2-40B4-BE49-F238E27FC236}">
                <a16:creationId xmlns:a16="http://schemas.microsoft.com/office/drawing/2014/main" id="{6C58C922-2F3D-4EBF-BB43-85C3F1CF6059}"/>
              </a:ext>
            </a:extLst>
          </p:cNvPr>
          <p:cNvSpPr>
            <a:spLocks noGrp="1"/>
          </p:cNvSpPr>
          <p:nvPr/>
        </p:nvSpPr>
        <p:spPr>
          <a:xfrm>
            <a:off x="10782300" y="34480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n=271</a:t>
            </a:r>
          </a:p>
        </p:txBody>
      </p:sp>
      <p:sp>
        <p:nvSpPr>
          <p:cNvPr id="564" name="Good support">
            <a:extLst>
              <a:ext uri="{FF2B5EF4-FFF2-40B4-BE49-F238E27FC236}">
                <a16:creationId xmlns:a16="http://schemas.microsoft.com/office/drawing/2014/main" id="{7D8B9FEF-AD98-4819-A2A2-6C217508F7C1}"/>
              </a:ext>
            </a:extLst>
          </p:cNvPr>
          <p:cNvSpPr>
            <a:spLocks noGrp="1"/>
          </p:cNvSpPr>
          <p:nvPr/>
        </p:nvSpPr>
        <p:spPr>
          <a:xfrm>
            <a:off x="400050" y="41148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Good support</a:t>
            </a:r>
          </a:p>
        </p:txBody>
      </p:sp>
      <p:sp>
        <p:nvSpPr>
          <p:cNvPr id="565" name="Rectangle 564">
            <a:extLst>
              <a:ext uri="{FF2B5EF4-FFF2-40B4-BE49-F238E27FC236}">
                <a16:creationId xmlns:a16="http://schemas.microsoft.com/office/drawing/2014/main" id="{BE15EE7F-69EF-4974-87E3-7CF063E27DFE}"/>
              </a:ext>
            </a:extLst>
          </p:cNvPr>
          <p:cNvSpPr>
            <a:spLocks noGrp="1"/>
          </p:cNvSpPr>
          <p:nvPr/>
        </p:nvSpPr>
        <p:spPr>
          <a:xfrm>
            <a:off x="3667125" y="4076700"/>
            <a:ext cx="1217926" cy="447675"/>
          </a:xfrm>
          <a:prstGeom prst="rect">
            <a:avLst/>
          </a:prstGeom>
          <a:solidFill>
            <a:srgbClr val="A83A3A"/>
          </a:solidFill>
          <a:ln w="0">
            <a:noFill/>
          </a:ln>
        </p:spPr>
        <p:txBody>
          <a:bodyPr/>
          <a:lstStyle/>
          <a:p>
            <a:endParaRPr lang="en-US"/>
          </a:p>
        </p:txBody>
      </p:sp>
      <p:sp>
        <p:nvSpPr>
          <p:cNvPr id="566" name="18%">
            <a:extLst>
              <a:ext uri="{FF2B5EF4-FFF2-40B4-BE49-F238E27FC236}">
                <a16:creationId xmlns:a16="http://schemas.microsoft.com/office/drawing/2014/main" id="{4E910F36-9AE7-4BA5-9557-9817B8199CD3}"/>
              </a:ext>
            </a:extLst>
          </p:cNvPr>
          <p:cNvSpPr>
            <a:spLocks noGrp="1"/>
          </p:cNvSpPr>
          <p:nvPr/>
        </p:nvSpPr>
        <p:spPr>
          <a:xfrm>
            <a:off x="3705225" y="4181475"/>
            <a:ext cx="116077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67" name="Rectangle 566">
            <a:extLst>
              <a:ext uri="{FF2B5EF4-FFF2-40B4-BE49-F238E27FC236}">
                <a16:creationId xmlns:a16="http://schemas.microsoft.com/office/drawing/2014/main" id="{B6A27BE1-BAE0-4E5E-911E-5FA9D65F2BF0}"/>
              </a:ext>
            </a:extLst>
          </p:cNvPr>
          <p:cNvSpPr>
            <a:spLocks noGrp="1"/>
          </p:cNvSpPr>
          <p:nvPr/>
        </p:nvSpPr>
        <p:spPr>
          <a:xfrm>
            <a:off x="4885051" y="4076700"/>
            <a:ext cx="1904393" cy="447675"/>
          </a:xfrm>
          <a:prstGeom prst="rect">
            <a:avLst/>
          </a:prstGeom>
          <a:solidFill>
            <a:srgbClr val="DC713D"/>
          </a:solidFill>
          <a:ln w="0">
            <a:noFill/>
          </a:ln>
        </p:spPr>
        <p:txBody>
          <a:bodyPr/>
          <a:lstStyle/>
          <a:p>
            <a:endParaRPr lang="en-US"/>
          </a:p>
        </p:txBody>
      </p:sp>
      <p:sp>
        <p:nvSpPr>
          <p:cNvPr id="568" name="27%">
            <a:extLst>
              <a:ext uri="{FF2B5EF4-FFF2-40B4-BE49-F238E27FC236}">
                <a16:creationId xmlns:a16="http://schemas.microsoft.com/office/drawing/2014/main" id="{21F55102-44E5-4370-A933-1FD88B4BA3E5}"/>
              </a:ext>
            </a:extLst>
          </p:cNvPr>
          <p:cNvSpPr>
            <a:spLocks noGrp="1"/>
          </p:cNvSpPr>
          <p:nvPr/>
        </p:nvSpPr>
        <p:spPr>
          <a:xfrm>
            <a:off x="4923151" y="4181475"/>
            <a:ext cx="184724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69" name="Rectangle 568">
            <a:extLst>
              <a:ext uri="{FF2B5EF4-FFF2-40B4-BE49-F238E27FC236}">
                <a16:creationId xmlns:a16="http://schemas.microsoft.com/office/drawing/2014/main" id="{F032DF45-E24A-498C-97E4-7C3C470B2D59}"/>
              </a:ext>
            </a:extLst>
          </p:cNvPr>
          <p:cNvSpPr>
            <a:spLocks noGrp="1"/>
          </p:cNvSpPr>
          <p:nvPr/>
        </p:nvSpPr>
        <p:spPr>
          <a:xfrm>
            <a:off x="6789444" y="4076700"/>
            <a:ext cx="2125834" cy="447675"/>
          </a:xfrm>
          <a:prstGeom prst="rect">
            <a:avLst/>
          </a:prstGeom>
          <a:solidFill>
            <a:srgbClr val="4C91D8"/>
          </a:solidFill>
          <a:ln w="0">
            <a:noFill/>
          </a:ln>
        </p:spPr>
        <p:txBody>
          <a:bodyPr/>
          <a:lstStyle/>
          <a:p>
            <a:endParaRPr lang="en-US"/>
          </a:p>
        </p:txBody>
      </p:sp>
      <p:sp>
        <p:nvSpPr>
          <p:cNvPr id="570" name="31%">
            <a:extLst>
              <a:ext uri="{FF2B5EF4-FFF2-40B4-BE49-F238E27FC236}">
                <a16:creationId xmlns:a16="http://schemas.microsoft.com/office/drawing/2014/main" id="{2FD8DAAF-236C-4637-B387-107E94D67DB2}"/>
              </a:ext>
            </a:extLst>
          </p:cNvPr>
          <p:cNvSpPr>
            <a:spLocks noGrp="1"/>
          </p:cNvSpPr>
          <p:nvPr/>
        </p:nvSpPr>
        <p:spPr>
          <a:xfrm>
            <a:off x="6827544" y="4181475"/>
            <a:ext cx="206868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31%</a:t>
            </a:r>
          </a:p>
        </p:txBody>
      </p:sp>
      <p:sp>
        <p:nvSpPr>
          <p:cNvPr id="571" name="Rectangle 570">
            <a:extLst>
              <a:ext uri="{FF2B5EF4-FFF2-40B4-BE49-F238E27FC236}">
                <a16:creationId xmlns:a16="http://schemas.microsoft.com/office/drawing/2014/main" id="{F46D1DA7-5C30-40E9-A4FB-707630FA6514}"/>
              </a:ext>
            </a:extLst>
          </p:cNvPr>
          <p:cNvSpPr>
            <a:spLocks noGrp="1"/>
          </p:cNvSpPr>
          <p:nvPr/>
        </p:nvSpPr>
        <p:spPr>
          <a:xfrm>
            <a:off x="8915279" y="4076700"/>
            <a:ext cx="1705096" cy="447675"/>
          </a:xfrm>
          <a:prstGeom prst="rect">
            <a:avLst/>
          </a:prstGeom>
          <a:solidFill>
            <a:srgbClr val="285B9F"/>
          </a:solidFill>
          <a:ln w="0">
            <a:noFill/>
          </a:ln>
        </p:spPr>
        <p:txBody>
          <a:bodyPr/>
          <a:lstStyle/>
          <a:p>
            <a:endParaRPr lang="en-US"/>
          </a:p>
        </p:txBody>
      </p:sp>
      <p:sp>
        <p:nvSpPr>
          <p:cNvPr id="572" name="25%">
            <a:extLst>
              <a:ext uri="{FF2B5EF4-FFF2-40B4-BE49-F238E27FC236}">
                <a16:creationId xmlns:a16="http://schemas.microsoft.com/office/drawing/2014/main" id="{36771207-707B-4529-8194-667225274A1A}"/>
              </a:ext>
            </a:extLst>
          </p:cNvPr>
          <p:cNvSpPr>
            <a:spLocks noGrp="1"/>
          </p:cNvSpPr>
          <p:nvPr/>
        </p:nvSpPr>
        <p:spPr>
          <a:xfrm>
            <a:off x="8953379" y="4181475"/>
            <a:ext cx="164794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73" name="n=314">
            <a:extLst>
              <a:ext uri="{FF2B5EF4-FFF2-40B4-BE49-F238E27FC236}">
                <a16:creationId xmlns:a16="http://schemas.microsoft.com/office/drawing/2014/main" id="{BCBB3716-5D89-4926-8B26-6E0588DD3E8C}"/>
              </a:ext>
            </a:extLst>
          </p:cNvPr>
          <p:cNvSpPr>
            <a:spLocks noGrp="1"/>
          </p:cNvSpPr>
          <p:nvPr/>
        </p:nvSpPr>
        <p:spPr>
          <a:xfrm>
            <a:off x="10782300" y="41719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n=314</a:t>
            </a:r>
          </a:p>
        </p:txBody>
      </p:sp>
      <p:sp>
        <p:nvSpPr>
          <p:cNvPr id="574" name="Strong support">
            <a:extLst>
              <a:ext uri="{FF2B5EF4-FFF2-40B4-BE49-F238E27FC236}">
                <a16:creationId xmlns:a16="http://schemas.microsoft.com/office/drawing/2014/main" id="{4DB1932D-042A-4760-8E39-8F7D94262594}"/>
              </a:ext>
            </a:extLst>
          </p:cNvPr>
          <p:cNvSpPr>
            <a:spLocks noGrp="1"/>
          </p:cNvSpPr>
          <p:nvPr/>
        </p:nvSpPr>
        <p:spPr>
          <a:xfrm>
            <a:off x="400050" y="48387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Strong support</a:t>
            </a:r>
          </a:p>
        </p:txBody>
      </p:sp>
      <p:sp>
        <p:nvSpPr>
          <p:cNvPr id="575" name="Rectangle 574">
            <a:extLst>
              <a:ext uri="{FF2B5EF4-FFF2-40B4-BE49-F238E27FC236}">
                <a16:creationId xmlns:a16="http://schemas.microsoft.com/office/drawing/2014/main" id="{CE1D37DA-CA2F-4DA9-968D-26855310D7C2}"/>
              </a:ext>
            </a:extLst>
          </p:cNvPr>
          <p:cNvSpPr>
            <a:spLocks noGrp="1"/>
          </p:cNvSpPr>
          <p:nvPr/>
        </p:nvSpPr>
        <p:spPr>
          <a:xfrm>
            <a:off x="3667125" y="4800600"/>
            <a:ext cx="1522104" cy="447675"/>
          </a:xfrm>
          <a:prstGeom prst="rect">
            <a:avLst/>
          </a:prstGeom>
          <a:solidFill>
            <a:srgbClr val="A83A3A"/>
          </a:solidFill>
          <a:ln w="0">
            <a:noFill/>
          </a:ln>
        </p:spPr>
        <p:txBody>
          <a:bodyPr/>
          <a:lstStyle/>
          <a:p>
            <a:endParaRPr lang="en-US"/>
          </a:p>
        </p:txBody>
      </p:sp>
      <p:sp>
        <p:nvSpPr>
          <p:cNvPr id="576" name="22%">
            <a:extLst>
              <a:ext uri="{FF2B5EF4-FFF2-40B4-BE49-F238E27FC236}">
                <a16:creationId xmlns:a16="http://schemas.microsoft.com/office/drawing/2014/main" id="{C1B3CD1A-6567-42C2-8F01-DFB89988DEAA}"/>
              </a:ext>
            </a:extLst>
          </p:cNvPr>
          <p:cNvSpPr>
            <a:spLocks noGrp="1"/>
          </p:cNvSpPr>
          <p:nvPr/>
        </p:nvSpPr>
        <p:spPr>
          <a:xfrm>
            <a:off x="3705225" y="4905375"/>
            <a:ext cx="146495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77" name="Rectangle 576">
            <a:extLst>
              <a:ext uri="{FF2B5EF4-FFF2-40B4-BE49-F238E27FC236}">
                <a16:creationId xmlns:a16="http://schemas.microsoft.com/office/drawing/2014/main" id="{2FC0835B-691D-4614-B05F-12D4BFB986B1}"/>
              </a:ext>
            </a:extLst>
          </p:cNvPr>
          <p:cNvSpPr>
            <a:spLocks noGrp="1"/>
          </p:cNvSpPr>
          <p:nvPr/>
        </p:nvSpPr>
        <p:spPr>
          <a:xfrm>
            <a:off x="5189229" y="4800600"/>
            <a:ext cx="1798851" cy="447675"/>
          </a:xfrm>
          <a:prstGeom prst="rect">
            <a:avLst/>
          </a:prstGeom>
          <a:solidFill>
            <a:srgbClr val="DC713D"/>
          </a:solidFill>
          <a:ln w="0">
            <a:noFill/>
          </a:ln>
        </p:spPr>
        <p:txBody>
          <a:bodyPr/>
          <a:lstStyle/>
          <a:p>
            <a:endParaRPr lang="en-US"/>
          </a:p>
        </p:txBody>
      </p:sp>
      <p:sp>
        <p:nvSpPr>
          <p:cNvPr id="578" name="26%">
            <a:extLst>
              <a:ext uri="{FF2B5EF4-FFF2-40B4-BE49-F238E27FC236}">
                <a16:creationId xmlns:a16="http://schemas.microsoft.com/office/drawing/2014/main" id="{72190EC2-871C-4840-A88D-E3E67F035880}"/>
              </a:ext>
            </a:extLst>
          </p:cNvPr>
          <p:cNvSpPr>
            <a:spLocks noGrp="1"/>
          </p:cNvSpPr>
          <p:nvPr/>
        </p:nvSpPr>
        <p:spPr>
          <a:xfrm>
            <a:off x="5227329" y="4905375"/>
            <a:ext cx="174170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79" name="Rectangle 578">
            <a:extLst>
              <a:ext uri="{FF2B5EF4-FFF2-40B4-BE49-F238E27FC236}">
                <a16:creationId xmlns:a16="http://schemas.microsoft.com/office/drawing/2014/main" id="{77D1342B-CD93-4725-BEA9-F0126DAC7680}"/>
              </a:ext>
            </a:extLst>
          </p:cNvPr>
          <p:cNvSpPr>
            <a:spLocks noGrp="1"/>
          </p:cNvSpPr>
          <p:nvPr/>
        </p:nvSpPr>
        <p:spPr>
          <a:xfrm>
            <a:off x="6988080" y="4800600"/>
            <a:ext cx="1971817" cy="447675"/>
          </a:xfrm>
          <a:prstGeom prst="rect">
            <a:avLst/>
          </a:prstGeom>
          <a:solidFill>
            <a:srgbClr val="4C91D8"/>
          </a:solidFill>
          <a:ln w="0">
            <a:noFill/>
          </a:ln>
        </p:spPr>
        <p:txBody>
          <a:bodyPr/>
          <a:lstStyle/>
          <a:p>
            <a:endParaRPr lang="en-US"/>
          </a:p>
        </p:txBody>
      </p:sp>
      <p:sp>
        <p:nvSpPr>
          <p:cNvPr id="580" name="28%">
            <a:extLst>
              <a:ext uri="{FF2B5EF4-FFF2-40B4-BE49-F238E27FC236}">
                <a16:creationId xmlns:a16="http://schemas.microsoft.com/office/drawing/2014/main" id="{30BE69D9-6C49-46FE-96D5-947CA01036FD}"/>
              </a:ext>
            </a:extLst>
          </p:cNvPr>
          <p:cNvSpPr>
            <a:spLocks noGrp="1"/>
          </p:cNvSpPr>
          <p:nvPr/>
        </p:nvSpPr>
        <p:spPr>
          <a:xfrm>
            <a:off x="7026180" y="4905375"/>
            <a:ext cx="191466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81" name="Rectangle 580">
            <a:extLst>
              <a:ext uri="{FF2B5EF4-FFF2-40B4-BE49-F238E27FC236}">
                <a16:creationId xmlns:a16="http://schemas.microsoft.com/office/drawing/2014/main" id="{276E5891-B529-4F5E-B493-045F152985C8}"/>
              </a:ext>
            </a:extLst>
          </p:cNvPr>
          <p:cNvSpPr>
            <a:spLocks noGrp="1"/>
          </p:cNvSpPr>
          <p:nvPr/>
        </p:nvSpPr>
        <p:spPr>
          <a:xfrm>
            <a:off x="8959897" y="4800600"/>
            <a:ext cx="1660478" cy="447675"/>
          </a:xfrm>
          <a:prstGeom prst="rect">
            <a:avLst/>
          </a:prstGeom>
          <a:solidFill>
            <a:srgbClr val="285B9F"/>
          </a:solidFill>
          <a:ln w="0">
            <a:noFill/>
          </a:ln>
        </p:spPr>
        <p:txBody>
          <a:bodyPr/>
          <a:lstStyle/>
          <a:p>
            <a:endParaRPr lang="en-US"/>
          </a:p>
        </p:txBody>
      </p:sp>
      <p:sp>
        <p:nvSpPr>
          <p:cNvPr id="582" name="24%">
            <a:extLst>
              <a:ext uri="{FF2B5EF4-FFF2-40B4-BE49-F238E27FC236}">
                <a16:creationId xmlns:a16="http://schemas.microsoft.com/office/drawing/2014/main" id="{7162DF20-05E7-4364-8775-B8825EB8B9FB}"/>
              </a:ext>
            </a:extLst>
          </p:cNvPr>
          <p:cNvSpPr>
            <a:spLocks noGrp="1"/>
          </p:cNvSpPr>
          <p:nvPr/>
        </p:nvSpPr>
        <p:spPr>
          <a:xfrm>
            <a:off x="8997997" y="4905375"/>
            <a:ext cx="160332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83" name="n=201">
            <a:extLst>
              <a:ext uri="{FF2B5EF4-FFF2-40B4-BE49-F238E27FC236}">
                <a16:creationId xmlns:a16="http://schemas.microsoft.com/office/drawing/2014/main" id="{93100880-3DD4-4315-824E-0FA5CDA5AA9F}"/>
              </a:ext>
            </a:extLst>
          </p:cNvPr>
          <p:cNvSpPr>
            <a:spLocks noGrp="1"/>
          </p:cNvSpPr>
          <p:nvPr/>
        </p:nvSpPr>
        <p:spPr>
          <a:xfrm>
            <a:off x="10782300" y="48958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n=201</a:t>
            </a:r>
          </a:p>
        </p:txBody>
      </p:sp>
      <p:sp>
        <p:nvSpPr>
          <p:cNvPr id="584" name="Rectangle 583">
            <a:extLst>
              <a:ext uri="{FF2B5EF4-FFF2-40B4-BE49-F238E27FC236}">
                <a16:creationId xmlns:a16="http://schemas.microsoft.com/office/drawing/2014/main" id="{FCF6C6EA-1BC6-47C0-BF48-303FF3DC4408}"/>
              </a:ext>
            </a:extLst>
          </p:cNvPr>
          <p:cNvSpPr>
            <a:spLocks noGrp="1"/>
          </p:cNvSpPr>
          <p:nvPr/>
        </p:nvSpPr>
        <p:spPr>
          <a:xfrm>
            <a:off x="3667125" y="1409700"/>
            <a:ext cx="190500" cy="190500"/>
          </a:xfrm>
          <a:prstGeom prst="rect">
            <a:avLst/>
          </a:prstGeom>
          <a:solidFill>
            <a:srgbClr val="A83A3A"/>
          </a:solidFill>
          <a:ln w="0">
            <a:noFill/>
          </a:ln>
        </p:spPr>
        <p:txBody>
          <a:bodyPr/>
          <a:lstStyle/>
          <a:p>
            <a:endParaRPr lang="en-US"/>
          </a:p>
        </p:txBody>
      </p:sp>
      <p:sp>
        <p:nvSpPr>
          <p:cNvPr id="585" name="C0  &lt; 3.20">
            <a:extLst>
              <a:ext uri="{FF2B5EF4-FFF2-40B4-BE49-F238E27FC236}">
                <a16:creationId xmlns:a16="http://schemas.microsoft.com/office/drawing/2014/main" id="{5A1EFBEB-384B-4DE6-9F93-87D0FED7DC2F}"/>
              </a:ext>
            </a:extLst>
          </p:cNvPr>
          <p:cNvSpPr>
            <a:spLocks noGrp="1"/>
          </p:cNvSpPr>
          <p:nvPr/>
        </p:nvSpPr>
        <p:spPr>
          <a:xfrm>
            <a:off x="39433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C0  &lt; 3.20</a:t>
            </a:r>
          </a:p>
        </p:txBody>
      </p:sp>
      <p:sp>
        <p:nvSpPr>
          <p:cNvPr id="586" name="Rectangle 585">
            <a:extLst>
              <a:ext uri="{FF2B5EF4-FFF2-40B4-BE49-F238E27FC236}">
                <a16:creationId xmlns:a16="http://schemas.microsoft.com/office/drawing/2014/main" id="{806F7266-9161-4B26-BBDF-D81D07010070}"/>
              </a:ext>
            </a:extLst>
          </p:cNvPr>
          <p:cNvSpPr>
            <a:spLocks noGrp="1"/>
          </p:cNvSpPr>
          <p:nvPr/>
        </p:nvSpPr>
        <p:spPr>
          <a:xfrm>
            <a:off x="5476875" y="1409700"/>
            <a:ext cx="190500" cy="190500"/>
          </a:xfrm>
          <a:prstGeom prst="rect">
            <a:avLst/>
          </a:prstGeom>
          <a:solidFill>
            <a:srgbClr val="DC713D"/>
          </a:solidFill>
          <a:ln w="0">
            <a:noFill/>
          </a:ln>
        </p:spPr>
        <p:txBody>
          <a:bodyPr/>
          <a:lstStyle/>
          <a:p>
            <a:endParaRPr lang="en-US"/>
          </a:p>
        </p:txBody>
      </p:sp>
      <p:sp>
        <p:nvSpPr>
          <p:cNvPr id="587" name="C1  3.20–3.49">
            <a:extLst>
              <a:ext uri="{FF2B5EF4-FFF2-40B4-BE49-F238E27FC236}">
                <a16:creationId xmlns:a16="http://schemas.microsoft.com/office/drawing/2014/main" id="{76B9B6C4-B86A-4234-A60F-C5E6302CFB7C}"/>
              </a:ext>
            </a:extLst>
          </p:cNvPr>
          <p:cNvSpPr>
            <a:spLocks noGrp="1"/>
          </p:cNvSpPr>
          <p:nvPr/>
        </p:nvSpPr>
        <p:spPr>
          <a:xfrm>
            <a:off x="57531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C1  3.20–3.49</a:t>
            </a:r>
          </a:p>
        </p:txBody>
      </p:sp>
      <p:sp>
        <p:nvSpPr>
          <p:cNvPr id="588" name="Rectangle 587">
            <a:extLst>
              <a:ext uri="{FF2B5EF4-FFF2-40B4-BE49-F238E27FC236}">
                <a16:creationId xmlns:a16="http://schemas.microsoft.com/office/drawing/2014/main" id="{0B7E115B-C96E-4694-BEA7-FED612AD2B61}"/>
              </a:ext>
            </a:extLst>
          </p:cNvPr>
          <p:cNvSpPr>
            <a:spLocks noGrp="1"/>
          </p:cNvSpPr>
          <p:nvPr/>
        </p:nvSpPr>
        <p:spPr>
          <a:xfrm>
            <a:off x="7286625" y="1409700"/>
            <a:ext cx="190500" cy="190500"/>
          </a:xfrm>
          <a:prstGeom prst="rect">
            <a:avLst/>
          </a:prstGeom>
          <a:solidFill>
            <a:srgbClr val="4C91D8"/>
          </a:solidFill>
          <a:ln w="0">
            <a:noFill/>
          </a:ln>
        </p:spPr>
        <p:txBody>
          <a:bodyPr/>
          <a:lstStyle/>
          <a:p>
            <a:endParaRPr lang="en-US"/>
          </a:p>
        </p:txBody>
      </p:sp>
      <p:sp>
        <p:nvSpPr>
          <p:cNvPr id="589" name="C2  3.50–3.74">
            <a:extLst>
              <a:ext uri="{FF2B5EF4-FFF2-40B4-BE49-F238E27FC236}">
                <a16:creationId xmlns:a16="http://schemas.microsoft.com/office/drawing/2014/main" id="{6E9DFA9E-3B16-43F8-B79D-E22189D40FAB}"/>
              </a:ext>
            </a:extLst>
          </p:cNvPr>
          <p:cNvSpPr>
            <a:spLocks noGrp="1"/>
          </p:cNvSpPr>
          <p:nvPr/>
        </p:nvSpPr>
        <p:spPr>
          <a:xfrm>
            <a:off x="75628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C2  3.50–3.74</a:t>
            </a:r>
          </a:p>
        </p:txBody>
      </p:sp>
      <p:sp>
        <p:nvSpPr>
          <p:cNvPr id="590" name="Rectangle 589">
            <a:extLst>
              <a:ext uri="{FF2B5EF4-FFF2-40B4-BE49-F238E27FC236}">
                <a16:creationId xmlns:a16="http://schemas.microsoft.com/office/drawing/2014/main" id="{39E44298-AEA9-43FE-9D5A-D1BADF2224F3}"/>
              </a:ext>
            </a:extLst>
          </p:cNvPr>
          <p:cNvSpPr>
            <a:spLocks noGrp="1"/>
          </p:cNvSpPr>
          <p:nvPr/>
        </p:nvSpPr>
        <p:spPr>
          <a:xfrm>
            <a:off x="9096375" y="1409700"/>
            <a:ext cx="190500" cy="190500"/>
          </a:xfrm>
          <a:prstGeom prst="rect">
            <a:avLst/>
          </a:prstGeom>
          <a:solidFill>
            <a:srgbClr val="285B9F"/>
          </a:solidFill>
          <a:ln w="0">
            <a:noFill/>
          </a:ln>
        </p:spPr>
        <p:txBody>
          <a:bodyPr/>
          <a:lstStyle/>
          <a:p>
            <a:endParaRPr lang="en-US"/>
          </a:p>
        </p:txBody>
      </p:sp>
      <p:sp>
        <p:nvSpPr>
          <p:cNvPr id="591" name="C3  ≥ 3.75">
            <a:extLst>
              <a:ext uri="{FF2B5EF4-FFF2-40B4-BE49-F238E27FC236}">
                <a16:creationId xmlns:a16="http://schemas.microsoft.com/office/drawing/2014/main" id="{9628939C-5E31-43EF-81BC-7A945B8974DD}"/>
              </a:ext>
            </a:extLst>
          </p:cNvPr>
          <p:cNvSpPr>
            <a:spLocks noGrp="1"/>
          </p:cNvSpPr>
          <p:nvPr/>
        </p:nvSpPr>
        <p:spPr>
          <a:xfrm>
            <a:off x="93726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C3  ≥ 3.75</a:t>
            </a:r>
          </a:p>
        </p:txBody>
      </p:sp>
      <p:cxnSp>
        <p:nvCxnSpPr>
          <p:cNvPr id="2" name="Straight Arrow Connector 1">
            <a:extLst>
              <a:ext uri="{FF2B5EF4-FFF2-40B4-BE49-F238E27FC236}">
                <a16:creationId xmlns:a16="http://schemas.microsoft.com/office/drawing/2014/main" id="{EC9CC2F0-BB95-4644-2374-B7E59F7A76EB}"/>
              </a:ext>
            </a:extLst>
          </p:cNvPr>
          <p:cNvCxnSpPr>
            <a:cxnSpLocks/>
          </p:cNvCxnSpPr>
          <p:nvPr/>
        </p:nvCxnSpPr>
        <p:spPr>
          <a:xfrm>
            <a:off x="204107" y="5763986"/>
            <a:ext cx="105781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9D2B13A4-70D4-F6D9-3879-0BB68DEC1C85}"/>
              </a:ext>
            </a:extLst>
          </p:cNvPr>
          <p:cNvCxnSpPr>
            <a:cxnSpLocks/>
          </p:cNvCxnSpPr>
          <p:nvPr/>
        </p:nvCxnSpPr>
        <p:spPr>
          <a:xfrm flipV="1">
            <a:off x="356507" y="971550"/>
            <a:ext cx="0" cy="4944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5DA3E04C-6E72-EA71-F413-E3FAB419103F}"/>
              </a:ext>
            </a:extLst>
          </p:cNvPr>
          <p:cNvSpPr txBox="1"/>
          <p:nvPr/>
        </p:nvSpPr>
        <p:spPr>
          <a:xfrm>
            <a:off x="5532723" y="5787509"/>
            <a:ext cx="821572" cy="369332"/>
          </a:xfrm>
          <a:prstGeom prst="rect">
            <a:avLst/>
          </a:prstGeom>
          <a:noFill/>
        </p:spPr>
        <p:txBody>
          <a:bodyPr wrap="none" rtlCol="0">
            <a:spAutoFit/>
          </a:bodyPr>
          <a:lstStyle/>
          <a:p>
            <a:r>
              <a:rPr lang="en-US" dirty="0"/>
              <a:t>CGPA</a:t>
            </a:r>
          </a:p>
        </p:txBody>
      </p:sp>
      <p:sp>
        <p:nvSpPr>
          <p:cNvPr id="5" name="TextBox 4">
            <a:extLst>
              <a:ext uri="{FF2B5EF4-FFF2-40B4-BE49-F238E27FC236}">
                <a16:creationId xmlns:a16="http://schemas.microsoft.com/office/drawing/2014/main" id="{88E328D4-2A91-0362-7CCC-7C8C7F82F7B6}"/>
              </a:ext>
            </a:extLst>
          </p:cNvPr>
          <p:cNvSpPr txBox="1"/>
          <p:nvPr/>
        </p:nvSpPr>
        <p:spPr>
          <a:xfrm rot="16200000">
            <a:off x="-652800" y="2715997"/>
            <a:ext cx="1736373" cy="369332"/>
          </a:xfrm>
          <a:prstGeom prst="rect">
            <a:avLst/>
          </a:prstGeom>
          <a:noFill/>
        </p:spPr>
        <p:txBody>
          <a:bodyPr wrap="none" rtlCol="0">
            <a:spAutoFit/>
          </a:bodyPr>
          <a:lstStyle/>
          <a:p>
            <a:r>
              <a:rPr lang="en-US" dirty="0"/>
              <a:t>Family Support</a:t>
            </a:r>
          </a:p>
        </p:txBody>
      </p:sp>
    </p:spTree>
    <p:extLst>
      <p:ext uri="{BB962C8B-B14F-4D97-AF65-F5344CB8AC3E}">
        <p14:creationId xmlns:p14="http://schemas.microsoft.com/office/powerpoint/2010/main" val="14795425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26</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Study environment and CGPA</a:t>
            </a:r>
          </a:p>
        </p:txBody>
      </p:sp>
      <p:sp>
        <p:nvSpPr>
          <p:cNvPr id="534" name="Very distracting">
            <a:extLst>
              <a:ext uri="{FF2B5EF4-FFF2-40B4-BE49-F238E27FC236}">
                <a16:creationId xmlns:a16="http://schemas.microsoft.com/office/drawing/2014/main" id="{3C6762E4-36B0-4625-ADF0-3420C9EA6070}"/>
              </a:ext>
            </a:extLst>
          </p:cNvPr>
          <p:cNvSpPr>
            <a:spLocks noGrp="1"/>
          </p:cNvSpPr>
          <p:nvPr/>
        </p:nvSpPr>
        <p:spPr>
          <a:xfrm>
            <a:off x="400050" y="19431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Very distracting</a:t>
            </a:r>
          </a:p>
        </p:txBody>
      </p:sp>
      <p:sp>
        <p:nvSpPr>
          <p:cNvPr id="535" name="Rectangle 534">
            <a:extLst>
              <a:ext uri="{FF2B5EF4-FFF2-40B4-BE49-F238E27FC236}">
                <a16:creationId xmlns:a16="http://schemas.microsoft.com/office/drawing/2014/main" id="{12D9992D-F387-40DC-A966-5B6A25DBBF45}"/>
              </a:ext>
            </a:extLst>
          </p:cNvPr>
          <p:cNvSpPr>
            <a:spLocks noGrp="1"/>
          </p:cNvSpPr>
          <p:nvPr/>
        </p:nvSpPr>
        <p:spPr>
          <a:xfrm>
            <a:off x="3667125" y="1905000"/>
            <a:ext cx="2090520" cy="447675"/>
          </a:xfrm>
          <a:prstGeom prst="rect">
            <a:avLst/>
          </a:prstGeom>
          <a:solidFill>
            <a:srgbClr val="A83A3A"/>
          </a:solidFill>
          <a:ln w="0">
            <a:noFill/>
          </a:ln>
        </p:spPr>
        <p:txBody>
          <a:bodyPr/>
          <a:lstStyle/>
          <a:p>
            <a:endParaRPr lang="en-US"/>
          </a:p>
        </p:txBody>
      </p:sp>
      <p:sp>
        <p:nvSpPr>
          <p:cNvPr id="536" name="30%">
            <a:extLst>
              <a:ext uri="{FF2B5EF4-FFF2-40B4-BE49-F238E27FC236}">
                <a16:creationId xmlns:a16="http://schemas.microsoft.com/office/drawing/2014/main" id="{F769A0F2-11B7-45BE-B96A-0ED7E65B826B}"/>
              </a:ext>
            </a:extLst>
          </p:cNvPr>
          <p:cNvSpPr>
            <a:spLocks noGrp="1"/>
          </p:cNvSpPr>
          <p:nvPr/>
        </p:nvSpPr>
        <p:spPr>
          <a:xfrm>
            <a:off x="3705225" y="2009775"/>
            <a:ext cx="203337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30%</a:t>
            </a:r>
          </a:p>
        </p:txBody>
      </p:sp>
      <p:sp>
        <p:nvSpPr>
          <p:cNvPr id="537" name="Rectangle 536">
            <a:extLst>
              <a:ext uri="{FF2B5EF4-FFF2-40B4-BE49-F238E27FC236}">
                <a16:creationId xmlns:a16="http://schemas.microsoft.com/office/drawing/2014/main" id="{12E56304-C6A4-4349-8CEA-38190A68270E}"/>
              </a:ext>
            </a:extLst>
          </p:cNvPr>
          <p:cNvSpPr>
            <a:spLocks noGrp="1"/>
          </p:cNvSpPr>
          <p:nvPr/>
        </p:nvSpPr>
        <p:spPr>
          <a:xfrm>
            <a:off x="5757645" y="1905000"/>
            <a:ext cx="1636059" cy="447675"/>
          </a:xfrm>
          <a:prstGeom prst="rect">
            <a:avLst/>
          </a:prstGeom>
          <a:solidFill>
            <a:srgbClr val="DC713D"/>
          </a:solidFill>
          <a:ln w="0">
            <a:noFill/>
          </a:ln>
        </p:spPr>
        <p:txBody>
          <a:bodyPr/>
          <a:lstStyle/>
          <a:p>
            <a:endParaRPr lang="en-US"/>
          </a:p>
        </p:txBody>
      </p:sp>
      <p:sp>
        <p:nvSpPr>
          <p:cNvPr id="538" name="24%">
            <a:extLst>
              <a:ext uri="{FF2B5EF4-FFF2-40B4-BE49-F238E27FC236}">
                <a16:creationId xmlns:a16="http://schemas.microsoft.com/office/drawing/2014/main" id="{3FE33EB8-FC2B-4B0E-8DAF-62CE8E544D9A}"/>
              </a:ext>
            </a:extLst>
          </p:cNvPr>
          <p:cNvSpPr>
            <a:spLocks noGrp="1"/>
          </p:cNvSpPr>
          <p:nvPr/>
        </p:nvSpPr>
        <p:spPr>
          <a:xfrm>
            <a:off x="5795745" y="2009775"/>
            <a:ext cx="1578909"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39" name="Rectangle 538">
            <a:extLst>
              <a:ext uri="{FF2B5EF4-FFF2-40B4-BE49-F238E27FC236}">
                <a16:creationId xmlns:a16="http://schemas.microsoft.com/office/drawing/2014/main" id="{487D883A-8E25-4AF7-B2BE-2ACC198C23D9}"/>
              </a:ext>
            </a:extLst>
          </p:cNvPr>
          <p:cNvSpPr>
            <a:spLocks noGrp="1"/>
          </p:cNvSpPr>
          <p:nvPr/>
        </p:nvSpPr>
        <p:spPr>
          <a:xfrm>
            <a:off x="7393703" y="1905000"/>
            <a:ext cx="1590613" cy="447675"/>
          </a:xfrm>
          <a:prstGeom prst="rect">
            <a:avLst/>
          </a:prstGeom>
          <a:solidFill>
            <a:srgbClr val="4C91D8"/>
          </a:solidFill>
          <a:ln w="0">
            <a:noFill/>
          </a:ln>
        </p:spPr>
        <p:txBody>
          <a:bodyPr/>
          <a:lstStyle/>
          <a:p>
            <a:endParaRPr lang="en-US"/>
          </a:p>
        </p:txBody>
      </p:sp>
      <p:sp>
        <p:nvSpPr>
          <p:cNvPr id="540" name="23%">
            <a:extLst>
              <a:ext uri="{FF2B5EF4-FFF2-40B4-BE49-F238E27FC236}">
                <a16:creationId xmlns:a16="http://schemas.microsoft.com/office/drawing/2014/main" id="{A39A8C17-28E5-4970-AFF3-AD822EA23E9D}"/>
              </a:ext>
            </a:extLst>
          </p:cNvPr>
          <p:cNvSpPr>
            <a:spLocks noGrp="1"/>
          </p:cNvSpPr>
          <p:nvPr/>
        </p:nvSpPr>
        <p:spPr>
          <a:xfrm>
            <a:off x="7431803" y="2009775"/>
            <a:ext cx="153346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23%</a:t>
            </a:r>
          </a:p>
        </p:txBody>
      </p:sp>
      <p:sp>
        <p:nvSpPr>
          <p:cNvPr id="541" name="Rectangle 540">
            <a:extLst>
              <a:ext uri="{FF2B5EF4-FFF2-40B4-BE49-F238E27FC236}">
                <a16:creationId xmlns:a16="http://schemas.microsoft.com/office/drawing/2014/main" id="{F96780B4-8227-448A-B078-26851FE5C660}"/>
              </a:ext>
            </a:extLst>
          </p:cNvPr>
          <p:cNvSpPr>
            <a:spLocks noGrp="1"/>
          </p:cNvSpPr>
          <p:nvPr/>
        </p:nvSpPr>
        <p:spPr>
          <a:xfrm>
            <a:off x="8984316" y="1905000"/>
            <a:ext cx="1636059" cy="447675"/>
          </a:xfrm>
          <a:prstGeom prst="rect">
            <a:avLst/>
          </a:prstGeom>
          <a:solidFill>
            <a:srgbClr val="285B9F"/>
          </a:solidFill>
          <a:ln w="0">
            <a:noFill/>
          </a:ln>
        </p:spPr>
        <p:txBody>
          <a:bodyPr/>
          <a:lstStyle/>
          <a:p>
            <a:endParaRPr lang="en-US"/>
          </a:p>
        </p:txBody>
      </p:sp>
      <p:sp>
        <p:nvSpPr>
          <p:cNvPr id="542" name="24%">
            <a:extLst>
              <a:ext uri="{FF2B5EF4-FFF2-40B4-BE49-F238E27FC236}">
                <a16:creationId xmlns:a16="http://schemas.microsoft.com/office/drawing/2014/main" id="{60EE6C17-A886-46B8-95AF-F2BC2C2CCC86}"/>
              </a:ext>
            </a:extLst>
          </p:cNvPr>
          <p:cNvSpPr>
            <a:spLocks noGrp="1"/>
          </p:cNvSpPr>
          <p:nvPr/>
        </p:nvSpPr>
        <p:spPr>
          <a:xfrm>
            <a:off x="9022416" y="2009775"/>
            <a:ext cx="1578909"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43" name="n=153">
            <a:extLst>
              <a:ext uri="{FF2B5EF4-FFF2-40B4-BE49-F238E27FC236}">
                <a16:creationId xmlns:a16="http://schemas.microsoft.com/office/drawing/2014/main" id="{FF65287A-93A2-4C3C-B5AE-D3545BAF0579}"/>
              </a:ext>
            </a:extLst>
          </p:cNvPr>
          <p:cNvSpPr>
            <a:spLocks noGrp="1"/>
          </p:cNvSpPr>
          <p:nvPr/>
        </p:nvSpPr>
        <p:spPr>
          <a:xfrm>
            <a:off x="10782300" y="20002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n=153</a:t>
            </a:r>
          </a:p>
        </p:txBody>
      </p:sp>
      <p:sp>
        <p:nvSpPr>
          <p:cNvPr id="544" name="Somewhat distracting">
            <a:extLst>
              <a:ext uri="{FF2B5EF4-FFF2-40B4-BE49-F238E27FC236}">
                <a16:creationId xmlns:a16="http://schemas.microsoft.com/office/drawing/2014/main" id="{827FDE7C-ADA8-44CB-B33B-7AA09759391D}"/>
              </a:ext>
            </a:extLst>
          </p:cNvPr>
          <p:cNvSpPr>
            <a:spLocks noGrp="1"/>
          </p:cNvSpPr>
          <p:nvPr/>
        </p:nvSpPr>
        <p:spPr>
          <a:xfrm>
            <a:off x="400050" y="26670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Somewhat distracting</a:t>
            </a:r>
          </a:p>
        </p:txBody>
      </p:sp>
      <p:sp>
        <p:nvSpPr>
          <p:cNvPr id="545" name="Rectangle 544">
            <a:extLst>
              <a:ext uri="{FF2B5EF4-FFF2-40B4-BE49-F238E27FC236}">
                <a16:creationId xmlns:a16="http://schemas.microsoft.com/office/drawing/2014/main" id="{BA27ADC3-99A7-4161-BD30-F390590A4914}"/>
              </a:ext>
            </a:extLst>
          </p:cNvPr>
          <p:cNvSpPr>
            <a:spLocks noGrp="1"/>
          </p:cNvSpPr>
          <p:nvPr/>
        </p:nvSpPr>
        <p:spPr>
          <a:xfrm>
            <a:off x="3667125" y="2628900"/>
            <a:ext cx="1465820" cy="447675"/>
          </a:xfrm>
          <a:prstGeom prst="rect">
            <a:avLst/>
          </a:prstGeom>
          <a:solidFill>
            <a:srgbClr val="A83A3A"/>
          </a:solidFill>
          <a:ln w="0">
            <a:noFill/>
          </a:ln>
        </p:spPr>
        <p:txBody>
          <a:bodyPr/>
          <a:lstStyle/>
          <a:p>
            <a:endParaRPr lang="en-US"/>
          </a:p>
        </p:txBody>
      </p:sp>
      <p:sp>
        <p:nvSpPr>
          <p:cNvPr id="546" name="21%">
            <a:extLst>
              <a:ext uri="{FF2B5EF4-FFF2-40B4-BE49-F238E27FC236}">
                <a16:creationId xmlns:a16="http://schemas.microsoft.com/office/drawing/2014/main" id="{9F073EE8-B3B4-497E-8107-2AADF38562B0}"/>
              </a:ext>
            </a:extLst>
          </p:cNvPr>
          <p:cNvSpPr>
            <a:spLocks noGrp="1"/>
          </p:cNvSpPr>
          <p:nvPr/>
        </p:nvSpPr>
        <p:spPr>
          <a:xfrm>
            <a:off x="3705225" y="2733675"/>
            <a:ext cx="140867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21%</a:t>
            </a:r>
          </a:p>
        </p:txBody>
      </p:sp>
      <p:sp>
        <p:nvSpPr>
          <p:cNvPr id="547" name="Rectangle 546">
            <a:extLst>
              <a:ext uri="{FF2B5EF4-FFF2-40B4-BE49-F238E27FC236}">
                <a16:creationId xmlns:a16="http://schemas.microsoft.com/office/drawing/2014/main" id="{6F6C5BAE-BA07-406C-A3E4-465CF76C53EF}"/>
              </a:ext>
            </a:extLst>
          </p:cNvPr>
          <p:cNvSpPr>
            <a:spLocks noGrp="1"/>
          </p:cNvSpPr>
          <p:nvPr/>
        </p:nvSpPr>
        <p:spPr>
          <a:xfrm>
            <a:off x="5132945" y="2628900"/>
            <a:ext cx="2142353" cy="447675"/>
          </a:xfrm>
          <a:prstGeom prst="rect">
            <a:avLst/>
          </a:prstGeom>
          <a:solidFill>
            <a:srgbClr val="DC713D"/>
          </a:solidFill>
          <a:ln w="0">
            <a:noFill/>
          </a:ln>
        </p:spPr>
        <p:txBody>
          <a:bodyPr/>
          <a:lstStyle/>
          <a:p>
            <a:endParaRPr lang="en-US"/>
          </a:p>
        </p:txBody>
      </p:sp>
      <p:sp>
        <p:nvSpPr>
          <p:cNvPr id="548" name="31%">
            <a:extLst>
              <a:ext uri="{FF2B5EF4-FFF2-40B4-BE49-F238E27FC236}">
                <a16:creationId xmlns:a16="http://schemas.microsoft.com/office/drawing/2014/main" id="{EF8C5ABA-9F84-4568-BC2D-5F365A223D76}"/>
              </a:ext>
            </a:extLst>
          </p:cNvPr>
          <p:cNvSpPr>
            <a:spLocks noGrp="1"/>
          </p:cNvSpPr>
          <p:nvPr/>
        </p:nvSpPr>
        <p:spPr>
          <a:xfrm>
            <a:off x="5171045" y="2733675"/>
            <a:ext cx="208520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31%</a:t>
            </a:r>
          </a:p>
        </p:txBody>
      </p:sp>
      <p:sp>
        <p:nvSpPr>
          <p:cNvPr id="549" name="Rectangle 548">
            <a:extLst>
              <a:ext uri="{FF2B5EF4-FFF2-40B4-BE49-F238E27FC236}">
                <a16:creationId xmlns:a16="http://schemas.microsoft.com/office/drawing/2014/main" id="{FD25CC75-749A-4776-8BED-8C33E9C39F60}"/>
              </a:ext>
            </a:extLst>
          </p:cNvPr>
          <p:cNvSpPr>
            <a:spLocks noGrp="1"/>
          </p:cNvSpPr>
          <p:nvPr/>
        </p:nvSpPr>
        <p:spPr>
          <a:xfrm>
            <a:off x="7275298" y="2628900"/>
            <a:ext cx="1653746" cy="447675"/>
          </a:xfrm>
          <a:prstGeom prst="rect">
            <a:avLst/>
          </a:prstGeom>
          <a:solidFill>
            <a:srgbClr val="4C91D8"/>
          </a:solidFill>
          <a:ln w="0">
            <a:noFill/>
          </a:ln>
        </p:spPr>
        <p:txBody>
          <a:bodyPr/>
          <a:lstStyle/>
          <a:p>
            <a:endParaRPr lang="en-US"/>
          </a:p>
        </p:txBody>
      </p:sp>
      <p:sp>
        <p:nvSpPr>
          <p:cNvPr id="550" name="24%">
            <a:extLst>
              <a:ext uri="{FF2B5EF4-FFF2-40B4-BE49-F238E27FC236}">
                <a16:creationId xmlns:a16="http://schemas.microsoft.com/office/drawing/2014/main" id="{B6204180-D0AD-4E12-BDC8-265E032A92D7}"/>
              </a:ext>
            </a:extLst>
          </p:cNvPr>
          <p:cNvSpPr>
            <a:spLocks noGrp="1"/>
          </p:cNvSpPr>
          <p:nvPr/>
        </p:nvSpPr>
        <p:spPr>
          <a:xfrm>
            <a:off x="7313398" y="2733675"/>
            <a:ext cx="159659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51" name="Rectangle 550">
            <a:extLst>
              <a:ext uri="{FF2B5EF4-FFF2-40B4-BE49-F238E27FC236}">
                <a16:creationId xmlns:a16="http://schemas.microsoft.com/office/drawing/2014/main" id="{9AD147B4-4BAB-4269-903C-153B76FC0E77}"/>
              </a:ext>
            </a:extLst>
          </p:cNvPr>
          <p:cNvSpPr>
            <a:spLocks noGrp="1"/>
          </p:cNvSpPr>
          <p:nvPr/>
        </p:nvSpPr>
        <p:spPr>
          <a:xfrm>
            <a:off x="8929044" y="2628900"/>
            <a:ext cx="1691331" cy="447675"/>
          </a:xfrm>
          <a:prstGeom prst="rect">
            <a:avLst/>
          </a:prstGeom>
          <a:solidFill>
            <a:srgbClr val="285B9F"/>
          </a:solidFill>
          <a:ln w="0">
            <a:noFill/>
          </a:ln>
        </p:spPr>
        <p:txBody>
          <a:bodyPr/>
          <a:lstStyle/>
          <a:p>
            <a:endParaRPr lang="en-US"/>
          </a:p>
        </p:txBody>
      </p:sp>
      <p:sp>
        <p:nvSpPr>
          <p:cNvPr id="552" name="24%">
            <a:extLst>
              <a:ext uri="{FF2B5EF4-FFF2-40B4-BE49-F238E27FC236}">
                <a16:creationId xmlns:a16="http://schemas.microsoft.com/office/drawing/2014/main" id="{DB2DF94A-BB63-4115-9A35-72378E04DF2E}"/>
              </a:ext>
            </a:extLst>
          </p:cNvPr>
          <p:cNvSpPr>
            <a:spLocks noGrp="1"/>
          </p:cNvSpPr>
          <p:nvPr/>
        </p:nvSpPr>
        <p:spPr>
          <a:xfrm>
            <a:off x="8967144" y="2733675"/>
            <a:ext cx="163418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53" name="n=185">
            <a:extLst>
              <a:ext uri="{FF2B5EF4-FFF2-40B4-BE49-F238E27FC236}">
                <a16:creationId xmlns:a16="http://schemas.microsoft.com/office/drawing/2014/main" id="{273001DA-0323-404C-8EB8-A38E583B0F68}"/>
              </a:ext>
            </a:extLst>
          </p:cNvPr>
          <p:cNvSpPr>
            <a:spLocks noGrp="1"/>
          </p:cNvSpPr>
          <p:nvPr/>
        </p:nvSpPr>
        <p:spPr>
          <a:xfrm>
            <a:off x="10782300" y="27241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n=185</a:t>
            </a:r>
          </a:p>
        </p:txBody>
      </p:sp>
      <p:sp>
        <p:nvSpPr>
          <p:cNvPr id="554" name="Neither good nor bad">
            <a:extLst>
              <a:ext uri="{FF2B5EF4-FFF2-40B4-BE49-F238E27FC236}">
                <a16:creationId xmlns:a16="http://schemas.microsoft.com/office/drawing/2014/main" id="{A4673D16-A0D1-483B-9492-B36D6BAC3141}"/>
              </a:ext>
            </a:extLst>
          </p:cNvPr>
          <p:cNvSpPr>
            <a:spLocks noGrp="1"/>
          </p:cNvSpPr>
          <p:nvPr/>
        </p:nvSpPr>
        <p:spPr>
          <a:xfrm>
            <a:off x="400050" y="33909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Neither good nor bad</a:t>
            </a:r>
          </a:p>
        </p:txBody>
      </p:sp>
      <p:sp>
        <p:nvSpPr>
          <p:cNvPr id="555" name="Rectangle 554">
            <a:extLst>
              <a:ext uri="{FF2B5EF4-FFF2-40B4-BE49-F238E27FC236}">
                <a16:creationId xmlns:a16="http://schemas.microsoft.com/office/drawing/2014/main" id="{46276AD3-C576-48CA-91E5-5290A5B0E839}"/>
              </a:ext>
            </a:extLst>
          </p:cNvPr>
          <p:cNvSpPr>
            <a:spLocks noGrp="1"/>
          </p:cNvSpPr>
          <p:nvPr/>
        </p:nvSpPr>
        <p:spPr>
          <a:xfrm>
            <a:off x="3667125" y="3352800"/>
            <a:ext cx="1254722" cy="447675"/>
          </a:xfrm>
          <a:prstGeom prst="rect">
            <a:avLst/>
          </a:prstGeom>
          <a:solidFill>
            <a:srgbClr val="A83A3A"/>
          </a:solidFill>
          <a:ln w="0">
            <a:noFill/>
          </a:ln>
        </p:spPr>
        <p:txBody>
          <a:bodyPr/>
          <a:lstStyle/>
          <a:p>
            <a:endParaRPr lang="en-US"/>
          </a:p>
        </p:txBody>
      </p:sp>
      <p:sp>
        <p:nvSpPr>
          <p:cNvPr id="556" name="18%">
            <a:extLst>
              <a:ext uri="{FF2B5EF4-FFF2-40B4-BE49-F238E27FC236}">
                <a16:creationId xmlns:a16="http://schemas.microsoft.com/office/drawing/2014/main" id="{D5D9D6AB-6647-4FB7-81AE-72E3884BAF47}"/>
              </a:ext>
            </a:extLst>
          </p:cNvPr>
          <p:cNvSpPr>
            <a:spLocks noGrp="1"/>
          </p:cNvSpPr>
          <p:nvPr/>
        </p:nvSpPr>
        <p:spPr>
          <a:xfrm>
            <a:off x="3705225" y="3457575"/>
            <a:ext cx="119757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57" name="Rectangle 556">
            <a:extLst>
              <a:ext uri="{FF2B5EF4-FFF2-40B4-BE49-F238E27FC236}">
                <a16:creationId xmlns:a16="http://schemas.microsoft.com/office/drawing/2014/main" id="{1FFAC337-5C31-4DF6-9D36-00EFB3956B16}"/>
              </a:ext>
            </a:extLst>
          </p:cNvPr>
          <p:cNvSpPr>
            <a:spLocks noGrp="1"/>
          </p:cNvSpPr>
          <p:nvPr/>
        </p:nvSpPr>
        <p:spPr>
          <a:xfrm>
            <a:off x="4921847" y="3352800"/>
            <a:ext cx="2274183" cy="447675"/>
          </a:xfrm>
          <a:prstGeom prst="rect">
            <a:avLst/>
          </a:prstGeom>
          <a:solidFill>
            <a:srgbClr val="DC713D"/>
          </a:solidFill>
          <a:ln w="0">
            <a:noFill/>
          </a:ln>
        </p:spPr>
        <p:txBody>
          <a:bodyPr/>
          <a:lstStyle/>
          <a:p>
            <a:endParaRPr lang="en-US"/>
          </a:p>
        </p:txBody>
      </p:sp>
      <p:sp>
        <p:nvSpPr>
          <p:cNvPr id="558" name="33%">
            <a:extLst>
              <a:ext uri="{FF2B5EF4-FFF2-40B4-BE49-F238E27FC236}">
                <a16:creationId xmlns:a16="http://schemas.microsoft.com/office/drawing/2014/main" id="{7B29B3D2-F8E5-4C06-8E66-A1845328D11B}"/>
              </a:ext>
            </a:extLst>
          </p:cNvPr>
          <p:cNvSpPr>
            <a:spLocks noGrp="1"/>
          </p:cNvSpPr>
          <p:nvPr/>
        </p:nvSpPr>
        <p:spPr>
          <a:xfrm>
            <a:off x="4959947" y="3457575"/>
            <a:ext cx="221703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33%</a:t>
            </a:r>
          </a:p>
        </p:txBody>
      </p:sp>
      <p:sp>
        <p:nvSpPr>
          <p:cNvPr id="559" name="Rectangle 558">
            <a:extLst>
              <a:ext uri="{FF2B5EF4-FFF2-40B4-BE49-F238E27FC236}">
                <a16:creationId xmlns:a16="http://schemas.microsoft.com/office/drawing/2014/main" id="{14B45D88-03DB-404B-A3FB-7966626E6887}"/>
              </a:ext>
            </a:extLst>
          </p:cNvPr>
          <p:cNvSpPr>
            <a:spLocks noGrp="1"/>
          </p:cNvSpPr>
          <p:nvPr/>
        </p:nvSpPr>
        <p:spPr>
          <a:xfrm>
            <a:off x="7196030" y="3352800"/>
            <a:ext cx="1986643" cy="447675"/>
          </a:xfrm>
          <a:prstGeom prst="rect">
            <a:avLst/>
          </a:prstGeom>
          <a:solidFill>
            <a:srgbClr val="4C91D8"/>
          </a:solidFill>
          <a:ln w="0">
            <a:noFill/>
          </a:ln>
        </p:spPr>
        <p:txBody>
          <a:bodyPr/>
          <a:lstStyle/>
          <a:p>
            <a:endParaRPr lang="en-US"/>
          </a:p>
        </p:txBody>
      </p:sp>
      <p:sp>
        <p:nvSpPr>
          <p:cNvPr id="560" name="29%">
            <a:extLst>
              <a:ext uri="{FF2B5EF4-FFF2-40B4-BE49-F238E27FC236}">
                <a16:creationId xmlns:a16="http://schemas.microsoft.com/office/drawing/2014/main" id="{13CDB6EE-7E1F-496F-BEEF-75A627043F41}"/>
              </a:ext>
            </a:extLst>
          </p:cNvPr>
          <p:cNvSpPr>
            <a:spLocks noGrp="1"/>
          </p:cNvSpPr>
          <p:nvPr/>
        </p:nvSpPr>
        <p:spPr>
          <a:xfrm>
            <a:off x="7234130" y="3457575"/>
            <a:ext cx="192949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61" name="Rectangle 560">
            <a:extLst>
              <a:ext uri="{FF2B5EF4-FFF2-40B4-BE49-F238E27FC236}">
                <a16:creationId xmlns:a16="http://schemas.microsoft.com/office/drawing/2014/main" id="{75D66631-B4B2-4E3E-A636-F026301BE3D2}"/>
              </a:ext>
            </a:extLst>
          </p:cNvPr>
          <p:cNvSpPr>
            <a:spLocks noGrp="1"/>
          </p:cNvSpPr>
          <p:nvPr/>
        </p:nvSpPr>
        <p:spPr>
          <a:xfrm>
            <a:off x="9182673" y="3352800"/>
            <a:ext cx="1437702" cy="447675"/>
          </a:xfrm>
          <a:prstGeom prst="rect">
            <a:avLst/>
          </a:prstGeom>
          <a:solidFill>
            <a:srgbClr val="285B9F"/>
          </a:solidFill>
          <a:ln w="0">
            <a:noFill/>
          </a:ln>
        </p:spPr>
        <p:txBody>
          <a:bodyPr/>
          <a:lstStyle/>
          <a:p>
            <a:endParaRPr lang="en-US"/>
          </a:p>
        </p:txBody>
      </p:sp>
      <p:sp>
        <p:nvSpPr>
          <p:cNvPr id="562" name="21%">
            <a:extLst>
              <a:ext uri="{FF2B5EF4-FFF2-40B4-BE49-F238E27FC236}">
                <a16:creationId xmlns:a16="http://schemas.microsoft.com/office/drawing/2014/main" id="{E958FFF8-E2D1-455C-90A7-18392BB0B850}"/>
              </a:ext>
            </a:extLst>
          </p:cNvPr>
          <p:cNvSpPr>
            <a:spLocks noGrp="1"/>
          </p:cNvSpPr>
          <p:nvPr/>
        </p:nvSpPr>
        <p:spPr>
          <a:xfrm>
            <a:off x="9220773" y="3457575"/>
            <a:ext cx="138055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21%</a:t>
            </a:r>
          </a:p>
        </p:txBody>
      </p:sp>
      <p:sp>
        <p:nvSpPr>
          <p:cNvPr id="563" name="n=266">
            <a:extLst>
              <a:ext uri="{FF2B5EF4-FFF2-40B4-BE49-F238E27FC236}">
                <a16:creationId xmlns:a16="http://schemas.microsoft.com/office/drawing/2014/main" id="{7DBB85C9-2683-4747-B5D0-D72B1192C287}"/>
              </a:ext>
            </a:extLst>
          </p:cNvPr>
          <p:cNvSpPr>
            <a:spLocks noGrp="1"/>
          </p:cNvSpPr>
          <p:nvPr/>
        </p:nvSpPr>
        <p:spPr>
          <a:xfrm>
            <a:off x="10782300" y="34480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n=266</a:t>
            </a:r>
          </a:p>
        </p:txBody>
      </p:sp>
      <p:sp>
        <p:nvSpPr>
          <p:cNvPr id="564" name="Mostly suitable">
            <a:extLst>
              <a:ext uri="{FF2B5EF4-FFF2-40B4-BE49-F238E27FC236}">
                <a16:creationId xmlns:a16="http://schemas.microsoft.com/office/drawing/2014/main" id="{38094381-B0E9-4BAD-9CD8-0BABEB986474}"/>
              </a:ext>
            </a:extLst>
          </p:cNvPr>
          <p:cNvSpPr>
            <a:spLocks noGrp="1"/>
          </p:cNvSpPr>
          <p:nvPr/>
        </p:nvSpPr>
        <p:spPr>
          <a:xfrm>
            <a:off x="400050" y="41148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Mostly suitable</a:t>
            </a:r>
          </a:p>
        </p:txBody>
      </p:sp>
      <p:sp>
        <p:nvSpPr>
          <p:cNvPr id="565" name="Rectangle 564">
            <a:extLst>
              <a:ext uri="{FF2B5EF4-FFF2-40B4-BE49-F238E27FC236}">
                <a16:creationId xmlns:a16="http://schemas.microsoft.com/office/drawing/2014/main" id="{8C07C373-7D52-4334-8415-580951B4346C}"/>
              </a:ext>
            </a:extLst>
          </p:cNvPr>
          <p:cNvSpPr>
            <a:spLocks noGrp="1"/>
          </p:cNvSpPr>
          <p:nvPr/>
        </p:nvSpPr>
        <p:spPr>
          <a:xfrm>
            <a:off x="3667125" y="4076700"/>
            <a:ext cx="1162273" cy="447675"/>
          </a:xfrm>
          <a:prstGeom prst="rect">
            <a:avLst/>
          </a:prstGeom>
          <a:solidFill>
            <a:srgbClr val="A83A3A"/>
          </a:solidFill>
          <a:ln w="0">
            <a:noFill/>
          </a:ln>
        </p:spPr>
        <p:txBody>
          <a:bodyPr/>
          <a:lstStyle/>
          <a:p>
            <a:endParaRPr lang="en-US"/>
          </a:p>
        </p:txBody>
      </p:sp>
      <p:sp>
        <p:nvSpPr>
          <p:cNvPr id="566" name="17%">
            <a:extLst>
              <a:ext uri="{FF2B5EF4-FFF2-40B4-BE49-F238E27FC236}">
                <a16:creationId xmlns:a16="http://schemas.microsoft.com/office/drawing/2014/main" id="{49857BB4-98E3-420B-AC89-711E653D3967}"/>
              </a:ext>
            </a:extLst>
          </p:cNvPr>
          <p:cNvSpPr>
            <a:spLocks noGrp="1"/>
          </p:cNvSpPr>
          <p:nvPr/>
        </p:nvSpPr>
        <p:spPr>
          <a:xfrm>
            <a:off x="3705225" y="4181475"/>
            <a:ext cx="110512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17%</a:t>
            </a:r>
          </a:p>
        </p:txBody>
      </p:sp>
      <p:sp>
        <p:nvSpPr>
          <p:cNvPr id="567" name="Rectangle 566">
            <a:extLst>
              <a:ext uri="{FF2B5EF4-FFF2-40B4-BE49-F238E27FC236}">
                <a16:creationId xmlns:a16="http://schemas.microsoft.com/office/drawing/2014/main" id="{8BFBE54E-6D0C-4A64-AE0B-E26137A3DD4A}"/>
              </a:ext>
            </a:extLst>
          </p:cNvPr>
          <p:cNvSpPr>
            <a:spLocks noGrp="1"/>
          </p:cNvSpPr>
          <p:nvPr/>
        </p:nvSpPr>
        <p:spPr>
          <a:xfrm>
            <a:off x="4829398" y="4076700"/>
            <a:ext cx="1998295" cy="447675"/>
          </a:xfrm>
          <a:prstGeom prst="rect">
            <a:avLst/>
          </a:prstGeom>
          <a:solidFill>
            <a:srgbClr val="DC713D"/>
          </a:solidFill>
          <a:ln w="0">
            <a:noFill/>
          </a:ln>
        </p:spPr>
        <p:txBody>
          <a:bodyPr/>
          <a:lstStyle/>
          <a:p>
            <a:endParaRPr lang="en-US"/>
          </a:p>
        </p:txBody>
      </p:sp>
      <p:sp>
        <p:nvSpPr>
          <p:cNvPr id="568" name="29%">
            <a:extLst>
              <a:ext uri="{FF2B5EF4-FFF2-40B4-BE49-F238E27FC236}">
                <a16:creationId xmlns:a16="http://schemas.microsoft.com/office/drawing/2014/main" id="{09164897-6969-41EF-B58E-4F6CE49470AC}"/>
              </a:ext>
            </a:extLst>
          </p:cNvPr>
          <p:cNvSpPr>
            <a:spLocks noGrp="1"/>
          </p:cNvSpPr>
          <p:nvPr/>
        </p:nvSpPr>
        <p:spPr>
          <a:xfrm>
            <a:off x="4867498" y="4181475"/>
            <a:ext cx="194114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69" name="Rectangle 568">
            <a:extLst>
              <a:ext uri="{FF2B5EF4-FFF2-40B4-BE49-F238E27FC236}">
                <a16:creationId xmlns:a16="http://schemas.microsoft.com/office/drawing/2014/main" id="{CB2489A1-8FCE-4A0E-9C70-7D465239FBF7}"/>
              </a:ext>
            </a:extLst>
          </p:cNvPr>
          <p:cNvSpPr>
            <a:spLocks noGrp="1"/>
          </p:cNvSpPr>
          <p:nvPr/>
        </p:nvSpPr>
        <p:spPr>
          <a:xfrm>
            <a:off x="6827693" y="4076700"/>
            <a:ext cx="2283765" cy="447675"/>
          </a:xfrm>
          <a:prstGeom prst="rect">
            <a:avLst/>
          </a:prstGeom>
          <a:solidFill>
            <a:srgbClr val="4C91D8"/>
          </a:solidFill>
          <a:ln w="0">
            <a:noFill/>
          </a:ln>
        </p:spPr>
        <p:txBody>
          <a:bodyPr/>
          <a:lstStyle/>
          <a:p>
            <a:endParaRPr lang="en-US"/>
          </a:p>
        </p:txBody>
      </p:sp>
      <p:sp>
        <p:nvSpPr>
          <p:cNvPr id="570" name="33%">
            <a:extLst>
              <a:ext uri="{FF2B5EF4-FFF2-40B4-BE49-F238E27FC236}">
                <a16:creationId xmlns:a16="http://schemas.microsoft.com/office/drawing/2014/main" id="{CA89A13C-92EB-461B-B7CC-93C48C99A801}"/>
              </a:ext>
            </a:extLst>
          </p:cNvPr>
          <p:cNvSpPr>
            <a:spLocks noGrp="1"/>
          </p:cNvSpPr>
          <p:nvPr/>
        </p:nvSpPr>
        <p:spPr>
          <a:xfrm>
            <a:off x="6865793" y="4181475"/>
            <a:ext cx="222661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33%</a:t>
            </a:r>
          </a:p>
        </p:txBody>
      </p:sp>
      <p:sp>
        <p:nvSpPr>
          <p:cNvPr id="571" name="Rectangle 570">
            <a:extLst>
              <a:ext uri="{FF2B5EF4-FFF2-40B4-BE49-F238E27FC236}">
                <a16:creationId xmlns:a16="http://schemas.microsoft.com/office/drawing/2014/main" id="{F7F6082F-E860-4006-9CF4-FBC59A5FD1D3}"/>
              </a:ext>
            </a:extLst>
          </p:cNvPr>
          <p:cNvSpPr>
            <a:spLocks noGrp="1"/>
          </p:cNvSpPr>
          <p:nvPr/>
        </p:nvSpPr>
        <p:spPr>
          <a:xfrm>
            <a:off x="9111459" y="4076700"/>
            <a:ext cx="1508916" cy="447675"/>
          </a:xfrm>
          <a:prstGeom prst="rect">
            <a:avLst/>
          </a:prstGeom>
          <a:solidFill>
            <a:srgbClr val="285B9F"/>
          </a:solidFill>
          <a:ln w="0">
            <a:noFill/>
          </a:ln>
        </p:spPr>
        <p:txBody>
          <a:bodyPr/>
          <a:lstStyle/>
          <a:p>
            <a:endParaRPr lang="en-US"/>
          </a:p>
        </p:txBody>
      </p:sp>
      <p:sp>
        <p:nvSpPr>
          <p:cNvPr id="572" name="22%">
            <a:extLst>
              <a:ext uri="{FF2B5EF4-FFF2-40B4-BE49-F238E27FC236}">
                <a16:creationId xmlns:a16="http://schemas.microsoft.com/office/drawing/2014/main" id="{92BFE5EB-989A-4676-B7A3-8FA14230F6B5}"/>
              </a:ext>
            </a:extLst>
          </p:cNvPr>
          <p:cNvSpPr>
            <a:spLocks noGrp="1"/>
          </p:cNvSpPr>
          <p:nvPr/>
        </p:nvSpPr>
        <p:spPr>
          <a:xfrm>
            <a:off x="9149559" y="4181475"/>
            <a:ext cx="145176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73" name="n=341">
            <a:extLst>
              <a:ext uri="{FF2B5EF4-FFF2-40B4-BE49-F238E27FC236}">
                <a16:creationId xmlns:a16="http://schemas.microsoft.com/office/drawing/2014/main" id="{1DFDF717-2C45-472C-92B1-B162F07E7CBF}"/>
              </a:ext>
            </a:extLst>
          </p:cNvPr>
          <p:cNvSpPr>
            <a:spLocks noGrp="1"/>
          </p:cNvSpPr>
          <p:nvPr/>
        </p:nvSpPr>
        <p:spPr>
          <a:xfrm>
            <a:off x="10782300" y="41719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n=341</a:t>
            </a:r>
          </a:p>
        </p:txBody>
      </p:sp>
      <p:sp>
        <p:nvSpPr>
          <p:cNvPr id="574" name="Excellent for focused study">
            <a:extLst>
              <a:ext uri="{FF2B5EF4-FFF2-40B4-BE49-F238E27FC236}">
                <a16:creationId xmlns:a16="http://schemas.microsoft.com/office/drawing/2014/main" id="{2D344112-20C0-4D7D-8E64-8D0F91864DB1}"/>
              </a:ext>
            </a:extLst>
          </p:cNvPr>
          <p:cNvSpPr>
            <a:spLocks noGrp="1"/>
          </p:cNvSpPr>
          <p:nvPr/>
        </p:nvSpPr>
        <p:spPr>
          <a:xfrm>
            <a:off x="400050" y="48387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Excellent for focused study</a:t>
            </a:r>
          </a:p>
        </p:txBody>
      </p:sp>
      <p:sp>
        <p:nvSpPr>
          <p:cNvPr id="575" name="Rectangle 574">
            <a:extLst>
              <a:ext uri="{FF2B5EF4-FFF2-40B4-BE49-F238E27FC236}">
                <a16:creationId xmlns:a16="http://schemas.microsoft.com/office/drawing/2014/main" id="{1F16E975-3270-47F8-8648-ECCD3C5B207B}"/>
              </a:ext>
            </a:extLst>
          </p:cNvPr>
          <p:cNvSpPr>
            <a:spLocks noGrp="1"/>
          </p:cNvSpPr>
          <p:nvPr/>
        </p:nvSpPr>
        <p:spPr>
          <a:xfrm>
            <a:off x="3667125" y="4800600"/>
            <a:ext cx="1962267" cy="447675"/>
          </a:xfrm>
          <a:prstGeom prst="rect">
            <a:avLst/>
          </a:prstGeom>
          <a:solidFill>
            <a:srgbClr val="A83A3A"/>
          </a:solidFill>
          <a:ln w="0">
            <a:noFill/>
          </a:ln>
        </p:spPr>
        <p:txBody>
          <a:bodyPr/>
          <a:lstStyle/>
          <a:p>
            <a:endParaRPr lang="en-US"/>
          </a:p>
        </p:txBody>
      </p:sp>
      <p:sp>
        <p:nvSpPr>
          <p:cNvPr id="576" name="28%">
            <a:extLst>
              <a:ext uri="{FF2B5EF4-FFF2-40B4-BE49-F238E27FC236}">
                <a16:creationId xmlns:a16="http://schemas.microsoft.com/office/drawing/2014/main" id="{70BCE0BF-C0A6-43CB-A797-93D6BC45373F}"/>
              </a:ext>
            </a:extLst>
          </p:cNvPr>
          <p:cNvSpPr>
            <a:spLocks noGrp="1"/>
          </p:cNvSpPr>
          <p:nvPr/>
        </p:nvSpPr>
        <p:spPr>
          <a:xfrm>
            <a:off x="3705225" y="4905375"/>
            <a:ext cx="190511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77" name="Rectangle 576">
            <a:extLst>
              <a:ext uri="{FF2B5EF4-FFF2-40B4-BE49-F238E27FC236}">
                <a16:creationId xmlns:a16="http://schemas.microsoft.com/office/drawing/2014/main" id="{AA0DFA16-4CB4-43A7-BDD1-4472BC8C9896}"/>
              </a:ext>
            </a:extLst>
          </p:cNvPr>
          <p:cNvSpPr>
            <a:spLocks noGrp="1"/>
          </p:cNvSpPr>
          <p:nvPr/>
        </p:nvSpPr>
        <p:spPr>
          <a:xfrm>
            <a:off x="5629392" y="4800600"/>
            <a:ext cx="1834293" cy="447675"/>
          </a:xfrm>
          <a:prstGeom prst="rect">
            <a:avLst/>
          </a:prstGeom>
          <a:solidFill>
            <a:srgbClr val="DC713D"/>
          </a:solidFill>
          <a:ln w="0">
            <a:noFill/>
          </a:ln>
        </p:spPr>
        <p:txBody>
          <a:bodyPr/>
          <a:lstStyle/>
          <a:p>
            <a:endParaRPr lang="en-US"/>
          </a:p>
        </p:txBody>
      </p:sp>
      <p:sp>
        <p:nvSpPr>
          <p:cNvPr id="578" name="26%">
            <a:extLst>
              <a:ext uri="{FF2B5EF4-FFF2-40B4-BE49-F238E27FC236}">
                <a16:creationId xmlns:a16="http://schemas.microsoft.com/office/drawing/2014/main" id="{35164519-DA78-495D-92A5-240F75F7FC27}"/>
              </a:ext>
            </a:extLst>
          </p:cNvPr>
          <p:cNvSpPr>
            <a:spLocks noGrp="1"/>
          </p:cNvSpPr>
          <p:nvPr/>
        </p:nvSpPr>
        <p:spPr>
          <a:xfrm>
            <a:off x="5667492" y="4905375"/>
            <a:ext cx="177714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79" name="Rectangle 578">
            <a:extLst>
              <a:ext uri="{FF2B5EF4-FFF2-40B4-BE49-F238E27FC236}">
                <a16:creationId xmlns:a16="http://schemas.microsoft.com/office/drawing/2014/main" id="{F73B20E5-19E6-4BE3-9965-64CB94675AFB}"/>
              </a:ext>
            </a:extLst>
          </p:cNvPr>
          <p:cNvSpPr>
            <a:spLocks noGrp="1"/>
          </p:cNvSpPr>
          <p:nvPr/>
        </p:nvSpPr>
        <p:spPr>
          <a:xfrm>
            <a:off x="7463685" y="4800600"/>
            <a:ext cx="1535687" cy="447675"/>
          </a:xfrm>
          <a:prstGeom prst="rect">
            <a:avLst/>
          </a:prstGeom>
          <a:solidFill>
            <a:srgbClr val="4C91D8"/>
          </a:solidFill>
          <a:ln w="0">
            <a:noFill/>
          </a:ln>
        </p:spPr>
        <p:txBody>
          <a:bodyPr/>
          <a:lstStyle/>
          <a:p>
            <a:endParaRPr lang="en-US"/>
          </a:p>
        </p:txBody>
      </p:sp>
      <p:sp>
        <p:nvSpPr>
          <p:cNvPr id="580" name="22%">
            <a:extLst>
              <a:ext uri="{FF2B5EF4-FFF2-40B4-BE49-F238E27FC236}">
                <a16:creationId xmlns:a16="http://schemas.microsoft.com/office/drawing/2014/main" id="{C6ADB859-DC8E-42E7-87CC-33337111FCCA}"/>
              </a:ext>
            </a:extLst>
          </p:cNvPr>
          <p:cNvSpPr>
            <a:spLocks noGrp="1"/>
          </p:cNvSpPr>
          <p:nvPr/>
        </p:nvSpPr>
        <p:spPr>
          <a:xfrm>
            <a:off x="7501785" y="4905375"/>
            <a:ext cx="147853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81" name="Rectangle 580">
            <a:extLst>
              <a:ext uri="{FF2B5EF4-FFF2-40B4-BE49-F238E27FC236}">
                <a16:creationId xmlns:a16="http://schemas.microsoft.com/office/drawing/2014/main" id="{04533AB1-5482-41B1-9A81-36CFD9FE7CAC}"/>
              </a:ext>
            </a:extLst>
          </p:cNvPr>
          <p:cNvSpPr>
            <a:spLocks noGrp="1"/>
          </p:cNvSpPr>
          <p:nvPr/>
        </p:nvSpPr>
        <p:spPr>
          <a:xfrm>
            <a:off x="8999372" y="4800600"/>
            <a:ext cx="1621003" cy="447675"/>
          </a:xfrm>
          <a:prstGeom prst="rect">
            <a:avLst/>
          </a:prstGeom>
          <a:solidFill>
            <a:srgbClr val="285B9F"/>
          </a:solidFill>
          <a:ln w="0">
            <a:noFill/>
          </a:ln>
        </p:spPr>
        <p:txBody>
          <a:bodyPr/>
          <a:lstStyle/>
          <a:p>
            <a:endParaRPr lang="en-US"/>
          </a:p>
        </p:txBody>
      </p:sp>
      <p:sp>
        <p:nvSpPr>
          <p:cNvPr id="582" name="23%">
            <a:extLst>
              <a:ext uri="{FF2B5EF4-FFF2-40B4-BE49-F238E27FC236}">
                <a16:creationId xmlns:a16="http://schemas.microsoft.com/office/drawing/2014/main" id="{C47F34B8-F288-420B-8050-CB083574086D}"/>
              </a:ext>
            </a:extLst>
          </p:cNvPr>
          <p:cNvSpPr>
            <a:spLocks noGrp="1"/>
          </p:cNvSpPr>
          <p:nvPr/>
        </p:nvSpPr>
        <p:spPr>
          <a:xfrm>
            <a:off x="9037472" y="4905375"/>
            <a:ext cx="156385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23%</a:t>
            </a:r>
          </a:p>
        </p:txBody>
      </p:sp>
      <p:sp>
        <p:nvSpPr>
          <p:cNvPr id="583" name="n=163">
            <a:extLst>
              <a:ext uri="{FF2B5EF4-FFF2-40B4-BE49-F238E27FC236}">
                <a16:creationId xmlns:a16="http://schemas.microsoft.com/office/drawing/2014/main" id="{67A25A3A-65A5-4E4D-8A65-046A1F8F4CBA}"/>
              </a:ext>
            </a:extLst>
          </p:cNvPr>
          <p:cNvSpPr>
            <a:spLocks noGrp="1"/>
          </p:cNvSpPr>
          <p:nvPr/>
        </p:nvSpPr>
        <p:spPr>
          <a:xfrm>
            <a:off x="10782300" y="48958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n=163</a:t>
            </a:r>
          </a:p>
        </p:txBody>
      </p:sp>
      <p:sp>
        <p:nvSpPr>
          <p:cNvPr id="584" name="Rectangle 583">
            <a:extLst>
              <a:ext uri="{FF2B5EF4-FFF2-40B4-BE49-F238E27FC236}">
                <a16:creationId xmlns:a16="http://schemas.microsoft.com/office/drawing/2014/main" id="{8C0C630E-33D3-4739-8E15-97E92E223AF1}"/>
              </a:ext>
            </a:extLst>
          </p:cNvPr>
          <p:cNvSpPr>
            <a:spLocks noGrp="1"/>
          </p:cNvSpPr>
          <p:nvPr/>
        </p:nvSpPr>
        <p:spPr>
          <a:xfrm>
            <a:off x="3667125" y="1409700"/>
            <a:ext cx="190500" cy="190500"/>
          </a:xfrm>
          <a:prstGeom prst="rect">
            <a:avLst/>
          </a:prstGeom>
          <a:solidFill>
            <a:srgbClr val="A83A3A"/>
          </a:solidFill>
          <a:ln w="0">
            <a:noFill/>
          </a:ln>
        </p:spPr>
        <p:txBody>
          <a:bodyPr/>
          <a:lstStyle/>
          <a:p>
            <a:endParaRPr lang="en-US"/>
          </a:p>
        </p:txBody>
      </p:sp>
      <p:sp>
        <p:nvSpPr>
          <p:cNvPr id="585" name="C0  &lt; 3.20">
            <a:extLst>
              <a:ext uri="{FF2B5EF4-FFF2-40B4-BE49-F238E27FC236}">
                <a16:creationId xmlns:a16="http://schemas.microsoft.com/office/drawing/2014/main" id="{DFBCD036-660D-4C00-8FC0-2E3621A85065}"/>
              </a:ext>
            </a:extLst>
          </p:cNvPr>
          <p:cNvSpPr>
            <a:spLocks noGrp="1"/>
          </p:cNvSpPr>
          <p:nvPr/>
        </p:nvSpPr>
        <p:spPr>
          <a:xfrm>
            <a:off x="39433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C0  &lt; 3.20</a:t>
            </a:r>
          </a:p>
        </p:txBody>
      </p:sp>
      <p:sp>
        <p:nvSpPr>
          <p:cNvPr id="586" name="Rectangle 585">
            <a:extLst>
              <a:ext uri="{FF2B5EF4-FFF2-40B4-BE49-F238E27FC236}">
                <a16:creationId xmlns:a16="http://schemas.microsoft.com/office/drawing/2014/main" id="{8B958EC1-9891-4330-AE17-DBBAF795A6F5}"/>
              </a:ext>
            </a:extLst>
          </p:cNvPr>
          <p:cNvSpPr>
            <a:spLocks noGrp="1"/>
          </p:cNvSpPr>
          <p:nvPr/>
        </p:nvSpPr>
        <p:spPr>
          <a:xfrm>
            <a:off x="5476875" y="1409700"/>
            <a:ext cx="190500" cy="190500"/>
          </a:xfrm>
          <a:prstGeom prst="rect">
            <a:avLst/>
          </a:prstGeom>
          <a:solidFill>
            <a:srgbClr val="DC713D"/>
          </a:solidFill>
          <a:ln w="0">
            <a:noFill/>
          </a:ln>
        </p:spPr>
        <p:txBody>
          <a:bodyPr/>
          <a:lstStyle/>
          <a:p>
            <a:endParaRPr lang="en-US"/>
          </a:p>
        </p:txBody>
      </p:sp>
      <p:sp>
        <p:nvSpPr>
          <p:cNvPr id="587" name="C1  3.20–3.49">
            <a:extLst>
              <a:ext uri="{FF2B5EF4-FFF2-40B4-BE49-F238E27FC236}">
                <a16:creationId xmlns:a16="http://schemas.microsoft.com/office/drawing/2014/main" id="{9DB36425-8C4B-4553-B317-1D935B8A7220}"/>
              </a:ext>
            </a:extLst>
          </p:cNvPr>
          <p:cNvSpPr>
            <a:spLocks noGrp="1"/>
          </p:cNvSpPr>
          <p:nvPr/>
        </p:nvSpPr>
        <p:spPr>
          <a:xfrm>
            <a:off x="57531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C1  3.20–3.49</a:t>
            </a:r>
          </a:p>
        </p:txBody>
      </p:sp>
      <p:sp>
        <p:nvSpPr>
          <p:cNvPr id="588" name="Rectangle 587">
            <a:extLst>
              <a:ext uri="{FF2B5EF4-FFF2-40B4-BE49-F238E27FC236}">
                <a16:creationId xmlns:a16="http://schemas.microsoft.com/office/drawing/2014/main" id="{4086C98A-4651-483C-8D90-11F3C5D98F53}"/>
              </a:ext>
            </a:extLst>
          </p:cNvPr>
          <p:cNvSpPr>
            <a:spLocks noGrp="1"/>
          </p:cNvSpPr>
          <p:nvPr/>
        </p:nvSpPr>
        <p:spPr>
          <a:xfrm>
            <a:off x="7286625" y="1409700"/>
            <a:ext cx="190500" cy="190500"/>
          </a:xfrm>
          <a:prstGeom prst="rect">
            <a:avLst/>
          </a:prstGeom>
          <a:solidFill>
            <a:srgbClr val="4C91D8"/>
          </a:solidFill>
          <a:ln w="0">
            <a:noFill/>
          </a:ln>
        </p:spPr>
        <p:txBody>
          <a:bodyPr/>
          <a:lstStyle/>
          <a:p>
            <a:endParaRPr lang="en-US"/>
          </a:p>
        </p:txBody>
      </p:sp>
      <p:sp>
        <p:nvSpPr>
          <p:cNvPr id="589" name="C2  3.50–3.74">
            <a:extLst>
              <a:ext uri="{FF2B5EF4-FFF2-40B4-BE49-F238E27FC236}">
                <a16:creationId xmlns:a16="http://schemas.microsoft.com/office/drawing/2014/main" id="{B733F10F-31F2-48A3-99F4-FBBEF9494838}"/>
              </a:ext>
            </a:extLst>
          </p:cNvPr>
          <p:cNvSpPr>
            <a:spLocks noGrp="1"/>
          </p:cNvSpPr>
          <p:nvPr/>
        </p:nvSpPr>
        <p:spPr>
          <a:xfrm>
            <a:off x="75628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C2  3.50–3.74</a:t>
            </a:r>
          </a:p>
        </p:txBody>
      </p:sp>
      <p:sp>
        <p:nvSpPr>
          <p:cNvPr id="590" name="Rectangle 589">
            <a:extLst>
              <a:ext uri="{FF2B5EF4-FFF2-40B4-BE49-F238E27FC236}">
                <a16:creationId xmlns:a16="http://schemas.microsoft.com/office/drawing/2014/main" id="{FF756141-B772-4F84-86BC-E900EFC7EFFA}"/>
              </a:ext>
            </a:extLst>
          </p:cNvPr>
          <p:cNvSpPr>
            <a:spLocks noGrp="1"/>
          </p:cNvSpPr>
          <p:nvPr/>
        </p:nvSpPr>
        <p:spPr>
          <a:xfrm>
            <a:off x="9096375" y="1409700"/>
            <a:ext cx="190500" cy="190500"/>
          </a:xfrm>
          <a:prstGeom prst="rect">
            <a:avLst/>
          </a:prstGeom>
          <a:solidFill>
            <a:srgbClr val="285B9F"/>
          </a:solidFill>
          <a:ln w="0">
            <a:noFill/>
          </a:ln>
        </p:spPr>
        <p:txBody>
          <a:bodyPr/>
          <a:lstStyle/>
          <a:p>
            <a:endParaRPr lang="en-US"/>
          </a:p>
        </p:txBody>
      </p:sp>
      <p:sp>
        <p:nvSpPr>
          <p:cNvPr id="591" name="C3  ≥ 3.75">
            <a:extLst>
              <a:ext uri="{FF2B5EF4-FFF2-40B4-BE49-F238E27FC236}">
                <a16:creationId xmlns:a16="http://schemas.microsoft.com/office/drawing/2014/main" id="{0C619846-4FC8-4E1B-9A8D-F7258CA6DB19}"/>
              </a:ext>
            </a:extLst>
          </p:cNvPr>
          <p:cNvSpPr>
            <a:spLocks noGrp="1"/>
          </p:cNvSpPr>
          <p:nvPr/>
        </p:nvSpPr>
        <p:spPr>
          <a:xfrm>
            <a:off x="93726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C3  ≥ 3.75</a:t>
            </a:r>
          </a:p>
        </p:txBody>
      </p:sp>
      <p:cxnSp>
        <p:nvCxnSpPr>
          <p:cNvPr id="2" name="Straight Arrow Connector 1">
            <a:extLst>
              <a:ext uri="{FF2B5EF4-FFF2-40B4-BE49-F238E27FC236}">
                <a16:creationId xmlns:a16="http://schemas.microsoft.com/office/drawing/2014/main" id="{7BDEA0EB-0D83-5B48-88E3-BC10D3F527D9}"/>
              </a:ext>
            </a:extLst>
          </p:cNvPr>
          <p:cNvCxnSpPr>
            <a:cxnSpLocks/>
          </p:cNvCxnSpPr>
          <p:nvPr/>
        </p:nvCxnSpPr>
        <p:spPr>
          <a:xfrm>
            <a:off x="204107" y="5763986"/>
            <a:ext cx="105781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9BA72B32-85D0-6658-D8A2-9DF5B4FBA7A2}"/>
              </a:ext>
            </a:extLst>
          </p:cNvPr>
          <p:cNvCxnSpPr>
            <a:cxnSpLocks/>
          </p:cNvCxnSpPr>
          <p:nvPr/>
        </p:nvCxnSpPr>
        <p:spPr>
          <a:xfrm flipV="1">
            <a:off x="356507" y="971550"/>
            <a:ext cx="0" cy="4944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FDE257D2-4E4E-2EEB-AFAF-60CD2BB567DA}"/>
              </a:ext>
            </a:extLst>
          </p:cNvPr>
          <p:cNvSpPr txBox="1"/>
          <p:nvPr/>
        </p:nvSpPr>
        <p:spPr>
          <a:xfrm>
            <a:off x="5532723" y="5787509"/>
            <a:ext cx="821572" cy="369332"/>
          </a:xfrm>
          <a:prstGeom prst="rect">
            <a:avLst/>
          </a:prstGeom>
          <a:noFill/>
        </p:spPr>
        <p:txBody>
          <a:bodyPr wrap="none" rtlCol="0">
            <a:spAutoFit/>
          </a:bodyPr>
          <a:lstStyle/>
          <a:p>
            <a:r>
              <a:rPr lang="en-US" dirty="0"/>
              <a:t>CGPA</a:t>
            </a:r>
          </a:p>
        </p:txBody>
      </p:sp>
      <p:sp>
        <p:nvSpPr>
          <p:cNvPr id="5" name="TextBox 4">
            <a:extLst>
              <a:ext uri="{FF2B5EF4-FFF2-40B4-BE49-F238E27FC236}">
                <a16:creationId xmlns:a16="http://schemas.microsoft.com/office/drawing/2014/main" id="{C0DD057E-1EEB-CD3F-18EB-F29BB74DFB30}"/>
              </a:ext>
            </a:extLst>
          </p:cNvPr>
          <p:cNvSpPr txBox="1"/>
          <p:nvPr/>
        </p:nvSpPr>
        <p:spPr>
          <a:xfrm rot="16200000">
            <a:off x="-851572" y="2715997"/>
            <a:ext cx="2133918" cy="369332"/>
          </a:xfrm>
          <a:prstGeom prst="rect">
            <a:avLst/>
          </a:prstGeom>
          <a:noFill/>
        </p:spPr>
        <p:txBody>
          <a:bodyPr wrap="none" rtlCol="0">
            <a:spAutoFit/>
          </a:bodyPr>
          <a:lstStyle/>
          <a:p>
            <a:r>
              <a:rPr lang="en-US" dirty="0"/>
              <a:t>Study Environment</a:t>
            </a:r>
          </a:p>
        </p:txBody>
      </p:sp>
    </p:spTree>
    <p:extLst>
      <p:ext uri="{BB962C8B-B14F-4D97-AF65-F5344CB8AC3E}">
        <p14:creationId xmlns:p14="http://schemas.microsoft.com/office/powerpoint/2010/main" val="21699456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27</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Routine manageability and CGPA</a:t>
            </a:r>
          </a:p>
        </p:txBody>
      </p:sp>
      <p:sp>
        <p:nvSpPr>
          <p:cNvPr id="534" name="Completely unmanageable">
            <a:extLst>
              <a:ext uri="{FF2B5EF4-FFF2-40B4-BE49-F238E27FC236}">
                <a16:creationId xmlns:a16="http://schemas.microsoft.com/office/drawing/2014/main" id="{3E7F35A0-98BC-4886-8A7F-980CBF22A2AD}"/>
              </a:ext>
            </a:extLst>
          </p:cNvPr>
          <p:cNvSpPr>
            <a:spLocks noGrp="1"/>
          </p:cNvSpPr>
          <p:nvPr/>
        </p:nvSpPr>
        <p:spPr>
          <a:xfrm>
            <a:off x="400050" y="19431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Completely unmanageable</a:t>
            </a:r>
          </a:p>
        </p:txBody>
      </p:sp>
      <p:sp>
        <p:nvSpPr>
          <p:cNvPr id="535" name="Rectangle 534">
            <a:extLst>
              <a:ext uri="{FF2B5EF4-FFF2-40B4-BE49-F238E27FC236}">
                <a16:creationId xmlns:a16="http://schemas.microsoft.com/office/drawing/2014/main" id="{76C2C2B2-A13E-49F1-8319-6F91051E0544}"/>
              </a:ext>
            </a:extLst>
          </p:cNvPr>
          <p:cNvSpPr>
            <a:spLocks noGrp="1"/>
          </p:cNvSpPr>
          <p:nvPr/>
        </p:nvSpPr>
        <p:spPr>
          <a:xfrm>
            <a:off x="3667125" y="1905000"/>
            <a:ext cx="1896341" cy="447675"/>
          </a:xfrm>
          <a:prstGeom prst="rect">
            <a:avLst/>
          </a:prstGeom>
          <a:solidFill>
            <a:srgbClr val="A83A3A"/>
          </a:solidFill>
          <a:ln w="0">
            <a:noFill/>
          </a:ln>
        </p:spPr>
        <p:txBody>
          <a:bodyPr/>
          <a:lstStyle/>
          <a:p>
            <a:endParaRPr lang="en-US"/>
          </a:p>
        </p:txBody>
      </p:sp>
      <p:sp>
        <p:nvSpPr>
          <p:cNvPr id="536" name="27%">
            <a:extLst>
              <a:ext uri="{FF2B5EF4-FFF2-40B4-BE49-F238E27FC236}">
                <a16:creationId xmlns:a16="http://schemas.microsoft.com/office/drawing/2014/main" id="{937228A8-928B-4680-ABB9-EF0C17409BA7}"/>
              </a:ext>
            </a:extLst>
          </p:cNvPr>
          <p:cNvSpPr>
            <a:spLocks noGrp="1"/>
          </p:cNvSpPr>
          <p:nvPr/>
        </p:nvSpPr>
        <p:spPr>
          <a:xfrm>
            <a:off x="3705225" y="2009775"/>
            <a:ext cx="183919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37" name="Rectangle 536">
            <a:extLst>
              <a:ext uri="{FF2B5EF4-FFF2-40B4-BE49-F238E27FC236}">
                <a16:creationId xmlns:a16="http://schemas.microsoft.com/office/drawing/2014/main" id="{1AFE1B95-1164-4978-A231-BC45C7509DCF}"/>
              </a:ext>
            </a:extLst>
          </p:cNvPr>
          <p:cNvSpPr>
            <a:spLocks noGrp="1"/>
          </p:cNvSpPr>
          <p:nvPr/>
        </p:nvSpPr>
        <p:spPr>
          <a:xfrm>
            <a:off x="5563466" y="1905000"/>
            <a:ext cx="1896341" cy="447675"/>
          </a:xfrm>
          <a:prstGeom prst="rect">
            <a:avLst/>
          </a:prstGeom>
          <a:solidFill>
            <a:srgbClr val="DC713D"/>
          </a:solidFill>
          <a:ln w="0">
            <a:noFill/>
          </a:ln>
        </p:spPr>
        <p:txBody>
          <a:bodyPr/>
          <a:lstStyle/>
          <a:p>
            <a:endParaRPr lang="en-US"/>
          </a:p>
        </p:txBody>
      </p:sp>
      <p:sp>
        <p:nvSpPr>
          <p:cNvPr id="538" name="27%">
            <a:extLst>
              <a:ext uri="{FF2B5EF4-FFF2-40B4-BE49-F238E27FC236}">
                <a16:creationId xmlns:a16="http://schemas.microsoft.com/office/drawing/2014/main" id="{8CC2207C-838E-446C-A3BD-FFD49218A38A}"/>
              </a:ext>
            </a:extLst>
          </p:cNvPr>
          <p:cNvSpPr>
            <a:spLocks noGrp="1"/>
          </p:cNvSpPr>
          <p:nvPr/>
        </p:nvSpPr>
        <p:spPr>
          <a:xfrm>
            <a:off x="5601566" y="2009775"/>
            <a:ext cx="183919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39" name="Rectangle 538">
            <a:extLst>
              <a:ext uri="{FF2B5EF4-FFF2-40B4-BE49-F238E27FC236}">
                <a16:creationId xmlns:a16="http://schemas.microsoft.com/office/drawing/2014/main" id="{D603BA1C-224E-46B1-AECD-71E3368FF55A}"/>
              </a:ext>
            </a:extLst>
          </p:cNvPr>
          <p:cNvSpPr>
            <a:spLocks noGrp="1"/>
          </p:cNvSpPr>
          <p:nvPr/>
        </p:nvSpPr>
        <p:spPr>
          <a:xfrm>
            <a:off x="7459807" y="1905000"/>
            <a:ext cx="2191327" cy="447675"/>
          </a:xfrm>
          <a:prstGeom prst="rect">
            <a:avLst/>
          </a:prstGeom>
          <a:solidFill>
            <a:srgbClr val="4C91D8"/>
          </a:solidFill>
          <a:ln w="0">
            <a:noFill/>
          </a:ln>
        </p:spPr>
        <p:txBody>
          <a:bodyPr/>
          <a:lstStyle/>
          <a:p>
            <a:endParaRPr lang="en-US"/>
          </a:p>
        </p:txBody>
      </p:sp>
      <p:sp>
        <p:nvSpPr>
          <p:cNvPr id="540" name="32%">
            <a:extLst>
              <a:ext uri="{FF2B5EF4-FFF2-40B4-BE49-F238E27FC236}">
                <a16:creationId xmlns:a16="http://schemas.microsoft.com/office/drawing/2014/main" id="{137C22D4-E8DC-4D85-AF7C-BB44506DD0F2}"/>
              </a:ext>
            </a:extLst>
          </p:cNvPr>
          <p:cNvSpPr>
            <a:spLocks noGrp="1"/>
          </p:cNvSpPr>
          <p:nvPr/>
        </p:nvSpPr>
        <p:spPr>
          <a:xfrm>
            <a:off x="7497907" y="2009775"/>
            <a:ext cx="213417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32%</a:t>
            </a:r>
          </a:p>
        </p:txBody>
      </p:sp>
      <p:sp>
        <p:nvSpPr>
          <p:cNvPr id="541" name="Rectangle 540">
            <a:extLst>
              <a:ext uri="{FF2B5EF4-FFF2-40B4-BE49-F238E27FC236}">
                <a16:creationId xmlns:a16="http://schemas.microsoft.com/office/drawing/2014/main" id="{9171EB80-CE86-4EE8-988D-CD85F3E9835E}"/>
              </a:ext>
            </a:extLst>
          </p:cNvPr>
          <p:cNvSpPr>
            <a:spLocks noGrp="1"/>
          </p:cNvSpPr>
          <p:nvPr/>
        </p:nvSpPr>
        <p:spPr>
          <a:xfrm>
            <a:off x="9651134" y="1905000"/>
            <a:ext cx="969241" cy="447675"/>
          </a:xfrm>
          <a:prstGeom prst="rect">
            <a:avLst/>
          </a:prstGeom>
          <a:solidFill>
            <a:srgbClr val="285B9F"/>
          </a:solidFill>
          <a:ln w="0">
            <a:noFill/>
          </a:ln>
        </p:spPr>
        <p:txBody>
          <a:bodyPr/>
          <a:lstStyle/>
          <a:p>
            <a:endParaRPr lang="en-US"/>
          </a:p>
        </p:txBody>
      </p:sp>
      <p:sp>
        <p:nvSpPr>
          <p:cNvPr id="542" name="14%">
            <a:extLst>
              <a:ext uri="{FF2B5EF4-FFF2-40B4-BE49-F238E27FC236}">
                <a16:creationId xmlns:a16="http://schemas.microsoft.com/office/drawing/2014/main" id="{22ECD036-73BB-46B3-9F53-5F386E4BD9F6}"/>
              </a:ext>
            </a:extLst>
          </p:cNvPr>
          <p:cNvSpPr>
            <a:spLocks noGrp="1"/>
          </p:cNvSpPr>
          <p:nvPr/>
        </p:nvSpPr>
        <p:spPr>
          <a:xfrm>
            <a:off x="9689234" y="2009775"/>
            <a:ext cx="91209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14%</a:t>
            </a:r>
          </a:p>
        </p:txBody>
      </p:sp>
      <p:sp>
        <p:nvSpPr>
          <p:cNvPr id="543" name="n=165">
            <a:extLst>
              <a:ext uri="{FF2B5EF4-FFF2-40B4-BE49-F238E27FC236}">
                <a16:creationId xmlns:a16="http://schemas.microsoft.com/office/drawing/2014/main" id="{402DA344-57FF-4511-9FD6-89CCAF6B5CF5}"/>
              </a:ext>
            </a:extLst>
          </p:cNvPr>
          <p:cNvSpPr>
            <a:spLocks noGrp="1"/>
          </p:cNvSpPr>
          <p:nvPr/>
        </p:nvSpPr>
        <p:spPr>
          <a:xfrm>
            <a:off x="10782300" y="20002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n=165</a:t>
            </a:r>
          </a:p>
        </p:txBody>
      </p:sp>
      <p:sp>
        <p:nvSpPr>
          <p:cNvPr id="544" name="Difficult to manage">
            <a:extLst>
              <a:ext uri="{FF2B5EF4-FFF2-40B4-BE49-F238E27FC236}">
                <a16:creationId xmlns:a16="http://schemas.microsoft.com/office/drawing/2014/main" id="{5D315D28-CA58-4F6D-833D-5C3E5B7890E9}"/>
              </a:ext>
            </a:extLst>
          </p:cNvPr>
          <p:cNvSpPr>
            <a:spLocks noGrp="1"/>
          </p:cNvSpPr>
          <p:nvPr/>
        </p:nvSpPr>
        <p:spPr>
          <a:xfrm>
            <a:off x="400050" y="26670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Difficult to manage</a:t>
            </a:r>
          </a:p>
        </p:txBody>
      </p:sp>
      <p:sp>
        <p:nvSpPr>
          <p:cNvPr id="545" name="Rectangle 544">
            <a:extLst>
              <a:ext uri="{FF2B5EF4-FFF2-40B4-BE49-F238E27FC236}">
                <a16:creationId xmlns:a16="http://schemas.microsoft.com/office/drawing/2014/main" id="{3FBC8498-C278-4D16-941E-59FAB820A61D}"/>
              </a:ext>
            </a:extLst>
          </p:cNvPr>
          <p:cNvSpPr>
            <a:spLocks noGrp="1"/>
          </p:cNvSpPr>
          <p:nvPr/>
        </p:nvSpPr>
        <p:spPr>
          <a:xfrm>
            <a:off x="3667125" y="2628900"/>
            <a:ext cx="1480540" cy="447675"/>
          </a:xfrm>
          <a:prstGeom prst="rect">
            <a:avLst/>
          </a:prstGeom>
          <a:solidFill>
            <a:srgbClr val="A83A3A"/>
          </a:solidFill>
          <a:ln w="0">
            <a:noFill/>
          </a:ln>
        </p:spPr>
        <p:txBody>
          <a:bodyPr/>
          <a:lstStyle/>
          <a:p>
            <a:endParaRPr lang="en-US"/>
          </a:p>
        </p:txBody>
      </p:sp>
      <p:sp>
        <p:nvSpPr>
          <p:cNvPr id="546" name="21%">
            <a:extLst>
              <a:ext uri="{FF2B5EF4-FFF2-40B4-BE49-F238E27FC236}">
                <a16:creationId xmlns:a16="http://schemas.microsoft.com/office/drawing/2014/main" id="{85E9DD1E-CCF1-45EB-95C3-3DB1765CD396}"/>
              </a:ext>
            </a:extLst>
          </p:cNvPr>
          <p:cNvSpPr>
            <a:spLocks noGrp="1"/>
          </p:cNvSpPr>
          <p:nvPr/>
        </p:nvSpPr>
        <p:spPr>
          <a:xfrm>
            <a:off x="3705225" y="2733675"/>
            <a:ext cx="142339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21%</a:t>
            </a:r>
          </a:p>
        </p:txBody>
      </p:sp>
      <p:sp>
        <p:nvSpPr>
          <p:cNvPr id="547" name="Rectangle 546">
            <a:extLst>
              <a:ext uri="{FF2B5EF4-FFF2-40B4-BE49-F238E27FC236}">
                <a16:creationId xmlns:a16="http://schemas.microsoft.com/office/drawing/2014/main" id="{6C760118-E611-4BA4-99C3-1C6978924941}"/>
              </a:ext>
            </a:extLst>
          </p:cNvPr>
          <p:cNvSpPr>
            <a:spLocks noGrp="1"/>
          </p:cNvSpPr>
          <p:nvPr/>
        </p:nvSpPr>
        <p:spPr>
          <a:xfrm>
            <a:off x="5147665" y="2628900"/>
            <a:ext cx="2088619" cy="447675"/>
          </a:xfrm>
          <a:prstGeom prst="rect">
            <a:avLst/>
          </a:prstGeom>
          <a:solidFill>
            <a:srgbClr val="DC713D"/>
          </a:solidFill>
          <a:ln w="0">
            <a:noFill/>
          </a:ln>
        </p:spPr>
        <p:txBody>
          <a:bodyPr/>
          <a:lstStyle/>
          <a:p>
            <a:endParaRPr lang="en-US"/>
          </a:p>
        </p:txBody>
      </p:sp>
      <p:sp>
        <p:nvSpPr>
          <p:cNvPr id="548" name="30%">
            <a:extLst>
              <a:ext uri="{FF2B5EF4-FFF2-40B4-BE49-F238E27FC236}">
                <a16:creationId xmlns:a16="http://schemas.microsoft.com/office/drawing/2014/main" id="{F8FF8904-48D2-4210-9C53-D9B294F17F5F}"/>
              </a:ext>
            </a:extLst>
          </p:cNvPr>
          <p:cNvSpPr>
            <a:spLocks noGrp="1"/>
          </p:cNvSpPr>
          <p:nvPr/>
        </p:nvSpPr>
        <p:spPr>
          <a:xfrm>
            <a:off x="5185765" y="2733675"/>
            <a:ext cx="2031469"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30%</a:t>
            </a:r>
          </a:p>
        </p:txBody>
      </p:sp>
      <p:sp>
        <p:nvSpPr>
          <p:cNvPr id="549" name="Rectangle 548">
            <a:extLst>
              <a:ext uri="{FF2B5EF4-FFF2-40B4-BE49-F238E27FC236}">
                <a16:creationId xmlns:a16="http://schemas.microsoft.com/office/drawing/2014/main" id="{A1F64836-1FF4-438B-81A5-4FD072CB3BD8}"/>
              </a:ext>
            </a:extLst>
          </p:cNvPr>
          <p:cNvSpPr>
            <a:spLocks noGrp="1"/>
          </p:cNvSpPr>
          <p:nvPr/>
        </p:nvSpPr>
        <p:spPr>
          <a:xfrm>
            <a:off x="7236284" y="2628900"/>
            <a:ext cx="1348349" cy="447675"/>
          </a:xfrm>
          <a:prstGeom prst="rect">
            <a:avLst/>
          </a:prstGeom>
          <a:solidFill>
            <a:srgbClr val="4C91D8"/>
          </a:solidFill>
          <a:ln w="0">
            <a:noFill/>
          </a:ln>
        </p:spPr>
        <p:txBody>
          <a:bodyPr/>
          <a:lstStyle/>
          <a:p>
            <a:endParaRPr lang="en-US"/>
          </a:p>
        </p:txBody>
      </p:sp>
      <p:sp>
        <p:nvSpPr>
          <p:cNvPr id="550" name="19%">
            <a:extLst>
              <a:ext uri="{FF2B5EF4-FFF2-40B4-BE49-F238E27FC236}">
                <a16:creationId xmlns:a16="http://schemas.microsoft.com/office/drawing/2014/main" id="{CEA84195-8B0E-400D-BC48-352CC7782E5A}"/>
              </a:ext>
            </a:extLst>
          </p:cNvPr>
          <p:cNvSpPr>
            <a:spLocks noGrp="1"/>
          </p:cNvSpPr>
          <p:nvPr/>
        </p:nvSpPr>
        <p:spPr>
          <a:xfrm>
            <a:off x="7274384" y="2733675"/>
            <a:ext cx="1291199"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19%</a:t>
            </a:r>
          </a:p>
        </p:txBody>
      </p:sp>
      <p:sp>
        <p:nvSpPr>
          <p:cNvPr id="551" name="Rectangle 550">
            <a:extLst>
              <a:ext uri="{FF2B5EF4-FFF2-40B4-BE49-F238E27FC236}">
                <a16:creationId xmlns:a16="http://schemas.microsoft.com/office/drawing/2014/main" id="{7E915CF4-366C-4F3F-A3D1-C3DF4056761E}"/>
              </a:ext>
            </a:extLst>
          </p:cNvPr>
          <p:cNvSpPr>
            <a:spLocks noGrp="1"/>
          </p:cNvSpPr>
          <p:nvPr/>
        </p:nvSpPr>
        <p:spPr>
          <a:xfrm>
            <a:off x="8584633" y="2628900"/>
            <a:ext cx="2035742" cy="447675"/>
          </a:xfrm>
          <a:prstGeom prst="rect">
            <a:avLst/>
          </a:prstGeom>
          <a:solidFill>
            <a:srgbClr val="285B9F"/>
          </a:solidFill>
          <a:ln w="0">
            <a:noFill/>
          </a:ln>
        </p:spPr>
        <p:txBody>
          <a:bodyPr/>
          <a:lstStyle/>
          <a:p>
            <a:endParaRPr lang="en-US"/>
          </a:p>
        </p:txBody>
      </p:sp>
      <p:sp>
        <p:nvSpPr>
          <p:cNvPr id="552" name="29%">
            <a:extLst>
              <a:ext uri="{FF2B5EF4-FFF2-40B4-BE49-F238E27FC236}">
                <a16:creationId xmlns:a16="http://schemas.microsoft.com/office/drawing/2014/main" id="{48466A17-1747-458E-8236-1BD51271414D}"/>
              </a:ext>
            </a:extLst>
          </p:cNvPr>
          <p:cNvSpPr>
            <a:spLocks noGrp="1"/>
          </p:cNvSpPr>
          <p:nvPr/>
        </p:nvSpPr>
        <p:spPr>
          <a:xfrm>
            <a:off x="8622733" y="2733675"/>
            <a:ext cx="197859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53" name="n=263">
            <a:extLst>
              <a:ext uri="{FF2B5EF4-FFF2-40B4-BE49-F238E27FC236}">
                <a16:creationId xmlns:a16="http://schemas.microsoft.com/office/drawing/2014/main" id="{AA0A1423-802D-44D8-B75C-A73EB74E3E74}"/>
              </a:ext>
            </a:extLst>
          </p:cNvPr>
          <p:cNvSpPr>
            <a:spLocks noGrp="1"/>
          </p:cNvSpPr>
          <p:nvPr/>
        </p:nvSpPr>
        <p:spPr>
          <a:xfrm>
            <a:off x="10782300" y="27241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n=263</a:t>
            </a:r>
          </a:p>
        </p:txBody>
      </p:sp>
      <p:sp>
        <p:nvSpPr>
          <p:cNvPr id="554" name="Average">
            <a:extLst>
              <a:ext uri="{FF2B5EF4-FFF2-40B4-BE49-F238E27FC236}">
                <a16:creationId xmlns:a16="http://schemas.microsoft.com/office/drawing/2014/main" id="{A9A418D8-693C-4000-8BCA-F55535AD9D83}"/>
              </a:ext>
            </a:extLst>
          </p:cNvPr>
          <p:cNvSpPr>
            <a:spLocks noGrp="1"/>
          </p:cNvSpPr>
          <p:nvPr/>
        </p:nvSpPr>
        <p:spPr>
          <a:xfrm>
            <a:off x="400050" y="33909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Average</a:t>
            </a:r>
          </a:p>
        </p:txBody>
      </p:sp>
      <p:sp>
        <p:nvSpPr>
          <p:cNvPr id="555" name="Rectangle 554">
            <a:extLst>
              <a:ext uri="{FF2B5EF4-FFF2-40B4-BE49-F238E27FC236}">
                <a16:creationId xmlns:a16="http://schemas.microsoft.com/office/drawing/2014/main" id="{0E3BBCB2-7AA0-4578-A1BB-99F48D7194FA}"/>
              </a:ext>
            </a:extLst>
          </p:cNvPr>
          <p:cNvSpPr>
            <a:spLocks noGrp="1"/>
          </p:cNvSpPr>
          <p:nvPr/>
        </p:nvSpPr>
        <p:spPr>
          <a:xfrm>
            <a:off x="3667125" y="3352800"/>
            <a:ext cx="1256611" cy="447675"/>
          </a:xfrm>
          <a:prstGeom prst="rect">
            <a:avLst/>
          </a:prstGeom>
          <a:solidFill>
            <a:srgbClr val="A83A3A"/>
          </a:solidFill>
          <a:ln w="0">
            <a:noFill/>
          </a:ln>
        </p:spPr>
        <p:txBody>
          <a:bodyPr/>
          <a:lstStyle/>
          <a:p>
            <a:endParaRPr lang="en-US"/>
          </a:p>
        </p:txBody>
      </p:sp>
      <p:sp>
        <p:nvSpPr>
          <p:cNvPr id="556" name="18%">
            <a:extLst>
              <a:ext uri="{FF2B5EF4-FFF2-40B4-BE49-F238E27FC236}">
                <a16:creationId xmlns:a16="http://schemas.microsoft.com/office/drawing/2014/main" id="{046D4389-4F3F-491C-B2CC-4AFECC3E566A}"/>
              </a:ext>
            </a:extLst>
          </p:cNvPr>
          <p:cNvSpPr>
            <a:spLocks noGrp="1"/>
          </p:cNvSpPr>
          <p:nvPr/>
        </p:nvSpPr>
        <p:spPr>
          <a:xfrm>
            <a:off x="3705225" y="3457575"/>
            <a:ext cx="119946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57" name="Rectangle 556">
            <a:extLst>
              <a:ext uri="{FF2B5EF4-FFF2-40B4-BE49-F238E27FC236}">
                <a16:creationId xmlns:a16="http://schemas.microsoft.com/office/drawing/2014/main" id="{8FD43389-EB72-4DED-B124-199F66C8DE4F}"/>
              </a:ext>
            </a:extLst>
          </p:cNvPr>
          <p:cNvSpPr>
            <a:spLocks noGrp="1"/>
          </p:cNvSpPr>
          <p:nvPr/>
        </p:nvSpPr>
        <p:spPr>
          <a:xfrm>
            <a:off x="4923736" y="3352800"/>
            <a:ext cx="2220014" cy="447675"/>
          </a:xfrm>
          <a:prstGeom prst="rect">
            <a:avLst/>
          </a:prstGeom>
          <a:solidFill>
            <a:srgbClr val="DC713D"/>
          </a:solidFill>
          <a:ln w="0">
            <a:noFill/>
          </a:ln>
        </p:spPr>
        <p:txBody>
          <a:bodyPr/>
          <a:lstStyle/>
          <a:p>
            <a:endParaRPr lang="en-US"/>
          </a:p>
        </p:txBody>
      </p:sp>
      <p:sp>
        <p:nvSpPr>
          <p:cNvPr id="558" name="32%">
            <a:extLst>
              <a:ext uri="{FF2B5EF4-FFF2-40B4-BE49-F238E27FC236}">
                <a16:creationId xmlns:a16="http://schemas.microsoft.com/office/drawing/2014/main" id="{95B6A70C-353C-4F3F-AB98-2949B31CDBB5}"/>
              </a:ext>
            </a:extLst>
          </p:cNvPr>
          <p:cNvSpPr>
            <a:spLocks noGrp="1"/>
          </p:cNvSpPr>
          <p:nvPr/>
        </p:nvSpPr>
        <p:spPr>
          <a:xfrm>
            <a:off x="4961836" y="3457575"/>
            <a:ext cx="216286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32%</a:t>
            </a:r>
          </a:p>
        </p:txBody>
      </p:sp>
      <p:sp>
        <p:nvSpPr>
          <p:cNvPr id="559" name="Rectangle 558">
            <a:extLst>
              <a:ext uri="{FF2B5EF4-FFF2-40B4-BE49-F238E27FC236}">
                <a16:creationId xmlns:a16="http://schemas.microsoft.com/office/drawing/2014/main" id="{197B879D-E750-4B4F-90B5-EB6205414D76}"/>
              </a:ext>
            </a:extLst>
          </p:cNvPr>
          <p:cNvSpPr>
            <a:spLocks noGrp="1"/>
          </p:cNvSpPr>
          <p:nvPr/>
        </p:nvSpPr>
        <p:spPr>
          <a:xfrm>
            <a:off x="7143750" y="3352800"/>
            <a:ext cx="2094352" cy="447675"/>
          </a:xfrm>
          <a:prstGeom prst="rect">
            <a:avLst/>
          </a:prstGeom>
          <a:solidFill>
            <a:srgbClr val="4C91D8"/>
          </a:solidFill>
          <a:ln w="0">
            <a:noFill/>
          </a:ln>
        </p:spPr>
        <p:txBody>
          <a:bodyPr/>
          <a:lstStyle/>
          <a:p>
            <a:endParaRPr lang="en-US"/>
          </a:p>
        </p:txBody>
      </p:sp>
      <p:sp>
        <p:nvSpPr>
          <p:cNvPr id="560" name="30%">
            <a:extLst>
              <a:ext uri="{FF2B5EF4-FFF2-40B4-BE49-F238E27FC236}">
                <a16:creationId xmlns:a16="http://schemas.microsoft.com/office/drawing/2014/main" id="{78D1E63A-EE2C-435C-B041-8AD61C41A553}"/>
              </a:ext>
            </a:extLst>
          </p:cNvPr>
          <p:cNvSpPr>
            <a:spLocks noGrp="1"/>
          </p:cNvSpPr>
          <p:nvPr/>
        </p:nvSpPr>
        <p:spPr>
          <a:xfrm>
            <a:off x="7181850" y="3457575"/>
            <a:ext cx="203720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30%</a:t>
            </a:r>
          </a:p>
        </p:txBody>
      </p:sp>
      <p:sp>
        <p:nvSpPr>
          <p:cNvPr id="561" name="Rectangle 560">
            <a:extLst>
              <a:ext uri="{FF2B5EF4-FFF2-40B4-BE49-F238E27FC236}">
                <a16:creationId xmlns:a16="http://schemas.microsoft.com/office/drawing/2014/main" id="{36F4EC8C-8383-493E-805E-8B89FA18B9FC}"/>
              </a:ext>
            </a:extLst>
          </p:cNvPr>
          <p:cNvSpPr>
            <a:spLocks noGrp="1"/>
          </p:cNvSpPr>
          <p:nvPr/>
        </p:nvSpPr>
        <p:spPr>
          <a:xfrm>
            <a:off x="9238102" y="3352800"/>
            <a:ext cx="1382273" cy="447675"/>
          </a:xfrm>
          <a:prstGeom prst="rect">
            <a:avLst/>
          </a:prstGeom>
          <a:solidFill>
            <a:srgbClr val="285B9F"/>
          </a:solidFill>
          <a:ln w="0">
            <a:noFill/>
          </a:ln>
        </p:spPr>
        <p:txBody>
          <a:bodyPr/>
          <a:lstStyle/>
          <a:p>
            <a:endParaRPr lang="en-US"/>
          </a:p>
        </p:txBody>
      </p:sp>
      <p:sp>
        <p:nvSpPr>
          <p:cNvPr id="562" name="20%">
            <a:extLst>
              <a:ext uri="{FF2B5EF4-FFF2-40B4-BE49-F238E27FC236}">
                <a16:creationId xmlns:a16="http://schemas.microsoft.com/office/drawing/2014/main" id="{589E2576-FE19-462D-9BC2-8F8EA75D6E83}"/>
              </a:ext>
            </a:extLst>
          </p:cNvPr>
          <p:cNvSpPr>
            <a:spLocks noGrp="1"/>
          </p:cNvSpPr>
          <p:nvPr/>
        </p:nvSpPr>
        <p:spPr>
          <a:xfrm>
            <a:off x="9276202" y="3457575"/>
            <a:ext cx="132512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63" name="n=332">
            <a:extLst>
              <a:ext uri="{FF2B5EF4-FFF2-40B4-BE49-F238E27FC236}">
                <a16:creationId xmlns:a16="http://schemas.microsoft.com/office/drawing/2014/main" id="{F94B50DD-36E0-4A49-882F-C3A8A807C4B8}"/>
              </a:ext>
            </a:extLst>
          </p:cNvPr>
          <p:cNvSpPr>
            <a:spLocks noGrp="1"/>
          </p:cNvSpPr>
          <p:nvPr/>
        </p:nvSpPr>
        <p:spPr>
          <a:xfrm>
            <a:off x="10782300" y="34480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n=332</a:t>
            </a:r>
          </a:p>
        </p:txBody>
      </p:sp>
      <p:sp>
        <p:nvSpPr>
          <p:cNvPr id="564" name="Mostly manageable">
            <a:extLst>
              <a:ext uri="{FF2B5EF4-FFF2-40B4-BE49-F238E27FC236}">
                <a16:creationId xmlns:a16="http://schemas.microsoft.com/office/drawing/2014/main" id="{4D7A617E-413D-44FC-B445-9BE5CA2B44FA}"/>
              </a:ext>
            </a:extLst>
          </p:cNvPr>
          <p:cNvSpPr>
            <a:spLocks noGrp="1"/>
          </p:cNvSpPr>
          <p:nvPr/>
        </p:nvSpPr>
        <p:spPr>
          <a:xfrm>
            <a:off x="400050" y="41148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Mostly manageable</a:t>
            </a:r>
          </a:p>
        </p:txBody>
      </p:sp>
      <p:sp>
        <p:nvSpPr>
          <p:cNvPr id="565" name="Rectangle 564">
            <a:extLst>
              <a:ext uri="{FF2B5EF4-FFF2-40B4-BE49-F238E27FC236}">
                <a16:creationId xmlns:a16="http://schemas.microsoft.com/office/drawing/2014/main" id="{54E16F0D-20F3-4B42-8BD9-81FDE1AAC952}"/>
              </a:ext>
            </a:extLst>
          </p:cNvPr>
          <p:cNvSpPr>
            <a:spLocks noGrp="1"/>
          </p:cNvSpPr>
          <p:nvPr/>
        </p:nvSpPr>
        <p:spPr>
          <a:xfrm>
            <a:off x="3667125" y="4076700"/>
            <a:ext cx="1372745" cy="447675"/>
          </a:xfrm>
          <a:prstGeom prst="rect">
            <a:avLst/>
          </a:prstGeom>
          <a:solidFill>
            <a:srgbClr val="A83A3A"/>
          </a:solidFill>
          <a:ln w="0">
            <a:noFill/>
          </a:ln>
        </p:spPr>
        <p:txBody>
          <a:bodyPr/>
          <a:lstStyle/>
          <a:p>
            <a:endParaRPr lang="en-US"/>
          </a:p>
        </p:txBody>
      </p:sp>
      <p:sp>
        <p:nvSpPr>
          <p:cNvPr id="566" name="20%">
            <a:extLst>
              <a:ext uri="{FF2B5EF4-FFF2-40B4-BE49-F238E27FC236}">
                <a16:creationId xmlns:a16="http://schemas.microsoft.com/office/drawing/2014/main" id="{9192329C-F09F-4819-914E-73EC1F024EDF}"/>
              </a:ext>
            </a:extLst>
          </p:cNvPr>
          <p:cNvSpPr>
            <a:spLocks noGrp="1"/>
          </p:cNvSpPr>
          <p:nvPr/>
        </p:nvSpPr>
        <p:spPr>
          <a:xfrm>
            <a:off x="3705225" y="4181475"/>
            <a:ext cx="131559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67" name="Rectangle 566">
            <a:extLst>
              <a:ext uri="{FF2B5EF4-FFF2-40B4-BE49-F238E27FC236}">
                <a16:creationId xmlns:a16="http://schemas.microsoft.com/office/drawing/2014/main" id="{DF967116-C6AC-44E5-BB00-A066506099DF}"/>
              </a:ext>
            </a:extLst>
          </p:cNvPr>
          <p:cNvSpPr>
            <a:spLocks noGrp="1"/>
          </p:cNvSpPr>
          <p:nvPr/>
        </p:nvSpPr>
        <p:spPr>
          <a:xfrm>
            <a:off x="5039870" y="4076700"/>
            <a:ext cx="1880063" cy="447675"/>
          </a:xfrm>
          <a:prstGeom prst="rect">
            <a:avLst/>
          </a:prstGeom>
          <a:solidFill>
            <a:srgbClr val="DC713D"/>
          </a:solidFill>
          <a:ln w="0">
            <a:noFill/>
          </a:ln>
        </p:spPr>
        <p:txBody>
          <a:bodyPr/>
          <a:lstStyle/>
          <a:p>
            <a:endParaRPr lang="en-US"/>
          </a:p>
        </p:txBody>
      </p:sp>
      <p:sp>
        <p:nvSpPr>
          <p:cNvPr id="568" name="27%">
            <a:extLst>
              <a:ext uri="{FF2B5EF4-FFF2-40B4-BE49-F238E27FC236}">
                <a16:creationId xmlns:a16="http://schemas.microsoft.com/office/drawing/2014/main" id="{0663B37E-0065-42C0-827B-1A79195AD7ED}"/>
              </a:ext>
            </a:extLst>
          </p:cNvPr>
          <p:cNvSpPr>
            <a:spLocks noGrp="1"/>
          </p:cNvSpPr>
          <p:nvPr/>
        </p:nvSpPr>
        <p:spPr>
          <a:xfrm>
            <a:off x="5077970" y="4181475"/>
            <a:ext cx="182291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69" name="Rectangle 568">
            <a:extLst>
              <a:ext uri="{FF2B5EF4-FFF2-40B4-BE49-F238E27FC236}">
                <a16:creationId xmlns:a16="http://schemas.microsoft.com/office/drawing/2014/main" id="{A9FD31E1-7562-48FD-A3B6-237BA81ADBA3}"/>
              </a:ext>
            </a:extLst>
          </p:cNvPr>
          <p:cNvSpPr>
            <a:spLocks noGrp="1"/>
          </p:cNvSpPr>
          <p:nvPr/>
        </p:nvSpPr>
        <p:spPr>
          <a:xfrm>
            <a:off x="6919933" y="4076700"/>
            <a:ext cx="2088959" cy="447675"/>
          </a:xfrm>
          <a:prstGeom prst="rect">
            <a:avLst/>
          </a:prstGeom>
          <a:solidFill>
            <a:srgbClr val="4C91D8"/>
          </a:solidFill>
          <a:ln w="0">
            <a:noFill/>
          </a:ln>
        </p:spPr>
        <p:txBody>
          <a:bodyPr/>
          <a:lstStyle/>
          <a:p>
            <a:endParaRPr lang="en-US"/>
          </a:p>
        </p:txBody>
      </p:sp>
      <p:sp>
        <p:nvSpPr>
          <p:cNvPr id="570" name="30%">
            <a:extLst>
              <a:ext uri="{FF2B5EF4-FFF2-40B4-BE49-F238E27FC236}">
                <a16:creationId xmlns:a16="http://schemas.microsoft.com/office/drawing/2014/main" id="{90E5CD6A-F510-4D81-9FA5-5999AA186248}"/>
              </a:ext>
            </a:extLst>
          </p:cNvPr>
          <p:cNvSpPr>
            <a:spLocks noGrp="1"/>
          </p:cNvSpPr>
          <p:nvPr/>
        </p:nvSpPr>
        <p:spPr>
          <a:xfrm>
            <a:off x="6958033" y="4181475"/>
            <a:ext cx="2031809"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30%</a:t>
            </a:r>
          </a:p>
        </p:txBody>
      </p:sp>
      <p:sp>
        <p:nvSpPr>
          <p:cNvPr id="571" name="Rectangle 570">
            <a:extLst>
              <a:ext uri="{FF2B5EF4-FFF2-40B4-BE49-F238E27FC236}">
                <a16:creationId xmlns:a16="http://schemas.microsoft.com/office/drawing/2014/main" id="{F8EFAECF-242F-4C11-9482-C9792B9545BD}"/>
              </a:ext>
            </a:extLst>
          </p:cNvPr>
          <p:cNvSpPr>
            <a:spLocks noGrp="1"/>
          </p:cNvSpPr>
          <p:nvPr/>
        </p:nvSpPr>
        <p:spPr>
          <a:xfrm>
            <a:off x="9008892" y="4076700"/>
            <a:ext cx="1611483" cy="447675"/>
          </a:xfrm>
          <a:prstGeom prst="rect">
            <a:avLst/>
          </a:prstGeom>
          <a:solidFill>
            <a:srgbClr val="285B9F"/>
          </a:solidFill>
          <a:ln w="0">
            <a:noFill/>
          </a:ln>
        </p:spPr>
        <p:txBody>
          <a:bodyPr/>
          <a:lstStyle/>
          <a:p>
            <a:endParaRPr lang="en-US"/>
          </a:p>
        </p:txBody>
      </p:sp>
      <p:sp>
        <p:nvSpPr>
          <p:cNvPr id="572" name="23%">
            <a:extLst>
              <a:ext uri="{FF2B5EF4-FFF2-40B4-BE49-F238E27FC236}">
                <a16:creationId xmlns:a16="http://schemas.microsoft.com/office/drawing/2014/main" id="{0724A395-17D1-4342-9FB1-02B0935574B6}"/>
              </a:ext>
            </a:extLst>
          </p:cNvPr>
          <p:cNvSpPr>
            <a:spLocks noGrp="1"/>
          </p:cNvSpPr>
          <p:nvPr/>
        </p:nvSpPr>
        <p:spPr>
          <a:xfrm>
            <a:off x="9046992" y="4181475"/>
            <a:ext cx="155433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23%</a:t>
            </a:r>
          </a:p>
        </p:txBody>
      </p:sp>
      <p:sp>
        <p:nvSpPr>
          <p:cNvPr id="573" name="n=233">
            <a:extLst>
              <a:ext uri="{FF2B5EF4-FFF2-40B4-BE49-F238E27FC236}">
                <a16:creationId xmlns:a16="http://schemas.microsoft.com/office/drawing/2014/main" id="{1A81B232-22E8-4385-86F0-81D97F726BE2}"/>
              </a:ext>
            </a:extLst>
          </p:cNvPr>
          <p:cNvSpPr>
            <a:spLocks noGrp="1"/>
          </p:cNvSpPr>
          <p:nvPr/>
        </p:nvSpPr>
        <p:spPr>
          <a:xfrm>
            <a:off x="10782300" y="41719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n=233</a:t>
            </a:r>
          </a:p>
        </p:txBody>
      </p:sp>
      <p:sp>
        <p:nvSpPr>
          <p:cNvPr id="574" name="Very healthy and balanced">
            <a:extLst>
              <a:ext uri="{FF2B5EF4-FFF2-40B4-BE49-F238E27FC236}">
                <a16:creationId xmlns:a16="http://schemas.microsoft.com/office/drawing/2014/main" id="{01225E59-899E-4BD3-9C75-346C2A9C8B9B}"/>
              </a:ext>
            </a:extLst>
          </p:cNvPr>
          <p:cNvSpPr>
            <a:spLocks noGrp="1"/>
          </p:cNvSpPr>
          <p:nvPr/>
        </p:nvSpPr>
        <p:spPr>
          <a:xfrm>
            <a:off x="400050" y="48387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Very healthy and balanced</a:t>
            </a:r>
          </a:p>
        </p:txBody>
      </p:sp>
      <p:sp>
        <p:nvSpPr>
          <p:cNvPr id="575" name="Rectangle 574">
            <a:extLst>
              <a:ext uri="{FF2B5EF4-FFF2-40B4-BE49-F238E27FC236}">
                <a16:creationId xmlns:a16="http://schemas.microsoft.com/office/drawing/2014/main" id="{0543B520-ADAF-4C76-98FF-DDD685EE21FF}"/>
              </a:ext>
            </a:extLst>
          </p:cNvPr>
          <p:cNvSpPr>
            <a:spLocks noGrp="1"/>
          </p:cNvSpPr>
          <p:nvPr/>
        </p:nvSpPr>
        <p:spPr>
          <a:xfrm>
            <a:off x="3667125" y="4800600"/>
            <a:ext cx="1753428" cy="447675"/>
          </a:xfrm>
          <a:prstGeom prst="rect">
            <a:avLst/>
          </a:prstGeom>
          <a:solidFill>
            <a:srgbClr val="A83A3A"/>
          </a:solidFill>
          <a:ln w="0">
            <a:noFill/>
          </a:ln>
        </p:spPr>
        <p:txBody>
          <a:bodyPr/>
          <a:lstStyle/>
          <a:p>
            <a:endParaRPr lang="en-US"/>
          </a:p>
        </p:txBody>
      </p:sp>
      <p:sp>
        <p:nvSpPr>
          <p:cNvPr id="576" name="25%">
            <a:extLst>
              <a:ext uri="{FF2B5EF4-FFF2-40B4-BE49-F238E27FC236}">
                <a16:creationId xmlns:a16="http://schemas.microsoft.com/office/drawing/2014/main" id="{C9D1D9F5-EE20-49F4-95DF-CAD543967C90}"/>
              </a:ext>
            </a:extLst>
          </p:cNvPr>
          <p:cNvSpPr>
            <a:spLocks noGrp="1"/>
          </p:cNvSpPr>
          <p:nvPr/>
        </p:nvSpPr>
        <p:spPr>
          <a:xfrm>
            <a:off x="3705225" y="4905375"/>
            <a:ext cx="169627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77" name="Rectangle 576">
            <a:extLst>
              <a:ext uri="{FF2B5EF4-FFF2-40B4-BE49-F238E27FC236}">
                <a16:creationId xmlns:a16="http://schemas.microsoft.com/office/drawing/2014/main" id="{7692E0F0-8BA1-46DB-868D-D5301DD75F11}"/>
              </a:ext>
            </a:extLst>
          </p:cNvPr>
          <p:cNvSpPr>
            <a:spLocks noGrp="1"/>
          </p:cNvSpPr>
          <p:nvPr/>
        </p:nvSpPr>
        <p:spPr>
          <a:xfrm>
            <a:off x="5420553" y="4800600"/>
            <a:ext cx="1692965" cy="447675"/>
          </a:xfrm>
          <a:prstGeom prst="rect">
            <a:avLst/>
          </a:prstGeom>
          <a:solidFill>
            <a:srgbClr val="DC713D"/>
          </a:solidFill>
          <a:ln w="0">
            <a:noFill/>
          </a:ln>
        </p:spPr>
        <p:txBody>
          <a:bodyPr/>
          <a:lstStyle/>
          <a:p>
            <a:endParaRPr lang="en-US"/>
          </a:p>
        </p:txBody>
      </p:sp>
      <p:sp>
        <p:nvSpPr>
          <p:cNvPr id="578" name="24%">
            <a:extLst>
              <a:ext uri="{FF2B5EF4-FFF2-40B4-BE49-F238E27FC236}">
                <a16:creationId xmlns:a16="http://schemas.microsoft.com/office/drawing/2014/main" id="{1AE690E4-9954-4D07-91D6-67454D014CB1}"/>
              </a:ext>
            </a:extLst>
          </p:cNvPr>
          <p:cNvSpPr>
            <a:spLocks noGrp="1"/>
          </p:cNvSpPr>
          <p:nvPr/>
        </p:nvSpPr>
        <p:spPr>
          <a:xfrm>
            <a:off x="5458653" y="4905375"/>
            <a:ext cx="163581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79" name="Rectangle 578">
            <a:extLst>
              <a:ext uri="{FF2B5EF4-FFF2-40B4-BE49-F238E27FC236}">
                <a16:creationId xmlns:a16="http://schemas.microsoft.com/office/drawing/2014/main" id="{24B975B4-B56B-4EA6-8AA8-23A109A46705}"/>
              </a:ext>
            </a:extLst>
          </p:cNvPr>
          <p:cNvSpPr>
            <a:spLocks noGrp="1"/>
          </p:cNvSpPr>
          <p:nvPr/>
        </p:nvSpPr>
        <p:spPr>
          <a:xfrm>
            <a:off x="7113518" y="4800600"/>
            <a:ext cx="1813891" cy="447675"/>
          </a:xfrm>
          <a:prstGeom prst="rect">
            <a:avLst/>
          </a:prstGeom>
          <a:solidFill>
            <a:srgbClr val="4C91D8"/>
          </a:solidFill>
          <a:ln w="0">
            <a:noFill/>
          </a:ln>
        </p:spPr>
        <p:txBody>
          <a:bodyPr/>
          <a:lstStyle/>
          <a:p>
            <a:endParaRPr lang="en-US"/>
          </a:p>
        </p:txBody>
      </p:sp>
      <p:sp>
        <p:nvSpPr>
          <p:cNvPr id="580" name="26%">
            <a:extLst>
              <a:ext uri="{FF2B5EF4-FFF2-40B4-BE49-F238E27FC236}">
                <a16:creationId xmlns:a16="http://schemas.microsoft.com/office/drawing/2014/main" id="{F451F49A-CB72-49A9-88F1-E6F244F552F3}"/>
              </a:ext>
            </a:extLst>
          </p:cNvPr>
          <p:cNvSpPr>
            <a:spLocks noGrp="1"/>
          </p:cNvSpPr>
          <p:nvPr/>
        </p:nvSpPr>
        <p:spPr>
          <a:xfrm>
            <a:off x="7151618" y="4905375"/>
            <a:ext cx="175674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81" name="Rectangle 580">
            <a:extLst>
              <a:ext uri="{FF2B5EF4-FFF2-40B4-BE49-F238E27FC236}">
                <a16:creationId xmlns:a16="http://schemas.microsoft.com/office/drawing/2014/main" id="{BBC6995C-6D83-41EA-9A0C-5830034EEC81}"/>
              </a:ext>
            </a:extLst>
          </p:cNvPr>
          <p:cNvSpPr>
            <a:spLocks noGrp="1"/>
          </p:cNvSpPr>
          <p:nvPr/>
        </p:nvSpPr>
        <p:spPr>
          <a:xfrm>
            <a:off x="8927410" y="4800600"/>
            <a:ext cx="1692965" cy="447675"/>
          </a:xfrm>
          <a:prstGeom prst="rect">
            <a:avLst/>
          </a:prstGeom>
          <a:solidFill>
            <a:srgbClr val="285B9F"/>
          </a:solidFill>
          <a:ln w="0">
            <a:noFill/>
          </a:ln>
        </p:spPr>
        <p:txBody>
          <a:bodyPr/>
          <a:lstStyle/>
          <a:p>
            <a:endParaRPr lang="en-US"/>
          </a:p>
        </p:txBody>
      </p:sp>
      <p:sp>
        <p:nvSpPr>
          <p:cNvPr id="582" name="24%">
            <a:extLst>
              <a:ext uri="{FF2B5EF4-FFF2-40B4-BE49-F238E27FC236}">
                <a16:creationId xmlns:a16="http://schemas.microsoft.com/office/drawing/2014/main" id="{E6213C9F-0162-47F5-B53B-A16709D3997D}"/>
              </a:ext>
            </a:extLst>
          </p:cNvPr>
          <p:cNvSpPr>
            <a:spLocks noGrp="1"/>
          </p:cNvSpPr>
          <p:nvPr/>
        </p:nvSpPr>
        <p:spPr>
          <a:xfrm>
            <a:off x="8965510" y="4905375"/>
            <a:ext cx="163581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83" name="n=115">
            <a:extLst>
              <a:ext uri="{FF2B5EF4-FFF2-40B4-BE49-F238E27FC236}">
                <a16:creationId xmlns:a16="http://schemas.microsoft.com/office/drawing/2014/main" id="{DB4B7F31-1219-465C-82EB-8954BA14EE0F}"/>
              </a:ext>
            </a:extLst>
          </p:cNvPr>
          <p:cNvSpPr>
            <a:spLocks noGrp="1"/>
          </p:cNvSpPr>
          <p:nvPr/>
        </p:nvSpPr>
        <p:spPr>
          <a:xfrm>
            <a:off x="10782300" y="48958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n=115</a:t>
            </a:r>
          </a:p>
        </p:txBody>
      </p:sp>
      <p:sp>
        <p:nvSpPr>
          <p:cNvPr id="584" name="Rectangle 583">
            <a:extLst>
              <a:ext uri="{FF2B5EF4-FFF2-40B4-BE49-F238E27FC236}">
                <a16:creationId xmlns:a16="http://schemas.microsoft.com/office/drawing/2014/main" id="{D9441059-6148-4CAC-B5BC-6426A870FD6F}"/>
              </a:ext>
            </a:extLst>
          </p:cNvPr>
          <p:cNvSpPr>
            <a:spLocks noGrp="1"/>
          </p:cNvSpPr>
          <p:nvPr/>
        </p:nvSpPr>
        <p:spPr>
          <a:xfrm>
            <a:off x="3667125" y="1409700"/>
            <a:ext cx="190500" cy="190500"/>
          </a:xfrm>
          <a:prstGeom prst="rect">
            <a:avLst/>
          </a:prstGeom>
          <a:solidFill>
            <a:srgbClr val="A83A3A"/>
          </a:solidFill>
          <a:ln w="0">
            <a:noFill/>
          </a:ln>
        </p:spPr>
        <p:txBody>
          <a:bodyPr/>
          <a:lstStyle/>
          <a:p>
            <a:endParaRPr lang="en-US"/>
          </a:p>
        </p:txBody>
      </p:sp>
      <p:sp>
        <p:nvSpPr>
          <p:cNvPr id="585" name="C0  &lt; 3.20">
            <a:extLst>
              <a:ext uri="{FF2B5EF4-FFF2-40B4-BE49-F238E27FC236}">
                <a16:creationId xmlns:a16="http://schemas.microsoft.com/office/drawing/2014/main" id="{CA7820B6-AA00-4377-B75F-972F14C380C5}"/>
              </a:ext>
            </a:extLst>
          </p:cNvPr>
          <p:cNvSpPr>
            <a:spLocks noGrp="1"/>
          </p:cNvSpPr>
          <p:nvPr/>
        </p:nvSpPr>
        <p:spPr>
          <a:xfrm>
            <a:off x="39433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C0  &lt; 3.20</a:t>
            </a:r>
          </a:p>
        </p:txBody>
      </p:sp>
      <p:sp>
        <p:nvSpPr>
          <p:cNvPr id="586" name="Rectangle 585">
            <a:extLst>
              <a:ext uri="{FF2B5EF4-FFF2-40B4-BE49-F238E27FC236}">
                <a16:creationId xmlns:a16="http://schemas.microsoft.com/office/drawing/2014/main" id="{83D141F2-87DF-49FF-A075-C3216456BF05}"/>
              </a:ext>
            </a:extLst>
          </p:cNvPr>
          <p:cNvSpPr>
            <a:spLocks noGrp="1"/>
          </p:cNvSpPr>
          <p:nvPr/>
        </p:nvSpPr>
        <p:spPr>
          <a:xfrm>
            <a:off x="5476875" y="1409700"/>
            <a:ext cx="190500" cy="190500"/>
          </a:xfrm>
          <a:prstGeom prst="rect">
            <a:avLst/>
          </a:prstGeom>
          <a:solidFill>
            <a:srgbClr val="DC713D"/>
          </a:solidFill>
          <a:ln w="0">
            <a:noFill/>
          </a:ln>
        </p:spPr>
        <p:txBody>
          <a:bodyPr/>
          <a:lstStyle/>
          <a:p>
            <a:endParaRPr lang="en-US"/>
          </a:p>
        </p:txBody>
      </p:sp>
      <p:sp>
        <p:nvSpPr>
          <p:cNvPr id="587" name="C1  3.20–3.49">
            <a:extLst>
              <a:ext uri="{FF2B5EF4-FFF2-40B4-BE49-F238E27FC236}">
                <a16:creationId xmlns:a16="http://schemas.microsoft.com/office/drawing/2014/main" id="{214D1088-896D-4989-9D87-A78E4C47B17E}"/>
              </a:ext>
            </a:extLst>
          </p:cNvPr>
          <p:cNvSpPr>
            <a:spLocks noGrp="1"/>
          </p:cNvSpPr>
          <p:nvPr/>
        </p:nvSpPr>
        <p:spPr>
          <a:xfrm>
            <a:off x="57531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C1  3.20–3.49</a:t>
            </a:r>
          </a:p>
        </p:txBody>
      </p:sp>
      <p:sp>
        <p:nvSpPr>
          <p:cNvPr id="588" name="Rectangle 587">
            <a:extLst>
              <a:ext uri="{FF2B5EF4-FFF2-40B4-BE49-F238E27FC236}">
                <a16:creationId xmlns:a16="http://schemas.microsoft.com/office/drawing/2014/main" id="{516A69C6-371F-41D1-8789-00C2F3861583}"/>
              </a:ext>
            </a:extLst>
          </p:cNvPr>
          <p:cNvSpPr>
            <a:spLocks noGrp="1"/>
          </p:cNvSpPr>
          <p:nvPr/>
        </p:nvSpPr>
        <p:spPr>
          <a:xfrm>
            <a:off x="7286625" y="1409700"/>
            <a:ext cx="190500" cy="190500"/>
          </a:xfrm>
          <a:prstGeom prst="rect">
            <a:avLst/>
          </a:prstGeom>
          <a:solidFill>
            <a:srgbClr val="4C91D8"/>
          </a:solidFill>
          <a:ln w="0">
            <a:noFill/>
          </a:ln>
        </p:spPr>
        <p:txBody>
          <a:bodyPr/>
          <a:lstStyle/>
          <a:p>
            <a:endParaRPr lang="en-US"/>
          </a:p>
        </p:txBody>
      </p:sp>
      <p:sp>
        <p:nvSpPr>
          <p:cNvPr id="589" name="C2  3.50–3.74">
            <a:extLst>
              <a:ext uri="{FF2B5EF4-FFF2-40B4-BE49-F238E27FC236}">
                <a16:creationId xmlns:a16="http://schemas.microsoft.com/office/drawing/2014/main" id="{19DE4266-CE0D-4F1D-A478-582DA84A1A2F}"/>
              </a:ext>
            </a:extLst>
          </p:cNvPr>
          <p:cNvSpPr>
            <a:spLocks noGrp="1"/>
          </p:cNvSpPr>
          <p:nvPr/>
        </p:nvSpPr>
        <p:spPr>
          <a:xfrm>
            <a:off x="75628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C2  3.50–3.74</a:t>
            </a:r>
          </a:p>
        </p:txBody>
      </p:sp>
      <p:sp>
        <p:nvSpPr>
          <p:cNvPr id="590" name="Rectangle 589">
            <a:extLst>
              <a:ext uri="{FF2B5EF4-FFF2-40B4-BE49-F238E27FC236}">
                <a16:creationId xmlns:a16="http://schemas.microsoft.com/office/drawing/2014/main" id="{8A5329BA-B6CA-4368-BA1C-92863BC7D040}"/>
              </a:ext>
            </a:extLst>
          </p:cNvPr>
          <p:cNvSpPr>
            <a:spLocks noGrp="1"/>
          </p:cNvSpPr>
          <p:nvPr/>
        </p:nvSpPr>
        <p:spPr>
          <a:xfrm>
            <a:off x="9096375" y="1409700"/>
            <a:ext cx="190500" cy="190500"/>
          </a:xfrm>
          <a:prstGeom prst="rect">
            <a:avLst/>
          </a:prstGeom>
          <a:solidFill>
            <a:srgbClr val="285B9F"/>
          </a:solidFill>
          <a:ln w="0">
            <a:noFill/>
          </a:ln>
        </p:spPr>
        <p:txBody>
          <a:bodyPr/>
          <a:lstStyle/>
          <a:p>
            <a:endParaRPr lang="en-US"/>
          </a:p>
        </p:txBody>
      </p:sp>
      <p:sp>
        <p:nvSpPr>
          <p:cNvPr id="591" name="C3  ≥ 3.75">
            <a:extLst>
              <a:ext uri="{FF2B5EF4-FFF2-40B4-BE49-F238E27FC236}">
                <a16:creationId xmlns:a16="http://schemas.microsoft.com/office/drawing/2014/main" id="{AD089DC8-45FD-4109-ADB0-D45C40E5FD53}"/>
              </a:ext>
            </a:extLst>
          </p:cNvPr>
          <p:cNvSpPr>
            <a:spLocks noGrp="1"/>
          </p:cNvSpPr>
          <p:nvPr/>
        </p:nvSpPr>
        <p:spPr>
          <a:xfrm>
            <a:off x="93726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C3  ≥ 3.75</a:t>
            </a:r>
          </a:p>
        </p:txBody>
      </p:sp>
      <p:cxnSp>
        <p:nvCxnSpPr>
          <p:cNvPr id="2" name="Straight Arrow Connector 1">
            <a:extLst>
              <a:ext uri="{FF2B5EF4-FFF2-40B4-BE49-F238E27FC236}">
                <a16:creationId xmlns:a16="http://schemas.microsoft.com/office/drawing/2014/main" id="{F69DCD1D-F3CE-3C89-BDDD-4A8311832CFB}"/>
              </a:ext>
            </a:extLst>
          </p:cNvPr>
          <p:cNvCxnSpPr>
            <a:cxnSpLocks/>
          </p:cNvCxnSpPr>
          <p:nvPr/>
        </p:nvCxnSpPr>
        <p:spPr>
          <a:xfrm>
            <a:off x="204107" y="5763986"/>
            <a:ext cx="105781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D8797FAF-0DD0-D81C-1434-A39C6BB22F69}"/>
              </a:ext>
            </a:extLst>
          </p:cNvPr>
          <p:cNvCxnSpPr>
            <a:cxnSpLocks/>
          </p:cNvCxnSpPr>
          <p:nvPr/>
        </p:nvCxnSpPr>
        <p:spPr>
          <a:xfrm flipV="1">
            <a:off x="356507" y="971550"/>
            <a:ext cx="0" cy="4944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8CDA531B-5568-3EA8-1908-0B8B57DB1C3D}"/>
              </a:ext>
            </a:extLst>
          </p:cNvPr>
          <p:cNvSpPr txBox="1"/>
          <p:nvPr/>
        </p:nvSpPr>
        <p:spPr>
          <a:xfrm>
            <a:off x="5532723" y="5787509"/>
            <a:ext cx="821572" cy="369332"/>
          </a:xfrm>
          <a:prstGeom prst="rect">
            <a:avLst/>
          </a:prstGeom>
          <a:noFill/>
        </p:spPr>
        <p:txBody>
          <a:bodyPr wrap="none" rtlCol="0">
            <a:spAutoFit/>
          </a:bodyPr>
          <a:lstStyle/>
          <a:p>
            <a:r>
              <a:rPr lang="en-US" dirty="0"/>
              <a:t>CGPA</a:t>
            </a:r>
          </a:p>
        </p:txBody>
      </p:sp>
      <p:sp>
        <p:nvSpPr>
          <p:cNvPr id="5" name="TextBox 4">
            <a:extLst>
              <a:ext uri="{FF2B5EF4-FFF2-40B4-BE49-F238E27FC236}">
                <a16:creationId xmlns:a16="http://schemas.microsoft.com/office/drawing/2014/main" id="{C1E524B4-14BF-C25E-36E4-9531F63CF44A}"/>
              </a:ext>
            </a:extLst>
          </p:cNvPr>
          <p:cNvSpPr txBox="1"/>
          <p:nvPr/>
        </p:nvSpPr>
        <p:spPr>
          <a:xfrm rot="16200000">
            <a:off x="-1034613" y="2715997"/>
            <a:ext cx="2467342" cy="369332"/>
          </a:xfrm>
          <a:prstGeom prst="rect">
            <a:avLst/>
          </a:prstGeom>
          <a:noFill/>
        </p:spPr>
        <p:txBody>
          <a:bodyPr wrap="none" rtlCol="0">
            <a:spAutoFit/>
          </a:bodyPr>
          <a:lstStyle/>
          <a:p>
            <a:r>
              <a:rPr lang="en-US" dirty="0"/>
              <a:t>Routine manageability</a:t>
            </a:r>
          </a:p>
        </p:txBody>
      </p:sp>
    </p:spTree>
    <p:extLst>
      <p:ext uri="{BB962C8B-B14F-4D97-AF65-F5344CB8AC3E}">
        <p14:creationId xmlns:p14="http://schemas.microsoft.com/office/powerpoint/2010/main" val="181270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FRAMEWORK</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How the Model Learns</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28</a:t>
            </a:r>
          </a:p>
        </p:txBody>
      </p:sp>
      <p:sp>
        <p:nvSpPr>
          <p:cNvPr id="7" name="Rounded Rectangle 6"/>
          <p:cNvSpPr/>
          <p:nvPr/>
        </p:nvSpPr>
        <p:spPr>
          <a:xfrm>
            <a:off x="548640" y="1645920"/>
            <a:ext cx="1874519" cy="30175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24128" y="1874519"/>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600" b="0">
                <a:solidFill>
                  <a:srgbClr val="0B0B0B"/>
                </a:solidFill>
                <a:latin typeface="Helvetica Neue"/>
              </a:rPr>
              <a:t>📝</a:t>
            </a:r>
          </a:p>
        </p:txBody>
      </p:sp>
      <p:sp>
        <p:nvSpPr>
          <p:cNvPr id="9" name="TextBox 8"/>
          <p:cNvSpPr txBox="1"/>
          <p:nvPr/>
        </p:nvSpPr>
        <p:spPr>
          <a:xfrm>
            <a:off x="640080" y="2926080"/>
            <a:ext cx="1691640" cy="914400"/>
          </a:xfrm>
          <a:prstGeom prst="rect">
            <a:avLst/>
          </a:prstGeom>
          <a:noFill/>
        </p:spPr>
        <p:txBody>
          <a:bodyPr wrap="square" lIns="27432" tIns="27432" rIns="27432" bIns="27432" anchor="t">
            <a:noAutofit/>
          </a:bodyPr>
          <a:lstStyle/>
          <a:p>
            <a:pPr algn="ctr">
              <a:lnSpc>
                <a:spcPct val="105000"/>
              </a:lnSpc>
            </a:pPr>
            <a:r>
              <a:rPr sz="1800" b="1">
                <a:solidFill>
                  <a:srgbClr val="0B0B0B"/>
                </a:solidFill>
                <a:latin typeface="Helvetica Neue"/>
              </a:rPr>
              <a:t>Student answers</a:t>
            </a:r>
          </a:p>
        </p:txBody>
      </p:sp>
      <p:sp>
        <p:nvSpPr>
          <p:cNvPr id="10" name="TextBox 9"/>
          <p:cNvSpPr txBox="1"/>
          <p:nvPr/>
        </p:nvSpPr>
        <p:spPr>
          <a:xfrm>
            <a:off x="640080" y="3886200"/>
            <a:ext cx="1691640" cy="640080"/>
          </a:xfrm>
          <a:prstGeom prst="rect">
            <a:avLst/>
          </a:prstGeom>
          <a:noFill/>
        </p:spPr>
        <p:txBody>
          <a:bodyPr wrap="square" lIns="27432" tIns="27432" rIns="27432" bIns="27432" anchor="t">
            <a:noAutofit/>
          </a:bodyPr>
          <a:lstStyle/>
          <a:p>
            <a:pPr algn="ctr">
              <a:lnSpc>
                <a:spcPct val="105000"/>
              </a:lnSpc>
            </a:pPr>
            <a:r>
              <a:rPr sz="1500" b="0">
                <a:solidFill>
                  <a:srgbClr val="52514E"/>
                </a:solidFill>
                <a:latin typeface="Helvetica Neue"/>
              </a:rPr>
              <a:t>12 questions</a:t>
            </a:r>
          </a:p>
        </p:txBody>
      </p:sp>
      <p:sp>
        <p:nvSpPr>
          <p:cNvPr id="11" name="Right Arrow 10"/>
          <p:cNvSpPr/>
          <p:nvPr/>
        </p:nvSpPr>
        <p:spPr>
          <a:xfrm>
            <a:off x="2468880" y="3017520"/>
            <a:ext cx="329184"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834640" y="1645920"/>
            <a:ext cx="1874519" cy="30175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310128" y="1874519"/>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600" b="0">
                <a:solidFill>
                  <a:srgbClr val="0B0B0B"/>
                </a:solidFill>
                <a:latin typeface="Helvetica Neue"/>
              </a:rPr>
              <a:t>🏋️</a:t>
            </a:r>
          </a:p>
        </p:txBody>
      </p:sp>
      <p:sp>
        <p:nvSpPr>
          <p:cNvPr id="14" name="TextBox 13"/>
          <p:cNvSpPr txBox="1"/>
          <p:nvPr/>
        </p:nvSpPr>
        <p:spPr>
          <a:xfrm>
            <a:off x="2926080" y="2926080"/>
            <a:ext cx="1691640" cy="914400"/>
          </a:xfrm>
          <a:prstGeom prst="rect">
            <a:avLst/>
          </a:prstGeom>
          <a:noFill/>
        </p:spPr>
        <p:txBody>
          <a:bodyPr wrap="square" lIns="27432" tIns="27432" rIns="27432" bIns="27432" anchor="t">
            <a:noAutofit/>
          </a:bodyPr>
          <a:lstStyle/>
          <a:p>
            <a:pPr algn="ctr">
              <a:lnSpc>
                <a:spcPct val="105000"/>
              </a:lnSpc>
            </a:pPr>
            <a:r>
              <a:rPr sz="1800" b="1">
                <a:solidFill>
                  <a:srgbClr val="0B0B0B"/>
                </a:solidFill>
                <a:latin typeface="Helvetica Neue"/>
              </a:rPr>
              <a:t>Training students</a:t>
            </a:r>
          </a:p>
        </p:txBody>
      </p:sp>
      <p:sp>
        <p:nvSpPr>
          <p:cNvPr id="15" name="TextBox 14"/>
          <p:cNvSpPr txBox="1"/>
          <p:nvPr/>
        </p:nvSpPr>
        <p:spPr>
          <a:xfrm>
            <a:off x="2926080" y="3886200"/>
            <a:ext cx="1691640" cy="640080"/>
          </a:xfrm>
          <a:prstGeom prst="rect">
            <a:avLst/>
          </a:prstGeom>
          <a:noFill/>
        </p:spPr>
        <p:txBody>
          <a:bodyPr wrap="square" lIns="27432" tIns="27432" rIns="27432" bIns="27432" anchor="t">
            <a:noAutofit/>
          </a:bodyPr>
          <a:lstStyle/>
          <a:p>
            <a:pPr algn="ctr">
              <a:lnSpc>
                <a:spcPct val="105000"/>
              </a:lnSpc>
            </a:pPr>
            <a:r>
              <a:rPr sz="1500" b="0">
                <a:solidFill>
                  <a:srgbClr val="52514E"/>
                </a:solidFill>
                <a:latin typeface="Helvetica Neue"/>
              </a:rPr>
              <a:t>881 (80%)</a:t>
            </a:r>
          </a:p>
        </p:txBody>
      </p:sp>
      <p:sp>
        <p:nvSpPr>
          <p:cNvPr id="16" name="Right Arrow 15"/>
          <p:cNvSpPr/>
          <p:nvPr/>
        </p:nvSpPr>
        <p:spPr>
          <a:xfrm>
            <a:off x="4754880" y="3017520"/>
            <a:ext cx="329184"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120640" y="1645920"/>
            <a:ext cx="1874519" cy="301752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5596127" y="1874519"/>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600" b="0">
                <a:solidFill>
                  <a:srgbClr val="0B0B0B"/>
                </a:solidFill>
                <a:latin typeface="Helvetica Neue"/>
              </a:rPr>
              <a:t>🌳</a:t>
            </a:r>
          </a:p>
        </p:txBody>
      </p:sp>
      <p:sp>
        <p:nvSpPr>
          <p:cNvPr id="19" name="TextBox 18"/>
          <p:cNvSpPr txBox="1"/>
          <p:nvPr/>
        </p:nvSpPr>
        <p:spPr>
          <a:xfrm>
            <a:off x="5212079" y="2926080"/>
            <a:ext cx="1691640" cy="914400"/>
          </a:xfrm>
          <a:prstGeom prst="rect">
            <a:avLst/>
          </a:prstGeom>
          <a:noFill/>
        </p:spPr>
        <p:txBody>
          <a:bodyPr wrap="square" lIns="27432" tIns="27432" rIns="27432" bIns="27432" anchor="t">
            <a:noAutofit/>
          </a:bodyPr>
          <a:lstStyle/>
          <a:p>
            <a:pPr algn="ctr">
              <a:lnSpc>
                <a:spcPct val="105000"/>
              </a:lnSpc>
            </a:pPr>
            <a:r>
              <a:rPr sz="1800" b="1">
                <a:solidFill>
                  <a:srgbClr val="0B0B0B"/>
                </a:solidFill>
                <a:latin typeface="Helvetica Neue"/>
              </a:rPr>
              <a:t>Decision Tree learns rules</a:t>
            </a:r>
          </a:p>
        </p:txBody>
      </p:sp>
      <p:sp>
        <p:nvSpPr>
          <p:cNvPr id="20" name="TextBox 19"/>
          <p:cNvSpPr txBox="1"/>
          <p:nvPr/>
        </p:nvSpPr>
        <p:spPr>
          <a:xfrm>
            <a:off x="5212079" y="3886200"/>
            <a:ext cx="1691640" cy="640080"/>
          </a:xfrm>
          <a:prstGeom prst="rect">
            <a:avLst/>
          </a:prstGeom>
          <a:noFill/>
        </p:spPr>
        <p:txBody>
          <a:bodyPr wrap="square" lIns="27432" tIns="27432" rIns="27432" bIns="27432" anchor="t">
            <a:noAutofit/>
          </a:bodyPr>
          <a:lstStyle/>
          <a:p>
            <a:pPr algn="ctr">
              <a:lnSpc>
                <a:spcPct val="105000"/>
              </a:lnSpc>
            </a:pPr>
            <a:r>
              <a:rPr sz="1500" b="0">
                <a:solidFill>
                  <a:srgbClr val="52514E"/>
                </a:solidFill>
                <a:latin typeface="Helvetica Neue"/>
              </a:rPr>
              <a:t>IF … AND … → group</a:t>
            </a:r>
          </a:p>
        </p:txBody>
      </p:sp>
      <p:sp>
        <p:nvSpPr>
          <p:cNvPr id="21" name="Right Arrow 20"/>
          <p:cNvSpPr/>
          <p:nvPr/>
        </p:nvSpPr>
        <p:spPr>
          <a:xfrm>
            <a:off x="7040879" y="3017520"/>
            <a:ext cx="329184"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406640" y="1645920"/>
            <a:ext cx="1874519" cy="30175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882127" y="1874519"/>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600" b="0">
                <a:solidFill>
                  <a:srgbClr val="0B0B0B"/>
                </a:solidFill>
                <a:latin typeface="Helvetica Neue"/>
              </a:rPr>
              <a:t>🆕</a:t>
            </a:r>
          </a:p>
        </p:txBody>
      </p:sp>
      <p:sp>
        <p:nvSpPr>
          <p:cNvPr id="24" name="TextBox 23"/>
          <p:cNvSpPr txBox="1"/>
          <p:nvPr/>
        </p:nvSpPr>
        <p:spPr>
          <a:xfrm>
            <a:off x="7498079" y="2926080"/>
            <a:ext cx="1691640" cy="914400"/>
          </a:xfrm>
          <a:prstGeom prst="rect">
            <a:avLst/>
          </a:prstGeom>
          <a:noFill/>
        </p:spPr>
        <p:txBody>
          <a:bodyPr wrap="square" lIns="27432" tIns="27432" rIns="27432" bIns="27432" anchor="t">
            <a:noAutofit/>
          </a:bodyPr>
          <a:lstStyle/>
          <a:p>
            <a:pPr algn="ctr">
              <a:lnSpc>
                <a:spcPct val="105000"/>
              </a:lnSpc>
            </a:pPr>
            <a:r>
              <a:rPr sz="1800" b="1">
                <a:solidFill>
                  <a:srgbClr val="0B0B0B"/>
                </a:solidFill>
                <a:latin typeface="Helvetica Neue"/>
              </a:rPr>
              <a:t>New test student</a:t>
            </a:r>
          </a:p>
        </p:txBody>
      </p:sp>
      <p:sp>
        <p:nvSpPr>
          <p:cNvPr id="25" name="TextBox 24"/>
          <p:cNvSpPr txBox="1"/>
          <p:nvPr/>
        </p:nvSpPr>
        <p:spPr>
          <a:xfrm>
            <a:off x="7498079" y="3886200"/>
            <a:ext cx="1691640" cy="640080"/>
          </a:xfrm>
          <a:prstGeom prst="rect">
            <a:avLst/>
          </a:prstGeom>
          <a:noFill/>
        </p:spPr>
        <p:txBody>
          <a:bodyPr wrap="square" lIns="27432" tIns="27432" rIns="27432" bIns="27432" anchor="t">
            <a:noAutofit/>
          </a:bodyPr>
          <a:lstStyle/>
          <a:p>
            <a:pPr algn="ctr">
              <a:lnSpc>
                <a:spcPct val="105000"/>
              </a:lnSpc>
            </a:pPr>
            <a:r>
              <a:rPr sz="1500" b="0">
                <a:solidFill>
                  <a:srgbClr val="52514E"/>
                </a:solidFill>
                <a:latin typeface="Helvetica Neue"/>
              </a:rPr>
              <a:t>221 (20%)</a:t>
            </a:r>
          </a:p>
        </p:txBody>
      </p:sp>
      <p:sp>
        <p:nvSpPr>
          <p:cNvPr id="26" name="Right Arrow 25"/>
          <p:cNvSpPr/>
          <p:nvPr/>
        </p:nvSpPr>
        <p:spPr>
          <a:xfrm>
            <a:off x="9326880" y="3017520"/>
            <a:ext cx="329184"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692640" y="1645920"/>
            <a:ext cx="1874519" cy="30175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0168128" y="1874519"/>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600" b="0">
                <a:solidFill>
                  <a:srgbClr val="0B0B0B"/>
                </a:solidFill>
                <a:latin typeface="Helvetica Neue"/>
              </a:rPr>
              <a:t>🎯</a:t>
            </a:r>
          </a:p>
        </p:txBody>
      </p:sp>
      <p:sp>
        <p:nvSpPr>
          <p:cNvPr id="29" name="TextBox 28"/>
          <p:cNvSpPr txBox="1"/>
          <p:nvPr/>
        </p:nvSpPr>
        <p:spPr>
          <a:xfrm>
            <a:off x="9784080" y="2926080"/>
            <a:ext cx="1691640" cy="914400"/>
          </a:xfrm>
          <a:prstGeom prst="rect">
            <a:avLst/>
          </a:prstGeom>
          <a:noFill/>
        </p:spPr>
        <p:txBody>
          <a:bodyPr wrap="square" lIns="27432" tIns="27432" rIns="27432" bIns="27432" anchor="t">
            <a:noAutofit/>
          </a:bodyPr>
          <a:lstStyle/>
          <a:p>
            <a:pPr algn="ctr">
              <a:lnSpc>
                <a:spcPct val="105000"/>
              </a:lnSpc>
            </a:pPr>
            <a:r>
              <a:rPr sz="1800" b="1">
                <a:solidFill>
                  <a:srgbClr val="0B0B0B"/>
                </a:solidFill>
                <a:latin typeface="Helvetica Neue"/>
              </a:rPr>
              <a:t>Predicted group</a:t>
            </a:r>
          </a:p>
        </p:txBody>
      </p:sp>
      <p:sp>
        <p:nvSpPr>
          <p:cNvPr id="30" name="TextBox 29"/>
          <p:cNvSpPr txBox="1"/>
          <p:nvPr/>
        </p:nvSpPr>
        <p:spPr>
          <a:xfrm>
            <a:off x="9784080" y="3886200"/>
            <a:ext cx="1691640" cy="640080"/>
          </a:xfrm>
          <a:prstGeom prst="rect">
            <a:avLst/>
          </a:prstGeom>
          <a:noFill/>
        </p:spPr>
        <p:txBody>
          <a:bodyPr wrap="square" lIns="27432" tIns="27432" rIns="27432" bIns="27432" anchor="t">
            <a:noAutofit/>
          </a:bodyPr>
          <a:lstStyle/>
          <a:p>
            <a:pPr algn="ctr">
              <a:lnSpc>
                <a:spcPct val="105000"/>
              </a:lnSpc>
            </a:pPr>
            <a:r>
              <a:rPr sz="1500" b="0">
                <a:solidFill>
                  <a:srgbClr val="52514E"/>
                </a:solidFill>
                <a:latin typeface="Helvetica Neue"/>
              </a:rPr>
              <a:t>C0 · C1 · C2 · C3</a:t>
            </a:r>
          </a:p>
        </p:txBody>
      </p:sp>
      <p:sp>
        <p:nvSpPr>
          <p:cNvPr id="31" name="Rounded Rectangle 30"/>
          <p:cNvSpPr/>
          <p:nvPr/>
        </p:nvSpPr>
        <p:spPr>
          <a:xfrm>
            <a:off x="548640" y="5074920"/>
            <a:ext cx="11064240" cy="1005840"/>
          </a:xfrm>
          <a:prstGeom prst="roundRect">
            <a:avLst>
              <a:gd name="adj" fmla="val 8000"/>
            </a:avLst>
          </a:prstGeom>
          <a:solidFill>
            <a:srgbClr val="1F3B5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000" b="1">
                <a:solidFill>
                  <a:srgbClr val="FFFFFF"/>
                </a:solidFill>
                <a:latin typeface="Helvetica Neue"/>
              </a:rPr>
              <a:t>Training data teaches the rules. </a:t>
            </a:r>
            <a:r>
              <a:rPr sz="2000" b="0">
                <a:solidFill>
                  <a:srgbClr val="FFFFFF"/>
                </a:solidFill>
                <a:latin typeface="Helvetica Neue"/>
              </a:rPr>
              <a:t>Test data checks whether the rules work on students the model has never seen.</a:t>
            </a:r>
          </a:p>
        </p:txBody>
      </p:sp>
      <p:sp>
        <p:nvSpPr>
          <p:cNvPr id="32" name="SimpleLightSectionLabel">
            <a:extLst>
              <a:ext uri="{FF2B5EF4-FFF2-40B4-BE49-F238E27FC236}">
                <a16:creationId xmlns:a16="http://schemas.microsoft.com/office/drawing/2014/main" id="{EBFDC855-7C96-4D5F-A1C9-74702987ED99}"/>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SGPA PREDICTION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30</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WEKA target-specific model results</a:t>
            </a:r>
          </a:p>
        </p:txBody>
      </p:sp>
      <p:graphicFrame>
        <p:nvGraphicFramePr>
          <p:cNvPr id="540" name="Table 539"/>
          <p:cNvGraphicFramePr/>
          <p:nvPr/>
        </p:nvGraphicFramePr>
        <p:xfrm>
          <a:off x="400050" y="1952625"/>
          <a:ext cx="11391900" cy="3602082"/>
        </p:xfrm>
        <a:graphic>
          <a:graphicData uri="http://schemas.openxmlformats.org/drawingml/2006/table">
            <a:tbl>
              <a:tblPr/>
              <a:tblGrid>
                <a:gridCol w="2857500">
                  <a:extLst>
                    <a:ext uri="{9D8B030D-6E8A-4147-A177-3AD203B41FA5}">
                      <a16:colId xmlns:a16="http://schemas.microsoft.com/office/drawing/2014/main" val="20000"/>
                    </a:ext>
                  </a:extLst>
                </a:gridCol>
                <a:gridCol w="2714625">
                  <a:extLst>
                    <a:ext uri="{9D8B030D-6E8A-4147-A177-3AD203B41FA5}">
                      <a16:colId xmlns:a16="http://schemas.microsoft.com/office/drawing/2014/main" val="20001"/>
                    </a:ext>
                  </a:extLst>
                </a:gridCol>
                <a:gridCol w="3105150">
                  <a:extLst>
                    <a:ext uri="{9D8B030D-6E8A-4147-A177-3AD203B41FA5}">
                      <a16:colId xmlns:a16="http://schemas.microsoft.com/office/drawing/2014/main" val="20002"/>
                    </a:ext>
                  </a:extLst>
                </a:gridCol>
                <a:gridCol w="2714625">
                  <a:extLst>
                    <a:ext uri="{9D8B030D-6E8A-4147-A177-3AD203B41FA5}">
                      <a16:colId xmlns:a16="http://schemas.microsoft.com/office/drawing/2014/main" val="20003"/>
                    </a:ext>
                  </a:extLst>
                </a:gridCol>
              </a:tblGrid>
              <a:tr h="489857">
                <a:tc>
                  <a:txBody>
                    <a:bodyPr/>
                    <a:lstStyle/>
                    <a:p>
                      <a:r>
                        <a:rPr sz="1875" b="1">
                          <a:solidFill>
                            <a:srgbClr val="121212"/>
                          </a:solidFill>
                          <a:latin typeface="Times New Roman"/>
                          <a:ea typeface="Times New Roman"/>
                          <a:cs typeface="Times New Roman"/>
                        </a:rPr>
                        <a:t>WEKA model</a:t>
                      </a:r>
                    </a:p>
                  </a:txBody>
                  <a:tcPr>
                    <a:solidFill>
                      <a:srgbClr val="EEEEEE"/>
                    </a:solidFill>
                  </a:tcPr>
                </a:tc>
                <a:tc>
                  <a:txBody>
                    <a:bodyPr/>
                    <a:lstStyle/>
                    <a:p>
                      <a:r>
                        <a:rPr lang="en-US" sz="1875" b="1" dirty="0">
                          <a:solidFill>
                            <a:srgbClr val="121212"/>
                          </a:solidFill>
                          <a:latin typeface="Times New Roman"/>
                          <a:ea typeface="Times New Roman"/>
                          <a:cs typeface="Times New Roman"/>
                        </a:rPr>
                        <a:t>QNA -&gt;</a:t>
                      </a:r>
                      <a:r>
                        <a:rPr sz="1875" b="1" dirty="0">
                          <a:solidFill>
                            <a:srgbClr val="121212"/>
                          </a:solidFill>
                          <a:latin typeface="Times New Roman"/>
                          <a:ea typeface="Times New Roman"/>
                          <a:cs typeface="Times New Roman"/>
                        </a:rPr>
                        <a:t> SGPA</a:t>
                      </a:r>
                      <a:r>
                        <a:rPr lang="en-US" sz="1875" b="1" dirty="0">
                          <a:solidFill>
                            <a:srgbClr val="121212"/>
                          </a:solidFill>
                          <a:latin typeface="Times New Roman"/>
                          <a:ea typeface="Times New Roman"/>
                          <a:cs typeface="Times New Roman"/>
                        </a:rPr>
                        <a:t> prediction</a:t>
                      </a:r>
                      <a:endParaRPr sz="1875" b="1" dirty="0">
                        <a:solidFill>
                          <a:srgbClr val="121212"/>
                        </a:solidFill>
                        <a:latin typeface="Times New Roman"/>
                        <a:ea typeface="Times New Roman"/>
                        <a:cs typeface="Times New Roman"/>
                      </a:endParaRPr>
                    </a:p>
                  </a:txBody>
                  <a:tcPr>
                    <a:solidFill>
                      <a:srgbClr val="EEEEEE"/>
                    </a:solidFill>
                  </a:tcPr>
                </a:tc>
                <a:tc>
                  <a:txBody>
                    <a:bodyPr/>
                    <a:lstStyle/>
                    <a:p>
                      <a:r>
                        <a:rPr lang="en-US" sz="1875" b="1" dirty="0">
                          <a:solidFill>
                            <a:srgbClr val="121212"/>
                          </a:solidFill>
                          <a:latin typeface="Times New Roman"/>
                          <a:ea typeface="Times New Roman"/>
                          <a:cs typeface="Times New Roman"/>
                        </a:rPr>
                        <a:t>QNA -&gt; </a:t>
                      </a:r>
                      <a:r>
                        <a:rPr sz="1875" b="1" dirty="0">
                          <a:solidFill>
                            <a:srgbClr val="121212"/>
                          </a:solidFill>
                          <a:latin typeface="Times New Roman"/>
                          <a:ea typeface="Times New Roman"/>
                          <a:cs typeface="Times New Roman"/>
                        </a:rPr>
                        <a:t>CGPA</a:t>
                      </a:r>
                      <a:r>
                        <a:rPr lang="en-US" sz="1875" b="1" dirty="0">
                          <a:solidFill>
                            <a:srgbClr val="121212"/>
                          </a:solidFill>
                          <a:latin typeface="Times New Roman"/>
                          <a:ea typeface="Times New Roman"/>
                          <a:cs typeface="Times New Roman"/>
                        </a:rPr>
                        <a:t> Prediction</a:t>
                      </a:r>
                      <a:endParaRPr sz="1875" b="1" dirty="0">
                        <a:solidFill>
                          <a:srgbClr val="121212"/>
                        </a:solidFill>
                        <a:latin typeface="Times New Roman"/>
                        <a:ea typeface="Times New Roman"/>
                        <a:cs typeface="Times New Roman"/>
                      </a:endParaRPr>
                    </a:p>
                  </a:txBody>
                  <a:tcPr>
                    <a:solidFill>
                      <a:srgbClr val="EEEEEE"/>
                    </a:solidFill>
                  </a:tcPr>
                </a:tc>
                <a:tc>
                  <a:txBody>
                    <a:bodyPr/>
                    <a:lstStyle/>
                    <a:p>
                      <a:r>
                        <a:rPr lang="en-US" sz="1875" b="1" dirty="0">
                          <a:solidFill>
                            <a:srgbClr val="121212"/>
                          </a:solidFill>
                          <a:latin typeface="Times New Roman"/>
                          <a:ea typeface="Times New Roman"/>
                          <a:cs typeface="Times New Roman"/>
                        </a:rPr>
                        <a:t>QNA + SGPA -&gt; </a:t>
                      </a:r>
                      <a:r>
                        <a:rPr sz="1875" b="1" dirty="0">
                          <a:solidFill>
                            <a:srgbClr val="121212"/>
                          </a:solidFill>
                          <a:latin typeface="Times New Roman"/>
                          <a:ea typeface="Times New Roman"/>
                          <a:cs typeface="Times New Roman"/>
                        </a:rPr>
                        <a:t>CGPA</a:t>
                      </a:r>
                      <a:r>
                        <a:rPr lang="en-US" sz="1875" b="1" dirty="0">
                          <a:solidFill>
                            <a:srgbClr val="121212"/>
                          </a:solidFill>
                          <a:latin typeface="Times New Roman"/>
                          <a:ea typeface="Times New Roman"/>
                          <a:cs typeface="Times New Roman"/>
                        </a:rPr>
                        <a:t> Prediction</a:t>
                      </a:r>
                      <a:endParaRPr sz="1875" b="1" dirty="0">
                        <a:solidFill>
                          <a:srgbClr val="121212"/>
                        </a:solidFill>
                        <a:latin typeface="Times New Roman"/>
                        <a:ea typeface="Times New Roman"/>
                        <a:cs typeface="Times New Roman"/>
                      </a:endParaRPr>
                    </a:p>
                  </a:txBody>
                  <a:tcPr>
                    <a:solidFill>
                      <a:srgbClr val="EEEEEE"/>
                    </a:solidFill>
                  </a:tcPr>
                </a:tc>
                <a:extLst>
                  <a:ext uri="{0D108BD9-81ED-4DB2-BD59-A6C34878D82A}">
                    <a16:rowId xmlns:a16="http://schemas.microsoft.com/office/drawing/2014/main" val="10000"/>
                  </a:ext>
                </a:extLst>
              </a:tr>
              <a:tr h="489857">
                <a:tc>
                  <a:txBody>
                    <a:bodyPr/>
                    <a:lstStyle/>
                    <a:p>
                      <a:r>
                        <a:rPr sz="1875" b="0">
                          <a:solidFill>
                            <a:srgbClr val="121212"/>
                          </a:solidFill>
                          <a:latin typeface="Times New Roman"/>
                          <a:ea typeface="Times New Roman"/>
                          <a:cs typeface="Times New Roman"/>
                        </a:rPr>
                        <a:t>J48</a:t>
                      </a:r>
                    </a:p>
                  </a:txBody>
                  <a:tcPr>
                    <a:solidFill>
                      <a:srgbClr val="FFFFFF"/>
                    </a:solidFill>
                  </a:tcPr>
                </a:tc>
                <a:tc>
                  <a:txBody>
                    <a:bodyPr/>
                    <a:lstStyle/>
                    <a:p>
                      <a:r>
                        <a:rPr sz="1875" b="0">
                          <a:solidFill>
                            <a:srgbClr val="121212"/>
                          </a:solidFill>
                          <a:latin typeface="Times New Roman"/>
                          <a:ea typeface="Times New Roman"/>
                          <a:cs typeface="Times New Roman"/>
                        </a:rPr>
                        <a:t>30.13%</a:t>
                      </a:r>
                    </a:p>
                  </a:txBody>
                  <a:tcPr>
                    <a:solidFill>
                      <a:srgbClr val="FFFFFF"/>
                    </a:solidFill>
                  </a:tcPr>
                </a:tc>
                <a:tc>
                  <a:txBody>
                    <a:bodyPr/>
                    <a:lstStyle/>
                    <a:p>
                      <a:r>
                        <a:rPr sz="1875" b="0">
                          <a:solidFill>
                            <a:srgbClr val="121212"/>
                          </a:solidFill>
                          <a:latin typeface="Times New Roman"/>
                          <a:ea typeface="Times New Roman"/>
                          <a:cs typeface="Times New Roman"/>
                        </a:rPr>
                        <a:t>26.68%</a:t>
                      </a:r>
                    </a:p>
                  </a:txBody>
                  <a:tcPr>
                    <a:solidFill>
                      <a:srgbClr val="FFFFFF"/>
                    </a:solidFill>
                  </a:tcPr>
                </a:tc>
                <a:tc>
                  <a:txBody>
                    <a:bodyPr/>
                    <a:lstStyle/>
                    <a:p>
                      <a:r>
                        <a:rPr sz="1875" b="0">
                          <a:solidFill>
                            <a:srgbClr val="121212"/>
                          </a:solidFill>
                          <a:latin typeface="Times New Roman"/>
                          <a:ea typeface="Times New Roman"/>
                          <a:cs typeface="Times New Roman"/>
                        </a:rPr>
                        <a:t>38.29%</a:t>
                      </a:r>
                    </a:p>
                  </a:txBody>
                  <a:tcPr>
                    <a:solidFill>
                      <a:srgbClr val="FFFFFF"/>
                    </a:solidFill>
                  </a:tcPr>
                </a:tc>
                <a:extLst>
                  <a:ext uri="{0D108BD9-81ED-4DB2-BD59-A6C34878D82A}">
                    <a16:rowId xmlns:a16="http://schemas.microsoft.com/office/drawing/2014/main" val="10001"/>
                  </a:ext>
                </a:extLst>
              </a:tr>
              <a:tr h="489857">
                <a:tc>
                  <a:txBody>
                    <a:bodyPr/>
                    <a:lstStyle/>
                    <a:p>
                      <a:r>
                        <a:rPr sz="1875" b="0">
                          <a:solidFill>
                            <a:srgbClr val="121212"/>
                          </a:solidFill>
                          <a:latin typeface="Times New Roman"/>
                          <a:ea typeface="Times New Roman"/>
                          <a:cs typeface="Times New Roman"/>
                        </a:rPr>
                        <a:t>Random Forest</a:t>
                      </a:r>
                    </a:p>
                  </a:txBody>
                  <a:tcPr>
                    <a:solidFill>
                      <a:srgbClr val="FFFFFF"/>
                    </a:solidFill>
                  </a:tcPr>
                </a:tc>
                <a:tc>
                  <a:txBody>
                    <a:bodyPr/>
                    <a:lstStyle/>
                    <a:p>
                      <a:r>
                        <a:rPr sz="1875" b="0">
                          <a:solidFill>
                            <a:srgbClr val="121212"/>
                          </a:solidFill>
                          <a:latin typeface="Times New Roman"/>
                          <a:ea typeface="Times New Roman"/>
                          <a:cs typeface="Times New Roman"/>
                        </a:rPr>
                        <a:t>29.76%</a:t>
                      </a:r>
                    </a:p>
                  </a:txBody>
                  <a:tcPr>
                    <a:solidFill>
                      <a:srgbClr val="FFFFFF"/>
                    </a:solidFill>
                  </a:tcPr>
                </a:tc>
                <a:tc>
                  <a:txBody>
                    <a:bodyPr/>
                    <a:lstStyle/>
                    <a:p>
                      <a:r>
                        <a:rPr sz="1875" b="0">
                          <a:solidFill>
                            <a:srgbClr val="121212"/>
                          </a:solidFill>
                          <a:latin typeface="Times New Roman"/>
                          <a:ea typeface="Times New Roman"/>
                          <a:cs typeface="Times New Roman"/>
                        </a:rPr>
                        <a:t>29.40%</a:t>
                      </a:r>
                    </a:p>
                  </a:txBody>
                  <a:tcPr>
                    <a:solidFill>
                      <a:srgbClr val="FFFFFF"/>
                    </a:solidFill>
                  </a:tcPr>
                </a:tc>
                <a:tc>
                  <a:txBody>
                    <a:bodyPr/>
                    <a:lstStyle/>
                    <a:p>
                      <a:r>
                        <a:rPr sz="1875" b="0">
                          <a:solidFill>
                            <a:srgbClr val="121212"/>
                          </a:solidFill>
                          <a:latin typeface="Times New Roman"/>
                          <a:ea typeface="Times New Roman"/>
                          <a:cs typeface="Times New Roman"/>
                        </a:rPr>
                        <a:t>43.92%</a:t>
                      </a:r>
                    </a:p>
                  </a:txBody>
                  <a:tcPr>
                    <a:solidFill>
                      <a:srgbClr val="FFFFFF"/>
                    </a:solidFill>
                  </a:tcPr>
                </a:tc>
                <a:extLst>
                  <a:ext uri="{0D108BD9-81ED-4DB2-BD59-A6C34878D82A}">
                    <a16:rowId xmlns:a16="http://schemas.microsoft.com/office/drawing/2014/main" val="10002"/>
                  </a:ext>
                </a:extLst>
              </a:tr>
              <a:tr h="489857">
                <a:tc>
                  <a:txBody>
                    <a:bodyPr/>
                    <a:lstStyle/>
                    <a:p>
                      <a:r>
                        <a:rPr sz="1875" b="0">
                          <a:solidFill>
                            <a:srgbClr val="121212"/>
                          </a:solidFill>
                          <a:latin typeface="Times New Roman"/>
                          <a:ea typeface="Times New Roman"/>
                          <a:cs typeface="Times New Roman"/>
                        </a:rPr>
                        <a:t>SMO</a:t>
                      </a:r>
                    </a:p>
                  </a:txBody>
                  <a:tcPr>
                    <a:solidFill>
                      <a:srgbClr val="FFFFFF"/>
                    </a:solidFill>
                  </a:tcPr>
                </a:tc>
                <a:tc>
                  <a:txBody>
                    <a:bodyPr/>
                    <a:lstStyle/>
                    <a:p>
                      <a:r>
                        <a:rPr sz="1875" b="0">
                          <a:solidFill>
                            <a:srgbClr val="121212"/>
                          </a:solidFill>
                          <a:latin typeface="Times New Roman"/>
                          <a:ea typeface="Times New Roman"/>
                          <a:cs typeface="Times New Roman"/>
                        </a:rPr>
                        <a:t>25.95%</a:t>
                      </a:r>
                    </a:p>
                  </a:txBody>
                  <a:tcPr>
                    <a:solidFill>
                      <a:srgbClr val="FFFFFF"/>
                    </a:solidFill>
                  </a:tcPr>
                </a:tc>
                <a:tc>
                  <a:txBody>
                    <a:bodyPr/>
                    <a:lstStyle/>
                    <a:p>
                      <a:r>
                        <a:rPr sz="1875" b="0">
                          <a:solidFill>
                            <a:srgbClr val="121212"/>
                          </a:solidFill>
                          <a:latin typeface="Times New Roman"/>
                          <a:ea typeface="Times New Roman"/>
                          <a:cs typeface="Times New Roman"/>
                        </a:rPr>
                        <a:t>27.86%</a:t>
                      </a:r>
                    </a:p>
                  </a:txBody>
                  <a:tcPr>
                    <a:solidFill>
                      <a:srgbClr val="FFFFFF"/>
                    </a:solidFill>
                  </a:tcPr>
                </a:tc>
                <a:tc>
                  <a:txBody>
                    <a:bodyPr/>
                    <a:lstStyle/>
                    <a:p>
                      <a:r>
                        <a:rPr sz="1875" b="0">
                          <a:solidFill>
                            <a:srgbClr val="121212"/>
                          </a:solidFill>
                          <a:latin typeface="Times New Roman"/>
                          <a:ea typeface="Times New Roman"/>
                          <a:cs typeface="Times New Roman"/>
                        </a:rPr>
                        <a:t>37.11%</a:t>
                      </a:r>
                    </a:p>
                  </a:txBody>
                  <a:tcPr>
                    <a:solidFill>
                      <a:srgbClr val="FFFFFF"/>
                    </a:solidFill>
                  </a:tcPr>
                </a:tc>
                <a:extLst>
                  <a:ext uri="{0D108BD9-81ED-4DB2-BD59-A6C34878D82A}">
                    <a16:rowId xmlns:a16="http://schemas.microsoft.com/office/drawing/2014/main" val="10003"/>
                  </a:ext>
                </a:extLst>
              </a:tr>
              <a:tr h="489857">
                <a:tc>
                  <a:txBody>
                    <a:bodyPr/>
                    <a:lstStyle/>
                    <a:p>
                      <a:r>
                        <a:rPr sz="1875" b="0">
                          <a:solidFill>
                            <a:srgbClr val="121212"/>
                          </a:solidFill>
                          <a:latin typeface="Times New Roman"/>
                          <a:ea typeface="Times New Roman"/>
                          <a:cs typeface="Times New Roman"/>
                        </a:rPr>
                        <a:t>Logistic</a:t>
                      </a:r>
                    </a:p>
                  </a:txBody>
                  <a:tcPr>
                    <a:solidFill>
                      <a:srgbClr val="FFFFFF"/>
                    </a:solidFill>
                  </a:tcPr>
                </a:tc>
                <a:tc>
                  <a:txBody>
                    <a:bodyPr/>
                    <a:lstStyle/>
                    <a:p>
                      <a:r>
                        <a:rPr sz="1875" b="0">
                          <a:solidFill>
                            <a:srgbClr val="121212"/>
                          </a:solidFill>
                          <a:latin typeface="Times New Roman"/>
                          <a:ea typeface="Times New Roman"/>
                          <a:cs typeface="Times New Roman"/>
                        </a:rPr>
                        <a:t>24.95%</a:t>
                      </a:r>
                    </a:p>
                  </a:txBody>
                  <a:tcPr>
                    <a:solidFill>
                      <a:srgbClr val="FFFFFF"/>
                    </a:solidFill>
                  </a:tcPr>
                </a:tc>
                <a:tc>
                  <a:txBody>
                    <a:bodyPr/>
                    <a:lstStyle/>
                    <a:p>
                      <a:r>
                        <a:rPr sz="1875" b="0">
                          <a:solidFill>
                            <a:srgbClr val="121212"/>
                          </a:solidFill>
                          <a:latin typeface="Times New Roman"/>
                          <a:ea typeface="Times New Roman"/>
                          <a:cs typeface="Times New Roman"/>
                        </a:rPr>
                        <a:t>29.58%</a:t>
                      </a:r>
                    </a:p>
                  </a:txBody>
                  <a:tcPr>
                    <a:solidFill>
                      <a:srgbClr val="FFFFFF"/>
                    </a:solidFill>
                  </a:tcPr>
                </a:tc>
                <a:tc>
                  <a:txBody>
                    <a:bodyPr/>
                    <a:lstStyle/>
                    <a:p>
                      <a:r>
                        <a:rPr sz="1875" b="0">
                          <a:solidFill>
                            <a:srgbClr val="121212"/>
                          </a:solidFill>
                          <a:latin typeface="Times New Roman"/>
                          <a:ea typeface="Times New Roman"/>
                          <a:cs typeface="Times New Roman"/>
                        </a:rPr>
                        <a:t>36.84%</a:t>
                      </a:r>
                    </a:p>
                  </a:txBody>
                  <a:tcPr>
                    <a:solidFill>
                      <a:srgbClr val="FFFFFF"/>
                    </a:solidFill>
                  </a:tcPr>
                </a:tc>
                <a:extLst>
                  <a:ext uri="{0D108BD9-81ED-4DB2-BD59-A6C34878D82A}">
                    <a16:rowId xmlns:a16="http://schemas.microsoft.com/office/drawing/2014/main" val="10004"/>
                  </a:ext>
                </a:extLst>
              </a:tr>
              <a:tr h="489857">
                <a:tc>
                  <a:txBody>
                    <a:bodyPr/>
                    <a:lstStyle/>
                    <a:p>
                      <a:r>
                        <a:rPr sz="1875" b="0">
                          <a:solidFill>
                            <a:srgbClr val="121212"/>
                          </a:solidFill>
                          <a:latin typeface="Times New Roman"/>
                          <a:ea typeface="Times New Roman"/>
                          <a:cs typeface="Times New Roman"/>
                        </a:rPr>
                        <a:t>Naive Bayes</a:t>
                      </a:r>
                    </a:p>
                  </a:txBody>
                  <a:tcPr>
                    <a:solidFill>
                      <a:srgbClr val="FFFFFF"/>
                    </a:solidFill>
                  </a:tcPr>
                </a:tc>
                <a:tc>
                  <a:txBody>
                    <a:bodyPr/>
                    <a:lstStyle/>
                    <a:p>
                      <a:r>
                        <a:rPr sz="1875" b="0">
                          <a:solidFill>
                            <a:srgbClr val="121212"/>
                          </a:solidFill>
                          <a:latin typeface="Times New Roman"/>
                          <a:ea typeface="Times New Roman"/>
                          <a:cs typeface="Times New Roman"/>
                        </a:rPr>
                        <a:t>26.68%</a:t>
                      </a:r>
                    </a:p>
                  </a:txBody>
                  <a:tcPr>
                    <a:solidFill>
                      <a:srgbClr val="FFFFFF"/>
                    </a:solidFill>
                  </a:tcPr>
                </a:tc>
                <a:tc>
                  <a:txBody>
                    <a:bodyPr/>
                    <a:lstStyle/>
                    <a:p>
                      <a:r>
                        <a:rPr sz="1875" b="0">
                          <a:solidFill>
                            <a:srgbClr val="121212"/>
                          </a:solidFill>
                          <a:latin typeface="Times New Roman"/>
                          <a:ea typeface="Times New Roman"/>
                          <a:cs typeface="Times New Roman"/>
                        </a:rPr>
                        <a:t>30.04%</a:t>
                      </a:r>
                    </a:p>
                  </a:txBody>
                  <a:tcPr>
                    <a:solidFill>
                      <a:srgbClr val="FFFFFF"/>
                    </a:solidFill>
                  </a:tcPr>
                </a:tc>
                <a:tc>
                  <a:txBody>
                    <a:bodyPr/>
                    <a:lstStyle/>
                    <a:p>
                      <a:r>
                        <a:rPr sz="1875" b="0">
                          <a:solidFill>
                            <a:srgbClr val="121212"/>
                          </a:solidFill>
                          <a:latin typeface="Times New Roman"/>
                          <a:ea typeface="Times New Roman"/>
                          <a:cs typeface="Times New Roman"/>
                        </a:rPr>
                        <a:t>38.11%</a:t>
                      </a:r>
                    </a:p>
                  </a:txBody>
                  <a:tcPr>
                    <a:solidFill>
                      <a:srgbClr val="FFFFFF"/>
                    </a:solidFill>
                  </a:tcPr>
                </a:tc>
                <a:extLst>
                  <a:ext uri="{0D108BD9-81ED-4DB2-BD59-A6C34878D82A}">
                    <a16:rowId xmlns:a16="http://schemas.microsoft.com/office/drawing/2014/main" val="10005"/>
                  </a:ext>
                </a:extLst>
              </a:tr>
              <a:tr h="489857">
                <a:tc>
                  <a:txBody>
                    <a:bodyPr/>
                    <a:lstStyle/>
                    <a:p>
                      <a:r>
                        <a:rPr sz="1875" b="0">
                          <a:solidFill>
                            <a:srgbClr val="121212"/>
                          </a:solidFill>
                          <a:latin typeface="Times New Roman"/>
                          <a:ea typeface="Times New Roman"/>
                          <a:cs typeface="Times New Roman"/>
                        </a:rPr>
                        <a:t>ZeroR</a:t>
                      </a:r>
                    </a:p>
                  </a:txBody>
                  <a:tcPr>
                    <a:solidFill>
                      <a:srgbClr val="FFFFFF"/>
                    </a:solidFill>
                  </a:tcPr>
                </a:tc>
                <a:tc>
                  <a:txBody>
                    <a:bodyPr/>
                    <a:lstStyle/>
                    <a:p>
                      <a:r>
                        <a:rPr sz="1875" b="0">
                          <a:solidFill>
                            <a:srgbClr val="121212"/>
                          </a:solidFill>
                          <a:latin typeface="Times New Roman"/>
                          <a:ea typeface="Times New Roman"/>
                          <a:cs typeface="Times New Roman"/>
                        </a:rPr>
                        <a:t>26.86%</a:t>
                      </a:r>
                    </a:p>
                  </a:txBody>
                  <a:tcPr>
                    <a:solidFill>
                      <a:srgbClr val="FFFFFF"/>
                    </a:solidFill>
                  </a:tcPr>
                </a:tc>
                <a:tc>
                  <a:txBody>
                    <a:bodyPr/>
                    <a:lstStyle/>
                    <a:p>
                      <a:r>
                        <a:rPr sz="1875" b="0">
                          <a:solidFill>
                            <a:srgbClr val="121212"/>
                          </a:solidFill>
                          <a:latin typeface="Times New Roman"/>
                          <a:ea typeface="Times New Roman"/>
                          <a:cs typeface="Times New Roman"/>
                        </a:rPr>
                        <a:t>29.04%</a:t>
                      </a:r>
                    </a:p>
                  </a:txBody>
                  <a:tcPr>
                    <a:solidFill>
                      <a:srgbClr val="FFFFFF"/>
                    </a:solidFill>
                  </a:tcPr>
                </a:tc>
                <a:tc>
                  <a:txBody>
                    <a:bodyPr/>
                    <a:lstStyle/>
                    <a:p>
                      <a:r>
                        <a:rPr sz="1875" b="0" dirty="0">
                          <a:solidFill>
                            <a:srgbClr val="121212"/>
                          </a:solidFill>
                          <a:latin typeface="Times New Roman"/>
                          <a:ea typeface="Times New Roman"/>
                          <a:cs typeface="Times New Roman"/>
                        </a:rPr>
                        <a:t>29.04%</a:t>
                      </a:r>
                    </a:p>
                  </a:txBody>
                  <a:tcPr>
                    <a:solidFill>
                      <a:srgbClr val="FFFFFF"/>
                    </a:solidFill>
                  </a:tcPr>
                </a:tc>
                <a:extLst>
                  <a:ext uri="{0D108BD9-81ED-4DB2-BD59-A6C34878D82A}">
                    <a16:rowId xmlns:a16="http://schemas.microsoft.com/office/drawing/2014/main" val="10006"/>
                  </a:ext>
                </a:extLst>
              </a:tr>
            </a:tbl>
          </a:graphicData>
        </a:graphic>
      </p:graphicFrame>
      <p:sp>
        <p:nvSpPr>
          <p:cNvPr id="535" name="Stratified 10-fold cross-validation, seed 1">
            <a:extLst>
              <a:ext uri="{FF2B5EF4-FFF2-40B4-BE49-F238E27FC236}">
                <a16:creationId xmlns:a16="http://schemas.microsoft.com/office/drawing/2014/main" id="{0537DC0A-7A21-405A-AF24-2B61CF92B394}"/>
              </a:ext>
            </a:extLst>
          </p:cNvPr>
          <p:cNvSpPr>
            <a:spLocks noGrp="1"/>
          </p:cNvSpPr>
          <p:nvPr/>
        </p:nvSpPr>
        <p:spPr>
          <a:xfrm>
            <a:off x="400050" y="1362075"/>
            <a:ext cx="10953750" cy="381000"/>
          </a:xfrm>
          <a:prstGeom prst="rect">
            <a:avLst/>
          </a:prstGeom>
          <a:noFill/>
          <a:ln w="0">
            <a:noFill/>
          </a:ln>
        </p:spPr>
        <p:txBody>
          <a:bodyPr anchor="t">
            <a:noAutofit/>
          </a:bodyPr>
          <a:lstStyle/>
          <a:p>
            <a:pPr>
              <a:defRPr sz="1950" b="0">
                <a:solidFill>
                  <a:srgbClr val="121212"/>
                </a:solidFill>
                <a:latin typeface="Times New Roman"/>
                <a:ea typeface="Times New Roman"/>
                <a:cs typeface="Times New Roman"/>
              </a:defRPr>
            </a:pPr>
            <a:r>
              <a:rPr sz="1950" b="0">
                <a:solidFill>
                  <a:srgbClr val="121212"/>
                </a:solidFill>
                <a:latin typeface="Times New Roman"/>
                <a:ea typeface="Times New Roman"/>
                <a:cs typeface="Times New Roman"/>
              </a:rPr>
              <a:t>Stratified 10-fold cross-validation, seed 1</a:t>
            </a:r>
          </a:p>
        </p:txBody>
      </p:sp>
      <p:sp>
        <p:nvSpPr>
          <p:cNvPr id="536" name="Same 1,102 records. Questionnaire: 12 inputs. Main CGPA">
            <a:extLst>
              <a:ext uri="{FF2B5EF4-FFF2-40B4-BE49-F238E27FC236}">
                <a16:creationId xmlns:a16="http://schemas.microsoft.com/office/drawing/2014/main" id="{67D35FFE-1E24-4572-832D-037749D4D1AD}"/>
              </a:ext>
            </a:extLst>
          </p:cNvPr>
          <p:cNvSpPr>
            <a:spLocks noGrp="1"/>
          </p:cNvSpPr>
          <p:nvPr/>
        </p:nvSpPr>
        <p:spPr>
          <a:xfrm>
            <a:off x="400050" y="5830083"/>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dirty="0">
                <a:solidFill>
                  <a:srgbClr val="585858"/>
                </a:solidFill>
                <a:latin typeface="Times New Roman"/>
                <a:ea typeface="Times New Roman"/>
                <a:cs typeface="Times New Roman"/>
              </a:rPr>
              <a:t>Same 1,102 records. Questionnaire: 12 inputs. Main CGPA: same inputs + recent SGPA.</a:t>
            </a:r>
          </a:p>
        </p:txBody>
      </p:sp>
    </p:spTree>
    <p:extLst>
      <p:ext uri="{BB962C8B-B14F-4D97-AF65-F5344CB8AC3E}">
        <p14:creationId xmlns:p14="http://schemas.microsoft.com/office/powerpoint/2010/main" val="28261748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32</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WEKA J48: Recent SGPA</a:t>
            </a:r>
          </a:p>
        </p:txBody>
      </p:sp>
      <p:pic>
        <p:nvPicPr>
          <p:cNvPr id="539" name="Picture 538"/>
          <p:cNvPicPr>
            <a:picLocks noChangeAspect="1"/>
          </p:cNvPicPr>
          <p:nvPr/>
        </p:nvPicPr>
        <p:blipFill>
          <a:blip r:embed="rId3"/>
          <a:stretch/>
        </p:blipFill>
        <p:spPr>
          <a:xfrm>
            <a:off x="1809750" y="1381125"/>
            <a:ext cx="8572500" cy="4524375"/>
          </a:xfrm>
          <a:prstGeom prst="rect">
            <a:avLst/>
          </a:prstGeom>
        </p:spPr>
      </p:pic>
      <p:sp>
        <p:nvSpPr>
          <p:cNvPr id="535" name="WEKA J48 -C 0.25 -M 40. Recent SGPA. Test: 29.86%. Zero">
            <a:extLst>
              <a:ext uri="{FF2B5EF4-FFF2-40B4-BE49-F238E27FC236}">
                <a16:creationId xmlns:a16="http://schemas.microsoft.com/office/drawing/2014/main" id="{870F424A-6913-4706-BC51-202D4308CB91}"/>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WEKA J48 -C 0.25 -M 40. Recent SGPA. Test: 29.86%. ZeroR test: 27.15%.</a:t>
            </a:r>
          </a:p>
        </p:txBody>
      </p:sp>
    </p:spTree>
    <p:extLst>
      <p:ext uri="{BB962C8B-B14F-4D97-AF65-F5344CB8AC3E}">
        <p14:creationId xmlns:p14="http://schemas.microsoft.com/office/powerpoint/2010/main" val="42045372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33</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WEKA J48: SGPA rules</a:t>
            </a:r>
          </a:p>
        </p:txBody>
      </p:sp>
      <p:sp>
        <p:nvSpPr>
          <p:cNvPr id="534" name="Rectangle 533">
            <a:extLst>
              <a:ext uri="{FF2B5EF4-FFF2-40B4-BE49-F238E27FC236}">
                <a16:creationId xmlns:a16="http://schemas.microsoft.com/office/drawing/2014/main" id="{10A5DB4B-BED9-4A8B-876C-6F51D1CD9A24}"/>
              </a:ext>
            </a:extLst>
          </p:cNvPr>
          <p:cNvSpPr>
            <a:spLocks noGrp="1"/>
          </p:cNvSpPr>
          <p:nvPr/>
        </p:nvSpPr>
        <p:spPr>
          <a:xfrm>
            <a:off x="400050" y="1743075"/>
            <a:ext cx="9715500" cy="1238250"/>
          </a:xfrm>
          <a:prstGeom prst="rect">
            <a:avLst/>
          </a:prstGeom>
          <a:solidFill>
            <a:srgbClr val="F1F1F1"/>
          </a:solidFill>
          <a:ln w="0">
            <a:noFill/>
          </a:ln>
        </p:spPr>
        <p:txBody>
          <a:bodyPr/>
          <a:lstStyle/>
          <a:p>
            <a:endParaRPr lang="en-US"/>
          </a:p>
        </p:txBody>
      </p:sp>
      <p:sp>
        <p:nvSpPr>
          <p:cNvPr id="535" name="IF routine is completely unmanageable">
            <a:extLst>
              <a:ext uri="{FF2B5EF4-FFF2-40B4-BE49-F238E27FC236}">
                <a16:creationId xmlns:a16="http://schemas.microsoft.com/office/drawing/2014/main" id="{08EF0E4B-75FE-4494-81AF-0DA4210D3251}"/>
              </a:ext>
            </a:extLst>
          </p:cNvPr>
          <p:cNvSpPr>
            <a:spLocks noGrp="1"/>
          </p:cNvSpPr>
          <p:nvPr/>
        </p:nvSpPr>
        <p:spPr>
          <a:xfrm>
            <a:off x="590550" y="1914525"/>
            <a:ext cx="9048750" cy="942975"/>
          </a:xfrm>
          <a:prstGeom prst="rect">
            <a:avLst/>
          </a:prstGeom>
          <a:noFill/>
          <a:ln w="0">
            <a:noFill/>
          </a:ln>
        </p:spPr>
        <p:txBody>
          <a:bodyPr anchor="t">
            <a:noAutofit/>
          </a:bodyPr>
          <a:lstStyle/>
          <a:p>
            <a:pPr>
              <a:defRPr sz="2250" b="0">
                <a:solidFill>
                  <a:srgbClr val="121212"/>
                </a:solidFill>
                <a:latin typeface="Times New Roman"/>
                <a:ea typeface="Times New Roman"/>
                <a:cs typeface="Times New Roman"/>
              </a:defRPr>
            </a:pPr>
            <a:r>
              <a:rPr sz="2250" b="0">
                <a:solidFill>
                  <a:srgbClr val="121212"/>
                </a:solidFill>
                <a:latin typeface="Times New Roman"/>
                <a:ea typeface="Times New Roman"/>
                <a:cs typeface="Times New Roman"/>
              </a:rPr>
              <a:t>IF routine is completely unmanageable</a:t>
            </a:r>
          </a:p>
        </p:txBody>
      </p:sp>
      <p:sp>
        <p:nvSpPr>
          <p:cNvPr id="536" name="Arrow: Right 535">
            <a:extLst>
              <a:ext uri="{FF2B5EF4-FFF2-40B4-BE49-F238E27FC236}">
                <a16:creationId xmlns:a16="http://schemas.microsoft.com/office/drawing/2014/main" id="{6C1F8BB4-1613-441F-9C12-F97E4B8F3B65}"/>
              </a:ext>
            </a:extLst>
          </p:cNvPr>
          <p:cNvSpPr>
            <a:spLocks noGrp="1"/>
          </p:cNvSpPr>
          <p:nvPr/>
        </p:nvSpPr>
        <p:spPr>
          <a:xfrm>
            <a:off x="10287000" y="2066925"/>
            <a:ext cx="400050" cy="190500"/>
          </a:xfrm>
          <a:prstGeom prst="rightArrow">
            <a:avLst/>
          </a:prstGeom>
          <a:solidFill>
            <a:srgbClr val="AAAAAA"/>
          </a:solidFill>
          <a:ln w="0">
            <a:noFill/>
          </a:ln>
        </p:spPr>
        <p:txBody>
          <a:bodyPr/>
          <a:lstStyle/>
          <a:p>
            <a:endParaRPr lang="en-US"/>
          </a:p>
        </p:txBody>
      </p:sp>
      <p:sp>
        <p:nvSpPr>
          <p:cNvPr id="537" name="C1">
            <a:extLst>
              <a:ext uri="{FF2B5EF4-FFF2-40B4-BE49-F238E27FC236}">
                <a16:creationId xmlns:a16="http://schemas.microsoft.com/office/drawing/2014/main" id="{FB5E2785-F583-40B5-B3F4-FB65C53DA633}"/>
              </a:ext>
            </a:extLst>
          </p:cNvPr>
          <p:cNvSpPr>
            <a:spLocks noGrp="1"/>
          </p:cNvSpPr>
          <p:nvPr/>
        </p:nvSpPr>
        <p:spPr>
          <a:xfrm>
            <a:off x="10953750" y="1952625"/>
            <a:ext cx="857250" cy="571500"/>
          </a:xfrm>
          <a:prstGeom prst="rect">
            <a:avLst/>
          </a:prstGeom>
          <a:noFill/>
          <a:ln w="0">
            <a:noFill/>
          </a:ln>
        </p:spPr>
        <p:txBody>
          <a:bodyPr anchor="t">
            <a:noAutofit/>
          </a:bodyPr>
          <a:lstStyle/>
          <a:p>
            <a:pPr>
              <a:defRPr sz="2850" b="0">
                <a:solidFill>
                  <a:srgbClr val="DC713D"/>
                </a:solidFill>
                <a:latin typeface="Times New Roman"/>
                <a:ea typeface="Times New Roman"/>
                <a:cs typeface="Times New Roman"/>
              </a:defRPr>
            </a:pPr>
            <a:r>
              <a:rPr sz="2850" b="0">
                <a:solidFill>
                  <a:srgbClr val="DC713D"/>
                </a:solidFill>
                <a:latin typeface="Times New Roman"/>
                <a:ea typeface="Times New Roman"/>
                <a:cs typeface="Times New Roman"/>
              </a:rPr>
              <a:t>C1</a:t>
            </a:r>
          </a:p>
        </p:txBody>
      </p:sp>
      <p:sp>
        <p:nvSpPr>
          <p:cNvPr id="538" name="Rectangle 537">
            <a:extLst>
              <a:ext uri="{FF2B5EF4-FFF2-40B4-BE49-F238E27FC236}">
                <a16:creationId xmlns:a16="http://schemas.microsoft.com/office/drawing/2014/main" id="{16882513-7069-4EA2-9A2F-44BB9906EAED}"/>
              </a:ext>
            </a:extLst>
          </p:cNvPr>
          <p:cNvSpPr>
            <a:spLocks noGrp="1"/>
          </p:cNvSpPr>
          <p:nvPr/>
        </p:nvSpPr>
        <p:spPr>
          <a:xfrm>
            <a:off x="400050" y="3495675"/>
            <a:ext cx="9715500" cy="1238250"/>
          </a:xfrm>
          <a:prstGeom prst="rect">
            <a:avLst/>
          </a:prstGeom>
          <a:solidFill>
            <a:srgbClr val="F1F1F1"/>
          </a:solidFill>
          <a:ln w="0">
            <a:noFill/>
          </a:ln>
        </p:spPr>
        <p:txBody>
          <a:bodyPr/>
          <a:lstStyle/>
          <a:p>
            <a:endParaRPr lang="en-US"/>
          </a:p>
        </p:txBody>
      </p:sp>
      <p:sp>
        <p:nvSpPr>
          <p:cNvPr id="539" name="IF routine is above completely unmanageable&#10;AND almost ">
            <a:extLst>
              <a:ext uri="{FF2B5EF4-FFF2-40B4-BE49-F238E27FC236}">
                <a16:creationId xmlns:a16="http://schemas.microsoft.com/office/drawing/2014/main" id="{8556B067-BBE3-4AC8-BD48-2887ED3BBAEC}"/>
              </a:ext>
            </a:extLst>
          </p:cNvPr>
          <p:cNvSpPr>
            <a:spLocks noGrp="1"/>
          </p:cNvSpPr>
          <p:nvPr/>
        </p:nvSpPr>
        <p:spPr>
          <a:xfrm>
            <a:off x="590550" y="3667125"/>
            <a:ext cx="9048750" cy="942975"/>
          </a:xfrm>
          <a:prstGeom prst="rect">
            <a:avLst/>
          </a:prstGeom>
          <a:noFill/>
          <a:ln w="0">
            <a:noFill/>
          </a:ln>
        </p:spPr>
        <p:txBody>
          <a:bodyPr anchor="t">
            <a:noAutofit/>
          </a:bodyPr>
          <a:lstStyle/>
          <a:p>
            <a:pPr>
              <a:defRPr sz="2250" b="0">
                <a:solidFill>
                  <a:srgbClr val="121212"/>
                </a:solidFill>
                <a:latin typeface="Times New Roman"/>
                <a:ea typeface="Times New Roman"/>
                <a:cs typeface="Times New Roman"/>
              </a:defRPr>
            </a:pPr>
            <a:r>
              <a:rPr sz="2250" b="0">
                <a:solidFill>
                  <a:srgbClr val="121212"/>
                </a:solidFill>
                <a:latin typeface="Times New Roman"/>
                <a:ea typeface="Times New Roman"/>
                <a:cs typeface="Times New Roman"/>
              </a:rPr>
              <a:t>IF routine is above completely unmanageable</a:t>
            </a:r>
          </a:p>
          <a:p>
            <a:pPr>
              <a:defRPr sz="2250" b="0">
                <a:solidFill>
                  <a:srgbClr val="121212"/>
                </a:solidFill>
                <a:latin typeface="Times New Roman"/>
                <a:ea typeface="Times New Roman"/>
                <a:cs typeface="Times New Roman"/>
              </a:defRPr>
            </a:pPr>
            <a:r>
              <a:rPr sz="2250" b="0">
                <a:solidFill>
                  <a:srgbClr val="121212"/>
                </a:solidFill>
                <a:latin typeface="Times New Roman"/>
                <a:ea typeface="Times New Roman"/>
                <a:cs typeface="Times New Roman"/>
              </a:rPr>
              <a:t>AND almost everything is clear after class</a:t>
            </a:r>
          </a:p>
        </p:txBody>
      </p:sp>
      <p:sp>
        <p:nvSpPr>
          <p:cNvPr id="540" name="Arrow: Right 539">
            <a:extLst>
              <a:ext uri="{FF2B5EF4-FFF2-40B4-BE49-F238E27FC236}">
                <a16:creationId xmlns:a16="http://schemas.microsoft.com/office/drawing/2014/main" id="{1D5ED54F-1B59-4F8F-8BBC-169D9E8DA029}"/>
              </a:ext>
            </a:extLst>
          </p:cNvPr>
          <p:cNvSpPr>
            <a:spLocks noGrp="1"/>
          </p:cNvSpPr>
          <p:nvPr/>
        </p:nvSpPr>
        <p:spPr>
          <a:xfrm>
            <a:off x="10287000" y="3819525"/>
            <a:ext cx="400050" cy="190500"/>
          </a:xfrm>
          <a:prstGeom prst="rightArrow">
            <a:avLst/>
          </a:prstGeom>
          <a:solidFill>
            <a:srgbClr val="AAAAAA"/>
          </a:solidFill>
          <a:ln w="0">
            <a:noFill/>
          </a:ln>
        </p:spPr>
        <p:txBody>
          <a:bodyPr/>
          <a:lstStyle/>
          <a:p>
            <a:endParaRPr lang="en-US"/>
          </a:p>
        </p:txBody>
      </p:sp>
      <p:sp>
        <p:nvSpPr>
          <p:cNvPr id="541" name="C0">
            <a:extLst>
              <a:ext uri="{FF2B5EF4-FFF2-40B4-BE49-F238E27FC236}">
                <a16:creationId xmlns:a16="http://schemas.microsoft.com/office/drawing/2014/main" id="{06149850-AEBD-4367-9457-27AE8BF0E945}"/>
              </a:ext>
            </a:extLst>
          </p:cNvPr>
          <p:cNvSpPr>
            <a:spLocks noGrp="1"/>
          </p:cNvSpPr>
          <p:nvPr/>
        </p:nvSpPr>
        <p:spPr>
          <a:xfrm>
            <a:off x="10953750" y="3705225"/>
            <a:ext cx="857250" cy="571500"/>
          </a:xfrm>
          <a:prstGeom prst="rect">
            <a:avLst/>
          </a:prstGeom>
          <a:noFill/>
          <a:ln w="0">
            <a:noFill/>
          </a:ln>
        </p:spPr>
        <p:txBody>
          <a:bodyPr anchor="t">
            <a:noAutofit/>
          </a:bodyPr>
          <a:lstStyle/>
          <a:p>
            <a:pPr>
              <a:defRPr sz="2850" b="0">
                <a:solidFill>
                  <a:srgbClr val="A83A3A"/>
                </a:solidFill>
                <a:latin typeface="Times New Roman"/>
                <a:ea typeface="Times New Roman"/>
                <a:cs typeface="Times New Roman"/>
              </a:defRPr>
            </a:pPr>
            <a:r>
              <a:rPr sz="2850" b="0">
                <a:solidFill>
                  <a:srgbClr val="A83A3A"/>
                </a:solidFill>
                <a:latin typeface="Times New Roman"/>
                <a:ea typeface="Times New Roman"/>
                <a:cs typeface="Times New Roman"/>
              </a:rPr>
              <a:t>C0</a:t>
            </a:r>
          </a:p>
        </p:txBody>
      </p:sp>
      <p:sp>
        <p:nvSpPr>
          <p:cNvPr id="542" name="Selected branches from the preceding WEKA J48 tree. Ful">
            <a:extLst>
              <a:ext uri="{FF2B5EF4-FFF2-40B4-BE49-F238E27FC236}">
                <a16:creationId xmlns:a16="http://schemas.microsoft.com/office/drawing/2014/main" id="{1ADCFD7D-8343-49B0-81F4-9126B880A422}"/>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Selected branches from the preceding WEKA J48 tree. Full text and option codes in backup.</a:t>
            </a:r>
          </a:p>
        </p:txBody>
      </p:sp>
    </p:spTree>
    <p:extLst>
      <p:ext uri="{BB962C8B-B14F-4D97-AF65-F5344CB8AC3E}">
        <p14:creationId xmlns:p14="http://schemas.microsoft.com/office/powerpoint/2010/main" val="30630283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34</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WEKA J48: CGPA from questionnaire variables</a:t>
            </a:r>
          </a:p>
        </p:txBody>
      </p:sp>
      <p:pic>
        <p:nvPicPr>
          <p:cNvPr id="539" name="Picture 538"/>
          <p:cNvPicPr>
            <a:picLocks noChangeAspect="1"/>
          </p:cNvPicPr>
          <p:nvPr/>
        </p:nvPicPr>
        <p:blipFill>
          <a:blip r:embed="rId3"/>
          <a:stretch/>
        </p:blipFill>
        <p:spPr>
          <a:xfrm>
            <a:off x="1809750" y="1381125"/>
            <a:ext cx="8572500" cy="4524375"/>
          </a:xfrm>
          <a:prstGeom prst="rect">
            <a:avLst/>
          </a:prstGeom>
        </p:spPr>
      </p:pic>
      <p:sp>
        <p:nvSpPr>
          <p:cNvPr id="535" name="WEKA J48 -C 0.25 -M 40. CGPA from questionnaire variabl">
            <a:extLst>
              <a:ext uri="{FF2B5EF4-FFF2-40B4-BE49-F238E27FC236}">
                <a16:creationId xmlns:a16="http://schemas.microsoft.com/office/drawing/2014/main" id="{8B7AE20C-ED04-4DA9-85ED-BB7012732B78}"/>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WEKA J48 -C 0.25 -M 40. CGPA from questionnaire variables. Test: 32.13%. ZeroR test: 28.96%.</a:t>
            </a:r>
          </a:p>
        </p:txBody>
      </p:sp>
    </p:spTree>
    <p:extLst>
      <p:ext uri="{BB962C8B-B14F-4D97-AF65-F5344CB8AC3E}">
        <p14:creationId xmlns:p14="http://schemas.microsoft.com/office/powerpoint/2010/main" val="28304950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35</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Questionnaire J48 rules</a:t>
            </a:r>
          </a:p>
        </p:txBody>
      </p:sp>
      <p:sp>
        <p:nvSpPr>
          <p:cNvPr id="534" name="Rectangle 533">
            <a:extLst>
              <a:ext uri="{FF2B5EF4-FFF2-40B4-BE49-F238E27FC236}">
                <a16:creationId xmlns:a16="http://schemas.microsoft.com/office/drawing/2014/main" id="{E1485ED6-186D-4363-B098-5A0772549701}"/>
              </a:ext>
            </a:extLst>
          </p:cNvPr>
          <p:cNvSpPr>
            <a:spLocks noGrp="1"/>
          </p:cNvSpPr>
          <p:nvPr/>
        </p:nvSpPr>
        <p:spPr>
          <a:xfrm>
            <a:off x="400050" y="1743075"/>
            <a:ext cx="9715500" cy="1238250"/>
          </a:xfrm>
          <a:prstGeom prst="rect">
            <a:avLst/>
          </a:prstGeom>
          <a:solidFill>
            <a:srgbClr val="F1F1F1"/>
          </a:solidFill>
          <a:ln w="0">
            <a:noFill/>
          </a:ln>
        </p:spPr>
        <p:txBody>
          <a:bodyPr/>
          <a:lstStyle/>
          <a:p>
            <a:endParaRPr lang="en-US"/>
          </a:p>
        </p:txBody>
      </p:sp>
      <p:sp>
        <p:nvSpPr>
          <p:cNvPr id="535" name="IF study environment is very distracting">
            <a:extLst>
              <a:ext uri="{FF2B5EF4-FFF2-40B4-BE49-F238E27FC236}">
                <a16:creationId xmlns:a16="http://schemas.microsoft.com/office/drawing/2014/main" id="{4E3E6202-DDE4-45D5-B952-39FDAFF25841}"/>
              </a:ext>
            </a:extLst>
          </p:cNvPr>
          <p:cNvSpPr>
            <a:spLocks noGrp="1"/>
          </p:cNvSpPr>
          <p:nvPr/>
        </p:nvSpPr>
        <p:spPr>
          <a:xfrm>
            <a:off x="590550" y="1914525"/>
            <a:ext cx="9048750" cy="942975"/>
          </a:xfrm>
          <a:prstGeom prst="rect">
            <a:avLst/>
          </a:prstGeom>
          <a:noFill/>
          <a:ln w="0">
            <a:noFill/>
          </a:ln>
        </p:spPr>
        <p:txBody>
          <a:bodyPr anchor="t">
            <a:noAutofit/>
          </a:bodyPr>
          <a:lstStyle/>
          <a:p>
            <a:pPr>
              <a:defRPr sz="2250" b="0">
                <a:solidFill>
                  <a:srgbClr val="121212"/>
                </a:solidFill>
                <a:latin typeface="Times New Roman"/>
                <a:ea typeface="Times New Roman"/>
                <a:cs typeface="Times New Roman"/>
              </a:defRPr>
            </a:pPr>
            <a:r>
              <a:rPr sz="2250" b="0">
                <a:solidFill>
                  <a:srgbClr val="121212"/>
                </a:solidFill>
                <a:latin typeface="Times New Roman"/>
                <a:ea typeface="Times New Roman"/>
                <a:cs typeface="Times New Roman"/>
              </a:rPr>
              <a:t>IF study environment is very distracting</a:t>
            </a:r>
          </a:p>
        </p:txBody>
      </p:sp>
      <p:sp>
        <p:nvSpPr>
          <p:cNvPr id="536" name="Arrow: Right 535">
            <a:extLst>
              <a:ext uri="{FF2B5EF4-FFF2-40B4-BE49-F238E27FC236}">
                <a16:creationId xmlns:a16="http://schemas.microsoft.com/office/drawing/2014/main" id="{69A359B7-8299-4D6B-A375-ADCB9019830E}"/>
              </a:ext>
            </a:extLst>
          </p:cNvPr>
          <p:cNvSpPr>
            <a:spLocks noGrp="1"/>
          </p:cNvSpPr>
          <p:nvPr/>
        </p:nvSpPr>
        <p:spPr>
          <a:xfrm>
            <a:off x="10287000" y="2066925"/>
            <a:ext cx="400050" cy="190500"/>
          </a:xfrm>
          <a:prstGeom prst="rightArrow">
            <a:avLst/>
          </a:prstGeom>
          <a:solidFill>
            <a:srgbClr val="AAAAAA"/>
          </a:solidFill>
          <a:ln w="0">
            <a:noFill/>
          </a:ln>
        </p:spPr>
        <p:txBody>
          <a:bodyPr/>
          <a:lstStyle/>
          <a:p>
            <a:endParaRPr lang="en-US"/>
          </a:p>
        </p:txBody>
      </p:sp>
      <p:sp>
        <p:nvSpPr>
          <p:cNvPr id="537" name="C0">
            <a:extLst>
              <a:ext uri="{FF2B5EF4-FFF2-40B4-BE49-F238E27FC236}">
                <a16:creationId xmlns:a16="http://schemas.microsoft.com/office/drawing/2014/main" id="{2BCE12CF-972C-441C-8628-F0F2D4AADDDF}"/>
              </a:ext>
            </a:extLst>
          </p:cNvPr>
          <p:cNvSpPr>
            <a:spLocks noGrp="1"/>
          </p:cNvSpPr>
          <p:nvPr/>
        </p:nvSpPr>
        <p:spPr>
          <a:xfrm>
            <a:off x="10953750" y="1952625"/>
            <a:ext cx="857250" cy="571500"/>
          </a:xfrm>
          <a:prstGeom prst="rect">
            <a:avLst/>
          </a:prstGeom>
          <a:noFill/>
          <a:ln w="0">
            <a:noFill/>
          </a:ln>
        </p:spPr>
        <p:txBody>
          <a:bodyPr anchor="t">
            <a:noAutofit/>
          </a:bodyPr>
          <a:lstStyle/>
          <a:p>
            <a:pPr>
              <a:defRPr sz="2850" b="0">
                <a:solidFill>
                  <a:srgbClr val="A83A3A"/>
                </a:solidFill>
                <a:latin typeface="Times New Roman"/>
                <a:ea typeface="Times New Roman"/>
                <a:cs typeface="Times New Roman"/>
              </a:defRPr>
            </a:pPr>
            <a:r>
              <a:rPr sz="2850" b="0">
                <a:solidFill>
                  <a:srgbClr val="A83A3A"/>
                </a:solidFill>
                <a:latin typeface="Times New Roman"/>
                <a:ea typeface="Times New Roman"/>
                <a:cs typeface="Times New Roman"/>
              </a:rPr>
              <a:t>C0</a:t>
            </a:r>
          </a:p>
        </p:txBody>
      </p:sp>
      <p:sp>
        <p:nvSpPr>
          <p:cNvPr id="538" name="Rectangle 537">
            <a:extLst>
              <a:ext uri="{FF2B5EF4-FFF2-40B4-BE49-F238E27FC236}">
                <a16:creationId xmlns:a16="http://schemas.microsoft.com/office/drawing/2014/main" id="{B7A5A759-28EF-4B55-92ED-7EDF7FC69FD2}"/>
              </a:ext>
            </a:extLst>
          </p:cNvPr>
          <p:cNvSpPr>
            <a:spLocks noGrp="1"/>
          </p:cNvSpPr>
          <p:nvPr/>
        </p:nvSpPr>
        <p:spPr>
          <a:xfrm>
            <a:off x="400050" y="3495675"/>
            <a:ext cx="9715500" cy="1238250"/>
          </a:xfrm>
          <a:prstGeom prst="rect">
            <a:avLst/>
          </a:prstGeom>
          <a:solidFill>
            <a:srgbClr val="F1F1F1"/>
          </a:solidFill>
          <a:ln w="0">
            <a:noFill/>
          </a:ln>
        </p:spPr>
        <p:txBody>
          <a:bodyPr/>
          <a:lstStyle/>
          <a:p>
            <a:endParaRPr lang="en-US"/>
          </a:p>
        </p:txBody>
      </p:sp>
      <p:sp>
        <p:nvSpPr>
          <p:cNvPr id="539" name="IF environment is excellent for focused study&#10;AND atten">
            <a:extLst>
              <a:ext uri="{FF2B5EF4-FFF2-40B4-BE49-F238E27FC236}">
                <a16:creationId xmlns:a16="http://schemas.microsoft.com/office/drawing/2014/main" id="{B3DA30AC-A96C-4AF4-A7CD-E8373B9CD8E3}"/>
              </a:ext>
            </a:extLst>
          </p:cNvPr>
          <p:cNvSpPr>
            <a:spLocks noGrp="1"/>
          </p:cNvSpPr>
          <p:nvPr/>
        </p:nvSpPr>
        <p:spPr>
          <a:xfrm>
            <a:off x="590550" y="3667125"/>
            <a:ext cx="9048750" cy="942975"/>
          </a:xfrm>
          <a:prstGeom prst="rect">
            <a:avLst/>
          </a:prstGeom>
          <a:noFill/>
          <a:ln w="0">
            <a:noFill/>
          </a:ln>
        </p:spPr>
        <p:txBody>
          <a:bodyPr anchor="t">
            <a:noAutofit/>
          </a:bodyPr>
          <a:lstStyle/>
          <a:p>
            <a:pPr>
              <a:defRPr sz="2250" b="0">
                <a:solidFill>
                  <a:srgbClr val="121212"/>
                </a:solidFill>
                <a:latin typeface="Times New Roman"/>
                <a:ea typeface="Times New Roman"/>
                <a:cs typeface="Times New Roman"/>
              </a:defRPr>
            </a:pPr>
            <a:r>
              <a:rPr sz="2250" b="0">
                <a:solidFill>
                  <a:srgbClr val="121212"/>
                </a:solidFill>
                <a:latin typeface="Times New Roman"/>
                <a:ea typeface="Times New Roman"/>
                <a:cs typeface="Times New Roman"/>
              </a:rPr>
              <a:t>IF environment is excellent for focused study</a:t>
            </a:r>
          </a:p>
          <a:p>
            <a:pPr>
              <a:defRPr sz="2250" b="0">
                <a:solidFill>
                  <a:srgbClr val="121212"/>
                </a:solidFill>
                <a:latin typeface="Times New Roman"/>
                <a:ea typeface="Times New Roman"/>
                <a:cs typeface="Times New Roman"/>
              </a:defRPr>
            </a:pPr>
            <a:r>
              <a:rPr sz="2250" b="0">
                <a:solidFill>
                  <a:srgbClr val="121212"/>
                </a:solidFill>
                <a:latin typeface="Times New Roman"/>
                <a:ea typeface="Times New Roman"/>
                <a:cs typeface="Times New Roman"/>
              </a:rPr>
              <a:t>AND attendance is 90% or more</a:t>
            </a:r>
          </a:p>
        </p:txBody>
      </p:sp>
      <p:sp>
        <p:nvSpPr>
          <p:cNvPr id="540" name="Arrow: Right 539">
            <a:extLst>
              <a:ext uri="{FF2B5EF4-FFF2-40B4-BE49-F238E27FC236}">
                <a16:creationId xmlns:a16="http://schemas.microsoft.com/office/drawing/2014/main" id="{7B8198B3-717C-4D20-AA0E-BE8ACB3CBCF6}"/>
              </a:ext>
            </a:extLst>
          </p:cNvPr>
          <p:cNvSpPr>
            <a:spLocks noGrp="1"/>
          </p:cNvSpPr>
          <p:nvPr/>
        </p:nvSpPr>
        <p:spPr>
          <a:xfrm>
            <a:off x="10287000" y="3819525"/>
            <a:ext cx="400050" cy="190500"/>
          </a:xfrm>
          <a:prstGeom prst="rightArrow">
            <a:avLst/>
          </a:prstGeom>
          <a:solidFill>
            <a:srgbClr val="AAAAAA"/>
          </a:solidFill>
          <a:ln w="0">
            <a:noFill/>
          </a:ln>
        </p:spPr>
        <p:txBody>
          <a:bodyPr/>
          <a:lstStyle/>
          <a:p>
            <a:endParaRPr lang="en-US"/>
          </a:p>
        </p:txBody>
      </p:sp>
      <p:sp>
        <p:nvSpPr>
          <p:cNvPr id="541" name="C3">
            <a:extLst>
              <a:ext uri="{FF2B5EF4-FFF2-40B4-BE49-F238E27FC236}">
                <a16:creationId xmlns:a16="http://schemas.microsoft.com/office/drawing/2014/main" id="{F2AC624A-44AA-4706-B57E-C04A6B477945}"/>
              </a:ext>
            </a:extLst>
          </p:cNvPr>
          <p:cNvSpPr>
            <a:spLocks noGrp="1"/>
          </p:cNvSpPr>
          <p:nvPr/>
        </p:nvSpPr>
        <p:spPr>
          <a:xfrm>
            <a:off x="10953750" y="3705225"/>
            <a:ext cx="857250" cy="571500"/>
          </a:xfrm>
          <a:prstGeom prst="rect">
            <a:avLst/>
          </a:prstGeom>
          <a:noFill/>
          <a:ln w="0">
            <a:noFill/>
          </a:ln>
        </p:spPr>
        <p:txBody>
          <a:bodyPr anchor="t">
            <a:noAutofit/>
          </a:bodyPr>
          <a:lstStyle/>
          <a:p>
            <a:pPr>
              <a:defRPr sz="2850" b="0">
                <a:solidFill>
                  <a:srgbClr val="285B9F"/>
                </a:solidFill>
                <a:latin typeface="Times New Roman"/>
                <a:ea typeface="Times New Roman"/>
                <a:cs typeface="Times New Roman"/>
              </a:defRPr>
            </a:pPr>
            <a:r>
              <a:rPr sz="2850" b="0">
                <a:solidFill>
                  <a:srgbClr val="285B9F"/>
                </a:solidFill>
                <a:latin typeface="Times New Roman"/>
                <a:ea typeface="Times New Roman"/>
                <a:cs typeface="Times New Roman"/>
              </a:rPr>
              <a:t>C3</a:t>
            </a:r>
          </a:p>
        </p:txBody>
      </p:sp>
      <p:sp>
        <p:nvSpPr>
          <p:cNvPr id="542" name="Selected branches from the preceding WEKA J48 tree. Ful">
            <a:extLst>
              <a:ext uri="{FF2B5EF4-FFF2-40B4-BE49-F238E27FC236}">
                <a16:creationId xmlns:a16="http://schemas.microsoft.com/office/drawing/2014/main" id="{0A027E74-81A3-4844-9D8D-1E0C1F0D717F}"/>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Selected branches from the preceding WEKA J48 tree. Full text and option codes in backup.</a:t>
            </a:r>
          </a:p>
        </p:txBody>
      </p:sp>
    </p:spTree>
    <p:extLst>
      <p:ext uri="{BB962C8B-B14F-4D97-AF65-F5344CB8AC3E}">
        <p14:creationId xmlns:p14="http://schemas.microsoft.com/office/powerpoint/2010/main" val="23152439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36</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WEKA J48: Main CGPA prediction</a:t>
            </a:r>
          </a:p>
        </p:txBody>
      </p:sp>
      <p:pic>
        <p:nvPicPr>
          <p:cNvPr id="539" name="Picture 538"/>
          <p:cNvPicPr>
            <a:picLocks noChangeAspect="1"/>
          </p:cNvPicPr>
          <p:nvPr/>
        </p:nvPicPr>
        <p:blipFill>
          <a:blip r:embed="rId3"/>
          <a:stretch/>
        </p:blipFill>
        <p:spPr>
          <a:xfrm>
            <a:off x="1809750" y="1381125"/>
            <a:ext cx="8572500" cy="4524375"/>
          </a:xfrm>
          <a:prstGeom prst="rect">
            <a:avLst/>
          </a:prstGeom>
        </p:spPr>
      </p:pic>
      <p:sp>
        <p:nvSpPr>
          <p:cNvPr id="535" name="WEKA J48 -C 0.25 -M 40. Main CGPA prediction. Test: 49.">
            <a:extLst>
              <a:ext uri="{FF2B5EF4-FFF2-40B4-BE49-F238E27FC236}">
                <a16:creationId xmlns:a16="http://schemas.microsoft.com/office/drawing/2014/main" id="{9F675CF9-74AB-4FE8-81C8-F29481B09698}"/>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WEKA J48 -C 0.25 -M 40. Main CGPA prediction. Test: 49.77%. ZeroR test: 28.96%.</a:t>
            </a:r>
          </a:p>
        </p:txBody>
      </p:sp>
    </p:spTree>
    <p:extLst>
      <p:ext uri="{BB962C8B-B14F-4D97-AF65-F5344CB8AC3E}">
        <p14:creationId xmlns:p14="http://schemas.microsoft.com/office/powerpoint/2010/main" val="21998139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37</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Main CGPA J48 rules</a:t>
            </a:r>
          </a:p>
        </p:txBody>
      </p:sp>
      <p:sp>
        <p:nvSpPr>
          <p:cNvPr id="534" name="Rectangle 533">
            <a:extLst>
              <a:ext uri="{FF2B5EF4-FFF2-40B4-BE49-F238E27FC236}">
                <a16:creationId xmlns:a16="http://schemas.microsoft.com/office/drawing/2014/main" id="{626E57E7-B428-4CB4-8BA3-C65191340C4B}"/>
              </a:ext>
            </a:extLst>
          </p:cNvPr>
          <p:cNvSpPr>
            <a:spLocks noGrp="1"/>
          </p:cNvSpPr>
          <p:nvPr/>
        </p:nvSpPr>
        <p:spPr>
          <a:xfrm>
            <a:off x="400050" y="1743075"/>
            <a:ext cx="9715500" cy="800100"/>
          </a:xfrm>
          <a:prstGeom prst="rect">
            <a:avLst/>
          </a:prstGeom>
          <a:solidFill>
            <a:srgbClr val="F1F1F1"/>
          </a:solidFill>
          <a:ln w="0">
            <a:noFill/>
          </a:ln>
        </p:spPr>
        <p:txBody>
          <a:bodyPr/>
          <a:lstStyle/>
          <a:p>
            <a:endParaRPr lang="en-US"/>
          </a:p>
        </p:txBody>
      </p:sp>
      <p:sp>
        <p:nvSpPr>
          <p:cNvPr id="535" name="IF recent SGPA is below 3.20">
            <a:extLst>
              <a:ext uri="{FF2B5EF4-FFF2-40B4-BE49-F238E27FC236}">
                <a16:creationId xmlns:a16="http://schemas.microsoft.com/office/drawing/2014/main" id="{E16C5B50-D028-4E43-94D7-EA8A1DA98A60}"/>
              </a:ext>
            </a:extLst>
          </p:cNvPr>
          <p:cNvSpPr>
            <a:spLocks noGrp="1"/>
          </p:cNvSpPr>
          <p:nvPr/>
        </p:nvSpPr>
        <p:spPr>
          <a:xfrm>
            <a:off x="590550" y="1914525"/>
            <a:ext cx="9048750" cy="942975"/>
          </a:xfrm>
          <a:prstGeom prst="rect">
            <a:avLst/>
          </a:prstGeom>
          <a:noFill/>
          <a:ln w="0">
            <a:noFill/>
          </a:ln>
        </p:spPr>
        <p:txBody>
          <a:bodyPr anchor="t">
            <a:noAutofit/>
          </a:bodyPr>
          <a:lstStyle/>
          <a:p>
            <a:pPr>
              <a:defRPr sz="1875" b="0">
                <a:solidFill>
                  <a:srgbClr val="121212"/>
                </a:solidFill>
                <a:latin typeface="Times New Roman"/>
                <a:ea typeface="Times New Roman"/>
                <a:cs typeface="Times New Roman"/>
              </a:defRPr>
            </a:pPr>
            <a:r>
              <a:rPr sz="1875" b="0">
                <a:solidFill>
                  <a:srgbClr val="121212"/>
                </a:solidFill>
                <a:latin typeface="Times New Roman"/>
                <a:ea typeface="Times New Roman"/>
                <a:cs typeface="Times New Roman"/>
              </a:rPr>
              <a:t>IF recent SGPA is below 3.20</a:t>
            </a:r>
          </a:p>
        </p:txBody>
      </p:sp>
      <p:sp>
        <p:nvSpPr>
          <p:cNvPr id="536" name="Arrow: Right 535">
            <a:extLst>
              <a:ext uri="{FF2B5EF4-FFF2-40B4-BE49-F238E27FC236}">
                <a16:creationId xmlns:a16="http://schemas.microsoft.com/office/drawing/2014/main" id="{52C872AC-A827-4521-9F23-E93147207DF1}"/>
              </a:ext>
            </a:extLst>
          </p:cNvPr>
          <p:cNvSpPr>
            <a:spLocks noGrp="1"/>
          </p:cNvSpPr>
          <p:nvPr/>
        </p:nvSpPr>
        <p:spPr>
          <a:xfrm>
            <a:off x="10287000" y="2066925"/>
            <a:ext cx="400050" cy="190500"/>
          </a:xfrm>
          <a:prstGeom prst="rightArrow">
            <a:avLst/>
          </a:prstGeom>
          <a:solidFill>
            <a:srgbClr val="AAAAAA"/>
          </a:solidFill>
          <a:ln w="0">
            <a:noFill/>
          </a:ln>
        </p:spPr>
        <p:txBody>
          <a:bodyPr/>
          <a:lstStyle/>
          <a:p>
            <a:endParaRPr lang="en-US"/>
          </a:p>
        </p:txBody>
      </p:sp>
      <p:sp>
        <p:nvSpPr>
          <p:cNvPr id="537" name="C0">
            <a:extLst>
              <a:ext uri="{FF2B5EF4-FFF2-40B4-BE49-F238E27FC236}">
                <a16:creationId xmlns:a16="http://schemas.microsoft.com/office/drawing/2014/main" id="{74C733A4-0A37-4116-8BED-44A9A7BFB6F3}"/>
              </a:ext>
            </a:extLst>
          </p:cNvPr>
          <p:cNvSpPr>
            <a:spLocks noGrp="1"/>
          </p:cNvSpPr>
          <p:nvPr/>
        </p:nvSpPr>
        <p:spPr>
          <a:xfrm>
            <a:off x="10953750" y="1952625"/>
            <a:ext cx="857250" cy="571500"/>
          </a:xfrm>
          <a:prstGeom prst="rect">
            <a:avLst/>
          </a:prstGeom>
          <a:noFill/>
          <a:ln w="0">
            <a:noFill/>
          </a:ln>
        </p:spPr>
        <p:txBody>
          <a:bodyPr anchor="t">
            <a:noAutofit/>
          </a:bodyPr>
          <a:lstStyle/>
          <a:p>
            <a:pPr>
              <a:defRPr sz="2850" b="0">
                <a:solidFill>
                  <a:srgbClr val="A83A3A"/>
                </a:solidFill>
                <a:latin typeface="Times New Roman"/>
                <a:ea typeface="Times New Roman"/>
                <a:cs typeface="Times New Roman"/>
              </a:defRPr>
            </a:pPr>
            <a:r>
              <a:rPr sz="2850" b="0">
                <a:solidFill>
                  <a:srgbClr val="A83A3A"/>
                </a:solidFill>
                <a:latin typeface="Times New Roman"/>
                <a:ea typeface="Times New Roman"/>
                <a:cs typeface="Times New Roman"/>
              </a:rPr>
              <a:t>C0</a:t>
            </a:r>
          </a:p>
        </p:txBody>
      </p:sp>
      <p:sp>
        <p:nvSpPr>
          <p:cNvPr id="538" name="Rectangle 537">
            <a:extLst>
              <a:ext uri="{FF2B5EF4-FFF2-40B4-BE49-F238E27FC236}">
                <a16:creationId xmlns:a16="http://schemas.microsoft.com/office/drawing/2014/main" id="{A14E96CB-3648-4FF2-B087-A94F2BB193EC}"/>
              </a:ext>
            </a:extLst>
          </p:cNvPr>
          <p:cNvSpPr>
            <a:spLocks noGrp="1"/>
          </p:cNvSpPr>
          <p:nvPr/>
        </p:nvSpPr>
        <p:spPr>
          <a:xfrm>
            <a:off x="400050" y="2705100"/>
            <a:ext cx="9715500" cy="800100"/>
          </a:xfrm>
          <a:prstGeom prst="rect">
            <a:avLst/>
          </a:prstGeom>
          <a:solidFill>
            <a:srgbClr val="F1F1F1"/>
          </a:solidFill>
          <a:ln w="0">
            <a:noFill/>
          </a:ln>
        </p:spPr>
        <p:txBody>
          <a:bodyPr/>
          <a:lstStyle/>
          <a:p>
            <a:endParaRPr lang="en-US"/>
          </a:p>
        </p:txBody>
      </p:sp>
      <p:sp>
        <p:nvSpPr>
          <p:cNvPr id="539" name="IF recent SGPA is 3.20–3.49">
            <a:extLst>
              <a:ext uri="{FF2B5EF4-FFF2-40B4-BE49-F238E27FC236}">
                <a16:creationId xmlns:a16="http://schemas.microsoft.com/office/drawing/2014/main" id="{1FA80B7A-C15B-42FB-9255-ABC557E9F192}"/>
              </a:ext>
            </a:extLst>
          </p:cNvPr>
          <p:cNvSpPr>
            <a:spLocks noGrp="1"/>
          </p:cNvSpPr>
          <p:nvPr/>
        </p:nvSpPr>
        <p:spPr>
          <a:xfrm>
            <a:off x="590550" y="2876550"/>
            <a:ext cx="9048750" cy="942975"/>
          </a:xfrm>
          <a:prstGeom prst="rect">
            <a:avLst/>
          </a:prstGeom>
          <a:noFill/>
          <a:ln w="0">
            <a:noFill/>
          </a:ln>
        </p:spPr>
        <p:txBody>
          <a:bodyPr anchor="t">
            <a:noAutofit/>
          </a:bodyPr>
          <a:lstStyle/>
          <a:p>
            <a:pPr>
              <a:defRPr sz="1875" b="0">
                <a:solidFill>
                  <a:srgbClr val="121212"/>
                </a:solidFill>
                <a:latin typeface="Times New Roman"/>
                <a:ea typeface="Times New Roman"/>
                <a:cs typeface="Times New Roman"/>
              </a:defRPr>
            </a:pPr>
            <a:r>
              <a:rPr sz="1875" b="0">
                <a:solidFill>
                  <a:srgbClr val="121212"/>
                </a:solidFill>
                <a:latin typeface="Times New Roman"/>
                <a:ea typeface="Times New Roman"/>
                <a:cs typeface="Times New Roman"/>
              </a:rPr>
              <a:t>IF recent SGPA is 3.20–3.49</a:t>
            </a:r>
          </a:p>
        </p:txBody>
      </p:sp>
      <p:sp>
        <p:nvSpPr>
          <p:cNvPr id="540" name="Arrow: Right 539">
            <a:extLst>
              <a:ext uri="{FF2B5EF4-FFF2-40B4-BE49-F238E27FC236}">
                <a16:creationId xmlns:a16="http://schemas.microsoft.com/office/drawing/2014/main" id="{97C3D587-50F2-431B-8544-3060587F9C02}"/>
              </a:ext>
            </a:extLst>
          </p:cNvPr>
          <p:cNvSpPr>
            <a:spLocks noGrp="1"/>
          </p:cNvSpPr>
          <p:nvPr/>
        </p:nvSpPr>
        <p:spPr>
          <a:xfrm>
            <a:off x="10287000" y="3028950"/>
            <a:ext cx="400050" cy="190500"/>
          </a:xfrm>
          <a:prstGeom prst="rightArrow">
            <a:avLst/>
          </a:prstGeom>
          <a:solidFill>
            <a:srgbClr val="AAAAAA"/>
          </a:solidFill>
          <a:ln w="0">
            <a:noFill/>
          </a:ln>
        </p:spPr>
        <p:txBody>
          <a:bodyPr/>
          <a:lstStyle/>
          <a:p>
            <a:endParaRPr lang="en-US"/>
          </a:p>
        </p:txBody>
      </p:sp>
      <p:sp>
        <p:nvSpPr>
          <p:cNvPr id="541" name="C1">
            <a:extLst>
              <a:ext uri="{FF2B5EF4-FFF2-40B4-BE49-F238E27FC236}">
                <a16:creationId xmlns:a16="http://schemas.microsoft.com/office/drawing/2014/main" id="{B77E0ED3-E1F1-463C-BAEE-C5C4C49FC3D5}"/>
              </a:ext>
            </a:extLst>
          </p:cNvPr>
          <p:cNvSpPr>
            <a:spLocks noGrp="1"/>
          </p:cNvSpPr>
          <p:nvPr/>
        </p:nvSpPr>
        <p:spPr>
          <a:xfrm>
            <a:off x="10953750" y="2914650"/>
            <a:ext cx="857250" cy="571500"/>
          </a:xfrm>
          <a:prstGeom prst="rect">
            <a:avLst/>
          </a:prstGeom>
          <a:noFill/>
          <a:ln w="0">
            <a:noFill/>
          </a:ln>
        </p:spPr>
        <p:txBody>
          <a:bodyPr anchor="t">
            <a:noAutofit/>
          </a:bodyPr>
          <a:lstStyle/>
          <a:p>
            <a:pPr>
              <a:defRPr sz="2850" b="0">
                <a:solidFill>
                  <a:srgbClr val="DC713D"/>
                </a:solidFill>
                <a:latin typeface="Times New Roman"/>
                <a:ea typeface="Times New Roman"/>
                <a:cs typeface="Times New Roman"/>
              </a:defRPr>
            </a:pPr>
            <a:r>
              <a:rPr sz="2850" b="0">
                <a:solidFill>
                  <a:srgbClr val="DC713D"/>
                </a:solidFill>
                <a:latin typeface="Times New Roman"/>
                <a:ea typeface="Times New Roman"/>
                <a:cs typeface="Times New Roman"/>
              </a:rPr>
              <a:t>C1</a:t>
            </a:r>
          </a:p>
        </p:txBody>
      </p:sp>
      <p:sp>
        <p:nvSpPr>
          <p:cNvPr id="542" name="Rectangle 541">
            <a:extLst>
              <a:ext uri="{FF2B5EF4-FFF2-40B4-BE49-F238E27FC236}">
                <a16:creationId xmlns:a16="http://schemas.microsoft.com/office/drawing/2014/main" id="{8C1F263A-D6D2-4DF7-8582-339817333543}"/>
              </a:ext>
            </a:extLst>
          </p:cNvPr>
          <p:cNvSpPr>
            <a:spLocks noGrp="1"/>
          </p:cNvSpPr>
          <p:nvPr/>
        </p:nvSpPr>
        <p:spPr>
          <a:xfrm>
            <a:off x="400050" y="3667125"/>
            <a:ext cx="9715500" cy="800100"/>
          </a:xfrm>
          <a:prstGeom prst="rect">
            <a:avLst/>
          </a:prstGeom>
          <a:solidFill>
            <a:srgbClr val="F1F1F1"/>
          </a:solidFill>
          <a:ln w="0">
            <a:noFill/>
          </a:ln>
        </p:spPr>
        <p:txBody>
          <a:bodyPr/>
          <a:lstStyle/>
          <a:p>
            <a:endParaRPr lang="en-US"/>
          </a:p>
        </p:txBody>
      </p:sp>
      <p:sp>
        <p:nvSpPr>
          <p:cNvPr id="543" name="IF recent SGPA is 3.50–3.74">
            <a:extLst>
              <a:ext uri="{FF2B5EF4-FFF2-40B4-BE49-F238E27FC236}">
                <a16:creationId xmlns:a16="http://schemas.microsoft.com/office/drawing/2014/main" id="{A3AA4AE0-59FD-4836-9057-5A961D3488CC}"/>
              </a:ext>
            </a:extLst>
          </p:cNvPr>
          <p:cNvSpPr>
            <a:spLocks noGrp="1"/>
          </p:cNvSpPr>
          <p:nvPr/>
        </p:nvSpPr>
        <p:spPr>
          <a:xfrm>
            <a:off x="590550" y="3838575"/>
            <a:ext cx="9048750" cy="942975"/>
          </a:xfrm>
          <a:prstGeom prst="rect">
            <a:avLst/>
          </a:prstGeom>
          <a:noFill/>
          <a:ln w="0">
            <a:noFill/>
          </a:ln>
        </p:spPr>
        <p:txBody>
          <a:bodyPr anchor="t">
            <a:noAutofit/>
          </a:bodyPr>
          <a:lstStyle/>
          <a:p>
            <a:pPr>
              <a:defRPr sz="1875" b="0">
                <a:solidFill>
                  <a:srgbClr val="121212"/>
                </a:solidFill>
                <a:latin typeface="Times New Roman"/>
                <a:ea typeface="Times New Roman"/>
                <a:cs typeface="Times New Roman"/>
              </a:defRPr>
            </a:pPr>
            <a:r>
              <a:rPr sz="1875" b="0">
                <a:solidFill>
                  <a:srgbClr val="121212"/>
                </a:solidFill>
                <a:latin typeface="Times New Roman"/>
                <a:ea typeface="Times New Roman"/>
                <a:cs typeface="Times New Roman"/>
              </a:rPr>
              <a:t>IF recent SGPA is 3.50–3.74</a:t>
            </a:r>
          </a:p>
        </p:txBody>
      </p:sp>
      <p:sp>
        <p:nvSpPr>
          <p:cNvPr id="544" name="Arrow: Right 543">
            <a:extLst>
              <a:ext uri="{FF2B5EF4-FFF2-40B4-BE49-F238E27FC236}">
                <a16:creationId xmlns:a16="http://schemas.microsoft.com/office/drawing/2014/main" id="{C64609CC-4502-497D-AB90-9A6708F7E226}"/>
              </a:ext>
            </a:extLst>
          </p:cNvPr>
          <p:cNvSpPr>
            <a:spLocks noGrp="1"/>
          </p:cNvSpPr>
          <p:nvPr/>
        </p:nvSpPr>
        <p:spPr>
          <a:xfrm>
            <a:off x="10287000" y="3990975"/>
            <a:ext cx="400050" cy="190500"/>
          </a:xfrm>
          <a:prstGeom prst="rightArrow">
            <a:avLst/>
          </a:prstGeom>
          <a:solidFill>
            <a:srgbClr val="AAAAAA"/>
          </a:solidFill>
          <a:ln w="0">
            <a:noFill/>
          </a:ln>
        </p:spPr>
        <p:txBody>
          <a:bodyPr/>
          <a:lstStyle/>
          <a:p>
            <a:endParaRPr lang="en-US"/>
          </a:p>
        </p:txBody>
      </p:sp>
      <p:sp>
        <p:nvSpPr>
          <p:cNvPr id="545" name="C2">
            <a:extLst>
              <a:ext uri="{FF2B5EF4-FFF2-40B4-BE49-F238E27FC236}">
                <a16:creationId xmlns:a16="http://schemas.microsoft.com/office/drawing/2014/main" id="{BB5BFC23-882B-444E-A98F-5D100883B08D}"/>
              </a:ext>
            </a:extLst>
          </p:cNvPr>
          <p:cNvSpPr>
            <a:spLocks noGrp="1"/>
          </p:cNvSpPr>
          <p:nvPr/>
        </p:nvSpPr>
        <p:spPr>
          <a:xfrm>
            <a:off x="10953750" y="3876675"/>
            <a:ext cx="857250" cy="571500"/>
          </a:xfrm>
          <a:prstGeom prst="rect">
            <a:avLst/>
          </a:prstGeom>
          <a:noFill/>
          <a:ln w="0">
            <a:noFill/>
          </a:ln>
        </p:spPr>
        <p:txBody>
          <a:bodyPr anchor="t">
            <a:noAutofit/>
          </a:bodyPr>
          <a:lstStyle/>
          <a:p>
            <a:pPr>
              <a:defRPr sz="2850" b="0">
                <a:solidFill>
                  <a:srgbClr val="4C91D8"/>
                </a:solidFill>
                <a:latin typeface="Times New Roman"/>
                <a:ea typeface="Times New Roman"/>
                <a:cs typeface="Times New Roman"/>
              </a:defRPr>
            </a:pPr>
            <a:r>
              <a:rPr sz="2850" b="0">
                <a:solidFill>
                  <a:srgbClr val="4C91D8"/>
                </a:solidFill>
                <a:latin typeface="Times New Roman"/>
                <a:ea typeface="Times New Roman"/>
                <a:cs typeface="Times New Roman"/>
              </a:rPr>
              <a:t>C2</a:t>
            </a:r>
          </a:p>
        </p:txBody>
      </p:sp>
      <p:sp>
        <p:nvSpPr>
          <p:cNvPr id="546" name="Rectangle 545">
            <a:extLst>
              <a:ext uri="{FF2B5EF4-FFF2-40B4-BE49-F238E27FC236}">
                <a16:creationId xmlns:a16="http://schemas.microsoft.com/office/drawing/2014/main" id="{379D4553-5A89-4AE8-A460-C1C15530F6BB}"/>
              </a:ext>
            </a:extLst>
          </p:cNvPr>
          <p:cNvSpPr>
            <a:spLocks noGrp="1"/>
          </p:cNvSpPr>
          <p:nvPr/>
        </p:nvSpPr>
        <p:spPr>
          <a:xfrm>
            <a:off x="400050" y="4629150"/>
            <a:ext cx="9715500" cy="800100"/>
          </a:xfrm>
          <a:prstGeom prst="rect">
            <a:avLst/>
          </a:prstGeom>
          <a:solidFill>
            <a:srgbClr val="F1F1F1"/>
          </a:solidFill>
          <a:ln w="0">
            <a:noFill/>
          </a:ln>
        </p:spPr>
        <p:txBody>
          <a:bodyPr/>
          <a:lstStyle/>
          <a:p>
            <a:endParaRPr lang="en-US"/>
          </a:p>
        </p:txBody>
      </p:sp>
      <p:sp>
        <p:nvSpPr>
          <p:cNvPr id="547" name="IF recent SGPA is 3.75 or higher&#10;AND outside commitment">
            <a:extLst>
              <a:ext uri="{FF2B5EF4-FFF2-40B4-BE49-F238E27FC236}">
                <a16:creationId xmlns:a16="http://schemas.microsoft.com/office/drawing/2014/main" id="{AF0C428E-C58D-4214-9E0C-10262A639EAB}"/>
              </a:ext>
            </a:extLst>
          </p:cNvPr>
          <p:cNvSpPr>
            <a:spLocks noGrp="1"/>
          </p:cNvSpPr>
          <p:nvPr/>
        </p:nvSpPr>
        <p:spPr>
          <a:xfrm>
            <a:off x="590550" y="4800600"/>
            <a:ext cx="9048750" cy="942975"/>
          </a:xfrm>
          <a:prstGeom prst="rect">
            <a:avLst/>
          </a:prstGeom>
          <a:noFill/>
          <a:ln w="0">
            <a:noFill/>
          </a:ln>
        </p:spPr>
        <p:txBody>
          <a:bodyPr anchor="t">
            <a:noAutofit/>
          </a:bodyPr>
          <a:lstStyle/>
          <a:p>
            <a:pPr>
              <a:defRPr sz="1875" b="0">
                <a:solidFill>
                  <a:srgbClr val="121212"/>
                </a:solidFill>
                <a:latin typeface="Times New Roman"/>
                <a:ea typeface="Times New Roman"/>
                <a:cs typeface="Times New Roman"/>
              </a:defRPr>
            </a:pPr>
            <a:r>
              <a:rPr sz="1875" b="0">
                <a:solidFill>
                  <a:srgbClr val="121212"/>
                </a:solidFill>
                <a:latin typeface="Times New Roman"/>
                <a:ea typeface="Times New Roman"/>
                <a:cs typeface="Times New Roman"/>
              </a:rPr>
              <a:t>IF recent SGPA is 3.75 or higher</a:t>
            </a:r>
          </a:p>
          <a:p>
            <a:pPr>
              <a:defRPr sz="1875" b="0">
                <a:solidFill>
                  <a:srgbClr val="121212"/>
                </a:solidFill>
                <a:latin typeface="Times New Roman"/>
                <a:ea typeface="Times New Roman"/>
                <a:cs typeface="Times New Roman"/>
              </a:defRPr>
            </a:pPr>
            <a:r>
              <a:rPr sz="1875" b="0">
                <a:solidFill>
                  <a:srgbClr val="121212"/>
                </a:solidFill>
                <a:latin typeface="Times New Roman"/>
                <a:ea typeface="Times New Roman"/>
                <a:cs typeface="Times New Roman"/>
              </a:rPr>
              <a:t>AND outside commitments are 0–5 hours per week</a:t>
            </a:r>
          </a:p>
        </p:txBody>
      </p:sp>
      <p:sp>
        <p:nvSpPr>
          <p:cNvPr id="548" name="Arrow: Right 547">
            <a:extLst>
              <a:ext uri="{FF2B5EF4-FFF2-40B4-BE49-F238E27FC236}">
                <a16:creationId xmlns:a16="http://schemas.microsoft.com/office/drawing/2014/main" id="{E7CD3025-A1BF-4AC9-88B7-D9F72A0A8152}"/>
              </a:ext>
            </a:extLst>
          </p:cNvPr>
          <p:cNvSpPr>
            <a:spLocks noGrp="1"/>
          </p:cNvSpPr>
          <p:nvPr/>
        </p:nvSpPr>
        <p:spPr>
          <a:xfrm>
            <a:off x="10287000" y="4953000"/>
            <a:ext cx="400050" cy="190500"/>
          </a:xfrm>
          <a:prstGeom prst="rightArrow">
            <a:avLst/>
          </a:prstGeom>
          <a:solidFill>
            <a:srgbClr val="AAAAAA"/>
          </a:solidFill>
          <a:ln w="0">
            <a:noFill/>
          </a:ln>
        </p:spPr>
        <p:txBody>
          <a:bodyPr/>
          <a:lstStyle/>
          <a:p>
            <a:endParaRPr lang="en-US"/>
          </a:p>
        </p:txBody>
      </p:sp>
      <p:sp>
        <p:nvSpPr>
          <p:cNvPr id="549" name="C3">
            <a:extLst>
              <a:ext uri="{FF2B5EF4-FFF2-40B4-BE49-F238E27FC236}">
                <a16:creationId xmlns:a16="http://schemas.microsoft.com/office/drawing/2014/main" id="{54E44013-C6E6-4446-845B-F183736104F1}"/>
              </a:ext>
            </a:extLst>
          </p:cNvPr>
          <p:cNvSpPr>
            <a:spLocks noGrp="1"/>
          </p:cNvSpPr>
          <p:nvPr/>
        </p:nvSpPr>
        <p:spPr>
          <a:xfrm>
            <a:off x="10953750" y="4838700"/>
            <a:ext cx="857250" cy="571500"/>
          </a:xfrm>
          <a:prstGeom prst="rect">
            <a:avLst/>
          </a:prstGeom>
          <a:noFill/>
          <a:ln w="0">
            <a:noFill/>
          </a:ln>
        </p:spPr>
        <p:txBody>
          <a:bodyPr anchor="t">
            <a:noAutofit/>
          </a:bodyPr>
          <a:lstStyle/>
          <a:p>
            <a:pPr>
              <a:defRPr sz="2850" b="0">
                <a:solidFill>
                  <a:srgbClr val="285B9F"/>
                </a:solidFill>
                <a:latin typeface="Times New Roman"/>
                <a:ea typeface="Times New Roman"/>
                <a:cs typeface="Times New Roman"/>
              </a:defRPr>
            </a:pPr>
            <a:r>
              <a:rPr sz="2850" b="0">
                <a:solidFill>
                  <a:srgbClr val="285B9F"/>
                </a:solidFill>
                <a:latin typeface="Times New Roman"/>
                <a:ea typeface="Times New Roman"/>
                <a:cs typeface="Times New Roman"/>
              </a:rPr>
              <a:t>C3</a:t>
            </a:r>
          </a:p>
        </p:txBody>
      </p:sp>
      <p:sp>
        <p:nvSpPr>
          <p:cNvPr id="550" name="Selected branches from the preceding WEKA J48 tree. Ful">
            <a:extLst>
              <a:ext uri="{FF2B5EF4-FFF2-40B4-BE49-F238E27FC236}">
                <a16:creationId xmlns:a16="http://schemas.microsoft.com/office/drawing/2014/main" id="{703BF492-3021-4A79-9223-484B6106BF9F}"/>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Selected branches from the preceding WEKA J48 tree. Full text and option codes in backup.</a:t>
            </a:r>
          </a:p>
        </p:txBody>
      </p:sp>
    </p:spTree>
    <p:extLst>
      <p:ext uri="{BB962C8B-B14F-4D97-AF65-F5344CB8AC3E}">
        <p14:creationId xmlns:p14="http://schemas.microsoft.com/office/powerpoint/2010/main" val="21561972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38</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WEKA J48 training and test accuracy</a:t>
            </a:r>
          </a:p>
        </p:txBody>
      </p:sp>
      <p:graphicFrame>
        <p:nvGraphicFramePr>
          <p:cNvPr id="539" name="Table 538"/>
          <p:cNvGraphicFramePr/>
          <p:nvPr/>
        </p:nvGraphicFramePr>
        <p:xfrm>
          <a:off x="400050" y="2133600"/>
          <a:ext cx="11391900" cy="2952752"/>
        </p:xfrm>
        <a:graphic>
          <a:graphicData uri="http://schemas.openxmlformats.org/drawingml/2006/table">
            <a:tbl>
              <a:tblPr/>
              <a:tblGrid>
                <a:gridCol w="360045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2619375">
                  <a:extLst>
                    <a:ext uri="{9D8B030D-6E8A-4147-A177-3AD203B41FA5}">
                      <a16:colId xmlns:a16="http://schemas.microsoft.com/office/drawing/2014/main" val="20002"/>
                    </a:ext>
                  </a:extLst>
                </a:gridCol>
                <a:gridCol w="2600325">
                  <a:extLst>
                    <a:ext uri="{9D8B030D-6E8A-4147-A177-3AD203B41FA5}">
                      <a16:colId xmlns:a16="http://schemas.microsoft.com/office/drawing/2014/main" val="20003"/>
                    </a:ext>
                  </a:extLst>
                </a:gridCol>
              </a:tblGrid>
              <a:tr h="738188">
                <a:tc>
                  <a:txBody>
                    <a:bodyPr/>
                    <a:lstStyle/>
                    <a:p>
                      <a:r>
                        <a:rPr sz="2100" b="1">
                          <a:solidFill>
                            <a:srgbClr val="121212"/>
                          </a:solidFill>
                          <a:latin typeface="Times New Roman"/>
                          <a:ea typeface="Times New Roman"/>
                          <a:cs typeface="Times New Roman"/>
                        </a:rPr>
                        <a:t>Target</a:t>
                      </a:r>
                    </a:p>
                  </a:txBody>
                  <a:tcPr>
                    <a:solidFill>
                      <a:srgbClr val="EEEEEE"/>
                    </a:solidFill>
                  </a:tcPr>
                </a:tc>
                <a:tc>
                  <a:txBody>
                    <a:bodyPr/>
                    <a:lstStyle/>
                    <a:p>
                      <a:r>
                        <a:rPr sz="2100" b="1">
                          <a:solidFill>
                            <a:srgbClr val="121212"/>
                          </a:solidFill>
                          <a:latin typeface="Times New Roman"/>
                          <a:ea typeface="Times New Roman"/>
                          <a:cs typeface="Times New Roman"/>
                        </a:rPr>
                        <a:t>Training (881)</a:t>
                      </a:r>
                    </a:p>
                  </a:txBody>
                  <a:tcPr>
                    <a:solidFill>
                      <a:srgbClr val="EEEEEE"/>
                    </a:solidFill>
                  </a:tcPr>
                </a:tc>
                <a:tc>
                  <a:txBody>
                    <a:bodyPr/>
                    <a:lstStyle/>
                    <a:p>
                      <a:r>
                        <a:rPr sz="2100" b="1">
                          <a:solidFill>
                            <a:srgbClr val="121212"/>
                          </a:solidFill>
                          <a:latin typeface="Times New Roman"/>
                          <a:ea typeface="Times New Roman"/>
                          <a:cs typeface="Times New Roman"/>
                        </a:rPr>
                        <a:t>Test (221)</a:t>
                      </a:r>
                    </a:p>
                  </a:txBody>
                  <a:tcPr>
                    <a:solidFill>
                      <a:srgbClr val="EEEEEE"/>
                    </a:solidFill>
                  </a:tcPr>
                </a:tc>
                <a:tc>
                  <a:txBody>
                    <a:bodyPr/>
                    <a:lstStyle/>
                    <a:p>
                      <a:r>
                        <a:rPr sz="2100" b="1">
                          <a:solidFill>
                            <a:srgbClr val="121212"/>
                          </a:solidFill>
                          <a:latin typeface="Times New Roman"/>
                          <a:ea typeface="Times New Roman"/>
                          <a:cs typeface="Times New Roman"/>
                        </a:rPr>
                        <a:t>ZeroR test</a:t>
                      </a:r>
                    </a:p>
                  </a:txBody>
                  <a:tcPr>
                    <a:solidFill>
                      <a:srgbClr val="EEEEEE"/>
                    </a:solidFill>
                  </a:tcPr>
                </a:tc>
                <a:extLst>
                  <a:ext uri="{0D108BD9-81ED-4DB2-BD59-A6C34878D82A}">
                    <a16:rowId xmlns:a16="http://schemas.microsoft.com/office/drawing/2014/main" val="10000"/>
                  </a:ext>
                </a:extLst>
              </a:tr>
              <a:tr h="738188">
                <a:tc>
                  <a:txBody>
                    <a:bodyPr/>
                    <a:lstStyle/>
                    <a:p>
                      <a:r>
                        <a:rPr sz="2100" b="0">
                          <a:solidFill>
                            <a:srgbClr val="121212"/>
                          </a:solidFill>
                          <a:latin typeface="Times New Roman"/>
                          <a:ea typeface="Times New Roman"/>
                          <a:cs typeface="Times New Roman"/>
                        </a:rPr>
                        <a:t>Recent SGPA</a:t>
                      </a:r>
                    </a:p>
                  </a:txBody>
                  <a:tcPr>
                    <a:solidFill>
                      <a:srgbClr val="FFFFFF"/>
                    </a:solidFill>
                  </a:tcPr>
                </a:tc>
                <a:tc>
                  <a:txBody>
                    <a:bodyPr/>
                    <a:lstStyle/>
                    <a:p>
                      <a:r>
                        <a:rPr sz="2100" b="0">
                          <a:solidFill>
                            <a:srgbClr val="121212"/>
                          </a:solidFill>
                          <a:latin typeface="Times New Roman"/>
                          <a:ea typeface="Times New Roman"/>
                          <a:cs typeface="Times New Roman"/>
                        </a:rPr>
                        <a:t>39.39%</a:t>
                      </a:r>
                    </a:p>
                  </a:txBody>
                  <a:tcPr>
                    <a:solidFill>
                      <a:srgbClr val="FFFFFF"/>
                    </a:solidFill>
                  </a:tcPr>
                </a:tc>
                <a:tc>
                  <a:txBody>
                    <a:bodyPr/>
                    <a:lstStyle/>
                    <a:p>
                      <a:r>
                        <a:rPr sz="2100" b="0">
                          <a:solidFill>
                            <a:srgbClr val="121212"/>
                          </a:solidFill>
                          <a:latin typeface="Times New Roman"/>
                          <a:ea typeface="Times New Roman"/>
                          <a:cs typeface="Times New Roman"/>
                        </a:rPr>
                        <a:t>29.86%</a:t>
                      </a:r>
                    </a:p>
                  </a:txBody>
                  <a:tcPr>
                    <a:solidFill>
                      <a:srgbClr val="FFFFFF"/>
                    </a:solidFill>
                  </a:tcPr>
                </a:tc>
                <a:tc>
                  <a:txBody>
                    <a:bodyPr/>
                    <a:lstStyle/>
                    <a:p>
                      <a:r>
                        <a:rPr sz="2100" b="0">
                          <a:solidFill>
                            <a:srgbClr val="121212"/>
                          </a:solidFill>
                          <a:latin typeface="Times New Roman"/>
                          <a:ea typeface="Times New Roman"/>
                          <a:cs typeface="Times New Roman"/>
                        </a:rPr>
                        <a:t>27.15%</a:t>
                      </a:r>
                    </a:p>
                  </a:txBody>
                  <a:tcPr>
                    <a:solidFill>
                      <a:srgbClr val="FFFFFF"/>
                    </a:solidFill>
                  </a:tcPr>
                </a:tc>
                <a:extLst>
                  <a:ext uri="{0D108BD9-81ED-4DB2-BD59-A6C34878D82A}">
                    <a16:rowId xmlns:a16="http://schemas.microsoft.com/office/drawing/2014/main" val="10001"/>
                  </a:ext>
                </a:extLst>
              </a:tr>
              <a:tr h="738188">
                <a:tc>
                  <a:txBody>
                    <a:bodyPr/>
                    <a:lstStyle/>
                    <a:p>
                      <a:r>
                        <a:rPr sz="2100" b="0">
                          <a:solidFill>
                            <a:srgbClr val="121212"/>
                          </a:solidFill>
                          <a:latin typeface="Times New Roman"/>
                          <a:ea typeface="Times New Roman"/>
                          <a:cs typeface="Times New Roman"/>
                        </a:rPr>
                        <a:t>CGPA questionnaire</a:t>
                      </a:r>
                    </a:p>
                  </a:txBody>
                  <a:tcPr>
                    <a:solidFill>
                      <a:srgbClr val="FFFFFF"/>
                    </a:solidFill>
                  </a:tcPr>
                </a:tc>
                <a:tc>
                  <a:txBody>
                    <a:bodyPr/>
                    <a:lstStyle/>
                    <a:p>
                      <a:r>
                        <a:rPr sz="2100" b="0">
                          <a:solidFill>
                            <a:srgbClr val="121212"/>
                          </a:solidFill>
                          <a:latin typeface="Times New Roman"/>
                          <a:ea typeface="Times New Roman"/>
                          <a:cs typeface="Times New Roman"/>
                        </a:rPr>
                        <a:t>36.55%</a:t>
                      </a:r>
                    </a:p>
                  </a:txBody>
                  <a:tcPr>
                    <a:solidFill>
                      <a:srgbClr val="FFFFFF"/>
                    </a:solidFill>
                  </a:tcPr>
                </a:tc>
                <a:tc>
                  <a:txBody>
                    <a:bodyPr/>
                    <a:lstStyle/>
                    <a:p>
                      <a:r>
                        <a:rPr sz="2100" b="0">
                          <a:solidFill>
                            <a:srgbClr val="121212"/>
                          </a:solidFill>
                          <a:latin typeface="Times New Roman"/>
                          <a:ea typeface="Times New Roman"/>
                          <a:cs typeface="Times New Roman"/>
                        </a:rPr>
                        <a:t>32.13%</a:t>
                      </a:r>
                    </a:p>
                  </a:txBody>
                  <a:tcPr>
                    <a:solidFill>
                      <a:srgbClr val="FFFFFF"/>
                    </a:solidFill>
                  </a:tcPr>
                </a:tc>
                <a:tc>
                  <a:txBody>
                    <a:bodyPr/>
                    <a:lstStyle/>
                    <a:p>
                      <a:r>
                        <a:rPr sz="2100" b="0">
                          <a:solidFill>
                            <a:srgbClr val="121212"/>
                          </a:solidFill>
                          <a:latin typeface="Times New Roman"/>
                          <a:ea typeface="Times New Roman"/>
                          <a:cs typeface="Times New Roman"/>
                        </a:rPr>
                        <a:t>28.96%</a:t>
                      </a:r>
                    </a:p>
                  </a:txBody>
                  <a:tcPr>
                    <a:solidFill>
                      <a:srgbClr val="FFFFFF"/>
                    </a:solidFill>
                  </a:tcPr>
                </a:tc>
                <a:extLst>
                  <a:ext uri="{0D108BD9-81ED-4DB2-BD59-A6C34878D82A}">
                    <a16:rowId xmlns:a16="http://schemas.microsoft.com/office/drawing/2014/main" val="10002"/>
                  </a:ext>
                </a:extLst>
              </a:tr>
              <a:tr h="738188">
                <a:tc>
                  <a:txBody>
                    <a:bodyPr/>
                    <a:lstStyle/>
                    <a:p>
                      <a:r>
                        <a:rPr sz="2100" b="0">
                          <a:solidFill>
                            <a:srgbClr val="121212"/>
                          </a:solidFill>
                          <a:latin typeface="Times New Roman"/>
                          <a:ea typeface="Times New Roman"/>
                          <a:cs typeface="Times New Roman"/>
                        </a:rPr>
                        <a:t>Main CGPA</a:t>
                      </a:r>
                    </a:p>
                  </a:txBody>
                  <a:tcPr>
                    <a:solidFill>
                      <a:srgbClr val="FFFFFF"/>
                    </a:solidFill>
                  </a:tcPr>
                </a:tc>
                <a:tc>
                  <a:txBody>
                    <a:bodyPr/>
                    <a:lstStyle/>
                    <a:p>
                      <a:r>
                        <a:rPr sz="2100" b="0">
                          <a:solidFill>
                            <a:srgbClr val="121212"/>
                          </a:solidFill>
                          <a:latin typeface="Times New Roman"/>
                          <a:ea typeface="Times New Roman"/>
                          <a:cs typeface="Times New Roman"/>
                        </a:rPr>
                        <a:t>46.20%</a:t>
                      </a:r>
                    </a:p>
                  </a:txBody>
                  <a:tcPr>
                    <a:solidFill>
                      <a:srgbClr val="FFFFFF"/>
                    </a:solidFill>
                  </a:tcPr>
                </a:tc>
                <a:tc>
                  <a:txBody>
                    <a:bodyPr/>
                    <a:lstStyle/>
                    <a:p>
                      <a:r>
                        <a:rPr sz="2100" b="0">
                          <a:solidFill>
                            <a:srgbClr val="121212"/>
                          </a:solidFill>
                          <a:latin typeface="Times New Roman"/>
                          <a:ea typeface="Times New Roman"/>
                          <a:cs typeface="Times New Roman"/>
                        </a:rPr>
                        <a:t>49.77%</a:t>
                      </a:r>
                    </a:p>
                  </a:txBody>
                  <a:tcPr>
                    <a:solidFill>
                      <a:srgbClr val="FFFFFF"/>
                    </a:solidFill>
                  </a:tcPr>
                </a:tc>
                <a:tc>
                  <a:txBody>
                    <a:bodyPr/>
                    <a:lstStyle/>
                    <a:p>
                      <a:r>
                        <a:rPr sz="2100" b="0">
                          <a:solidFill>
                            <a:srgbClr val="121212"/>
                          </a:solidFill>
                          <a:latin typeface="Times New Roman"/>
                          <a:ea typeface="Times New Roman"/>
                          <a:cs typeface="Times New Roman"/>
                        </a:rPr>
                        <a:t>28.96%</a:t>
                      </a:r>
                    </a:p>
                  </a:txBody>
                  <a:tcPr>
                    <a:solidFill>
                      <a:srgbClr val="FFFFFF"/>
                    </a:solidFill>
                  </a:tcPr>
                </a:tc>
                <a:extLst>
                  <a:ext uri="{0D108BD9-81ED-4DB2-BD59-A6C34878D82A}">
                    <a16:rowId xmlns:a16="http://schemas.microsoft.com/office/drawing/2014/main" val="10003"/>
                  </a:ext>
                </a:extLst>
              </a:tr>
            </a:tbl>
          </a:graphicData>
        </a:graphic>
      </p:graphicFrame>
      <p:sp>
        <p:nvSpPr>
          <p:cNvPr id="535" name="Each row evaluates the same fitted WEKA J48 on its trai">
            <a:extLst>
              <a:ext uri="{FF2B5EF4-FFF2-40B4-BE49-F238E27FC236}">
                <a16:creationId xmlns:a16="http://schemas.microsoft.com/office/drawing/2014/main" id="{F6DEFF97-0E0E-43D0-AC79-EE02F2625E09}"/>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Each row evaluates the same fitted WEKA J48 on its training and test records.</a:t>
            </a:r>
          </a:p>
        </p:txBody>
      </p:sp>
    </p:spTree>
    <p:extLst>
      <p:ext uri="{BB962C8B-B14F-4D97-AF65-F5344CB8AC3E}">
        <p14:creationId xmlns:p14="http://schemas.microsoft.com/office/powerpoint/2010/main" val="32413727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39</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WEKA J48: main CGPA test confusion matrix</a:t>
            </a:r>
          </a:p>
        </p:txBody>
      </p:sp>
      <p:sp>
        <p:nvSpPr>
          <p:cNvPr id="534" name="Fixed test set">
            <a:extLst>
              <a:ext uri="{FF2B5EF4-FFF2-40B4-BE49-F238E27FC236}">
                <a16:creationId xmlns:a16="http://schemas.microsoft.com/office/drawing/2014/main" id="{3739AA41-A84E-4DAC-A438-FE6F2908614F}"/>
              </a:ext>
            </a:extLst>
          </p:cNvPr>
          <p:cNvSpPr>
            <a:spLocks noGrp="1"/>
          </p:cNvSpPr>
          <p:nvPr/>
        </p:nvSpPr>
        <p:spPr>
          <a:xfrm>
            <a:off x="3810000" y="1238250"/>
            <a:ext cx="6191250" cy="381000"/>
          </a:xfrm>
          <a:prstGeom prst="rect">
            <a:avLst/>
          </a:prstGeom>
          <a:noFill/>
          <a:ln w="0">
            <a:noFill/>
          </a:ln>
        </p:spPr>
        <p:txBody>
          <a:bodyPr anchor="t">
            <a:noAutofit/>
          </a:bodyPr>
          <a:lstStyle/>
          <a:p>
            <a:pPr>
              <a:defRPr sz="1875" b="0">
                <a:solidFill>
                  <a:srgbClr val="121212"/>
                </a:solidFill>
                <a:latin typeface="Times New Roman"/>
                <a:ea typeface="Times New Roman"/>
                <a:cs typeface="Times New Roman"/>
              </a:defRPr>
            </a:pPr>
            <a:r>
              <a:rPr sz="1875" b="0">
                <a:solidFill>
                  <a:srgbClr val="121212"/>
                </a:solidFill>
                <a:latin typeface="Times New Roman"/>
                <a:ea typeface="Times New Roman"/>
                <a:cs typeface="Times New Roman"/>
              </a:rPr>
              <a:t>Fixed test set</a:t>
            </a:r>
          </a:p>
        </p:txBody>
      </p:sp>
      <p:sp>
        <p:nvSpPr>
          <p:cNvPr id="535" name="Predicted">
            <a:extLst>
              <a:ext uri="{FF2B5EF4-FFF2-40B4-BE49-F238E27FC236}">
                <a16:creationId xmlns:a16="http://schemas.microsoft.com/office/drawing/2014/main" id="{C1712C18-5E68-4CFC-B3F7-1461649C9EC4}"/>
              </a:ext>
            </a:extLst>
          </p:cNvPr>
          <p:cNvSpPr>
            <a:spLocks noGrp="1"/>
          </p:cNvSpPr>
          <p:nvPr/>
        </p:nvSpPr>
        <p:spPr>
          <a:xfrm>
            <a:off x="4762500" y="1685925"/>
            <a:ext cx="2952750" cy="304800"/>
          </a:xfrm>
          <a:prstGeom prst="rect">
            <a:avLst/>
          </a:prstGeom>
          <a:noFill/>
          <a:ln w="0">
            <a:noFill/>
          </a:ln>
        </p:spPr>
        <p:txBody>
          <a:bodyPr anchor="t">
            <a:noAutofit/>
          </a:bodyPr>
          <a:lstStyle/>
          <a:p>
            <a:pPr>
              <a:defRPr sz="1575" b="0">
                <a:solidFill>
                  <a:srgbClr val="585858"/>
                </a:solidFill>
                <a:latin typeface="Times New Roman"/>
                <a:ea typeface="Times New Roman"/>
                <a:cs typeface="Times New Roman"/>
              </a:defRPr>
            </a:pPr>
            <a:r>
              <a:rPr sz="1575" b="0">
                <a:solidFill>
                  <a:srgbClr val="585858"/>
                </a:solidFill>
                <a:latin typeface="Times New Roman"/>
                <a:ea typeface="Times New Roman"/>
                <a:cs typeface="Times New Roman"/>
              </a:rPr>
              <a:t>Predicted</a:t>
            </a:r>
          </a:p>
        </p:txBody>
      </p:sp>
      <p:sp>
        <p:nvSpPr>
          <p:cNvPr id="536" name="C0">
            <a:extLst>
              <a:ext uri="{FF2B5EF4-FFF2-40B4-BE49-F238E27FC236}">
                <a16:creationId xmlns:a16="http://schemas.microsoft.com/office/drawing/2014/main" id="{7C6F7F92-7FF1-4303-81C8-0249E069181E}"/>
              </a:ext>
            </a:extLst>
          </p:cNvPr>
          <p:cNvSpPr>
            <a:spLocks noGrp="1"/>
          </p:cNvSpPr>
          <p:nvPr/>
        </p:nvSpPr>
        <p:spPr>
          <a:xfrm>
            <a:off x="4619625" y="2047875"/>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37" name="C0">
            <a:extLst>
              <a:ext uri="{FF2B5EF4-FFF2-40B4-BE49-F238E27FC236}">
                <a16:creationId xmlns:a16="http://schemas.microsoft.com/office/drawing/2014/main" id="{0BFA08BB-4965-4588-AE75-A5B3509F8BB9}"/>
              </a:ext>
            </a:extLst>
          </p:cNvPr>
          <p:cNvSpPr>
            <a:spLocks noGrp="1"/>
          </p:cNvSpPr>
          <p:nvPr/>
        </p:nvSpPr>
        <p:spPr>
          <a:xfrm>
            <a:off x="3905250" y="2495550"/>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38" name="C1">
            <a:extLst>
              <a:ext uri="{FF2B5EF4-FFF2-40B4-BE49-F238E27FC236}">
                <a16:creationId xmlns:a16="http://schemas.microsoft.com/office/drawing/2014/main" id="{68B9F007-3737-455C-BCE6-27DA0AAD7F0A}"/>
              </a:ext>
            </a:extLst>
          </p:cNvPr>
          <p:cNvSpPr>
            <a:spLocks noGrp="1"/>
          </p:cNvSpPr>
          <p:nvPr/>
        </p:nvSpPr>
        <p:spPr>
          <a:xfrm>
            <a:off x="5381625" y="2047875"/>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39" name="C1">
            <a:extLst>
              <a:ext uri="{FF2B5EF4-FFF2-40B4-BE49-F238E27FC236}">
                <a16:creationId xmlns:a16="http://schemas.microsoft.com/office/drawing/2014/main" id="{11AA9828-9357-40C6-B606-DA483A915C09}"/>
              </a:ext>
            </a:extLst>
          </p:cNvPr>
          <p:cNvSpPr>
            <a:spLocks noGrp="1"/>
          </p:cNvSpPr>
          <p:nvPr/>
        </p:nvSpPr>
        <p:spPr>
          <a:xfrm>
            <a:off x="3905250" y="3257550"/>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40" name="C2">
            <a:extLst>
              <a:ext uri="{FF2B5EF4-FFF2-40B4-BE49-F238E27FC236}">
                <a16:creationId xmlns:a16="http://schemas.microsoft.com/office/drawing/2014/main" id="{D4CAEEDD-C666-4CF9-86EB-DF9B971A624A}"/>
              </a:ext>
            </a:extLst>
          </p:cNvPr>
          <p:cNvSpPr>
            <a:spLocks noGrp="1"/>
          </p:cNvSpPr>
          <p:nvPr/>
        </p:nvSpPr>
        <p:spPr>
          <a:xfrm>
            <a:off x="6143625" y="2047875"/>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41" name="C2">
            <a:extLst>
              <a:ext uri="{FF2B5EF4-FFF2-40B4-BE49-F238E27FC236}">
                <a16:creationId xmlns:a16="http://schemas.microsoft.com/office/drawing/2014/main" id="{3633376E-A84D-4CA3-92A7-E9B40D2F7688}"/>
              </a:ext>
            </a:extLst>
          </p:cNvPr>
          <p:cNvSpPr>
            <a:spLocks noGrp="1"/>
          </p:cNvSpPr>
          <p:nvPr/>
        </p:nvSpPr>
        <p:spPr>
          <a:xfrm>
            <a:off x="3905250" y="4019550"/>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42" name="C3">
            <a:extLst>
              <a:ext uri="{FF2B5EF4-FFF2-40B4-BE49-F238E27FC236}">
                <a16:creationId xmlns:a16="http://schemas.microsoft.com/office/drawing/2014/main" id="{33BA2BE4-3B94-4104-955A-4DB8302C244E}"/>
              </a:ext>
            </a:extLst>
          </p:cNvPr>
          <p:cNvSpPr>
            <a:spLocks noGrp="1"/>
          </p:cNvSpPr>
          <p:nvPr/>
        </p:nvSpPr>
        <p:spPr>
          <a:xfrm>
            <a:off x="6905625" y="2047875"/>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43" name="C3">
            <a:extLst>
              <a:ext uri="{FF2B5EF4-FFF2-40B4-BE49-F238E27FC236}">
                <a16:creationId xmlns:a16="http://schemas.microsoft.com/office/drawing/2014/main" id="{02C74AD8-225B-4A0B-A877-0DAE203E93F9}"/>
              </a:ext>
            </a:extLst>
          </p:cNvPr>
          <p:cNvSpPr>
            <a:spLocks noGrp="1"/>
          </p:cNvSpPr>
          <p:nvPr/>
        </p:nvSpPr>
        <p:spPr>
          <a:xfrm>
            <a:off x="3905250" y="4781550"/>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44" name="Rectangle 543">
            <a:extLst>
              <a:ext uri="{FF2B5EF4-FFF2-40B4-BE49-F238E27FC236}">
                <a16:creationId xmlns:a16="http://schemas.microsoft.com/office/drawing/2014/main" id="{3DEA5E1A-4613-49F7-B8A0-358E7FF7FCB9}"/>
              </a:ext>
            </a:extLst>
          </p:cNvPr>
          <p:cNvSpPr>
            <a:spLocks noGrp="1"/>
          </p:cNvSpPr>
          <p:nvPr/>
        </p:nvSpPr>
        <p:spPr>
          <a:xfrm>
            <a:off x="4524375" y="2419350"/>
            <a:ext cx="742950" cy="742950"/>
          </a:xfrm>
          <a:prstGeom prst="rect">
            <a:avLst/>
          </a:prstGeom>
          <a:solidFill>
            <a:srgbClr val="DBEAF7"/>
          </a:solidFill>
          <a:ln w="0">
            <a:noFill/>
          </a:ln>
        </p:spPr>
        <p:txBody>
          <a:bodyPr/>
          <a:lstStyle/>
          <a:p>
            <a:endParaRPr lang="en-US"/>
          </a:p>
        </p:txBody>
      </p:sp>
      <p:sp>
        <p:nvSpPr>
          <p:cNvPr id="545" name="22">
            <a:extLst>
              <a:ext uri="{FF2B5EF4-FFF2-40B4-BE49-F238E27FC236}">
                <a16:creationId xmlns:a16="http://schemas.microsoft.com/office/drawing/2014/main" id="{224B06EB-448B-4341-BD58-CC805A64390F}"/>
              </a:ext>
            </a:extLst>
          </p:cNvPr>
          <p:cNvSpPr>
            <a:spLocks noGrp="1"/>
          </p:cNvSpPr>
          <p:nvPr/>
        </p:nvSpPr>
        <p:spPr>
          <a:xfrm>
            <a:off x="4533900" y="2628900"/>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22</a:t>
            </a:r>
          </a:p>
        </p:txBody>
      </p:sp>
      <p:sp>
        <p:nvSpPr>
          <p:cNvPr id="546" name="Rectangle 545">
            <a:extLst>
              <a:ext uri="{FF2B5EF4-FFF2-40B4-BE49-F238E27FC236}">
                <a16:creationId xmlns:a16="http://schemas.microsoft.com/office/drawing/2014/main" id="{9A6CA628-2B6B-45F4-A1E1-EC12939C8BDA}"/>
              </a:ext>
            </a:extLst>
          </p:cNvPr>
          <p:cNvSpPr>
            <a:spLocks noGrp="1"/>
          </p:cNvSpPr>
          <p:nvPr/>
        </p:nvSpPr>
        <p:spPr>
          <a:xfrm>
            <a:off x="5286375" y="2419350"/>
            <a:ext cx="742950" cy="742950"/>
          </a:xfrm>
          <a:prstGeom prst="rect">
            <a:avLst/>
          </a:prstGeom>
          <a:solidFill>
            <a:srgbClr val="F2F2F2"/>
          </a:solidFill>
          <a:ln w="0">
            <a:noFill/>
          </a:ln>
        </p:spPr>
        <p:txBody>
          <a:bodyPr/>
          <a:lstStyle/>
          <a:p>
            <a:endParaRPr lang="en-US"/>
          </a:p>
        </p:txBody>
      </p:sp>
      <p:sp>
        <p:nvSpPr>
          <p:cNvPr id="547" name="15">
            <a:extLst>
              <a:ext uri="{FF2B5EF4-FFF2-40B4-BE49-F238E27FC236}">
                <a16:creationId xmlns:a16="http://schemas.microsoft.com/office/drawing/2014/main" id="{D82B291B-5ABB-45E2-995B-74DD4CE2AAFF}"/>
              </a:ext>
            </a:extLst>
          </p:cNvPr>
          <p:cNvSpPr>
            <a:spLocks noGrp="1"/>
          </p:cNvSpPr>
          <p:nvPr/>
        </p:nvSpPr>
        <p:spPr>
          <a:xfrm>
            <a:off x="5295900" y="2628900"/>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15</a:t>
            </a:r>
          </a:p>
        </p:txBody>
      </p:sp>
      <p:sp>
        <p:nvSpPr>
          <p:cNvPr id="548" name="Rectangle 547">
            <a:extLst>
              <a:ext uri="{FF2B5EF4-FFF2-40B4-BE49-F238E27FC236}">
                <a16:creationId xmlns:a16="http://schemas.microsoft.com/office/drawing/2014/main" id="{DC3CD02A-C4A1-48D5-90D8-2DDA5E452255}"/>
              </a:ext>
            </a:extLst>
          </p:cNvPr>
          <p:cNvSpPr>
            <a:spLocks noGrp="1"/>
          </p:cNvSpPr>
          <p:nvPr/>
        </p:nvSpPr>
        <p:spPr>
          <a:xfrm>
            <a:off x="6048375" y="2419350"/>
            <a:ext cx="742950" cy="742950"/>
          </a:xfrm>
          <a:prstGeom prst="rect">
            <a:avLst/>
          </a:prstGeom>
          <a:solidFill>
            <a:srgbClr val="F2F2F2"/>
          </a:solidFill>
          <a:ln w="0">
            <a:noFill/>
          </a:ln>
        </p:spPr>
        <p:txBody>
          <a:bodyPr/>
          <a:lstStyle/>
          <a:p>
            <a:endParaRPr lang="en-US"/>
          </a:p>
        </p:txBody>
      </p:sp>
      <p:sp>
        <p:nvSpPr>
          <p:cNvPr id="549" name="6">
            <a:extLst>
              <a:ext uri="{FF2B5EF4-FFF2-40B4-BE49-F238E27FC236}">
                <a16:creationId xmlns:a16="http://schemas.microsoft.com/office/drawing/2014/main" id="{661C2EBA-7689-4DAF-A81D-8E0138EF0410}"/>
              </a:ext>
            </a:extLst>
          </p:cNvPr>
          <p:cNvSpPr>
            <a:spLocks noGrp="1"/>
          </p:cNvSpPr>
          <p:nvPr/>
        </p:nvSpPr>
        <p:spPr>
          <a:xfrm>
            <a:off x="6057900" y="2628900"/>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6</a:t>
            </a:r>
          </a:p>
        </p:txBody>
      </p:sp>
      <p:sp>
        <p:nvSpPr>
          <p:cNvPr id="550" name="Rectangle 549">
            <a:extLst>
              <a:ext uri="{FF2B5EF4-FFF2-40B4-BE49-F238E27FC236}">
                <a16:creationId xmlns:a16="http://schemas.microsoft.com/office/drawing/2014/main" id="{AAE034E4-FD72-4F48-8A82-65F3E96F6671}"/>
              </a:ext>
            </a:extLst>
          </p:cNvPr>
          <p:cNvSpPr>
            <a:spLocks noGrp="1"/>
          </p:cNvSpPr>
          <p:nvPr/>
        </p:nvSpPr>
        <p:spPr>
          <a:xfrm>
            <a:off x="6810375" y="2419350"/>
            <a:ext cx="742950" cy="742950"/>
          </a:xfrm>
          <a:prstGeom prst="rect">
            <a:avLst/>
          </a:prstGeom>
          <a:solidFill>
            <a:srgbClr val="F2F2F2"/>
          </a:solidFill>
          <a:ln w="0">
            <a:noFill/>
          </a:ln>
        </p:spPr>
        <p:txBody>
          <a:bodyPr/>
          <a:lstStyle/>
          <a:p>
            <a:endParaRPr lang="en-US"/>
          </a:p>
        </p:txBody>
      </p:sp>
      <p:sp>
        <p:nvSpPr>
          <p:cNvPr id="551" name="4">
            <a:extLst>
              <a:ext uri="{FF2B5EF4-FFF2-40B4-BE49-F238E27FC236}">
                <a16:creationId xmlns:a16="http://schemas.microsoft.com/office/drawing/2014/main" id="{7DFA47BA-DC7C-42B2-BA91-1AE445931550}"/>
              </a:ext>
            </a:extLst>
          </p:cNvPr>
          <p:cNvSpPr>
            <a:spLocks noGrp="1"/>
          </p:cNvSpPr>
          <p:nvPr/>
        </p:nvSpPr>
        <p:spPr>
          <a:xfrm>
            <a:off x="6819900" y="2628900"/>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4</a:t>
            </a:r>
          </a:p>
        </p:txBody>
      </p:sp>
      <p:sp>
        <p:nvSpPr>
          <p:cNvPr id="552" name="Rectangle 551">
            <a:extLst>
              <a:ext uri="{FF2B5EF4-FFF2-40B4-BE49-F238E27FC236}">
                <a16:creationId xmlns:a16="http://schemas.microsoft.com/office/drawing/2014/main" id="{E91F08D7-84BF-4785-9CB0-6D994C5B2F53}"/>
              </a:ext>
            </a:extLst>
          </p:cNvPr>
          <p:cNvSpPr>
            <a:spLocks noGrp="1"/>
          </p:cNvSpPr>
          <p:nvPr/>
        </p:nvSpPr>
        <p:spPr>
          <a:xfrm>
            <a:off x="4524375" y="3181350"/>
            <a:ext cx="742950" cy="742950"/>
          </a:xfrm>
          <a:prstGeom prst="rect">
            <a:avLst/>
          </a:prstGeom>
          <a:solidFill>
            <a:srgbClr val="F2F2F2"/>
          </a:solidFill>
          <a:ln w="0">
            <a:noFill/>
          </a:ln>
        </p:spPr>
        <p:txBody>
          <a:bodyPr/>
          <a:lstStyle/>
          <a:p>
            <a:endParaRPr lang="en-US"/>
          </a:p>
        </p:txBody>
      </p:sp>
      <p:sp>
        <p:nvSpPr>
          <p:cNvPr id="553" name="8">
            <a:extLst>
              <a:ext uri="{FF2B5EF4-FFF2-40B4-BE49-F238E27FC236}">
                <a16:creationId xmlns:a16="http://schemas.microsoft.com/office/drawing/2014/main" id="{5BE679D5-7A28-4624-8432-A4A800E0B422}"/>
              </a:ext>
            </a:extLst>
          </p:cNvPr>
          <p:cNvSpPr>
            <a:spLocks noGrp="1"/>
          </p:cNvSpPr>
          <p:nvPr/>
        </p:nvSpPr>
        <p:spPr>
          <a:xfrm>
            <a:off x="4533900" y="3390900"/>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8</a:t>
            </a:r>
          </a:p>
        </p:txBody>
      </p:sp>
      <p:sp>
        <p:nvSpPr>
          <p:cNvPr id="554" name="Rectangle 553">
            <a:extLst>
              <a:ext uri="{FF2B5EF4-FFF2-40B4-BE49-F238E27FC236}">
                <a16:creationId xmlns:a16="http://schemas.microsoft.com/office/drawing/2014/main" id="{FE8647A3-E4D8-4653-B644-F1F8D45BB1A3}"/>
              </a:ext>
            </a:extLst>
          </p:cNvPr>
          <p:cNvSpPr>
            <a:spLocks noGrp="1"/>
          </p:cNvSpPr>
          <p:nvPr/>
        </p:nvSpPr>
        <p:spPr>
          <a:xfrm>
            <a:off x="5286375" y="3181350"/>
            <a:ext cx="742950" cy="742950"/>
          </a:xfrm>
          <a:prstGeom prst="rect">
            <a:avLst/>
          </a:prstGeom>
          <a:solidFill>
            <a:srgbClr val="DBEAF7"/>
          </a:solidFill>
          <a:ln w="0">
            <a:noFill/>
          </a:ln>
        </p:spPr>
        <p:txBody>
          <a:bodyPr/>
          <a:lstStyle/>
          <a:p>
            <a:endParaRPr lang="en-US"/>
          </a:p>
        </p:txBody>
      </p:sp>
      <p:sp>
        <p:nvSpPr>
          <p:cNvPr id="555" name="31">
            <a:extLst>
              <a:ext uri="{FF2B5EF4-FFF2-40B4-BE49-F238E27FC236}">
                <a16:creationId xmlns:a16="http://schemas.microsoft.com/office/drawing/2014/main" id="{B833342E-AD57-46FF-BE11-70D2A80EF902}"/>
              </a:ext>
            </a:extLst>
          </p:cNvPr>
          <p:cNvSpPr>
            <a:spLocks noGrp="1"/>
          </p:cNvSpPr>
          <p:nvPr/>
        </p:nvSpPr>
        <p:spPr>
          <a:xfrm>
            <a:off x="5295900" y="3390900"/>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31</a:t>
            </a:r>
          </a:p>
        </p:txBody>
      </p:sp>
      <p:sp>
        <p:nvSpPr>
          <p:cNvPr id="556" name="Rectangle 555">
            <a:extLst>
              <a:ext uri="{FF2B5EF4-FFF2-40B4-BE49-F238E27FC236}">
                <a16:creationId xmlns:a16="http://schemas.microsoft.com/office/drawing/2014/main" id="{C4D62EB5-3748-4BAF-85C2-CF4EE1D5F31A}"/>
              </a:ext>
            </a:extLst>
          </p:cNvPr>
          <p:cNvSpPr>
            <a:spLocks noGrp="1"/>
          </p:cNvSpPr>
          <p:nvPr/>
        </p:nvSpPr>
        <p:spPr>
          <a:xfrm>
            <a:off x="6048375" y="3181350"/>
            <a:ext cx="742950" cy="742950"/>
          </a:xfrm>
          <a:prstGeom prst="rect">
            <a:avLst/>
          </a:prstGeom>
          <a:solidFill>
            <a:srgbClr val="F2F2F2"/>
          </a:solidFill>
          <a:ln w="0">
            <a:noFill/>
          </a:ln>
        </p:spPr>
        <p:txBody>
          <a:bodyPr/>
          <a:lstStyle/>
          <a:p>
            <a:endParaRPr lang="en-US"/>
          </a:p>
        </p:txBody>
      </p:sp>
      <p:sp>
        <p:nvSpPr>
          <p:cNvPr id="557" name="15">
            <a:extLst>
              <a:ext uri="{FF2B5EF4-FFF2-40B4-BE49-F238E27FC236}">
                <a16:creationId xmlns:a16="http://schemas.microsoft.com/office/drawing/2014/main" id="{A822F886-B0D3-4B8B-B67D-457F7AE19F71}"/>
              </a:ext>
            </a:extLst>
          </p:cNvPr>
          <p:cNvSpPr>
            <a:spLocks noGrp="1"/>
          </p:cNvSpPr>
          <p:nvPr/>
        </p:nvSpPr>
        <p:spPr>
          <a:xfrm>
            <a:off x="6057900" y="3390900"/>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15</a:t>
            </a:r>
          </a:p>
        </p:txBody>
      </p:sp>
      <p:sp>
        <p:nvSpPr>
          <p:cNvPr id="558" name="Rectangle 557">
            <a:extLst>
              <a:ext uri="{FF2B5EF4-FFF2-40B4-BE49-F238E27FC236}">
                <a16:creationId xmlns:a16="http://schemas.microsoft.com/office/drawing/2014/main" id="{9F6E432E-87BC-4EB3-A695-CD36BC5A01CE}"/>
              </a:ext>
            </a:extLst>
          </p:cNvPr>
          <p:cNvSpPr>
            <a:spLocks noGrp="1"/>
          </p:cNvSpPr>
          <p:nvPr/>
        </p:nvSpPr>
        <p:spPr>
          <a:xfrm>
            <a:off x="6810375" y="3181350"/>
            <a:ext cx="742950" cy="742950"/>
          </a:xfrm>
          <a:prstGeom prst="rect">
            <a:avLst/>
          </a:prstGeom>
          <a:solidFill>
            <a:srgbClr val="F2F2F2"/>
          </a:solidFill>
          <a:ln w="0">
            <a:noFill/>
          </a:ln>
        </p:spPr>
        <p:txBody>
          <a:bodyPr/>
          <a:lstStyle/>
          <a:p>
            <a:endParaRPr lang="en-US"/>
          </a:p>
        </p:txBody>
      </p:sp>
      <p:sp>
        <p:nvSpPr>
          <p:cNvPr id="559" name="10">
            <a:extLst>
              <a:ext uri="{FF2B5EF4-FFF2-40B4-BE49-F238E27FC236}">
                <a16:creationId xmlns:a16="http://schemas.microsoft.com/office/drawing/2014/main" id="{9399365C-40D0-4885-A0C1-EE22ABB8AFBF}"/>
              </a:ext>
            </a:extLst>
          </p:cNvPr>
          <p:cNvSpPr>
            <a:spLocks noGrp="1"/>
          </p:cNvSpPr>
          <p:nvPr/>
        </p:nvSpPr>
        <p:spPr>
          <a:xfrm>
            <a:off x="6819900" y="3390900"/>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10</a:t>
            </a:r>
          </a:p>
        </p:txBody>
      </p:sp>
      <p:sp>
        <p:nvSpPr>
          <p:cNvPr id="560" name="Rectangle 559">
            <a:extLst>
              <a:ext uri="{FF2B5EF4-FFF2-40B4-BE49-F238E27FC236}">
                <a16:creationId xmlns:a16="http://schemas.microsoft.com/office/drawing/2014/main" id="{64F8F8F5-EB1B-4829-8AA3-6169D47DCC2E}"/>
              </a:ext>
            </a:extLst>
          </p:cNvPr>
          <p:cNvSpPr>
            <a:spLocks noGrp="1"/>
          </p:cNvSpPr>
          <p:nvPr/>
        </p:nvSpPr>
        <p:spPr>
          <a:xfrm>
            <a:off x="4524375" y="3943350"/>
            <a:ext cx="742950" cy="742950"/>
          </a:xfrm>
          <a:prstGeom prst="rect">
            <a:avLst/>
          </a:prstGeom>
          <a:solidFill>
            <a:srgbClr val="F2F2F2"/>
          </a:solidFill>
          <a:ln w="0">
            <a:noFill/>
          </a:ln>
        </p:spPr>
        <p:txBody>
          <a:bodyPr/>
          <a:lstStyle/>
          <a:p>
            <a:endParaRPr lang="en-US"/>
          </a:p>
        </p:txBody>
      </p:sp>
      <p:sp>
        <p:nvSpPr>
          <p:cNvPr id="561" name="7">
            <a:extLst>
              <a:ext uri="{FF2B5EF4-FFF2-40B4-BE49-F238E27FC236}">
                <a16:creationId xmlns:a16="http://schemas.microsoft.com/office/drawing/2014/main" id="{A2215DC9-9298-4EB4-A991-DFD936B68D4C}"/>
              </a:ext>
            </a:extLst>
          </p:cNvPr>
          <p:cNvSpPr>
            <a:spLocks noGrp="1"/>
          </p:cNvSpPr>
          <p:nvPr/>
        </p:nvSpPr>
        <p:spPr>
          <a:xfrm>
            <a:off x="4533900" y="4152900"/>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7</a:t>
            </a:r>
          </a:p>
        </p:txBody>
      </p:sp>
      <p:sp>
        <p:nvSpPr>
          <p:cNvPr id="562" name="Rectangle 561">
            <a:extLst>
              <a:ext uri="{FF2B5EF4-FFF2-40B4-BE49-F238E27FC236}">
                <a16:creationId xmlns:a16="http://schemas.microsoft.com/office/drawing/2014/main" id="{4011E8A7-D942-4B70-B71A-5F086E1E43AB}"/>
              </a:ext>
            </a:extLst>
          </p:cNvPr>
          <p:cNvSpPr>
            <a:spLocks noGrp="1"/>
          </p:cNvSpPr>
          <p:nvPr/>
        </p:nvSpPr>
        <p:spPr>
          <a:xfrm>
            <a:off x="5286375" y="3943350"/>
            <a:ext cx="742950" cy="742950"/>
          </a:xfrm>
          <a:prstGeom prst="rect">
            <a:avLst/>
          </a:prstGeom>
          <a:solidFill>
            <a:srgbClr val="F2F2F2"/>
          </a:solidFill>
          <a:ln w="0">
            <a:noFill/>
          </a:ln>
        </p:spPr>
        <p:txBody>
          <a:bodyPr/>
          <a:lstStyle/>
          <a:p>
            <a:endParaRPr lang="en-US"/>
          </a:p>
        </p:txBody>
      </p:sp>
      <p:sp>
        <p:nvSpPr>
          <p:cNvPr id="563" name="15">
            <a:extLst>
              <a:ext uri="{FF2B5EF4-FFF2-40B4-BE49-F238E27FC236}">
                <a16:creationId xmlns:a16="http://schemas.microsoft.com/office/drawing/2014/main" id="{B87AC660-6FAE-4489-BA03-63B04FD0F69A}"/>
              </a:ext>
            </a:extLst>
          </p:cNvPr>
          <p:cNvSpPr>
            <a:spLocks noGrp="1"/>
          </p:cNvSpPr>
          <p:nvPr/>
        </p:nvSpPr>
        <p:spPr>
          <a:xfrm>
            <a:off x="5295900" y="4152900"/>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15</a:t>
            </a:r>
          </a:p>
        </p:txBody>
      </p:sp>
      <p:sp>
        <p:nvSpPr>
          <p:cNvPr id="564" name="Rectangle 563">
            <a:extLst>
              <a:ext uri="{FF2B5EF4-FFF2-40B4-BE49-F238E27FC236}">
                <a16:creationId xmlns:a16="http://schemas.microsoft.com/office/drawing/2014/main" id="{E08700BC-EC30-4F22-8D0D-BC68EC300F95}"/>
              </a:ext>
            </a:extLst>
          </p:cNvPr>
          <p:cNvSpPr>
            <a:spLocks noGrp="1"/>
          </p:cNvSpPr>
          <p:nvPr/>
        </p:nvSpPr>
        <p:spPr>
          <a:xfrm>
            <a:off x="6048375" y="3943350"/>
            <a:ext cx="742950" cy="742950"/>
          </a:xfrm>
          <a:prstGeom prst="rect">
            <a:avLst/>
          </a:prstGeom>
          <a:solidFill>
            <a:srgbClr val="DBEAF7"/>
          </a:solidFill>
          <a:ln w="0">
            <a:noFill/>
          </a:ln>
        </p:spPr>
        <p:txBody>
          <a:bodyPr/>
          <a:lstStyle/>
          <a:p>
            <a:endParaRPr lang="en-US"/>
          </a:p>
        </p:txBody>
      </p:sp>
      <p:sp>
        <p:nvSpPr>
          <p:cNvPr id="565" name="29">
            <a:extLst>
              <a:ext uri="{FF2B5EF4-FFF2-40B4-BE49-F238E27FC236}">
                <a16:creationId xmlns:a16="http://schemas.microsoft.com/office/drawing/2014/main" id="{E055F965-D75C-4542-B28A-7517BB18657F}"/>
              </a:ext>
            </a:extLst>
          </p:cNvPr>
          <p:cNvSpPr>
            <a:spLocks noGrp="1"/>
          </p:cNvSpPr>
          <p:nvPr/>
        </p:nvSpPr>
        <p:spPr>
          <a:xfrm>
            <a:off x="6057900" y="4152900"/>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29</a:t>
            </a:r>
          </a:p>
        </p:txBody>
      </p:sp>
      <p:sp>
        <p:nvSpPr>
          <p:cNvPr id="566" name="Rectangle 565">
            <a:extLst>
              <a:ext uri="{FF2B5EF4-FFF2-40B4-BE49-F238E27FC236}">
                <a16:creationId xmlns:a16="http://schemas.microsoft.com/office/drawing/2014/main" id="{BEB89D73-8E57-4D8E-86DE-96113D03BA08}"/>
              </a:ext>
            </a:extLst>
          </p:cNvPr>
          <p:cNvSpPr>
            <a:spLocks noGrp="1"/>
          </p:cNvSpPr>
          <p:nvPr/>
        </p:nvSpPr>
        <p:spPr>
          <a:xfrm>
            <a:off x="6810375" y="3943350"/>
            <a:ext cx="742950" cy="742950"/>
          </a:xfrm>
          <a:prstGeom prst="rect">
            <a:avLst/>
          </a:prstGeom>
          <a:solidFill>
            <a:srgbClr val="F2F2F2"/>
          </a:solidFill>
          <a:ln w="0">
            <a:noFill/>
          </a:ln>
        </p:spPr>
        <p:txBody>
          <a:bodyPr/>
          <a:lstStyle/>
          <a:p>
            <a:endParaRPr lang="en-US"/>
          </a:p>
        </p:txBody>
      </p:sp>
      <p:sp>
        <p:nvSpPr>
          <p:cNvPr id="567" name="9">
            <a:extLst>
              <a:ext uri="{FF2B5EF4-FFF2-40B4-BE49-F238E27FC236}">
                <a16:creationId xmlns:a16="http://schemas.microsoft.com/office/drawing/2014/main" id="{4E8B27D2-C8F6-496C-B891-0B60C28A7BB1}"/>
              </a:ext>
            </a:extLst>
          </p:cNvPr>
          <p:cNvSpPr>
            <a:spLocks noGrp="1"/>
          </p:cNvSpPr>
          <p:nvPr/>
        </p:nvSpPr>
        <p:spPr>
          <a:xfrm>
            <a:off x="6819900" y="4152900"/>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9</a:t>
            </a:r>
          </a:p>
        </p:txBody>
      </p:sp>
      <p:sp>
        <p:nvSpPr>
          <p:cNvPr id="568" name="Rectangle 567">
            <a:extLst>
              <a:ext uri="{FF2B5EF4-FFF2-40B4-BE49-F238E27FC236}">
                <a16:creationId xmlns:a16="http://schemas.microsoft.com/office/drawing/2014/main" id="{1F29AC85-CEBB-43F3-8DD2-DCA69226707C}"/>
              </a:ext>
            </a:extLst>
          </p:cNvPr>
          <p:cNvSpPr>
            <a:spLocks noGrp="1"/>
          </p:cNvSpPr>
          <p:nvPr/>
        </p:nvSpPr>
        <p:spPr>
          <a:xfrm>
            <a:off x="4524375" y="4705350"/>
            <a:ext cx="742950" cy="742950"/>
          </a:xfrm>
          <a:prstGeom prst="rect">
            <a:avLst/>
          </a:prstGeom>
          <a:solidFill>
            <a:srgbClr val="F2F2F2"/>
          </a:solidFill>
          <a:ln w="0">
            <a:noFill/>
          </a:ln>
        </p:spPr>
        <p:txBody>
          <a:bodyPr/>
          <a:lstStyle/>
          <a:p>
            <a:endParaRPr lang="en-US"/>
          </a:p>
        </p:txBody>
      </p:sp>
      <p:sp>
        <p:nvSpPr>
          <p:cNvPr id="569" name="3">
            <a:extLst>
              <a:ext uri="{FF2B5EF4-FFF2-40B4-BE49-F238E27FC236}">
                <a16:creationId xmlns:a16="http://schemas.microsoft.com/office/drawing/2014/main" id="{FFA2081E-D0F7-4992-AE34-E350B10216D9}"/>
              </a:ext>
            </a:extLst>
          </p:cNvPr>
          <p:cNvSpPr>
            <a:spLocks noGrp="1"/>
          </p:cNvSpPr>
          <p:nvPr/>
        </p:nvSpPr>
        <p:spPr>
          <a:xfrm>
            <a:off x="4533900" y="4914900"/>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3</a:t>
            </a:r>
          </a:p>
        </p:txBody>
      </p:sp>
      <p:sp>
        <p:nvSpPr>
          <p:cNvPr id="570" name="Rectangle 569">
            <a:extLst>
              <a:ext uri="{FF2B5EF4-FFF2-40B4-BE49-F238E27FC236}">
                <a16:creationId xmlns:a16="http://schemas.microsoft.com/office/drawing/2014/main" id="{E8F86C4B-C122-4D3F-9C14-9E26C10611B3}"/>
              </a:ext>
            </a:extLst>
          </p:cNvPr>
          <p:cNvSpPr>
            <a:spLocks noGrp="1"/>
          </p:cNvSpPr>
          <p:nvPr/>
        </p:nvSpPr>
        <p:spPr>
          <a:xfrm>
            <a:off x="5286375" y="4705350"/>
            <a:ext cx="742950" cy="742950"/>
          </a:xfrm>
          <a:prstGeom prst="rect">
            <a:avLst/>
          </a:prstGeom>
          <a:solidFill>
            <a:srgbClr val="F2F2F2"/>
          </a:solidFill>
          <a:ln w="0">
            <a:noFill/>
          </a:ln>
        </p:spPr>
        <p:txBody>
          <a:bodyPr/>
          <a:lstStyle/>
          <a:p>
            <a:endParaRPr lang="en-US"/>
          </a:p>
        </p:txBody>
      </p:sp>
      <p:sp>
        <p:nvSpPr>
          <p:cNvPr id="571" name="11">
            <a:extLst>
              <a:ext uri="{FF2B5EF4-FFF2-40B4-BE49-F238E27FC236}">
                <a16:creationId xmlns:a16="http://schemas.microsoft.com/office/drawing/2014/main" id="{4BDAA861-5F1F-4ADD-8392-6EE98E1A018C}"/>
              </a:ext>
            </a:extLst>
          </p:cNvPr>
          <p:cNvSpPr>
            <a:spLocks noGrp="1"/>
          </p:cNvSpPr>
          <p:nvPr/>
        </p:nvSpPr>
        <p:spPr>
          <a:xfrm>
            <a:off x="5295900" y="4914900"/>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11</a:t>
            </a:r>
          </a:p>
        </p:txBody>
      </p:sp>
      <p:sp>
        <p:nvSpPr>
          <p:cNvPr id="572" name="Rectangle 571">
            <a:extLst>
              <a:ext uri="{FF2B5EF4-FFF2-40B4-BE49-F238E27FC236}">
                <a16:creationId xmlns:a16="http://schemas.microsoft.com/office/drawing/2014/main" id="{30E8E8AF-CCAE-4C9C-8B73-8341C0462CFC}"/>
              </a:ext>
            </a:extLst>
          </p:cNvPr>
          <p:cNvSpPr>
            <a:spLocks noGrp="1"/>
          </p:cNvSpPr>
          <p:nvPr/>
        </p:nvSpPr>
        <p:spPr>
          <a:xfrm>
            <a:off x="6048375" y="4705350"/>
            <a:ext cx="742950" cy="742950"/>
          </a:xfrm>
          <a:prstGeom prst="rect">
            <a:avLst/>
          </a:prstGeom>
          <a:solidFill>
            <a:srgbClr val="F2F2F2"/>
          </a:solidFill>
          <a:ln w="0">
            <a:noFill/>
          </a:ln>
        </p:spPr>
        <p:txBody>
          <a:bodyPr/>
          <a:lstStyle/>
          <a:p>
            <a:endParaRPr lang="en-US"/>
          </a:p>
        </p:txBody>
      </p:sp>
      <p:sp>
        <p:nvSpPr>
          <p:cNvPr id="573" name="8">
            <a:extLst>
              <a:ext uri="{FF2B5EF4-FFF2-40B4-BE49-F238E27FC236}">
                <a16:creationId xmlns:a16="http://schemas.microsoft.com/office/drawing/2014/main" id="{E6D1C492-E574-4A52-837C-FFCEA1B0A847}"/>
              </a:ext>
            </a:extLst>
          </p:cNvPr>
          <p:cNvSpPr>
            <a:spLocks noGrp="1"/>
          </p:cNvSpPr>
          <p:nvPr/>
        </p:nvSpPr>
        <p:spPr>
          <a:xfrm>
            <a:off x="6057900" y="4914900"/>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8</a:t>
            </a:r>
          </a:p>
        </p:txBody>
      </p:sp>
      <p:sp>
        <p:nvSpPr>
          <p:cNvPr id="574" name="Rectangle 573">
            <a:extLst>
              <a:ext uri="{FF2B5EF4-FFF2-40B4-BE49-F238E27FC236}">
                <a16:creationId xmlns:a16="http://schemas.microsoft.com/office/drawing/2014/main" id="{A884B5B1-E26D-4A60-83F5-3CFA9D31F593}"/>
              </a:ext>
            </a:extLst>
          </p:cNvPr>
          <p:cNvSpPr>
            <a:spLocks noGrp="1"/>
          </p:cNvSpPr>
          <p:nvPr/>
        </p:nvSpPr>
        <p:spPr>
          <a:xfrm>
            <a:off x="6810375" y="4705350"/>
            <a:ext cx="742950" cy="742950"/>
          </a:xfrm>
          <a:prstGeom prst="rect">
            <a:avLst/>
          </a:prstGeom>
          <a:solidFill>
            <a:srgbClr val="DBEAF7"/>
          </a:solidFill>
          <a:ln w="0">
            <a:noFill/>
          </a:ln>
        </p:spPr>
        <p:txBody>
          <a:bodyPr/>
          <a:lstStyle/>
          <a:p>
            <a:endParaRPr lang="en-US"/>
          </a:p>
        </p:txBody>
      </p:sp>
      <p:sp>
        <p:nvSpPr>
          <p:cNvPr id="575" name="28">
            <a:extLst>
              <a:ext uri="{FF2B5EF4-FFF2-40B4-BE49-F238E27FC236}">
                <a16:creationId xmlns:a16="http://schemas.microsoft.com/office/drawing/2014/main" id="{C77C9DE1-EA68-4295-AB28-B83DF1AE7A34}"/>
              </a:ext>
            </a:extLst>
          </p:cNvPr>
          <p:cNvSpPr>
            <a:spLocks noGrp="1"/>
          </p:cNvSpPr>
          <p:nvPr/>
        </p:nvSpPr>
        <p:spPr>
          <a:xfrm>
            <a:off x="6819900" y="4914900"/>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28</a:t>
            </a:r>
          </a:p>
        </p:txBody>
      </p:sp>
      <p:sp>
        <p:nvSpPr>
          <p:cNvPr id="576" name="C0  &lt; 3.20&#10;C1  3.20–3.49&#10;C2  3.50–3.74&#10;C3  ≥ 3.75">
            <a:extLst>
              <a:ext uri="{FF2B5EF4-FFF2-40B4-BE49-F238E27FC236}">
                <a16:creationId xmlns:a16="http://schemas.microsoft.com/office/drawing/2014/main" id="{535EE8C2-4DFB-4CD7-B1AC-773F48E1187F}"/>
              </a:ext>
            </a:extLst>
          </p:cNvPr>
          <p:cNvSpPr>
            <a:spLocks noGrp="1"/>
          </p:cNvSpPr>
          <p:nvPr/>
        </p:nvSpPr>
        <p:spPr>
          <a:xfrm>
            <a:off x="400050" y="2438400"/>
            <a:ext cx="3143250" cy="2190750"/>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C0  &lt; 3.20</a:t>
            </a:r>
          </a:p>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C1  3.20–3.49</a:t>
            </a:r>
          </a:p>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C2  3.50–3.74</a:t>
            </a:r>
          </a:p>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C3  ≥ 3.75</a:t>
            </a:r>
          </a:p>
        </p:txBody>
      </p:sp>
      <p:sp>
        <p:nvSpPr>
          <p:cNvPr id="577" name="Rows = actual class. Columns = predicted class. Blue ce">
            <a:extLst>
              <a:ext uri="{FF2B5EF4-FFF2-40B4-BE49-F238E27FC236}">
                <a16:creationId xmlns:a16="http://schemas.microsoft.com/office/drawing/2014/main" id="{5C5F3199-13B0-4449-A726-1F31AE21599F}"/>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Rows = actual class. Columns = predicted class. Blue cells are correct predictions.</a:t>
            </a:r>
          </a:p>
        </p:txBody>
      </p:sp>
    </p:spTree>
    <p:extLst>
      <p:ext uri="{BB962C8B-B14F-4D97-AF65-F5344CB8AC3E}">
        <p14:creationId xmlns:p14="http://schemas.microsoft.com/office/powerpoint/2010/main" val="12714283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40</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WEKA Random Forest and SMO matrices</a:t>
            </a:r>
          </a:p>
        </p:txBody>
      </p:sp>
      <p:sp>
        <p:nvSpPr>
          <p:cNvPr id="534" name="Random Forest">
            <a:extLst>
              <a:ext uri="{FF2B5EF4-FFF2-40B4-BE49-F238E27FC236}">
                <a16:creationId xmlns:a16="http://schemas.microsoft.com/office/drawing/2014/main" id="{0F2F2DFE-AD5B-4629-ACCB-05C4E9CFADBF}"/>
              </a:ext>
            </a:extLst>
          </p:cNvPr>
          <p:cNvSpPr>
            <a:spLocks noGrp="1"/>
          </p:cNvSpPr>
          <p:nvPr/>
        </p:nvSpPr>
        <p:spPr>
          <a:xfrm>
            <a:off x="666750" y="1552575"/>
            <a:ext cx="5238750" cy="381000"/>
          </a:xfrm>
          <a:prstGeom prst="rect">
            <a:avLst/>
          </a:prstGeom>
          <a:noFill/>
          <a:ln w="0">
            <a:noFill/>
          </a:ln>
        </p:spPr>
        <p:txBody>
          <a:bodyPr anchor="t">
            <a:noAutofit/>
          </a:bodyPr>
          <a:lstStyle/>
          <a:p>
            <a:pPr>
              <a:defRPr sz="1875" b="0">
                <a:solidFill>
                  <a:srgbClr val="121212"/>
                </a:solidFill>
                <a:latin typeface="Times New Roman"/>
                <a:ea typeface="Times New Roman"/>
                <a:cs typeface="Times New Roman"/>
              </a:defRPr>
            </a:pPr>
            <a:r>
              <a:rPr sz="1875" b="0">
                <a:solidFill>
                  <a:srgbClr val="121212"/>
                </a:solidFill>
                <a:latin typeface="Times New Roman"/>
                <a:ea typeface="Times New Roman"/>
                <a:cs typeface="Times New Roman"/>
              </a:rPr>
              <a:t>Random Forest</a:t>
            </a:r>
          </a:p>
        </p:txBody>
      </p:sp>
      <p:sp>
        <p:nvSpPr>
          <p:cNvPr id="535" name="Predicted">
            <a:extLst>
              <a:ext uri="{FF2B5EF4-FFF2-40B4-BE49-F238E27FC236}">
                <a16:creationId xmlns:a16="http://schemas.microsoft.com/office/drawing/2014/main" id="{DDD9BC4E-CF17-4DCD-B8DC-5843CB148F7E}"/>
              </a:ext>
            </a:extLst>
          </p:cNvPr>
          <p:cNvSpPr>
            <a:spLocks noGrp="1"/>
          </p:cNvSpPr>
          <p:nvPr/>
        </p:nvSpPr>
        <p:spPr>
          <a:xfrm>
            <a:off x="1619250" y="2000250"/>
            <a:ext cx="2952750" cy="304800"/>
          </a:xfrm>
          <a:prstGeom prst="rect">
            <a:avLst/>
          </a:prstGeom>
          <a:noFill/>
          <a:ln w="0">
            <a:noFill/>
          </a:ln>
        </p:spPr>
        <p:txBody>
          <a:bodyPr anchor="t">
            <a:noAutofit/>
          </a:bodyPr>
          <a:lstStyle/>
          <a:p>
            <a:pPr>
              <a:defRPr sz="1575" b="0">
                <a:solidFill>
                  <a:srgbClr val="585858"/>
                </a:solidFill>
                <a:latin typeface="Times New Roman"/>
                <a:ea typeface="Times New Roman"/>
                <a:cs typeface="Times New Roman"/>
              </a:defRPr>
            </a:pPr>
            <a:r>
              <a:rPr sz="1575" b="0">
                <a:solidFill>
                  <a:srgbClr val="585858"/>
                </a:solidFill>
                <a:latin typeface="Times New Roman"/>
                <a:ea typeface="Times New Roman"/>
                <a:cs typeface="Times New Roman"/>
              </a:rPr>
              <a:t>Predicted</a:t>
            </a:r>
          </a:p>
        </p:txBody>
      </p:sp>
      <p:sp>
        <p:nvSpPr>
          <p:cNvPr id="536" name="C0">
            <a:extLst>
              <a:ext uri="{FF2B5EF4-FFF2-40B4-BE49-F238E27FC236}">
                <a16:creationId xmlns:a16="http://schemas.microsoft.com/office/drawing/2014/main" id="{80BDD149-0E22-45F9-80AF-C2BC951272F6}"/>
              </a:ext>
            </a:extLst>
          </p:cNvPr>
          <p:cNvSpPr>
            <a:spLocks noGrp="1"/>
          </p:cNvSpPr>
          <p:nvPr/>
        </p:nvSpPr>
        <p:spPr>
          <a:xfrm>
            <a:off x="147637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37" name="C0">
            <a:extLst>
              <a:ext uri="{FF2B5EF4-FFF2-40B4-BE49-F238E27FC236}">
                <a16:creationId xmlns:a16="http://schemas.microsoft.com/office/drawing/2014/main" id="{F4A4CFCB-6031-416A-A0A6-06638A95CA14}"/>
              </a:ext>
            </a:extLst>
          </p:cNvPr>
          <p:cNvSpPr>
            <a:spLocks noGrp="1"/>
          </p:cNvSpPr>
          <p:nvPr/>
        </p:nvSpPr>
        <p:spPr>
          <a:xfrm>
            <a:off x="762000" y="2809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38" name="C1">
            <a:extLst>
              <a:ext uri="{FF2B5EF4-FFF2-40B4-BE49-F238E27FC236}">
                <a16:creationId xmlns:a16="http://schemas.microsoft.com/office/drawing/2014/main" id="{3171E6BB-B4B1-4C01-A786-1AE1C13B8BC1}"/>
              </a:ext>
            </a:extLst>
          </p:cNvPr>
          <p:cNvSpPr>
            <a:spLocks noGrp="1"/>
          </p:cNvSpPr>
          <p:nvPr/>
        </p:nvSpPr>
        <p:spPr>
          <a:xfrm>
            <a:off x="223837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39" name="C1">
            <a:extLst>
              <a:ext uri="{FF2B5EF4-FFF2-40B4-BE49-F238E27FC236}">
                <a16:creationId xmlns:a16="http://schemas.microsoft.com/office/drawing/2014/main" id="{14C64141-A013-46D8-8B0D-41E6DBBCCC04}"/>
              </a:ext>
            </a:extLst>
          </p:cNvPr>
          <p:cNvSpPr>
            <a:spLocks noGrp="1"/>
          </p:cNvSpPr>
          <p:nvPr/>
        </p:nvSpPr>
        <p:spPr>
          <a:xfrm>
            <a:off x="762000" y="3571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40" name="C2">
            <a:extLst>
              <a:ext uri="{FF2B5EF4-FFF2-40B4-BE49-F238E27FC236}">
                <a16:creationId xmlns:a16="http://schemas.microsoft.com/office/drawing/2014/main" id="{D591E177-BA9C-4F4D-9D42-7F25A3F459F6}"/>
              </a:ext>
            </a:extLst>
          </p:cNvPr>
          <p:cNvSpPr>
            <a:spLocks noGrp="1"/>
          </p:cNvSpPr>
          <p:nvPr/>
        </p:nvSpPr>
        <p:spPr>
          <a:xfrm>
            <a:off x="300037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41" name="C2">
            <a:extLst>
              <a:ext uri="{FF2B5EF4-FFF2-40B4-BE49-F238E27FC236}">
                <a16:creationId xmlns:a16="http://schemas.microsoft.com/office/drawing/2014/main" id="{3C6139E3-7BCF-407D-971B-5C6ACD8EB5F8}"/>
              </a:ext>
            </a:extLst>
          </p:cNvPr>
          <p:cNvSpPr>
            <a:spLocks noGrp="1"/>
          </p:cNvSpPr>
          <p:nvPr/>
        </p:nvSpPr>
        <p:spPr>
          <a:xfrm>
            <a:off x="762000" y="4333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42" name="C3">
            <a:extLst>
              <a:ext uri="{FF2B5EF4-FFF2-40B4-BE49-F238E27FC236}">
                <a16:creationId xmlns:a16="http://schemas.microsoft.com/office/drawing/2014/main" id="{6EE1E8AC-9110-42A3-9AF3-5578598D71B3}"/>
              </a:ext>
            </a:extLst>
          </p:cNvPr>
          <p:cNvSpPr>
            <a:spLocks noGrp="1"/>
          </p:cNvSpPr>
          <p:nvPr/>
        </p:nvSpPr>
        <p:spPr>
          <a:xfrm>
            <a:off x="376237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43" name="C3">
            <a:extLst>
              <a:ext uri="{FF2B5EF4-FFF2-40B4-BE49-F238E27FC236}">
                <a16:creationId xmlns:a16="http://schemas.microsoft.com/office/drawing/2014/main" id="{20D278B0-58B3-4153-9AB7-86B8FED781A4}"/>
              </a:ext>
            </a:extLst>
          </p:cNvPr>
          <p:cNvSpPr>
            <a:spLocks noGrp="1"/>
          </p:cNvSpPr>
          <p:nvPr/>
        </p:nvSpPr>
        <p:spPr>
          <a:xfrm>
            <a:off x="762000" y="5095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44" name="Rectangle 543">
            <a:extLst>
              <a:ext uri="{FF2B5EF4-FFF2-40B4-BE49-F238E27FC236}">
                <a16:creationId xmlns:a16="http://schemas.microsoft.com/office/drawing/2014/main" id="{D11D9988-1815-4633-A201-C3691AFDA185}"/>
              </a:ext>
            </a:extLst>
          </p:cNvPr>
          <p:cNvSpPr>
            <a:spLocks noGrp="1"/>
          </p:cNvSpPr>
          <p:nvPr/>
        </p:nvSpPr>
        <p:spPr>
          <a:xfrm>
            <a:off x="1381125" y="2733675"/>
            <a:ext cx="742950" cy="742950"/>
          </a:xfrm>
          <a:prstGeom prst="rect">
            <a:avLst/>
          </a:prstGeom>
          <a:solidFill>
            <a:srgbClr val="DBEAF7"/>
          </a:solidFill>
          <a:ln w="0">
            <a:noFill/>
          </a:ln>
        </p:spPr>
        <p:txBody>
          <a:bodyPr/>
          <a:lstStyle/>
          <a:p>
            <a:endParaRPr lang="en-US"/>
          </a:p>
        </p:txBody>
      </p:sp>
      <p:sp>
        <p:nvSpPr>
          <p:cNvPr id="545" name="95">
            <a:extLst>
              <a:ext uri="{FF2B5EF4-FFF2-40B4-BE49-F238E27FC236}">
                <a16:creationId xmlns:a16="http://schemas.microsoft.com/office/drawing/2014/main" id="{0AF98338-F7D2-40C8-9BB4-E7A6DB2E2984}"/>
              </a:ext>
            </a:extLst>
          </p:cNvPr>
          <p:cNvSpPr>
            <a:spLocks noGrp="1"/>
          </p:cNvSpPr>
          <p:nvPr/>
        </p:nvSpPr>
        <p:spPr>
          <a:xfrm>
            <a:off x="1390650" y="2943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95</a:t>
            </a:r>
          </a:p>
        </p:txBody>
      </p:sp>
      <p:sp>
        <p:nvSpPr>
          <p:cNvPr id="546" name="Rectangle 545">
            <a:extLst>
              <a:ext uri="{FF2B5EF4-FFF2-40B4-BE49-F238E27FC236}">
                <a16:creationId xmlns:a16="http://schemas.microsoft.com/office/drawing/2014/main" id="{7D4A0DA2-021C-4DD8-B93B-F87CB03E33A8}"/>
              </a:ext>
            </a:extLst>
          </p:cNvPr>
          <p:cNvSpPr>
            <a:spLocks noGrp="1"/>
          </p:cNvSpPr>
          <p:nvPr/>
        </p:nvSpPr>
        <p:spPr>
          <a:xfrm>
            <a:off x="2143125" y="2733675"/>
            <a:ext cx="742950" cy="742950"/>
          </a:xfrm>
          <a:prstGeom prst="rect">
            <a:avLst/>
          </a:prstGeom>
          <a:solidFill>
            <a:srgbClr val="F2F2F2"/>
          </a:solidFill>
          <a:ln w="0">
            <a:noFill/>
          </a:ln>
        </p:spPr>
        <p:txBody>
          <a:bodyPr/>
          <a:lstStyle/>
          <a:p>
            <a:endParaRPr lang="en-US"/>
          </a:p>
        </p:txBody>
      </p:sp>
      <p:sp>
        <p:nvSpPr>
          <p:cNvPr id="547" name="81">
            <a:extLst>
              <a:ext uri="{FF2B5EF4-FFF2-40B4-BE49-F238E27FC236}">
                <a16:creationId xmlns:a16="http://schemas.microsoft.com/office/drawing/2014/main" id="{D2198BD5-0A52-469F-BBEC-480FCF2E2C9A}"/>
              </a:ext>
            </a:extLst>
          </p:cNvPr>
          <p:cNvSpPr>
            <a:spLocks noGrp="1"/>
          </p:cNvSpPr>
          <p:nvPr/>
        </p:nvSpPr>
        <p:spPr>
          <a:xfrm>
            <a:off x="2152650" y="2943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81</a:t>
            </a:r>
          </a:p>
        </p:txBody>
      </p:sp>
      <p:sp>
        <p:nvSpPr>
          <p:cNvPr id="548" name="Rectangle 547">
            <a:extLst>
              <a:ext uri="{FF2B5EF4-FFF2-40B4-BE49-F238E27FC236}">
                <a16:creationId xmlns:a16="http://schemas.microsoft.com/office/drawing/2014/main" id="{D906FA53-33A7-4D28-9FE8-E1A8F059A939}"/>
              </a:ext>
            </a:extLst>
          </p:cNvPr>
          <p:cNvSpPr>
            <a:spLocks noGrp="1"/>
          </p:cNvSpPr>
          <p:nvPr/>
        </p:nvSpPr>
        <p:spPr>
          <a:xfrm>
            <a:off x="2905125" y="2733675"/>
            <a:ext cx="742950" cy="742950"/>
          </a:xfrm>
          <a:prstGeom prst="rect">
            <a:avLst/>
          </a:prstGeom>
          <a:solidFill>
            <a:srgbClr val="F2F2F2"/>
          </a:solidFill>
          <a:ln w="0">
            <a:noFill/>
          </a:ln>
        </p:spPr>
        <p:txBody>
          <a:bodyPr/>
          <a:lstStyle/>
          <a:p>
            <a:endParaRPr lang="en-US"/>
          </a:p>
        </p:txBody>
      </p:sp>
      <p:sp>
        <p:nvSpPr>
          <p:cNvPr id="549" name="26">
            <a:extLst>
              <a:ext uri="{FF2B5EF4-FFF2-40B4-BE49-F238E27FC236}">
                <a16:creationId xmlns:a16="http://schemas.microsoft.com/office/drawing/2014/main" id="{A699CC03-0A6F-4D96-8E89-2AD80EF44FF2}"/>
              </a:ext>
            </a:extLst>
          </p:cNvPr>
          <p:cNvSpPr>
            <a:spLocks noGrp="1"/>
          </p:cNvSpPr>
          <p:nvPr/>
        </p:nvSpPr>
        <p:spPr>
          <a:xfrm>
            <a:off x="2914650" y="2943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26</a:t>
            </a:r>
          </a:p>
        </p:txBody>
      </p:sp>
      <p:sp>
        <p:nvSpPr>
          <p:cNvPr id="550" name="Rectangle 549">
            <a:extLst>
              <a:ext uri="{FF2B5EF4-FFF2-40B4-BE49-F238E27FC236}">
                <a16:creationId xmlns:a16="http://schemas.microsoft.com/office/drawing/2014/main" id="{88B873C1-215C-425F-AF39-DBD53E6F48F2}"/>
              </a:ext>
            </a:extLst>
          </p:cNvPr>
          <p:cNvSpPr>
            <a:spLocks noGrp="1"/>
          </p:cNvSpPr>
          <p:nvPr/>
        </p:nvSpPr>
        <p:spPr>
          <a:xfrm>
            <a:off x="3667125" y="2733675"/>
            <a:ext cx="742950" cy="742950"/>
          </a:xfrm>
          <a:prstGeom prst="rect">
            <a:avLst/>
          </a:prstGeom>
          <a:solidFill>
            <a:srgbClr val="F2F2F2"/>
          </a:solidFill>
          <a:ln w="0">
            <a:noFill/>
          </a:ln>
        </p:spPr>
        <p:txBody>
          <a:bodyPr/>
          <a:lstStyle/>
          <a:p>
            <a:endParaRPr lang="en-US"/>
          </a:p>
        </p:txBody>
      </p:sp>
      <p:sp>
        <p:nvSpPr>
          <p:cNvPr id="551" name="34">
            <a:extLst>
              <a:ext uri="{FF2B5EF4-FFF2-40B4-BE49-F238E27FC236}">
                <a16:creationId xmlns:a16="http://schemas.microsoft.com/office/drawing/2014/main" id="{4A4168F7-46E3-4576-951D-93BF914B9482}"/>
              </a:ext>
            </a:extLst>
          </p:cNvPr>
          <p:cNvSpPr>
            <a:spLocks noGrp="1"/>
          </p:cNvSpPr>
          <p:nvPr/>
        </p:nvSpPr>
        <p:spPr>
          <a:xfrm>
            <a:off x="3676650" y="2943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34</a:t>
            </a:r>
          </a:p>
        </p:txBody>
      </p:sp>
      <p:sp>
        <p:nvSpPr>
          <p:cNvPr id="552" name="Rectangle 551">
            <a:extLst>
              <a:ext uri="{FF2B5EF4-FFF2-40B4-BE49-F238E27FC236}">
                <a16:creationId xmlns:a16="http://schemas.microsoft.com/office/drawing/2014/main" id="{014C9AA9-D23B-4C10-A933-9BD85FF1088E}"/>
              </a:ext>
            </a:extLst>
          </p:cNvPr>
          <p:cNvSpPr>
            <a:spLocks noGrp="1"/>
          </p:cNvSpPr>
          <p:nvPr/>
        </p:nvSpPr>
        <p:spPr>
          <a:xfrm>
            <a:off x="1381125" y="3495675"/>
            <a:ext cx="742950" cy="742950"/>
          </a:xfrm>
          <a:prstGeom prst="rect">
            <a:avLst/>
          </a:prstGeom>
          <a:solidFill>
            <a:srgbClr val="F2F2F2"/>
          </a:solidFill>
          <a:ln w="0">
            <a:noFill/>
          </a:ln>
        </p:spPr>
        <p:txBody>
          <a:bodyPr/>
          <a:lstStyle/>
          <a:p>
            <a:endParaRPr lang="en-US"/>
          </a:p>
        </p:txBody>
      </p:sp>
      <p:sp>
        <p:nvSpPr>
          <p:cNvPr id="553" name="57">
            <a:extLst>
              <a:ext uri="{FF2B5EF4-FFF2-40B4-BE49-F238E27FC236}">
                <a16:creationId xmlns:a16="http://schemas.microsoft.com/office/drawing/2014/main" id="{80DB899D-BD1B-41A3-9B19-2FFB5E0F8E16}"/>
              </a:ext>
            </a:extLst>
          </p:cNvPr>
          <p:cNvSpPr>
            <a:spLocks noGrp="1"/>
          </p:cNvSpPr>
          <p:nvPr/>
        </p:nvSpPr>
        <p:spPr>
          <a:xfrm>
            <a:off x="1390650" y="3705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57</a:t>
            </a:r>
          </a:p>
        </p:txBody>
      </p:sp>
      <p:sp>
        <p:nvSpPr>
          <p:cNvPr id="554" name="Rectangle 553">
            <a:extLst>
              <a:ext uri="{FF2B5EF4-FFF2-40B4-BE49-F238E27FC236}">
                <a16:creationId xmlns:a16="http://schemas.microsoft.com/office/drawing/2014/main" id="{AC2500C5-C792-4DE6-B376-A7BE21954081}"/>
              </a:ext>
            </a:extLst>
          </p:cNvPr>
          <p:cNvSpPr>
            <a:spLocks noGrp="1"/>
          </p:cNvSpPr>
          <p:nvPr/>
        </p:nvSpPr>
        <p:spPr>
          <a:xfrm>
            <a:off x="2143125" y="3495675"/>
            <a:ext cx="742950" cy="742950"/>
          </a:xfrm>
          <a:prstGeom prst="rect">
            <a:avLst/>
          </a:prstGeom>
          <a:solidFill>
            <a:srgbClr val="DBEAF7"/>
          </a:solidFill>
          <a:ln w="0">
            <a:noFill/>
          </a:ln>
        </p:spPr>
        <p:txBody>
          <a:bodyPr/>
          <a:lstStyle/>
          <a:p>
            <a:endParaRPr lang="en-US"/>
          </a:p>
        </p:txBody>
      </p:sp>
      <p:sp>
        <p:nvSpPr>
          <p:cNvPr id="555" name="159">
            <a:extLst>
              <a:ext uri="{FF2B5EF4-FFF2-40B4-BE49-F238E27FC236}">
                <a16:creationId xmlns:a16="http://schemas.microsoft.com/office/drawing/2014/main" id="{CCFBA774-3D54-4CC7-B3D7-96C0317F960C}"/>
              </a:ext>
            </a:extLst>
          </p:cNvPr>
          <p:cNvSpPr>
            <a:spLocks noGrp="1"/>
          </p:cNvSpPr>
          <p:nvPr/>
        </p:nvSpPr>
        <p:spPr>
          <a:xfrm>
            <a:off x="2152650" y="3705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159</a:t>
            </a:r>
          </a:p>
        </p:txBody>
      </p:sp>
      <p:sp>
        <p:nvSpPr>
          <p:cNvPr id="556" name="Rectangle 555">
            <a:extLst>
              <a:ext uri="{FF2B5EF4-FFF2-40B4-BE49-F238E27FC236}">
                <a16:creationId xmlns:a16="http://schemas.microsoft.com/office/drawing/2014/main" id="{233AE933-1476-4090-84F9-0EA47D1DBD73}"/>
              </a:ext>
            </a:extLst>
          </p:cNvPr>
          <p:cNvSpPr>
            <a:spLocks noGrp="1"/>
          </p:cNvSpPr>
          <p:nvPr/>
        </p:nvSpPr>
        <p:spPr>
          <a:xfrm>
            <a:off x="2905125" y="3495675"/>
            <a:ext cx="742950" cy="742950"/>
          </a:xfrm>
          <a:prstGeom prst="rect">
            <a:avLst/>
          </a:prstGeom>
          <a:solidFill>
            <a:srgbClr val="F2F2F2"/>
          </a:solidFill>
          <a:ln w="0">
            <a:noFill/>
          </a:ln>
        </p:spPr>
        <p:txBody>
          <a:bodyPr/>
          <a:lstStyle/>
          <a:p>
            <a:endParaRPr lang="en-US"/>
          </a:p>
        </p:txBody>
      </p:sp>
      <p:sp>
        <p:nvSpPr>
          <p:cNvPr id="557" name="71">
            <a:extLst>
              <a:ext uri="{FF2B5EF4-FFF2-40B4-BE49-F238E27FC236}">
                <a16:creationId xmlns:a16="http://schemas.microsoft.com/office/drawing/2014/main" id="{986D60C0-2F08-4D18-BDF3-344808AAE4D8}"/>
              </a:ext>
            </a:extLst>
          </p:cNvPr>
          <p:cNvSpPr>
            <a:spLocks noGrp="1"/>
          </p:cNvSpPr>
          <p:nvPr/>
        </p:nvSpPr>
        <p:spPr>
          <a:xfrm>
            <a:off x="2914650" y="3705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71</a:t>
            </a:r>
          </a:p>
        </p:txBody>
      </p:sp>
      <p:sp>
        <p:nvSpPr>
          <p:cNvPr id="558" name="Rectangle 557">
            <a:extLst>
              <a:ext uri="{FF2B5EF4-FFF2-40B4-BE49-F238E27FC236}">
                <a16:creationId xmlns:a16="http://schemas.microsoft.com/office/drawing/2014/main" id="{77B7C1E8-963E-4A60-A5A3-F4930AB82450}"/>
              </a:ext>
            </a:extLst>
          </p:cNvPr>
          <p:cNvSpPr>
            <a:spLocks noGrp="1"/>
          </p:cNvSpPr>
          <p:nvPr/>
        </p:nvSpPr>
        <p:spPr>
          <a:xfrm>
            <a:off x="3667125" y="3495675"/>
            <a:ext cx="742950" cy="742950"/>
          </a:xfrm>
          <a:prstGeom prst="rect">
            <a:avLst/>
          </a:prstGeom>
          <a:solidFill>
            <a:srgbClr val="F2F2F2"/>
          </a:solidFill>
          <a:ln w="0">
            <a:noFill/>
          </a:ln>
        </p:spPr>
        <p:txBody>
          <a:bodyPr/>
          <a:lstStyle/>
          <a:p>
            <a:endParaRPr lang="en-US"/>
          </a:p>
        </p:txBody>
      </p:sp>
      <p:sp>
        <p:nvSpPr>
          <p:cNvPr id="559" name="33">
            <a:extLst>
              <a:ext uri="{FF2B5EF4-FFF2-40B4-BE49-F238E27FC236}">
                <a16:creationId xmlns:a16="http://schemas.microsoft.com/office/drawing/2014/main" id="{C9EF27C4-576A-4264-91AB-CEC1780D2CD9}"/>
              </a:ext>
            </a:extLst>
          </p:cNvPr>
          <p:cNvSpPr>
            <a:spLocks noGrp="1"/>
          </p:cNvSpPr>
          <p:nvPr/>
        </p:nvSpPr>
        <p:spPr>
          <a:xfrm>
            <a:off x="3676650" y="3705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33</a:t>
            </a:r>
          </a:p>
        </p:txBody>
      </p:sp>
      <p:sp>
        <p:nvSpPr>
          <p:cNvPr id="560" name="Rectangle 559">
            <a:extLst>
              <a:ext uri="{FF2B5EF4-FFF2-40B4-BE49-F238E27FC236}">
                <a16:creationId xmlns:a16="http://schemas.microsoft.com/office/drawing/2014/main" id="{29D97520-C572-4285-B327-EDEF1F899BD3}"/>
              </a:ext>
            </a:extLst>
          </p:cNvPr>
          <p:cNvSpPr>
            <a:spLocks noGrp="1"/>
          </p:cNvSpPr>
          <p:nvPr/>
        </p:nvSpPr>
        <p:spPr>
          <a:xfrm>
            <a:off x="1381125" y="4257675"/>
            <a:ext cx="742950" cy="742950"/>
          </a:xfrm>
          <a:prstGeom prst="rect">
            <a:avLst/>
          </a:prstGeom>
          <a:solidFill>
            <a:srgbClr val="F2F2F2"/>
          </a:solidFill>
          <a:ln w="0">
            <a:noFill/>
          </a:ln>
        </p:spPr>
        <p:txBody>
          <a:bodyPr/>
          <a:lstStyle/>
          <a:p>
            <a:endParaRPr lang="en-US"/>
          </a:p>
        </p:txBody>
      </p:sp>
      <p:sp>
        <p:nvSpPr>
          <p:cNvPr id="561" name="47">
            <a:extLst>
              <a:ext uri="{FF2B5EF4-FFF2-40B4-BE49-F238E27FC236}">
                <a16:creationId xmlns:a16="http://schemas.microsoft.com/office/drawing/2014/main" id="{71831B06-AA0D-4C31-9397-C152075AD07B}"/>
              </a:ext>
            </a:extLst>
          </p:cNvPr>
          <p:cNvSpPr>
            <a:spLocks noGrp="1"/>
          </p:cNvSpPr>
          <p:nvPr/>
        </p:nvSpPr>
        <p:spPr>
          <a:xfrm>
            <a:off x="1390650" y="4467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47</a:t>
            </a:r>
          </a:p>
        </p:txBody>
      </p:sp>
      <p:sp>
        <p:nvSpPr>
          <p:cNvPr id="562" name="Rectangle 561">
            <a:extLst>
              <a:ext uri="{FF2B5EF4-FFF2-40B4-BE49-F238E27FC236}">
                <a16:creationId xmlns:a16="http://schemas.microsoft.com/office/drawing/2014/main" id="{34012A19-68B3-4FCD-9A0C-DD6A395E7CBA}"/>
              </a:ext>
            </a:extLst>
          </p:cNvPr>
          <p:cNvSpPr>
            <a:spLocks noGrp="1"/>
          </p:cNvSpPr>
          <p:nvPr/>
        </p:nvSpPr>
        <p:spPr>
          <a:xfrm>
            <a:off x="2143125" y="4257675"/>
            <a:ext cx="742950" cy="742950"/>
          </a:xfrm>
          <a:prstGeom prst="rect">
            <a:avLst/>
          </a:prstGeom>
          <a:solidFill>
            <a:srgbClr val="F2F2F2"/>
          </a:solidFill>
          <a:ln w="0">
            <a:noFill/>
          </a:ln>
        </p:spPr>
        <p:txBody>
          <a:bodyPr/>
          <a:lstStyle/>
          <a:p>
            <a:endParaRPr lang="en-US"/>
          </a:p>
        </p:txBody>
      </p:sp>
      <p:sp>
        <p:nvSpPr>
          <p:cNvPr id="563" name="79">
            <a:extLst>
              <a:ext uri="{FF2B5EF4-FFF2-40B4-BE49-F238E27FC236}">
                <a16:creationId xmlns:a16="http://schemas.microsoft.com/office/drawing/2014/main" id="{28B34E49-82BB-491A-A4A2-9C95DD49366C}"/>
              </a:ext>
            </a:extLst>
          </p:cNvPr>
          <p:cNvSpPr>
            <a:spLocks noGrp="1"/>
          </p:cNvSpPr>
          <p:nvPr/>
        </p:nvSpPr>
        <p:spPr>
          <a:xfrm>
            <a:off x="2152650" y="4467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79</a:t>
            </a:r>
          </a:p>
        </p:txBody>
      </p:sp>
      <p:sp>
        <p:nvSpPr>
          <p:cNvPr id="564" name="Rectangle 563">
            <a:extLst>
              <a:ext uri="{FF2B5EF4-FFF2-40B4-BE49-F238E27FC236}">
                <a16:creationId xmlns:a16="http://schemas.microsoft.com/office/drawing/2014/main" id="{0C62F330-9BCF-48DE-ADAC-6E6C496CD517}"/>
              </a:ext>
            </a:extLst>
          </p:cNvPr>
          <p:cNvSpPr>
            <a:spLocks noGrp="1"/>
          </p:cNvSpPr>
          <p:nvPr/>
        </p:nvSpPr>
        <p:spPr>
          <a:xfrm>
            <a:off x="2905125" y="4257675"/>
            <a:ext cx="742950" cy="742950"/>
          </a:xfrm>
          <a:prstGeom prst="rect">
            <a:avLst/>
          </a:prstGeom>
          <a:solidFill>
            <a:srgbClr val="DBEAF7"/>
          </a:solidFill>
          <a:ln w="0">
            <a:noFill/>
          </a:ln>
        </p:spPr>
        <p:txBody>
          <a:bodyPr/>
          <a:lstStyle/>
          <a:p>
            <a:endParaRPr lang="en-US"/>
          </a:p>
        </p:txBody>
      </p:sp>
      <p:sp>
        <p:nvSpPr>
          <p:cNvPr id="565" name="126">
            <a:extLst>
              <a:ext uri="{FF2B5EF4-FFF2-40B4-BE49-F238E27FC236}">
                <a16:creationId xmlns:a16="http://schemas.microsoft.com/office/drawing/2014/main" id="{618467CC-2828-4D6C-933B-4CDB516E93A1}"/>
              </a:ext>
            </a:extLst>
          </p:cNvPr>
          <p:cNvSpPr>
            <a:spLocks noGrp="1"/>
          </p:cNvSpPr>
          <p:nvPr/>
        </p:nvSpPr>
        <p:spPr>
          <a:xfrm>
            <a:off x="2914650" y="4467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126</a:t>
            </a:r>
          </a:p>
        </p:txBody>
      </p:sp>
      <p:sp>
        <p:nvSpPr>
          <p:cNvPr id="566" name="Rectangle 565">
            <a:extLst>
              <a:ext uri="{FF2B5EF4-FFF2-40B4-BE49-F238E27FC236}">
                <a16:creationId xmlns:a16="http://schemas.microsoft.com/office/drawing/2014/main" id="{0256204E-6A45-4A74-BBDD-FA657A453972}"/>
              </a:ext>
            </a:extLst>
          </p:cNvPr>
          <p:cNvSpPr>
            <a:spLocks noGrp="1"/>
          </p:cNvSpPr>
          <p:nvPr/>
        </p:nvSpPr>
        <p:spPr>
          <a:xfrm>
            <a:off x="3667125" y="4257675"/>
            <a:ext cx="742950" cy="742950"/>
          </a:xfrm>
          <a:prstGeom prst="rect">
            <a:avLst/>
          </a:prstGeom>
          <a:solidFill>
            <a:srgbClr val="F2F2F2"/>
          </a:solidFill>
          <a:ln w="0">
            <a:noFill/>
          </a:ln>
        </p:spPr>
        <p:txBody>
          <a:bodyPr/>
          <a:lstStyle/>
          <a:p>
            <a:endParaRPr lang="en-US"/>
          </a:p>
        </p:txBody>
      </p:sp>
      <p:sp>
        <p:nvSpPr>
          <p:cNvPr id="567" name="48">
            <a:extLst>
              <a:ext uri="{FF2B5EF4-FFF2-40B4-BE49-F238E27FC236}">
                <a16:creationId xmlns:a16="http://schemas.microsoft.com/office/drawing/2014/main" id="{6F799D76-7EC3-4ABA-8124-E099B94BC225}"/>
              </a:ext>
            </a:extLst>
          </p:cNvPr>
          <p:cNvSpPr>
            <a:spLocks noGrp="1"/>
          </p:cNvSpPr>
          <p:nvPr/>
        </p:nvSpPr>
        <p:spPr>
          <a:xfrm>
            <a:off x="3676650" y="4467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48</a:t>
            </a:r>
          </a:p>
        </p:txBody>
      </p:sp>
      <p:sp>
        <p:nvSpPr>
          <p:cNvPr id="568" name="Rectangle 567">
            <a:extLst>
              <a:ext uri="{FF2B5EF4-FFF2-40B4-BE49-F238E27FC236}">
                <a16:creationId xmlns:a16="http://schemas.microsoft.com/office/drawing/2014/main" id="{774412FF-622F-420B-8EE1-EAF10E099DC0}"/>
              </a:ext>
            </a:extLst>
          </p:cNvPr>
          <p:cNvSpPr>
            <a:spLocks noGrp="1"/>
          </p:cNvSpPr>
          <p:nvPr/>
        </p:nvSpPr>
        <p:spPr>
          <a:xfrm>
            <a:off x="1381125" y="5019675"/>
            <a:ext cx="742950" cy="742950"/>
          </a:xfrm>
          <a:prstGeom prst="rect">
            <a:avLst/>
          </a:prstGeom>
          <a:solidFill>
            <a:srgbClr val="F2F2F2"/>
          </a:solidFill>
          <a:ln w="0">
            <a:noFill/>
          </a:ln>
        </p:spPr>
        <p:txBody>
          <a:bodyPr/>
          <a:lstStyle/>
          <a:p>
            <a:endParaRPr lang="en-US"/>
          </a:p>
        </p:txBody>
      </p:sp>
      <p:sp>
        <p:nvSpPr>
          <p:cNvPr id="569" name="43">
            <a:extLst>
              <a:ext uri="{FF2B5EF4-FFF2-40B4-BE49-F238E27FC236}">
                <a16:creationId xmlns:a16="http://schemas.microsoft.com/office/drawing/2014/main" id="{B47EFCD2-FCB6-4E14-95F6-D292C5C5C4E8}"/>
              </a:ext>
            </a:extLst>
          </p:cNvPr>
          <p:cNvSpPr>
            <a:spLocks noGrp="1"/>
          </p:cNvSpPr>
          <p:nvPr/>
        </p:nvSpPr>
        <p:spPr>
          <a:xfrm>
            <a:off x="1390650" y="5229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43</a:t>
            </a:r>
          </a:p>
        </p:txBody>
      </p:sp>
      <p:sp>
        <p:nvSpPr>
          <p:cNvPr id="570" name="Rectangle 569">
            <a:extLst>
              <a:ext uri="{FF2B5EF4-FFF2-40B4-BE49-F238E27FC236}">
                <a16:creationId xmlns:a16="http://schemas.microsoft.com/office/drawing/2014/main" id="{9C8F86F2-1D33-4017-80DC-875BC07C5DF6}"/>
              </a:ext>
            </a:extLst>
          </p:cNvPr>
          <p:cNvSpPr>
            <a:spLocks noGrp="1"/>
          </p:cNvSpPr>
          <p:nvPr/>
        </p:nvSpPr>
        <p:spPr>
          <a:xfrm>
            <a:off x="2143125" y="5019675"/>
            <a:ext cx="742950" cy="742950"/>
          </a:xfrm>
          <a:prstGeom prst="rect">
            <a:avLst/>
          </a:prstGeom>
          <a:solidFill>
            <a:srgbClr val="F2F2F2"/>
          </a:solidFill>
          <a:ln w="0">
            <a:noFill/>
          </a:ln>
        </p:spPr>
        <p:txBody>
          <a:bodyPr/>
          <a:lstStyle/>
          <a:p>
            <a:endParaRPr lang="en-US"/>
          </a:p>
        </p:txBody>
      </p:sp>
      <p:sp>
        <p:nvSpPr>
          <p:cNvPr id="571" name="50">
            <a:extLst>
              <a:ext uri="{FF2B5EF4-FFF2-40B4-BE49-F238E27FC236}">
                <a16:creationId xmlns:a16="http://schemas.microsoft.com/office/drawing/2014/main" id="{F0D60755-9770-41C8-AB4A-F1708D8743EF}"/>
              </a:ext>
            </a:extLst>
          </p:cNvPr>
          <p:cNvSpPr>
            <a:spLocks noGrp="1"/>
          </p:cNvSpPr>
          <p:nvPr/>
        </p:nvSpPr>
        <p:spPr>
          <a:xfrm>
            <a:off x="2152650" y="5229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50</a:t>
            </a:r>
          </a:p>
        </p:txBody>
      </p:sp>
      <p:sp>
        <p:nvSpPr>
          <p:cNvPr id="572" name="Rectangle 571">
            <a:extLst>
              <a:ext uri="{FF2B5EF4-FFF2-40B4-BE49-F238E27FC236}">
                <a16:creationId xmlns:a16="http://schemas.microsoft.com/office/drawing/2014/main" id="{99F61A3A-1447-494E-BC2B-299141A21609}"/>
              </a:ext>
            </a:extLst>
          </p:cNvPr>
          <p:cNvSpPr>
            <a:spLocks noGrp="1"/>
          </p:cNvSpPr>
          <p:nvPr/>
        </p:nvSpPr>
        <p:spPr>
          <a:xfrm>
            <a:off x="2905125" y="5019675"/>
            <a:ext cx="742950" cy="742950"/>
          </a:xfrm>
          <a:prstGeom prst="rect">
            <a:avLst/>
          </a:prstGeom>
          <a:solidFill>
            <a:srgbClr val="F2F2F2"/>
          </a:solidFill>
          <a:ln w="0">
            <a:noFill/>
          </a:ln>
        </p:spPr>
        <p:txBody>
          <a:bodyPr/>
          <a:lstStyle/>
          <a:p>
            <a:endParaRPr lang="en-US"/>
          </a:p>
        </p:txBody>
      </p:sp>
      <p:sp>
        <p:nvSpPr>
          <p:cNvPr id="573" name="49">
            <a:extLst>
              <a:ext uri="{FF2B5EF4-FFF2-40B4-BE49-F238E27FC236}">
                <a16:creationId xmlns:a16="http://schemas.microsoft.com/office/drawing/2014/main" id="{1EC4589B-041C-4310-BF07-47AF89C1FB9F}"/>
              </a:ext>
            </a:extLst>
          </p:cNvPr>
          <p:cNvSpPr>
            <a:spLocks noGrp="1"/>
          </p:cNvSpPr>
          <p:nvPr/>
        </p:nvSpPr>
        <p:spPr>
          <a:xfrm>
            <a:off x="2914650" y="5229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49</a:t>
            </a:r>
          </a:p>
        </p:txBody>
      </p:sp>
      <p:sp>
        <p:nvSpPr>
          <p:cNvPr id="574" name="Rectangle 573">
            <a:extLst>
              <a:ext uri="{FF2B5EF4-FFF2-40B4-BE49-F238E27FC236}">
                <a16:creationId xmlns:a16="http://schemas.microsoft.com/office/drawing/2014/main" id="{12E3B671-A302-4C01-AABA-3758D87C18EE}"/>
              </a:ext>
            </a:extLst>
          </p:cNvPr>
          <p:cNvSpPr>
            <a:spLocks noGrp="1"/>
          </p:cNvSpPr>
          <p:nvPr/>
        </p:nvSpPr>
        <p:spPr>
          <a:xfrm>
            <a:off x="3667125" y="5019675"/>
            <a:ext cx="742950" cy="742950"/>
          </a:xfrm>
          <a:prstGeom prst="rect">
            <a:avLst/>
          </a:prstGeom>
          <a:solidFill>
            <a:srgbClr val="DBEAF7"/>
          </a:solidFill>
          <a:ln w="0">
            <a:noFill/>
          </a:ln>
        </p:spPr>
        <p:txBody>
          <a:bodyPr/>
          <a:lstStyle/>
          <a:p>
            <a:endParaRPr lang="en-US"/>
          </a:p>
        </p:txBody>
      </p:sp>
      <p:sp>
        <p:nvSpPr>
          <p:cNvPr id="575" name="104">
            <a:extLst>
              <a:ext uri="{FF2B5EF4-FFF2-40B4-BE49-F238E27FC236}">
                <a16:creationId xmlns:a16="http://schemas.microsoft.com/office/drawing/2014/main" id="{DA762A01-9D20-43D9-A4AB-52FA97E864F5}"/>
              </a:ext>
            </a:extLst>
          </p:cNvPr>
          <p:cNvSpPr>
            <a:spLocks noGrp="1"/>
          </p:cNvSpPr>
          <p:nvPr/>
        </p:nvSpPr>
        <p:spPr>
          <a:xfrm>
            <a:off x="3676650" y="5229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104</a:t>
            </a:r>
          </a:p>
        </p:txBody>
      </p:sp>
      <p:sp>
        <p:nvSpPr>
          <p:cNvPr id="576" name="SMO">
            <a:extLst>
              <a:ext uri="{FF2B5EF4-FFF2-40B4-BE49-F238E27FC236}">
                <a16:creationId xmlns:a16="http://schemas.microsoft.com/office/drawing/2014/main" id="{3BABFCF0-35E7-4B6B-BD76-E9E1749E01F6}"/>
              </a:ext>
            </a:extLst>
          </p:cNvPr>
          <p:cNvSpPr>
            <a:spLocks noGrp="1"/>
          </p:cNvSpPr>
          <p:nvPr/>
        </p:nvSpPr>
        <p:spPr>
          <a:xfrm>
            <a:off x="6858000" y="1552575"/>
            <a:ext cx="5238750" cy="381000"/>
          </a:xfrm>
          <a:prstGeom prst="rect">
            <a:avLst/>
          </a:prstGeom>
          <a:noFill/>
          <a:ln w="0">
            <a:noFill/>
          </a:ln>
        </p:spPr>
        <p:txBody>
          <a:bodyPr anchor="t">
            <a:noAutofit/>
          </a:bodyPr>
          <a:lstStyle/>
          <a:p>
            <a:pPr>
              <a:defRPr sz="1875" b="0">
                <a:solidFill>
                  <a:srgbClr val="121212"/>
                </a:solidFill>
                <a:latin typeface="Times New Roman"/>
                <a:ea typeface="Times New Roman"/>
                <a:cs typeface="Times New Roman"/>
              </a:defRPr>
            </a:pPr>
            <a:r>
              <a:rPr sz="1875" b="0">
                <a:solidFill>
                  <a:srgbClr val="121212"/>
                </a:solidFill>
                <a:latin typeface="Times New Roman"/>
                <a:ea typeface="Times New Roman"/>
                <a:cs typeface="Times New Roman"/>
              </a:rPr>
              <a:t>SMO</a:t>
            </a:r>
          </a:p>
        </p:txBody>
      </p:sp>
      <p:sp>
        <p:nvSpPr>
          <p:cNvPr id="577" name="Predicted">
            <a:extLst>
              <a:ext uri="{FF2B5EF4-FFF2-40B4-BE49-F238E27FC236}">
                <a16:creationId xmlns:a16="http://schemas.microsoft.com/office/drawing/2014/main" id="{F39808B3-1686-40FC-9FF6-9882CEF469DD}"/>
              </a:ext>
            </a:extLst>
          </p:cNvPr>
          <p:cNvSpPr>
            <a:spLocks noGrp="1"/>
          </p:cNvSpPr>
          <p:nvPr/>
        </p:nvSpPr>
        <p:spPr>
          <a:xfrm>
            <a:off x="7810500" y="2000250"/>
            <a:ext cx="2952750" cy="304800"/>
          </a:xfrm>
          <a:prstGeom prst="rect">
            <a:avLst/>
          </a:prstGeom>
          <a:noFill/>
          <a:ln w="0">
            <a:noFill/>
          </a:ln>
        </p:spPr>
        <p:txBody>
          <a:bodyPr anchor="t">
            <a:noAutofit/>
          </a:bodyPr>
          <a:lstStyle/>
          <a:p>
            <a:pPr>
              <a:defRPr sz="1575" b="0">
                <a:solidFill>
                  <a:srgbClr val="585858"/>
                </a:solidFill>
                <a:latin typeface="Times New Roman"/>
                <a:ea typeface="Times New Roman"/>
                <a:cs typeface="Times New Roman"/>
              </a:defRPr>
            </a:pPr>
            <a:r>
              <a:rPr sz="1575" b="0">
                <a:solidFill>
                  <a:srgbClr val="585858"/>
                </a:solidFill>
                <a:latin typeface="Times New Roman"/>
                <a:ea typeface="Times New Roman"/>
                <a:cs typeface="Times New Roman"/>
              </a:rPr>
              <a:t>Predicted</a:t>
            </a:r>
          </a:p>
        </p:txBody>
      </p:sp>
      <p:sp>
        <p:nvSpPr>
          <p:cNvPr id="578" name="C0">
            <a:extLst>
              <a:ext uri="{FF2B5EF4-FFF2-40B4-BE49-F238E27FC236}">
                <a16:creationId xmlns:a16="http://schemas.microsoft.com/office/drawing/2014/main" id="{4EB0661E-038B-412B-B04C-C89876B83F41}"/>
              </a:ext>
            </a:extLst>
          </p:cNvPr>
          <p:cNvSpPr>
            <a:spLocks noGrp="1"/>
          </p:cNvSpPr>
          <p:nvPr/>
        </p:nvSpPr>
        <p:spPr>
          <a:xfrm>
            <a:off x="766762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79" name="C0">
            <a:extLst>
              <a:ext uri="{FF2B5EF4-FFF2-40B4-BE49-F238E27FC236}">
                <a16:creationId xmlns:a16="http://schemas.microsoft.com/office/drawing/2014/main" id="{1FBFAC63-9425-4534-A86B-E93E97CECCC8}"/>
              </a:ext>
            </a:extLst>
          </p:cNvPr>
          <p:cNvSpPr>
            <a:spLocks noGrp="1"/>
          </p:cNvSpPr>
          <p:nvPr/>
        </p:nvSpPr>
        <p:spPr>
          <a:xfrm>
            <a:off x="6953250" y="2809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80" name="C1">
            <a:extLst>
              <a:ext uri="{FF2B5EF4-FFF2-40B4-BE49-F238E27FC236}">
                <a16:creationId xmlns:a16="http://schemas.microsoft.com/office/drawing/2014/main" id="{2FB66E8F-1044-41CB-AB46-F496C410AC6C}"/>
              </a:ext>
            </a:extLst>
          </p:cNvPr>
          <p:cNvSpPr>
            <a:spLocks noGrp="1"/>
          </p:cNvSpPr>
          <p:nvPr/>
        </p:nvSpPr>
        <p:spPr>
          <a:xfrm>
            <a:off x="842962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81" name="C1">
            <a:extLst>
              <a:ext uri="{FF2B5EF4-FFF2-40B4-BE49-F238E27FC236}">
                <a16:creationId xmlns:a16="http://schemas.microsoft.com/office/drawing/2014/main" id="{2B7D64CB-570B-4FF1-95F5-CE6AAB5A3528}"/>
              </a:ext>
            </a:extLst>
          </p:cNvPr>
          <p:cNvSpPr>
            <a:spLocks noGrp="1"/>
          </p:cNvSpPr>
          <p:nvPr/>
        </p:nvSpPr>
        <p:spPr>
          <a:xfrm>
            <a:off x="6953250" y="3571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82" name="C2">
            <a:extLst>
              <a:ext uri="{FF2B5EF4-FFF2-40B4-BE49-F238E27FC236}">
                <a16:creationId xmlns:a16="http://schemas.microsoft.com/office/drawing/2014/main" id="{3BE742B8-E027-4F3E-AD75-E2A17CC55798}"/>
              </a:ext>
            </a:extLst>
          </p:cNvPr>
          <p:cNvSpPr>
            <a:spLocks noGrp="1"/>
          </p:cNvSpPr>
          <p:nvPr/>
        </p:nvSpPr>
        <p:spPr>
          <a:xfrm>
            <a:off x="919162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83" name="C2">
            <a:extLst>
              <a:ext uri="{FF2B5EF4-FFF2-40B4-BE49-F238E27FC236}">
                <a16:creationId xmlns:a16="http://schemas.microsoft.com/office/drawing/2014/main" id="{BD1096B7-232F-45BA-8E80-2A64AB3C7032}"/>
              </a:ext>
            </a:extLst>
          </p:cNvPr>
          <p:cNvSpPr>
            <a:spLocks noGrp="1"/>
          </p:cNvSpPr>
          <p:nvPr/>
        </p:nvSpPr>
        <p:spPr>
          <a:xfrm>
            <a:off x="6953250" y="4333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84" name="C3">
            <a:extLst>
              <a:ext uri="{FF2B5EF4-FFF2-40B4-BE49-F238E27FC236}">
                <a16:creationId xmlns:a16="http://schemas.microsoft.com/office/drawing/2014/main" id="{C07A15B5-6060-4633-BFF7-D910DA3C3C56}"/>
              </a:ext>
            </a:extLst>
          </p:cNvPr>
          <p:cNvSpPr>
            <a:spLocks noGrp="1"/>
          </p:cNvSpPr>
          <p:nvPr/>
        </p:nvSpPr>
        <p:spPr>
          <a:xfrm>
            <a:off x="995362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85" name="C3">
            <a:extLst>
              <a:ext uri="{FF2B5EF4-FFF2-40B4-BE49-F238E27FC236}">
                <a16:creationId xmlns:a16="http://schemas.microsoft.com/office/drawing/2014/main" id="{50974A56-6CE3-4563-8B66-B25AB9972F32}"/>
              </a:ext>
            </a:extLst>
          </p:cNvPr>
          <p:cNvSpPr>
            <a:spLocks noGrp="1"/>
          </p:cNvSpPr>
          <p:nvPr/>
        </p:nvSpPr>
        <p:spPr>
          <a:xfrm>
            <a:off x="6953250" y="5095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86" name="Rectangle 585">
            <a:extLst>
              <a:ext uri="{FF2B5EF4-FFF2-40B4-BE49-F238E27FC236}">
                <a16:creationId xmlns:a16="http://schemas.microsoft.com/office/drawing/2014/main" id="{0876E1C7-5B12-46B0-8C21-5D73DB3AD5A6}"/>
              </a:ext>
            </a:extLst>
          </p:cNvPr>
          <p:cNvSpPr>
            <a:spLocks noGrp="1"/>
          </p:cNvSpPr>
          <p:nvPr/>
        </p:nvSpPr>
        <p:spPr>
          <a:xfrm>
            <a:off x="7572375" y="2733675"/>
            <a:ext cx="742950" cy="742950"/>
          </a:xfrm>
          <a:prstGeom prst="rect">
            <a:avLst/>
          </a:prstGeom>
          <a:solidFill>
            <a:srgbClr val="DBEAF7"/>
          </a:solidFill>
          <a:ln w="0">
            <a:noFill/>
          </a:ln>
        </p:spPr>
        <p:txBody>
          <a:bodyPr/>
          <a:lstStyle/>
          <a:p>
            <a:endParaRPr lang="en-US"/>
          </a:p>
        </p:txBody>
      </p:sp>
      <p:sp>
        <p:nvSpPr>
          <p:cNvPr id="587" name="61">
            <a:extLst>
              <a:ext uri="{FF2B5EF4-FFF2-40B4-BE49-F238E27FC236}">
                <a16:creationId xmlns:a16="http://schemas.microsoft.com/office/drawing/2014/main" id="{95388BEB-8698-4CFB-92AD-E832C724421D}"/>
              </a:ext>
            </a:extLst>
          </p:cNvPr>
          <p:cNvSpPr>
            <a:spLocks noGrp="1"/>
          </p:cNvSpPr>
          <p:nvPr/>
        </p:nvSpPr>
        <p:spPr>
          <a:xfrm>
            <a:off x="7581900" y="2943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61</a:t>
            </a:r>
          </a:p>
        </p:txBody>
      </p:sp>
      <p:sp>
        <p:nvSpPr>
          <p:cNvPr id="588" name="Rectangle 587">
            <a:extLst>
              <a:ext uri="{FF2B5EF4-FFF2-40B4-BE49-F238E27FC236}">
                <a16:creationId xmlns:a16="http://schemas.microsoft.com/office/drawing/2014/main" id="{F960E39D-F991-4EAE-8F4E-3C9309B31D90}"/>
              </a:ext>
            </a:extLst>
          </p:cNvPr>
          <p:cNvSpPr>
            <a:spLocks noGrp="1"/>
          </p:cNvSpPr>
          <p:nvPr/>
        </p:nvSpPr>
        <p:spPr>
          <a:xfrm>
            <a:off x="8334375" y="2733675"/>
            <a:ext cx="742950" cy="742950"/>
          </a:xfrm>
          <a:prstGeom prst="rect">
            <a:avLst/>
          </a:prstGeom>
          <a:solidFill>
            <a:srgbClr val="F2F2F2"/>
          </a:solidFill>
          <a:ln w="0">
            <a:noFill/>
          </a:ln>
        </p:spPr>
        <p:txBody>
          <a:bodyPr/>
          <a:lstStyle/>
          <a:p>
            <a:endParaRPr lang="en-US"/>
          </a:p>
        </p:txBody>
      </p:sp>
      <p:sp>
        <p:nvSpPr>
          <p:cNvPr id="589" name="113">
            <a:extLst>
              <a:ext uri="{FF2B5EF4-FFF2-40B4-BE49-F238E27FC236}">
                <a16:creationId xmlns:a16="http://schemas.microsoft.com/office/drawing/2014/main" id="{DE78A59A-4956-4EF3-92A5-EE28E4426A09}"/>
              </a:ext>
            </a:extLst>
          </p:cNvPr>
          <p:cNvSpPr>
            <a:spLocks noGrp="1"/>
          </p:cNvSpPr>
          <p:nvPr/>
        </p:nvSpPr>
        <p:spPr>
          <a:xfrm>
            <a:off x="8343900" y="2943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113</a:t>
            </a:r>
          </a:p>
        </p:txBody>
      </p:sp>
      <p:sp>
        <p:nvSpPr>
          <p:cNvPr id="590" name="Rectangle 589">
            <a:extLst>
              <a:ext uri="{FF2B5EF4-FFF2-40B4-BE49-F238E27FC236}">
                <a16:creationId xmlns:a16="http://schemas.microsoft.com/office/drawing/2014/main" id="{6C051456-58AA-4EAF-85FF-83EDA544F921}"/>
              </a:ext>
            </a:extLst>
          </p:cNvPr>
          <p:cNvSpPr>
            <a:spLocks noGrp="1"/>
          </p:cNvSpPr>
          <p:nvPr/>
        </p:nvSpPr>
        <p:spPr>
          <a:xfrm>
            <a:off x="9096375" y="2733675"/>
            <a:ext cx="742950" cy="742950"/>
          </a:xfrm>
          <a:prstGeom prst="rect">
            <a:avLst/>
          </a:prstGeom>
          <a:solidFill>
            <a:srgbClr val="F2F2F2"/>
          </a:solidFill>
          <a:ln w="0">
            <a:noFill/>
          </a:ln>
        </p:spPr>
        <p:txBody>
          <a:bodyPr/>
          <a:lstStyle/>
          <a:p>
            <a:endParaRPr lang="en-US"/>
          </a:p>
        </p:txBody>
      </p:sp>
      <p:sp>
        <p:nvSpPr>
          <p:cNvPr id="591" name="34">
            <a:extLst>
              <a:ext uri="{FF2B5EF4-FFF2-40B4-BE49-F238E27FC236}">
                <a16:creationId xmlns:a16="http://schemas.microsoft.com/office/drawing/2014/main" id="{2A91F79E-832C-4644-BBDD-FA0CCB861C64}"/>
              </a:ext>
            </a:extLst>
          </p:cNvPr>
          <p:cNvSpPr>
            <a:spLocks noGrp="1"/>
          </p:cNvSpPr>
          <p:nvPr/>
        </p:nvSpPr>
        <p:spPr>
          <a:xfrm>
            <a:off x="9105900" y="2943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34</a:t>
            </a:r>
          </a:p>
        </p:txBody>
      </p:sp>
      <p:sp>
        <p:nvSpPr>
          <p:cNvPr id="592" name="Rectangle 591">
            <a:extLst>
              <a:ext uri="{FF2B5EF4-FFF2-40B4-BE49-F238E27FC236}">
                <a16:creationId xmlns:a16="http://schemas.microsoft.com/office/drawing/2014/main" id="{6B00BD00-CE11-4BFD-8FA9-9F85F3055E9D}"/>
              </a:ext>
            </a:extLst>
          </p:cNvPr>
          <p:cNvSpPr>
            <a:spLocks noGrp="1"/>
          </p:cNvSpPr>
          <p:nvPr/>
        </p:nvSpPr>
        <p:spPr>
          <a:xfrm>
            <a:off x="9858375" y="2733675"/>
            <a:ext cx="742950" cy="742950"/>
          </a:xfrm>
          <a:prstGeom prst="rect">
            <a:avLst/>
          </a:prstGeom>
          <a:solidFill>
            <a:srgbClr val="F2F2F2"/>
          </a:solidFill>
          <a:ln w="0">
            <a:noFill/>
          </a:ln>
        </p:spPr>
        <p:txBody>
          <a:bodyPr/>
          <a:lstStyle/>
          <a:p>
            <a:endParaRPr lang="en-US"/>
          </a:p>
        </p:txBody>
      </p:sp>
      <p:sp>
        <p:nvSpPr>
          <p:cNvPr id="593" name="28">
            <a:extLst>
              <a:ext uri="{FF2B5EF4-FFF2-40B4-BE49-F238E27FC236}">
                <a16:creationId xmlns:a16="http://schemas.microsoft.com/office/drawing/2014/main" id="{CBCBDA0B-45C0-436F-B0EE-2B4668769429}"/>
              </a:ext>
            </a:extLst>
          </p:cNvPr>
          <p:cNvSpPr>
            <a:spLocks noGrp="1"/>
          </p:cNvSpPr>
          <p:nvPr/>
        </p:nvSpPr>
        <p:spPr>
          <a:xfrm>
            <a:off x="9867900" y="2943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28</a:t>
            </a:r>
          </a:p>
        </p:txBody>
      </p:sp>
      <p:sp>
        <p:nvSpPr>
          <p:cNvPr id="594" name="Rectangle 593">
            <a:extLst>
              <a:ext uri="{FF2B5EF4-FFF2-40B4-BE49-F238E27FC236}">
                <a16:creationId xmlns:a16="http://schemas.microsoft.com/office/drawing/2014/main" id="{878B6431-D79A-41B0-BD2A-711BF2FBC1DA}"/>
              </a:ext>
            </a:extLst>
          </p:cNvPr>
          <p:cNvSpPr>
            <a:spLocks noGrp="1"/>
          </p:cNvSpPr>
          <p:nvPr/>
        </p:nvSpPr>
        <p:spPr>
          <a:xfrm>
            <a:off x="7572375" y="3495675"/>
            <a:ext cx="742950" cy="742950"/>
          </a:xfrm>
          <a:prstGeom prst="rect">
            <a:avLst/>
          </a:prstGeom>
          <a:solidFill>
            <a:srgbClr val="F2F2F2"/>
          </a:solidFill>
          <a:ln w="0">
            <a:noFill/>
          </a:ln>
        </p:spPr>
        <p:txBody>
          <a:bodyPr/>
          <a:lstStyle/>
          <a:p>
            <a:endParaRPr lang="en-US"/>
          </a:p>
        </p:txBody>
      </p:sp>
      <p:sp>
        <p:nvSpPr>
          <p:cNvPr id="595" name="51">
            <a:extLst>
              <a:ext uri="{FF2B5EF4-FFF2-40B4-BE49-F238E27FC236}">
                <a16:creationId xmlns:a16="http://schemas.microsoft.com/office/drawing/2014/main" id="{BB6EEC3F-CC83-426E-B5AD-E6A952D6011B}"/>
              </a:ext>
            </a:extLst>
          </p:cNvPr>
          <p:cNvSpPr>
            <a:spLocks noGrp="1"/>
          </p:cNvSpPr>
          <p:nvPr/>
        </p:nvSpPr>
        <p:spPr>
          <a:xfrm>
            <a:off x="7581900" y="3705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51</a:t>
            </a:r>
          </a:p>
        </p:txBody>
      </p:sp>
      <p:sp>
        <p:nvSpPr>
          <p:cNvPr id="596" name="Rectangle 595">
            <a:extLst>
              <a:ext uri="{FF2B5EF4-FFF2-40B4-BE49-F238E27FC236}">
                <a16:creationId xmlns:a16="http://schemas.microsoft.com/office/drawing/2014/main" id="{FA612206-D54A-4241-B32C-B32EE34F812F}"/>
              </a:ext>
            </a:extLst>
          </p:cNvPr>
          <p:cNvSpPr>
            <a:spLocks noGrp="1"/>
          </p:cNvSpPr>
          <p:nvPr/>
        </p:nvSpPr>
        <p:spPr>
          <a:xfrm>
            <a:off x="8334375" y="3495675"/>
            <a:ext cx="742950" cy="742950"/>
          </a:xfrm>
          <a:prstGeom prst="rect">
            <a:avLst/>
          </a:prstGeom>
          <a:solidFill>
            <a:srgbClr val="DBEAF7"/>
          </a:solidFill>
          <a:ln w="0">
            <a:noFill/>
          </a:ln>
        </p:spPr>
        <p:txBody>
          <a:bodyPr/>
          <a:lstStyle/>
          <a:p>
            <a:endParaRPr lang="en-US"/>
          </a:p>
        </p:txBody>
      </p:sp>
      <p:sp>
        <p:nvSpPr>
          <p:cNvPr id="597" name="154">
            <a:extLst>
              <a:ext uri="{FF2B5EF4-FFF2-40B4-BE49-F238E27FC236}">
                <a16:creationId xmlns:a16="http://schemas.microsoft.com/office/drawing/2014/main" id="{6524B158-CEDE-4927-A679-415745BD20CE}"/>
              </a:ext>
            </a:extLst>
          </p:cNvPr>
          <p:cNvSpPr>
            <a:spLocks noGrp="1"/>
          </p:cNvSpPr>
          <p:nvPr/>
        </p:nvSpPr>
        <p:spPr>
          <a:xfrm>
            <a:off x="8343900" y="3705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154</a:t>
            </a:r>
          </a:p>
        </p:txBody>
      </p:sp>
      <p:sp>
        <p:nvSpPr>
          <p:cNvPr id="598" name="Rectangle 597">
            <a:extLst>
              <a:ext uri="{FF2B5EF4-FFF2-40B4-BE49-F238E27FC236}">
                <a16:creationId xmlns:a16="http://schemas.microsoft.com/office/drawing/2014/main" id="{1741B065-A589-4A32-A6F3-749FF391B38E}"/>
              </a:ext>
            </a:extLst>
          </p:cNvPr>
          <p:cNvSpPr>
            <a:spLocks noGrp="1"/>
          </p:cNvSpPr>
          <p:nvPr/>
        </p:nvSpPr>
        <p:spPr>
          <a:xfrm>
            <a:off x="9096375" y="3495675"/>
            <a:ext cx="742950" cy="742950"/>
          </a:xfrm>
          <a:prstGeom prst="rect">
            <a:avLst/>
          </a:prstGeom>
          <a:solidFill>
            <a:srgbClr val="F2F2F2"/>
          </a:solidFill>
          <a:ln w="0">
            <a:noFill/>
          </a:ln>
        </p:spPr>
        <p:txBody>
          <a:bodyPr/>
          <a:lstStyle/>
          <a:p>
            <a:endParaRPr lang="en-US"/>
          </a:p>
        </p:txBody>
      </p:sp>
      <p:sp>
        <p:nvSpPr>
          <p:cNvPr id="599" name="75">
            <a:extLst>
              <a:ext uri="{FF2B5EF4-FFF2-40B4-BE49-F238E27FC236}">
                <a16:creationId xmlns:a16="http://schemas.microsoft.com/office/drawing/2014/main" id="{6E693FF2-9E95-4201-B4C8-A142A87DC967}"/>
              </a:ext>
            </a:extLst>
          </p:cNvPr>
          <p:cNvSpPr>
            <a:spLocks noGrp="1"/>
          </p:cNvSpPr>
          <p:nvPr/>
        </p:nvSpPr>
        <p:spPr>
          <a:xfrm>
            <a:off x="9105900" y="3705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75</a:t>
            </a:r>
          </a:p>
        </p:txBody>
      </p:sp>
      <p:sp>
        <p:nvSpPr>
          <p:cNvPr id="600" name="Rectangle 599">
            <a:extLst>
              <a:ext uri="{FF2B5EF4-FFF2-40B4-BE49-F238E27FC236}">
                <a16:creationId xmlns:a16="http://schemas.microsoft.com/office/drawing/2014/main" id="{EA89467E-4E91-43E3-86A4-9D4FC549557E}"/>
              </a:ext>
            </a:extLst>
          </p:cNvPr>
          <p:cNvSpPr>
            <a:spLocks noGrp="1"/>
          </p:cNvSpPr>
          <p:nvPr/>
        </p:nvSpPr>
        <p:spPr>
          <a:xfrm>
            <a:off x="9858375" y="3495675"/>
            <a:ext cx="742950" cy="742950"/>
          </a:xfrm>
          <a:prstGeom prst="rect">
            <a:avLst/>
          </a:prstGeom>
          <a:solidFill>
            <a:srgbClr val="F2F2F2"/>
          </a:solidFill>
          <a:ln w="0">
            <a:noFill/>
          </a:ln>
        </p:spPr>
        <p:txBody>
          <a:bodyPr/>
          <a:lstStyle/>
          <a:p>
            <a:endParaRPr lang="en-US"/>
          </a:p>
        </p:txBody>
      </p:sp>
      <p:sp>
        <p:nvSpPr>
          <p:cNvPr id="601" name="40">
            <a:extLst>
              <a:ext uri="{FF2B5EF4-FFF2-40B4-BE49-F238E27FC236}">
                <a16:creationId xmlns:a16="http://schemas.microsoft.com/office/drawing/2014/main" id="{65BBB772-4CBD-4A3D-8CF3-20104ADF6330}"/>
              </a:ext>
            </a:extLst>
          </p:cNvPr>
          <p:cNvSpPr>
            <a:spLocks noGrp="1"/>
          </p:cNvSpPr>
          <p:nvPr/>
        </p:nvSpPr>
        <p:spPr>
          <a:xfrm>
            <a:off x="9867900" y="3705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40</a:t>
            </a:r>
          </a:p>
        </p:txBody>
      </p:sp>
      <p:sp>
        <p:nvSpPr>
          <p:cNvPr id="602" name="Rectangle 601">
            <a:extLst>
              <a:ext uri="{FF2B5EF4-FFF2-40B4-BE49-F238E27FC236}">
                <a16:creationId xmlns:a16="http://schemas.microsoft.com/office/drawing/2014/main" id="{98264695-B981-4B60-A3B7-45AB5D197C5B}"/>
              </a:ext>
            </a:extLst>
          </p:cNvPr>
          <p:cNvSpPr>
            <a:spLocks noGrp="1"/>
          </p:cNvSpPr>
          <p:nvPr/>
        </p:nvSpPr>
        <p:spPr>
          <a:xfrm>
            <a:off x="7572375" y="4257675"/>
            <a:ext cx="742950" cy="742950"/>
          </a:xfrm>
          <a:prstGeom prst="rect">
            <a:avLst/>
          </a:prstGeom>
          <a:solidFill>
            <a:srgbClr val="F2F2F2"/>
          </a:solidFill>
          <a:ln w="0">
            <a:noFill/>
          </a:ln>
        </p:spPr>
        <p:txBody>
          <a:bodyPr/>
          <a:lstStyle/>
          <a:p>
            <a:endParaRPr lang="en-US"/>
          </a:p>
        </p:txBody>
      </p:sp>
      <p:sp>
        <p:nvSpPr>
          <p:cNvPr id="603" name="42">
            <a:extLst>
              <a:ext uri="{FF2B5EF4-FFF2-40B4-BE49-F238E27FC236}">
                <a16:creationId xmlns:a16="http://schemas.microsoft.com/office/drawing/2014/main" id="{4FBE7EBE-EC57-4791-A404-41BAEE31BE5C}"/>
              </a:ext>
            </a:extLst>
          </p:cNvPr>
          <p:cNvSpPr>
            <a:spLocks noGrp="1"/>
          </p:cNvSpPr>
          <p:nvPr/>
        </p:nvSpPr>
        <p:spPr>
          <a:xfrm>
            <a:off x="7581900" y="4467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42</a:t>
            </a:r>
          </a:p>
        </p:txBody>
      </p:sp>
      <p:sp>
        <p:nvSpPr>
          <p:cNvPr id="604" name="Rectangle 603">
            <a:extLst>
              <a:ext uri="{FF2B5EF4-FFF2-40B4-BE49-F238E27FC236}">
                <a16:creationId xmlns:a16="http://schemas.microsoft.com/office/drawing/2014/main" id="{4A2145E4-CACD-4F97-9067-D19FD95C84BC}"/>
              </a:ext>
            </a:extLst>
          </p:cNvPr>
          <p:cNvSpPr>
            <a:spLocks noGrp="1"/>
          </p:cNvSpPr>
          <p:nvPr/>
        </p:nvSpPr>
        <p:spPr>
          <a:xfrm>
            <a:off x="8334375" y="4257675"/>
            <a:ext cx="742950" cy="742950"/>
          </a:xfrm>
          <a:prstGeom prst="rect">
            <a:avLst/>
          </a:prstGeom>
          <a:solidFill>
            <a:srgbClr val="F2F2F2"/>
          </a:solidFill>
          <a:ln w="0">
            <a:noFill/>
          </a:ln>
        </p:spPr>
        <p:txBody>
          <a:bodyPr/>
          <a:lstStyle/>
          <a:p>
            <a:endParaRPr lang="en-US"/>
          </a:p>
        </p:txBody>
      </p:sp>
      <p:sp>
        <p:nvSpPr>
          <p:cNvPr id="605" name="93">
            <a:extLst>
              <a:ext uri="{FF2B5EF4-FFF2-40B4-BE49-F238E27FC236}">
                <a16:creationId xmlns:a16="http://schemas.microsoft.com/office/drawing/2014/main" id="{B33826F1-97EE-49FD-BF10-2B1CA3155D78}"/>
              </a:ext>
            </a:extLst>
          </p:cNvPr>
          <p:cNvSpPr>
            <a:spLocks noGrp="1"/>
          </p:cNvSpPr>
          <p:nvPr/>
        </p:nvSpPr>
        <p:spPr>
          <a:xfrm>
            <a:off x="8343900" y="4467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93</a:t>
            </a:r>
          </a:p>
        </p:txBody>
      </p:sp>
      <p:sp>
        <p:nvSpPr>
          <p:cNvPr id="606" name="Rectangle 605">
            <a:extLst>
              <a:ext uri="{FF2B5EF4-FFF2-40B4-BE49-F238E27FC236}">
                <a16:creationId xmlns:a16="http://schemas.microsoft.com/office/drawing/2014/main" id="{744B05F3-5989-4A6C-852E-958688C6F1D7}"/>
              </a:ext>
            </a:extLst>
          </p:cNvPr>
          <p:cNvSpPr>
            <a:spLocks noGrp="1"/>
          </p:cNvSpPr>
          <p:nvPr/>
        </p:nvSpPr>
        <p:spPr>
          <a:xfrm>
            <a:off x="9096375" y="4257675"/>
            <a:ext cx="742950" cy="742950"/>
          </a:xfrm>
          <a:prstGeom prst="rect">
            <a:avLst/>
          </a:prstGeom>
          <a:solidFill>
            <a:srgbClr val="DBEAF7"/>
          </a:solidFill>
          <a:ln w="0">
            <a:noFill/>
          </a:ln>
        </p:spPr>
        <p:txBody>
          <a:bodyPr/>
          <a:lstStyle/>
          <a:p>
            <a:endParaRPr lang="en-US"/>
          </a:p>
        </p:txBody>
      </p:sp>
      <p:sp>
        <p:nvSpPr>
          <p:cNvPr id="607" name="109">
            <a:extLst>
              <a:ext uri="{FF2B5EF4-FFF2-40B4-BE49-F238E27FC236}">
                <a16:creationId xmlns:a16="http://schemas.microsoft.com/office/drawing/2014/main" id="{69F449AD-3C64-4102-9C8C-2ABE1259890D}"/>
              </a:ext>
            </a:extLst>
          </p:cNvPr>
          <p:cNvSpPr>
            <a:spLocks noGrp="1"/>
          </p:cNvSpPr>
          <p:nvPr/>
        </p:nvSpPr>
        <p:spPr>
          <a:xfrm>
            <a:off x="9105900" y="4467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109</a:t>
            </a:r>
          </a:p>
        </p:txBody>
      </p:sp>
      <p:sp>
        <p:nvSpPr>
          <p:cNvPr id="608" name="Rectangle 607">
            <a:extLst>
              <a:ext uri="{FF2B5EF4-FFF2-40B4-BE49-F238E27FC236}">
                <a16:creationId xmlns:a16="http://schemas.microsoft.com/office/drawing/2014/main" id="{91D34F1E-D72B-402C-AF44-D52C25647404}"/>
              </a:ext>
            </a:extLst>
          </p:cNvPr>
          <p:cNvSpPr>
            <a:spLocks noGrp="1"/>
          </p:cNvSpPr>
          <p:nvPr/>
        </p:nvSpPr>
        <p:spPr>
          <a:xfrm>
            <a:off x="9858375" y="4257675"/>
            <a:ext cx="742950" cy="742950"/>
          </a:xfrm>
          <a:prstGeom prst="rect">
            <a:avLst/>
          </a:prstGeom>
          <a:solidFill>
            <a:srgbClr val="F2F2F2"/>
          </a:solidFill>
          <a:ln w="0">
            <a:noFill/>
          </a:ln>
        </p:spPr>
        <p:txBody>
          <a:bodyPr/>
          <a:lstStyle/>
          <a:p>
            <a:endParaRPr lang="en-US"/>
          </a:p>
        </p:txBody>
      </p:sp>
      <p:sp>
        <p:nvSpPr>
          <p:cNvPr id="609" name="56">
            <a:extLst>
              <a:ext uri="{FF2B5EF4-FFF2-40B4-BE49-F238E27FC236}">
                <a16:creationId xmlns:a16="http://schemas.microsoft.com/office/drawing/2014/main" id="{CC10493B-6C60-467F-9119-60E4E99AF875}"/>
              </a:ext>
            </a:extLst>
          </p:cNvPr>
          <p:cNvSpPr>
            <a:spLocks noGrp="1"/>
          </p:cNvSpPr>
          <p:nvPr/>
        </p:nvSpPr>
        <p:spPr>
          <a:xfrm>
            <a:off x="9867900" y="4467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56</a:t>
            </a:r>
          </a:p>
        </p:txBody>
      </p:sp>
      <p:sp>
        <p:nvSpPr>
          <p:cNvPr id="610" name="Rectangle 609">
            <a:extLst>
              <a:ext uri="{FF2B5EF4-FFF2-40B4-BE49-F238E27FC236}">
                <a16:creationId xmlns:a16="http://schemas.microsoft.com/office/drawing/2014/main" id="{F2C1BB96-9BE2-4381-9A73-7251356CCFA6}"/>
              </a:ext>
            </a:extLst>
          </p:cNvPr>
          <p:cNvSpPr>
            <a:spLocks noGrp="1"/>
          </p:cNvSpPr>
          <p:nvPr/>
        </p:nvSpPr>
        <p:spPr>
          <a:xfrm>
            <a:off x="7572375" y="5019675"/>
            <a:ext cx="742950" cy="742950"/>
          </a:xfrm>
          <a:prstGeom prst="rect">
            <a:avLst/>
          </a:prstGeom>
          <a:solidFill>
            <a:srgbClr val="F2F2F2"/>
          </a:solidFill>
          <a:ln w="0">
            <a:noFill/>
          </a:ln>
        </p:spPr>
        <p:txBody>
          <a:bodyPr/>
          <a:lstStyle/>
          <a:p>
            <a:endParaRPr lang="en-US"/>
          </a:p>
        </p:txBody>
      </p:sp>
      <p:sp>
        <p:nvSpPr>
          <p:cNvPr id="611" name="35">
            <a:extLst>
              <a:ext uri="{FF2B5EF4-FFF2-40B4-BE49-F238E27FC236}">
                <a16:creationId xmlns:a16="http://schemas.microsoft.com/office/drawing/2014/main" id="{3836D571-8D4C-4AE7-BE4D-7985478AFF2C}"/>
              </a:ext>
            </a:extLst>
          </p:cNvPr>
          <p:cNvSpPr>
            <a:spLocks noGrp="1"/>
          </p:cNvSpPr>
          <p:nvPr/>
        </p:nvSpPr>
        <p:spPr>
          <a:xfrm>
            <a:off x="7581900" y="5229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35</a:t>
            </a:r>
          </a:p>
        </p:txBody>
      </p:sp>
      <p:sp>
        <p:nvSpPr>
          <p:cNvPr id="612" name="Rectangle 611">
            <a:extLst>
              <a:ext uri="{FF2B5EF4-FFF2-40B4-BE49-F238E27FC236}">
                <a16:creationId xmlns:a16="http://schemas.microsoft.com/office/drawing/2014/main" id="{A974C435-DD44-4BF0-93FA-7CEF348920BD}"/>
              </a:ext>
            </a:extLst>
          </p:cNvPr>
          <p:cNvSpPr>
            <a:spLocks noGrp="1"/>
          </p:cNvSpPr>
          <p:nvPr/>
        </p:nvSpPr>
        <p:spPr>
          <a:xfrm>
            <a:off x="8334375" y="5019675"/>
            <a:ext cx="742950" cy="742950"/>
          </a:xfrm>
          <a:prstGeom prst="rect">
            <a:avLst/>
          </a:prstGeom>
          <a:solidFill>
            <a:srgbClr val="F2F2F2"/>
          </a:solidFill>
          <a:ln w="0">
            <a:noFill/>
          </a:ln>
        </p:spPr>
        <p:txBody>
          <a:bodyPr/>
          <a:lstStyle/>
          <a:p>
            <a:endParaRPr lang="en-US"/>
          </a:p>
        </p:txBody>
      </p:sp>
      <p:sp>
        <p:nvSpPr>
          <p:cNvPr id="613" name="56">
            <a:extLst>
              <a:ext uri="{FF2B5EF4-FFF2-40B4-BE49-F238E27FC236}">
                <a16:creationId xmlns:a16="http://schemas.microsoft.com/office/drawing/2014/main" id="{ACF3F70D-BB54-44D5-9F92-30F1A6029EF6}"/>
              </a:ext>
            </a:extLst>
          </p:cNvPr>
          <p:cNvSpPr>
            <a:spLocks noGrp="1"/>
          </p:cNvSpPr>
          <p:nvPr/>
        </p:nvSpPr>
        <p:spPr>
          <a:xfrm>
            <a:off x="8343900" y="5229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56</a:t>
            </a:r>
          </a:p>
        </p:txBody>
      </p:sp>
      <p:sp>
        <p:nvSpPr>
          <p:cNvPr id="614" name="Rectangle 613">
            <a:extLst>
              <a:ext uri="{FF2B5EF4-FFF2-40B4-BE49-F238E27FC236}">
                <a16:creationId xmlns:a16="http://schemas.microsoft.com/office/drawing/2014/main" id="{32CFB375-EE95-40D6-ABD5-ACB5FA461353}"/>
              </a:ext>
            </a:extLst>
          </p:cNvPr>
          <p:cNvSpPr>
            <a:spLocks noGrp="1"/>
          </p:cNvSpPr>
          <p:nvPr/>
        </p:nvSpPr>
        <p:spPr>
          <a:xfrm>
            <a:off x="9096375" y="5019675"/>
            <a:ext cx="742950" cy="742950"/>
          </a:xfrm>
          <a:prstGeom prst="rect">
            <a:avLst/>
          </a:prstGeom>
          <a:solidFill>
            <a:srgbClr val="F2F2F2"/>
          </a:solidFill>
          <a:ln w="0">
            <a:noFill/>
          </a:ln>
        </p:spPr>
        <p:txBody>
          <a:bodyPr/>
          <a:lstStyle/>
          <a:p>
            <a:endParaRPr lang="en-US"/>
          </a:p>
        </p:txBody>
      </p:sp>
      <p:sp>
        <p:nvSpPr>
          <p:cNvPr id="615" name="70">
            <a:extLst>
              <a:ext uri="{FF2B5EF4-FFF2-40B4-BE49-F238E27FC236}">
                <a16:creationId xmlns:a16="http://schemas.microsoft.com/office/drawing/2014/main" id="{46C2F5B0-9491-45E5-A00D-350B6F2D910F}"/>
              </a:ext>
            </a:extLst>
          </p:cNvPr>
          <p:cNvSpPr>
            <a:spLocks noGrp="1"/>
          </p:cNvSpPr>
          <p:nvPr/>
        </p:nvSpPr>
        <p:spPr>
          <a:xfrm>
            <a:off x="9105900" y="5229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70</a:t>
            </a:r>
          </a:p>
        </p:txBody>
      </p:sp>
      <p:sp>
        <p:nvSpPr>
          <p:cNvPr id="616" name="Rectangle 615">
            <a:extLst>
              <a:ext uri="{FF2B5EF4-FFF2-40B4-BE49-F238E27FC236}">
                <a16:creationId xmlns:a16="http://schemas.microsoft.com/office/drawing/2014/main" id="{7F01A60E-F14E-4487-909D-37D501A6EE68}"/>
              </a:ext>
            </a:extLst>
          </p:cNvPr>
          <p:cNvSpPr>
            <a:spLocks noGrp="1"/>
          </p:cNvSpPr>
          <p:nvPr/>
        </p:nvSpPr>
        <p:spPr>
          <a:xfrm>
            <a:off x="9858375" y="5019675"/>
            <a:ext cx="742950" cy="742950"/>
          </a:xfrm>
          <a:prstGeom prst="rect">
            <a:avLst/>
          </a:prstGeom>
          <a:solidFill>
            <a:srgbClr val="DBEAF7"/>
          </a:solidFill>
          <a:ln w="0">
            <a:noFill/>
          </a:ln>
        </p:spPr>
        <p:txBody>
          <a:bodyPr/>
          <a:lstStyle/>
          <a:p>
            <a:endParaRPr lang="en-US"/>
          </a:p>
        </p:txBody>
      </p:sp>
      <p:sp>
        <p:nvSpPr>
          <p:cNvPr id="617" name="85">
            <a:extLst>
              <a:ext uri="{FF2B5EF4-FFF2-40B4-BE49-F238E27FC236}">
                <a16:creationId xmlns:a16="http://schemas.microsoft.com/office/drawing/2014/main" id="{162A5730-C506-487B-942D-A1F5AFED878C}"/>
              </a:ext>
            </a:extLst>
          </p:cNvPr>
          <p:cNvSpPr>
            <a:spLocks noGrp="1"/>
          </p:cNvSpPr>
          <p:nvPr/>
        </p:nvSpPr>
        <p:spPr>
          <a:xfrm>
            <a:off x="9867900" y="5229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85</a:t>
            </a:r>
          </a:p>
        </p:txBody>
      </p:sp>
      <p:sp>
        <p:nvSpPr>
          <p:cNvPr id="618" name="Main CGPA, stratified 10-fold cross-validation, N = 1,1">
            <a:extLst>
              <a:ext uri="{FF2B5EF4-FFF2-40B4-BE49-F238E27FC236}">
                <a16:creationId xmlns:a16="http://schemas.microsoft.com/office/drawing/2014/main" id="{4C7AB07D-9877-4CF6-B55C-DAD590515C30}"/>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Main CGPA, stratified 10-fold cross-validation, N = 1,102. Rows actual, columns predicted.</a:t>
            </a:r>
          </a:p>
        </p:txBody>
      </p:sp>
    </p:spTree>
    <p:extLst>
      <p:ext uri="{BB962C8B-B14F-4D97-AF65-F5344CB8AC3E}">
        <p14:creationId xmlns:p14="http://schemas.microsoft.com/office/powerpoint/2010/main" val="15247252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41</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WEKA Logistic and Naive Bayes matrices</a:t>
            </a:r>
          </a:p>
        </p:txBody>
      </p:sp>
      <p:sp>
        <p:nvSpPr>
          <p:cNvPr id="534" name="Logistic">
            <a:extLst>
              <a:ext uri="{FF2B5EF4-FFF2-40B4-BE49-F238E27FC236}">
                <a16:creationId xmlns:a16="http://schemas.microsoft.com/office/drawing/2014/main" id="{71F8A36B-87E3-4D72-9BC7-3C6DEEDBF61D}"/>
              </a:ext>
            </a:extLst>
          </p:cNvPr>
          <p:cNvSpPr>
            <a:spLocks noGrp="1"/>
          </p:cNvSpPr>
          <p:nvPr/>
        </p:nvSpPr>
        <p:spPr>
          <a:xfrm>
            <a:off x="666750" y="1552575"/>
            <a:ext cx="5238750" cy="381000"/>
          </a:xfrm>
          <a:prstGeom prst="rect">
            <a:avLst/>
          </a:prstGeom>
          <a:noFill/>
          <a:ln w="0">
            <a:noFill/>
          </a:ln>
        </p:spPr>
        <p:txBody>
          <a:bodyPr anchor="t">
            <a:noAutofit/>
          </a:bodyPr>
          <a:lstStyle/>
          <a:p>
            <a:pPr>
              <a:defRPr sz="1875" b="0">
                <a:solidFill>
                  <a:srgbClr val="121212"/>
                </a:solidFill>
                <a:latin typeface="Times New Roman"/>
                <a:ea typeface="Times New Roman"/>
                <a:cs typeface="Times New Roman"/>
              </a:defRPr>
            </a:pPr>
            <a:r>
              <a:rPr sz="1875" b="0">
                <a:solidFill>
                  <a:srgbClr val="121212"/>
                </a:solidFill>
                <a:latin typeface="Times New Roman"/>
                <a:ea typeface="Times New Roman"/>
                <a:cs typeface="Times New Roman"/>
              </a:rPr>
              <a:t>Logistic</a:t>
            </a:r>
          </a:p>
        </p:txBody>
      </p:sp>
      <p:sp>
        <p:nvSpPr>
          <p:cNvPr id="535" name="Predicted">
            <a:extLst>
              <a:ext uri="{FF2B5EF4-FFF2-40B4-BE49-F238E27FC236}">
                <a16:creationId xmlns:a16="http://schemas.microsoft.com/office/drawing/2014/main" id="{5D2907A2-97A3-4833-87BD-62DE2730B7E1}"/>
              </a:ext>
            </a:extLst>
          </p:cNvPr>
          <p:cNvSpPr>
            <a:spLocks noGrp="1"/>
          </p:cNvSpPr>
          <p:nvPr/>
        </p:nvSpPr>
        <p:spPr>
          <a:xfrm>
            <a:off x="1619250" y="2000250"/>
            <a:ext cx="2952750" cy="304800"/>
          </a:xfrm>
          <a:prstGeom prst="rect">
            <a:avLst/>
          </a:prstGeom>
          <a:noFill/>
          <a:ln w="0">
            <a:noFill/>
          </a:ln>
        </p:spPr>
        <p:txBody>
          <a:bodyPr anchor="t">
            <a:noAutofit/>
          </a:bodyPr>
          <a:lstStyle/>
          <a:p>
            <a:pPr>
              <a:defRPr sz="1575" b="0">
                <a:solidFill>
                  <a:srgbClr val="585858"/>
                </a:solidFill>
                <a:latin typeface="Times New Roman"/>
                <a:ea typeface="Times New Roman"/>
                <a:cs typeface="Times New Roman"/>
              </a:defRPr>
            </a:pPr>
            <a:r>
              <a:rPr sz="1575" b="0">
                <a:solidFill>
                  <a:srgbClr val="585858"/>
                </a:solidFill>
                <a:latin typeface="Times New Roman"/>
                <a:ea typeface="Times New Roman"/>
                <a:cs typeface="Times New Roman"/>
              </a:rPr>
              <a:t>Predicted</a:t>
            </a:r>
          </a:p>
        </p:txBody>
      </p:sp>
      <p:sp>
        <p:nvSpPr>
          <p:cNvPr id="536" name="C0">
            <a:extLst>
              <a:ext uri="{FF2B5EF4-FFF2-40B4-BE49-F238E27FC236}">
                <a16:creationId xmlns:a16="http://schemas.microsoft.com/office/drawing/2014/main" id="{D767E7CB-B82F-42C2-8D51-1FF586E3E2E8}"/>
              </a:ext>
            </a:extLst>
          </p:cNvPr>
          <p:cNvSpPr>
            <a:spLocks noGrp="1"/>
          </p:cNvSpPr>
          <p:nvPr/>
        </p:nvSpPr>
        <p:spPr>
          <a:xfrm>
            <a:off x="147637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37" name="C0">
            <a:extLst>
              <a:ext uri="{FF2B5EF4-FFF2-40B4-BE49-F238E27FC236}">
                <a16:creationId xmlns:a16="http://schemas.microsoft.com/office/drawing/2014/main" id="{B0EF0506-CBA4-49A2-BCFB-A7DF28548AD0}"/>
              </a:ext>
            </a:extLst>
          </p:cNvPr>
          <p:cNvSpPr>
            <a:spLocks noGrp="1"/>
          </p:cNvSpPr>
          <p:nvPr/>
        </p:nvSpPr>
        <p:spPr>
          <a:xfrm>
            <a:off x="762000" y="2809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38" name="C1">
            <a:extLst>
              <a:ext uri="{FF2B5EF4-FFF2-40B4-BE49-F238E27FC236}">
                <a16:creationId xmlns:a16="http://schemas.microsoft.com/office/drawing/2014/main" id="{0FCD3A40-E23A-447C-99BB-F16241013EA3}"/>
              </a:ext>
            </a:extLst>
          </p:cNvPr>
          <p:cNvSpPr>
            <a:spLocks noGrp="1"/>
          </p:cNvSpPr>
          <p:nvPr/>
        </p:nvSpPr>
        <p:spPr>
          <a:xfrm>
            <a:off x="223837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39" name="C1">
            <a:extLst>
              <a:ext uri="{FF2B5EF4-FFF2-40B4-BE49-F238E27FC236}">
                <a16:creationId xmlns:a16="http://schemas.microsoft.com/office/drawing/2014/main" id="{67E79395-5FED-47E2-BC08-5294D73F6B67}"/>
              </a:ext>
            </a:extLst>
          </p:cNvPr>
          <p:cNvSpPr>
            <a:spLocks noGrp="1"/>
          </p:cNvSpPr>
          <p:nvPr/>
        </p:nvSpPr>
        <p:spPr>
          <a:xfrm>
            <a:off x="762000" y="3571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40" name="C2">
            <a:extLst>
              <a:ext uri="{FF2B5EF4-FFF2-40B4-BE49-F238E27FC236}">
                <a16:creationId xmlns:a16="http://schemas.microsoft.com/office/drawing/2014/main" id="{437EEFDB-BC9C-4904-A8B3-630A2AE24863}"/>
              </a:ext>
            </a:extLst>
          </p:cNvPr>
          <p:cNvSpPr>
            <a:spLocks noGrp="1"/>
          </p:cNvSpPr>
          <p:nvPr/>
        </p:nvSpPr>
        <p:spPr>
          <a:xfrm>
            <a:off x="300037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41" name="C2">
            <a:extLst>
              <a:ext uri="{FF2B5EF4-FFF2-40B4-BE49-F238E27FC236}">
                <a16:creationId xmlns:a16="http://schemas.microsoft.com/office/drawing/2014/main" id="{F8840D07-918B-415C-A5BA-17023F5896EA}"/>
              </a:ext>
            </a:extLst>
          </p:cNvPr>
          <p:cNvSpPr>
            <a:spLocks noGrp="1"/>
          </p:cNvSpPr>
          <p:nvPr/>
        </p:nvSpPr>
        <p:spPr>
          <a:xfrm>
            <a:off x="762000" y="4333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42" name="C3">
            <a:extLst>
              <a:ext uri="{FF2B5EF4-FFF2-40B4-BE49-F238E27FC236}">
                <a16:creationId xmlns:a16="http://schemas.microsoft.com/office/drawing/2014/main" id="{0E9DD2B0-FB5C-4AB6-B187-E0C477AE883A}"/>
              </a:ext>
            </a:extLst>
          </p:cNvPr>
          <p:cNvSpPr>
            <a:spLocks noGrp="1"/>
          </p:cNvSpPr>
          <p:nvPr/>
        </p:nvSpPr>
        <p:spPr>
          <a:xfrm>
            <a:off x="376237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43" name="C3">
            <a:extLst>
              <a:ext uri="{FF2B5EF4-FFF2-40B4-BE49-F238E27FC236}">
                <a16:creationId xmlns:a16="http://schemas.microsoft.com/office/drawing/2014/main" id="{7DEAA965-78FB-4C97-BCB3-63225FA6E2B4}"/>
              </a:ext>
            </a:extLst>
          </p:cNvPr>
          <p:cNvSpPr>
            <a:spLocks noGrp="1"/>
          </p:cNvSpPr>
          <p:nvPr/>
        </p:nvSpPr>
        <p:spPr>
          <a:xfrm>
            <a:off x="762000" y="5095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44" name="Rectangle 543">
            <a:extLst>
              <a:ext uri="{FF2B5EF4-FFF2-40B4-BE49-F238E27FC236}">
                <a16:creationId xmlns:a16="http://schemas.microsoft.com/office/drawing/2014/main" id="{BE45CE72-815A-4C4F-8F9C-C1949DB93A50}"/>
              </a:ext>
            </a:extLst>
          </p:cNvPr>
          <p:cNvSpPr>
            <a:spLocks noGrp="1"/>
          </p:cNvSpPr>
          <p:nvPr/>
        </p:nvSpPr>
        <p:spPr>
          <a:xfrm>
            <a:off x="1381125" y="2733675"/>
            <a:ext cx="742950" cy="742950"/>
          </a:xfrm>
          <a:prstGeom prst="rect">
            <a:avLst/>
          </a:prstGeom>
          <a:solidFill>
            <a:srgbClr val="DBEAF7"/>
          </a:solidFill>
          <a:ln w="0">
            <a:noFill/>
          </a:ln>
        </p:spPr>
        <p:txBody>
          <a:bodyPr/>
          <a:lstStyle/>
          <a:p>
            <a:endParaRPr lang="en-US"/>
          </a:p>
        </p:txBody>
      </p:sp>
      <p:sp>
        <p:nvSpPr>
          <p:cNvPr id="545" name="61">
            <a:extLst>
              <a:ext uri="{FF2B5EF4-FFF2-40B4-BE49-F238E27FC236}">
                <a16:creationId xmlns:a16="http://schemas.microsoft.com/office/drawing/2014/main" id="{4D93DA6B-4ADB-4934-A9F8-61A56E06ED2F}"/>
              </a:ext>
            </a:extLst>
          </p:cNvPr>
          <p:cNvSpPr>
            <a:spLocks noGrp="1"/>
          </p:cNvSpPr>
          <p:nvPr/>
        </p:nvSpPr>
        <p:spPr>
          <a:xfrm>
            <a:off x="1390650" y="2943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61</a:t>
            </a:r>
          </a:p>
        </p:txBody>
      </p:sp>
      <p:sp>
        <p:nvSpPr>
          <p:cNvPr id="546" name="Rectangle 545">
            <a:extLst>
              <a:ext uri="{FF2B5EF4-FFF2-40B4-BE49-F238E27FC236}">
                <a16:creationId xmlns:a16="http://schemas.microsoft.com/office/drawing/2014/main" id="{51AD29BD-3947-42BD-8806-56420D2B91B4}"/>
              </a:ext>
            </a:extLst>
          </p:cNvPr>
          <p:cNvSpPr>
            <a:spLocks noGrp="1"/>
          </p:cNvSpPr>
          <p:nvPr/>
        </p:nvSpPr>
        <p:spPr>
          <a:xfrm>
            <a:off x="2143125" y="2733675"/>
            <a:ext cx="742950" cy="742950"/>
          </a:xfrm>
          <a:prstGeom prst="rect">
            <a:avLst/>
          </a:prstGeom>
          <a:solidFill>
            <a:srgbClr val="F2F2F2"/>
          </a:solidFill>
          <a:ln w="0">
            <a:noFill/>
          </a:ln>
        </p:spPr>
        <p:txBody>
          <a:bodyPr/>
          <a:lstStyle/>
          <a:p>
            <a:endParaRPr lang="en-US"/>
          </a:p>
        </p:txBody>
      </p:sp>
      <p:sp>
        <p:nvSpPr>
          <p:cNvPr id="547" name="107">
            <a:extLst>
              <a:ext uri="{FF2B5EF4-FFF2-40B4-BE49-F238E27FC236}">
                <a16:creationId xmlns:a16="http://schemas.microsoft.com/office/drawing/2014/main" id="{68DE8935-CCBF-4003-9AB5-B61A5E4DEC34}"/>
              </a:ext>
            </a:extLst>
          </p:cNvPr>
          <p:cNvSpPr>
            <a:spLocks noGrp="1"/>
          </p:cNvSpPr>
          <p:nvPr/>
        </p:nvSpPr>
        <p:spPr>
          <a:xfrm>
            <a:off x="2152650" y="2943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107</a:t>
            </a:r>
          </a:p>
        </p:txBody>
      </p:sp>
      <p:sp>
        <p:nvSpPr>
          <p:cNvPr id="548" name="Rectangle 547">
            <a:extLst>
              <a:ext uri="{FF2B5EF4-FFF2-40B4-BE49-F238E27FC236}">
                <a16:creationId xmlns:a16="http://schemas.microsoft.com/office/drawing/2014/main" id="{FC206170-E419-4688-8761-ABB3F19152D3}"/>
              </a:ext>
            </a:extLst>
          </p:cNvPr>
          <p:cNvSpPr>
            <a:spLocks noGrp="1"/>
          </p:cNvSpPr>
          <p:nvPr/>
        </p:nvSpPr>
        <p:spPr>
          <a:xfrm>
            <a:off x="2905125" y="2733675"/>
            <a:ext cx="742950" cy="742950"/>
          </a:xfrm>
          <a:prstGeom prst="rect">
            <a:avLst/>
          </a:prstGeom>
          <a:solidFill>
            <a:srgbClr val="F2F2F2"/>
          </a:solidFill>
          <a:ln w="0">
            <a:noFill/>
          </a:ln>
        </p:spPr>
        <p:txBody>
          <a:bodyPr/>
          <a:lstStyle/>
          <a:p>
            <a:endParaRPr lang="en-US"/>
          </a:p>
        </p:txBody>
      </p:sp>
      <p:sp>
        <p:nvSpPr>
          <p:cNvPr id="549" name="38">
            <a:extLst>
              <a:ext uri="{FF2B5EF4-FFF2-40B4-BE49-F238E27FC236}">
                <a16:creationId xmlns:a16="http://schemas.microsoft.com/office/drawing/2014/main" id="{73F37CE0-F045-492A-AB98-E404B44489E4}"/>
              </a:ext>
            </a:extLst>
          </p:cNvPr>
          <p:cNvSpPr>
            <a:spLocks noGrp="1"/>
          </p:cNvSpPr>
          <p:nvPr/>
        </p:nvSpPr>
        <p:spPr>
          <a:xfrm>
            <a:off x="2914650" y="2943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38</a:t>
            </a:r>
          </a:p>
        </p:txBody>
      </p:sp>
      <p:sp>
        <p:nvSpPr>
          <p:cNvPr id="550" name="Rectangle 549">
            <a:extLst>
              <a:ext uri="{FF2B5EF4-FFF2-40B4-BE49-F238E27FC236}">
                <a16:creationId xmlns:a16="http://schemas.microsoft.com/office/drawing/2014/main" id="{A85DC6C7-C162-4941-A04A-D9AC991BCF28}"/>
              </a:ext>
            </a:extLst>
          </p:cNvPr>
          <p:cNvSpPr>
            <a:spLocks noGrp="1"/>
          </p:cNvSpPr>
          <p:nvPr/>
        </p:nvSpPr>
        <p:spPr>
          <a:xfrm>
            <a:off x="3667125" y="2733675"/>
            <a:ext cx="742950" cy="742950"/>
          </a:xfrm>
          <a:prstGeom prst="rect">
            <a:avLst/>
          </a:prstGeom>
          <a:solidFill>
            <a:srgbClr val="F2F2F2"/>
          </a:solidFill>
          <a:ln w="0">
            <a:noFill/>
          </a:ln>
        </p:spPr>
        <p:txBody>
          <a:bodyPr/>
          <a:lstStyle/>
          <a:p>
            <a:endParaRPr lang="en-US"/>
          </a:p>
        </p:txBody>
      </p:sp>
      <p:sp>
        <p:nvSpPr>
          <p:cNvPr id="551" name="30">
            <a:extLst>
              <a:ext uri="{FF2B5EF4-FFF2-40B4-BE49-F238E27FC236}">
                <a16:creationId xmlns:a16="http://schemas.microsoft.com/office/drawing/2014/main" id="{50FA316A-1E87-4C52-BA5A-B428848A76D7}"/>
              </a:ext>
            </a:extLst>
          </p:cNvPr>
          <p:cNvSpPr>
            <a:spLocks noGrp="1"/>
          </p:cNvSpPr>
          <p:nvPr/>
        </p:nvSpPr>
        <p:spPr>
          <a:xfrm>
            <a:off x="3676650" y="2943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30</a:t>
            </a:r>
          </a:p>
        </p:txBody>
      </p:sp>
      <p:sp>
        <p:nvSpPr>
          <p:cNvPr id="552" name="Rectangle 551">
            <a:extLst>
              <a:ext uri="{FF2B5EF4-FFF2-40B4-BE49-F238E27FC236}">
                <a16:creationId xmlns:a16="http://schemas.microsoft.com/office/drawing/2014/main" id="{1837818E-BE1D-45AB-AD19-430E8F54A6BE}"/>
              </a:ext>
            </a:extLst>
          </p:cNvPr>
          <p:cNvSpPr>
            <a:spLocks noGrp="1"/>
          </p:cNvSpPr>
          <p:nvPr/>
        </p:nvSpPr>
        <p:spPr>
          <a:xfrm>
            <a:off x="1381125" y="3495675"/>
            <a:ext cx="742950" cy="742950"/>
          </a:xfrm>
          <a:prstGeom prst="rect">
            <a:avLst/>
          </a:prstGeom>
          <a:solidFill>
            <a:srgbClr val="F2F2F2"/>
          </a:solidFill>
          <a:ln w="0">
            <a:noFill/>
          </a:ln>
        </p:spPr>
        <p:txBody>
          <a:bodyPr/>
          <a:lstStyle/>
          <a:p>
            <a:endParaRPr lang="en-US"/>
          </a:p>
        </p:txBody>
      </p:sp>
      <p:sp>
        <p:nvSpPr>
          <p:cNvPr id="553" name="49">
            <a:extLst>
              <a:ext uri="{FF2B5EF4-FFF2-40B4-BE49-F238E27FC236}">
                <a16:creationId xmlns:a16="http://schemas.microsoft.com/office/drawing/2014/main" id="{835B728D-9A5B-4183-AB9D-EFDCC6D3E246}"/>
              </a:ext>
            </a:extLst>
          </p:cNvPr>
          <p:cNvSpPr>
            <a:spLocks noGrp="1"/>
          </p:cNvSpPr>
          <p:nvPr/>
        </p:nvSpPr>
        <p:spPr>
          <a:xfrm>
            <a:off x="1390650" y="3705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49</a:t>
            </a:r>
          </a:p>
        </p:txBody>
      </p:sp>
      <p:sp>
        <p:nvSpPr>
          <p:cNvPr id="554" name="Rectangle 553">
            <a:extLst>
              <a:ext uri="{FF2B5EF4-FFF2-40B4-BE49-F238E27FC236}">
                <a16:creationId xmlns:a16="http://schemas.microsoft.com/office/drawing/2014/main" id="{D2ACE5B2-26BC-467D-B805-A01A8C4080E2}"/>
              </a:ext>
            </a:extLst>
          </p:cNvPr>
          <p:cNvSpPr>
            <a:spLocks noGrp="1"/>
          </p:cNvSpPr>
          <p:nvPr/>
        </p:nvSpPr>
        <p:spPr>
          <a:xfrm>
            <a:off x="2143125" y="3495675"/>
            <a:ext cx="742950" cy="742950"/>
          </a:xfrm>
          <a:prstGeom prst="rect">
            <a:avLst/>
          </a:prstGeom>
          <a:solidFill>
            <a:srgbClr val="DBEAF7"/>
          </a:solidFill>
          <a:ln w="0">
            <a:noFill/>
          </a:ln>
        </p:spPr>
        <p:txBody>
          <a:bodyPr/>
          <a:lstStyle/>
          <a:p>
            <a:endParaRPr lang="en-US"/>
          </a:p>
        </p:txBody>
      </p:sp>
      <p:sp>
        <p:nvSpPr>
          <p:cNvPr id="555" name="145">
            <a:extLst>
              <a:ext uri="{FF2B5EF4-FFF2-40B4-BE49-F238E27FC236}">
                <a16:creationId xmlns:a16="http://schemas.microsoft.com/office/drawing/2014/main" id="{796654AF-FFAE-4C6D-B669-27A27F07A419}"/>
              </a:ext>
            </a:extLst>
          </p:cNvPr>
          <p:cNvSpPr>
            <a:spLocks noGrp="1"/>
          </p:cNvSpPr>
          <p:nvPr/>
        </p:nvSpPr>
        <p:spPr>
          <a:xfrm>
            <a:off x="2152650" y="3705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145</a:t>
            </a:r>
          </a:p>
        </p:txBody>
      </p:sp>
      <p:sp>
        <p:nvSpPr>
          <p:cNvPr id="556" name="Rectangle 555">
            <a:extLst>
              <a:ext uri="{FF2B5EF4-FFF2-40B4-BE49-F238E27FC236}">
                <a16:creationId xmlns:a16="http://schemas.microsoft.com/office/drawing/2014/main" id="{C8A70F48-3AB3-476A-AF22-46C0AEF9F28F}"/>
              </a:ext>
            </a:extLst>
          </p:cNvPr>
          <p:cNvSpPr>
            <a:spLocks noGrp="1"/>
          </p:cNvSpPr>
          <p:nvPr/>
        </p:nvSpPr>
        <p:spPr>
          <a:xfrm>
            <a:off x="2905125" y="3495675"/>
            <a:ext cx="742950" cy="742950"/>
          </a:xfrm>
          <a:prstGeom prst="rect">
            <a:avLst/>
          </a:prstGeom>
          <a:solidFill>
            <a:srgbClr val="F2F2F2"/>
          </a:solidFill>
          <a:ln w="0">
            <a:noFill/>
          </a:ln>
        </p:spPr>
        <p:txBody>
          <a:bodyPr/>
          <a:lstStyle/>
          <a:p>
            <a:endParaRPr lang="en-US"/>
          </a:p>
        </p:txBody>
      </p:sp>
      <p:sp>
        <p:nvSpPr>
          <p:cNvPr id="557" name="83">
            <a:extLst>
              <a:ext uri="{FF2B5EF4-FFF2-40B4-BE49-F238E27FC236}">
                <a16:creationId xmlns:a16="http://schemas.microsoft.com/office/drawing/2014/main" id="{061E7EB3-A183-4165-9B6C-36C70DF6432B}"/>
              </a:ext>
            </a:extLst>
          </p:cNvPr>
          <p:cNvSpPr>
            <a:spLocks noGrp="1"/>
          </p:cNvSpPr>
          <p:nvPr/>
        </p:nvSpPr>
        <p:spPr>
          <a:xfrm>
            <a:off x="2914650" y="3705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83</a:t>
            </a:r>
          </a:p>
        </p:txBody>
      </p:sp>
      <p:sp>
        <p:nvSpPr>
          <p:cNvPr id="558" name="Rectangle 557">
            <a:extLst>
              <a:ext uri="{FF2B5EF4-FFF2-40B4-BE49-F238E27FC236}">
                <a16:creationId xmlns:a16="http://schemas.microsoft.com/office/drawing/2014/main" id="{7777C653-2955-4695-B6DD-22DC5F902E3E}"/>
              </a:ext>
            </a:extLst>
          </p:cNvPr>
          <p:cNvSpPr>
            <a:spLocks noGrp="1"/>
          </p:cNvSpPr>
          <p:nvPr/>
        </p:nvSpPr>
        <p:spPr>
          <a:xfrm>
            <a:off x="3667125" y="3495675"/>
            <a:ext cx="742950" cy="742950"/>
          </a:xfrm>
          <a:prstGeom prst="rect">
            <a:avLst/>
          </a:prstGeom>
          <a:solidFill>
            <a:srgbClr val="F2F2F2"/>
          </a:solidFill>
          <a:ln w="0">
            <a:noFill/>
          </a:ln>
        </p:spPr>
        <p:txBody>
          <a:bodyPr/>
          <a:lstStyle/>
          <a:p>
            <a:endParaRPr lang="en-US"/>
          </a:p>
        </p:txBody>
      </p:sp>
      <p:sp>
        <p:nvSpPr>
          <p:cNvPr id="559" name="43">
            <a:extLst>
              <a:ext uri="{FF2B5EF4-FFF2-40B4-BE49-F238E27FC236}">
                <a16:creationId xmlns:a16="http://schemas.microsoft.com/office/drawing/2014/main" id="{ED9195BC-1F38-4F4D-B27B-12302C574EFC}"/>
              </a:ext>
            </a:extLst>
          </p:cNvPr>
          <p:cNvSpPr>
            <a:spLocks noGrp="1"/>
          </p:cNvSpPr>
          <p:nvPr/>
        </p:nvSpPr>
        <p:spPr>
          <a:xfrm>
            <a:off x="3676650" y="3705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43</a:t>
            </a:r>
          </a:p>
        </p:txBody>
      </p:sp>
      <p:sp>
        <p:nvSpPr>
          <p:cNvPr id="560" name="Rectangle 559">
            <a:extLst>
              <a:ext uri="{FF2B5EF4-FFF2-40B4-BE49-F238E27FC236}">
                <a16:creationId xmlns:a16="http://schemas.microsoft.com/office/drawing/2014/main" id="{86039A85-E262-4A56-9146-CD782651E669}"/>
              </a:ext>
            </a:extLst>
          </p:cNvPr>
          <p:cNvSpPr>
            <a:spLocks noGrp="1"/>
          </p:cNvSpPr>
          <p:nvPr/>
        </p:nvSpPr>
        <p:spPr>
          <a:xfrm>
            <a:off x="1381125" y="4257675"/>
            <a:ext cx="742950" cy="742950"/>
          </a:xfrm>
          <a:prstGeom prst="rect">
            <a:avLst/>
          </a:prstGeom>
          <a:solidFill>
            <a:srgbClr val="F2F2F2"/>
          </a:solidFill>
          <a:ln w="0">
            <a:noFill/>
          </a:ln>
        </p:spPr>
        <p:txBody>
          <a:bodyPr/>
          <a:lstStyle/>
          <a:p>
            <a:endParaRPr lang="en-US"/>
          </a:p>
        </p:txBody>
      </p:sp>
      <p:sp>
        <p:nvSpPr>
          <p:cNvPr id="561" name="42">
            <a:extLst>
              <a:ext uri="{FF2B5EF4-FFF2-40B4-BE49-F238E27FC236}">
                <a16:creationId xmlns:a16="http://schemas.microsoft.com/office/drawing/2014/main" id="{1DC7406E-6854-4DDF-B194-3A1E9C590E44}"/>
              </a:ext>
            </a:extLst>
          </p:cNvPr>
          <p:cNvSpPr>
            <a:spLocks noGrp="1"/>
          </p:cNvSpPr>
          <p:nvPr/>
        </p:nvSpPr>
        <p:spPr>
          <a:xfrm>
            <a:off x="1390650" y="4467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42</a:t>
            </a:r>
          </a:p>
        </p:txBody>
      </p:sp>
      <p:sp>
        <p:nvSpPr>
          <p:cNvPr id="562" name="Rectangle 561">
            <a:extLst>
              <a:ext uri="{FF2B5EF4-FFF2-40B4-BE49-F238E27FC236}">
                <a16:creationId xmlns:a16="http://schemas.microsoft.com/office/drawing/2014/main" id="{4483C91D-4728-4415-83DB-482B575419DE}"/>
              </a:ext>
            </a:extLst>
          </p:cNvPr>
          <p:cNvSpPr>
            <a:spLocks noGrp="1"/>
          </p:cNvSpPr>
          <p:nvPr/>
        </p:nvSpPr>
        <p:spPr>
          <a:xfrm>
            <a:off x="2143125" y="4257675"/>
            <a:ext cx="742950" cy="742950"/>
          </a:xfrm>
          <a:prstGeom prst="rect">
            <a:avLst/>
          </a:prstGeom>
          <a:solidFill>
            <a:srgbClr val="F2F2F2"/>
          </a:solidFill>
          <a:ln w="0">
            <a:noFill/>
          </a:ln>
        </p:spPr>
        <p:txBody>
          <a:bodyPr/>
          <a:lstStyle/>
          <a:p>
            <a:endParaRPr lang="en-US"/>
          </a:p>
        </p:txBody>
      </p:sp>
      <p:sp>
        <p:nvSpPr>
          <p:cNvPr id="563" name="92">
            <a:extLst>
              <a:ext uri="{FF2B5EF4-FFF2-40B4-BE49-F238E27FC236}">
                <a16:creationId xmlns:a16="http://schemas.microsoft.com/office/drawing/2014/main" id="{11F7E7C7-5B46-4E28-8224-05CD280886B4}"/>
              </a:ext>
            </a:extLst>
          </p:cNvPr>
          <p:cNvSpPr>
            <a:spLocks noGrp="1"/>
          </p:cNvSpPr>
          <p:nvPr/>
        </p:nvSpPr>
        <p:spPr>
          <a:xfrm>
            <a:off x="2152650" y="4467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92</a:t>
            </a:r>
          </a:p>
        </p:txBody>
      </p:sp>
      <p:sp>
        <p:nvSpPr>
          <p:cNvPr id="564" name="Rectangle 563">
            <a:extLst>
              <a:ext uri="{FF2B5EF4-FFF2-40B4-BE49-F238E27FC236}">
                <a16:creationId xmlns:a16="http://schemas.microsoft.com/office/drawing/2014/main" id="{305BE54F-A0C3-45E1-979B-808ED4D7AEB9}"/>
              </a:ext>
            </a:extLst>
          </p:cNvPr>
          <p:cNvSpPr>
            <a:spLocks noGrp="1"/>
          </p:cNvSpPr>
          <p:nvPr/>
        </p:nvSpPr>
        <p:spPr>
          <a:xfrm>
            <a:off x="2905125" y="4257675"/>
            <a:ext cx="742950" cy="742950"/>
          </a:xfrm>
          <a:prstGeom prst="rect">
            <a:avLst/>
          </a:prstGeom>
          <a:solidFill>
            <a:srgbClr val="DBEAF7"/>
          </a:solidFill>
          <a:ln w="0">
            <a:noFill/>
          </a:ln>
        </p:spPr>
        <p:txBody>
          <a:bodyPr/>
          <a:lstStyle/>
          <a:p>
            <a:endParaRPr lang="en-US"/>
          </a:p>
        </p:txBody>
      </p:sp>
      <p:sp>
        <p:nvSpPr>
          <p:cNvPr id="565" name="101">
            <a:extLst>
              <a:ext uri="{FF2B5EF4-FFF2-40B4-BE49-F238E27FC236}">
                <a16:creationId xmlns:a16="http://schemas.microsoft.com/office/drawing/2014/main" id="{62150027-9A03-4968-B473-74337DCE72D3}"/>
              </a:ext>
            </a:extLst>
          </p:cNvPr>
          <p:cNvSpPr>
            <a:spLocks noGrp="1"/>
          </p:cNvSpPr>
          <p:nvPr/>
        </p:nvSpPr>
        <p:spPr>
          <a:xfrm>
            <a:off x="2914650" y="4467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101</a:t>
            </a:r>
          </a:p>
        </p:txBody>
      </p:sp>
      <p:sp>
        <p:nvSpPr>
          <p:cNvPr id="566" name="Rectangle 565">
            <a:extLst>
              <a:ext uri="{FF2B5EF4-FFF2-40B4-BE49-F238E27FC236}">
                <a16:creationId xmlns:a16="http://schemas.microsoft.com/office/drawing/2014/main" id="{3E8D3E96-345C-4895-8098-822F26D8AA4E}"/>
              </a:ext>
            </a:extLst>
          </p:cNvPr>
          <p:cNvSpPr>
            <a:spLocks noGrp="1"/>
          </p:cNvSpPr>
          <p:nvPr/>
        </p:nvSpPr>
        <p:spPr>
          <a:xfrm>
            <a:off x="3667125" y="4257675"/>
            <a:ext cx="742950" cy="742950"/>
          </a:xfrm>
          <a:prstGeom prst="rect">
            <a:avLst/>
          </a:prstGeom>
          <a:solidFill>
            <a:srgbClr val="F2F2F2"/>
          </a:solidFill>
          <a:ln w="0">
            <a:noFill/>
          </a:ln>
        </p:spPr>
        <p:txBody>
          <a:bodyPr/>
          <a:lstStyle/>
          <a:p>
            <a:endParaRPr lang="en-US"/>
          </a:p>
        </p:txBody>
      </p:sp>
      <p:sp>
        <p:nvSpPr>
          <p:cNvPr id="567" name="65">
            <a:extLst>
              <a:ext uri="{FF2B5EF4-FFF2-40B4-BE49-F238E27FC236}">
                <a16:creationId xmlns:a16="http://schemas.microsoft.com/office/drawing/2014/main" id="{07E9A74B-1785-462C-AC9C-6EDFC889728F}"/>
              </a:ext>
            </a:extLst>
          </p:cNvPr>
          <p:cNvSpPr>
            <a:spLocks noGrp="1"/>
          </p:cNvSpPr>
          <p:nvPr/>
        </p:nvSpPr>
        <p:spPr>
          <a:xfrm>
            <a:off x="3676650" y="4467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65</a:t>
            </a:r>
          </a:p>
        </p:txBody>
      </p:sp>
      <p:sp>
        <p:nvSpPr>
          <p:cNvPr id="568" name="Rectangle 567">
            <a:extLst>
              <a:ext uri="{FF2B5EF4-FFF2-40B4-BE49-F238E27FC236}">
                <a16:creationId xmlns:a16="http://schemas.microsoft.com/office/drawing/2014/main" id="{59B45E0D-360A-4D18-91F7-4B88C0F5A70A}"/>
              </a:ext>
            </a:extLst>
          </p:cNvPr>
          <p:cNvSpPr>
            <a:spLocks noGrp="1"/>
          </p:cNvSpPr>
          <p:nvPr/>
        </p:nvSpPr>
        <p:spPr>
          <a:xfrm>
            <a:off x="1381125" y="5019675"/>
            <a:ext cx="742950" cy="742950"/>
          </a:xfrm>
          <a:prstGeom prst="rect">
            <a:avLst/>
          </a:prstGeom>
          <a:solidFill>
            <a:srgbClr val="F2F2F2"/>
          </a:solidFill>
          <a:ln w="0">
            <a:noFill/>
          </a:ln>
        </p:spPr>
        <p:txBody>
          <a:bodyPr/>
          <a:lstStyle/>
          <a:p>
            <a:endParaRPr lang="en-US"/>
          </a:p>
        </p:txBody>
      </p:sp>
      <p:sp>
        <p:nvSpPr>
          <p:cNvPr id="569" name="31">
            <a:extLst>
              <a:ext uri="{FF2B5EF4-FFF2-40B4-BE49-F238E27FC236}">
                <a16:creationId xmlns:a16="http://schemas.microsoft.com/office/drawing/2014/main" id="{CFC2B8A2-3C72-4A74-8D96-1B03C6DED828}"/>
              </a:ext>
            </a:extLst>
          </p:cNvPr>
          <p:cNvSpPr>
            <a:spLocks noGrp="1"/>
          </p:cNvSpPr>
          <p:nvPr/>
        </p:nvSpPr>
        <p:spPr>
          <a:xfrm>
            <a:off x="1390650" y="5229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31</a:t>
            </a:r>
          </a:p>
        </p:txBody>
      </p:sp>
      <p:sp>
        <p:nvSpPr>
          <p:cNvPr id="570" name="Rectangle 569">
            <a:extLst>
              <a:ext uri="{FF2B5EF4-FFF2-40B4-BE49-F238E27FC236}">
                <a16:creationId xmlns:a16="http://schemas.microsoft.com/office/drawing/2014/main" id="{DDBBE969-4971-4804-A06C-CA8E9EA1CCA2}"/>
              </a:ext>
            </a:extLst>
          </p:cNvPr>
          <p:cNvSpPr>
            <a:spLocks noGrp="1"/>
          </p:cNvSpPr>
          <p:nvPr/>
        </p:nvSpPr>
        <p:spPr>
          <a:xfrm>
            <a:off x="2143125" y="5019675"/>
            <a:ext cx="742950" cy="742950"/>
          </a:xfrm>
          <a:prstGeom prst="rect">
            <a:avLst/>
          </a:prstGeom>
          <a:solidFill>
            <a:srgbClr val="F2F2F2"/>
          </a:solidFill>
          <a:ln w="0">
            <a:noFill/>
          </a:ln>
        </p:spPr>
        <p:txBody>
          <a:bodyPr/>
          <a:lstStyle/>
          <a:p>
            <a:endParaRPr lang="en-US"/>
          </a:p>
        </p:txBody>
      </p:sp>
      <p:sp>
        <p:nvSpPr>
          <p:cNvPr id="571" name="55">
            <a:extLst>
              <a:ext uri="{FF2B5EF4-FFF2-40B4-BE49-F238E27FC236}">
                <a16:creationId xmlns:a16="http://schemas.microsoft.com/office/drawing/2014/main" id="{465487D1-7DAB-4C19-91A7-92181219C209}"/>
              </a:ext>
            </a:extLst>
          </p:cNvPr>
          <p:cNvSpPr>
            <a:spLocks noGrp="1"/>
          </p:cNvSpPr>
          <p:nvPr/>
        </p:nvSpPr>
        <p:spPr>
          <a:xfrm>
            <a:off x="2152650" y="5229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55</a:t>
            </a:r>
          </a:p>
        </p:txBody>
      </p:sp>
      <p:sp>
        <p:nvSpPr>
          <p:cNvPr id="572" name="Rectangle 571">
            <a:extLst>
              <a:ext uri="{FF2B5EF4-FFF2-40B4-BE49-F238E27FC236}">
                <a16:creationId xmlns:a16="http://schemas.microsoft.com/office/drawing/2014/main" id="{17403ED2-DBEE-444A-9E7D-8BA3073BE59F}"/>
              </a:ext>
            </a:extLst>
          </p:cNvPr>
          <p:cNvSpPr>
            <a:spLocks noGrp="1"/>
          </p:cNvSpPr>
          <p:nvPr/>
        </p:nvSpPr>
        <p:spPr>
          <a:xfrm>
            <a:off x="2905125" y="5019675"/>
            <a:ext cx="742950" cy="742950"/>
          </a:xfrm>
          <a:prstGeom prst="rect">
            <a:avLst/>
          </a:prstGeom>
          <a:solidFill>
            <a:srgbClr val="F2F2F2"/>
          </a:solidFill>
          <a:ln w="0">
            <a:noFill/>
          </a:ln>
        </p:spPr>
        <p:txBody>
          <a:bodyPr/>
          <a:lstStyle/>
          <a:p>
            <a:endParaRPr lang="en-US"/>
          </a:p>
        </p:txBody>
      </p:sp>
      <p:sp>
        <p:nvSpPr>
          <p:cNvPr id="573" name="61">
            <a:extLst>
              <a:ext uri="{FF2B5EF4-FFF2-40B4-BE49-F238E27FC236}">
                <a16:creationId xmlns:a16="http://schemas.microsoft.com/office/drawing/2014/main" id="{8E7C3523-D867-4D8A-83B0-B19EEB2E04FB}"/>
              </a:ext>
            </a:extLst>
          </p:cNvPr>
          <p:cNvSpPr>
            <a:spLocks noGrp="1"/>
          </p:cNvSpPr>
          <p:nvPr/>
        </p:nvSpPr>
        <p:spPr>
          <a:xfrm>
            <a:off x="2914650" y="5229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61</a:t>
            </a:r>
          </a:p>
        </p:txBody>
      </p:sp>
      <p:sp>
        <p:nvSpPr>
          <p:cNvPr id="574" name="Rectangle 573">
            <a:extLst>
              <a:ext uri="{FF2B5EF4-FFF2-40B4-BE49-F238E27FC236}">
                <a16:creationId xmlns:a16="http://schemas.microsoft.com/office/drawing/2014/main" id="{58B31BAC-9241-489B-A3AC-59A6766D1BDD}"/>
              </a:ext>
            </a:extLst>
          </p:cNvPr>
          <p:cNvSpPr>
            <a:spLocks noGrp="1"/>
          </p:cNvSpPr>
          <p:nvPr/>
        </p:nvSpPr>
        <p:spPr>
          <a:xfrm>
            <a:off x="3667125" y="5019675"/>
            <a:ext cx="742950" cy="742950"/>
          </a:xfrm>
          <a:prstGeom prst="rect">
            <a:avLst/>
          </a:prstGeom>
          <a:solidFill>
            <a:srgbClr val="DBEAF7"/>
          </a:solidFill>
          <a:ln w="0">
            <a:noFill/>
          </a:ln>
        </p:spPr>
        <p:txBody>
          <a:bodyPr/>
          <a:lstStyle/>
          <a:p>
            <a:endParaRPr lang="en-US"/>
          </a:p>
        </p:txBody>
      </p:sp>
      <p:sp>
        <p:nvSpPr>
          <p:cNvPr id="575" name="99">
            <a:extLst>
              <a:ext uri="{FF2B5EF4-FFF2-40B4-BE49-F238E27FC236}">
                <a16:creationId xmlns:a16="http://schemas.microsoft.com/office/drawing/2014/main" id="{1F550A6E-496D-4073-9965-CC51EA95E2A9}"/>
              </a:ext>
            </a:extLst>
          </p:cNvPr>
          <p:cNvSpPr>
            <a:spLocks noGrp="1"/>
          </p:cNvSpPr>
          <p:nvPr/>
        </p:nvSpPr>
        <p:spPr>
          <a:xfrm>
            <a:off x="3676650" y="5229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99</a:t>
            </a:r>
          </a:p>
        </p:txBody>
      </p:sp>
      <p:sp>
        <p:nvSpPr>
          <p:cNvPr id="576" name="Naive Bayes">
            <a:extLst>
              <a:ext uri="{FF2B5EF4-FFF2-40B4-BE49-F238E27FC236}">
                <a16:creationId xmlns:a16="http://schemas.microsoft.com/office/drawing/2014/main" id="{0E081AEC-212B-400C-8157-EC9BD80699A9}"/>
              </a:ext>
            </a:extLst>
          </p:cNvPr>
          <p:cNvSpPr>
            <a:spLocks noGrp="1"/>
          </p:cNvSpPr>
          <p:nvPr/>
        </p:nvSpPr>
        <p:spPr>
          <a:xfrm>
            <a:off x="6858000" y="1552575"/>
            <a:ext cx="5238750" cy="381000"/>
          </a:xfrm>
          <a:prstGeom prst="rect">
            <a:avLst/>
          </a:prstGeom>
          <a:noFill/>
          <a:ln w="0">
            <a:noFill/>
          </a:ln>
        </p:spPr>
        <p:txBody>
          <a:bodyPr anchor="t">
            <a:noAutofit/>
          </a:bodyPr>
          <a:lstStyle/>
          <a:p>
            <a:pPr>
              <a:defRPr sz="1875" b="0">
                <a:solidFill>
                  <a:srgbClr val="121212"/>
                </a:solidFill>
                <a:latin typeface="Times New Roman"/>
                <a:ea typeface="Times New Roman"/>
                <a:cs typeface="Times New Roman"/>
              </a:defRPr>
            </a:pPr>
            <a:r>
              <a:rPr sz="1875" b="0">
                <a:solidFill>
                  <a:srgbClr val="121212"/>
                </a:solidFill>
                <a:latin typeface="Times New Roman"/>
                <a:ea typeface="Times New Roman"/>
                <a:cs typeface="Times New Roman"/>
              </a:rPr>
              <a:t>Naive Bayes</a:t>
            </a:r>
          </a:p>
        </p:txBody>
      </p:sp>
      <p:sp>
        <p:nvSpPr>
          <p:cNvPr id="577" name="Predicted">
            <a:extLst>
              <a:ext uri="{FF2B5EF4-FFF2-40B4-BE49-F238E27FC236}">
                <a16:creationId xmlns:a16="http://schemas.microsoft.com/office/drawing/2014/main" id="{96742278-51E4-4399-809C-27E311D68E93}"/>
              </a:ext>
            </a:extLst>
          </p:cNvPr>
          <p:cNvSpPr>
            <a:spLocks noGrp="1"/>
          </p:cNvSpPr>
          <p:nvPr/>
        </p:nvSpPr>
        <p:spPr>
          <a:xfrm>
            <a:off x="7810500" y="2000250"/>
            <a:ext cx="2952750" cy="304800"/>
          </a:xfrm>
          <a:prstGeom prst="rect">
            <a:avLst/>
          </a:prstGeom>
          <a:noFill/>
          <a:ln w="0">
            <a:noFill/>
          </a:ln>
        </p:spPr>
        <p:txBody>
          <a:bodyPr anchor="t">
            <a:noAutofit/>
          </a:bodyPr>
          <a:lstStyle/>
          <a:p>
            <a:pPr>
              <a:defRPr sz="1575" b="0">
                <a:solidFill>
                  <a:srgbClr val="585858"/>
                </a:solidFill>
                <a:latin typeface="Times New Roman"/>
                <a:ea typeface="Times New Roman"/>
                <a:cs typeface="Times New Roman"/>
              </a:defRPr>
            </a:pPr>
            <a:r>
              <a:rPr sz="1575" b="0">
                <a:solidFill>
                  <a:srgbClr val="585858"/>
                </a:solidFill>
                <a:latin typeface="Times New Roman"/>
                <a:ea typeface="Times New Roman"/>
                <a:cs typeface="Times New Roman"/>
              </a:rPr>
              <a:t>Predicted</a:t>
            </a:r>
          </a:p>
        </p:txBody>
      </p:sp>
      <p:sp>
        <p:nvSpPr>
          <p:cNvPr id="578" name="C0">
            <a:extLst>
              <a:ext uri="{FF2B5EF4-FFF2-40B4-BE49-F238E27FC236}">
                <a16:creationId xmlns:a16="http://schemas.microsoft.com/office/drawing/2014/main" id="{4C2C0606-0A95-4E08-B1F3-0C81A1E48204}"/>
              </a:ext>
            </a:extLst>
          </p:cNvPr>
          <p:cNvSpPr>
            <a:spLocks noGrp="1"/>
          </p:cNvSpPr>
          <p:nvPr/>
        </p:nvSpPr>
        <p:spPr>
          <a:xfrm>
            <a:off x="766762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79" name="C0">
            <a:extLst>
              <a:ext uri="{FF2B5EF4-FFF2-40B4-BE49-F238E27FC236}">
                <a16:creationId xmlns:a16="http://schemas.microsoft.com/office/drawing/2014/main" id="{DE8CF003-FDED-46B0-9FED-1EA11942E03F}"/>
              </a:ext>
            </a:extLst>
          </p:cNvPr>
          <p:cNvSpPr>
            <a:spLocks noGrp="1"/>
          </p:cNvSpPr>
          <p:nvPr/>
        </p:nvSpPr>
        <p:spPr>
          <a:xfrm>
            <a:off x="6953250" y="2809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80" name="C1">
            <a:extLst>
              <a:ext uri="{FF2B5EF4-FFF2-40B4-BE49-F238E27FC236}">
                <a16:creationId xmlns:a16="http://schemas.microsoft.com/office/drawing/2014/main" id="{F6EA8406-582A-4B58-AAA9-92A3C0F8F962}"/>
              </a:ext>
            </a:extLst>
          </p:cNvPr>
          <p:cNvSpPr>
            <a:spLocks noGrp="1"/>
          </p:cNvSpPr>
          <p:nvPr/>
        </p:nvSpPr>
        <p:spPr>
          <a:xfrm>
            <a:off x="842962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81" name="C1">
            <a:extLst>
              <a:ext uri="{FF2B5EF4-FFF2-40B4-BE49-F238E27FC236}">
                <a16:creationId xmlns:a16="http://schemas.microsoft.com/office/drawing/2014/main" id="{D61A304C-F72F-40A3-8CC6-1F0B9A178DF0}"/>
              </a:ext>
            </a:extLst>
          </p:cNvPr>
          <p:cNvSpPr>
            <a:spLocks noGrp="1"/>
          </p:cNvSpPr>
          <p:nvPr/>
        </p:nvSpPr>
        <p:spPr>
          <a:xfrm>
            <a:off x="6953250" y="3571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82" name="C2">
            <a:extLst>
              <a:ext uri="{FF2B5EF4-FFF2-40B4-BE49-F238E27FC236}">
                <a16:creationId xmlns:a16="http://schemas.microsoft.com/office/drawing/2014/main" id="{C5976856-5201-4D91-8B64-5B2411B23380}"/>
              </a:ext>
            </a:extLst>
          </p:cNvPr>
          <p:cNvSpPr>
            <a:spLocks noGrp="1"/>
          </p:cNvSpPr>
          <p:nvPr/>
        </p:nvSpPr>
        <p:spPr>
          <a:xfrm>
            <a:off x="919162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83" name="C2">
            <a:extLst>
              <a:ext uri="{FF2B5EF4-FFF2-40B4-BE49-F238E27FC236}">
                <a16:creationId xmlns:a16="http://schemas.microsoft.com/office/drawing/2014/main" id="{E85C2EA8-6597-48D1-862E-279479EED2FD}"/>
              </a:ext>
            </a:extLst>
          </p:cNvPr>
          <p:cNvSpPr>
            <a:spLocks noGrp="1"/>
          </p:cNvSpPr>
          <p:nvPr/>
        </p:nvSpPr>
        <p:spPr>
          <a:xfrm>
            <a:off x="6953250" y="4333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84" name="C3">
            <a:extLst>
              <a:ext uri="{FF2B5EF4-FFF2-40B4-BE49-F238E27FC236}">
                <a16:creationId xmlns:a16="http://schemas.microsoft.com/office/drawing/2014/main" id="{0495AD6F-571B-4B51-A6A7-A65F9FEF6F90}"/>
              </a:ext>
            </a:extLst>
          </p:cNvPr>
          <p:cNvSpPr>
            <a:spLocks noGrp="1"/>
          </p:cNvSpPr>
          <p:nvPr/>
        </p:nvSpPr>
        <p:spPr>
          <a:xfrm>
            <a:off x="995362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85" name="C3">
            <a:extLst>
              <a:ext uri="{FF2B5EF4-FFF2-40B4-BE49-F238E27FC236}">
                <a16:creationId xmlns:a16="http://schemas.microsoft.com/office/drawing/2014/main" id="{350369C4-6E90-43E2-ACC1-87052A479946}"/>
              </a:ext>
            </a:extLst>
          </p:cNvPr>
          <p:cNvSpPr>
            <a:spLocks noGrp="1"/>
          </p:cNvSpPr>
          <p:nvPr/>
        </p:nvSpPr>
        <p:spPr>
          <a:xfrm>
            <a:off x="6953250" y="5095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86" name="Rectangle 585">
            <a:extLst>
              <a:ext uri="{FF2B5EF4-FFF2-40B4-BE49-F238E27FC236}">
                <a16:creationId xmlns:a16="http://schemas.microsoft.com/office/drawing/2014/main" id="{3D534BB6-8728-43AE-BA81-544763A47DBA}"/>
              </a:ext>
            </a:extLst>
          </p:cNvPr>
          <p:cNvSpPr>
            <a:spLocks noGrp="1"/>
          </p:cNvSpPr>
          <p:nvPr/>
        </p:nvSpPr>
        <p:spPr>
          <a:xfrm>
            <a:off x="7572375" y="2733675"/>
            <a:ext cx="742950" cy="742950"/>
          </a:xfrm>
          <a:prstGeom prst="rect">
            <a:avLst/>
          </a:prstGeom>
          <a:solidFill>
            <a:srgbClr val="DBEAF7"/>
          </a:solidFill>
          <a:ln w="0">
            <a:noFill/>
          </a:ln>
        </p:spPr>
        <p:txBody>
          <a:bodyPr/>
          <a:lstStyle/>
          <a:p>
            <a:endParaRPr lang="en-US"/>
          </a:p>
        </p:txBody>
      </p:sp>
      <p:sp>
        <p:nvSpPr>
          <p:cNvPr id="587" name="69">
            <a:extLst>
              <a:ext uri="{FF2B5EF4-FFF2-40B4-BE49-F238E27FC236}">
                <a16:creationId xmlns:a16="http://schemas.microsoft.com/office/drawing/2014/main" id="{3790964D-F1BC-476D-B27B-9A3B86A11EBF}"/>
              </a:ext>
            </a:extLst>
          </p:cNvPr>
          <p:cNvSpPr>
            <a:spLocks noGrp="1"/>
          </p:cNvSpPr>
          <p:nvPr/>
        </p:nvSpPr>
        <p:spPr>
          <a:xfrm>
            <a:off x="7581900" y="2943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69</a:t>
            </a:r>
          </a:p>
        </p:txBody>
      </p:sp>
      <p:sp>
        <p:nvSpPr>
          <p:cNvPr id="588" name="Rectangle 587">
            <a:extLst>
              <a:ext uri="{FF2B5EF4-FFF2-40B4-BE49-F238E27FC236}">
                <a16:creationId xmlns:a16="http://schemas.microsoft.com/office/drawing/2014/main" id="{A6DBC743-2EBC-4CEF-AA72-9CA2A0FD83AE}"/>
              </a:ext>
            </a:extLst>
          </p:cNvPr>
          <p:cNvSpPr>
            <a:spLocks noGrp="1"/>
          </p:cNvSpPr>
          <p:nvPr/>
        </p:nvSpPr>
        <p:spPr>
          <a:xfrm>
            <a:off x="8334375" y="2733675"/>
            <a:ext cx="742950" cy="742950"/>
          </a:xfrm>
          <a:prstGeom prst="rect">
            <a:avLst/>
          </a:prstGeom>
          <a:solidFill>
            <a:srgbClr val="F2F2F2"/>
          </a:solidFill>
          <a:ln w="0">
            <a:noFill/>
          </a:ln>
        </p:spPr>
        <p:txBody>
          <a:bodyPr/>
          <a:lstStyle/>
          <a:p>
            <a:endParaRPr lang="en-US"/>
          </a:p>
        </p:txBody>
      </p:sp>
      <p:sp>
        <p:nvSpPr>
          <p:cNvPr id="589" name="101">
            <a:extLst>
              <a:ext uri="{FF2B5EF4-FFF2-40B4-BE49-F238E27FC236}">
                <a16:creationId xmlns:a16="http://schemas.microsoft.com/office/drawing/2014/main" id="{0A78BF92-AC51-4483-A6C3-577F5C654576}"/>
              </a:ext>
            </a:extLst>
          </p:cNvPr>
          <p:cNvSpPr>
            <a:spLocks noGrp="1"/>
          </p:cNvSpPr>
          <p:nvPr/>
        </p:nvSpPr>
        <p:spPr>
          <a:xfrm>
            <a:off x="8343900" y="2943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101</a:t>
            </a:r>
          </a:p>
        </p:txBody>
      </p:sp>
      <p:sp>
        <p:nvSpPr>
          <p:cNvPr id="590" name="Rectangle 589">
            <a:extLst>
              <a:ext uri="{FF2B5EF4-FFF2-40B4-BE49-F238E27FC236}">
                <a16:creationId xmlns:a16="http://schemas.microsoft.com/office/drawing/2014/main" id="{E236408C-F142-4168-9027-240BF5CC297D}"/>
              </a:ext>
            </a:extLst>
          </p:cNvPr>
          <p:cNvSpPr>
            <a:spLocks noGrp="1"/>
          </p:cNvSpPr>
          <p:nvPr/>
        </p:nvSpPr>
        <p:spPr>
          <a:xfrm>
            <a:off x="9096375" y="2733675"/>
            <a:ext cx="742950" cy="742950"/>
          </a:xfrm>
          <a:prstGeom prst="rect">
            <a:avLst/>
          </a:prstGeom>
          <a:solidFill>
            <a:srgbClr val="F2F2F2"/>
          </a:solidFill>
          <a:ln w="0">
            <a:noFill/>
          </a:ln>
        </p:spPr>
        <p:txBody>
          <a:bodyPr/>
          <a:lstStyle/>
          <a:p>
            <a:endParaRPr lang="en-US"/>
          </a:p>
        </p:txBody>
      </p:sp>
      <p:sp>
        <p:nvSpPr>
          <p:cNvPr id="591" name="34">
            <a:extLst>
              <a:ext uri="{FF2B5EF4-FFF2-40B4-BE49-F238E27FC236}">
                <a16:creationId xmlns:a16="http://schemas.microsoft.com/office/drawing/2014/main" id="{6BADE0ED-91FA-48CF-8818-7A1030DF719F}"/>
              </a:ext>
            </a:extLst>
          </p:cNvPr>
          <p:cNvSpPr>
            <a:spLocks noGrp="1"/>
          </p:cNvSpPr>
          <p:nvPr/>
        </p:nvSpPr>
        <p:spPr>
          <a:xfrm>
            <a:off x="9105900" y="2943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34</a:t>
            </a:r>
          </a:p>
        </p:txBody>
      </p:sp>
      <p:sp>
        <p:nvSpPr>
          <p:cNvPr id="592" name="Rectangle 591">
            <a:extLst>
              <a:ext uri="{FF2B5EF4-FFF2-40B4-BE49-F238E27FC236}">
                <a16:creationId xmlns:a16="http://schemas.microsoft.com/office/drawing/2014/main" id="{D808EF9C-91BB-456C-9BA6-18C3288CBBC0}"/>
              </a:ext>
            </a:extLst>
          </p:cNvPr>
          <p:cNvSpPr>
            <a:spLocks noGrp="1"/>
          </p:cNvSpPr>
          <p:nvPr/>
        </p:nvSpPr>
        <p:spPr>
          <a:xfrm>
            <a:off x="9858375" y="2733675"/>
            <a:ext cx="742950" cy="742950"/>
          </a:xfrm>
          <a:prstGeom prst="rect">
            <a:avLst/>
          </a:prstGeom>
          <a:solidFill>
            <a:srgbClr val="F2F2F2"/>
          </a:solidFill>
          <a:ln w="0">
            <a:noFill/>
          </a:ln>
        </p:spPr>
        <p:txBody>
          <a:bodyPr/>
          <a:lstStyle/>
          <a:p>
            <a:endParaRPr lang="en-US"/>
          </a:p>
        </p:txBody>
      </p:sp>
      <p:sp>
        <p:nvSpPr>
          <p:cNvPr id="593" name="32">
            <a:extLst>
              <a:ext uri="{FF2B5EF4-FFF2-40B4-BE49-F238E27FC236}">
                <a16:creationId xmlns:a16="http://schemas.microsoft.com/office/drawing/2014/main" id="{249DAE14-A6A8-45DF-88E3-CA00282C80E7}"/>
              </a:ext>
            </a:extLst>
          </p:cNvPr>
          <p:cNvSpPr>
            <a:spLocks noGrp="1"/>
          </p:cNvSpPr>
          <p:nvPr/>
        </p:nvSpPr>
        <p:spPr>
          <a:xfrm>
            <a:off x="9867900" y="2943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32</a:t>
            </a:r>
          </a:p>
        </p:txBody>
      </p:sp>
      <p:sp>
        <p:nvSpPr>
          <p:cNvPr id="594" name="Rectangle 593">
            <a:extLst>
              <a:ext uri="{FF2B5EF4-FFF2-40B4-BE49-F238E27FC236}">
                <a16:creationId xmlns:a16="http://schemas.microsoft.com/office/drawing/2014/main" id="{DBBFD45E-E911-497F-AA18-9AC07D2963CB}"/>
              </a:ext>
            </a:extLst>
          </p:cNvPr>
          <p:cNvSpPr>
            <a:spLocks noGrp="1"/>
          </p:cNvSpPr>
          <p:nvPr/>
        </p:nvSpPr>
        <p:spPr>
          <a:xfrm>
            <a:off x="7572375" y="3495675"/>
            <a:ext cx="742950" cy="742950"/>
          </a:xfrm>
          <a:prstGeom prst="rect">
            <a:avLst/>
          </a:prstGeom>
          <a:solidFill>
            <a:srgbClr val="F2F2F2"/>
          </a:solidFill>
          <a:ln w="0">
            <a:noFill/>
          </a:ln>
        </p:spPr>
        <p:txBody>
          <a:bodyPr/>
          <a:lstStyle/>
          <a:p>
            <a:endParaRPr lang="en-US"/>
          </a:p>
        </p:txBody>
      </p:sp>
      <p:sp>
        <p:nvSpPr>
          <p:cNvPr id="595" name="51">
            <a:extLst>
              <a:ext uri="{FF2B5EF4-FFF2-40B4-BE49-F238E27FC236}">
                <a16:creationId xmlns:a16="http://schemas.microsoft.com/office/drawing/2014/main" id="{AAD83016-784E-468E-896D-90E6A6F61620}"/>
              </a:ext>
            </a:extLst>
          </p:cNvPr>
          <p:cNvSpPr>
            <a:spLocks noGrp="1"/>
          </p:cNvSpPr>
          <p:nvPr/>
        </p:nvSpPr>
        <p:spPr>
          <a:xfrm>
            <a:off x="7581900" y="3705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51</a:t>
            </a:r>
          </a:p>
        </p:txBody>
      </p:sp>
      <p:sp>
        <p:nvSpPr>
          <p:cNvPr id="596" name="Rectangle 595">
            <a:extLst>
              <a:ext uri="{FF2B5EF4-FFF2-40B4-BE49-F238E27FC236}">
                <a16:creationId xmlns:a16="http://schemas.microsoft.com/office/drawing/2014/main" id="{0A27F4CD-92F3-46A6-AF7B-E491CE8E2113}"/>
              </a:ext>
            </a:extLst>
          </p:cNvPr>
          <p:cNvSpPr>
            <a:spLocks noGrp="1"/>
          </p:cNvSpPr>
          <p:nvPr/>
        </p:nvSpPr>
        <p:spPr>
          <a:xfrm>
            <a:off x="8334375" y="3495675"/>
            <a:ext cx="742950" cy="742950"/>
          </a:xfrm>
          <a:prstGeom prst="rect">
            <a:avLst/>
          </a:prstGeom>
          <a:solidFill>
            <a:srgbClr val="DBEAF7"/>
          </a:solidFill>
          <a:ln w="0">
            <a:noFill/>
          </a:ln>
        </p:spPr>
        <p:txBody>
          <a:bodyPr/>
          <a:lstStyle/>
          <a:p>
            <a:endParaRPr lang="en-US"/>
          </a:p>
        </p:txBody>
      </p:sp>
      <p:sp>
        <p:nvSpPr>
          <p:cNvPr id="597" name="169">
            <a:extLst>
              <a:ext uri="{FF2B5EF4-FFF2-40B4-BE49-F238E27FC236}">
                <a16:creationId xmlns:a16="http://schemas.microsoft.com/office/drawing/2014/main" id="{73F67E6B-C025-4C9F-AA60-C89C7E71D0F4}"/>
              </a:ext>
            </a:extLst>
          </p:cNvPr>
          <p:cNvSpPr>
            <a:spLocks noGrp="1"/>
          </p:cNvSpPr>
          <p:nvPr/>
        </p:nvSpPr>
        <p:spPr>
          <a:xfrm>
            <a:off x="8343900" y="3705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169</a:t>
            </a:r>
          </a:p>
        </p:txBody>
      </p:sp>
      <p:sp>
        <p:nvSpPr>
          <p:cNvPr id="598" name="Rectangle 597">
            <a:extLst>
              <a:ext uri="{FF2B5EF4-FFF2-40B4-BE49-F238E27FC236}">
                <a16:creationId xmlns:a16="http://schemas.microsoft.com/office/drawing/2014/main" id="{8A43B5E4-F381-40DB-B734-6C4FFD0B7F49}"/>
              </a:ext>
            </a:extLst>
          </p:cNvPr>
          <p:cNvSpPr>
            <a:spLocks noGrp="1"/>
          </p:cNvSpPr>
          <p:nvPr/>
        </p:nvSpPr>
        <p:spPr>
          <a:xfrm>
            <a:off x="9096375" y="3495675"/>
            <a:ext cx="742950" cy="742950"/>
          </a:xfrm>
          <a:prstGeom prst="rect">
            <a:avLst/>
          </a:prstGeom>
          <a:solidFill>
            <a:srgbClr val="F2F2F2"/>
          </a:solidFill>
          <a:ln w="0">
            <a:noFill/>
          </a:ln>
        </p:spPr>
        <p:txBody>
          <a:bodyPr/>
          <a:lstStyle/>
          <a:p>
            <a:endParaRPr lang="en-US"/>
          </a:p>
        </p:txBody>
      </p:sp>
      <p:sp>
        <p:nvSpPr>
          <p:cNvPr id="599" name="70">
            <a:extLst>
              <a:ext uri="{FF2B5EF4-FFF2-40B4-BE49-F238E27FC236}">
                <a16:creationId xmlns:a16="http://schemas.microsoft.com/office/drawing/2014/main" id="{D8EF3D78-9837-4A1C-80CD-9228483A7778}"/>
              </a:ext>
            </a:extLst>
          </p:cNvPr>
          <p:cNvSpPr>
            <a:spLocks noGrp="1"/>
          </p:cNvSpPr>
          <p:nvPr/>
        </p:nvSpPr>
        <p:spPr>
          <a:xfrm>
            <a:off x="9105900" y="3705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70</a:t>
            </a:r>
          </a:p>
        </p:txBody>
      </p:sp>
      <p:sp>
        <p:nvSpPr>
          <p:cNvPr id="600" name="Rectangle 599">
            <a:extLst>
              <a:ext uri="{FF2B5EF4-FFF2-40B4-BE49-F238E27FC236}">
                <a16:creationId xmlns:a16="http://schemas.microsoft.com/office/drawing/2014/main" id="{1C4FBB20-6D2F-4441-BAAD-43F29AAFA5D5}"/>
              </a:ext>
            </a:extLst>
          </p:cNvPr>
          <p:cNvSpPr>
            <a:spLocks noGrp="1"/>
          </p:cNvSpPr>
          <p:nvPr/>
        </p:nvSpPr>
        <p:spPr>
          <a:xfrm>
            <a:off x="9858375" y="3495675"/>
            <a:ext cx="742950" cy="742950"/>
          </a:xfrm>
          <a:prstGeom prst="rect">
            <a:avLst/>
          </a:prstGeom>
          <a:solidFill>
            <a:srgbClr val="F2F2F2"/>
          </a:solidFill>
          <a:ln w="0">
            <a:noFill/>
          </a:ln>
        </p:spPr>
        <p:txBody>
          <a:bodyPr/>
          <a:lstStyle/>
          <a:p>
            <a:endParaRPr lang="en-US"/>
          </a:p>
        </p:txBody>
      </p:sp>
      <p:sp>
        <p:nvSpPr>
          <p:cNvPr id="601" name="30">
            <a:extLst>
              <a:ext uri="{FF2B5EF4-FFF2-40B4-BE49-F238E27FC236}">
                <a16:creationId xmlns:a16="http://schemas.microsoft.com/office/drawing/2014/main" id="{2C2E7D5E-A634-4E8A-AD60-44C52ACFB073}"/>
              </a:ext>
            </a:extLst>
          </p:cNvPr>
          <p:cNvSpPr>
            <a:spLocks noGrp="1"/>
          </p:cNvSpPr>
          <p:nvPr/>
        </p:nvSpPr>
        <p:spPr>
          <a:xfrm>
            <a:off x="9867900" y="3705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30</a:t>
            </a:r>
          </a:p>
        </p:txBody>
      </p:sp>
      <p:sp>
        <p:nvSpPr>
          <p:cNvPr id="602" name="Rectangle 601">
            <a:extLst>
              <a:ext uri="{FF2B5EF4-FFF2-40B4-BE49-F238E27FC236}">
                <a16:creationId xmlns:a16="http://schemas.microsoft.com/office/drawing/2014/main" id="{8E3EFD15-E9B5-4F04-9734-2CE1006190A7}"/>
              </a:ext>
            </a:extLst>
          </p:cNvPr>
          <p:cNvSpPr>
            <a:spLocks noGrp="1"/>
          </p:cNvSpPr>
          <p:nvPr/>
        </p:nvSpPr>
        <p:spPr>
          <a:xfrm>
            <a:off x="7572375" y="4257675"/>
            <a:ext cx="742950" cy="742950"/>
          </a:xfrm>
          <a:prstGeom prst="rect">
            <a:avLst/>
          </a:prstGeom>
          <a:solidFill>
            <a:srgbClr val="F2F2F2"/>
          </a:solidFill>
          <a:ln w="0">
            <a:noFill/>
          </a:ln>
        </p:spPr>
        <p:txBody>
          <a:bodyPr/>
          <a:lstStyle/>
          <a:p>
            <a:endParaRPr lang="en-US"/>
          </a:p>
        </p:txBody>
      </p:sp>
      <p:sp>
        <p:nvSpPr>
          <p:cNvPr id="603" name="54">
            <a:extLst>
              <a:ext uri="{FF2B5EF4-FFF2-40B4-BE49-F238E27FC236}">
                <a16:creationId xmlns:a16="http://schemas.microsoft.com/office/drawing/2014/main" id="{4B9AED75-38D9-482E-AEF8-4D53CF2F66A6}"/>
              </a:ext>
            </a:extLst>
          </p:cNvPr>
          <p:cNvSpPr>
            <a:spLocks noGrp="1"/>
          </p:cNvSpPr>
          <p:nvPr/>
        </p:nvSpPr>
        <p:spPr>
          <a:xfrm>
            <a:off x="7581900" y="4467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54</a:t>
            </a:r>
          </a:p>
        </p:txBody>
      </p:sp>
      <p:sp>
        <p:nvSpPr>
          <p:cNvPr id="604" name="Rectangle 603">
            <a:extLst>
              <a:ext uri="{FF2B5EF4-FFF2-40B4-BE49-F238E27FC236}">
                <a16:creationId xmlns:a16="http://schemas.microsoft.com/office/drawing/2014/main" id="{E03EF61D-CB89-4971-9489-8C21F4E155C7}"/>
              </a:ext>
            </a:extLst>
          </p:cNvPr>
          <p:cNvSpPr>
            <a:spLocks noGrp="1"/>
          </p:cNvSpPr>
          <p:nvPr/>
        </p:nvSpPr>
        <p:spPr>
          <a:xfrm>
            <a:off x="8334375" y="4257675"/>
            <a:ext cx="742950" cy="742950"/>
          </a:xfrm>
          <a:prstGeom prst="rect">
            <a:avLst/>
          </a:prstGeom>
          <a:solidFill>
            <a:srgbClr val="F2F2F2"/>
          </a:solidFill>
          <a:ln w="0">
            <a:noFill/>
          </a:ln>
        </p:spPr>
        <p:txBody>
          <a:bodyPr/>
          <a:lstStyle/>
          <a:p>
            <a:endParaRPr lang="en-US"/>
          </a:p>
        </p:txBody>
      </p:sp>
      <p:sp>
        <p:nvSpPr>
          <p:cNvPr id="605" name="104">
            <a:extLst>
              <a:ext uri="{FF2B5EF4-FFF2-40B4-BE49-F238E27FC236}">
                <a16:creationId xmlns:a16="http://schemas.microsoft.com/office/drawing/2014/main" id="{11002CF0-603E-4760-A2FE-B744B48739EC}"/>
              </a:ext>
            </a:extLst>
          </p:cNvPr>
          <p:cNvSpPr>
            <a:spLocks noGrp="1"/>
          </p:cNvSpPr>
          <p:nvPr/>
        </p:nvSpPr>
        <p:spPr>
          <a:xfrm>
            <a:off x="8343900" y="4467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104</a:t>
            </a:r>
          </a:p>
        </p:txBody>
      </p:sp>
      <p:sp>
        <p:nvSpPr>
          <p:cNvPr id="606" name="Rectangle 605">
            <a:extLst>
              <a:ext uri="{FF2B5EF4-FFF2-40B4-BE49-F238E27FC236}">
                <a16:creationId xmlns:a16="http://schemas.microsoft.com/office/drawing/2014/main" id="{C5D8E2E8-16E2-4340-9BA2-FC048C63FCCB}"/>
              </a:ext>
            </a:extLst>
          </p:cNvPr>
          <p:cNvSpPr>
            <a:spLocks noGrp="1"/>
          </p:cNvSpPr>
          <p:nvPr/>
        </p:nvSpPr>
        <p:spPr>
          <a:xfrm>
            <a:off x="9096375" y="4257675"/>
            <a:ext cx="742950" cy="742950"/>
          </a:xfrm>
          <a:prstGeom prst="rect">
            <a:avLst/>
          </a:prstGeom>
          <a:solidFill>
            <a:srgbClr val="DBEAF7"/>
          </a:solidFill>
          <a:ln w="0">
            <a:noFill/>
          </a:ln>
        </p:spPr>
        <p:txBody>
          <a:bodyPr/>
          <a:lstStyle/>
          <a:p>
            <a:endParaRPr lang="en-US"/>
          </a:p>
        </p:txBody>
      </p:sp>
      <p:sp>
        <p:nvSpPr>
          <p:cNvPr id="607" name="96">
            <a:extLst>
              <a:ext uri="{FF2B5EF4-FFF2-40B4-BE49-F238E27FC236}">
                <a16:creationId xmlns:a16="http://schemas.microsoft.com/office/drawing/2014/main" id="{A004D1EB-5CDD-403E-9443-AEBC986B2715}"/>
              </a:ext>
            </a:extLst>
          </p:cNvPr>
          <p:cNvSpPr>
            <a:spLocks noGrp="1"/>
          </p:cNvSpPr>
          <p:nvPr/>
        </p:nvSpPr>
        <p:spPr>
          <a:xfrm>
            <a:off x="9105900" y="4467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96</a:t>
            </a:r>
          </a:p>
        </p:txBody>
      </p:sp>
      <p:sp>
        <p:nvSpPr>
          <p:cNvPr id="608" name="Rectangle 607">
            <a:extLst>
              <a:ext uri="{FF2B5EF4-FFF2-40B4-BE49-F238E27FC236}">
                <a16:creationId xmlns:a16="http://schemas.microsoft.com/office/drawing/2014/main" id="{1A60621B-8AF9-4E33-AD86-3E410FA9715F}"/>
              </a:ext>
            </a:extLst>
          </p:cNvPr>
          <p:cNvSpPr>
            <a:spLocks noGrp="1"/>
          </p:cNvSpPr>
          <p:nvPr/>
        </p:nvSpPr>
        <p:spPr>
          <a:xfrm>
            <a:off x="9858375" y="4257675"/>
            <a:ext cx="742950" cy="742950"/>
          </a:xfrm>
          <a:prstGeom prst="rect">
            <a:avLst/>
          </a:prstGeom>
          <a:solidFill>
            <a:srgbClr val="F2F2F2"/>
          </a:solidFill>
          <a:ln w="0">
            <a:noFill/>
          </a:ln>
        </p:spPr>
        <p:txBody>
          <a:bodyPr/>
          <a:lstStyle/>
          <a:p>
            <a:endParaRPr lang="en-US"/>
          </a:p>
        </p:txBody>
      </p:sp>
      <p:sp>
        <p:nvSpPr>
          <p:cNvPr id="609" name="46">
            <a:extLst>
              <a:ext uri="{FF2B5EF4-FFF2-40B4-BE49-F238E27FC236}">
                <a16:creationId xmlns:a16="http://schemas.microsoft.com/office/drawing/2014/main" id="{2F07FC2D-4F1B-4A37-A7FA-FEE9894E0673}"/>
              </a:ext>
            </a:extLst>
          </p:cNvPr>
          <p:cNvSpPr>
            <a:spLocks noGrp="1"/>
          </p:cNvSpPr>
          <p:nvPr/>
        </p:nvSpPr>
        <p:spPr>
          <a:xfrm>
            <a:off x="9867900" y="4467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46</a:t>
            </a:r>
          </a:p>
        </p:txBody>
      </p:sp>
      <p:sp>
        <p:nvSpPr>
          <p:cNvPr id="610" name="Rectangle 609">
            <a:extLst>
              <a:ext uri="{FF2B5EF4-FFF2-40B4-BE49-F238E27FC236}">
                <a16:creationId xmlns:a16="http://schemas.microsoft.com/office/drawing/2014/main" id="{8D1951E9-86F8-4B97-8CE8-BB9B3F23F7DD}"/>
              </a:ext>
            </a:extLst>
          </p:cNvPr>
          <p:cNvSpPr>
            <a:spLocks noGrp="1"/>
          </p:cNvSpPr>
          <p:nvPr/>
        </p:nvSpPr>
        <p:spPr>
          <a:xfrm>
            <a:off x="7572375" y="5019675"/>
            <a:ext cx="742950" cy="742950"/>
          </a:xfrm>
          <a:prstGeom prst="rect">
            <a:avLst/>
          </a:prstGeom>
          <a:solidFill>
            <a:srgbClr val="F2F2F2"/>
          </a:solidFill>
          <a:ln w="0">
            <a:noFill/>
          </a:ln>
        </p:spPr>
        <p:txBody>
          <a:bodyPr/>
          <a:lstStyle/>
          <a:p>
            <a:endParaRPr lang="en-US"/>
          </a:p>
        </p:txBody>
      </p:sp>
      <p:sp>
        <p:nvSpPr>
          <p:cNvPr id="611" name="39">
            <a:extLst>
              <a:ext uri="{FF2B5EF4-FFF2-40B4-BE49-F238E27FC236}">
                <a16:creationId xmlns:a16="http://schemas.microsoft.com/office/drawing/2014/main" id="{98A38515-DDB0-402C-B103-57EE2AB79815}"/>
              </a:ext>
            </a:extLst>
          </p:cNvPr>
          <p:cNvSpPr>
            <a:spLocks noGrp="1"/>
          </p:cNvSpPr>
          <p:nvPr/>
        </p:nvSpPr>
        <p:spPr>
          <a:xfrm>
            <a:off x="7581900" y="5229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39</a:t>
            </a:r>
          </a:p>
        </p:txBody>
      </p:sp>
      <p:sp>
        <p:nvSpPr>
          <p:cNvPr id="612" name="Rectangle 611">
            <a:extLst>
              <a:ext uri="{FF2B5EF4-FFF2-40B4-BE49-F238E27FC236}">
                <a16:creationId xmlns:a16="http://schemas.microsoft.com/office/drawing/2014/main" id="{3B4B3AB8-C5AC-4FDA-82D2-76326DA4282A}"/>
              </a:ext>
            </a:extLst>
          </p:cNvPr>
          <p:cNvSpPr>
            <a:spLocks noGrp="1"/>
          </p:cNvSpPr>
          <p:nvPr/>
        </p:nvSpPr>
        <p:spPr>
          <a:xfrm>
            <a:off x="8334375" y="5019675"/>
            <a:ext cx="742950" cy="742950"/>
          </a:xfrm>
          <a:prstGeom prst="rect">
            <a:avLst/>
          </a:prstGeom>
          <a:solidFill>
            <a:srgbClr val="F2F2F2"/>
          </a:solidFill>
          <a:ln w="0">
            <a:noFill/>
          </a:ln>
        </p:spPr>
        <p:txBody>
          <a:bodyPr/>
          <a:lstStyle/>
          <a:p>
            <a:endParaRPr lang="en-US"/>
          </a:p>
        </p:txBody>
      </p:sp>
      <p:sp>
        <p:nvSpPr>
          <p:cNvPr id="613" name="49">
            <a:extLst>
              <a:ext uri="{FF2B5EF4-FFF2-40B4-BE49-F238E27FC236}">
                <a16:creationId xmlns:a16="http://schemas.microsoft.com/office/drawing/2014/main" id="{794FDD94-EDB2-427F-BA57-486D01264579}"/>
              </a:ext>
            </a:extLst>
          </p:cNvPr>
          <p:cNvSpPr>
            <a:spLocks noGrp="1"/>
          </p:cNvSpPr>
          <p:nvPr/>
        </p:nvSpPr>
        <p:spPr>
          <a:xfrm>
            <a:off x="8343900" y="5229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49</a:t>
            </a:r>
          </a:p>
        </p:txBody>
      </p:sp>
      <p:sp>
        <p:nvSpPr>
          <p:cNvPr id="614" name="Rectangle 613">
            <a:extLst>
              <a:ext uri="{FF2B5EF4-FFF2-40B4-BE49-F238E27FC236}">
                <a16:creationId xmlns:a16="http://schemas.microsoft.com/office/drawing/2014/main" id="{8C3F0E24-5B50-48B2-A3C5-EAD74F419F27}"/>
              </a:ext>
            </a:extLst>
          </p:cNvPr>
          <p:cNvSpPr>
            <a:spLocks noGrp="1"/>
          </p:cNvSpPr>
          <p:nvPr/>
        </p:nvSpPr>
        <p:spPr>
          <a:xfrm>
            <a:off x="9096375" y="5019675"/>
            <a:ext cx="742950" cy="742950"/>
          </a:xfrm>
          <a:prstGeom prst="rect">
            <a:avLst/>
          </a:prstGeom>
          <a:solidFill>
            <a:srgbClr val="F2F2F2"/>
          </a:solidFill>
          <a:ln w="0">
            <a:noFill/>
          </a:ln>
        </p:spPr>
        <p:txBody>
          <a:bodyPr/>
          <a:lstStyle/>
          <a:p>
            <a:endParaRPr lang="en-US"/>
          </a:p>
        </p:txBody>
      </p:sp>
      <p:sp>
        <p:nvSpPr>
          <p:cNvPr id="615" name="72">
            <a:extLst>
              <a:ext uri="{FF2B5EF4-FFF2-40B4-BE49-F238E27FC236}">
                <a16:creationId xmlns:a16="http://schemas.microsoft.com/office/drawing/2014/main" id="{0E0EC389-99B9-4821-8492-8CF6AD7D4029}"/>
              </a:ext>
            </a:extLst>
          </p:cNvPr>
          <p:cNvSpPr>
            <a:spLocks noGrp="1"/>
          </p:cNvSpPr>
          <p:nvPr/>
        </p:nvSpPr>
        <p:spPr>
          <a:xfrm>
            <a:off x="9105900" y="5229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72</a:t>
            </a:r>
          </a:p>
        </p:txBody>
      </p:sp>
      <p:sp>
        <p:nvSpPr>
          <p:cNvPr id="616" name="Rectangle 615">
            <a:extLst>
              <a:ext uri="{FF2B5EF4-FFF2-40B4-BE49-F238E27FC236}">
                <a16:creationId xmlns:a16="http://schemas.microsoft.com/office/drawing/2014/main" id="{D6CBD6DA-DDC2-4CE3-823E-3CF02088D87F}"/>
              </a:ext>
            </a:extLst>
          </p:cNvPr>
          <p:cNvSpPr>
            <a:spLocks noGrp="1"/>
          </p:cNvSpPr>
          <p:nvPr/>
        </p:nvSpPr>
        <p:spPr>
          <a:xfrm>
            <a:off x="9858375" y="5019675"/>
            <a:ext cx="742950" cy="742950"/>
          </a:xfrm>
          <a:prstGeom prst="rect">
            <a:avLst/>
          </a:prstGeom>
          <a:solidFill>
            <a:srgbClr val="DBEAF7"/>
          </a:solidFill>
          <a:ln w="0">
            <a:noFill/>
          </a:ln>
        </p:spPr>
        <p:txBody>
          <a:bodyPr/>
          <a:lstStyle/>
          <a:p>
            <a:endParaRPr lang="en-US"/>
          </a:p>
        </p:txBody>
      </p:sp>
      <p:sp>
        <p:nvSpPr>
          <p:cNvPr id="617" name="86">
            <a:extLst>
              <a:ext uri="{FF2B5EF4-FFF2-40B4-BE49-F238E27FC236}">
                <a16:creationId xmlns:a16="http://schemas.microsoft.com/office/drawing/2014/main" id="{E1CEB1DC-1EC2-41FF-ACA0-E4D0F767BD89}"/>
              </a:ext>
            </a:extLst>
          </p:cNvPr>
          <p:cNvSpPr>
            <a:spLocks noGrp="1"/>
          </p:cNvSpPr>
          <p:nvPr/>
        </p:nvSpPr>
        <p:spPr>
          <a:xfrm>
            <a:off x="9867900" y="5229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86</a:t>
            </a:r>
          </a:p>
        </p:txBody>
      </p:sp>
      <p:sp>
        <p:nvSpPr>
          <p:cNvPr id="618" name="Main CGPA, stratified 10-fold cross-validation, N = 1,1">
            <a:extLst>
              <a:ext uri="{FF2B5EF4-FFF2-40B4-BE49-F238E27FC236}">
                <a16:creationId xmlns:a16="http://schemas.microsoft.com/office/drawing/2014/main" id="{DD324EAF-583B-4368-ADB3-50A181C8EE1F}"/>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Main CGPA, stratified 10-fold cross-validation, N = 1,102. Rows actual, columns predicted.</a:t>
            </a:r>
          </a:p>
        </p:txBody>
      </p:sp>
    </p:spTree>
    <p:extLst>
      <p:ext uri="{BB962C8B-B14F-4D97-AF65-F5344CB8AC3E}">
        <p14:creationId xmlns:p14="http://schemas.microsoft.com/office/powerpoint/2010/main" val="348062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42</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WEKA ZeroR baseline matrix</a:t>
            </a:r>
          </a:p>
        </p:txBody>
      </p:sp>
      <p:sp>
        <p:nvSpPr>
          <p:cNvPr id="534" name="Main CGPA, 10-fold CV">
            <a:extLst>
              <a:ext uri="{FF2B5EF4-FFF2-40B4-BE49-F238E27FC236}">
                <a16:creationId xmlns:a16="http://schemas.microsoft.com/office/drawing/2014/main" id="{E091C9E9-5D11-4220-819D-DCF08B6BE4B0}"/>
              </a:ext>
            </a:extLst>
          </p:cNvPr>
          <p:cNvSpPr>
            <a:spLocks noGrp="1"/>
          </p:cNvSpPr>
          <p:nvPr/>
        </p:nvSpPr>
        <p:spPr>
          <a:xfrm>
            <a:off x="4095750" y="1247775"/>
            <a:ext cx="6286500" cy="381000"/>
          </a:xfrm>
          <a:prstGeom prst="rect">
            <a:avLst/>
          </a:prstGeom>
          <a:noFill/>
          <a:ln w="0">
            <a:noFill/>
          </a:ln>
        </p:spPr>
        <p:txBody>
          <a:bodyPr anchor="t">
            <a:noAutofit/>
          </a:bodyPr>
          <a:lstStyle/>
          <a:p>
            <a:pPr>
              <a:defRPr sz="1875" b="0">
                <a:solidFill>
                  <a:srgbClr val="121212"/>
                </a:solidFill>
                <a:latin typeface="Times New Roman"/>
                <a:ea typeface="Times New Roman"/>
                <a:cs typeface="Times New Roman"/>
              </a:defRPr>
            </a:pPr>
            <a:r>
              <a:rPr sz="1875" b="0">
                <a:solidFill>
                  <a:srgbClr val="121212"/>
                </a:solidFill>
                <a:latin typeface="Times New Roman"/>
                <a:ea typeface="Times New Roman"/>
                <a:cs typeface="Times New Roman"/>
              </a:rPr>
              <a:t>Main CGPA, 10-fold CV</a:t>
            </a:r>
          </a:p>
        </p:txBody>
      </p:sp>
      <p:sp>
        <p:nvSpPr>
          <p:cNvPr id="535" name="Predicted">
            <a:extLst>
              <a:ext uri="{FF2B5EF4-FFF2-40B4-BE49-F238E27FC236}">
                <a16:creationId xmlns:a16="http://schemas.microsoft.com/office/drawing/2014/main" id="{2A18EB2C-6AD3-448E-AED3-54FA329A5667}"/>
              </a:ext>
            </a:extLst>
          </p:cNvPr>
          <p:cNvSpPr>
            <a:spLocks noGrp="1"/>
          </p:cNvSpPr>
          <p:nvPr/>
        </p:nvSpPr>
        <p:spPr>
          <a:xfrm>
            <a:off x="5048250" y="1695450"/>
            <a:ext cx="2952750" cy="304800"/>
          </a:xfrm>
          <a:prstGeom prst="rect">
            <a:avLst/>
          </a:prstGeom>
          <a:noFill/>
          <a:ln w="0">
            <a:noFill/>
          </a:ln>
        </p:spPr>
        <p:txBody>
          <a:bodyPr anchor="t">
            <a:noAutofit/>
          </a:bodyPr>
          <a:lstStyle/>
          <a:p>
            <a:pPr>
              <a:defRPr sz="1575" b="0">
                <a:solidFill>
                  <a:srgbClr val="585858"/>
                </a:solidFill>
                <a:latin typeface="Times New Roman"/>
                <a:ea typeface="Times New Roman"/>
                <a:cs typeface="Times New Roman"/>
              </a:defRPr>
            </a:pPr>
            <a:r>
              <a:rPr sz="1575" b="0">
                <a:solidFill>
                  <a:srgbClr val="585858"/>
                </a:solidFill>
                <a:latin typeface="Times New Roman"/>
                <a:ea typeface="Times New Roman"/>
                <a:cs typeface="Times New Roman"/>
              </a:rPr>
              <a:t>Predicted</a:t>
            </a:r>
          </a:p>
        </p:txBody>
      </p:sp>
      <p:sp>
        <p:nvSpPr>
          <p:cNvPr id="536" name="C0">
            <a:extLst>
              <a:ext uri="{FF2B5EF4-FFF2-40B4-BE49-F238E27FC236}">
                <a16:creationId xmlns:a16="http://schemas.microsoft.com/office/drawing/2014/main" id="{07246EBF-0104-4BDF-8DF9-11292B3AD2CC}"/>
              </a:ext>
            </a:extLst>
          </p:cNvPr>
          <p:cNvSpPr>
            <a:spLocks noGrp="1"/>
          </p:cNvSpPr>
          <p:nvPr/>
        </p:nvSpPr>
        <p:spPr>
          <a:xfrm>
            <a:off x="4905375" y="20574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37" name="C0">
            <a:extLst>
              <a:ext uri="{FF2B5EF4-FFF2-40B4-BE49-F238E27FC236}">
                <a16:creationId xmlns:a16="http://schemas.microsoft.com/office/drawing/2014/main" id="{B3C2D89F-FB6D-4B0C-9D31-7C7A8E4E40E8}"/>
              </a:ext>
            </a:extLst>
          </p:cNvPr>
          <p:cNvSpPr>
            <a:spLocks noGrp="1"/>
          </p:cNvSpPr>
          <p:nvPr/>
        </p:nvSpPr>
        <p:spPr>
          <a:xfrm>
            <a:off x="4191000" y="25050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38" name="C1">
            <a:extLst>
              <a:ext uri="{FF2B5EF4-FFF2-40B4-BE49-F238E27FC236}">
                <a16:creationId xmlns:a16="http://schemas.microsoft.com/office/drawing/2014/main" id="{1A8618B5-DC9C-4C64-BA37-E94DD3C5155C}"/>
              </a:ext>
            </a:extLst>
          </p:cNvPr>
          <p:cNvSpPr>
            <a:spLocks noGrp="1"/>
          </p:cNvSpPr>
          <p:nvPr/>
        </p:nvSpPr>
        <p:spPr>
          <a:xfrm>
            <a:off x="5667375" y="20574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39" name="C1">
            <a:extLst>
              <a:ext uri="{FF2B5EF4-FFF2-40B4-BE49-F238E27FC236}">
                <a16:creationId xmlns:a16="http://schemas.microsoft.com/office/drawing/2014/main" id="{31F065B0-2F03-4B1B-AEAB-C59EA9D68E9B}"/>
              </a:ext>
            </a:extLst>
          </p:cNvPr>
          <p:cNvSpPr>
            <a:spLocks noGrp="1"/>
          </p:cNvSpPr>
          <p:nvPr/>
        </p:nvSpPr>
        <p:spPr>
          <a:xfrm>
            <a:off x="4191000" y="32670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40" name="C2">
            <a:extLst>
              <a:ext uri="{FF2B5EF4-FFF2-40B4-BE49-F238E27FC236}">
                <a16:creationId xmlns:a16="http://schemas.microsoft.com/office/drawing/2014/main" id="{98965E40-FE3F-4FB5-A1B7-93FB623AF2A9}"/>
              </a:ext>
            </a:extLst>
          </p:cNvPr>
          <p:cNvSpPr>
            <a:spLocks noGrp="1"/>
          </p:cNvSpPr>
          <p:nvPr/>
        </p:nvSpPr>
        <p:spPr>
          <a:xfrm>
            <a:off x="6429375" y="20574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41" name="C2">
            <a:extLst>
              <a:ext uri="{FF2B5EF4-FFF2-40B4-BE49-F238E27FC236}">
                <a16:creationId xmlns:a16="http://schemas.microsoft.com/office/drawing/2014/main" id="{A40CCE50-33C6-4C28-9A46-1EBF78306FA1}"/>
              </a:ext>
            </a:extLst>
          </p:cNvPr>
          <p:cNvSpPr>
            <a:spLocks noGrp="1"/>
          </p:cNvSpPr>
          <p:nvPr/>
        </p:nvSpPr>
        <p:spPr>
          <a:xfrm>
            <a:off x="4191000" y="40290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42" name="C3">
            <a:extLst>
              <a:ext uri="{FF2B5EF4-FFF2-40B4-BE49-F238E27FC236}">
                <a16:creationId xmlns:a16="http://schemas.microsoft.com/office/drawing/2014/main" id="{2009D059-68DF-4218-84F8-7168945FCFA4}"/>
              </a:ext>
            </a:extLst>
          </p:cNvPr>
          <p:cNvSpPr>
            <a:spLocks noGrp="1"/>
          </p:cNvSpPr>
          <p:nvPr/>
        </p:nvSpPr>
        <p:spPr>
          <a:xfrm>
            <a:off x="7191375" y="20574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43" name="C3">
            <a:extLst>
              <a:ext uri="{FF2B5EF4-FFF2-40B4-BE49-F238E27FC236}">
                <a16:creationId xmlns:a16="http://schemas.microsoft.com/office/drawing/2014/main" id="{BA5E4CF7-1F18-4AD0-A4AD-8B5DAE527A4F}"/>
              </a:ext>
            </a:extLst>
          </p:cNvPr>
          <p:cNvSpPr>
            <a:spLocks noGrp="1"/>
          </p:cNvSpPr>
          <p:nvPr/>
        </p:nvSpPr>
        <p:spPr>
          <a:xfrm>
            <a:off x="4191000" y="47910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44" name="Rectangle 543">
            <a:extLst>
              <a:ext uri="{FF2B5EF4-FFF2-40B4-BE49-F238E27FC236}">
                <a16:creationId xmlns:a16="http://schemas.microsoft.com/office/drawing/2014/main" id="{4FB6B48F-D222-484B-8AF6-9351C9538DAA}"/>
              </a:ext>
            </a:extLst>
          </p:cNvPr>
          <p:cNvSpPr>
            <a:spLocks noGrp="1"/>
          </p:cNvSpPr>
          <p:nvPr/>
        </p:nvSpPr>
        <p:spPr>
          <a:xfrm>
            <a:off x="4810125" y="2428875"/>
            <a:ext cx="742950" cy="742950"/>
          </a:xfrm>
          <a:prstGeom prst="rect">
            <a:avLst/>
          </a:prstGeom>
          <a:solidFill>
            <a:srgbClr val="DBEAF7"/>
          </a:solidFill>
          <a:ln w="0">
            <a:noFill/>
          </a:ln>
        </p:spPr>
        <p:txBody>
          <a:bodyPr/>
          <a:lstStyle/>
          <a:p>
            <a:endParaRPr lang="en-US"/>
          </a:p>
        </p:txBody>
      </p:sp>
      <p:sp>
        <p:nvSpPr>
          <p:cNvPr id="545" name="0">
            <a:extLst>
              <a:ext uri="{FF2B5EF4-FFF2-40B4-BE49-F238E27FC236}">
                <a16:creationId xmlns:a16="http://schemas.microsoft.com/office/drawing/2014/main" id="{BEB97863-C6B2-4352-90DC-B098DEF43F81}"/>
              </a:ext>
            </a:extLst>
          </p:cNvPr>
          <p:cNvSpPr>
            <a:spLocks noGrp="1"/>
          </p:cNvSpPr>
          <p:nvPr/>
        </p:nvSpPr>
        <p:spPr>
          <a:xfrm>
            <a:off x="4819650" y="26384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0</a:t>
            </a:r>
          </a:p>
        </p:txBody>
      </p:sp>
      <p:sp>
        <p:nvSpPr>
          <p:cNvPr id="546" name="Rectangle 545">
            <a:extLst>
              <a:ext uri="{FF2B5EF4-FFF2-40B4-BE49-F238E27FC236}">
                <a16:creationId xmlns:a16="http://schemas.microsoft.com/office/drawing/2014/main" id="{98EC6AF7-6705-4008-9E89-7CF24C165B1A}"/>
              </a:ext>
            </a:extLst>
          </p:cNvPr>
          <p:cNvSpPr>
            <a:spLocks noGrp="1"/>
          </p:cNvSpPr>
          <p:nvPr/>
        </p:nvSpPr>
        <p:spPr>
          <a:xfrm>
            <a:off x="5572125" y="2428875"/>
            <a:ext cx="742950" cy="742950"/>
          </a:xfrm>
          <a:prstGeom prst="rect">
            <a:avLst/>
          </a:prstGeom>
          <a:solidFill>
            <a:srgbClr val="F2F2F2"/>
          </a:solidFill>
          <a:ln w="0">
            <a:noFill/>
          </a:ln>
        </p:spPr>
        <p:txBody>
          <a:bodyPr/>
          <a:lstStyle/>
          <a:p>
            <a:endParaRPr lang="en-US"/>
          </a:p>
        </p:txBody>
      </p:sp>
      <p:sp>
        <p:nvSpPr>
          <p:cNvPr id="547" name="236">
            <a:extLst>
              <a:ext uri="{FF2B5EF4-FFF2-40B4-BE49-F238E27FC236}">
                <a16:creationId xmlns:a16="http://schemas.microsoft.com/office/drawing/2014/main" id="{AEB433C8-154F-4CFE-9F26-DA975B2D8727}"/>
              </a:ext>
            </a:extLst>
          </p:cNvPr>
          <p:cNvSpPr>
            <a:spLocks noGrp="1"/>
          </p:cNvSpPr>
          <p:nvPr/>
        </p:nvSpPr>
        <p:spPr>
          <a:xfrm>
            <a:off x="5581650" y="26384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236</a:t>
            </a:r>
          </a:p>
        </p:txBody>
      </p:sp>
      <p:sp>
        <p:nvSpPr>
          <p:cNvPr id="548" name="Rectangle 547">
            <a:extLst>
              <a:ext uri="{FF2B5EF4-FFF2-40B4-BE49-F238E27FC236}">
                <a16:creationId xmlns:a16="http://schemas.microsoft.com/office/drawing/2014/main" id="{7D09E0DE-7A0F-4253-BD8C-EE2F188A2C7F}"/>
              </a:ext>
            </a:extLst>
          </p:cNvPr>
          <p:cNvSpPr>
            <a:spLocks noGrp="1"/>
          </p:cNvSpPr>
          <p:nvPr/>
        </p:nvSpPr>
        <p:spPr>
          <a:xfrm>
            <a:off x="6334125" y="2428875"/>
            <a:ext cx="742950" cy="742950"/>
          </a:xfrm>
          <a:prstGeom prst="rect">
            <a:avLst/>
          </a:prstGeom>
          <a:solidFill>
            <a:srgbClr val="F2F2F2"/>
          </a:solidFill>
          <a:ln w="0">
            <a:noFill/>
          </a:ln>
        </p:spPr>
        <p:txBody>
          <a:bodyPr/>
          <a:lstStyle/>
          <a:p>
            <a:endParaRPr lang="en-US"/>
          </a:p>
        </p:txBody>
      </p:sp>
      <p:sp>
        <p:nvSpPr>
          <p:cNvPr id="549" name="0">
            <a:extLst>
              <a:ext uri="{FF2B5EF4-FFF2-40B4-BE49-F238E27FC236}">
                <a16:creationId xmlns:a16="http://schemas.microsoft.com/office/drawing/2014/main" id="{D34AB242-61D4-4FB4-9B22-57586BE08B4F}"/>
              </a:ext>
            </a:extLst>
          </p:cNvPr>
          <p:cNvSpPr>
            <a:spLocks noGrp="1"/>
          </p:cNvSpPr>
          <p:nvPr/>
        </p:nvSpPr>
        <p:spPr>
          <a:xfrm>
            <a:off x="6343650" y="26384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0</a:t>
            </a:r>
          </a:p>
        </p:txBody>
      </p:sp>
      <p:sp>
        <p:nvSpPr>
          <p:cNvPr id="550" name="Rectangle 549">
            <a:extLst>
              <a:ext uri="{FF2B5EF4-FFF2-40B4-BE49-F238E27FC236}">
                <a16:creationId xmlns:a16="http://schemas.microsoft.com/office/drawing/2014/main" id="{6D890034-7D45-44BE-B780-1DF3BC6A4B66}"/>
              </a:ext>
            </a:extLst>
          </p:cNvPr>
          <p:cNvSpPr>
            <a:spLocks noGrp="1"/>
          </p:cNvSpPr>
          <p:nvPr/>
        </p:nvSpPr>
        <p:spPr>
          <a:xfrm>
            <a:off x="7096125" y="2428875"/>
            <a:ext cx="742950" cy="742950"/>
          </a:xfrm>
          <a:prstGeom prst="rect">
            <a:avLst/>
          </a:prstGeom>
          <a:solidFill>
            <a:srgbClr val="F2F2F2"/>
          </a:solidFill>
          <a:ln w="0">
            <a:noFill/>
          </a:ln>
        </p:spPr>
        <p:txBody>
          <a:bodyPr/>
          <a:lstStyle/>
          <a:p>
            <a:endParaRPr lang="en-US"/>
          </a:p>
        </p:txBody>
      </p:sp>
      <p:sp>
        <p:nvSpPr>
          <p:cNvPr id="551" name="0">
            <a:extLst>
              <a:ext uri="{FF2B5EF4-FFF2-40B4-BE49-F238E27FC236}">
                <a16:creationId xmlns:a16="http://schemas.microsoft.com/office/drawing/2014/main" id="{5779C272-4816-4953-A4E9-886B2A45C32D}"/>
              </a:ext>
            </a:extLst>
          </p:cNvPr>
          <p:cNvSpPr>
            <a:spLocks noGrp="1"/>
          </p:cNvSpPr>
          <p:nvPr/>
        </p:nvSpPr>
        <p:spPr>
          <a:xfrm>
            <a:off x="7105650" y="26384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0</a:t>
            </a:r>
          </a:p>
        </p:txBody>
      </p:sp>
      <p:sp>
        <p:nvSpPr>
          <p:cNvPr id="552" name="Rectangle 551">
            <a:extLst>
              <a:ext uri="{FF2B5EF4-FFF2-40B4-BE49-F238E27FC236}">
                <a16:creationId xmlns:a16="http://schemas.microsoft.com/office/drawing/2014/main" id="{F8C08E2E-C4CA-4816-8EBE-D29F48F717A3}"/>
              </a:ext>
            </a:extLst>
          </p:cNvPr>
          <p:cNvSpPr>
            <a:spLocks noGrp="1"/>
          </p:cNvSpPr>
          <p:nvPr/>
        </p:nvSpPr>
        <p:spPr>
          <a:xfrm>
            <a:off x="4810125" y="3190875"/>
            <a:ext cx="742950" cy="742950"/>
          </a:xfrm>
          <a:prstGeom prst="rect">
            <a:avLst/>
          </a:prstGeom>
          <a:solidFill>
            <a:srgbClr val="F2F2F2"/>
          </a:solidFill>
          <a:ln w="0">
            <a:noFill/>
          </a:ln>
        </p:spPr>
        <p:txBody>
          <a:bodyPr/>
          <a:lstStyle/>
          <a:p>
            <a:endParaRPr lang="en-US"/>
          </a:p>
        </p:txBody>
      </p:sp>
      <p:sp>
        <p:nvSpPr>
          <p:cNvPr id="553" name="0">
            <a:extLst>
              <a:ext uri="{FF2B5EF4-FFF2-40B4-BE49-F238E27FC236}">
                <a16:creationId xmlns:a16="http://schemas.microsoft.com/office/drawing/2014/main" id="{960A7BAD-A9D6-49E1-A917-1EEB6CC6F643}"/>
              </a:ext>
            </a:extLst>
          </p:cNvPr>
          <p:cNvSpPr>
            <a:spLocks noGrp="1"/>
          </p:cNvSpPr>
          <p:nvPr/>
        </p:nvSpPr>
        <p:spPr>
          <a:xfrm>
            <a:off x="4819650" y="34004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0</a:t>
            </a:r>
          </a:p>
        </p:txBody>
      </p:sp>
      <p:sp>
        <p:nvSpPr>
          <p:cNvPr id="554" name="Rectangle 553">
            <a:extLst>
              <a:ext uri="{FF2B5EF4-FFF2-40B4-BE49-F238E27FC236}">
                <a16:creationId xmlns:a16="http://schemas.microsoft.com/office/drawing/2014/main" id="{7233C520-BC2E-44A3-BC4E-1A474CA92857}"/>
              </a:ext>
            </a:extLst>
          </p:cNvPr>
          <p:cNvSpPr>
            <a:spLocks noGrp="1"/>
          </p:cNvSpPr>
          <p:nvPr/>
        </p:nvSpPr>
        <p:spPr>
          <a:xfrm>
            <a:off x="5572125" y="3190875"/>
            <a:ext cx="742950" cy="742950"/>
          </a:xfrm>
          <a:prstGeom prst="rect">
            <a:avLst/>
          </a:prstGeom>
          <a:solidFill>
            <a:srgbClr val="DBEAF7"/>
          </a:solidFill>
          <a:ln w="0">
            <a:noFill/>
          </a:ln>
        </p:spPr>
        <p:txBody>
          <a:bodyPr/>
          <a:lstStyle/>
          <a:p>
            <a:endParaRPr lang="en-US"/>
          </a:p>
        </p:txBody>
      </p:sp>
      <p:sp>
        <p:nvSpPr>
          <p:cNvPr id="555" name="320">
            <a:extLst>
              <a:ext uri="{FF2B5EF4-FFF2-40B4-BE49-F238E27FC236}">
                <a16:creationId xmlns:a16="http://schemas.microsoft.com/office/drawing/2014/main" id="{6B04052B-7248-4C8A-B669-0BABFB1FE32B}"/>
              </a:ext>
            </a:extLst>
          </p:cNvPr>
          <p:cNvSpPr>
            <a:spLocks noGrp="1"/>
          </p:cNvSpPr>
          <p:nvPr/>
        </p:nvSpPr>
        <p:spPr>
          <a:xfrm>
            <a:off x="5581650" y="34004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320</a:t>
            </a:r>
          </a:p>
        </p:txBody>
      </p:sp>
      <p:sp>
        <p:nvSpPr>
          <p:cNvPr id="556" name="Rectangle 555">
            <a:extLst>
              <a:ext uri="{FF2B5EF4-FFF2-40B4-BE49-F238E27FC236}">
                <a16:creationId xmlns:a16="http://schemas.microsoft.com/office/drawing/2014/main" id="{DD61A0AA-9D5F-47C3-AEA9-62D1101B836A}"/>
              </a:ext>
            </a:extLst>
          </p:cNvPr>
          <p:cNvSpPr>
            <a:spLocks noGrp="1"/>
          </p:cNvSpPr>
          <p:nvPr/>
        </p:nvSpPr>
        <p:spPr>
          <a:xfrm>
            <a:off x="6334125" y="3190875"/>
            <a:ext cx="742950" cy="742950"/>
          </a:xfrm>
          <a:prstGeom prst="rect">
            <a:avLst/>
          </a:prstGeom>
          <a:solidFill>
            <a:srgbClr val="F2F2F2"/>
          </a:solidFill>
          <a:ln w="0">
            <a:noFill/>
          </a:ln>
        </p:spPr>
        <p:txBody>
          <a:bodyPr/>
          <a:lstStyle/>
          <a:p>
            <a:endParaRPr lang="en-US"/>
          </a:p>
        </p:txBody>
      </p:sp>
      <p:sp>
        <p:nvSpPr>
          <p:cNvPr id="557" name="0">
            <a:extLst>
              <a:ext uri="{FF2B5EF4-FFF2-40B4-BE49-F238E27FC236}">
                <a16:creationId xmlns:a16="http://schemas.microsoft.com/office/drawing/2014/main" id="{D4FE36AB-BFF5-42C2-9250-4C05B90E9E71}"/>
              </a:ext>
            </a:extLst>
          </p:cNvPr>
          <p:cNvSpPr>
            <a:spLocks noGrp="1"/>
          </p:cNvSpPr>
          <p:nvPr/>
        </p:nvSpPr>
        <p:spPr>
          <a:xfrm>
            <a:off x="6343650" y="34004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0</a:t>
            </a:r>
          </a:p>
        </p:txBody>
      </p:sp>
      <p:sp>
        <p:nvSpPr>
          <p:cNvPr id="558" name="Rectangle 557">
            <a:extLst>
              <a:ext uri="{FF2B5EF4-FFF2-40B4-BE49-F238E27FC236}">
                <a16:creationId xmlns:a16="http://schemas.microsoft.com/office/drawing/2014/main" id="{77921D74-1E82-41BA-BCE0-CCB727F0B0DF}"/>
              </a:ext>
            </a:extLst>
          </p:cNvPr>
          <p:cNvSpPr>
            <a:spLocks noGrp="1"/>
          </p:cNvSpPr>
          <p:nvPr/>
        </p:nvSpPr>
        <p:spPr>
          <a:xfrm>
            <a:off x="7096125" y="3190875"/>
            <a:ext cx="742950" cy="742950"/>
          </a:xfrm>
          <a:prstGeom prst="rect">
            <a:avLst/>
          </a:prstGeom>
          <a:solidFill>
            <a:srgbClr val="F2F2F2"/>
          </a:solidFill>
          <a:ln w="0">
            <a:noFill/>
          </a:ln>
        </p:spPr>
        <p:txBody>
          <a:bodyPr/>
          <a:lstStyle/>
          <a:p>
            <a:endParaRPr lang="en-US"/>
          </a:p>
        </p:txBody>
      </p:sp>
      <p:sp>
        <p:nvSpPr>
          <p:cNvPr id="559" name="0">
            <a:extLst>
              <a:ext uri="{FF2B5EF4-FFF2-40B4-BE49-F238E27FC236}">
                <a16:creationId xmlns:a16="http://schemas.microsoft.com/office/drawing/2014/main" id="{C80A41A3-854F-4E13-B229-701DC2195713}"/>
              </a:ext>
            </a:extLst>
          </p:cNvPr>
          <p:cNvSpPr>
            <a:spLocks noGrp="1"/>
          </p:cNvSpPr>
          <p:nvPr/>
        </p:nvSpPr>
        <p:spPr>
          <a:xfrm>
            <a:off x="7105650" y="34004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0</a:t>
            </a:r>
          </a:p>
        </p:txBody>
      </p:sp>
      <p:sp>
        <p:nvSpPr>
          <p:cNvPr id="560" name="Rectangle 559">
            <a:extLst>
              <a:ext uri="{FF2B5EF4-FFF2-40B4-BE49-F238E27FC236}">
                <a16:creationId xmlns:a16="http://schemas.microsoft.com/office/drawing/2014/main" id="{0F7B1BE1-2432-4D44-959C-FE71280AB454}"/>
              </a:ext>
            </a:extLst>
          </p:cNvPr>
          <p:cNvSpPr>
            <a:spLocks noGrp="1"/>
          </p:cNvSpPr>
          <p:nvPr/>
        </p:nvSpPr>
        <p:spPr>
          <a:xfrm>
            <a:off x="4810125" y="3952875"/>
            <a:ext cx="742950" cy="742950"/>
          </a:xfrm>
          <a:prstGeom prst="rect">
            <a:avLst/>
          </a:prstGeom>
          <a:solidFill>
            <a:srgbClr val="F2F2F2"/>
          </a:solidFill>
          <a:ln w="0">
            <a:noFill/>
          </a:ln>
        </p:spPr>
        <p:txBody>
          <a:bodyPr/>
          <a:lstStyle/>
          <a:p>
            <a:endParaRPr lang="en-US"/>
          </a:p>
        </p:txBody>
      </p:sp>
      <p:sp>
        <p:nvSpPr>
          <p:cNvPr id="561" name="0">
            <a:extLst>
              <a:ext uri="{FF2B5EF4-FFF2-40B4-BE49-F238E27FC236}">
                <a16:creationId xmlns:a16="http://schemas.microsoft.com/office/drawing/2014/main" id="{733FE4D6-381B-4000-B226-A8C35BB2754A}"/>
              </a:ext>
            </a:extLst>
          </p:cNvPr>
          <p:cNvSpPr>
            <a:spLocks noGrp="1"/>
          </p:cNvSpPr>
          <p:nvPr/>
        </p:nvSpPr>
        <p:spPr>
          <a:xfrm>
            <a:off x="4819650" y="41624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0</a:t>
            </a:r>
          </a:p>
        </p:txBody>
      </p:sp>
      <p:sp>
        <p:nvSpPr>
          <p:cNvPr id="562" name="Rectangle 561">
            <a:extLst>
              <a:ext uri="{FF2B5EF4-FFF2-40B4-BE49-F238E27FC236}">
                <a16:creationId xmlns:a16="http://schemas.microsoft.com/office/drawing/2014/main" id="{E0299D2F-06D0-4E3F-8D71-FC0A3C6B3FAA}"/>
              </a:ext>
            </a:extLst>
          </p:cNvPr>
          <p:cNvSpPr>
            <a:spLocks noGrp="1"/>
          </p:cNvSpPr>
          <p:nvPr/>
        </p:nvSpPr>
        <p:spPr>
          <a:xfrm>
            <a:off x="5572125" y="3952875"/>
            <a:ext cx="742950" cy="742950"/>
          </a:xfrm>
          <a:prstGeom prst="rect">
            <a:avLst/>
          </a:prstGeom>
          <a:solidFill>
            <a:srgbClr val="F2F2F2"/>
          </a:solidFill>
          <a:ln w="0">
            <a:noFill/>
          </a:ln>
        </p:spPr>
        <p:txBody>
          <a:bodyPr/>
          <a:lstStyle/>
          <a:p>
            <a:endParaRPr lang="en-US"/>
          </a:p>
        </p:txBody>
      </p:sp>
      <p:sp>
        <p:nvSpPr>
          <p:cNvPr id="563" name="300">
            <a:extLst>
              <a:ext uri="{FF2B5EF4-FFF2-40B4-BE49-F238E27FC236}">
                <a16:creationId xmlns:a16="http://schemas.microsoft.com/office/drawing/2014/main" id="{AF7A8122-7E14-47B5-BDCC-205F69A43286}"/>
              </a:ext>
            </a:extLst>
          </p:cNvPr>
          <p:cNvSpPr>
            <a:spLocks noGrp="1"/>
          </p:cNvSpPr>
          <p:nvPr/>
        </p:nvSpPr>
        <p:spPr>
          <a:xfrm>
            <a:off x="5581650" y="41624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300</a:t>
            </a:r>
          </a:p>
        </p:txBody>
      </p:sp>
      <p:sp>
        <p:nvSpPr>
          <p:cNvPr id="564" name="Rectangle 563">
            <a:extLst>
              <a:ext uri="{FF2B5EF4-FFF2-40B4-BE49-F238E27FC236}">
                <a16:creationId xmlns:a16="http://schemas.microsoft.com/office/drawing/2014/main" id="{1CC29FBA-90D7-47F7-AA50-63E22ADE8A34}"/>
              </a:ext>
            </a:extLst>
          </p:cNvPr>
          <p:cNvSpPr>
            <a:spLocks noGrp="1"/>
          </p:cNvSpPr>
          <p:nvPr/>
        </p:nvSpPr>
        <p:spPr>
          <a:xfrm>
            <a:off x="6334125" y="3952875"/>
            <a:ext cx="742950" cy="742950"/>
          </a:xfrm>
          <a:prstGeom prst="rect">
            <a:avLst/>
          </a:prstGeom>
          <a:solidFill>
            <a:srgbClr val="DBEAF7"/>
          </a:solidFill>
          <a:ln w="0">
            <a:noFill/>
          </a:ln>
        </p:spPr>
        <p:txBody>
          <a:bodyPr/>
          <a:lstStyle/>
          <a:p>
            <a:endParaRPr lang="en-US"/>
          </a:p>
        </p:txBody>
      </p:sp>
      <p:sp>
        <p:nvSpPr>
          <p:cNvPr id="565" name="0">
            <a:extLst>
              <a:ext uri="{FF2B5EF4-FFF2-40B4-BE49-F238E27FC236}">
                <a16:creationId xmlns:a16="http://schemas.microsoft.com/office/drawing/2014/main" id="{57B6D371-4B11-45CC-8293-7E0018EE8A50}"/>
              </a:ext>
            </a:extLst>
          </p:cNvPr>
          <p:cNvSpPr>
            <a:spLocks noGrp="1"/>
          </p:cNvSpPr>
          <p:nvPr/>
        </p:nvSpPr>
        <p:spPr>
          <a:xfrm>
            <a:off x="6343650" y="41624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0</a:t>
            </a:r>
          </a:p>
        </p:txBody>
      </p:sp>
      <p:sp>
        <p:nvSpPr>
          <p:cNvPr id="566" name="Rectangle 565">
            <a:extLst>
              <a:ext uri="{FF2B5EF4-FFF2-40B4-BE49-F238E27FC236}">
                <a16:creationId xmlns:a16="http://schemas.microsoft.com/office/drawing/2014/main" id="{8A1EB812-FAB7-4EBE-BC17-2FE25A913233}"/>
              </a:ext>
            </a:extLst>
          </p:cNvPr>
          <p:cNvSpPr>
            <a:spLocks noGrp="1"/>
          </p:cNvSpPr>
          <p:nvPr/>
        </p:nvSpPr>
        <p:spPr>
          <a:xfrm>
            <a:off x="7096125" y="3952875"/>
            <a:ext cx="742950" cy="742950"/>
          </a:xfrm>
          <a:prstGeom prst="rect">
            <a:avLst/>
          </a:prstGeom>
          <a:solidFill>
            <a:srgbClr val="F2F2F2"/>
          </a:solidFill>
          <a:ln w="0">
            <a:noFill/>
          </a:ln>
        </p:spPr>
        <p:txBody>
          <a:bodyPr/>
          <a:lstStyle/>
          <a:p>
            <a:endParaRPr lang="en-US"/>
          </a:p>
        </p:txBody>
      </p:sp>
      <p:sp>
        <p:nvSpPr>
          <p:cNvPr id="567" name="0">
            <a:extLst>
              <a:ext uri="{FF2B5EF4-FFF2-40B4-BE49-F238E27FC236}">
                <a16:creationId xmlns:a16="http://schemas.microsoft.com/office/drawing/2014/main" id="{C45F4788-67BE-4E39-8961-02E01F1C9F51}"/>
              </a:ext>
            </a:extLst>
          </p:cNvPr>
          <p:cNvSpPr>
            <a:spLocks noGrp="1"/>
          </p:cNvSpPr>
          <p:nvPr/>
        </p:nvSpPr>
        <p:spPr>
          <a:xfrm>
            <a:off x="7105650" y="41624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0</a:t>
            </a:r>
          </a:p>
        </p:txBody>
      </p:sp>
      <p:sp>
        <p:nvSpPr>
          <p:cNvPr id="568" name="Rectangle 567">
            <a:extLst>
              <a:ext uri="{FF2B5EF4-FFF2-40B4-BE49-F238E27FC236}">
                <a16:creationId xmlns:a16="http://schemas.microsoft.com/office/drawing/2014/main" id="{01D06860-CDA5-47C0-B0AB-80829FCE7AFC}"/>
              </a:ext>
            </a:extLst>
          </p:cNvPr>
          <p:cNvSpPr>
            <a:spLocks noGrp="1"/>
          </p:cNvSpPr>
          <p:nvPr/>
        </p:nvSpPr>
        <p:spPr>
          <a:xfrm>
            <a:off x="4810125" y="4714875"/>
            <a:ext cx="742950" cy="742950"/>
          </a:xfrm>
          <a:prstGeom prst="rect">
            <a:avLst/>
          </a:prstGeom>
          <a:solidFill>
            <a:srgbClr val="F2F2F2"/>
          </a:solidFill>
          <a:ln w="0">
            <a:noFill/>
          </a:ln>
        </p:spPr>
        <p:txBody>
          <a:bodyPr/>
          <a:lstStyle/>
          <a:p>
            <a:endParaRPr lang="en-US"/>
          </a:p>
        </p:txBody>
      </p:sp>
      <p:sp>
        <p:nvSpPr>
          <p:cNvPr id="569" name="0">
            <a:extLst>
              <a:ext uri="{FF2B5EF4-FFF2-40B4-BE49-F238E27FC236}">
                <a16:creationId xmlns:a16="http://schemas.microsoft.com/office/drawing/2014/main" id="{FD09B39A-5BD1-4850-8B15-C28501061ED3}"/>
              </a:ext>
            </a:extLst>
          </p:cNvPr>
          <p:cNvSpPr>
            <a:spLocks noGrp="1"/>
          </p:cNvSpPr>
          <p:nvPr/>
        </p:nvSpPr>
        <p:spPr>
          <a:xfrm>
            <a:off x="4819650" y="49244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0</a:t>
            </a:r>
          </a:p>
        </p:txBody>
      </p:sp>
      <p:sp>
        <p:nvSpPr>
          <p:cNvPr id="570" name="Rectangle 569">
            <a:extLst>
              <a:ext uri="{FF2B5EF4-FFF2-40B4-BE49-F238E27FC236}">
                <a16:creationId xmlns:a16="http://schemas.microsoft.com/office/drawing/2014/main" id="{0EFFAB73-0AF2-4991-B1F1-5F2EF8AFAC72}"/>
              </a:ext>
            </a:extLst>
          </p:cNvPr>
          <p:cNvSpPr>
            <a:spLocks noGrp="1"/>
          </p:cNvSpPr>
          <p:nvPr/>
        </p:nvSpPr>
        <p:spPr>
          <a:xfrm>
            <a:off x="5572125" y="4714875"/>
            <a:ext cx="742950" cy="742950"/>
          </a:xfrm>
          <a:prstGeom prst="rect">
            <a:avLst/>
          </a:prstGeom>
          <a:solidFill>
            <a:srgbClr val="F2F2F2"/>
          </a:solidFill>
          <a:ln w="0">
            <a:noFill/>
          </a:ln>
        </p:spPr>
        <p:txBody>
          <a:bodyPr/>
          <a:lstStyle/>
          <a:p>
            <a:endParaRPr lang="en-US"/>
          </a:p>
        </p:txBody>
      </p:sp>
      <p:sp>
        <p:nvSpPr>
          <p:cNvPr id="571" name="246">
            <a:extLst>
              <a:ext uri="{FF2B5EF4-FFF2-40B4-BE49-F238E27FC236}">
                <a16:creationId xmlns:a16="http://schemas.microsoft.com/office/drawing/2014/main" id="{DA9D9DA0-42DA-4F67-BE67-C66C6BCC0DFB}"/>
              </a:ext>
            </a:extLst>
          </p:cNvPr>
          <p:cNvSpPr>
            <a:spLocks noGrp="1"/>
          </p:cNvSpPr>
          <p:nvPr/>
        </p:nvSpPr>
        <p:spPr>
          <a:xfrm>
            <a:off x="5581650" y="49244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246</a:t>
            </a:r>
          </a:p>
        </p:txBody>
      </p:sp>
      <p:sp>
        <p:nvSpPr>
          <p:cNvPr id="572" name="Rectangle 571">
            <a:extLst>
              <a:ext uri="{FF2B5EF4-FFF2-40B4-BE49-F238E27FC236}">
                <a16:creationId xmlns:a16="http://schemas.microsoft.com/office/drawing/2014/main" id="{B070DC3E-0ADF-4BD1-AFC9-BD7BEF0B5379}"/>
              </a:ext>
            </a:extLst>
          </p:cNvPr>
          <p:cNvSpPr>
            <a:spLocks noGrp="1"/>
          </p:cNvSpPr>
          <p:nvPr/>
        </p:nvSpPr>
        <p:spPr>
          <a:xfrm>
            <a:off x="6334125" y="4714875"/>
            <a:ext cx="742950" cy="742950"/>
          </a:xfrm>
          <a:prstGeom prst="rect">
            <a:avLst/>
          </a:prstGeom>
          <a:solidFill>
            <a:srgbClr val="F2F2F2"/>
          </a:solidFill>
          <a:ln w="0">
            <a:noFill/>
          </a:ln>
        </p:spPr>
        <p:txBody>
          <a:bodyPr/>
          <a:lstStyle/>
          <a:p>
            <a:endParaRPr lang="en-US"/>
          </a:p>
        </p:txBody>
      </p:sp>
      <p:sp>
        <p:nvSpPr>
          <p:cNvPr id="573" name="0">
            <a:extLst>
              <a:ext uri="{FF2B5EF4-FFF2-40B4-BE49-F238E27FC236}">
                <a16:creationId xmlns:a16="http://schemas.microsoft.com/office/drawing/2014/main" id="{1DC09590-FFB5-4C31-A5D3-21599A5C5133}"/>
              </a:ext>
            </a:extLst>
          </p:cNvPr>
          <p:cNvSpPr>
            <a:spLocks noGrp="1"/>
          </p:cNvSpPr>
          <p:nvPr/>
        </p:nvSpPr>
        <p:spPr>
          <a:xfrm>
            <a:off x="6343650" y="49244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0</a:t>
            </a:r>
          </a:p>
        </p:txBody>
      </p:sp>
      <p:sp>
        <p:nvSpPr>
          <p:cNvPr id="574" name="Rectangle 573">
            <a:extLst>
              <a:ext uri="{FF2B5EF4-FFF2-40B4-BE49-F238E27FC236}">
                <a16:creationId xmlns:a16="http://schemas.microsoft.com/office/drawing/2014/main" id="{0E6329F2-20F4-498A-A91A-36C2AF1BEFCD}"/>
              </a:ext>
            </a:extLst>
          </p:cNvPr>
          <p:cNvSpPr>
            <a:spLocks noGrp="1"/>
          </p:cNvSpPr>
          <p:nvPr/>
        </p:nvSpPr>
        <p:spPr>
          <a:xfrm>
            <a:off x="7096125" y="4714875"/>
            <a:ext cx="742950" cy="742950"/>
          </a:xfrm>
          <a:prstGeom prst="rect">
            <a:avLst/>
          </a:prstGeom>
          <a:solidFill>
            <a:srgbClr val="DBEAF7"/>
          </a:solidFill>
          <a:ln w="0">
            <a:noFill/>
          </a:ln>
        </p:spPr>
        <p:txBody>
          <a:bodyPr/>
          <a:lstStyle/>
          <a:p>
            <a:endParaRPr lang="en-US"/>
          </a:p>
        </p:txBody>
      </p:sp>
      <p:sp>
        <p:nvSpPr>
          <p:cNvPr id="575" name="0">
            <a:extLst>
              <a:ext uri="{FF2B5EF4-FFF2-40B4-BE49-F238E27FC236}">
                <a16:creationId xmlns:a16="http://schemas.microsoft.com/office/drawing/2014/main" id="{860C7F2A-8EB9-4B07-817A-1C4F0A59BA02}"/>
              </a:ext>
            </a:extLst>
          </p:cNvPr>
          <p:cNvSpPr>
            <a:spLocks noGrp="1"/>
          </p:cNvSpPr>
          <p:nvPr/>
        </p:nvSpPr>
        <p:spPr>
          <a:xfrm>
            <a:off x="7105650" y="49244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0</a:t>
            </a:r>
          </a:p>
        </p:txBody>
      </p:sp>
      <p:sp>
        <p:nvSpPr>
          <p:cNvPr id="576" name="Always predicts C1">
            <a:extLst>
              <a:ext uri="{FF2B5EF4-FFF2-40B4-BE49-F238E27FC236}">
                <a16:creationId xmlns:a16="http://schemas.microsoft.com/office/drawing/2014/main" id="{C811BBA3-E17E-46FE-9908-31DF4A14D234}"/>
              </a:ext>
            </a:extLst>
          </p:cNvPr>
          <p:cNvSpPr>
            <a:spLocks noGrp="1"/>
          </p:cNvSpPr>
          <p:nvPr/>
        </p:nvSpPr>
        <p:spPr>
          <a:xfrm>
            <a:off x="400050" y="2190750"/>
            <a:ext cx="3286125" cy="1000125"/>
          </a:xfrm>
          <a:prstGeom prst="rect">
            <a:avLst/>
          </a:prstGeom>
          <a:noFill/>
          <a:ln w="0">
            <a:noFill/>
          </a:ln>
        </p:spPr>
        <p:txBody>
          <a:bodyPr anchor="t">
            <a:noAutofit/>
          </a:bodyPr>
          <a:lstStyle/>
          <a:p>
            <a:pPr>
              <a:defRPr sz="3150" b="0">
                <a:solidFill>
                  <a:srgbClr val="121212"/>
                </a:solidFill>
                <a:latin typeface="Times New Roman"/>
                <a:ea typeface="Times New Roman"/>
                <a:cs typeface="Times New Roman"/>
              </a:defRPr>
            </a:pPr>
            <a:r>
              <a:rPr sz="3150" b="0">
                <a:solidFill>
                  <a:srgbClr val="121212"/>
                </a:solidFill>
                <a:latin typeface="Times New Roman"/>
                <a:ea typeface="Times New Roman"/>
                <a:cs typeface="Times New Roman"/>
              </a:rPr>
              <a:t>Always predicts C1</a:t>
            </a:r>
          </a:p>
        </p:txBody>
      </p:sp>
      <p:sp>
        <p:nvSpPr>
          <p:cNvPr id="577" name="Every prediction falls&#10;in one column.">
            <a:extLst>
              <a:ext uri="{FF2B5EF4-FFF2-40B4-BE49-F238E27FC236}">
                <a16:creationId xmlns:a16="http://schemas.microsoft.com/office/drawing/2014/main" id="{DE86C585-6927-47EB-9005-6B746C1091C4}"/>
              </a:ext>
            </a:extLst>
          </p:cNvPr>
          <p:cNvSpPr>
            <a:spLocks noGrp="1"/>
          </p:cNvSpPr>
          <p:nvPr/>
        </p:nvSpPr>
        <p:spPr>
          <a:xfrm>
            <a:off x="400050" y="3581400"/>
            <a:ext cx="3190875" cy="1000125"/>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Every prediction falls</a:t>
            </a:r>
          </a:p>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in one column.</a:t>
            </a:r>
          </a:p>
        </p:txBody>
      </p:sp>
      <p:sp>
        <p:nvSpPr>
          <p:cNvPr id="578" name="WEKA ZeroR, main CGPA, 10-fold CV, N = 1,102. Accuracy ">
            <a:extLst>
              <a:ext uri="{FF2B5EF4-FFF2-40B4-BE49-F238E27FC236}">
                <a16:creationId xmlns:a16="http://schemas.microsoft.com/office/drawing/2014/main" id="{4305A702-3325-4FE0-A628-7F56BED23F7C}"/>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WEKA ZeroR, main CGPA, 10-fold CV, N = 1,102. Accuracy = 29.04%.</a:t>
            </a:r>
          </a:p>
        </p:txBody>
      </p:sp>
    </p:spTree>
    <p:extLst>
      <p:ext uri="{BB962C8B-B14F-4D97-AF65-F5344CB8AC3E}">
        <p14:creationId xmlns:p14="http://schemas.microsoft.com/office/powerpoint/2010/main" val="6987725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43</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WEKA main CGPA accuracy: 10-fold CV</a:t>
            </a:r>
          </a:p>
        </p:txBody>
      </p:sp>
      <p:graphicFrame>
        <p:nvGraphicFramePr>
          <p:cNvPr id="539" name="Chart"/>
          <p:cNvGraphicFramePr/>
          <p:nvPr/>
        </p:nvGraphicFramePr>
        <p:xfrm>
          <a:off x="857250" y="1524000"/>
          <a:ext cx="10763250" cy="4286250"/>
        </p:xfrm>
        <a:graphic>
          <a:graphicData uri="http://schemas.openxmlformats.org/drawingml/2006/chart">
            <c:chart xmlns:c="http://schemas.openxmlformats.org/drawingml/2006/chart" xmlns:r="http://schemas.openxmlformats.org/officeDocument/2006/relationships" r:id="rId3"/>
          </a:graphicData>
        </a:graphic>
      </p:graphicFrame>
      <p:sp>
        <p:nvSpPr>
          <p:cNvPr id="535" name="WEKA 3.8.7, stratified 10-fold CV, seed 1. Same 1,102 r">
            <a:extLst>
              <a:ext uri="{FF2B5EF4-FFF2-40B4-BE49-F238E27FC236}">
                <a16:creationId xmlns:a16="http://schemas.microsoft.com/office/drawing/2014/main" id="{78BFE0E2-C5FA-4554-A017-2271F9AC4AD2}"/>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WEKA 3.8.7, stratified 10-fold CV, seed 1. Same 1,102 records and main CGPA inputs.</a:t>
            </a:r>
          </a:p>
        </p:txBody>
      </p:sp>
    </p:spTree>
    <p:extLst>
      <p:ext uri="{BB962C8B-B14F-4D97-AF65-F5344CB8AC3E}">
        <p14:creationId xmlns:p14="http://schemas.microsoft.com/office/powerpoint/2010/main" val="246357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45</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Previous studies and models</a:t>
            </a:r>
          </a:p>
        </p:txBody>
      </p:sp>
      <p:graphicFrame>
        <p:nvGraphicFramePr>
          <p:cNvPr id="539" name="Table 538"/>
          <p:cNvGraphicFramePr/>
          <p:nvPr/>
        </p:nvGraphicFramePr>
        <p:xfrm>
          <a:off x="400050" y="1685925"/>
          <a:ext cx="11391900" cy="3705224"/>
        </p:xfrm>
        <a:graphic>
          <a:graphicData uri="http://schemas.openxmlformats.org/drawingml/2006/table">
            <a:tbl>
              <a:tblPr/>
              <a:tblGrid>
                <a:gridCol w="2381250">
                  <a:extLst>
                    <a:ext uri="{9D8B030D-6E8A-4147-A177-3AD203B41FA5}">
                      <a16:colId xmlns:a16="http://schemas.microsoft.com/office/drawing/2014/main" val="20000"/>
                    </a:ext>
                  </a:extLst>
                </a:gridCol>
                <a:gridCol w="2809875">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gridCol w="2962275">
                  <a:extLst>
                    <a:ext uri="{9D8B030D-6E8A-4147-A177-3AD203B41FA5}">
                      <a16:colId xmlns:a16="http://schemas.microsoft.com/office/drawing/2014/main" val="20003"/>
                    </a:ext>
                  </a:extLst>
                </a:gridCol>
              </a:tblGrid>
              <a:tr h="926306">
                <a:tc>
                  <a:txBody>
                    <a:bodyPr/>
                    <a:lstStyle/>
                    <a:p>
                      <a:r>
                        <a:rPr sz="1800" b="1">
                          <a:solidFill>
                            <a:srgbClr val="121212"/>
                          </a:solidFill>
                          <a:latin typeface="Times New Roman"/>
                          <a:ea typeface="Times New Roman"/>
                          <a:cs typeface="Times New Roman"/>
                        </a:rPr>
                        <a:t>Study</a:t>
                      </a:r>
                    </a:p>
                  </a:txBody>
                  <a:tcPr>
                    <a:solidFill>
                      <a:srgbClr val="EEEEEE"/>
                    </a:solidFill>
                  </a:tcPr>
                </a:tc>
                <a:tc>
                  <a:txBody>
                    <a:bodyPr/>
                    <a:lstStyle/>
                    <a:p>
                      <a:r>
                        <a:rPr sz="1800" b="1">
                          <a:solidFill>
                            <a:srgbClr val="121212"/>
                          </a:solidFill>
                          <a:latin typeface="Times New Roman"/>
                          <a:ea typeface="Times New Roman"/>
                          <a:cs typeface="Times New Roman"/>
                        </a:rPr>
                        <a:t>Target / population</a:t>
                      </a:r>
                    </a:p>
                  </a:txBody>
                  <a:tcPr>
                    <a:solidFill>
                      <a:srgbClr val="EEEEEE"/>
                    </a:solidFill>
                  </a:tcPr>
                </a:tc>
                <a:tc>
                  <a:txBody>
                    <a:bodyPr/>
                    <a:lstStyle/>
                    <a:p>
                      <a:r>
                        <a:rPr sz="1800" b="1">
                          <a:solidFill>
                            <a:srgbClr val="121212"/>
                          </a:solidFill>
                          <a:latin typeface="Times New Roman"/>
                          <a:ea typeface="Times New Roman"/>
                          <a:cs typeface="Times New Roman"/>
                        </a:rPr>
                        <a:t>Models</a:t>
                      </a:r>
                    </a:p>
                  </a:txBody>
                  <a:tcPr>
                    <a:solidFill>
                      <a:srgbClr val="EEEEEE"/>
                    </a:solidFill>
                  </a:tcPr>
                </a:tc>
                <a:tc>
                  <a:txBody>
                    <a:bodyPr/>
                    <a:lstStyle/>
                    <a:p>
                      <a:r>
                        <a:rPr sz="1800" b="1">
                          <a:solidFill>
                            <a:srgbClr val="121212"/>
                          </a:solidFill>
                          <a:latin typeface="Times New Roman"/>
                          <a:ea typeface="Times New Roman"/>
                          <a:cs typeface="Times New Roman"/>
                        </a:rPr>
                        <a:t>Reported result</a:t>
                      </a:r>
                    </a:p>
                  </a:txBody>
                  <a:tcPr>
                    <a:solidFill>
                      <a:srgbClr val="EEEEEE"/>
                    </a:solidFill>
                  </a:tcPr>
                </a:tc>
                <a:extLst>
                  <a:ext uri="{0D108BD9-81ED-4DB2-BD59-A6C34878D82A}">
                    <a16:rowId xmlns:a16="http://schemas.microsoft.com/office/drawing/2014/main" val="10000"/>
                  </a:ext>
                </a:extLst>
              </a:tr>
              <a:tr h="926306">
                <a:tc>
                  <a:txBody>
                    <a:bodyPr/>
                    <a:lstStyle/>
                    <a:p>
                      <a:r>
                        <a:rPr sz="1800" b="0">
                          <a:solidFill>
                            <a:srgbClr val="121212"/>
                          </a:solidFill>
                          <a:latin typeface="Times New Roman"/>
                          <a:ea typeface="Times New Roman"/>
                          <a:cs typeface="Times New Roman"/>
                        </a:rPr>
                        <a:t>Ahmed (2024)</a:t>
                      </a:r>
                    </a:p>
                  </a:txBody>
                  <a:tcPr>
                    <a:solidFill>
                      <a:srgbClr val="FFFFFF"/>
                    </a:solidFill>
                  </a:tcPr>
                </a:tc>
                <a:tc>
                  <a:txBody>
                    <a:bodyPr/>
                    <a:lstStyle/>
                    <a:p>
                      <a:r>
                        <a:rPr sz="1800" b="0">
                          <a:solidFill>
                            <a:srgbClr val="121212"/>
                          </a:solidFill>
                          <a:latin typeface="Times New Roman"/>
                          <a:ea typeface="Times New Roman"/>
                          <a:cs typeface="Times New Roman"/>
                        </a:rPr>
                        <a:t>Student performance</a:t>
                      </a:r>
                    </a:p>
                    <a:p>
                      <a:r>
                        <a:rPr sz="1800" b="0">
                          <a:solidFill>
                            <a:srgbClr val="121212"/>
                          </a:solidFill>
                          <a:latin typeface="Times New Roman"/>
                          <a:ea typeface="Times New Roman"/>
                          <a:cs typeface="Times New Roman"/>
                        </a:rPr>
                        <a:t>classification</a:t>
                      </a:r>
                    </a:p>
                  </a:txBody>
                  <a:tcPr>
                    <a:solidFill>
                      <a:srgbClr val="FFFFFF"/>
                    </a:solidFill>
                  </a:tcPr>
                </a:tc>
                <a:tc>
                  <a:txBody>
                    <a:bodyPr/>
                    <a:lstStyle/>
                    <a:p>
                      <a:r>
                        <a:rPr sz="1800" b="0">
                          <a:solidFill>
                            <a:srgbClr val="121212"/>
                          </a:solidFill>
                          <a:latin typeface="Times New Roman"/>
                          <a:ea typeface="Times New Roman"/>
                          <a:cs typeface="Times New Roman"/>
                        </a:rPr>
                        <a:t>SVM, tree, NB, KNN</a:t>
                      </a:r>
                    </a:p>
                    <a:p>
                      <a:r>
                        <a:rPr sz="1800" b="0">
                          <a:solidFill>
                            <a:srgbClr val="121212"/>
                          </a:solidFill>
                          <a:latin typeface="Times New Roman"/>
                          <a:ea typeface="Times New Roman"/>
                          <a:cs typeface="Times New Roman"/>
                        </a:rPr>
                        <a:t>with K-means</a:t>
                      </a:r>
                    </a:p>
                  </a:txBody>
                  <a:tcPr>
                    <a:solidFill>
                      <a:srgbClr val="FFFFFF"/>
                    </a:solidFill>
                  </a:tcPr>
                </a:tc>
                <a:tc>
                  <a:txBody>
                    <a:bodyPr/>
                    <a:lstStyle/>
                    <a:p>
                      <a:r>
                        <a:rPr sz="1800" b="0">
                          <a:solidFill>
                            <a:srgbClr val="121212"/>
                          </a:solidFill>
                          <a:latin typeface="Times New Roman"/>
                          <a:ea typeface="Times New Roman"/>
                          <a:cs typeface="Times New Roman"/>
                        </a:rPr>
                        <a:t>SVM accuracy</a:t>
                      </a:r>
                    </a:p>
                    <a:p>
                      <a:r>
                        <a:rPr sz="1800" b="0">
                          <a:solidFill>
                            <a:srgbClr val="121212"/>
                          </a:solidFill>
                          <a:latin typeface="Times New Roman"/>
                          <a:ea typeface="Times New Roman"/>
                          <a:cs typeface="Times New Roman"/>
                        </a:rPr>
                        <a:t>96.0%</a:t>
                      </a:r>
                    </a:p>
                  </a:txBody>
                  <a:tcPr>
                    <a:solidFill>
                      <a:srgbClr val="FFFFFF"/>
                    </a:solidFill>
                  </a:tcPr>
                </a:tc>
                <a:extLst>
                  <a:ext uri="{0D108BD9-81ED-4DB2-BD59-A6C34878D82A}">
                    <a16:rowId xmlns:a16="http://schemas.microsoft.com/office/drawing/2014/main" val="10001"/>
                  </a:ext>
                </a:extLst>
              </a:tr>
              <a:tr h="926306">
                <a:tc>
                  <a:txBody>
                    <a:bodyPr/>
                    <a:lstStyle/>
                    <a:p>
                      <a:r>
                        <a:rPr sz="1800" b="0">
                          <a:solidFill>
                            <a:srgbClr val="121212"/>
                          </a:solidFill>
                          <a:latin typeface="Times New Roman"/>
                          <a:ea typeface="Times New Roman"/>
                          <a:cs typeface="Times New Roman"/>
                        </a:rPr>
                        <a:t>Maruf et al.</a:t>
                      </a:r>
                    </a:p>
                    <a:p>
                      <a:r>
                        <a:rPr sz="1800" b="0">
                          <a:solidFill>
                            <a:srgbClr val="121212"/>
                          </a:solidFill>
                          <a:latin typeface="Times New Roman"/>
                          <a:ea typeface="Times New Roman"/>
                          <a:cs typeface="Times New Roman"/>
                        </a:rPr>
                        <a:t>(ICCIT 2024)</a:t>
                      </a:r>
                    </a:p>
                  </a:txBody>
                  <a:tcPr>
                    <a:solidFill>
                      <a:srgbClr val="FFFFFF"/>
                    </a:solidFill>
                  </a:tcPr>
                </a:tc>
                <a:tc>
                  <a:txBody>
                    <a:bodyPr/>
                    <a:lstStyle/>
                    <a:p>
                      <a:r>
                        <a:rPr sz="1800" b="0">
                          <a:solidFill>
                            <a:srgbClr val="121212"/>
                          </a:solidFill>
                          <a:latin typeface="Times New Roman"/>
                          <a:ea typeface="Times New Roman"/>
                          <a:cs typeface="Times New Roman"/>
                        </a:rPr>
                        <a:t>Bangladesh</a:t>
                      </a:r>
                    </a:p>
                    <a:p>
                      <a:r>
                        <a:rPr sz="1800" b="0">
                          <a:solidFill>
                            <a:srgbClr val="121212"/>
                          </a:solidFill>
                          <a:latin typeface="Times New Roman"/>
                          <a:ea typeface="Times New Roman"/>
                          <a:cs typeface="Times New Roman"/>
                        </a:rPr>
                        <a:t>SSC / HSC</a:t>
                      </a:r>
                    </a:p>
                  </a:txBody>
                  <a:tcPr>
                    <a:solidFill>
                      <a:srgbClr val="FFFFFF"/>
                    </a:solidFill>
                  </a:tcPr>
                </a:tc>
                <a:tc>
                  <a:txBody>
                    <a:bodyPr/>
                    <a:lstStyle/>
                    <a:p>
                      <a:r>
                        <a:rPr sz="1800" b="0">
                          <a:solidFill>
                            <a:srgbClr val="121212"/>
                          </a:solidFill>
                          <a:latin typeface="Times New Roman"/>
                          <a:ea typeface="Times New Roman"/>
                          <a:cs typeface="Times New Roman"/>
                        </a:rPr>
                        <a:t>Tuned classifiers</a:t>
                      </a:r>
                    </a:p>
                    <a:p>
                      <a:r>
                        <a:rPr sz="1800" b="0">
                          <a:solidFill>
                            <a:srgbClr val="121212"/>
                          </a:solidFill>
                          <a:latin typeface="Times New Roman"/>
                          <a:ea typeface="Times New Roman"/>
                          <a:cs typeface="Times New Roman"/>
                        </a:rPr>
                        <a:t>and stacking</a:t>
                      </a:r>
                    </a:p>
                  </a:txBody>
                  <a:tcPr>
                    <a:solidFill>
                      <a:srgbClr val="FFFFFF"/>
                    </a:solidFill>
                  </a:tcPr>
                </a:tc>
                <a:tc>
                  <a:txBody>
                    <a:bodyPr/>
                    <a:lstStyle/>
                    <a:p>
                      <a:r>
                        <a:rPr sz="1800" b="0">
                          <a:solidFill>
                            <a:srgbClr val="121212"/>
                          </a:solidFill>
                          <a:latin typeface="Times New Roman"/>
                          <a:ea typeface="Times New Roman"/>
                          <a:cs typeface="Times New Roman"/>
                        </a:rPr>
                        <a:t>82.23% SSC</a:t>
                      </a:r>
                    </a:p>
                    <a:p>
                      <a:r>
                        <a:rPr sz="1800" b="0">
                          <a:solidFill>
                            <a:srgbClr val="121212"/>
                          </a:solidFill>
                          <a:latin typeface="Times New Roman"/>
                          <a:ea typeface="Times New Roman"/>
                          <a:cs typeface="Times New Roman"/>
                        </a:rPr>
                        <a:t>86.89% HSC</a:t>
                      </a:r>
                    </a:p>
                  </a:txBody>
                  <a:tcPr>
                    <a:solidFill>
                      <a:srgbClr val="FFFFFF"/>
                    </a:solidFill>
                  </a:tcPr>
                </a:tc>
                <a:extLst>
                  <a:ext uri="{0D108BD9-81ED-4DB2-BD59-A6C34878D82A}">
                    <a16:rowId xmlns:a16="http://schemas.microsoft.com/office/drawing/2014/main" val="10002"/>
                  </a:ext>
                </a:extLst>
              </a:tr>
              <a:tr h="926306">
                <a:tc>
                  <a:txBody>
                    <a:bodyPr/>
                    <a:lstStyle/>
                    <a:p>
                      <a:r>
                        <a:rPr sz="1800" b="0">
                          <a:solidFill>
                            <a:srgbClr val="121212"/>
                          </a:solidFill>
                          <a:latin typeface="Times New Roman"/>
                          <a:ea typeface="Times New Roman"/>
                          <a:cs typeface="Times New Roman"/>
                        </a:rPr>
                        <a:t>Albonny &amp; Duru</a:t>
                      </a:r>
                    </a:p>
                    <a:p>
                      <a:r>
                        <a:rPr sz="1800" b="0">
                          <a:solidFill>
                            <a:srgbClr val="121212"/>
                          </a:solidFill>
                          <a:latin typeface="Times New Roman"/>
                          <a:ea typeface="Times New Roman"/>
                          <a:cs typeface="Times New Roman"/>
                        </a:rPr>
                        <a:t>(2026)</a:t>
                      </a:r>
                    </a:p>
                  </a:txBody>
                  <a:tcPr>
                    <a:solidFill>
                      <a:srgbClr val="FFFFFF"/>
                    </a:solidFill>
                  </a:tcPr>
                </a:tc>
                <a:tc>
                  <a:txBody>
                    <a:bodyPr/>
                    <a:lstStyle/>
                    <a:p>
                      <a:r>
                        <a:rPr sz="1800" b="0">
                          <a:solidFill>
                            <a:srgbClr val="121212"/>
                          </a:solidFill>
                          <a:latin typeface="Times New Roman"/>
                          <a:ea typeface="Times New Roman"/>
                          <a:cs typeface="Times New Roman"/>
                        </a:rPr>
                        <a:t>Bangladesh school</a:t>
                      </a:r>
                    </a:p>
                    <a:p>
                      <a:r>
                        <a:rPr sz="1800" b="0">
                          <a:solidFill>
                            <a:srgbClr val="121212"/>
                          </a:solidFill>
                          <a:latin typeface="Times New Roman"/>
                          <a:ea typeface="Times New Roman"/>
                          <a:cs typeface="Times New Roman"/>
                        </a:rPr>
                        <a:t>average course grade</a:t>
                      </a:r>
                    </a:p>
                  </a:txBody>
                  <a:tcPr>
                    <a:solidFill>
                      <a:srgbClr val="FFFFFF"/>
                    </a:solidFill>
                  </a:tcPr>
                </a:tc>
                <a:tc>
                  <a:txBody>
                    <a:bodyPr/>
                    <a:lstStyle/>
                    <a:p>
                      <a:r>
                        <a:rPr sz="1800" b="0">
                          <a:solidFill>
                            <a:srgbClr val="121212"/>
                          </a:solidFill>
                          <a:latin typeface="Times New Roman"/>
                          <a:ea typeface="Times New Roman"/>
                          <a:cs typeface="Times New Roman"/>
                        </a:rPr>
                        <a:t>Linear regression,</a:t>
                      </a:r>
                    </a:p>
                    <a:p>
                      <a:r>
                        <a:rPr sz="1800" b="0">
                          <a:solidFill>
                            <a:srgbClr val="121212"/>
                          </a:solidFill>
                          <a:latin typeface="Times New Roman"/>
                          <a:ea typeface="Times New Roman"/>
                          <a:cs typeface="Times New Roman"/>
                        </a:rPr>
                        <a:t>tree, RF, DNN</a:t>
                      </a:r>
                    </a:p>
                  </a:txBody>
                  <a:tcPr>
                    <a:solidFill>
                      <a:srgbClr val="FFFFFF"/>
                    </a:solidFill>
                  </a:tcPr>
                </a:tc>
                <a:tc>
                  <a:txBody>
                    <a:bodyPr/>
                    <a:lstStyle/>
                    <a:p>
                      <a:r>
                        <a:rPr sz="1800" b="0">
                          <a:solidFill>
                            <a:srgbClr val="121212"/>
                          </a:solidFill>
                          <a:latin typeface="Times New Roman"/>
                          <a:ea typeface="Times New Roman"/>
                          <a:cs typeface="Times New Roman"/>
                        </a:rPr>
                        <a:t>RF R² = 0.933</a:t>
                      </a:r>
                    </a:p>
                    <a:p>
                      <a:r>
                        <a:rPr sz="1800" b="0">
                          <a:solidFill>
                            <a:srgbClr val="121212"/>
                          </a:solidFill>
                          <a:latin typeface="Times New Roman"/>
                          <a:ea typeface="Times New Roman"/>
                          <a:cs typeface="Times New Roman"/>
                        </a:rPr>
                        <a:t>Regression metric</a:t>
                      </a:r>
                    </a:p>
                  </a:txBody>
                  <a:tcPr>
                    <a:solidFill>
                      <a:srgbClr val="FFFFFF"/>
                    </a:solidFill>
                  </a:tcPr>
                </a:tc>
                <a:extLst>
                  <a:ext uri="{0D108BD9-81ED-4DB2-BD59-A6C34878D82A}">
                    <a16:rowId xmlns:a16="http://schemas.microsoft.com/office/drawing/2014/main" val="10003"/>
                  </a:ext>
                </a:extLst>
              </a:tr>
            </a:tbl>
          </a:graphicData>
        </a:graphic>
      </p:graphicFrame>
      <p:sp>
        <p:nvSpPr>
          <p:cNvPr id="535" name="Different populations, targets and evaluation designs. ">
            <a:extLst>
              <a:ext uri="{FF2B5EF4-FFF2-40B4-BE49-F238E27FC236}">
                <a16:creationId xmlns:a16="http://schemas.microsoft.com/office/drawing/2014/main" id="{139F709B-C0A1-42C0-B530-2D6BCA9B0DB6}"/>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Different populations, targets and evaluation designs. Source links in speaker notes.</a:t>
            </a:r>
          </a:p>
        </p:txBody>
      </p:sp>
    </p:spTree>
    <p:extLst>
      <p:ext uri="{BB962C8B-B14F-4D97-AF65-F5344CB8AC3E}">
        <p14:creationId xmlns:p14="http://schemas.microsoft.com/office/powerpoint/2010/main" val="22940742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46</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Previous work and our WEKA models</a:t>
            </a:r>
          </a:p>
        </p:txBody>
      </p:sp>
      <p:sp>
        <p:nvSpPr>
          <p:cNvPr id="534" name="Rectangle 533">
            <a:extLst>
              <a:ext uri="{FF2B5EF4-FFF2-40B4-BE49-F238E27FC236}">
                <a16:creationId xmlns:a16="http://schemas.microsoft.com/office/drawing/2014/main" id="{A34A934E-86A0-43AD-8E79-B4575F2F88C8}"/>
              </a:ext>
            </a:extLst>
          </p:cNvPr>
          <p:cNvSpPr>
            <a:spLocks noGrp="1"/>
          </p:cNvSpPr>
          <p:nvPr/>
        </p:nvSpPr>
        <p:spPr>
          <a:xfrm>
            <a:off x="400050" y="1943100"/>
            <a:ext cx="5286375" cy="2952750"/>
          </a:xfrm>
          <a:prstGeom prst="rect">
            <a:avLst/>
          </a:prstGeom>
          <a:solidFill>
            <a:srgbClr val="F1F1F1"/>
          </a:solidFill>
          <a:ln w="0">
            <a:noFill/>
          </a:ln>
        </p:spPr>
        <p:txBody>
          <a:bodyPr/>
          <a:lstStyle/>
          <a:p>
            <a:endParaRPr lang="en-US"/>
          </a:p>
        </p:txBody>
      </p:sp>
      <p:sp>
        <p:nvSpPr>
          <p:cNvPr id="535" name="Previous work">
            <a:extLst>
              <a:ext uri="{FF2B5EF4-FFF2-40B4-BE49-F238E27FC236}">
                <a16:creationId xmlns:a16="http://schemas.microsoft.com/office/drawing/2014/main" id="{4304B167-C6CE-4F2F-935B-68A1A55B379A}"/>
              </a:ext>
            </a:extLst>
          </p:cNvPr>
          <p:cNvSpPr>
            <a:spLocks noGrp="1"/>
          </p:cNvSpPr>
          <p:nvPr/>
        </p:nvSpPr>
        <p:spPr>
          <a:xfrm>
            <a:off x="552450" y="2085975"/>
            <a:ext cx="4981575" cy="428625"/>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Previous work</a:t>
            </a:r>
          </a:p>
        </p:txBody>
      </p:sp>
      <p:sp>
        <p:nvSpPr>
          <p:cNvPr id="536" name="School results and student performance&#10;SVM, trees and e">
            <a:extLst>
              <a:ext uri="{FF2B5EF4-FFF2-40B4-BE49-F238E27FC236}">
                <a16:creationId xmlns:a16="http://schemas.microsoft.com/office/drawing/2014/main" id="{FC9042EC-6B6F-44DB-AB55-02DB72FABD6D}"/>
              </a:ext>
            </a:extLst>
          </p:cNvPr>
          <p:cNvSpPr>
            <a:spLocks noGrp="1"/>
          </p:cNvSpPr>
          <p:nvPr/>
        </p:nvSpPr>
        <p:spPr>
          <a:xfrm>
            <a:off x="552450" y="2505075"/>
            <a:ext cx="4981575" cy="238125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School results and student performance</a:t>
            </a:r>
          </a:p>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SVM, trees and ensembles</a:t>
            </a:r>
          </a:p>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Classification and regression targets</a:t>
            </a:r>
          </a:p>
        </p:txBody>
      </p:sp>
      <p:sp>
        <p:nvSpPr>
          <p:cNvPr id="537" name="Rectangle 536">
            <a:extLst>
              <a:ext uri="{FF2B5EF4-FFF2-40B4-BE49-F238E27FC236}">
                <a16:creationId xmlns:a16="http://schemas.microsoft.com/office/drawing/2014/main" id="{1C9A8D04-4A20-4DAA-B336-7F081ED997D7}"/>
              </a:ext>
            </a:extLst>
          </p:cNvPr>
          <p:cNvSpPr>
            <a:spLocks noGrp="1"/>
          </p:cNvSpPr>
          <p:nvPr/>
        </p:nvSpPr>
        <p:spPr>
          <a:xfrm>
            <a:off x="6286500" y="1943100"/>
            <a:ext cx="5505450" cy="2952750"/>
          </a:xfrm>
          <a:prstGeom prst="rect">
            <a:avLst/>
          </a:prstGeom>
          <a:solidFill>
            <a:srgbClr val="F1F1F1"/>
          </a:solidFill>
          <a:ln w="0">
            <a:noFill/>
          </a:ln>
        </p:spPr>
        <p:txBody>
          <a:bodyPr/>
          <a:lstStyle/>
          <a:p>
            <a:endParaRPr lang="en-US"/>
          </a:p>
        </p:txBody>
      </p:sp>
      <p:sp>
        <p:nvSpPr>
          <p:cNvPr id="538" name="This project">
            <a:extLst>
              <a:ext uri="{FF2B5EF4-FFF2-40B4-BE49-F238E27FC236}">
                <a16:creationId xmlns:a16="http://schemas.microsoft.com/office/drawing/2014/main" id="{6E5F86F6-6F30-4E68-AE9E-177B9ADB8C44}"/>
              </a:ext>
            </a:extLst>
          </p:cNvPr>
          <p:cNvSpPr>
            <a:spLocks noGrp="1"/>
          </p:cNvSpPr>
          <p:nvPr/>
        </p:nvSpPr>
        <p:spPr>
          <a:xfrm>
            <a:off x="6438900" y="2085975"/>
            <a:ext cx="5200650" cy="428625"/>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This project</a:t>
            </a:r>
          </a:p>
        </p:txBody>
      </p:sp>
      <p:sp>
        <p:nvSpPr>
          <p:cNvPr id="539" name="Engineering students, four CGPA bands&#10;J48, Random Fores">
            <a:extLst>
              <a:ext uri="{FF2B5EF4-FFF2-40B4-BE49-F238E27FC236}">
                <a16:creationId xmlns:a16="http://schemas.microsoft.com/office/drawing/2014/main" id="{464C491C-2620-43C6-976C-51E73DAAA7FA}"/>
              </a:ext>
            </a:extLst>
          </p:cNvPr>
          <p:cNvSpPr>
            <a:spLocks noGrp="1"/>
          </p:cNvSpPr>
          <p:nvPr/>
        </p:nvSpPr>
        <p:spPr>
          <a:xfrm>
            <a:off x="6438900" y="2505075"/>
            <a:ext cx="5200650" cy="238125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Engineering students, four CGPA bands</a:t>
            </a:r>
          </a:p>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J48, Random Forest, SMO, Logistic,</a:t>
            </a:r>
          </a:p>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Naive Bayes and ZeroR</a:t>
            </a:r>
          </a:p>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WEKA 10-fold comparison</a:t>
            </a:r>
          </a:p>
        </p:txBody>
      </p:sp>
      <p:sp>
        <p:nvSpPr>
          <p:cNvPr id="540" name="Different datasets and targets; reported scores are not">
            <a:extLst>
              <a:ext uri="{FF2B5EF4-FFF2-40B4-BE49-F238E27FC236}">
                <a16:creationId xmlns:a16="http://schemas.microsoft.com/office/drawing/2014/main" id="{570AEDB2-E15A-4070-8EDB-1C404B577E22}"/>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Different datasets and targets; reported scores are not directly comparable.</a:t>
            </a:r>
          </a:p>
        </p:txBody>
      </p:sp>
    </p:spTree>
    <p:extLst>
      <p:ext uri="{BB962C8B-B14F-4D97-AF65-F5344CB8AC3E}">
        <p14:creationId xmlns:p14="http://schemas.microsoft.com/office/powerpoint/2010/main" val="40901097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47</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What did we learn?</a:t>
            </a:r>
          </a:p>
        </p:txBody>
      </p:sp>
      <p:sp>
        <p:nvSpPr>
          <p:cNvPr id="534" name="•">
            <a:extLst>
              <a:ext uri="{FF2B5EF4-FFF2-40B4-BE49-F238E27FC236}">
                <a16:creationId xmlns:a16="http://schemas.microsoft.com/office/drawing/2014/main" id="{F3FD6801-B02F-41C1-A065-00F6308ECE50}"/>
              </a:ext>
            </a:extLst>
          </p:cNvPr>
          <p:cNvSpPr>
            <a:spLocks noGrp="1"/>
          </p:cNvSpPr>
          <p:nvPr/>
        </p:nvSpPr>
        <p:spPr>
          <a:xfrm>
            <a:off x="466725" y="1524000"/>
            <a:ext cx="238125" cy="400050"/>
          </a:xfrm>
          <a:prstGeom prst="rect">
            <a:avLst/>
          </a:prstGeom>
          <a:noFill/>
          <a:ln w="0">
            <a:noFill/>
          </a:ln>
        </p:spPr>
        <p:txBody>
          <a:bodyPr anchor="t">
            <a:noAutofit/>
          </a:bodyPr>
          <a:lstStyle/>
          <a:p>
            <a:pPr>
              <a:defRPr sz="2025" b="0">
                <a:solidFill>
                  <a:srgbClr val="121212"/>
                </a:solidFill>
                <a:latin typeface="Times New Roman"/>
                <a:ea typeface="Times New Roman"/>
                <a:cs typeface="Times New Roman"/>
              </a:defRPr>
            </a:pPr>
            <a:r>
              <a:rPr sz="2025" b="0">
                <a:solidFill>
                  <a:srgbClr val="121212"/>
                </a:solidFill>
                <a:latin typeface="Times New Roman"/>
                <a:ea typeface="Times New Roman"/>
                <a:cs typeface="Times New Roman"/>
              </a:rPr>
              <a:t>•</a:t>
            </a:r>
          </a:p>
        </p:txBody>
      </p:sp>
      <p:sp>
        <p:nvSpPr>
          <p:cNvPr id="535" name="Student answers vary across academic and lifestyle ques">
            <a:extLst>
              <a:ext uri="{FF2B5EF4-FFF2-40B4-BE49-F238E27FC236}">
                <a16:creationId xmlns:a16="http://schemas.microsoft.com/office/drawing/2014/main" id="{BDD7A629-AFE1-45FB-B720-A6FDACDAD5C5}"/>
              </a:ext>
            </a:extLst>
          </p:cNvPr>
          <p:cNvSpPr>
            <a:spLocks noGrp="1"/>
          </p:cNvSpPr>
          <p:nvPr/>
        </p:nvSpPr>
        <p:spPr>
          <a:xfrm>
            <a:off x="809625" y="1524000"/>
            <a:ext cx="10572750" cy="762000"/>
          </a:xfrm>
          <a:prstGeom prst="rect">
            <a:avLst/>
          </a:prstGeom>
          <a:noFill/>
          <a:ln w="0">
            <a:noFill/>
          </a:ln>
        </p:spPr>
        <p:txBody>
          <a:bodyPr anchor="t">
            <a:noAutofit/>
          </a:bodyPr>
          <a:lstStyle/>
          <a:p>
            <a:pPr>
              <a:defRPr sz="2025" b="0">
                <a:solidFill>
                  <a:srgbClr val="121212"/>
                </a:solidFill>
                <a:latin typeface="Times New Roman"/>
                <a:ea typeface="Times New Roman"/>
                <a:cs typeface="Times New Roman"/>
              </a:defRPr>
            </a:pPr>
            <a:r>
              <a:rPr sz="2025" b="0">
                <a:solidFill>
                  <a:srgbClr val="121212"/>
                </a:solidFill>
                <a:latin typeface="Times New Roman"/>
                <a:ea typeface="Times New Roman"/>
                <a:cs typeface="Times New Roman"/>
              </a:rPr>
              <a:t>Student answers vary across academic and lifestyle questions.</a:t>
            </a:r>
          </a:p>
        </p:txBody>
      </p:sp>
      <p:sp>
        <p:nvSpPr>
          <p:cNvPr id="536" name="•">
            <a:extLst>
              <a:ext uri="{FF2B5EF4-FFF2-40B4-BE49-F238E27FC236}">
                <a16:creationId xmlns:a16="http://schemas.microsoft.com/office/drawing/2014/main" id="{569162A9-4B84-4D3C-9502-8F4A151FC543}"/>
              </a:ext>
            </a:extLst>
          </p:cNvPr>
          <p:cNvSpPr>
            <a:spLocks noGrp="1"/>
          </p:cNvSpPr>
          <p:nvPr/>
        </p:nvSpPr>
        <p:spPr>
          <a:xfrm>
            <a:off x="466725" y="2362200"/>
            <a:ext cx="238125" cy="400050"/>
          </a:xfrm>
          <a:prstGeom prst="rect">
            <a:avLst/>
          </a:prstGeom>
          <a:noFill/>
          <a:ln w="0">
            <a:noFill/>
          </a:ln>
        </p:spPr>
        <p:txBody>
          <a:bodyPr anchor="t">
            <a:noAutofit/>
          </a:bodyPr>
          <a:lstStyle/>
          <a:p>
            <a:pPr>
              <a:defRPr sz="2025" b="0">
                <a:solidFill>
                  <a:srgbClr val="121212"/>
                </a:solidFill>
                <a:latin typeface="Times New Roman"/>
                <a:ea typeface="Times New Roman"/>
                <a:cs typeface="Times New Roman"/>
              </a:defRPr>
            </a:pPr>
            <a:r>
              <a:rPr sz="2025" b="0">
                <a:solidFill>
                  <a:srgbClr val="121212"/>
                </a:solidFill>
                <a:latin typeface="Times New Roman"/>
                <a:ea typeface="Times New Roman"/>
                <a:cs typeface="Times New Roman"/>
              </a:rPr>
              <a:t>•</a:t>
            </a:r>
          </a:p>
        </p:txBody>
      </p:sp>
      <p:sp>
        <p:nvSpPr>
          <p:cNvPr id="537" name="Desired department, attendance and outside commitments ">
            <a:extLst>
              <a:ext uri="{FF2B5EF4-FFF2-40B4-BE49-F238E27FC236}">
                <a16:creationId xmlns:a16="http://schemas.microsoft.com/office/drawing/2014/main" id="{641283A1-E46A-449F-845D-CDEE87D1641E}"/>
              </a:ext>
            </a:extLst>
          </p:cNvPr>
          <p:cNvSpPr>
            <a:spLocks noGrp="1"/>
          </p:cNvSpPr>
          <p:nvPr/>
        </p:nvSpPr>
        <p:spPr>
          <a:xfrm>
            <a:off x="809625" y="2362200"/>
            <a:ext cx="10572750" cy="762000"/>
          </a:xfrm>
          <a:prstGeom prst="rect">
            <a:avLst/>
          </a:prstGeom>
          <a:noFill/>
          <a:ln w="0">
            <a:noFill/>
          </a:ln>
        </p:spPr>
        <p:txBody>
          <a:bodyPr anchor="t">
            <a:noAutofit/>
          </a:bodyPr>
          <a:lstStyle/>
          <a:p>
            <a:pPr>
              <a:defRPr sz="2025" b="0">
                <a:solidFill>
                  <a:srgbClr val="121212"/>
                </a:solidFill>
                <a:latin typeface="Times New Roman"/>
                <a:ea typeface="Times New Roman"/>
                <a:cs typeface="Times New Roman"/>
              </a:defRPr>
            </a:pPr>
            <a:r>
              <a:rPr sz="2025" b="0">
                <a:solidFill>
                  <a:srgbClr val="121212"/>
                </a:solidFill>
                <a:latin typeface="Times New Roman"/>
                <a:ea typeface="Times New Roman"/>
                <a:cs typeface="Times New Roman"/>
              </a:rPr>
              <a:t>Desired department, attendance and outside commitments show the clearest CGPA associations.</a:t>
            </a:r>
          </a:p>
        </p:txBody>
      </p:sp>
      <p:sp>
        <p:nvSpPr>
          <p:cNvPr id="538" name="•">
            <a:extLst>
              <a:ext uri="{FF2B5EF4-FFF2-40B4-BE49-F238E27FC236}">
                <a16:creationId xmlns:a16="http://schemas.microsoft.com/office/drawing/2014/main" id="{ECAC0E3D-EFEE-44F0-AA16-E0C058C2333D}"/>
              </a:ext>
            </a:extLst>
          </p:cNvPr>
          <p:cNvSpPr>
            <a:spLocks noGrp="1"/>
          </p:cNvSpPr>
          <p:nvPr/>
        </p:nvSpPr>
        <p:spPr>
          <a:xfrm>
            <a:off x="466725" y="3200400"/>
            <a:ext cx="238125" cy="400050"/>
          </a:xfrm>
          <a:prstGeom prst="rect">
            <a:avLst/>
          </a:prstGeom>
          <a:noFill/>
          <a:ln w="0">
            <a:noFill/>
          </a:ln>
        </p:spPr>
        <p:txBody>
          <a:bodyPr anchor="t">
            <a:noAutofit/>
          </a:bodyPr>
          <a:lstStyle/>
          <a:p>
            <a:pPr>
              <a:defRPr sz="2025" b="0">
                <a:solidFill>
                  <a:srgbClr val="121212"/>
                </a:solidFill>
                <a:latin typeface="Times New Roman"/>
                <a:ea typeface="Times New Roman"/>
                <a:cs typeface="Times New Roman"/>
              </a:defRPr>
            </a:pPr>
            <a:r>
              <a:rPr sz="2025" b="0">
                <a:solidFill>
                  <a:srgbClr val="121212"/>
                </a:solidFill>
                <a:latin typeface="Times New Roman"/>
                <a:ea typeface="Times New Roman"/>
                <a:cs typeface="Times New Roman"/>
              </a:rPr>
              <a:t>•</a:t>
            </a:r>
          </a:p>
        </p:txBody>
      </p:sp>
      <p:sp>
        <p:nvSpPr>
          <p:cNvPr id="539" name="Questionnaire-only classification stays close to the ba">
            <a:extLst>
              <a:ext uri="{FF2B5EF4-FFF2-40B4-BE49-F238E27FC236}">
                <a16:creationId xmlns:a16="http://schemas.microsoft.com/office/drawing/2014/main" id="{B240F353-BB2C-4A33-AE2F-F04CFF3FC9FB}"/>
              </a:ext>
            </a:extLst>
          </p:cNvPr>
          <p:cNvSpPr>
            <a:spLocks noGrp="1"/>
          </p:cNvSpPr>
          <p:nvPr/>
        </p:nvSpPr>
        <p:spPr>
          <a:xfrm>
            <a:off x="809625" y="3200400"/>
            <a:ext cx="10572750" cy="762000"/>
          </a:xfrm>
          <a:prstGeom prst="rect">
            <a:avLst/>
          </a:prstGeom>
          <a:noFill/>
          <a:ln w="0">
            <a:noFill/>
          </a:ln>
        </p:spPr>
        <p:txBody>
          <a:bodyPr anchor="t">
            <a:noAutofit/>
          </a:bodyPr>
          <a:lstStyle/>
          <a:p>
            <a:pPr>
              <a:defRPr sz="2025" b="0">
                <a:solidFill>
                  <a:srgbClr val="121212"/>
                </a:solidFill>
                <a:latin typeface="Times New Roman"/>
                <a:ea typeface="Times New Roman"/>
                <a:cs typeface="Times New Roman"/>
              </a:defRPr>
            </a:pPr>
            <a:r>
              <a:rPr sz="2025" b="0">
                <a:solidFill>
                  <a:srgbClr val="121212"/>
                </a:solidFill>
                <a:latin typeface="Times New Roman"/>
                <a:ea typeface="Times New Roman"/>
                <a:cs typeface="Times New Roman"/>
              </a:rPr>
              <a:t>Questionnaire-only classification stays close to the baseline.</a:t>
            </a:r>
          </a:p>
        </p:txBody>
      </p:sp>
      <p:sp>
        <p:nvSpPr>
          <p:cNvPr id="540" name="•">
            <a:extLst>
              <a:ext uri="{FF2B5EF4-FFF2-40B4-BE49-F238E27FC236}">
                <a16:creationId xmlns:a16="http://schemas.microsoft.com/office/drawing/2014/main" id="{A3E63293-E1F8-4320-9838-41FAE00F1912}"/>
              </a:ext>
            </a:extLst>
          </p:cNvPr>
          <p:cNvSpPr>
            <a:spLocks noGrp="1"/>
          </p:cNvSpPr>
          <p:nvPr/>
        </p:nvSpPr>
        <p:spPr>
          <a:xfrm>
            <a:off x="466725" y="4038600"/>
            <a:ext cx="238125" cy="400050"/>
          </a:xfrm>
          <a:prstGeom prst="rect">
            <a:avLst/>
          </a:prstGeom>
          <a:noFill/>
          <a:ln w="0">
            <a:noFill/>
          </a:ln>
        </p:spPr>
        <p:txBody>
          <a:bodyPr anchor="t">
            <a:noAutofit/>
          </a:bodyPr>
          <a:lstStyle/>
          <a:p>
            <a:pPr>
              <a:defRPr sz="2025" b="0">
                <a:solidFill>
                  <a:srgbClr val="121212"/>
                </a:solidFill>
                <a:latin typeface="Times New Roman"/>
                <a:ea typeface="Times New Roman"/>
                <a:cs typeface="Times New Roman"/>
              </a:defRPr>
            </a:pPr>
            <a:r>
              <a:rPr sz="2025" b="0">
                <a:solidFill>
                  <a:srgbClr val="121212"/>
                </a:solidFill>
                <a:latin typeface="Times New Roman"/>
                <a:ea typeface="Times New Roman"/>
                <a:cs typeface="Times New Roman"/>
              </a:rPr>
              <a:t>•</a:t>
            </a:r>
          </a:p>
        </p:txBody>
      </p:sp>
      <p:sp>
        <p:nvSpPr>
          <p:cNvPr id="541" name="Recent SGPA is the first split in the main J48 tree.">
            <a:extLst>
              <a:ext uri="{FF2B5EF4-FFF2-40B4-BE49-F238E27FC236}">
                <a16:creationId xmlns:a16="http://schemas.microsoft.com/office/drawing/2014/main" id="{602A27EF-CFAC-4EC9-896B-915C7D74BAA0}"/>
              </a:ext>
            </a:extLst>
          </p:cNvPr>
          <p:cNvSpPr>
            <a:spLocks noGrp="1"/>
          </p:cNvSpPr>
          <p:nvPr/>
        </p:nvSpPr>
        <p:spPr>
          <a:xfrm>
            <a:off x="809625" y="4038600"/>
            <a:ext cx="10572750" cy="762000"/>
          </a:xfrm>
          <a:prstGeom prst="rect">
            <a:avLst/>
          </a:prstGeom>
          <a:noFill/>
          <a:ln w="0">
            <a:noFill/>
          </a:ln>
        </p:spPr>
        <p:txBody>
          <a:bodyPr anchor="t">
            <a:noAutofit/>
          </a:bodyPr>
          <a:lstStyle/>
          <a:p>
            <a:pPr>
              <a:defRPr sz="2025" b="0">
                <a:solidFill>
                  <a:srgbClr val="121212"/>
                </a:solidFill>
                <a:latin typeface="Times New Roman"/>
                <a:ea typeface="Times New Roman"/>
                <a:cs typeface="Times New Roman"/>
              </a:defRPr>
            </a:pPr>
            <a:r>
              <a:rPr sz="2025" b="0">
                <a:solidFill>
                  <a:srgbClr val="121212"/>
                </a:solidFill>
                <a:latin typeface="Times New Roman"/>
                <a:ea typeface="Times New Roman"/>
                <a:cs typeface="Times New Roman"/>
              </a:rPr>
              <a:t>Recent SGPA is the first split in the main J48 tree.</a:t>
            </a:r>
          </a:p>
        </p:txBody>
      </p:sp>
      <p:sp>
        <p:nvSpPr>
          <p:cNvPr id="542" name="•">
            <a:extLst>
              <a:ext uri="{FF2B5EF4-FFF2-40B4-BE49-F238E27FC236}">
                <a16:creationId xmlns:a16="http://schemas.microsoft.com/office/drawing/2014/main" id="{72EFD97A-E72A-49D1-B1E4-A668F897C662}"/>
              </a:ext>
            </a:extLst>
          </p:cNvPr>
          <p:cNvSpPr>
            <a:spLocks noGrp="1"/>
          </p:cNvSpPr>
          <p:nvPr/>
        </p:nvSpPr>
        <p:spPr>
          <a:xfrm>
            <a:off x="466725" y="4876800"/>
            <a:ext cx="238125" cy="400050"/>
          </a:xfrm>
          <a:prstGeom prst="rect">
            <a:avLst/>
          </a:prstGeom>
          <a:noFill/>
          <a:ln w="0">
            <a:noFill/>
          </a:ln>
        </p:spPr>
        <p:txBody>
          <a:bodyPr anchor="t">
            <a:noAutofit/>
          </a:bodyPr>
          <a:lstStyle/>
          <a:p>
            <a:pPr>
              <a:defRPr sz="2025" b="0">
                <a:solidFill>
                  <a:srgbClr val="121212"/>
                </a:solidFill>
                <a:latin typeface="Times New Roman"/>
                <a:ea typeface="Times New Roman"/>
                <a:cs typeface="Times New Roman"/>
              </a:defRPr>
            </a:pPr>
            <a:r>
              <a:rPr sz="2025" b="0">
                <a:solidFill>
                  <a:srgbClr val="121212"/>
                </a:solidFill>
                <a:latin typeface="Times New Roman"/>
                <a:ea typeface="Times New Roman"/>
                <a:cs typeface="Times New Roman"/>
              </a:rPr>
              <a:t>•</a:t>
            </a:r>
          </a:p>
        </p:txBody>
      </p:sp>
      <p:sp>
        <p:nvSpPr>
          <p:cNvPr id="543" name="Random Forest leads the CV comparison; J48 provides rea">
            <a:extLst>
              <a:ext uri="{FF2B5EF4-FFF2-40B4-BE49-F238E27FC236}">
                <a16:creationId xmlns:a16="http://schemas.microsoft.com/office/drawing/2014/main" id="{C962752C-A1ED-43F5-BE85-58CB8EC87D86}"/>
              </a:ext>
            </a:extLst>
          </p:cNvPr>
          <p:cNvSpPr>
            <a:spLocks noGrp="1"/>
          </p:cNvSpPr>
          <p:nvPr/>
        </p:nvSpPr>
        <p:spPr>
          <a:xfrm>
            <a:off x="809625" y="4876800"/>
            <a:ext cx="10572750" cy="762000"/>
          </a:xfrm>
          <a:prstGeom prst="rect">
            <a:avLst/>
          </a:prstGeom>
          <a:noFill/>
          <a:ln w="0">
            <a:noFill/>
          </a:ln>
        </p:spPr>
        <p:txBody>
          <a:bodyPr anchor="t">
            <a:noAutofit/>
          </a:bodyPr>
          <a:lstStyle/>
          <a:p>
            <a:pPr>
              <a:defRPr sz="2025" b="0">
                <a:solidFill>
                  <a:srgbClr val="121212"/>
                </a:solidFill>
                <a:latin typeface="Times New Roman"/>
                <a:ea typeface="Times New Roman"/>
                <a:cs typeface="Times New Roman"/>
              </a:defRPr>
            </a:pPr>
            <a:r>
              <a:rPr sz="2025" b="0">
                <a:solidFill>
                  <a:srgbClr val="121212"/>
                </a:solidFill>
                <a:latin typeface="Times New Roman"/>
                <a:ea typeface="Times New Roman"/>
                <a:cs typeface="Times New Roman"/>
              </a:rPr>
              <a:t>Random Forest leads the CV comparison; J48 provides readable rules.</a:t>
            </a:r>
          </a:p>
        </p:txBody>
      </p:sp>
    </p:spTree>
    <p:extLst>
      <p:ext uri="{BB962C8B-B14F-4D97-AF65-F5344CB8AC3E}">
        <p14:creationId xmlns:p14="http://schemas.microsoft.com/office/powerpoint/2010/main" val="32073945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48</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Limitations</a:t>
            </a:r>
          </a:p>
        </p:txBody>
      </p:sp>
      <p:sp>
        <p:nvSpPr>
          <p:cNvPr id="534" name="•">
            <a:extLst>
              <a:ext uri="{FF2B5EF4-FFF2-40B4-BE49-F238E27FC236}">
                <a16:creationId xmlns:a16="http://schemas.microsoft.com/office/drawing/2014/main" id="{1F0EF624-3790-41F6-B8BB-023E95FE0554}"/>
              </a:ext>
            </a:extLst>
          </p:cNvPr>
          <p:cNvSpPr>
            <a:spLocks noGrp="1"/>
          </p:cNvSpPr>
          <p:nvPr/>
        </p:nvSpPr>
        <p:spPr>
          <a:xfrm>
            <a:off x="466725" y="1695450"/>
            <a:ext cx="238125" cy="400050"/>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a:t>
            </a:r>
          </a:p>
        </p:txBody>
      </p:sp>
      <p:sp>
        <p:nvSpPr>
          <p:cNvPr id="535" name="Self-reported answers without verified registrar record">
            <a:extLst>
              <a:ext uri="{FF2B5EF4-FFF2-40B4-BE49-F238E27FC236}">
                <a16:creationId xmlns:a16="http://schemas.microsoft.com/office/drawing/2014/main" id="{D452E248-A52B-4711-B884-3BE4218C9908}"/>
              </a:ext>
            </a:extLst>
          </p:cNvPr>
          <p:cNvSpPr>
            <a:spLocks noGrp="1"/>
          </p:cNvSpPr>
          <p:nvPr/>
        </p:nvSpPr>
        <p:spPr>
          <a:xfrm>
            <a:off x="809625" y="1695450"/>
            <a:ext cx="10572750" cy="742950"/>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Self-reported answers without verified registrar records</a:t>
            </a:r>
          </a:p>
        </p:txBody>
      </p:sp>
      <p:sp>
        <p:nvSpPr>
          <p:cNvPr id="536" name="•">
            <a:extLst>
              <a:ext uri="{FF2B5EF4-FFF2-40B4-BE49-F238E27FC236}">
                <a16:creationId xmlns:a16="http://schemas.microsoft.com/office/drawing/2014/main" id="{A4770531-12B3-4ED6-863A-52C3BBB2B4B5}"/>
              </a:ext>
            </a:extLst>
          </p:cNvPr>
          <p:cNvSpPr>
            <a:spLocks noGrp="1"/>
          </p:cNvSpPr>
          <p:nvPr/>
        </p:nvSpPr>
        <p:spPr>
          <a:xfrm>
            <a:off x="466725" y="2514600"/>
            <a:ext cx="238125" cy="400050"/>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a:t>
            </a:r>
          </a:p>
        </p:txBody>
      </p:sp>
      <p:sp>
        <p:nvSpPr>
          <p:cNvPr id="537" name="KUET-heavy sample and a one-time survey">
            <a:extLst>
              <a:ext uri="{FF2B5EF4-FFF2-40B4-BE49-F238E27FC236}">
                <a16:creationId xmlns:a16="http://schemas.microsoft.com/office/drawing/2014/main" id="{42CD3D53-803A-4BAE-8BC4-726FA934D452}"/>
              </a:ext>
            </a:extLst>
          </p:cNvPr>
          <p:cNvSpPr>
            <a:spLocks noGrp="1"/>
          </p:cNvSpPr>
          <p:nvPr/>
        </p:nvSpPr>
        <p:spPr>
          <a:xfrm>
            <a:off x="809625" y="2514600"/>
            <a:ext cx="10572750" cy="742950"/>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KUET-heavy sample and a one-time survey</a:t>
            </a:r>
          </a:p>
        </p:txBody>
      </p:sp>
      <p:sp>
        <p:nvSpPr>
          <p:cNvPr id="538" name="•">
            <a:extLst>
              <a:ext uri="{FF2B5EF4-FFF2-40B4-BE49-F238E27FC236}">
                <a16:creationId xmlns:a16="http://schemas.microsoft.com/office/drawing/2014/main" id="{1D27EED9-B970-4608-90FC-542B9E049727}"/>
              </a:ext>
            </a:extLst>
          </p:cNvPr>
          <p:cNvSpPr>
            <a:spLocks noGrp="1"/>
          </p:cNvSpPr>
          <p:nvPr/>
        </p:nvSpPr>
        <p:spPr>
          <a:xfrm>
            <a:off x="466725" y="3333750"/>
            <a:ext cx="238125" cy="400050"/>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a:t>
            </a:r>
          </a:p>
        </p:txBody>
      </p:sp>
      <p:sp>
        <p:nvSpPr>
          <p:cNvPr id="539" name="Banded SGPA / CGPA with different time wording between ">
            <a:extLst>
              <a:ext uri="{FF2B5EF4-FFF2-40B4-BE49-F238E27FC236}">
                <a16:creationId xmlns:a16="http://schemas.microsoft.com/office/drawing/2014/main" id="{333A2528-CC7B-499B-88AE-F02BAADE776A}"/>
              </a:ext>
            </a:extLst>
          </p:cNvPr>
          <p:cNvSpPr>
            <a:spLocks noGrp="1"/>
          </p:cNvSpPr>
          <p:nvPr/>
        </p:nvSpPr>
        <p:spPr>
          <a:xfrm>
            <a:off x="809625" y="3333750"/>
            <a:ext cx="10572750" cy="742950"/>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Banded SGPA / CGPA with different time wording between forms</a:t>
            </a:r>
          </a:p>
        </p:txBody>
      </p:sp>
      <p:sp>
        <p:nvSpPr>
          <p:cNvPr id="540" name="•">
            <a:extLst>
              <a:ext uri="{FF2B5EF4-FFF2-40B4-BE49-F238E27FC236}">
                <a16:creationId xmlns:a16="http://schemas.microsoft.com/office/drawing/2014/main" id="{BFB27253-237D-492B-9AA0-B3A31C118D87}"/>
              </a:ext>
            </a:extLst>
          </p:cNvPr>
          <p:cNvSpPr>
            <a:spLocks noGrp="1"/>
          </p:cNvSpPr>
          <p:nvPr/>
        </p:nvSpPr>
        <p:spPr>
          <a:xfrm>
            <a:off x="466725" y="4152900"/>
            <a:ext cx="238125" cy="400050"/>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a:t>
            </a:r>
          </a:p>
        </p:txBody>
      </p:sp>
      <p:sp>
        <p:nvSpPr>
          <p:cNvPr id="541" name="Questionnaire imputation occurred before splitting / CV">
            <a:extLst>
              <a:ext uri="{FF2B5EF4-FFF2-40B4-BE49-F238E27FC236}">
                <a16:creationId xmlns:a16="http://schemas.microsoft.com/office/drawing/2014/main" id="{5B5ECEA5-0A0F-465A-B44C-18B27BB0627C}"/>
              </a:ext>
            </a:extLst>
          </p:cNvPr>
          <p:cNvSpPr>
            <a:spLocks noGrp="1"/>
          </p:cNvSpPr>
          <p:nvPr/>
        </p:nvSpPr>
        <p:spPr>
          <a:xfrm>
            <a:off x="809625" y="4152900"/>
            <a:ext cx="10572750" cy="742950"/>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Questionnaire imputation occurred before splitting / CV</a:t>
            </a:r>
          </a:p>
        </p:txBody>
      </p:sp>
      <p:sp>
        <p:nvSpPr>
          <p:cNvPr id="542" name="•">
            <a:extLst>
              <a:ext uri="{FF2B5EF4-FFF2-40B4-BE49-F238E27FC236}">
                <a16:creationId xmlns:a16="http://schemas.microsoft.com/office/drawing/2014/main" id="{EA689285-DCAC-4367-8180-0360DB2B8926}"/>
              </a:ext>
            </a:extLst>
          </p:cNvPr>
          <p:cNvSpPr>
            <a:spLocks noGrp="1"/>
          </p:cNvSpPr>
          <p:nvPr/>
        </p:nvSpPr>
        <p:spPr>
          <a:xfrm>
            <a:off x="466725" y="4972050"/>
            <a:ext cx="238125" cy="400050"/>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a:t>
            </a:r>
          </a:p>
        </p:txBody>
      </p:sp>
      <p:sp>
        <p:nvSpPr>
          <p:cNvPr id="543" name="Small associations and exploratory prediction estimates">
            <a:extLst>
              <a:ext uri="{FF2B5EF4-FFF2-40B4-BE49-F238E27FC236}">
                <a16:creationId xmlns:a16="http://schemas.microsoft.com/office/drawing/2014/main" id="{6EE90635-2B43-40BB-8C94-1CD4F4302070}"/>
              </a:ext>
            </a:extLst>
          </p:cNvPr>
          <p:cNvSpPr>
            <a:spLocks noGrp="1"/>
          </p:cNvSpPr>
          <p:nvPr/>
        </p:nvSpPr>
        <p:spPr>
          <a:xfrm>
            <a:off x="809625" y="4972050"/>
            <a:ext cx="10572750" cy="742950"/>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Small associations and exploratory prediction estimates</a:t>
            </a:r>
          </a:p>
        </p:txBody>
      </p:sp>
    </p:spTree>
    <p:extLst>
      <p:ext uri="{BB962C8B-B14F-4D97-AF65-F5344CB8AC3E}">
        <p14:creationId xmlns:p14="http://schemas.microsoft.com/office/powerpoint/2010/main" val="186234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49</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Conclusion</a:t>
            </a:r>
          </a:p>
        </p:txBody>
      </p:sp>
      <p:sp>
        <p:nvSpPr>
          <p:cNvPr id="534" name="Rectangle 533">
            <a:extLst>
              <a:ext uri="{FF2B5EF4-FFF2-40B4-BE49-F238E27FC236}">
                <a16:creationId xmlns:a16="http://schemas.microsoft.com/office/drawing/2014/main" id="{E5D7439F-3AA2-49DB-A9FE-11936C79C7DB}"/>
              </a:ext>
            </a:extLst>
          </p:cNvPr>
          <p:cNvSpPr>
            <a:spLocks noGrp="1"/>
          </p:cNvSpPr>
          <p:nvPr/>
        </p:nvSpPr>
        <p:spPr>
          <a:xfrm>
            <a:off x="400050" y="2219325"/>
            <a:ext cx="3581400" cy="2305050"/>
          </a:xfrm>
          <a:prstGeom prst="rect">
            <a:avLst/>
          </a:prstGeom>
          <a:solidFill>
            <a:srgbClr val="F1F1F1"/>
          </a:solidFill>
          <a:ln w="0">
            <a:noFill/>
          </a:ln>
        </p:spPr>
        <p:txBody>
          <a:bodyPr/>
          <a:lstStyle/>
          <a:p>
            <a:endParaRPr lang="en-US"/>
          </a:p>
        </p:txBody>
      </p:sp>
      <p:sp>
        <p:nvSpPr>
          <p:cNvPr id="535" name="Data">
            <a:extLst>
              <a:ext uri="{FF2B5EF4-FFF2-40B4-BE49-F238E27FC236}">
                <a16:creationId xmlns:a16="http://schemas.microsoft.com/office/drawing/2014/main" id="{5EFE354A-7562-4BF0-A988-E211616B94B9}"/>
              </a:ext>
            </a:extLst>
          </p:cNvPr>
          <p:cNvSpPr>
            <a:spLocks noGrp="1"/>
          </p:cNvSpPr>
          <p:nvPr/>
        </p:nvSpPr>
        <p:spPr>
          <a:xfrm>
            <a:off x="552450" y="2362200"/>
            <a:ext cx="3276600" cy="428625"/>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Data</a:t>
            </a:r>
          </a:p>
        </p:txBody>
      </p:sp>
      <p:sp>
        <p:nvSpPr>
          <p:cNvPr id="536" name="1,108 usable engineering-student responses">
            <a:extLst>
              <a:ext uri="{FF2B5EF4-FFF2-40B4-BE49-F238E27FC236}">
                <a16:creationId xmlns:a16="http://schemas.microsoft.com/office/drawing/2014/main" id="{A98EE0D0-F0A3-4778-9767-A0D7042A227E}"/>
              </a:ext>
            </a:extLst>
          </p:cNvPr>
          <p:cNvSpPr>
            <a:spLocks noGrp="1"/>
          </p:cNvSpPr>
          <p:nvPr/>
        </p:nvSpPr>
        <p:spPr>
          <a:xfrm>
            <a:off x="552450" y="2781300"/>
            <a:ext cx="3276600" cy="173355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1,108 usable engineering-student responses</a:t>
            </a:r>
          </a:p>
        </p:txBody>
      </p:sp>
      <p:sp>
        <p:nvSpPr>
          <p:cNvPr id="537" name="Rectangle 536">
            <a:extLst>
              <a:ext uri="{FF2B5EF4-FFF2-40B4-BE49-F238E27FC236}">
                <a16:creationId xmlns:a16="http://schemas.microsoft.com/office/drawing/2014/main" id="{8CF35F9C-3442-44A9-B450-F4C912E4BCA5}"/>
              </a:ext>
            </a:extLst>
          </p:cNvPr>
          <p:cNvSpPr>
            <a:spLocks noGrp="1"/>
          </p:cNvSpPr>
          <p:nvPr/>
        </p:nvSpPr>
        <p:spPr>
          <a:xfrm>
            <a:off x="4267200" y="2219325"/>
            <a:ext cx="3581400" cy="2305050"/>
          </a:xfrm>
          <a:prstGeom prst="rect">
            <a:avLst/>
          </a:prstGeom>
          <a:solidFill>
            <a:srgbClr val="F1F1F1"/>
          </a:solidFill>
          <a:ln w="0">
            <a:noFill/>
          </a:ln>
        </p:spPr>
        <p:txBody>
          <a:bodyPr/>
          <a:lstStyle/>
          <a:p>
            <a:endParaRPr lang="en-US"/>
          </a:p>
        </p:txBody>
      </p:sp>
      <p:sp>
        <p:nvSpPr>
          <p:cNvPr id="538" name="Relationship">
            <a:extLst>
              <a:ext uri="{FF2B5EF4-FFF2-40B4-BE49-F238E27FC236}">
                <a16:creationId xmlns:a16="http://schemas.microsoft.com/office/drawing/2014/main" id="{55F8ACB2-5732-48FB-B869-525980D8501E}"/>
              </a:ext>
            </a:extLst>
          </p:cNvPr>
          <p:cNvSpPr>
            <a:spLocks noGrp="1"/>
          </p:cNvSpPr>
          <p:nvPr/>
        </p:nvSpPr>
        <p:spPr>
          <a:xfrm>
            <a:off x="4419600" y="2362200"/>
            <a:ext cx="3276600" cy="428625"/>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Relationship</a:t>
            </a:r>
          </a:p>
        </p:txBody>
      </p:sp>
      <p:sp>
        <p:nvSpPr>
          <p:cNvPr id="539" name="Question-by-question CGPA patterns">
            <a:extLst>
              <a:ext uri="{FF2B5EF4-FFF2-40B4-BE49-F238E27FC236}">
                <a16:creationId xmlns:a16="http://schemas.microsoft.com/office/drawing/2014/main" id="{697A63A5-BA10-4E4C-86EB-65FE9BE7667B}"/>
              </a:ext>
            </a:extLst>
          </p:cNvPr>
          <p:cNvSpPr>
            <a:spLocks noGrp="1"/>
          </p:cNvSpPr>
          <p:nvPr/>
        </p:nvSpPr>
        <p:spPr>
          <a:xfrm>
            <a:off x="4419600" y="2781300"/>
            <a:ext cx="3276600" cy="173355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Question-by-question CGPA patterns</a:t>
            </a:r>
          </a:p>
        </p:txBody>
      </p:sp>
      <p:sp>
        <p:nvSpPr>
          <p:cNvPr id="540" name="Rectangle 539">
            <a:extLst>
              <a:ext uri="{FF2B5EF4-FFF2-40B4-BE49-F238E27FC236}">
                <a16:creationId xmlns:a16="http://schemas.microsoft.com/office/drawing/2014/main" id="{FD14E9A6-6EA7-4A23-B869-E4B543D940FF}"/>
              </a:ext>
            </a:extLst>
          </p:cNvPr>
          <p:cNvSpPr>
            <a:spLocks noGrp="1"/>
          </p:cNvSpPr>
          <p:nvPr/>
        </p:nvSpPr>
        <p:spPr>
          <a:xfrm>
            <a:off x="8134350" y="2219325"/>
            <a:ext cx="3581400" cy="2305050"/>
          </a:xfrm>
          <a:prstGeom prst="rect">
            <a:avLst/>
          </a:prstGeom>
          <a:solidFill>
            <a:srgbClr val="F1F1F1"/>
          </a:solidFill>
          <a:ln w="0">
            <a:noFill/>
          </a:ln>
        </p:spPr>
        <p:txBody>
          <a:bodyPr/>
          <a:lstStyle/>
          <a:p>
            <a:endParaRPr lang="en-US"/>
          </a:p>
        </p:txBody>
      </p:sp>
      <p:sp>
        <p:nvSpPr>
          <p:cNvPr id="541" name="WEKA">
            <a:extLst>
              <a:ext uri="{FF2B5EF4-FFF2-40B4-BE49-F238E27FC236}">
                <a16:creationId xmlns:a16="http://schemas.microsoft.com/office/drawing/2014/main" id="{AAD25545-575B-4EE7-B3FF-8FC3555AC67C}"/>
              </a:ext>
            </a:extLst>
          </p:cNvPr>
          <p:cNvSpPr>
            <a:spLocks noGrp="1"/>
          </p:cNvSpPr>
          <p:nvPr/>
        </p:nvSpPr>
        <p:spPr>
          <a:xfrm>
            <a:off x="8286750" y="2362200"/>
            <a:ext cx="3276600" cy="428625"/>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WEKA</a:t>
            </a:r>
          </a:p>
        </p:txBody>
      </p:sp>
      <p:sp>
        <p:nvSpPr>
          <p:cNvPr id="542" name="J48 rules and comparison with five standard classifiers">
            <a:extLst>
              <a:ext uri="{FF2B5EF4-FFF2-40B4-BE49-F238E27FC236}">
                <a16:creationId xmlns:a16="http://schemas.microsoft.com/office/drawing/2014/main" id="{61280A2C-866C-4699-82A5-D1B5448F2574}"/>
              </a:ext>
            </a:extLst>
          </p:cNvPr>
          <p:cNvSpPr>
            <a:spLocks noGrp="1"/>
          </p:cNvSpPr>
          <p:nvPr/>
        </p:nvSpPr>
        <p:spPr>
          <a:xfrm>
            <a:off x="8286750" y="2781300"/>
            <a:ext cx="3276600" cy="173355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J48 rules and comparison with five standard classifiers</a:t>
            </a:r>
          </a:p>
        </p:txBody>
      </p:sp>
      <p:sp>
        <p:nvSpPr>
          <p:cNvPr id="543" name="Associations and predictions, not causal proof.">
            <a:extLst>
              <a:ext uri="{FF2B5EF4-FFF2-40B4-BE49-F238E27FC236}">
                <a16:creationId xmlns:a16="http://schemas.microsoft.com/office/drawing/2014/main" id="{7C27FA56-AB0A-403C-8FFE-37F7BE18060E}"/>
              </a:ext>
            </a:extLst>
          </p:cNvPr>
          <p:cNvSpPr>
            <a:spLocks noGrp="1"/>
          </p:cNvSpPr>
          <p:nvPr/>
        </p:nvSpPr>
        <p:spPr>
          <a:xfrm>
            <a:off x="400050" y="5343525"/>
            <a:ext cx="11391900" cy="619125"/>
          </a:xfrm>
          <a:prstGeom prst="rect">
            <a:avLst/>
          </a:prstGeom>
          <a:noFill/>
          <a:ln w="0">
            <a:noFill/>
          </a:ln>
        </p:spPr>
        <p:txBody>
          <a:bodyPr anchor="t">
            <a:noAutofit/>
          </a:bodyPr>
          <a:lstStyle/>
          <a:p>
            <a:pPr>
              <a:defRPr sz="2550" b="0">
                <a:solidFill>
                  <a:srgbClr val="121212"/>
                </a:solidFill>
                <a:latin typeface="Times New Roman"/>
                <a:ea typeface="Times New Roman"/>
                <a:cs typeface="Times New Roman"/>
              </a:defRPr>
            </a:pPr>
            <a:r>
              <a:rPr sz="2550" b="0">
                <a:solidFill>
                  <a:srgbClr val="121212"/>
                </a:solidFill>
                <a:latin typeface="Times New Roman"/>
                <a:ea typeface="Times New Roman"/>
                <a:cs typeface="Times New Roman"/>
              </a:rPr>
              <a:t>Associations and predictions, not causal proof.</a:t>
            </a:r>
          </a:p>
        </p:txBody>
      </p:sp>
    </p:spTree>
    <p:extLst>
      <p:ext uri="{BB962C8B-B14F-4D97-AF65-F5344CB8AC3E}">
        <p14:creationId xmlns:p14="http://schemas.microsoft.com/office/powerpoint/2010/main" val="40502281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CONCLUSION</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We Also Ran the Models in WEKA (Real Screenshots)</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45</a:t>
            </a:r>
          </a:p>
        </p:txBody>
      </p:sp>
      <p:pic>
        <p:nvPicPr>
          <p:cNvPr id="7" name="Picture 6" descr="weka_primary_screenshot_108.png"/>
          <p:cNvPicPr>
            <a:picLocks noChangeAspect="1"/>
          </p:cNvPicPr>
          <p:nvPr/>
        </p:nvPicPr>
        <p:blipFill>
          <a:blip r:embed="rId3"/>
          <a:stretch>
            <a:fillRect/>
          </a:stretch>
        </p:blipFill>
        <p:spPr>
          <a:xfrm>
            <a:off x="1515514" y="1325880"/>
            <a:ext cx="3552651" cy="2971800"/>
          </a:xfrm>
          <a:prstGeom prst="rect">
            <a:avLst/>
          </a:prstGeom>
          <a:ln w="12700">
            <a:solidFill>
              <a:srgbClr val="DADCE0"/>
            </a:solidFill>
          </a:ln>
        </p:spPr>
      </p:pic>
      <p:sp>
        <p:nvSpPr>
          <p:cNvPr id="8" name="TextBox 7"/>
          <p:cNvSpPr txBox="1"/>
          <p:nvPr/>
        </p:nvSpPr>
        <p:spPr>
          <a:xfrm>
            <a:off x="548640" y="4343400"/>
            <a:ext cx="5486400" cy="548640"/>
          </a:xfrm>
          <a:prstGeom prst="rect">
            <a:avLst/>
          </a:prstGeom>
          <a:noFill/>
        </p:spPr>
        <p:txBody>
          <a:bodyPr wrap="square" lIns="27432" tIns="27432" rIns="27432" bIns="27432" anchor="t">
            <a:noAutofit/>
          </a:bodyPr>
          <a:lstStyle/>
          <a:p>
            <a:pPr algn="l">
              <a:lnSpc>
                <a:spcPct val="105000"/>
              </a:lnSpc>
            </a:pPr>
            <a:r>
              <a:rPr sz="1300" b="0">
                <a:solidFill>
                  <a:srgbClr val="52514E"/>
                </a:solidFill>
                <a:latin typeface="Helvetica Neue"/>
              </a:rPr>
              <a:t>Main CGPA Random Forest output — 1,108 instances, class = cgpa_band</a:t>
            </a:r>
          </a:p>
        </p:txBody>
      </p:sp>
      <p:pic>
        <p:nvPicPr>
          <p:cNvPr id="9" name="Picture 8" descr="weka_smo_result.png"/>
          <p:cNvPicPr>
            <a:picLocks noChangeAspect="1"/>
          </p:cNvPicPr>
          <p:nvPr/>
        </p:nvPicPr>
        <p:blipFill>
          <a:blip r:embed="rId4"/>
          <a:stretch>
            <a:fillRect/>
          </a:stretch>
        </p:blipFill>
        <p:spPr>
          <a:xfrm>
            <a:off x="6511800" y="1325880"/>
            <a:ext cx="4852918" cy="2971800"/>
          </a:xfrm>
          <a:prstGeom prst="rect">
            <a:avLst/>
          </a:prstGeom>
          <a:ln w="12700">
            <a:solidFill>
              <a:srgbClr val="DADCE0"/>
            </a:solidFill>
          </a:ln>
        </p:spPr>
      </p:pic>
      <p:sp>
        <p:nvSpPr>
          <p:cNvPr id="10" name="TextBox 9"/>
          <p:cNvSpPr txBox="1"/>
          <p:nvPr/>
        </p:nvSpPr>
        <p:spPr>
          <a:xfrm>
            <a:off x="6263640" y="4343400"/>
            <a:ext cx="5349240" cy="548640"/>
          </a:xfrm>
          <a:prstGeom prst="rect">
            <a:avLst/>
          </a:prstGeom>
          <a:noFill/>
        </p:spPr>
        <p:txBody>
          <a:bodyPr wrap="square" lIns="27432" tIns="27432" rIns="27432" bIns="27432" anchor="t">
            <a:noAutofit/>
          </a:bodyPr>
          <a:lstStyle/>
          <a:p>
            <a:pPr algn="l">
              <a:lnSpc>
                <a:spcPct val="105000"/>
              </a:lnSpc>
            </a:pPr>
            <a:r>
              <a:rPr sz="1300" b="0">
                <a:solidFill>
                  <a:srgbClr val="52514E"/>
                </a:solidFill>
                <a:latin typeface="Helvetica Neue"/>
              </a:rPr>
              <a:t>SMO on the main CGPA task, 10-fold cross-validation: 46.5% correct · confusion matrix rows = actual</a:t>
            </a:r>
          </a:p>
        </p:txBody>
      </p:sp>
      <p:sp>
        <p:nvSpPr>
          <p:cNvPr id="11" name="Rounded Rectangle 10"/>
          <p:cNvSpPr/>
          <p:nvPr/>
        </p:nvSpPr>
        <p:spPr>
          <a:xfrm>
            <a:off x="548640" y="5029200"/>
            <a:ext cx="3520440" cy="123444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5138928"/>
            <a:ext cx="3246120" cy="678942"/>
          </a:xfrm>
          <a:prstGeom prst="rect">
            <a:avLst/>
          </a:prstGeom>
          <a:noFill/>
        </p:spPr>
        <p:txBody>
          <a:bodyPr wrap="square" lIns="27432" tIns="27432" rIns="27432" bIns="27432" anchor="ctr">
            <a:noAutofit/>
          </a:bodyPr>
          <a:lstStyle/>
          <a:p>
            <a:pPr algn="l">
              <a:lnSpc>
                <a:spcPct val="105000"/>
              </a:lnSpc>
            </a:pPr>
            <a:r>
              <a:rPr sz="3000" b="1">
                <a:solidFill>
                  <a:srgbClr val="2A78D6"/>
                </a:solidFill>
                <a:latin typeface="Helvetica Neue"/>
              </a:rPr>
              <a:t>46.5%</a:t>
            </a:r>
          </a:p>
        </p:txBody>
      </p:sp>
      <p:sp>
        <p:nvSpPr>
          <p:cNvPr id="13" name="TextBox 12"/>
          <p:cNvSpPr txBox="1"/>
          <p:nvPr/>
        </p:nvSpPr>
        <p:spPr>
          <a:xfrm>
            <a:off x="685800" y="5745175"/>
            <a:ext cx="3246120" cy="493776"/>
          </a:xfrm>
          <a:prstGeom prst="rect">
            <a:avLst/>
          </a:prstGeom>
          <a:noFill/>
        </p:spPr>
        <p:txBody>
          <a:bodyPr wrap="square" lIns="27432" tIns="27432" rIns="27432" bIns="27432" anchor="t">
            <a:noAutofit/>
          </a:bodyPr>
          <a:lstStyle/>
          <a:p>
            <a:pPr algn="l">
              <a:lnSpc>
                <a:spcPct val="105000"/>
              </a:lnSpc>
            </a:pPr>
            <a:r>
              <a:rPr sz="1300" b="0">
                <a:solidFill>
                  <a:srgbClr val="52514E"/>
                </a:solidFill>
                <a:latin typeface="Helvetica Neue"/>
              </a:rPr>
              <a:t>main CGPA SMO</a:t>
            </a:r>
          </a:p>
        </p:txBody>
      </p:sp>
      <p:sp>
        <p:nvSpPr>
          <p:cNvPr id="14" name="Rounded Rectangle 13"/>
          <p:cNvSpPr/>
          <p:nvPr/>
        </p:nvSpPr>
        <p:spPr>
          <a:xfrm>
            <a:off x="4297679" y="5029200"/>
            <a:ext cx="3520440" cy="123444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34840" y="5138928"/>
            <a:ext cx="3246120" cy="678942"/>
          </a:xfrm>
          <a:prstGeom prst="rect">
            <a:avLst/>
          </a:prstGeom>
          <a:noFill/>
        </p:spPr>
        <p:txBody>
          <a:bodyPr wrap="square" lIns="27432" tIns="27432" rIns="27432" bIns="27432" anchor="ctr">
            <a:noAutofit/>
          </a:bodyPr>
          <a:lstStyle/>
          <a:p>
            <a:pPr algn="l">
              <a:lnSpc>
                <a:spcPct val="105000"/>
              </a:lnSpc>
            </a:pPr>
            <a:r>
              <a:rPr sz="3000" b="1">
                <a:solidFill>
                  <a:srgbClr val="6B7280"/>
                </a:solidFill>
                <a:latin typeface="Helvetica Neue"/>
              </a:rPr>
              <a:t>46.3%</a:t>
            </a:r>
          </a:p>
        </p:txBody>
      </p:sp>
      <p:sp>
        <p:nvSpPr>
          <p:cNvPr id="16" name="TextBox 15"/>
          <p:cNvSpPr txBox="1"/>
          <p:nvPr/>
        </p:nvSpPr>
        <p:spPr>
          <a:xfrm>
            <a:off x="4434840" y="5745175"/>
            <a:ext cx="3246120" cy="493776"/>
          </a:xfrm>
          <a:prstGeom prst="rect">
            <a:avLst/>
          </a:prstGeom>
          <a:noFill/>
        </p:spPr>
        <p:txBody>
          <a:bodyPr wrap="square" lIns="27432" tIns="27432" rIns="27432" bIns="27432" anchor="t">
            <a:noAutofit/>
          </a:bodyPr>
          <a:lstStyle/>
          <a:p>
            <a:pPr algn="l">
              <a:lnSpc>
                <a:spcPct val="105000"/>
              </a:lnSpc>
            </a:pPr>
            <a:r>
              <a:rPr sz="1300" b="0">
                <a:solidFill>
                  <a:srgbClr val="52514E"/>
                </a:solidFill>
                <a:latin typeface="Helvetica Neue"/>
              </a:rPr>
              <a:t>main CGPA Random Forest</a:t>
            </a:r>
          </a:p>
        </p:txBody>
      </p:sp>
      <p:sp>
        <p:nvSpPr>
          <p:cNvPr id="17" name="Rounded Rectangle 16"/>
          <p:cNvSpPr/>
          <p:nvPr/>
        </p:nvSpPr>
        <p:spPr>
          <a:xfrm>
            <a:off x="8046719" y="5029200"/>
            <a:ext cx="3520440" cy="123444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83879" y="5138928"/>
            <a:ext cx="3246120" cy="678942"/>
          </a:xfrm>
          <a:prstGeom prst="rect">
            <a:avLst/>
          </a:prstGeom>
          <a:noFill/>
        </p:spPr>
        <p:txBody>
          <a:bodyPr wrap="square" lIns="27432" tIns="27432" rIns="27432" bIns="27432" anchor="ctr">
            <a:noAutofit/>
          </a:bodyPr>
          <a:lstStyle/>
          <a:p>
            <a:pPr algn="l">
              <a:lnSpc>
                <a:spcPct val="105000"/>
              </a:lnSpc>
            </a:pPr>
            <a:r>
              <a:rPr sz="3000" b="1">
                <a:solidFill>
                  <a:srgbClr val="52514E"/>
                </a:solidFill>
                <a:latin typeface="Helvetica Neue"/>
              </a:rPr>
              <a:t>29.0%</a:t>
            </a:r>
          </a:p>
        </p:txBody>
      </p:sp>
      <p:sp>
        <p:nvSpPr>
          <p:cNvPr id="19" name="TextBox 18"/>
          <p:cNvSpPr txBox="1"/>
          <p:nvPr/>
        </p:nvSpPr>
        <p:spPr>
          <a:xfrm>
            <a:off x="8183879" y="5745175"/>
            <a:ext cx="3246120" cy="493776"/>
          </a:xfrm>
          <a:prstGeom prst="rect">
            <a:avLst/>
          </a:prstGeom>
          <a:noFill/>
        </p:spPr>
        <p:txBody>
          <a:bodyPr wrap="square" lIns="27432" tIns="27432" rIns="27432" bIns="27432" anchor="t">
            <a:noAutofit/>
          </a:bodyPr>
          <a:lstStyle/>
          <a:p>
            <a:pPr algn="l">
              <a:lnSpc>
                <a:spcPct val="105000"/>
              </a:lnSpc>
            </a:pPr>
            <a:r>
              <a:rPr sz="1300" b="0">
                <a:solidFill>
                  <a:srgbClr val="52514E"/>
                </a:solidFill>
                <a:latin typeface="Helvetica Neue"/>
              </a:rPr>
              <a:t>ZeroR = always guessing the most common group</a:t>
            </a:r>
          </a:p>
        </p:txBody>
      </p:sp>
      <p:sp>
        <p:nvSpPr>
          <p:cNvPr id="20" name="SimpleLightSectionLabel">
            <a:extLst>
              <a:ext uri="{FF2B5EF4-FFF2-40B4-BE49-F238E27FC236}">
                <a16:creationId xmlns:a16="http://schemas.microsoft.com/office/drawing/2014/main" id="{2D50F59C-24CC-4960-B692-AB8957408A1E}"/>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MAIN CGPA PREDICTION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CONCLUSION</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Models Used in Previous Work and in Our Project</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46</a:t>
            </a:r>
          </a:p>
        </p:txBody>
      </p:sp>
      <p:graphicFrame>
        <p:nvGraphicFramePr>
          <p:cNvPr id="7" name="Table 6"/>
          <p:cNvGraphicFramePr>
            <a:graphicFrameLocks noGrp="1"/>
          </p:cNvGraphicFramePr>
          <p:nvPr/>
        </p:nvGraphicFramePr>
        <p:xfrm>
          <a:off x="457200" y="1325880"/>
          <a:ext cx="11247120" cy="44805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896112">
                <a:tc>
                  <a:txBody>
                    <a:bodyPr/>
                    <a:lstStyle/>
                    <a:p>
                      <a:r>
                        <a:rPr sz="1200" b="1">
                          <a:solidFill>
                            <a:srgbClr val="FFFFFF"/>
                          </a:solidFill>
                          <a:latin typeface="Segoe UI"/>
                        </a:rPr>
                        <a:t>Study</a:t>
                      </a:r>
                    </a:p>
                  </a:txBody>
                  <a:tcPr marL="64008" marR="64008" marT="18288" marB="18288" anchor="ctr">
                    <a:solidFill>
                      <a:srgbClr val="1F3B5C"/>
                    </a:solidFill>
                  </a:tcPr>
                </a:tc>
                <a:tc>
                  <a:txBody>
                    <a:bodyPr/>
                    <a:lstStyle/>
                    <a:p>
                      <a:r>
                        <a:rPr sz="1200" b="1">
                          <a:solidFill>
                            <a:srgbClr val="FFFFFF"/>
                          </a:solidFill>
                          <a:latin typeface="Segoe UI"/>
                        </a:rPr>
                        <a:t>Students / target</a:t>
                      </a:r>
                    </a:p>
                  </a:txBody>
                  <a:tcPr marL="64008" marR="64008" marT="18288" marB="18288" anchor="ctr">
                    <a:solidFill>
                      <a:srgbClr val="1F3B5C"/>
                    </a:solidFill>
                  </a:tcPr>
                </a:tc>
                <a:tc>
                  <a:txBody>
                    <a:bodyPr/>
                    <a:lstStyle/>
                    <a:p>
                      <a:r>
                        <a:rPr sz="1200" b="1">
                          <a:solidFill>
                            <a:srgbClr val="FFFFFF"/>
                          </a:solidFill>
                          <a:latin typeface="Segoe UI"/>
                        </a:rPr>
                        <a:t>Models used</a:t>
                      </a:r>
                    </a:p>
                  </a:txBody>
                  <a:tcPr marL="64008" marR="64008" marT="18288" marB="18288" anchor="ctr">
                    <a:solidFill>
                      <a:srgbClr val="1F3B5C"/>
                    </a:solidFill>
                  </a:tcPr>
                </a:tc>
                <a:tc>
                  <a:txBody>
                    <a:bodyPr/>
                    <a:lstStyle/>
                    <a:p>
                      <a:r>
                        <a:rPr sz="1200" b="1">
                          <a:solidFill>
                            <a:srgbClr val="FFFFFF"/>
                          </a:solidFill>
                          <a:latin typeface="Segoe UI"/>
                        </a:rPr>
                        <a:t>Key result</a:t>
                      </a:r>
                    </a:p>
                  </a:txBody>
                  <a:tcPr marL="64008" marR="64008" marT="18288" marB="18288" anchor="ctr">
                    <a:solidFill>
                      <a:srgbClr val="1F3B5C"/>
                    </a:solidFill>
                  </a:tcPr>
                </a:tc>
                <a:extLst>
                  <a:ext uri="{0D108BD9-81ED-4DB2-BD59-A6C34878D82A}">
                    <a16:rowId xmlns:a16="http://schemas.microsoft.com/office/drawing/2014/main" val="10000"/>
                  </a:ext>
                </a:extLst>
              </a:tr>
              <a:tr h="896112">
                <a:tc>
                  <a:txBody>
                    <a:bodyPr/>
                    <a:lstStyle/>
                    <a:p>
                      <a:r>
                        <a:rPr sz="1200" b="1">
                          <a:solidFill>
                            <a:srgbClr val="0B0B0B"/>
                          </a:solidFill>
                          <a:latin typeface="Segoe UI"/>
                        </a:rPr>
                        <a:t>[1] Ahmed (2024)</a:t>
                      </a:r>
                    </a:p>
                  </a:txBody>
                  <a:tcPr marL="64008" marR="64008" marT="18288" marB="18288" anchor="ctr">
                    <a:solidFill>
                      <a:srgbClr val="FFFFFF"/>
                    </a:solidFill>
                  </a:tcPr>
                </a:tc>
                <a:tc>
                  <a:txBody>
                    <a:bodyPr/>
                    <a:lstStyle/>
                    <a:p>
                      <a:r>
                        <a:rPr sz="1200" b="0">
                          <a:solidFill>
                            <a:srgbClr val="0B0B0B"/>
                          </a:solidFill>
                          <a:latin typeface="Segoe UI"/>
                        </a:rPr>
                        <a:t>Student performance (classification)</a:t>
                      </a:r>
                    </a:p>
                  </a:txBody>
                  <a:tcPr marL="64008" marR="64008" marT="18288" marB="18288" anchor="ctr">
                    <a:solidFill>
                      <a:srgbClr val="FFFFFF"/>
                    </a:solidFill>
                  </a:tcPr>
                </a:tc>
                <a:tc>
                  <a:txBody>
                    <a:bodyPr/>
                    <a:lstStyle/>
                    <a:p>
                      <a:r>
                        <a:rPr sz="1200" b="0">
                          <a:solidFill>
                            <a:srgbClr val="0B0B0B"/>
                          </a:solidFill>
                          <a:latin typeface="Segoe UI"/>
                        </a:rPr>
                        <a:t>K-means + SVM, Decision Tree, Naive Bayes, KNN</a:t>
                      </a:r>
                    </a:p>
                  </a:txBody>
                  <a:tcPr marL="64008" marR="64008" marT="18288" marB="18288" anchor="ctr">
                    <a:solidFill>
                      <a:srgbClr val="FFFFFF"/>
                    </a:solidFill>
                  </a:tcPr>
                </a:tc>
                <a:tc>
                  <a:txBody>
                    <a:bodyPr/>
                    <a:lstStyle/>
                    <a:p>
                      <a:r>
                        <a:rPr sz="1200" b="0">
                          <a:solidFill>
                            <a:srgbClr val="0B0B0B"/>
                          </a:solidFill>
                          <a:latin typeface="Segoe UI"/>
                        </a:rPr>
                        <a:t>SVM best after parameter tuning (96% accuracy); Naive Bayes lowest</a:t>
                      </a:r>
                    </a:p>
                  </a:txBody>
                  <a:tcPr marL="64008" marR="64008" marT="18288" marB="18288" anchor="ctr">
                    <a:solidFill>
                      <a:srgbClr val="FFFFFF"/>
                    </a:solidFill>
                  </a:tcPr>
                </a:tc>
                <a:extLst>
                  <a:ext uri="{0D108BD9-81ED-4DB2-BD59-A6C34878D82A}">
                    <a16:rowId xmlns:a16="http://schemas.microsoft.com/office/drawing/2014/main" val="10001"/>
                  </a:ext>
                </a:extLst>
              </a:tr>
              <a:tr h="896112">
                <a:tc>
                  <a:txBody>
                    <a:bodyPr/>
                    <a:lstStyle/>
                    <a:p>
                      <a:r>
                        <a:rPr sz="1200" b="1">
                          <a:solidFill>
                            <a:srgbClr val="0B0B0B"/>
                          </a:solidFill>
                          <a:latin typeface="Segoe UI"/>
                        </a:rPr>
                        <a:t>[2] Maruf et al. (2024)</a:t>
                      </a:r>
                    </a:p>
                  </a:txBody>
                  <a:tcPr marL="64008" marR="64008" marT="18288" marB="18288" anchor="ctr">
                    <a:solidFill>
                      <a:srgbClr val="F7F8FA"/>
                    </a:solidFill>
                  </a:tcPr>
                </a:tc>
                <a:tc>
                  <a:txBody>
                    <a:bodyPr/>
                    <a:lstStyle/>
                    <a:p>
                      <a:r>
                        <a:rPr sz="1200" b="0">
                          <a:solidFill>
                            <a:srgbClr val="0B0B0B"/>
                          </a:solidFill>
                          <a:latin typeface="Segoe UI"/>
                        </a:rPr>
                        <a:t>Bangladeshi SSC and HSC students: SSC and HSC exam results</a:t>
                      </a:r>
                    </a:p>
                  </a:txBody>
                  <a:tcPr marL="64008" marR="64008" marT="18288" marB="18288" anchor="ctr">
                    <a:solidFill>
                      <a:srgbClr val="F7F8FA"/>
                    </a:solidFill>
                  </a:tcPr>
                </a:tc>
                <a:tc>
                  <a:txBody>
                    <a:bodyPr/>
                    <a:lstStyle/>
                    <a:p>
                      <a:r>
                        <a:rPr sz="1200" b="0">
                          <a:solidFill>
                            <a:srgbClr val="0B0B0B"/>
                          </a:solidFill>
                          <a:latin typeface="Segoe UI"/>
                        </a:rPr>
                        <a:t>Tuned individual ML models + stacking ensemble; SHAP explanations</a:t>
                      </a:r>
                    </a:p>
                  </a:txBody>
                  <a:tcPr marL="64008" marR="64008" marT="18288" marB="18288" anchor="ctr">
                    <a:solidFill>
                      <a:srgbClr val="F7F8FA"/>
                    </a:solidFill>
                  </a:tcPr>
                </a:tc>
                <a:tc>
                  <a:txBody>
                    <a:bodyPr/>
                    <a:lstStyle/>
                    <a:p>
                      <a:r>
                        <a:rPr sz="1200" b="0">
                          <a:solidFill>
                            <a:srgbClr val="0B0B0B"/>
                          </a:solidFill>
                          <a:latin typeface="Segoe UI"/>
                        </a:rPr>
                        <a:t>Stacking ensemble best: 82.23% (SSC) and 86.89% (HSC); feature scaling mattered</a:t>
                      </a:r>
                    </a:p>
                  </a:txBody>
                  <a:tcPr marL="64008" marR="64008" marT="18288" marB="18288" anchor="ctr">
                    <a:solidFill>
                      <a:srgbClr val="F7F8FA"/>
                    </a:solidFill>
                  </a:tcPr>
                </a:tc>
                <a:extLst>
                  <a:ext uri="{0D108BD9-81ED-4DB2-BD59-A6C34878D82A}">
                    <a16:rowId xmlns:a16="http://schemas.microsoft.com/office/drawing/2014/main" val="10002"/>
                  </a:ext>
                </a:extLst>
              </a:tr>
              <a:tr h="896112">
                <a:tc>
                  <a:txBody>
                    <a:bodyPr/>
                    <a:lstStyle/>
                    <a:p>
                      <a:r>
                        <a:rPr sz="1200" b="1">
                          <a:solidFill>
                            <a:srgbClr val="0B0B0B"/>
                          </a:solidFill>
                          <a:latin typeface="Segoe UI"/>
                        </a:rPr>
                        <a:t>[3] Albonny &amp; Duru (2026)</a:t>
                      </a:r>
                    </a:p>
                  </a:txBody>
                  <a:tcPr marL="64008" marR="64008" marT="18288" marB="18288" anchor="ctr">
                    <a:solidFill>
                      <a:srgbClr val="FFFFFF"/>
                    </a:solidFill>
                  </a:tcPr>
                </a:tc>
                <a:tc>
                  <a:txBody>
                    <a:bodyPr/>
                    <a:lstStyle/>
                    <a:p>
                      <a:r>
                        <a:rPr sz="1200" b="0">
                          <a:solidFill>
                            <a:srgbClr val="0B0B0B"/>
                          </a:solidFill>
                          <a:latin typeface="Segoe UI"/>
                        </a:rPr>
                        <a:t>Bangladeshi secondary-school students: Average grade of five common courses (regression)</a:t>
                      </a:r>
                    </a:p>
                  </a:txBody>
                  <a:tcPr marL="64008" marR="64008" marT="18288" marB="18288" anchor="ctr">
                    <a:solidFill>
                      <a:srgbClr val="FFFFFF"/>
                    </a:solidFill>
                  </a:tcPr>
                </a:tc>
                <a:tc>
                  <a:txBody>
                    <a:bodyPr/>
                    <a:lstStyle/>
                    <a:p>
                      <a:r>
                        <a:rPr sz="1200" b="0">
                          <a:solidFill>
                            <a:srgbClr val="0B0B0B"/>
                          </a:solidFill>
                          <a:latin typeface="Segoe UI"/>
                        </a:rPr>
                        <a:t>Multiple Linear Regression, Decision Tree, Random Forest, Deep Neural Network</a:t>
                      </a:r>
                    </a:p>
                  </a:txBody>
                  <a:tcPr marL="64008" marR="64008" marT="18288" marB="18288" anchor="ctr">
                    <a:solidFill>
                      <a:srgbClr val="FFFFFF"/>
                    </a:solidFill>
                  </a:tcPr>
                </a:tc>
                <a:tc>
                  <a:txBody>
                    <a:bodyPr/>
                    <a:lstStyle/>
                    <a:p>
                      <a:r>
                        <a:rPr sz="1200" b="0">
                          <a:solidFill>
                            <a:srgbClr val="0B0B0B"/>
                          </a:solidFill>
                          <a:latin typeface="Segoe UI"/>
                        </a:rPr>
                        <a:t>Random Forest best (R² 93.3 vs DNN 93.0); student group most important; study time and attendance also important</a:t>
                      </a:r>
                    </a:p>
                  </a:txBody>
                  <a:tcPr marL="64008" marR="64008" marT="18288" marB="18288" anchor="ctr">
                    <a:solidFill>
                      <a:srgbClr val="FFFFFF"/>
                    </a:solidFill>
                  </a:tcPr>
                </a:tc>
                <a:extLst>
                  <a:ext uri="{0D108BD9-81ED-4DB2-BD59-A6C34878D82A}">
                    <a16:rowId xmlns:a16="http://schemas.microsoft.com/office/drawing/2014/main" val="10003"/>
                  </a:ext>
                </a:extLst>
              </a:tr>
              <a:tr h="896112">
                <a:tc>
                  <a:txBody>
                    <a:bodyPr/>
                    <a:lstStyle/>
                    <a:p>
                      <a:r>
                        <a:rPr sz="1200" b="1">
                          <a:solidFill>
                            <a:srgbClr val="0B0B0B"/>
                          </a:solidFill>
                          <a:latin typeface="Segoe UI"/>
                        </a:rPr>
                        <a:t>This project</a:t>
                      </a:r>
                    </a:p>
                  </a:txBody>
                  <a:tcPr marL="64008" marR="64008" marT="18288" marB="18288" anchor="ctr">
                    <a:solidFill>
                      <a:srgbClr val="EAF2FC"/>
                    </a:solidFill>
                  </a:tcPr>
                </a:tc>
                <a:tc>
                  <a:txBody>
                    <a:bodyPr/>
                    <a:lstStyle/>
                    <a:p>
                      <a:r>
                        <a:rPr sz="1200" b="1">
                          <a:solidFill>
                            <a:srgbClr val="0B0B0B"/>
                          </a:solidFill>
                          <a:latin typeface="Segoe UI"/>
                        </a:rPr>
                        <a:t>1,108 engineering students, 4 universities: CGPA group C0–C3</a:t>
                      </a:r>
                    </a:p>
                  </a:txBody>
                  <a:tcPr marL="64008" marR="64008" marT="18288" marB="18288" anchor="ctr">
                    <a:solidFill>
                      <a:srgbClr val="EAF2FC"/>
                    </a:solidFill>
                  </a:tcPr>
                </a:tc>
                <a:tc>
                  <a:txBody>
                    <a:bodyPr/>
                    <a:lstStyle/>
                    <a:p>
                      <a:r>
                        <a:rPr sz="1200" b="1">
                          <a:solidFill>
                            <a:srgbClr val="0B0B0B"/>
                          </a:solidFill>
                          <a:latin typeface="Segoe UI"/>
                        </a:rPr>
                        <a:t>Decision Tree for rules · Random Forest, SVM, Logistic, Naive Bayes, k-NN, Gradient Boosting · WEKA J48, SMO</a:t>
                      </a:r>
                    </a:p>
                  </a:txBody>
                  <a:tcPr marL="64008" marR="64008" marT="18288" marB="18288" anchor="ctr">
                    <a:solidFill>
                      <a:srgbClr val="EAF2FC"/>
                    </a:solidFill>
                  </a:tcPr>
                </a:tc>
                <a:tc>
                  <a:txBody>
                    <a:bodyPr/>
                    <a:lstStyle/>
                    <a:p>
                      <a:r>
                        <a:rPr sz="1200" b="1">
                          <a:solidFill>
                            <a:srgbClr val="0B0B0B"/>
                          </a:solidFill>
                          <a:latin typeface="Segoe UI"/>
                        </a:rPr>
                        <a:t>Main CGPA tree: 45.7% on unseen students · WEKA SMO 46.5% (cross-validation)</a:t>
                      </a:r>
                    </a:p>
                  </a:txBody>
                  <a:tcPr marL="64008" marR="64008" marT="18288" marB="18288" anchor="ctr">
                    <a:solidFill>
                      <a:srgbClr val="EAF2FC"/>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457200" y="5870448"/>
            <a:ext cx="11247120" cy="457200"/>
          </a:xfrm>
          <a:prstGeom prst="rect">
            <a:avLst/>
          </a:prstGeom>
          <a:noFill/>
        </p:spPr>
        <p:txBody>
          <a:bodyPr wrap="square" lIns="27432" tIns="27432" rIns="27432" bIns="27432" anchor="t">
            <a:noAutofit/>
          </a:bodyPr>
          <a:lstStyle/>
          <a:p>
            <a:pPr algn="l">
              <a:lnSpc>
                <a:spcPct val="105000"/>
              </a:lnSpc>
            </a:pPr>
            <a:r>
              <a:rPr sz="1300" b="0">
                <a:solidFill>
                  <a:srgbClr val="52514E"/>
                </a:solidFill>
                <a:latin typeface="Helvetica Neue"/>
              </a:rPr>
              <a:t>Only models and results stated in the papers' published abstracts are shown. The numbers come from different students and targets, so they are not directly comparable.</a:t>
            </a:r>
          </a:p>
        </p:txBody>
      </p:sp>
      <p:sp>
        <p:nvSpPr>
          <p:cNvPr id="9" name="SimpleLightSectionLabel">
            <a:extLst>
              <a:ext uri="{FF2B5EF4-FFF2-40B4-BE49-F238E27FC236}">
                <a16:creationId xmlns:a16="http://schemas.microsoft.com/office/drawing/2014/main" id="{A896FCDF-3661-41BB-A82F-2F83AF9176D5}"/>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MAIN CGPA PREDICTION</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CONCLUSION</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What Data Would Make Prediction Better?</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50</a:t>
            </a:r>
          </a:p>
        </p:txBody>
      </p:sp>
      <p:sp>
        <p:nvSpPr>
          <p:cNvPr id="7" name="Oval 6"/>
          <p:cNvSpPr/>
          <p:nvPr/>
        </p:nvSpPr>
        <p:spPr>
          <a:xfrm>
            <a:off x="731520" y="1417320"/>
            <a:ext cx="731520" cy="731520"/>
          </a:xfrm>
          <a:prstGeom prst="ellipse">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000" b="0">
                <a:solidFill>
                  <a:srgbClr val="0B0B0B"/>
                </a:solidFill>
                <a:latin typeface="Helvetica Neue"/>
              </a:rPr>
              <a:t>🧾</a:t>
            </a:r>
          </a:p>
        </p:txBody>
      </p:sp>
      <p:sp>
        <p:nvSpPr>
          <p:cNvPr id="8" name="Rounded Rectangle 7"/>
          <p:cNvSpPr/>
          <p:nvPr/>
        </p:nvSpPr>
        <p:spPr>
          <a:xfrm>
            <a:off x="1645920" y="1463040"/>
            <a:ext cx="9966960" cy="64008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l">
              <a:lnSpc>
                <a:spcPct val="105000"/>
              </a:lnSpc>
            </a:pPr>
            <a:r>
              <a:rPr sz="2000" b="0">
                <a:solidFill>
                  <a:srgbClr val="0B0B0B"/>
                </a:solidFill>
                <a:latin typeface="Helvetica Neue"/>
              </a:rPr>
              <a:t>Verified semester grades from official records</a:t>
            </a:r>
          </a:p>
        </p:txBody>
      </p:sp>
      <p:sp>
        <p:nvSpPr>
          <p:cNvPr id="9" name="Oval 8"/>
          <p:cNvSpPr/>
          <p:nvPr/>
        </p:nvSpPr>
        <p:spPr>
          <a:xfrm>
            <a:off x="731520" y="2313432"/>
            <a:ext cx="731520" cy="731520"/>
          </a:xfrm>
          <a:prstGeom prst="ellipse">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000" b="0">
                <a:solidFill>
                  <a:srgbClr val="0B0B0B"/>
                </a:solidFill>
                <a:latin typeface="Helvetica Neue"/>
              </a:rPr>
              <a:t>📘</a:t>
            </a:r>
          </a:p>
        </p:txBody>
      </p:sp>
      <p:sp>
        <p:nvSpPr>
          <p:cNvPr id="10" name="Rounded Rectangle 9"/>
          <p:cNvSpPr/>
          <p:nvPr/>
        </p:nvSpPr>
        <p:spPr>
          <a:xfrm>
            <a:off x="1645920" y="2359152"/>
            <a:ext cx="9966960" cy="64008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l">
              <a:lnSpc>
                <a:spcPct val="105000"/>
              </a:lnSpc>
            </a:pPr>
            <a:r>
              <a:rPr sz="2000" b="0">
                <a:solidFill>
                  <a:srgbClr val="0B0B0B"/>
                </a:solidFill>
                <a:latin typeface="Helvetica Neue"/>
              </a:rPr>
              <a:t>Course-level grades, not only one summary</a:t>
            </a:r>
          </a:p>
        </p:txBody>
      </p:sp>
      <p:sp>
        <p:nvSpPr>
          <p:cNvPr id="11" name="Oval 10"/>
          <p:cNvSpPr/>
          <p:nvPr/>
        </p:nvSpPr>
        <p:spPr>
          <a:xfrm>
            <a:off x="731520" y="3209544"/>
            <a:ext cx="731520" cy="731520"/>
          </a:xfrm>
          <a:prstGeom prst="ellipse">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000" b="0">
                <a:solidFill>
                  <a:srgbClr val="0B0B0B"/>
                </a:solidFill>
                <a:latin typeface="Helvetica Neue"/>
              </a:rPr>
              <a:t>🔁</a:t>
            </a:r>
          </a:p>
        </p:txBody>
      </p:sp>
      <p:sp>
        <p:nvSpPr>
          <p:cNvPr id="12" name="Rounded Rectangle 11"/>
          <p:cNvSpPr/>
          <p:nvPr/>
        </p:nvSpPr>
        <p:spPr>
          <a:xfrm>
            <a:off x="1645920" y="3255263"/>
            <a:ext cx="9966960" cy="64008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l">
              <a:lnSpc>
                <a:spcPct val="105000"/>
              </a:lnSpc>
            </a:pPr>
            <a:r>
              <a:rPr sz="2000" b="0">
                <a:solidFill>
                  <a:srgbClr val="0B0B0B"/>
                </a:solidFill>
                <a:latin typeface="Helvetica Neue"/>
              </a:rPr>
              <a:t>Repeated measurements of the same students</a:t>
            </a:r>
          </a:p>
        </p:txBody>
      </p:sp>
      <p:sp>
        <p:nvSpPr>
          <p:cNvPr id="13" name="Oval 12"/>
          <p:cNvSpPr/>
          <p:nvPr/>
        </p:nvSpPr>
        <p:spPr>
          <a:xfrm>
            <a:off x="731520" y="4105656"/>
            <a:ext cx="731520" cy="731520"/>
          </a:xfrm>
          <a:prstGeom prst="ellipse">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000" b="0">
                <a:solidFill>
                  <a:srgbClr val="0B0B0B"/>
                </a:solidFill>
                <a:latin typeface="Helvetica Neue"/>
              </a:rPr>
              <a:t>⌚</a:t>
            </a:r>
          </a:p>
        </p:txBody>
      </p:sp>
      <p:sp>
        <p:nvSpPr>
          <p:cNvPr id="14" name="Rounded Rectangle 13"/>
          <p:cNvSpPr/>
          <p:nvPr/>
        </p:nvSpPr>
        <p:spPr>
          <a:xfrm>
            <a:off x="1645920" y="4151376"/>
            <a:ext cx="9966960" cy="64008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l">
              <a:lnSpc>
                <a:spcPct val="105000"/>
              </a:lnSpc>
            </a:pPr>
            <a:r>
              <a:rPr sz="2000" b="0">
                <a:solidFill>
                  <a:srgbClr val="0B0B0B"/>
                </a:solidFill>
                <a:latin typeface="Helvetica Neue"/>
              </a:rPr>
              <a:t>Objective study / activity indicators</a:t>
            </a:r>
          </a:p>
        </p:txBody>
      </p:sp>
      <p:sp>
        <p:nvSpPr>
          <p:cNvPr id="15" name="Oval 14"/>
          <p:cNvSpPr/>
          <p:nvPr/>
        </p:nvSpPr>
        <p:spPr>
          <a:xfrm>
            <a:off x="731520" y="5001768"/>
            <a:ext cx="731520" cy="731520"/>
          </a:xfrm>
          <a:prstGeom prst="ellipse">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000" b="0">
                <a:solidFill>
                  <a:srgbClr val="0B0B0B"/>
                </a:solidFill>
                <a:latin typeface="Helvetica Neue"/>
              </a:rPr>
              <a:t>⚖️</a:t>
            </a:r>
          </a:p>
        </p:txBody>
      </p:sp>
      <p:sp>
        <p:nvSpPr>
          <p:cNvPr id="16" name="Rounded Rectangle 15"/>
          <p:cNvSpPr/>
          <p:nvPr/>
        </p:nvSpPr>
        <p:spPr>
          <a:xfrm>
            <a:off x="1645920" y="5047488"/>
            <a:ext cx="9966960" cy="64008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l">
              <a:lnSpc>
                <a:spcPct val="105000"/>
              </a:lnSpc>
            </a:pPr>
            <a:r>
              <a:rPr sz="2000" b="0">
                <a:solidFill>
                  <a:srgbClr val="0B0B0B"/>
                </a:solidFill>
                <a:latin typeface="Helvetica Neue"/>
              </a:rPr>
              <a:t>Balanced sampling across universities</a:t>
            </a:r>
          </a:p>
        </p:txBody>
      </p:sp>
      <p:sp>
        <p:nvSpPr>
          <p:cNvPr id="17" name="TextBox 16"/>
          <p:cNvSpPr txBox="1"/>
          <p:nvPr/>
        </p:nvSpPr>
        <p:spPr>
          <a:xfrm>
            <a:off x="731520" y="5897880"/>
            <a:ext cx="10972800" cy="411480"/>
          </a:xfrm>
          <a:prstGeom prst="rect">
            <a:avLst/>
          </a:prstGeom>
          <a:noFill/>
        </p:spPr>
        <p:txBody>
          <a:bodyPr wrap="square" lIns="27432" tIns="27432" rIns="27432" bIns="27432" anchor="t">
            <a:noAutofit/>
          </a:bodyPr>
          <a:lstStyle/>
          <a:p>
            <a:pPr algn="l">
              <a:lnSpc>
                <a:spcPct val="105000"/>
              </a:lnSpc>
            </a:pPr>
            <a:r>
              <a:rPr sz="1700" b="1">
                <a:solidFill>
                  <a:srgbClr val="52514E"/>
                </a:solidFill>
                <a:latin typeface="Helvetica Neue"/>
              </a:rPr>
              <a:t>More rows of the same questionnaire may help less than better-quality features.</a:t>
            </a:r>
          </a:p>
        </p:txBody>
      </p:sp>
      <p:sp>
        <p:nvSpPr>
          <p:cNvPr id="18" name="SimpleLightSectionLabel">
            <a:extLst>
              <a:ext uri="{FF2B5EF4-FFF2-40B4-BE49-F238E27FC236}">
                <a16:creationId xmlns:a16="http://schemas.microsoft.com/office/drawing/2014/main" id="{5688FBC4-88EA-4D87-9961-D53230E9C5FC}"/>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FINDINGS + CONCLUSION</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CONCLUSION</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Our Complete Story</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51</a:t>
            </a:r>
          </a:p>
        </p:txBody>
      </p:sp>
      <p:sp>
        <p:nvSpPr>
          <p:cNvPr id="7" name="Rounded Rectangle 6"/>
          <p:cNvSpPr/>
          <p:nvPr/>
        </p:nvSpPr>
        <p:spPr>
          <a:xfrm>
            <a:off x="548640" y="1645920"/>
            <a:ext cx="1874519" cy="137160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600" b="1">
                <a:solidFill>
                  <a:srgbClr val="0B0B0B"/>
                </a:solidFill>
                <a:latin typeface="Helvetica Neue"/>
              </a:rPr>
              <a:t>1</a:t>
            </a:r>
          </a:p>
          <a:p>
            <a:pPr algn="ctr">
              <a:lnSpc>
                <a:spcPct val="105000"/>
              </a:lnSpc>
            </a:pPr>
            <a:r>
              <a:rPr sz="1700" b="0">
                <a:solidFill>
                  <a:srgbClr val="0B0B0B"/>
                </a:solidFill>
                <a:latin typeface="Helvetica Neue"/>
              </a:rPr>
              <a:t>Form</a:t>
            </a:r>
          </a:p>
        </p:txBody>
      </p:sp>
      <p:sp>
        <p:nvSpPr>
          <p:cNvPr id="8" name="Right Arrow 7"/>
          <p:cNvSpPr/>
          <p:nvPr/>
        </p:nvSpPr>
        <p:spPr>
          <a:xfrm>
            <a:off x="2468880" y="2176272"/>
            <a:ext cx="329184"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834640" y="1645920"/>
            <a:ext cx="1874519" cy="137160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600" b="1">
                <a:solidFill>
                  <a:srgbClr val="0B0B0B"/>
                </a:solidFill>
                <a:latin typeface="Helvetica Neue"/>
              </a:rPr>
              <a:t>2</a:t>
            </a:r>
          </a:p>
          <a:p>
            <a:pPr algn="ctr">
              <a:lnSpc>
                <a:spcPct val="105000"/>
              </a:lnSpc>
            </a:pPr>
            <a:r>
              <a:rPr sz="1700" b="0">
                <a:solidFill>
                  <a:srgbClr val="0B0B0B"/>
                </a:solidFill>
                <a:latin typeface="Helvetica Neue"/>
              </a:rPr>
              <a:t>Student answers</a:t>
            </a:r>
          </a:p>
        </p:txBody>
      </p:sp>
      <p:sp>
        <p:nvSpPr>
          <p:cNvPr id="10" name="Right Arrow 9"/>
          <p:cNvSpPr/>
          <p:nvPr/>
        </p:nvSpPr>
        <p:spPr>
          <a:xfrm>
            <a:off x="4754880" y="2176272"/>
            <a:ext cx="329184"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120640" y="1645920"/>
            <a:ext cx="1874519" cy="137160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600" b="1">
                <a:solidFill>
                  <a:srgbClr val="0B0B0B"/>
                </a:solidFill>
                <a:latin typeface="Helvetica Neue"/>
              </a:rPr>
              <a:t>3</a:t>
            </a:r>
          </a:p>
          <a:p>
            <a:pPr algn="ctr">
              <a:lnSpc>
                <a:spcPct val="105000"/>
              </a:lnSpc>
            </a:pPr>
            <a:r>
              <a:rPr sz="1700" b="0">
                <a:solidFill>
                  <a:srgbClr val="0B0B0B"/>
                </a:solidFill>
                <a:latin typeface="Helvetica Neue"/>
              </a:rPr>
              <a:t>Data statistics</a:t>
            </a:r>
          </a:p>
        </p:txBody>
      </p:sp>
      <p:sp>
        <p:nvSpPr>
          <p:cNvPr id="12" name="Right Arrow 11"/>
          <p:cNvSpPr/>
          <p:nvPr/>
        </p:nvSpPr>
        <p:spPr>
          <a:xfrm>
            <a:off x="7040879" y="2176272"/>
            <a:ext cx="329184"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406640" y="1645920"/>
            <a:ext cx="1874519" cy="137160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600" b="1">
                <a:solidFill>
                  <a:srgbClr val="0B0B0B"/>
                </a:solidFill>
                <a:latin typeface="Helvetica Neue"/>
              </a:rPr>
              <a:t>4</a:t>
            </a:r>
          </a:p>
          <a:p>
            <a:pPr algn="ctr">
              <a:lnSpc>
                <a:spcPct val="105000"/>
              </a:lnSpc>
            </a:pPr>
            <a:r>
              <a:rPr sz="1700" b="0">
                <a:solidFill>
                  <a:srgbClr val="0B0B0B"/>
                </a:solidFill>
                <a:latin typeface="Helvetica Neue"/>
              </a:rPr>
              <a:t>Behaviour graphs</a:t>
            </a:r>
          </a:p>
        </p:txBody>
      </p:sp>
      <p:sp>
        <p:nvSpPr>
          <p:cNvPr id="14" name="Right Arrow 13"/>
          <p:cNvSpPr/>
          <p:nvPr/>
        </p:nvSpPr>
        <p:spPr>
          <a:xfrm>
            <a:off x="9326880" y="2176272"/>
            <a:ext cx="329184"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692640" y="1645920"/>
            <a:ext cx="1874519" cy="137160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600" b="1">
                <a:solidFill>
                  <a:srgbClr val="FFFFFF"/>
                </a:solidFill>
                <a:latin typeface="Helvetica Neue"/>
              </a:rPr>
              <a:t>5</a:t>
            </a:r>
          </a:p>
          <a:p>
            <a:pPr algn="ctr">
              <a:lnSpc>
                <a:spcPct val="105000"/>
              </a:lnSpc>
            </a:pPr>
            <a:r>
              <a:rPr sz="1700" b="0">
                <a:solidFill>
                  <a:srgbClr val="FFFFFF"/>
                </a:solidFill>
                <a:latin typeface="Helvetica Neue"/>
              </a:rPr>
              <a:t>Decision Tree rules</a:t>
            </a:r>
          </a:p>
        </p:txBody>
      </p:sp>
      <p:sp>
        <p:nvSpPr>
          <p:cNvPr id="16" name="Rounded Rectangle 15"/>
          <p:cNvSpPr/>
          <p:nvPr/>
        </p:nvSpPr>
        <p:spPr>
          <a:xfrm>
            <a:off x="548640" y="3749039"/>
            <a:ext cx="1874519" cy="137160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600" b="1">
                <a:solidFill>
                  <a:srgbClr val="0B0B0B"/>
                </a:solidFill>
                <a:latin typeface="Helvetica Neue"/>
              </a:rPr>
              <a:t>6</a:t>
            </a:r>
          </a:p>
          <a:p>
            <a:pPr algn="ctr">
              <a:lnSpc>
                <a:spcPct val="105000"/>
              </a:lnSpc>
            </a:pPr>
            <a:r>
              <a:rPr sz="1700" b="0">
                <a:solidFill>
                  <a:srgbClr val="0B0B0B"/>
                </a:solidFill>
                <a:latin typeface="Helvetica Neue"/>
              </a:rPr>
              <a:t>Rule validation</a:t>
            </a:r>
          </a:p>
        </p:txBody>
      </p:sp>
      <p:sp>
        <p:nvSpPr>
          <p:cNvPr id="17" name="Right Arrow 16"/>
          <p:cNvSpPr/>
          <p:nvPr/>
        </p:nvSpPr>
        <p:spPr>
          <a:xfrm>
            <a:off x="2468880" y="4279392"/>
            <a:ext cx="329184"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834640" y="3749039"/>
            <a:ext cx="1874519" cy="137160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600" b="1">
                <a:solidFill>
                  <a:srgbClr val="FFFFFF"/>
                </a:solidFill>
                <a:latin typeface="Helvetica Neue"/>
              </a:rPr>
              <a:t>7</a:t>
            </a:r>
          </a:p>
          <a:p>
            <a:pPr algn="ctr">
              <a:lnSpc>
                <a:spcPct val="105000"/>
              </a:lnSpc>
            </a:pPr>
            <a:r>
              <a:rPr sz="1700" b="0">
                <a:solidFill>
                  <a:srgbClr val="FFFFFF"/>
                </a:solidFill>
                <a:latin typeface="Helvetica Neue"/>
              </a:rPr>
              <a:t>Train / Test</a:t>
            </a:r>
          </a:p>
        </p:txBody>
      </p:sp>
      <p:sp>
        <p:nvSpPr>
          <p:cNvPr id="19" name="Right Arrow 18"/>
          <p:cNvSpPr/>
          <p:nvPr/>
        </p:nvSpPr>
        <p:spPr>
          <a:xfrm>
            <a:off x="4754880" y="4279392"/>
            <a:ext cx="329184"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120640" y="3749039"/>
            <a:ext cx="1874519" cy="137160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600" b="1">
                <a:solidFill>
                  <a:srgbClr val="0B0B0B"/>
                </a:solidFill>
                <a:latin typeface="Helvetica Neue"/>
              </a:rPr>
              <a:t>8</a:t>
            </a:r>
          </a:p>
          <a:p>
            <a:pPr algn="ctr">
              <a:lnSpc>
                <a:spcPct val="105000"/>
              </a:lnSpc>
            </a:pPr>
            <a:r>
              <a:rPr sz="1700" b="0">
                <a:solidFill>
                  <a:srgbClr val="0B0B0B"/>
                </a:solidFill>
                <a:latin typeface="Helvetica Neue"/>
              </a:rPr>
              <a:t>Confusion matrix</a:t>
            </a:r>
          </a:p>
        </p:txBody>
      </p:sp>
      <p:sp>
        <p:nvSpPr>
          <p:cNvPr id="21" name="Right Arrow 20"/>
          <p:cNvSpPr/>
          <p:nvPr/>
        </p:nvSpPr>
        <p:spPr>
          <a:xfrm>
            <a:off x="7040879" y="4279392"/>
            <a:ext cx="329184"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406640" y="3749039"/>
            <a:ext cx="1874519" cy="137160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600" b="1">
                <a:solidFill>
                  <a:srgbClr val="0B0B0B"/>
                </a:solidFill>
                <a:latin typeface="Helvetica Neue"/>
              </a:rPr>
              <a:t>9</a:t>
            </a:r>
          </a:p>
          <a:p>
            <a:pPr algn="ctr">
              <a:lnSpc>
                <a:spcPct val="105000"/>
              </a:lnSpc>
            </a:pPr>
            <a:r>
              <a:rPr sz="1700" b="0">
                <a:solidFill>
                  <a:srgbClr val="0B0B0B"/>
                </a:solidFill>
                <a:latin typeface="Helvetica Neue"/>
              </a:rPr>
              <a:t>Conclusion</a:t>
            </a:r>
          </a:p>
        </p:txBody>
      </p:sp>
      <p:sp>
        <p:nvSpPr>
          <p:cNvPr id="23" name="SimpleLightSectionLabel">
            <a:extLst>
              <a:ext uri="{FF2B5EF4-FFF2-40B4-BE49-F238E27FC236}">
                <a16:creationId xmlns:a16="http://schemas.microsoft.com/office/drawing/2014/main" id="{15AEA69D-A3ED-472E-9C9E-1A3F5ACB5569}"/>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FINDINGS + CONCLUSION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463040"/>
            <a:ext cx="11064240" cy="1280160"/>
          </a:xfrm>
          <a:prstGeom prst="rect">
            <a:avLst/>
          </a:prstGeom>
          <a:noFill/>
        </p:spPr>
        <p:txBody>
          <a:bodyPr wrap="square" lIns="27432" tIns="27432" rIns="27432" bIns="27432" anchor="t">
            <a:noAutofit/>
          </a:bodyPr>
          <a:lstStyle/>
          <a:p>
            <a:pPr algn="ctr">
              <a:lnSpc>
                <a:spcPct val="105000"/>
              </a:lnSpc>
            </a:pPr>
            <a:r>
              <a:rPr sz="6600" b="1">
                <a:solidFill>
                  <a:srgbClr val="0B0B0B"/>
                </a:solidFill>
                <a:latin typeface="Helvetica Neue"/>
              </a:rPr>
              <a:t>Thank You</a:t>
            </a:r>
          </a:p>
        </p:txBody>
      </p:sp>
      <p:sp>
        <p:nvSpPr>
          <p:cNvPr id="3" name="TextBox 2"/>
          <p:cNvSpPr txBox="1"/>
          <p:nvPr/>
        </p:nvSpPr>
        <p:spPr>
          <a:xfrm>
            <a:off x="548640" y="2743200"/>
            <a:ext cx="11064240" cy="731520"/>
          </a:xfrm>
          <a:prstGeom prst="rect">
            <a:avLst/>
          </a:prstGeom>
          <a:noFill/>
        </p:spPr>
        <p:txBody>
          <a:bodyPr wrap="square" lIns="27432" tIns="27432" rIns="27432" bIns="27432" anchor="t">
            <a:noAutofit/>
          </a:bodyPr>
          <a:lstStyle/>
          <a:p>
            <a:pPr algn="ctr">
              <a:lnSpc>
                <a:spcPct val="105000"/>
              </a:lnSpc>
            </a:pPr>
            <a:r>
              <a:rPr sz="3200" b="0">
                <a:solidFill>
                  <a:srgbClr val="2A78D6"/>
                </a:solidFill>
                <a:latin typeface="Helvetica Neue"/>
              </a:rPr>
              <a:t>Questions?</a:t>
            </a:r>
          </a:p>
        </p:txBody>
      </p:sp>
      <p:sp>
        <p:nvSpPr>
          <p:cNvPr id="4" name="Rounded Rectangle 3"/>
          <p:cNvSpPr/>
          <p:nvPr/>
        </p:nvSpPr>
        <p:spPr>
          <a:xfrm>
            <a:off x="1005840" y="3977639"/>
            <a:ext cx="324612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0">
                <a:solidFill>
                  <a:srgbClr val="0B0B0B"/>
                </a:solidFill>
                <a:latin typeface="Helvetica Neue"/>
              </a:rPr>
              <a:t>2107020 · Sheikh Md. Galib Mahim</a:t>
            </a:r>
          </a:p>
        </p:txBody>
      </p:sp>
      <p:sp>
        <p:nvSpPr>
          <p:cNvPr id="5" name="Rounded Rectangle 4"/>
          <p:cNvSpPr/>
          <p:nvPr/>
        </p:nvSpPr>
        <p:spPr>
          <a:xfrm>
            <a:off x="4480560" y="3977639"/>
            <a:ext cx="324612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0">
                <a:solidFill>
                  <a:srgbClr val="0B0B0B"/>
                </a:solidFill>
                <a:latin typeface="Helvetica Neue"/>
              </a:rPr>
              <a:t>2107030 · Md. Eftakar Jaman Arfan</a:t>
            </a:r>
          </a:p>
        </p:txBody>
      </p:sp>
      <p:sp>
        <p:nvSpPr>
          <p:cNvPr id="6" name="Rounded Rectangle 5"/>
          <p:cNvSpPr/>
          <p:nvPr/>
        </p:nvSpPr>
        <p:spPr>
          <a:xfrm>
            <a:off x="7955279" y="3977639"/>
            <a:ext cx="324612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0">
                <a:solidFill>
                  <a:srgbClr val="0B0B0B"/>
                </a:solidFill>
                <a:latin typeface="Helvetica Neue"/>
              </a:rPr>
              <a:t>2107007 · Asif Jawad</a:t>
            </a:r>
          </a:p>
        </p:txBody>
      </p:sp>
      <p:sp>
        <p:nvSpPr>
          <p:cNvPr id="7" name="Rounded Rectangle 6"/>
          <p:cNvSpPr/>
          <p:nvPr/>
        </p:nvSpPr>
        <p:spPr>
          <a:xfrm>
            <a:off x="1005840" y="4754879"/>
            <a:ext cx="324612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0">
                <a:solidFill>
                  <a:srgbClr val="0B0B0B"/>
                </a:solidFill>
                <a:latin typeface="Helvetica Neue"/>
              </a:rPr>
              <a:t>2107008 · Rakibul Islam</a:t>
            </a:r>
          </a:p>
        </p:txBody>
      </p:sp>
      <p:sp>
        <p:nvSpPr>
          <p:cNvPr id="8" name="Rounded Rectangle 7"/>
          <p:cNvSpPr/>
          <p:nvPr/>
        </p:nvSpPr>
        <p:spPr>
          <a:xfrm>
            <a:off x="4480560" y="4754879"/>
            <a:ext cx="324612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0">
                <a:solidFill>
                  <a:srgbClr val="0B0B0B"/>
                </a:solidFill>
                <a:latin typeface="Helvetica Neue"/>
              </a:rPr>
              <a:t>2107012 · Md Enam E Elahi</a:t>
            </a:r>
          </a:p>
        </p:txBody>
      </p:sp>
      <p:sp>
        <p:nvSpPr>
          <p:cNvPr id="9" name="Rounded Rectangle 8"/>
          <p:cNvSpPr/>
          <p:nvPr/>
        </p:nvSpPr>
        <p:spPr>
          <a:xfrm>
            <a:off x="7955279" y="4754879"/>
            <a:ext cx="324612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0">
                <a:solidFill>
                  <a:srgbClr val="0B0B0B"/>
                </a:solidFill>
                <a:latin typeface="Helvetica Neue"/>
              </a:rPr>
              <a:t>2107014 · Al Mubtasim Preom</a:t>
            </a:r>
          </a:p>
        </p:txBody>
      </p:sp>
      <p:sp>
        <p:nvSpPr>
          <p:cNvPr id="10" name="TextBox 9"/>
          <p:cNvSpPr txBox="1"/>
          <p:nvPr/>
        </p:nvSpPr>
        <p:spPr>
          <a:xfrm>
            <a:off x="548640" y="5989320"/>
            <a:ext cx="11064240" cy="365760"/>
          </a:xfrm>
          <a:prstGeom prst="rect">
            <a:avLst/>
          </a:prstGeom>
          <a:noFill/>
        </p:spPr>
        <p:txBody>
          <a:bodyPr wrap="square" lIns="27432" tIns="27432" rIns="27432" bIns="27432" anchor="t">
            <a:noAutofit/>
          </a:bodyPr>
          <a:lstStyle/>
          <a:p>
            <a:pPr algn="ctr">
              <a:lnSpc>
                <a:spcPct val="105000"/>
              </a:lnSpc>
            </a:pPr>
            <a:r>
              <a:rPr sz="1300" b="0">
                <a:solidFill>
                  <a:srgbClr val="898781"/>
                </a:solidFill>
                <a:latin typeface="Helvetica Neue"/>
              </a:rPr>
              <a:t>CSE 4112 · Machine Learning Laboratory · KUET</a:t>
            </a:r>
          </a:p>
        </p:txBody>
      </p:sp>
      <p:sp>
        <p:nvSpPr>
          <p:cNvPr id="11" name="SimpleLightSectionLabel">
            <a:extLst>
              <a:ext uri="{FF2B5EF4-FFF2-40B4-BE49-F238E27FC236}">
                <a16:creationId xmlns:a16="http://schemas.microsoft.com/office/drawing/2014/main" id="{81EE05DF-2E40-4CA6-9695-72EE54381573}"/>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FINDINGS + CONCLUSION</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BACKUP</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Full Question List of the Survey Form</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54</a:t>
            </a:r>
          </a:p>
        </p:txBody>
      </p:sp>
      <p:graphicFrame>
        <p:nvGraphicFramePr>
          <p:cNvPr id="7" name="Table 6"/>
          <p:cNvGraphicFramePr>
            <a:graphicFrameLocks noGrp="1"/>
          </p:cNvGraphicFramePr>
          <p:nvPr/>
        </p:nvGraphicFramePr>
        <p:xfrm>
          <a:off x="457200" y="1234440"/>
          <a:ext cx="11247120" cy="4992624"/>
        </p:xfrm>
        <a:graphic>
          <a:graphicData uri="http://schemas.openxmlformats.org/drawingml/2006/table">
            <a:tbl>
              <a:tblPr firstRow="1" bandRow="1">
                <a:tableStyleId>{5C22544A-7EE6-4342-B048-85BDC9FD1C3A}</a:tableStyleId>
              </a:tblPr>
              <a:tblGrid>
                <a:gridCol w="36576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237744">
                <a:tc>
                  <a:txBody>
                    <a:bodyPr/>
                    <a:lstStyle/>
                    <a:p>
                      <a:r>
                        <a:rPr sz="900" b="1">
                          <a:solidFill>
                            <a:srgbClr val="FFFFFF"/>
                          </a:solidFill>
                          <a:latin typeface="Segoe UI"/>
                        </a:rPr>
                        <a:t>#</a:t>
                      </a:r>
                    </a:p>
                  </a:txBody>
                  <a:tcPr marL="64008" marR="64008" marT="18288" marB="18288" anchor="ctr">
                    <a:solidFill>
                      <a:srgbClr val="1F3B5C"/>
                    </a:solidFill>
                  </a:tcPr>
                </a:tc>
                <a:tc>
                  <a:txBody>
                    <a:bodyPr/>
                    <a:lstStyle/>
                    <a:p>
                      <a:r>
                        <a:rPr sz="900" b="1">
                          <a:solidFill>
                            <a:srgbClr val="FFFFFF"/>
                          </a:solidFill>
                          <a:latin typeface="Segoe UI"/>
                        </a:rPr>
                        <a:t>Question</a:t>
                      </a:r>
                    </a:p>
                  </a:txBody>
                  <a:tcPr marL="64008" marR="64008" marT="18288" marB="18288" anchor="ctr">
                    <a:solidFill>
                      <a:srgbClr val="1F3B5C"/>
                    </a:solidFill>
                  </a:tcPr>
                </a:tc>
                <a:tc>
                  <a:txBody>
                    <a:bodyPr/>
                    <a:lstStyle/>
                    <a:p>
                      <a:r>
                        <a:rPr sz="900" b="1">
                          <a:solidFill>
                            <a:srgbClr val="FFFFFF"/>
                          </a:solidFill>
                          <a:latin typeface="Segoe UI"/>
                        </a:rPr>
                        <a:t>Options</a:t>
                      </a:r>
                    </a:p>
                  </a:txBody>
                  <a:tcPr marL="64008" marR="64008" marT="18288" marB="18288" anchor="ctr">
                    <a:solidFill>
                      <a:srgbClr val="1F3B5C"/>
                    </a:solidFill>
                  </a:tcPr>
                </a:tc>
                <a:tc>
                  <a:txBody>
                    <a:bodyPr/>
                    <a:lstStyle/>
                    <a:p>
                      <a:r>
                        <a:rPr sz="900" b="1">
                          <a:solidFill>
                            <a:srgbClr val="FFFFFF"/>
                          </a:solidFill>
                          <a:latin typeface="Segoe UI"/>
                        </a:rPr>
                        <a:t>In tree</a:t>
                      </a:r>
                    </a:p>
                  </a:txBody>
                  <a:tcPr marL="64008" marR="64008" marT="18288" marB="18288" anchor="ctr">
                    <a:solidFill>
                      <a:srgbClr val="1F3B5C"/>
                    </a:solidFill>
                  </a:tcPr>
                </a:tc>
                <a:extLst>
                  <a:ext uri="{0D108BD9-81ED-4DB2-BD59-A6C34878D82A}">
                    <a16:rowId xmlns:a16="http://schemas.microsoft.com/office/drawing/2014/main" val="10000"/>
                  </a:ext>
                </a:extLst>
              </a:tr>
              <a:tr h="237744">
                <a:tc>
                  <a:txBody>
                    <a:bodyPr/>
                    <a:lstStyle/>
                    <a:p>
                      <a:r>
                        <a:rPr sz="900" b="0">
                          <a:solidFill>
                            <a:srgbClr val="0B0B0B"/>
                          </a:solidFill>
                          <a:latin typeface="Segoe UI"/>
                        </a:rPr>
                        <a:t>1</a:t>
                      </a:r>
                    </a:p>
                  </a:txBody>
                  <a:tcPr marL="64008" marR="64008" marT="18288" marB="18288" anchor="ctr">
                    <a:solidFill>
                      <a:srgbClr val="FFFFFF"/>
                    </a:solidFill>
                  </a:tcPr>
                </a:tc>
                <a:tc>
                  <a:txBody>
                    <a:bodyPr/>
                    <a:lstStyle/>
                    <a:p>
                      <a:r>
                        <a:rPr sz="900" b="0">
                          <a:solidFill>
                            <a:srgbClr val="0B0B0B"/>
                          </a:solidFill>
                          <a:latin typeface="Segoe UI"/>
                        </a:rPr>
                        <a:t>What is the name your university?</a:t>
                      </a:r>
                    </a:p>
                  </a:txBody>
                  <a:tcPr marL="64008" marR="64008" marT="18288" marB="18288" anchor="ctr">
                    <a:solidFill>
                      <a:srgbClr val="FFFFFF"/>
                    </a:solidFill>
                  </a:tcPr>
                </a:tc>
                <a:tc>
                  <a:txBody>
                    <a:bodyPr/>
                    <a:lstStyle/>
                    <a:p>
                      <a:r>
                        <a:rPr sz="900" b="0">
                          <a:solidFill>
                            <a:srgbClr val="0B0B0B"/>
                          </a:solidFill>
                          <a:latin typeface="Segoe UI"/>
                        </a:rPr>
                        <a:t>CUET | BRAC | Brac | BRAC University | BRAc | BUET | Buet | Cuet | …</a:t>
                      </a:r>
                    </a:p>
                  </a:txBody>
                  <a:tcPr marL="64008" marR="64008" marT="18288" marB="18288" anchor="ctr">
                    <a:solidFill>
                      <a:srgbClr val="FFFFFF"/>
                    </a:solidFill>
                  </a:tcPr>
                </a:tc>
                <a:tc>
                  <a:txBody>
                    <a:bodyPr/>
                    <a:lstStyle/>
                    <a:p>
                      <a:r>
                        <a:rPr sz="900" b="0">
                          <a:solidFill>
                            <a:srgbClr val="0B0B0B"/>
                          </a:solidFill>
                          <a:latin typeface="Segoe UI"/>
                        </a:rPr>
                        <a:t>—</a:t>
                      </a:r>
                    </a:p>
                  </a:txBody>
                  <a:tcPr marL="64008" marR="64008" marT="18288" marB="18288" anchor="ctr">
                    <a:solidFill>
                      <a:srgbClr val="FFFFFF"/>
                    </a:solidFill>
                  </a:tcPr>
                </a:tc>
                <a:extLst>
                  <a:ext uri="{0D108BD9-81ED-4DB2-BD59-A6C34878D82A}">
                    <a16:rowId xmlns:a16="http://schemas.microsoft.com/office/drawing/2014/main" val="10001"/>
                  </a:ext>
                </a:extLst>
              </a:tr>
              <a:tr h="237744">
                <a:tc>
                  <a:txBody>
                    <a:bodyPr/>
                    <a:lstStyle/>
                    <a:p>
                      <a:r>
                        <a:rPr sz="900" b="0">
                          <a:solidFill>
                            <a:srgbClr val="0B0B0B"/>
                          </a:solidFill>
                          <a:latin typeface="Segoe UI"/>
                        </a:rPr>
                        <a:t>2</a:t>
                      </a:r>
                    </a:p>
                  </a:txBody>
                  <a:tcPr marL="64008" marR="64008" marT="18288" marB="18288" anchor="ctr">
                    <a:solidFill>
                      <a:srgbClr val="F7F8FA"/>
                    </a:solidFill>
                  </a:tcPr>
                </a:tc>
                <a:tc>
                  <a:txBody>
                    <a:bodyPr/>
                    <a:lstStyle/>
                    <a:p>
                      <a:r>
                        <a:rPr sz="900" b="0">
                          <a:solidFill>
                            <a:srgbClr val="0B0B0B"/>
                          </a:solidFill>
                          <a:latin typeface="Segoe UI"/>
                        </a:rPr>
                        <a:t>How satisfied are you with getting admitted into your university?</a:t>
                      </a:r>
                    </a:p>
                  </a:txBody>
                  <a:tcPr marL="64008" marR="64008" marT="18288" marB="18288" anchor="ctr">
                    <a:solidFill>
                      <a:srgbClr val="F7F8FA"/>
                    </a:solidFill>
                  </a:tcPr>
                </a:tc>
                <a:tc>
                  <a:txBody>
                    <a:bodyPr/>
                    <a:lstStyle/>
                    <a:p>
                      <a:r>
                        <a:rPr sz="900" b="0">
                          <a:solidFill>
                            <a:srgbClr val="0B0B0B"/>
                          </a:solidFill>
                          <a:latin typeface="Segoe UI"/>
                        </a:rPr>
                        <a:t>Very dissatisfied | Dissatisfied | Neutral | Satisfied | Very satis…</a:t>
                      </a:r>
                    </a:p>
                  </a:txBody>
                  <a:tcPr marL="64008" marR="64008" marT="18288" marB="18288" anchor="ctr">
                    <a:solidFill>
                      <a:srgbClr val="F7F8FA"/>
                    </a:solidFill>
                  </a:tcPr>
                </a:tc>
                <a:tc>
                  <a:txBody>
                    <a:bodyPr/>
                    <a:lstStyle/>
                    <a:p>
                      <a:r>
                        <a:rPr sz="900" b="0">
                          <a:solidFill>
                            <a:srgbClr val="0B0B0B"/>
                          </a:solidFill>
                          <a:latin typeface="Segoe UI"/>
                        </a:rPr>
                        <a:t>—</a:t>
                      </a:r>
                    </a:p>
                  </a:txBody>
                  <a:tcPr marL="64008" marR="64008" marT="18288" marB="18288" anchor="ctr">
                    <a:solidFill>
                      <a:srgbClr val="F7F8FA"/>
                    </a:solidFill>
                  </a:tcPr>
                </a:tc>
                <a:extLst>
                  <a:ext uri="{0D108BD9-81ED-4DB2-BD59-A6C34878D82A}">
                    <a16:rowId xmlns:a16="http://schemas.microsoft.com/office/drawing/2014/main" val="10002"/>
                  </a:ext>
                </a:extLst>
              </a:tr>
              <a:tr h="237744">
                <a:tc>
                  <a:txBody>
                    <a:bodyPr/>
                    <a:lstStyle/>
                    <a:p>
                      <a:r>
                        <a:rPr sz="900" b="0">
                          <a:solidFill>
                            <a:srgbClr val="0B0B0B"/>
                          </a:solidFill>
                          <a:latin typeface="Segoe UI"/>
                        </a:rPr>
                        <a:t>3</a:t>
                      </a:r>
                    </a:p>
                  </a:txBody>
                  <a:tcPr marL="64008" marR="64008" marT="18288" marB="18288" anchor="ctr">
                    <a:solidFill>
                      <a:srgbClr val="FFFFFF"/>
                    </a:solidFill>
                  </a:tcPr>
                </a:tc>
                <a:tc>
                  <a:txBody>
                    <a:bodyPr/>
                    <a:lstStyle/>
                    <a:p>
                      <a:r>
                        <a:rPr sz="900" b="0">
                          <a:solidFill>
                            <a:srgbClr val="0B0B0B"/>
                          </a:solidFill>
                          <a:latin typeface="Segoe UI"/>
                        </a:rPr>
                        <a:t>What is your department?</a:t>
                      </a:r>
                    </a:p>
                  </a:txBody>
                  <a:tcPr marL="64008" marR="64008" marT="18288" marB="18288" anchor="ctr">
                    <a:solidFill>
                      <a:srgbClr val="FFFFFF"/>
                    </a:solidFill>
                  </a:tcPr>
                </a:tc>
                <a:tc>
                  <a:txBody>
                    <a:bodyPr/>
                    <a:lstStyle/>
                    <a:p>
                      <a:r>
                        <a:rPr sz="900" b="0">
                          <a:solidFill>
                            <a:srgbClr val="0B0B0B"/>
                          </a:solidFill>
                          <a:latin typeface="Segoe UI"/>
                        </a:rPr>
                        <a:t>Electrical and Electronic Engineering | Computer Science and Engine…</a:t>
                      </a:r>
                    </a:p>
                  </a:txBody>
                  <a:tcPr marL="64008" marR="64008" marT="18288" marB="18288" anchor="ctr">
                    <a:solidFill>
                      <a:srgbClr val="FFFFFF"/>
                    </a:solidFill>
                  </a:tcPr>
                </a:tc>
                <a:tc>
                  <a:txBody>
                    <a:bodyPr/>
                    <a:lstStyle/>
                    <a:p>
                      <a:r>
                        <a:rPr sz="900" b="0">
                          <a:solidFill>
                            <a:srgbClr val="0B0B0B"/>
                          </a:solidFill>
                          <a:latin typeface="Segoe UI"/>
                        </a:rPr>
                        <a:t>—</a:t>
                      </a:r>
                    </a:p>
                  </a:txBody>
                  <a:tcPr marL="64008" marR="64008" marT="18288" marB="18288" anchor="ctr">
                    <a:solidFill>
                      <a:srgbClr val="FFFFFF"/>
                    </a:solidFill>
                  </a:tcPr>
                </a:tc>
                <a:extLst>
                  <a:ext uri="{0D108BD9-81ED-4DB2-BD59-A6C34878D82A}">
                    <a16:rowId xmlns:a16="http://schemas.microsoft.com/office/drawing/2014/main" val="10003"/>
                  </a:ext>
                </a:extLst>
              </a:tr>
              <a:tr h="237744">
                <a:tc>
                  <a:txBody>
                    <a:bodyPr/>
                    <a:lstStyle/>
                    <a:p>
                      <a:r>
                        <a:rPr sz="900" b="0">
                          <a:solidFill>
                            <a:srgbClr val="0B0B0B"/>
                          </a:solidFill>
                          <a:latin typeface="Segoe UI"/>
                        </a:rPr>
                        <a:t>4</a:t>
                      </a:r>
                    </a:p>
                  </a:txBody>
                  <a:tcPr marL="64008" marR="64008" marT="18288" marB="18288" anchor="ctr">
                    <a:solidFill>
                      <a:srgbClr val="F7F8FA"/>
                    </a:solidFill>
                  </a:tcPr>
                </a:tc>
                <a:tc>
                  <a:txBody>
                    <a:bodyPr/>
                    <a:lstStyle/>
                    <a:p>
                      <a:r>
                        <a:rPr sz="900" b="0">
                          <a:solidFill>
                            <a:srgbClr val="0B0B0B"/>
                          </a:solidFill>
                          <a:latin typeface="Segoe UI"/>
                        </a:rPr>
                        <a:t>Did you get into your desired subject or department?</a:t>
                      </a:r>
                    </a:p>
                  </a:txBody>
                  <a:tcPr marL="64008" marR="64008" marT="18288" marB="18288" anchor="ctr">
                    <a:solidFill>
                      <a:srgbClr val="F7F8FA"/>
                    </a:solidFill>
                  </a:tcPr>
                </a:tc>
                <a:tc>
                  <a:txBody>
                    <a:bodyPr/>
                    <a:lstStyle/>
                    <a:p>
                      <a:r>
                        <a:rPr sz="900" b="0">
                          <a:solidFill>
                            <a:srgbClr val="0B0B0B"/>
                          </a:solidFill>
                          <a:latin typeface="Segoe UI"/>
                        </a:rPr>
                        <a:t>Not at all what I wanted | Mostly different | Somewhat different | …</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extLst>
                  <a:ext uri="{0D108BD9-81ED-4DB2-BD59-A6C34878D82A}">
                    <a16:rowId xmlns:a16="http://schemas.microsoft.com/office/drawing/2014/main" val="10004"/>
                  </a:ext>
                </a:extLst>
              </a:tr>
              <a:tr h="237744">
                <a:tc>
                  <a:txBody>
                    <a:bodyPr/>
                    <a:lstStyle/>
                    <a:p>
                      <a:r>
                        <a:rPr sz="900" b="0">
                          <a:solidFill>
                            <a:srgbClr val="0B0B0B"/>
                          </a:solidFill>
                          <a:latin typeface="Segoe UI"/>
                        </a:rPr>
                        <a:t>5</a:t>
                      </a:r>
                    </a:p>
                  </a:txBody>
                  <a:tcPr marL="64008" marR="64008" marT="18288" marB="18288" anchor="ctr">
                    <a:solidFill>
                      <a:srgbClr val="FFFFFF"/>
                    </a:solidFill>
                  </a:tcPr>
                </a:tc>
                <a:tc>
                  <a:txBody>
                    <a:bodyPr/>
                    <a:lstStyle/>
                    <a:p>
                      <a:r>
                        <a:rPr sz="900" b="0">
                          <a:solidFill>
                            <a:srgbClr val="0B0B0B"/>
                          </a:solidFill>
                          <a:latin typeface="Segoe UI"/>
                        </a:rPr>
                        <a:t>Which semester are you currently in?</a:t>
                      </a:r>
                    </a:p>
                  </a:txBody>
                  <a:tcPr marL="64008" marR="64008" marT="18288" marB="18288" anchor="ctr">
                    <a:solidFill>
                      <a:srgbClr val="FFFFFF"/>
                    </a:solidFill>
                  </a:tcPr>
                </a:tc>
                <a:tc>
                  <a:txBody>
                    <a:bodyPr/>
                    <a:lstStyle/>
                    <a:p>
                      <a:r>
                        <a:rPr sz="900" b="0">
                          <a:solidFill>
                            <a:srgbClr val="0B0B0B"/>
                          </a:solidFill>
                          <a:latin typeface="Segoe UI"/>
                        </a:rPr>
                        <a:t>1 | 2 | 3 | 4 | 5 | 6 | 7 | 8 | 9 | 10 | 11 | 12</a:t>
                      </a:r>
                    </a:p>
                  </a:txBody>
                  <a:tcPr marL="64008" marR="64008" marT="18288" marB="18288" anchor="ctr">
                    <a:solidFill>
                      <a:srgbClr val="FFFFFF"/>
                    </a:solidFill>
                  </a:tcPr>
                </a:tc>
                <a:tc>
                  <a:txBody>
                    <a:bodyPr/>
                    <a:lstStyle/>
                    <a:p>
                      <a:r>
                        <a:rPr sz="900" b="0">
                          <a:solidFill>
                            <a:srgbClr val="0B0B0B"/>
                          </a:solidFill>
                          <a:latin typeface="Segoe UI"/>
                        </a:rPr>
                        <a:t>—</a:t>
                      </a:r>
                    </a:p>
                  </a:txBody>
                  <a:tcPr marL="64008" marR="64008" marT="18288" marB="18288" anchor="ctr">
                    <a:solidFill>
                      <a:srgbClr val="FFFFFF"/>
                    </a:solidFill>
                  </a:tcPr>
                </a:tc>
                <a:extLst>
                  <a:ext uri="{0D108BD9-81ED-4DB2-BD59-A6C34878D82A}">
                    <a16:rowId xmlns:a16="http://schemas.microsoft.com/office/drawing/2014/main" val="10005"/>
                  </a:ext>
                </a:extLst>
              </a:tr>
              <a:tr h="237744">
                <a:tc>
                  <a:txBody>
                    <a:bodyPr/>
                    <a:lstStyle/>
                    <a:p>
                      <a:r>
                        <a:rPr sz="900" b="0">
                          <a:solidFill>
                            <a:srgbClr val="0B0B0B"/>
                          </a:solidFill>
                          <a:latin typeface="Segoe UI"/>
                        </a:rPr>
                        <a:t>6</a:t>
                      </a:r>
                    </a:p>
                  </a:txBody>
                  <a:tcPr marL="64008" marR="64008" marT="18288" marB="18288" anchor="ctr">
                    <a:solidFill>
                      <a:srgbClr val="F7F8FA"/>
                    </a:solidFill>
                  </a:tcPr>
                </a:tc>
                <a:tc>
                  <a:txBody>
                    <a:bodyPr/>
                    <a:lstStyle/>
                    <a:p>
                      <a:r>
                        <a:rPr sz="900" b="0">
                          <a:solidFill>
                            <a:srgbClr val="0B0B0B"/>
                          </a:solidFill>
                          <a:latin typeface="Segoe UI"/>
                        </a:rPr>
                        <a:t>What was your SGPA in the most recently completed semester?</a:t>
                      </a:r>
                    </a:p>
                  </a:txBody>
                  <a:tcPr marL="64008" marR="64008" marT="18288" marB="18288" anchor="ctr">
                    <a:solidFill>
                      <a:srgbClr val="F7F8FA"/>
                    </a:solidFill>
                  </a:tcPr>
                </a:tc>
                <a:tc>
                  <a:txBody>
                    <a:bodyPr/>
                    <a:lstStyle/>
                    <a:p>
                      <a:r>
                        <a:rPr sz="900" b="0">
                          <a:solidFill>
                            <a:srgbClr val="0B0B0B"/>
                          </a:solidFill>
                          <a:latin typeface="Segoe UI"/>
                        </a:rPr>
                        <a:t>3.0+ | 3.2+ | 3.5+ | 3.75+ | 3.9+ | Below</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extLst>
                  <a:ext uri="{0D108BD9-81ED-4DB2-BD59-A6C34878D82A}">
                    <a16:rowId xmlns:a16="http://schemas.microsoft.com/office/drawing/2014/main" val="10006"/>
                  </a:ext>
                </a:extLst>
              </a:tr>
              <a:tr h="237744">
                <a:tc>
                  <a:txBody>
                    <a:bodyPr/>
                    <a:lstStyle/>
                    <a:p>
                      <a:r>
                        <a:rPr sz="900" b="0">
                          <a:solidFill>
                            <a:srgbClr val="0B0B0B"/>
                          </a:solidFill>
                          <a:latin typeface="Segoe UI"/>
                        </a:rPr>
                        <a:t>7</a:t>
                      </a:r>
                    </a:p>
                  </a:txBody>
                  <a:tcPr marL="64008" marR="64008" marT="18288" marB="18288" anchor="ctr">
                    <a:solidFill>
                      <a:srgbClr val="FFFFFF"/>
                    </a:solidFill>
                  </a:tcPr>
                </a:tc>
                <a:tc>
                  <a:txBody>
                    <a:bodyPr/>
                    <a:lstStyle/>
                    <a:p>
                      <a:r>
                        <a:rPr sz="900" b="0">
                          <a:solidFill>
                            <a:srgbClr val="0B0B0B"/>
                          </a:solidFill>
                          <a:latin typeface="Segoe UI"/>
                        </a:rPr>
                        <a:t>Before that semester, what was your CGPA?</a:t>
                      </a:r>
                    </a:p>
                  </a:txBody>
                  <a:tcPr marL="64008" marR="64008" marT="18288" marB="18288" anchor="ctr">
                    <a:solidFill>
                      <a:srgbClr val="FFFFFF"/>
                    </a:solidFill>
                  </a:tcPr>
                </a:tc>
                <a:tc>
                  <a:txBody>
                    <a:bodyPr/>
                    <a:lstStyle/>
                    <a:p>
                      <a:r>
                        <a:rPr sz="900" b="0">
                          <a:solidFill>
                            <a:srgbClr val="0B0B0B"/>
                          </a:solidFill>
                          <a:latin typeface="Segoe UI"/>
                        </a:rPr>
                        <a:t>3.0+ | 3.2+ | 3.5+ | 3.75+ | 3.9+ | Below</a:t>
                      </a:r>
                    </a:p>
                  </a:txBody>
                  <a:tcPr marL="64008" marR="64008" marT="18288" marB="18288" anchor="ctr">
                    <a:solidFill>
                      <a:srgbClr val="FFFFFF"/>
                    </a:solidFill>
                  </a:tcPr>
                </a:tc>
                <a:tc>
                  <a:txBody>
                    <a:bodyPr/>
                    <a:lstStyle/>
                    <a:p>
                      <a:r>
                        <a:rPr sz="900" b="0">
                          <a:solidFill>
                            <a:srgbClr val="0B0B0B"/>
                          </a:solidFill>
                          <a:latin typeface="Segoe UI"/>
                        </a:rPr>
                        <a:t>—</a:t>
                      </a:r>
                    </a:p>
                  </a:txBody>
                  <a:tcPr marL="64008" marR="64008" marT="18288" marB="18288" anchor="ctr">
                    <a:solidFill>
                      <a:srgbClr val="FFFFFF"/>
                    </a:solidFill>
                  </a:tcPr>
                </a:tc>
                <a:extLst>
                  <a:ext uri="{0D108BD9-81ED-4DB2-BD59-A6C34878D82A}">
                    <a16:rowId xmlns:a16="http://schemas.microsoft.com/office/drawing/2014/main" val="10007"/>
                  </a:ext>
                </a:extLst>
              </a:tr>
              <a:tr h="237744">
                <a:tc>
                  <a:txBody>
                    <a:bodyPr/>
                    <a:lstStyle/>
                    <a:p>
                      <a:r>
                        <a:rPr sz="900" b="0">
                          <a:solidFill>
                            <a:srgbClr val="0B0B0B"/>
                          </a:solidFill>
                          <a:latin typeface="Segoe UI"/>
                        </a:rPr>
                        <a:t>8</a:t>
                      </a:r>
                    </a:p>
                  </a:txBody>
                  <a:tcPr marL="64008" marR="64008" marT="18288" marB="18288" anchor="ctr">
                    <a:solidFill>
                      <a:srgbClr val="F7F8FA"/>
                    </a:solidFill>
                  </a:tcPr>
                </a:tc>
                <a:tc>
                  <a:txBody>
                    <a:bodyPr/>
                    <a:lstStyle/>
                    <a:p>
                      <a:r>
                        <a:rPr sz="900" b="0">
                          <a:solidFill>
                            <a:srgbClr val="0B0B0B"/>
                          </a:solidFill>
                          <a:latin typeface="Segoe UI"/>
                        </a:rPr>
                        <a:t>How satisfied were you with your latest semester result?</a:t>
                      </a:r>
                    </a:p>
                  </a:txBody>
                  <a:tcPr marL="64008" marR="64008" marT="18288" marB="18288" anchor="ctr">
                    <a:solidFill>
                      <a:srgbClr val="F7F8FA"/>
                    </a:solidFill>
                  </a:tcPr>
                </a:tc>
                <a:tc>
                  <a:txBody>
                    <a:bodyPr/>
                    <a:lstStyle/>
                    <a:p>
                      <a:r>
                        <a:rPr sz="900" b="0">
                          <a:solidFill>
                            <a:srgbClr val="0B0B0B"/>
                          </a:solidFill>
                          <a:latin typeface="Segoe UI"/>
                        </a:rPr>
                        <a:t>Very dissatisfied | Dissatisfied | Neutral | Satisfied | Very satis…</a:t>
                      </a:r>
                    </a:p>
                  </a:txBody>
                  <a:tcPr marL="64008" marR="64008" marT="18288" marB="18288" anchor="ctr">
                    <a:solidFill>
                      <a:srgbClr val="F7F8FA"/>
                    </a:solidFill>
                  </a:tcPr>
                </a:tc>
                <a:tc>
                  <a:txBody>
                    <a:bodyPr/>
                    <a:lstStyle/>
                    <a:p>
                      <a:r>
                        <a:rPr sz="900" b="0">
                          <a:solidFill>
                            <a:srgbClr val="0B0B0B"/>
                          </a:solidFill>
                          <a:latin typeface="Segoe UI"/>
                        </a:rPr>
                        <a:t>—</a:t>
                      </a:r>
                    </a:p>
                  </a:txBody>
                  <a:tcPr marL="64008" marR="64008" marT="18288" marB="18288" anchor="ctr">
                    <a:solidFill>
                      <a:srgbClr val="F7F8FA"/>
                    </a:solidFill>
                  </a:tcPr>
                </a:tc>
                <a:extLst>
                  <a:ext uri="{0D108BD9-81ED-4DB2-BD59-A6C34878D82A}">
                    <a16:rowId xmlns:a16="http://schemas.microsoft.com/office/drawing/2014/main" val="10008"/>
                  </a:ext>
                </a:extLst>
              </a:tr>
              <a:tr h="237744">
                <a:tc>
                  <a:txBody>
                    <a:bodyPr/>
                    <a:lstStyle/>
                    <a:p>
                      <a:r>
                        <a:rPr sz="900" b="0">
                          <a:solidFill>
                            <a:srgbClr val="0B0B0B"/>
                          </a:solidFill>
                          <a:latin typeface="Segoe UI"/>
                        </a:rPr>
                        <a:t>9</a:t>
                      </a:r>
                    </a:p>
                  </a:txBody>
                  <a:tcPr marL="64008" marR="64008" marT="18288" marB="18288" anchor="ctr">
                    <a:solidFill>
                      <a:srgbClr val="FFFFFF"/>
                    </a:solidFill>
                  </a:tcPr>
                </a:tc>
                <a:tc>
                  <a:txBody>
                    <a:bodyPr/>
                    <a:lstStyle/>
                    <a:p>
                      <a:r>
                        <a:rPr sz="900" b="0">
                          <a:solidFill>
                            <a:srgbClr val="0B0B0B"/>
                          </a:solidFill>
                          <a:latin typeface="Segoe UI"/>
                        </a:rPr>
                        <a:t>How often were you actually present in class?</a:t>
                      </a:r>
                    </a:p>
                  </a:txBody>
                  <a:tcPr marL="64008" marR="64008" marT="18288" marB="18288" anchor="ctr">
                    <a:solidFill>
                      <a:srgbClr val="FFFFFF"/>
                    </a:solidFill>
                  </a:tcPr>
                </a:tc>
                <a:tc>
                  <a:txBody>
                    <a:bodyPr/>
                    <a:lstStyle/>
                    <a:p>
                      <a:r>
                        <a:rPr sz="900" b="0">
                          <a:solidFill>
                            <a:srgbClr val="0B0B0B"/>
                          </a:solidFill>
                          <a:latin typeface="Segoe UI"/>
                        </a:rPr>
                        <a:t>60-74% | 75-89% | 90% or more</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extLst>
                  <a:ext uri="{0D108BD9-81ED-4DB2-BD59-A6C34878D82A}">
                    <a16:rowId xmlns:a16="http://schemas.microsoft.com/office/drawing/2014/main" val="10009"/>
                  </a:ext>
                </a:extLst>
              </a:tr>
              <a:tr h="237744">
                <a:tc>
                  <a:txBody>
                    <a:bodyPr/>
                    <a:lstStyle/>
                    <a:p>
                      <a:r>
                        <a:rPr sz="900" b="0">
                          <a:solidFill>
                            <a:srgbClr val="0B0B0B"/>
                          </a:solidFill>
                          <a:latin typeface="Segoe UI"/>
                        </a:rPr>
                        <a:t>10</a:t>
                      </a:r>
                    </a:p>
                  </a:txBody>
                  <a:tcPr marL="64008" marR="64008" marT="18288" marB="18288" anchor="ctr">
                    <a:solidFill>
                      <a:srgbClr val="F7F8FA"/>
                    </a:solidFill>
                  </a:tcPr>
                </a:tc>
                <a:tc>
                  <a:txBody>
                    <a:bodyPr/>
                    <a:lstStyle/>
                    <a:p>
                      <a:r>
                        <a:rPr sz="900" b="0">
                          <a:solidFill>
                            <a:srgbClr val="0B0B0B"/>
                          </a:solidFill>
                          <a:latin typeface="Segoe UI"/>
                        </a:rPr>
                        <a:t>Outside class, how much did you usually study per week?</a:t>
                      </a:r>
                    </a:p>
                  </a:txBody>
                  <a:tcPr marL="64008" marR="64008" marT="18288" marB="18288" anchor="ctr">
                    <a:solidFill>
                      <a:srgbClr val="F7F8FA"/>
                    </a:solidFill>
                  </a:tcPr>
                </a:tc>
                <a:tc>
                  <a:txBody>
                    <a:bodyPr/>
                    <a:lstStyle/>
                    <a:p>
                      <a:r>
                        <a:rPr sz="900" b="0">
                          <a:solidFill>
                            <a:srgbClr val="0B0B0B"/>
                          </a:solidFill>
                          <a:latin typeface="Segoe UI"/>
                        </a:rPr>
                        <a:t>Less than 3 hrs | 3-6 hrs | 7-10 hrs | 11-15 hrs | More than 15 hrs</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extLst>
                  <a:ext uri="{0D108BD9-81ED-4DB2-BD59-A6C34878D82A}">
                    <a16:rowId xmlns:a16="http://schemas.microsoft.com/office/drawing/2014/main" val="10010"/>
                  </a:ext>
                </a:extLst>
              </a:tr>
              <a:tr h="237744">
                <a:tc>
                  <a:txBody>
                    <a:bodyPr/>
                    <a:lstStyle/>
                    <a:p>
                      <a:r>
                        <a:rPr sz="900" b="0">
                          <a:solidFill>
                            <a:srgbClr val="0B0B0B"/>
                          </a:solidFill>
                          <a:latin typeface="Segoe UI"/>
                        </a:rPr>
                        <a:t>11</a:t>
                      </a:r>
                    </a:p>
                  </a:txBody>
                  <a:tcPr marL="64008" marR="64008" marT="18288" marB="18288" anchor="ctr">
                    <a:solidFill>
                      <a:srgbClr val="FFFFFF"/>
                    </a:solidFill>
                  </a:tcPr>
                </a:tc>
                <a:tc>
                  <a:txBody>
                    <a:bodyPr/>
                    <a:lstStyle/>
                    <a:p>
                      <a:r>
                        <a:rPr sz="900" b="0">
                          <a:solidFill>
                            <a:srgbClr val="0B0B0B"/>
                          </a:solidFill>
                          <a:latin typeface="Segoe UI"/>
                        </a:rPr>
                        <a:t>Which study style sounds most like you?</a:t>
                      </a:r>
                    </a:p>
                  </a:txBody>
                  <a:tcPr marL="64008" marR="64008" marT="18288" marB="18288" anchor="ctr">
                    <a:solidFill>
                      <a:srgbClr val="FFFFFF"/>
                    </a:solidFill>
                  </a:tcPr>
                </a:tc>
                <a:tc>
                  <a:txBody>
                    <a:bodyPr/>
                    <a:lstStyle/>
                    <a:p>
                      <a:r>
                        <a:rPr sz="900" b="0">
                          <a:solidFill>
                            <a:srgbClr val="0B0B0B"/>
                          </a:solidFill>
                          <a:latin typeface="Segoe UI"/>
                        </a:rPr>
                        <a:t>Occasionally when necessary | Mostly just before exams | Regularly …</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extLst>
                  <a:ext uri="{0D108BD9-81ED-4DB2-BD59-A6C34878D82A}">
                    <a16:rowId xmlns:a16="http://schemas.microsoft.com/office/drawing/2014/main" val="10011"/>
                  </a:ext>
                </a:extLst>
              </a:tr>
              <a:tr h="237744">
                <a:tc>
                  <a:txBody>
                    <a:bodyPr/>
                    <a:lstStyle/>
                    <a:p>
                      <a:r>
                        <a:rPr sz="900" b="0">
                          <a:solidFill>
                            <a:srgbClr val="0B0B0B"/>
                          </a:solidFill>
                          <a:latin typeface="Segoe UI"/>
                        </a:rPr>
                        <a:t>12</a:t>
                      </a:r>
                    </a:p>
                  </a:txBody>
                  <a:tcPr marL="64008" marR="64008" marT="18288" marB="18288" anchor="ctr">
                    <a:solidFill>
                      <a:srgbClr val="F7F8FA"/>
                    </a:solidFill>
                  </a:tcPr>
                </a:tc>
                <a:tc>
                  <a:txBody>
                    <a:bodyPr/>
                    <a:lstStyle/>
                    <a:p>
                      <a:r>
                        <a:rPr sz="900" b="0">
                          <a:solidFill>
                            <a:srgbClr val="0B0B0B"/>
                          </a:solidFill>
                          <a:latin typeface="Segoe UI"/>
                        </a:rPr>
                        <a:t>When a class ended, how much of the topic was usually clear to you?</a:t>
                      </a:r>
                    </a:p>
                  </a:txBody>
                  <a:tcPr marL="64008" marR="64008" marT="18288" marB="18288" anchor="ctr">
                    <a:solidFill>
                      <a:srgbClr val="F7F8FA"/>
                    </a:solidFill>
                  </a:tcPr>
                </a:tc>
                <a:tc>
                  <a:txBody>
                    <a:bodyPr/>
                    <a:lstStyle/>
                    <a:p>
                      <a:r>
                        <a:rPr sz="900" b="0">
                          <a:solidFill>
                            <a:srgbClr val="0B0B0B"/>
                          </a:solidFill>
                          <a:latin typeface="Segoe UI"/>
                        </a:rPr>
                        <a:t>Almost nothing | A little | About half | Most of it | Almost everyt…</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extLst>
                  <a:ext uri="{0D108BD9-81ED-4DB2-BD59-A6C34878D82A}">
                    <a16:rowId xmlns:a16="http://schemas.microsoft.com/office/drawing/2014/main" val="10012"/>
                  </a:ext>
                </a:extLst>
              </a:tr>
              <a:tr h="237744">
                <a:tc>
                  <a:txBody>
                    <a:bodyPr/>
                    <a:lstStyle/>
                    <a:p>
                      <a:r>
                        <a:rPr sz="900" b="0">
                          <a:solidFill>
                            <a:srgbClr val="0B0B0B"/>
                          </a:solidFill>
                          <a:latin typeface="Segoe UI"/>
                        </a:rPr>
                        <a:t>13</a:t>
                      </a:r>
                    </a:p>
                  </a:txBody>
                  <a:tcPr marL="64008" marR="64008" marT="18288" marB="18288" anchor="ctr">
                    <a:solidFill>
                      <a:srgbClr val="FFFFFF"/>
                    </a:solidFill>
                  </a:tcPr>
                </a:tc>
                <a:tc>
                  <a:txBody>
                    <a:bodyPr/>
                    <a:lstStyle/>
                    <a:p>
                      <a:r>
                        <a:rPr sz="900" b="0">
                          <a:solidFill>
                            <a:srgbClr val="0B0B0B"/>
                          </a:solidFill>
                          <a:latin typeface="Segoe UI"/>
                        </a:rPr>
                        <a:t>On a normal night, how much sleep did you get?</a:t>
                      </a:r>
                    </a:p>
                  </a:txBody>
                  <a:tcPr marL="64008" marR="64008" marT="18288" marB="18288" anchor="ctr">
                    <a:solidFill>
                      <a:srgbClr val="FFFFFF"/>
                    </a:solidFill>
                  </a:tcPr>
                </a:tc>
                <a:tc>
                  <a:txBody>
                    <a:bodyPr/>
                    <a:lstStyle/>
                    <a:p>
                      <a:r>
                        <a:rPr sz="900" b="0">
                          <a:solidFill>
                            <a:srgbClr val="0B0B0B"/>
                          </a:solidFill>
                          <a:latin typeface="Segoe UI"/>
                        </a:rPr>
                        <a:t>Less than 5 hrs | 5-6 hrs | 6-7 hrs | 7-8 hrs | More than 8 hrs</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extLst>
                  <a:ext uri="{0D108BD9-81ED-4DB2-BD59-A6C34878D82A}">
                    <a16:rowId xmlns:a16="http://schemas.microsoft.com/office/drawing/2014/main" val="10013"/>
                  </a:ext>
                </a:extLst>
              </a:tr>
              <a:tr h="237744">
                <a:tc>
                  <a:txBody>
                    <a:bodyPr/>
                    <a:lstStyle/>
                    <a:p>
                      <a:r>
                        <a:rPr sz="900" b="0">
                          <a:solidFill>
                            <a:srgbClr val="0B0B0B"/>
                          </a:solidFill>
                          <a:latin typeface="Segoe UI"/>
                        </a:rPr>
                        <a:t>14</a:t>
                      </a:r>
                    </a:p>
                  </a:txBody>
                  <a:tcPr marL="64008" marR="64008" marT="18288" marB="18288" anchor="ctr">
                    <a:solidFill>
                      <a:srgbClr val="F7F8FA"/>
                    </a:solidFill>
                  </a:tcPr>
                </a:tc>
                <a:tc>
                  <a:txBody>
                    <a:bodyPr/>
                    <a:lstStyle/>
                    <a:p>
                      <a:r>
                        <a:rPr sz="900" b="0">
                          <a:solidFill>
                            <a:srgbClr val="0B0B0B"/>
                          </a:solidFill>
                          <a:latin typeface="Segoe UI"/>
                        </a:rPr>
                        <a:t>How often did stress make it difficult for you to study</a:t>
                      </a:r>
                    </a:p>
                  </a:txBody>
                  <a:tcPr marL="64008" marR="64008" marT="18288" marB="18288" anchor="ctr">
                    <a:solidFill>
                      <a:srgbClr val="F7F8FA"/>
                    </a:solidFill>
                  </a:tcPr>
                </a:tc>
                <a:tc>
                  <a:txBody>
                    <a:bodyPr/>
                    <a:lstStyle/>
                    <a:p>
                      <a:r>
                        <a:rPr sz="900" b="0">
                          <a:solidFill>
                            <a:srgbClr val="0B0B0B"/>
                          </a:solidFill>
                          <a:latin typeface="Segoe UI"/>
                        </a:rPr>
                        <a:t>Never | Rarely | Sometimes | Often | Almost always</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extLst>
                  <a:ext uri="{0D108BD9-81ED-4DB2-BD59-A6C34878D82A}">
                    <a16:rowId xmlns:a16="http://schemas.microsoft.com/office/drawing/2014/main" val="10014"/>
                  </a:ext>
                </a:extLst>
              </a:tr>
              <a:tr h="237744">
                <a:tc>
                  <a:txBody>
                    <a:bodyPr/>
                    <a:lstStyle/>
                    <a:p>
                      <a:r>
                        <a:rPr sz="900" b="0">
                          <a:solidFill>
                            <a:srgbClr val="0B0B0B"/>
                          </a:solidFill>
                          <a:latin typeface="Segoe UI"/>
                        </a:rPr>
                        <a:t>15</a:t>
                      </a:r>
                    </a:p>
                  </a:txBody>
                  <a:tcPr marL="64008" marR="64008" marT="18288" marB="18288" anchor="ctr">
                    <a:solidFill>
                      <a:srgbClr val="FFFFFF"/>
                    </a:solidFill>
                  </a:tcPr>
                </a:tc>
                <a:tc>
                  <a:txBody>
                    <a:bodyPr/>
                    <a:lstStyle/>
                    <a:p>
                      <a:r>
                        <a:rPr sz="900" b="0">
                          <a:solidFill>
                            <a:srgbClr val="0B0B0B"/>
                          </a:solidFill>
                          <a:latin typeface="Segoe UI"/>
                        </a:rPr>
                        <a:t>How much time did tuition, a job, club activities or other responsibilities take each week</a:t>
                      </a:r>
                    </a:p>
                  </a:txBody>
                  <a:tcPr marL="64008" marR="64008" marT="18288" marB="18288" anchor="ctr">
                    <a:solidFill>
                      <a:srgbClr val="FFFFFF"/>
                    </a:solidFill>
                  </a:tcPr>
                </a:tc>
                <a:tc>
                  <a:txBody>
                    <a:bodyPr/>
                    <a:lstStyle/>
                    <a:p>
                      <a:r>
                        <a:rPr sz="900" b="0">
                          <a:solidFill>
                            <a:srgbClr val="0B0B0B"/>
                          </a:solidFill>
                          <a:latin typeface="Segoe UI"/>
                        </a:rPr>
                        <a:t>None | 1-5 hrs | 6-10 hrs | 11-15 hrs | More than 15 hrs</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extLst>
                  <a:ext uri="{0D108BD9-81ED-4DB2-BD59-A6C34878D82A}">
                    <a16:rowId xmlns:a16="http://schemas.microsoft.com/office/drawing/2014/main" val="10015"/>
                  </a:ext>
                </a:extLst>
              </a:tr>
              <a:tr h="237744">
                <a:tc>
                  <a:txBody>
                    <a:bodyPr/>
                    <a:lstStyle/>
                    <a:p>
                      <a:r>
                        <a:rPr sz="900" b="0">
                          <a:solidFill>
                            <a:srgbClr val="0B0B0B"/>
                          </a:solidFill>
                          <a:latin typeface="Segoe UI"/>
                        </a:rPr>
                        <a:t>16</a:t>
                      </a:r>
                    </a:p>
                  </a:txBody>
                  <a:tcPr marL="64008" marR="64008" marT="18288" marB="18288" anchor="ctr">
                    <a:solidFill>
                      <a:srgbClr val="F7F8FA"/>
                    </a:solidFill>
                  </a:tcPr>
                </a:tc>
                <a:tc>
                  <a:txBody>
                    <a:bodyPr/>
                    <a:lstStyle/>
                    <a:p>
                      <a:r>
                        <a:rPr sz="900" b="0">
                          <a:solidFill>
                            <a:srgbClr val="0B0B0B"/>
                          </a:solidFill>
                          <a:latin typeface="Segoe UI"/>
                        </a:rPr>
                        <a:t>How often did your phone, gaming, social media, or entertainment steal your planned study </a:t>
                      </a:r>
                    </a:p>
                  </a:txBody>
                  <a:tcPr marL="64008" marR="64008" marT="18288" marB="18288" anchor="ctr">
                    <a:solidFill>
                      <a:srgbClr val="F7F8FA"/>
                    </a:solidFill>
                  </a:tcPr>
                </a:tc>
                <a:tc>
                  <a:txBody>
                    <a:bodyPr/>
                    <a:lstStyle/>
                    <a:p>
                      <a:r>
                        <a:rPr sz="900" b="0">
                          <a:solidFill>
                            <a:srgbClr val="0B0B0B"/>
                          </a:solidFill>
                          <a:latin typeface="Segoe UI"/>
                        </a:rPr>
                        <a:t>Never | Rarely | Sometimes | Often | Almost every day</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extLst>
                  <a:ext uri="{0D108BD9-81ED-4DB2-BD59-A6C34878D82A}">
                    <a16:rowId xmlns:a16="http://schemas.microsoft.com/office/drawing/2014/main" val="10016"/>
                  </a:ext>
                </a:extLst>
              </a:tr>
              <a:tr h="237744">
                <a:tc>
                  <a:txBody>
                    <a:bodyPr/>
                    <a:lstStyle/>
                    <a:p>
                      <a:r>
                        <a:rPr sz="900" b="0">
                          <a:solidFill>
                            <a:srgbClr val="0B0B0B"/>
                          </a:solidFill>
                          <a:latin typeface="Segoe UI"/>
                        </a:rPr>
                        <a:t>17</a:t>
                      </a:r>
                    </a:p>
                  </a:txBody>
                  <a:tcPr marL="64008" marR="64008" marT="18288" marB="18288" anchor="ctr">
                    <a:solidFill>
                      <a:srgbClr val="FFFFFF"/>
                    </a:solidFill>
                  </a:tcPr>
                </a:tc>
                <a:tc>
                  <a:txBody>
                    <a:bodyPr/>
                    <a:lstStyle/>
                    <a:p>
                      <a:r>
                        <a:rPr sz="900" b="0">
                          <a:solidFill>
                            <a:srgbClr val="0B0B0B"/>
                          </a:solidFill>
                          <a:latin typeface="Segoe UI"/>
                        </a:rPr>
                        <a:t>How study-friendly was the place where you lived?</a:t>
                      </a:r>
                    </a:p>
                  </a:txBody>
                  <a:tcPr marL="64008" marR="64008" marT="18288" marB="18288" anchor="ctr">
                    <a:solidFill>
                      <a:srgbClr val="FFFFFF"/>
                    </a:solidFill>
                  </a:tcPr>
                </a:tc>
                <a:tc>
                  <a:txBody>
                    <a:bodyPr/>
                    <a:lstStyle/>
                    <a:p>
                      <a:r>
                        <a:rPr sz="900" b="0">
                          <a:solidFill>
                            <a:srgbClr val="0B0B0B"/>
                          </a:solidFill>
                          <a:latin typeface="Segoe UI"/>
                        </a:rPr>
                        <a:t>Very distracting | Somewhat distracting | Neither good nor bad | Mo…</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extLst>
                  <a:ext uri="{0D108BD9-81ED-4DB2-BD59-A6C34878D82A}">
                    <a16:rowId xmlns:a16="http://schemas.microsoft.com/office/drawing/2014/main" val="10017"/>
                  </a:ext>
                </a:extLst>
              </a:tr>
              <a:tr h="237744">
                <a:tc>
                  <a:txBody>
                    <a:bodyPr/>
                    <a:lstStyle/>
                    <a:p>
                      <a:r>
                        <a:rPr sz="900" b="0">
                          <a:solidFill>
                            <a:srgbClr val="0B0B0B"/>
                          </a:solidFill>
                          <a:latin typeface="Segoe UI"/>
                        </a:rPr>
                        <a:t>18</a:t>
                      </a:r>
                    </a:p>
                  </a:txBody>
                  <a:tcPr marL="64008" marR="64008" marT="18288" marB="18288" anchor="ctr">
                    <a:solidFill>
                      <a:srgbClr val="F7F8FA"/>
                    </a:solidFill>
                  </a:tcPr>
                </a:tc>
                <a:tc>
                  <a:txBody>
                    <a:bodyPr/>
                    <a:lstStyle/>
                    <a:p>
                      <a:r>
                        <a:rPr sz="900" b="0">
                          <a:solidFill>
                            <a:srgbClr val="0B0B0B"/>
                          </a:solidFill>
                          <a:latin typeface="Segoe UI"/>
                        </a:rPr>
                        <a:t>When academic life became difficult, how much support did you receive from family or close</a:t>
                      </a:r>
                    </a:p>
                  </a:txBody>
                  <a:tcPr marL="64008" marR="64008" marT="18288" marB="18288" anchor="ctr">
                    <a:solidFill>
                      <a:srgbClr val="F7F8FA"/>
                    </a:solidFill>
                  </a:tcPr>
                </a:tc>
                <a:tc>
                  <a:txBody>
                    <a:bodyPr/>
                    <a:lstStyle/>
                    <a:p>
                      <a:r>
                        <a:rPr sz="900" b="0">
                          <a:solidFill>
                            <a:srgbClr val="0B0B0B"/>
                          </a:solidFill>
                          <a:latin typeface="Segoe UI"/>
                        </a:rPr>
                        <a:t>No support | Very little support | Some support | Good support | St…</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extLst>
                  <a:ext uri="{0D108BD9-81ED-4DB2-BD59-A6C34878D82A}">
                    <a16:rowId xmlns:a16="http://schemas.microsoft.com/office/drawing/2014/main" val="10018"/>
                  </a:ext>
                </a:extLst>
              </a:tr>
              <a:tr h="237744">
                <a:tc>
                  <a:txBody>
                    <a:bodyPr/>
                    <a:lstStyle/>
                    <a:p>
                      <a:r>
                        <a:rPr sz="900" b="0">
                          <a:solidFill>
                            <a:srgbClr val="0B0B0B"/>
                          </a:solidFill>
                          <a:latin typeface="Segoe UI"/>
                        </a:rPr>
                        <a:t>19</a:t>
                      </a:r>
                    </a:p>
                  </a:txBody>
                  <a:tcPr marL="64008" marR="64008" marT="18288" marB="18288" anchor="ctr">
                    <a:solidFill>
                      <a:srgbClr val="FFFFFF"/>
                    </a:solidFill>
                  </a:tcPr>
                </a:tc>
                <a:tc>
                  <a:txBody>
                    <a:bodyPr/>
                    <a:lstStyle/>
                    <a:p>
                      <a:r>
                        <a:rPr sz="900" b="0">
                          <a:solidFill>
                            <a:srgbClr val="0B0B0B"/>
                          </a:solidFill>
                          <a:latin typeface="Segoe UI"/>
                        </a:rPr>
                        <a:t>Overall, how healthy and manageable was your semester routine?</a:t>
                      </a:r>
                    </a:p>
                  </a:txBody>
                  <a:tcPr marL="64008" marR="64008" marT="18288" marB="18288" anchor="ctr">
                    <a:solidFill>
                      <a:srgbClr val="FFFFFF"/>
                    </a:solidFill>
                  </a:tcPr>
                </a:tc>
                <a:tc>
                  <a:txBody>
                    <a:bodyPr/>
                    <a:lstStyle/>
                    <a:p>
                      <a:r>
                        <a:rPr sz="900" b="0">
                          <a:solidFill>
                            <a:srgbClr val="0B0B0B"/>
                          </a:solidFill>
                          <a:latin typeface="Segoe UI"/>
                        </a:rPr>
                        <a:t>Completely unmanageable | Difficult to manage | Average | Mostly ma…</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extLst>
                  <a:ext uri="{0D108BD9-81ED-4DB2-BD59-A6C34878D82A}">
                    <a16:rowId xmlns:a16="http://schemas.microsoft.com/office/drawing/2014/main" val="10019"/>
                  </a:ext>
                </a:extLst>
              </a:tr>
              <a:tr h="237744">
                <a:tc>
                  <a:txBody>
                    <a:bodyPr/>
                    <a:lstStyle/>
                    <a:p>
                      <a:r>
                        <a:rPr sz="900" b="0">
                          <a:solidFill>
                            <a:srgbClr val="0B0B0B"/>
                          </a:solidFill>
                          <a:latin typeface="Segoe UI"/>
                        </a:rPr>
                        <a:t>20</a:t>
                      </a:r>
                    </a:p>
                  </a:txBody>
                  <a:tcPr marL="64008" marR="64008" marT="18288" marB="18288" anchor="ctr">
                    <a:solidFill>
                      <a:srgbClr val="F7F8FA"/>
                    </a:solidFill>
                  </a:tcPr>
                </a:tc>
                <a:tc>
                  <a:txBody>
                    <a:bodyPr/>
                    <a:lstStyle/>
                    <a:p>
                      <a:r>
                        <a:rPr sz="900" b="0">
                          <a:solidFill>
                            <a:srgbClr val="0B0B0B"/>
                          </a:solidFill>
                          <a:latin typeface="Segoe UI"/>
                        </a:rPr>
                        <a:t>Do you think this course of study will take you to your dream career?</a:t>
                      </a:r>
                    </a:p>
                  </a:txBody>
                  <a:tcPr marL="64008" marR="64008" marT="18288" marB="18288" anchor="ctr">
                    <a:solidFill>
                      <a:srgbClr val="F7F8FA"/>
                    </a:solidFill>
                  </a:tcPr>
                </a:tc>
                <a:tc>
                  <a:txBody>
                    <a:bodyPr/>
                    <a:lstStyle/>
                    <a:p>
                      <a:r>
                        <a:rPr sz="900" b="0">
                          <a:solidFill>
                            <a:srgbClr val="0B0B0B"/>
                          </a:solidFill>
                          <a:latin typeface="Segoe UI"/>
                        </a:rPr>
                        <a:t>Not at all | Slightly | Somewhat | Mostly | Completely</a:t>
                      </a:r>
                    </a:p>
                  </a:txBody>
                  <a:tcPr marL="64008" marR="64008" marT="18288" marB="18288" anchor="ctr">
                    <a:solidFill>
                      <a:srgbClr val="F7F8FA"/>
                    </a:solidFill>
                  </a:tcPr>
                </a:tc>
                <a:tc>
                  <a:txBody>
                    <a:bodyPr/>
                    <a:lstStyle/>
                    <a:p>
                      <a:r>
                        <a:rPr sz="900" b="0">
                          <a:solidFill>
                            <a:srgbClr val="0B0B0B"/>
                          </a:solidFill>
                          <a:latin typeface="Segoe UI"/>
                        </a:rPr>
                        <a:t>—</a:t>
                      </a:r>
                    </a:p>
                  </a:txBody>
                  <a:tcPr marL="64008" marR="64008" marT="18288" marB="18288" anchor="ctr">
                    <a:solidFill>
                      <a:srgbClr val="F7F8FA"/>
                    </a:solidFill>
                  </a:tcPr>
                </a:tc>
                <a:extLst>
                  <a:ext uri="{0D108BD9-81ED-4DB2-BD59-A6C34878D82A}">
                    <a16:rowId xmlns:a16="http://schemas.microsoft.com/office/drawing/2014/main" val="10020"/>
                  </a:ext>
                </a:extLst>
              </a:tr>
            </a:tbl>
          </a:graphicData>
        </a:graphic>
      </p:graphicFrame>
      <p:sp>
        <p:nvSpPr>
          <p:cNvPr id="8" name="SimpleLightSectionLabel">
            <a:extLst>
              <a:ext uri="{FF2B5EF4-FFF2-40B4-BE49-F238E27FC236}">
                <a16:creationId xmlns:a16="http://schemas.microsoft.com/office/drawing/2014/main" id="{6687B5C7-AC5A-47CC-B1FB-49052B516A33}"/>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TECHNICAL BACKUP</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BACKUP</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Data Dictionary: Feature → Type → Used Where</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55</a:t>
            </a:r>
          </a:p>
        </p:txBody>
      </p:sp>
      <p:graphicFrame>
        <p:nvGraphicFramePr>
          <p:cNvPr id="7" name="Table 6"/>
          <p:cNvGraphicFramePr>
            <a:graphicFrameLocks noGrp="1"/>
          </p:cNvGraphicFramePr>
          <p:nvPr>
            <p:extLst>
              <p:ext uri="{D42A27DB-BD31-4B8C-83A1-F6EECF244321}">
                <p14:modId xmlns:p14="http://schemas.microsoft.com/office/powerpoint/2010/main" val="4249544460"/>
              </p:ext>
            </p:extLst>
          </p:nvPr>
        </p:nvGraphicFramePr>
        <p:xfrm>
          <a:off x="457200" y="1234440"/>
          <a:ext cx="11247120" cy="5376672"/>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3108960">
                  <a:extLst>
                    <a:ext uri="{9D8B030D-6E8A-4147-A177-3AD203B41FA5}">
                      <a16:colId xmlns:a16="http://schemas.microsoft.com/office/drawing/2014/main" val="20006"/>
                    </a:ext>
                  </a:extLst>
                </a:gridCol>
              </a:tblGrid>
              <a:tr h="224028">
                <a:tc>
                  <a:txBody>
                    <a:bodyPr/>
                    <a:lstStyle/>
                    <a:p>
                      <a:r>
                        <a:rPr sz="900" b="1">
                          <a:solidFill>
                            <a:srgbClr val="FFFFFF"/>
                          </a:solidFill>
                          <a:latin typeface="Segoe UI"/>
                        </a:rPr>
                        <a:t>Feature</a:t>
                      </a:r>
                    </a:p>
                  </a:txBody>
                  <a:tcPr marL="64008" marR="64008" marT="18288" marB="18288" anchor="ctr">
                    <a:solidFill>
                      <a:srgbClr val="1F3B5C"/>
                    </a:solidFill>
                  </a:tcPr>
                </a:tc>
                <a:tc>
                  <a:txBody>
                    <a:bodyPr/>
                    <a:lstStyle/>
                    <a:p>
                      <a:r>
                        <a:rPr sz="900" b="1">
                          <a:solidFill>
                            <a:srgbClr val="FFFFFF"/>
                          </a:solidFill>
                          <a:latin typeface="Segoe UI"/>
                        </a:rPr>
                        <a:t>Slide label</a:t>
                      </a:r>
                    </a:p>
                  </a:txBody>
                  <a:tcPr marL="64008" marR="64008" marT="18288" marB="18288" anchor="ctr">
                    <a:solidFill>
                      <a:srgbClr val="1F3B5C"/>
                    </a:solidFill>
                  </a:tcPr>
                </a:tc>
                <a:tc>
                  <a:txBody>
                    <a:bodyPr/>
                    <a:lstStyle/>
                    <a:p>
                      <a:r>
                        <a:rPr sz="900" b="1">
                          <a:solidFill>
                            <a:srgbClr val="FFFFFF"/>
                          </a:solidFill>
                          <a:latin typeface="Segoe UI"/>
                        </a:rPr>
                        <a:t>Group</a:t>
                      </a:r>
                    </a:p>
                  </a:txBody>
                  <a:tcPr marL="64008" marR="64008" marT="18288" marB="18288" anchor="ctr">
                    <a:solidFill>
                      <a:srgbClr val="1F3B5C"/>
                    </a:solidFill>
                  </a:tcPr>
                </a:tc>
                <a:tc>
                  <a:txBody>
                    <a:bodyPr/>
                    <a:lstStyle/>
                    <a:p>
                      <a:r>
                        <a:rPr sz="900" b="1">
                          <a:solidFill>
                            <a:srgbClr val="FFFFFF"/>
                          </a:solidFill>
                          <a:latin typeface="Segoe UI"/>
                        </a:rPr>
                        <a:t>Type</a:t>
                      </a:r>
                    </a:p>
                  </a:txBody>
                  <a:tcPr marL="64008" marR="64008" marT="18288" marB="18288" anchor="ctr">
                    <a:solidFill>
                      <a:srgbClr val="1F3B5C"/>
                    </a:solidFill>
                  </a:tcPr>
                </a:tc>
                <a:tc>
                  <a:txBody>
                    <a:bodyPr/>
                    <a:lstStyle/>
                    <a:p>
                      <a:r>
                        <a:rPr lang="en-US" sz="900" b="1">
                          <a:solidFill>
                            <a:srgbClr val="FFFFFF"/>
                          </a:solidFill>
                          <a:latin typeface="Segoe UI"/>
                        </a:rPr>
                        <a:t>Questionnaire trees</a:t>
                      </a:r>
                      <a:endParaRPr sz="900" b="1">
                        <a:solidFill>
                          <a:srgbClr val="FFFFFF"/>
                        </a:solidFill>
                        <a:latin typeface="Segoe UI"/>
                      </a:endParaRPr>
                    </a:p>
                  </a:txBody>
                  <a:tcPr marL="64008" marR="64008" marT="18288" marB="18288" anchor="ctr">
                    <a:solidFill>
                      <a:srgbClr val="1F3B5C"/>
                    </a:solidFill>
                  </a:tcPr>
                </a:tc>
                <a:tc>
                  <a:txBody>
                    <a:bodyPr/>
                    <a:lstStyle/>
                    <a:p>
                      <a:r>
                        <a:rPr lang="en-US" sz="900" b="1">
                          <a:solidFill>
                            <a:srgbClr val="FFFFFF"/>
                          </a:solidFill>
                          <a:latin typeface="Segoe UI"/>
                        </a:rPr>
                        <a:t>Main CGPA tree</a:t>
                      </a:r>
                      <a:endParaRPr sz="900" b="1">
                        <a:solidFill>
                          <a:srgbClr val="FFFFFF"/>
                        </a:solidFill>
                        <a:latin typeface="Segoe UI"/>
                      </a:endParaRPr>
                    </a:p>
                  </a:txBody>
                  <a:tcPr marL="64008" marR="64008" marT="18288" marB="18288" anchor="ctr">
                    <a:solidFill>
                      <a:srgbClr val="1F3B5C"/>
                    </a:solidFill>
                  </a:tcPr>
                </a:tc>
                <a:tc>
                  <a:txBody>
                    <a:bodyPr/>
                    <a:lstStyle/>
                    <a:p>
                      <a:r>
                        <a:rPr sz="900" b="1">
                          <a:solidFill>
                            <a:srgbClr val="FFFFFF"/>
                          </a:solidFill>
                          <a:latin typeface="Segoe UI"/>
                        </a:rPr>
                        <a:t>Blank handling</a:t>
                      </a:r>
                    </a:p>
                  </a:txBody>
                  <a:tcPr marL="64008" marR="64008" marT="18288" marB="18288" anchor="ctr">
                    <a:solidFill>
                      <a:srgbClr val="1F3B5C"/>
                    </a:solidFill>
                  </a:tcPr>
                </a:tc>
                <a:extLst>
                  <a:ext uri="{0D108BD9-81ED-4DB2-BD59-A6C34878D82A}">
                    <a16:rowId xmlns:a16="http://schemas.microsoft.com/office/drawing/2014/main" val="10000"/>
                  </a:ext>
                </a:extLst>
              </a:tr>
              <a:tr h="224028">
                <a:tc>
                  <a:txBody>
                    <a:bodyPr/>
                    <a:lstStyle/>
                    <a:p>
                      <a:r>
                        <a:rPr sz="900" b="0">
                          <a:solidFill>
                            <a:srgbClr val="0B0B0B"/>
                          </a:solidFill>
                          <a:latin typeface="Segoe UI"/>
                        </a:rPr>
                        <a:t>university</a:t>
                      </a:r>
                    </a:p>
                  </a:txBody>
                  <a:tcPr marL="64008" marR="64008" marT="18288" marB="18288" anchor="ctr">
                    <a:solidFill>
                      <a:srgbClr val="FFFFFF"/>
                    </a:solidFill>
                  </a:tcPr>
                </a:tc>
                <a:tc>
                  <a:txBody>
                    <a:bodyPr/>
                    <a:lstStyle/>
                    <a:p>
                      <a:r>
                        <a:rPr sz="900" b="0">
                          <a:solidFill>
                            <a:srgbClr val="0B0B0B"/>
                          </a:solidFill>
                          <a:latin typeface="Segoe UI"/>
                        </a:rPr>
                        <a:t>University</a:t>
                      </a:r>
                    </a:p>
                  </a:txBody>
                  <a:tcPr marL="64008" marR="64008" marT="18288" marB="18288" anchor="ctr">
                    <a:solidFill>
                      <a:srgbClr val="FFFFFF"/>
                    </a:solidFill>
                  </a:tcPr>
                </a:tc>
                <a:tc>
                  <a:txBody>
                    <a:bodyPr/>
                    <a:lstStyle/>
                    <a:p>
                      <a:r>
                        <a:rPr sz="900" b="0">
                          <a:solidFill>
                            <a:srgbClr val="0B0B0B"/>
                          </a:solidFill>
                          <a:latin typeface="Segoe UI"/>
                        </a:rPr>
                        <a:t>Academic</a:t>
                      </a:r>
                    </a:p>
                  </a:txBody>
                  <a:tcPr marL="64008" marR="64008" marT="18288" marB="18288" anchor="ctr">
                    <a:solidFill>
                      <a:srgbClr val="FFFFFF"/>
                    </a:solidFill>
                  </a:tcPr>
                </a:tc>
                <a:tc>
                  <a:txBody>
                    <a:bodyPr/>
                    <a:lstStyle/>
                    <a:p>
                      <a:r>
                        <a:rPr sz="900" b="0">
                          <a:solidFill>
                            <a:srgbClr val="0B0B0B"/>
                          </a:solidFill>
                          <a:latin typeface="Segoe UI"/>
                        </a:rPr>
                        <a:t>nominal</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KUET rows set to KUET (single-university form); 9 spelling</a:t>
                      </a:r>
                    </a:p>
                  </a:txBody>
                  <a:tcPr marL="64008" marR="64008" marT="18288" marB="18288" anchor="ctr">
                    <a:solidFill>
                      <a:srgbClr val="FFFFFF"/>
                    </a:solidFill>
                  </a:tcPr>
                </a:tc>
                <a:extLst>
                  <a:ext uri="{0D108BD9-81ED-4DB2-BD59-A6C34878D82A}">
                    <a16:rowId xmlns:a16="http://schemas.microsoft.com/office/drawing/2014/main" val="10001"/>
                  </a:ext>
                </a:extLst>
              </a:tr>
              <a:tr h="224028">
                <a:tc>
                  <a:txBody>
                    <a:bodyPr/>
                    <a:lstStyle/>
                    <a:p>
                      <a:r>
                        <a:rPr sz="900" b="0">
                          <a:solidFill>
                            <a:srgbClr val="0B0B0B"/>
                          </a:solidFill>
                          <a:latin typeface="Segoe UI"/>
                        </a:rPr>
                        <a:t>department_other</a:t>
                      </a:r>
                    </a:p>
                  </a:txBody>
                  <a:tcPr marL="64008" marR="64008" marT="18288" marB="18288" anchor="ctr">
                    <a:solidFill>
                      <a:srgbClr val="F7F8FA"/>
                    </a:solidFill>
                  </a:tcPr>
                </a:tc>
                <a:tc>
                  <a:txBody>
                    <a:bodyPr/>
                    <a:lstStyle/>
                    <a:p>
                      <a:r>
                        <a:rPr sz="900" b="0">
                          <a:solidFill>
                            <a:srgbClr val="0B0B0B"/>
                          </a:solidFill>
                          <a:latin typeface="Segoe UI"/>
                        </a:rPr>
                        <a:t>Department other</a:t>
                      </a:r>
                    </a:p>
                  </a:txBody>
                  <a:tcPr marL="64008" marR="64008" marT="18288" marB="18288" anchor="ctr">
                    <a:solidFill>
                      <a:srgbClr val="F7F8FA"/>
                    </a:solidFill>
                  </a:tcPr>
                </a:tc>
                <a:tc>
                  <a:txBody>
                    <a:bodyPr/>
                    <a:lstStyle/>
                    <a:p>
                      <a:r>
                        <a:rPr sz="900" b="0">
                          <a:solidFill>
                            <a:srgbClr val="0B0B0B"/>
                          </a:solidFill>
                          <a:latin typeface="Segoe UI"/>
                        </a:rPr>
                        <a:t>Academic</a:t>
                      </a:r>
                    </a:p>
                  </a:txBody>
                  <a:tcPr marL="64008" marR="64008" marT="18288" marB="18288" anchor="ctr">
                    <a:solidFill>
                      <a:srgbClr val="F7F8FA"/>
                    </a:solidFill>
                  </a:tcPr>
                </a:tc>
                <a:tc>
                  <a:txBody>
                    <a:bodyPr/>
                    <a:lstStyle/>
                    <a:p>
                      <a:r>
                        <a:rPr sz="900" b="0">
                          <a:solidFill>
                            <a:srgbClr val="0B0B0B"/>
                          </a:solidFill>
                          <a:latin typeface="Segoe UI"/>
                        </a:rPr>
                        <a:t>free text</a:t>
                      </a:r>
                    </a:p>
                  </a:txBody>
                  <a:tcPr marL="64008" marR="64008" marT="18288" marB="18288" anchor="ctr">
                    <a:solidFill>
                      <a:srgbClr val="F7F8FA"/>
                    </a:solidFill>
                  </a:tcPr>
                </a:tc>
                <a:tc>
                  <a:txBody>
                    <a:bodyPr/>
                    <a:lstStyle/>
                    <a:p>
                      <a:r>
                        <a:rPr sz="900" b="0">
                          <a:solidFill>
                            <a:srgbClr val="0B0B0B"/>
                          </a:solidFill>
                          <a:latin typeface="Segoe UI"/>
                        </a:rPr>
                        <a:t>No</a:t>
                      </a:r>
                    </a:p>
                  </a:txBody>
                  <a:tcPr marL="64008" marR="64008" marT="18288" marB="18288" anchor="ctr">
                    <a:solidFill>
                      <a:srgbClr val="F7F8FA"/>
                    </a:solidFill>
                  </a:tcPr>
                </a:tc>
                <a:tc>
                  <a:txBody>
                    <a:bodyPr/>
                    <a:lstStyle/>
                    <a:p>
                      <a:r>
                        <a:rPr sz="900" b="0">
                          <a:solidFill>
                            <a:srgbClr val="0B0B0B"/>
                          </a:solidFill>
                          <a:latin typeface="Segoe UI"/>
                        </a:rPr>
                        <a:t>No</a:t>
                      </a:r>
                    </a:p>
                  </a:txBody>
                  <a:tcPr marL="64008" marR="64008" marT="18288" marB="18288" anchor="ctr">
                    <a:solidFill>
                      <a:srgbClr val="F7F8FA"/>
                    </a:solidFill>
                  </a:tcPr>
                </a:tc>
                <a:tc>
                  <a:txBody>
                    <a:bodyPr/>
                    <a:lstStyle/>
                    <a:p>
                      <a:r>
                        <a:rPr sz="900" b="0">
                          <a:solidFill>
                            <a:srgbClr val="0B0B0B"/>
                          </a:solidFill>
                          <a:latin typeface="Segoe UI"/>
                        </a:rPr>
                        <a:t>Merged into department</a:t>
                      </a:r>
                    </a:p>
                  </a:txBody>
                  <a:tcPr marL="64008" marR="64008" marT="18288" marB="18288" anchor="ctr">
                    <a:solidFill>
                      <a:srgbClr val="F7F8FA"/>
                    </a:solidFill>
                  </a:tcPr>
                </a:tc>
                <a:extLst>
                  <a:ext uri="{0D108BD9-81ED-4DB2-BD59-A6C34878D82A}">
                    <a16:rowId xmlns:a16="http://schemas.microsoft.com/office/drawing/2014/main" val="10002"/>
                  </a:ext>
                </a:extLst>
              </a:tr>
              <a:tr h="224028">
                <a:tc>
                  <a:txBody>
                    <a:bodyPr/>
                    <a:lstStyle/>
                    <a:p>
                      <a:r>
                        <a:rPr sz="900" b="0">
                          <a:solidFill>
                            <a:srgbClr val="0B0B0B"/>
                          </a:solidFill>
                          <a:latin typeface="Segoe UI"/>
                        </a:rPr>
                        <a:t>timestamp</a:t>
                      </a:r>
                    </a:p>
                  </a:txBody>
                  <a:tcPr marL="64008" marR="64008" marT="18288" marB="18288" anchor="ctr">
                    <a:solidFill>
                      <a:srgbClr val="FFFFFF"/>
                    </a:solidFill>
                  </a:tcPr>
                </a:tc>
                <a:tc>
                  <a:txBody>
                    <a:bodyPr/>
                    <a:lstStyle/>
                    <a:p>
                      <a:r>
                        <a:rPr sz="900" b="0">
                          <a:solidFill>
                            <a:srgbClr val="0B0B0B"/>
                          </a:solidFill>
                          <a:latin typeface="Segoe UI"/>
                        </a:rPr>
                        <a:t>Timestamp</a:t>
                      </a:r>
                    </a:p>
                  </a:txBody>
                  <a:tcPr marL="64008" marR="64008" marT="18288" marB="18288" anchor="ctr">
                    <a:solidFill>
                      <a:srgbClr val="FFFFFF"/>
                    </a:solidFill>
                  </a:tcPr>
                </a:tc>
                <a:tc>
                  <a:txBody>
                    <a:bodyPr/>
                    <a:lstStyle/>
                    <a:p>
                      <a:r>
                        <a:rPr sz="900" b="0">
                          <a:solidFill>
                            <a:srgbClr val="0B0B0B"/>
                          </a:solidFill>
                          <a:latin typeface="Segoe UI"/>
                        </a:rPr>
                        <a:t>Admin</a:t>
                      </a:r>
                    </a:p>
                  </a:txBody>
                  <a:tcPr marL="64008" marR="64008" marT="18288" marB="18288" anchor="ctr">
                    <a:solidFill>
                      <a:srgbClr val="FFFFFF"/>
                    </a:solidFill>
                  </a:tcPr>
                </a:tc>
                <a:tc>
                  <a:txBody>
                    <a:bodyPr/>
                    <a:lstStyle/>
                    <a:p>
                      <a:r>
                        <a:rPr sz="900" b="0">
                          <a:solidFill>
                            <a:srgbClr val="0B0B0B"/>
                          </a:solidFill>
                          <a:latin typeface="Segoe UI"/>
                        </a:rPr>
                        <a:t>datetime</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Dropped</a:t>
                      </a:r>
                    </a:p>
                  </a:txBody>
                  <a:tcPr marL="64008" marR="64008" marT="18288" marB="18288" anchor="ctr">
                    <a:solidFill>
                      <a:srgbClr val="FFFFFF"/>
                    </a:solidFill>
                  </a:tcPr>
                </a:tc>
                <a:extLst>
                  <a:ext uri="{0D108BD9-81ED-4DB2-BD59-A6C34878D82A}">
                    <a16:rowId xmlns:a16="http://schemas.microsoft.com/office/drawing/2014/main" val="10003"/>
                  </a:ext>
                </a:extLst>
              </a:tr>
              <a:tr h="224028">
                <a:tc>
                  <a:txBody>
                    <a:bodyPr/>
                    <a:lstStyle/>
                    <a:p>
                      <a:r>
                        <a:rPr sz="900" b="0">
                          <a:solidFill>
                            <a:srgbClr val="0B0B0B"/>
                          </a:solidFill>
                          <a:latin typeface="Segoe UI"/>
                        </a:rPr>
                        <a:t>department</a:t>
                      </a:r>
                    </a:p>
                  </a:txBody>
                  <a:tcPr marL="64008" marR="64008" marT="18288" marB="18288" anchor="ctr">
                    <a:solidFill>
                      <a:srgbClr val="F7F8FA"/>
                    </a:solidFill>
                  </a:tcPr>
                </a:tc>
                <a:tc>
                  <a:txBody>
                    <a:bodyPr/>
                    <a:lstStyle/>
                    <a:p>
                      <a:r>
                        <a:rPr sz="900" b="0">
                          <a:solidFill>
                            <a:srgbClr val="0B0B0B"/>
                          </a:solidFill>
                          <a:latin typeface="Segoe UI"/>
                        </a:rPr>
                        <a:t>Department</a:t>
                      </a:r>
                    </a:p>
                  </a:txBody>
                  <a:tcPr marL="64008" marR="64008" marT="18288" marB="18288" anchor="ctr">
                    <a:solidFill>
                      <a:srgbClr val="F7F8FA"/>
                    </a:solidFill>
                  </a:tcPr>
                </a:tc>
                <a:tc>
                  <a:txBody>
                    <a:bodyPr/>
                    <a:lstStyle/>
                    <a:p>
                      <a:r>
                        <a:rPr sz="900" b="0">
                          <a:solidFill>
                            <a:srgbClr val="0B0B0B"/>
                          </a:solidFill>
                          <a:latin typeface="Segoe UI"/>
                        </a:rPr>
                        <a:t>Academic</a:t>
                      </a:r>
                    </a:p>
                  </a:txBody>
                  <a:tcPr marL="64008" marR="64008" marT="18288" marB="18288" anchor="ctr">
                    <a:solidFill>
                      <a:srgbClr val="F7F8FA"/>
                    </a:solidFill>
                  </a:tcPr>
                </a:tc>
                <a:tc>
                  <a:txBody>
                    <a:bodyPr/>
                    <a:lstStyle/>
                    <a:p>
                      <a:r>
                        <a:rPr sz="900" b="0">
                          <a:solidFill>
                            <a:srgbClr val="0B0B0B"/>
                          </a:solidFill>
                          <a:latin typeface="Segoe UI"/>
                        </a:rPr>
                        <a:t>nominal (free text)</a:t>
                      </a:r>
                    </a:p>
                  </a:txBody>
                  <a:tcPr marL="64008" marR="64008" marT="18288" marB="18288" anchor="ctr">
                    <a:solidFill>
                      <a:srgbClr val="F7F8FA"/>
                    </a:solidFill>
                  </a:tcPr>
                </a:tc>
                <a:tc>
                  <a:txBody>
                    <a:bodyPr/>
                    <a:lstStyle/>
                    <a:p>
                      <a:r>
                        <a:rPr sz="900" b="0">
                          <a:solidFill>
                            <a:srgbClr val="0B0B0B"/>
                          </a:solidFill>
                          <a:latin typeface="Segoe UI"/>
                        </a:rPr>
                        <a:t>No</a:t>
                      </a:r>
                    </a:p>
                  </a:txBody>
                  <a:tcPr marL="64008" marR="64008" marT="18288" marB="18288" anchor="ctr">
                    <a:solidFill>
                      <a:srgbClr val="F7F8FA"/>
                    </a:solidFill>
                  </a:tcPr>
                </a:tc>
                <a:tc>
                  <a:txBody>
                    <a:bodyPr/>
                    <a:lstStyle/>
                    <a:p>
                      <a:r>
                        <a:rPr sz="900" b="0">
                          <a:solidFill>
                            <a:srgbClr val="0B0B0B"/>
                          </a:solidFill>
                          <a:latin typeface="Segoe UI"/>
                        </a:rPr>
                        <a:t>No</a:t>
                      </a:r>
                    </a:p>
                  </a:txBody>
                  <a:tcPr marL="64008" marR="64008" marT="18288" marB="18288" anchor="ctr">
                    <a:solidFill>
                      <a:srgbClr val="F7F8FA"/>
                    </a:solidFill>
                  </a:tcPr>
                </a:tc>
                <a:tc>
                  <a:txBody>
                    <a:bodyPr/>
                    <a:lstStyle/>
                    <a:p>
                      <a:r>
                        <a:rPr sz="900" b="0">
                          <a:solidFill>
                            <a:srgbClr val="0B0B0B"/>
                          </a:solidFill>
                          <a:latin typeface="Segoe UI"/>
                        </a:rPr>
                        <a:t>110 spellings -&gt; 24 departments -&gt; 18 groups (&lt;15 students</a:t>
                      </a:r>
                    </a:p>
                  </a:txBody>
                  <a:tcPr marL="64008" marR="64008" marT="18288" marB="18288" anchor="ctr">
                    <a:solidFill>
                      <a:srgbClr val="F7F8FA"/>
                    </a:solidFill>
                  </a:tcPr>
                </a:tc>
                <a:extLst>
                  <a:ext uri="{0D108BD9-81ED-4DB2-BD59-A6C34878D82A}">
                    <a16:rowId xmlns:a16="http://schemas.microsoft.com/office/drawing/2014/main" val="10004"/>
                  </a:ext>
                </a:extLst>
              </a:tr>
              <a:tr h="224028">
                <a:tc>
                  <a:txBody>
                    <a:bodyPr/>
                    <a:lstStyle/>
                    <a:p>
                      <a:r>
                        <a:rPr sz="900" b="0">
                          <a:solidFill>
                            <a:srgbClr val="0B0B0B"/>
                          </a:solidFill>
                          <a:latin typeface="Segoe UI"/>
                        </a:rPr>
                        <a:t>semester</a:t>
                      </a:r>
                    </a:p>
                  </a:txBody>
                  <a:tcPr marL="64008" marR="64008" marT="18288" marB="18288" anchor="ctr">
                    <a:solidFill>
                      <a:srgbClr val="FFFFFF"/>
                    </a:solidFill>
                  </a:tcPr>
                </a:tc>
                <a:tc>
                  <a:txBody>
                    <a:bodyPr/>
                    <a:lstStyle/>
                    <a:p>
                      <a:r>
                        <a:rPr sz="900" b="0">
                          <a:solidFill>
                            <a:srgbClr val="0B0B0B"/>
                          </a:solidFill>
                          <a:latin typeface="Segoe UI"/>
                        </a:rPr>
                        <a:t>Semester</a:t>
                      </a:r>
                    </a:p>
                  </a:txBody>
                  <a:tcPr marL="64008" marR="64008" marT="18288" marB="18288" anchor="ctr">
                    <a:solidFill>
                      <a:srgbClr val="FFFFFF"/>
                    </a:solidFill>
                  </a:tcPr>
                </a:tc>
                <a:tc>
                  <a:txBody>
                    <a:bodyPr/>
                    <a:lstStyle/>
                    <a:p>
                      <a:r>
                        <a:rPr sz="900" b="0">
                          <a:solidFill>
                            <a:srgbClr val="0B0B0B"/>
                          </a:solidFill>
                          <a:latin typeface="Segoe UI"/>
                        </a:rPr>
                        <a:t>Academic</a:t>
                      </a:r>
                    </a:p>
                  </a:txBody>
                  <a:tcPr marL="64008" marR="64008" marT="18288" marB="18288" anchor="ctr">
                    <a:solidFill>
                      <a:srgbClr val="FFFFFF"/>
                    </a:solidFill>
                  </a:tcPr>
                </a:tc>
                <a:tc>
                  <a:txBody>
                    <a:bodyPr/>
                    <a:lstStyle/>
                    <a:p>
                      <a:r>
                        <a:rPr sz="900" b="0">
                          <a:solidFill>
                            <a:srgbClr val="0B0B0B"/>
                          </a:solidFill>
                          <a:latin typeface="Segoe UI"/>
                        </a:rPr>
                        <a:t>ordinal number</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2 blanks -&gt; median semester of the same university</a:t>
                      </a:r>
                    </a:p>
                  </a:txBody>
                  <a:tcPr marL="64008" marR="64008" marT="18288" marB="18288" anchor="ctr">
                    <a:solidFill>
                      <a:srgbClr val="FFFFFF"/>
                    </a:solidFill>
                  </a:tcPr>
                </a:tc>
                <a:extLst>
                  <a:ext uri="{0D108BD9-81ED-4DB2-BD59-A6C34878D82A}">
                    <a16:rowId xmlns:a16="http://schemas.microsoft.com/office/drawing/2014/main" val="10005"/>
                  </a:ext>
                </a:extLst>
              </a:tr>
              <a:tr h="224028">
                <a:tc>
                  <a:txBody>
                    <a:bodyPr/>
                    <a:lstStyle/>
                    <a:p>
                      <a:r>
                        <a:rPr sz="900" b="0">
                          <a:solidFill>
                            <a:srgbClr val="0B0B0B"/>
                          </a:solidFill>
                          <a:latin typeface="Segoe UI"/>
                        </a:rPr>
                        <a:t>recent_sgpa</a:t>
                      </a:r>
                    </a:p>
                  </a:txBody>
                  <a:tcPr marL="64008" marR="64008" marT="18288" marB="18288" anchor="ctr">
                    <a:solidFill>
                      <a:srgbClr val="F7F8FA"/>
                    </a:solidFill>
                  </a:tcPr>
                </a:tc>
                <a:tc>
                  <a:txBody>
                    <a:bodyPr/>
                    <a:lstStyle/>
                    <a:p>
                      <a:r>
                        <a:rPr sz="900" b="0">
                          <a:solidFill>
                            <a:srgbClr val="0B0B0B"/>
                          </a:solidFill>
                          <a:latin typeface="Segoe UI"/>
                        </a:rPr>
                        <a:t>Recent semester SGPA</a:t>
                      </a:r>
                    </a:p>
                  </a:txBody>
                  <a:tcPr marL="64008" marR="64008" marT="18288" marB="18288" anchor="ctr">
                    <a:solidFill>
                      <a:srgbClr val="F7F8FA"/>
                    </a:solidFill>
                  </a:tcPr>
                </a:tc>
                <a:tc>
                  <a:txBody>
                    <a:bodyPr/>
                    <a:lstStyle/>
                    <a:p>
                      <a:r>
                        <a:rPr sz="900" b="0">
                          <a:solidFill>
                            <a:srgbClr val="0B0B0B"/>
                          </a:solidFill>
                          <a:latin typeface="Segoe UI"/>
                        </a:rPr>
                        <a:t>Academic</a:t>
                      </a:r>
                    </a:p>
                  </a:txBody>
                  <a:tcPr marL="64008" marR="64008" marT="18288" marB="18288" anchor="ctr">
                    <a:solidFill>
                      <a:srgbClr val="F7F8FA"/>
                    </a:solidFill>
                  </a:tcPr>
                </a:tc>
                <a:tc>
                  <a:txBody>
                    <a:bodyPr/>
                    <a:lstStyle/>
                    <a:p>
                      <a:r>
                        <a:rPr sz="900" b="0">
                          <a:solidFill>
                            <a:srgbClr val="0B0B0B"/>
                          </a:solidFill>
                          <a:latin typeface="Segoe UI"/>
                        </a:rPr>
                        <a:t>ordinal band</a:t>
                      </a:r>
                    </a:p>
                  </a:txBody>
                  <a:tcPr marL="64008" marR="64008" marT="18288" marB="18288" anchor="ctr">
                    <a:solidFill>
                      <a:srgbClr val="F7F8FA"/>
                    </a:solidFill>
                  </a:tcPr>
                </a:tc>
                <a:tc>
                  <a:txBody>
                    <a:bodyPr/>
                    <a:lstStyle/>
                    <a:p>
                      <a:r>
                        <a:rPr sz="900" b="0">
                          <a:solidFill>
                            <a:srgbClr val="0B0B0B"/>
                          </a:solidFill>
                          <a:latin typeface="Segoe UI"/>
                        </a:rPr>
                        <a:t>No</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Blanks filled from CGPA class in notebook 02; those rows a</a:t>
                      </a:r>
                    </a:p>
                  </a:txBody>
                  <a:tcPr marL="64008" marR="64008" marT="18288" marB="18288" anchor="ctr">
                    <a:solidFill>
                      <a:srgbClr val="F7F8FA"/>
                    </a:solidFill>
                  </a:tcPr>
                </a:tc>
                <a:extLst>
                  <a:ext uri="{0D108BD9-81ED-4DB2-BD59-A6C34878D82A}">
                    <a16:rowId xmlns:a16="http://schemas.microsoft.com/office/drawing/2014/main" val="10006"/>
                  </a:ext>
                </a:extLst>
              </a:tr>
              <a:tr h="224028">
                <a:tc>
                  <a:txBody>
                    <a:bodyPr/>
                    <a:lstStyle/>
                    <a:p>
                      <a:r>
                        <a:rPr sz="900" b="0">
                          <a:solidFill>
                            <a:srgbClr val="0B0B0B"/>
                          </a:solidFill>
                          <a:latin typeface="Segoe UI"/>
                        </a:rPr>
                        <a:t>cgpa</a:t>
                      </a:r>
                    </a:p>
                  </a:txBody>
                  <a:tcPr marL="64008" marR="64008" marT="18288" marB="18288" anchor="ctr">
                    <a:solidFill>
                      <a:srgbClr val="FFFFFF"/>
                    </a:solidFill>
                  </a:tcPr>
                </a:tc>
                <a:tc>
                  <a:txBody>
                    <a:bodyPr/>
                    <a:lstStyle/>
                    <a:p>
                      <a:r>
                        <a:rPr sz="900" b="0">
                          <a:solidFill>
                            <a:srgbClr val="0B0B0B"/>
                          </a:solidFill>
                          <a:latin typeface="Segoe UI"/>
                        </a:rPr>
                        <a:t>Cgpa</a:t>
                      </a:r>
                    </a:p>
                  </a:txBody>
                  <a:tcPr marL="64008" marR="64008" marT="18288" marB="18288" anchor="ctr">
                    <a:solidFill>
                      <a:srgbClr val="FFFFFF"/>
                    </a:solidFill>
                  </a:tcPr>
                </a:tc>
                <a:tc>
                  <a:txBody>
                    <a:bodyPr/>
                    <a:lstStyle/>
                    <a:p>
                      <a:r>
                        <a:rPr sz="900" b="0">
                          <a:solidFill>
                            <a:srgbClr val="0B0B0B"/>
                          </a:solidFill>
                          <a:latin typeface="Segoe UI"/>
                        </a:rPr>
                        <a:t>Target</a:t>
                      </a:r>
                    </a:p>
                  </a:txBody>
                  <a:tcPr marL="64008" marR="64008" marT="18288" marB="18288" anchor="ctr">
                    <a:solidFill>
                      <a:srgbClr val="FFFFFF"/>
                    </a:solidFill>
                  </a:tcPr>
                </a:tc>
                <a:tc>
                  <a:txBody>
                    <a:bodyPr/>
                    <a:lstStyle/>
                    <a:p>
                      <a:r>
                        <a:rPr sz="900" b="0">
                          <a:solidFill>
                            <a:srgbClr val="0B0B0B"/>
                          </a:solidFill>
                          <a:latin typeface="Segoe UI"/>
                        </a:rPr>
                        <a:t>ordinal band</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18 rows with no usable CGPA dropped</a:t>
                      </a:r>
                    </a:p>
                  </a:txBody>
                  <a:tcPr marL="64008" marR="64008" marT="18288" marB="18288" anchor="ctr">
                    <a:solidFill>
                      <a:srgbClr val="FFFFFF"/>
                    </a:solidFill>
                  </a:tcPr>
                </a:tc>
                <a:extLst>
                  <a:ext uri="{0D108BD9-81ED-4DB2-BD59-A6C34878D82A}">
                    <a16:rowId xmlns:a16="http://schemas.microsoft.com/office/drawing/2014/main" val="10007"/>
                  </a:ext>
                </a:extLst>
              </a:tr>
              <a:tr h="224028">
                <a:tc>
                  <a:txBody>
                    <a:bodyPr/>
                    <a:lstStyle/>
                    <a:p>
                      <a:r>
                        <a:rPr sz="900" b="0">
                          <a:solidFill>
                            <a:srgbClr val="0B0B0B"/>
                          </a:solidFill>
                          <a:latin typeface="Segoe UI"/>
                        </a:rPr>
                        <a:t>attendance</a:t>
                      </a:r>
                    </a:p>
                  </a:txBody>
                  <a:tcPr marL="64008" marR="64008" marT="18288" marB="18288" anchor="ctr">
                    <a:solidFill>
                      <a:srgbClr val="F7F8FA"/>
                    </a:solidFill>
                  </a:tcPr>
                </a:tc>
                <a:tc>
                  <a:txBody>
                    <a:bodyPr/>
                    <a:lstStyle/>
                    <a:p>
                      <a:r>
                        <a:rPr sz="900" b="0">
                          <a:solidFill>
                            <a:srgbClr val="0B0B0B"/>
                          </a:solidFill>
                          <a:latin typeface="Segoe UI"/>
                        </a:rPr>
                        <a:t>Class attendance</a:t>
                      </a:r>
                    </a:p>
                  </a:txBody>
                  <a:tcPr marL="64008" marR="64008" marT="18288" marB="18288" anchor="ctr">
                    <a:solidFill>
                      <a:srgbClr val="F7F8FA"/>
                    </a:solidFill>
                  </a:tcPr>
                </a:tc>
                <a:tc>
                  <a:txBody>
                    <a:bodyPr/>
                    <a:lstStyle/>
                    <a:p>
                      <a:r>
                        <a:rPr sz="900" b="0">
                          <a:solidFill>
                            <a:srgbClr val="0B0B0B"/>
                          </a:solidFill>
                          <a:latin typeface="Segoe UI"/>
                        </a:rPr>
                        <a:t>Study habits</a:t>
                      </a:r>
                    </a:p>
                  </a:txBody>
                  <a:tcPr marL="64008" marR="64008" marT="18288" marB="18288" anchor="ctr">
                    <a:solidFill>
                      <a:srgbClr val="F7F8FA"/>
                    </a:solidFill>
                  </a:tcPr>
                </a:tc>
                <a:tc>
                  <a:txBody>
                    <a:bodyPr/>
                    <a:lstStyle/>
                    <a:p>
                      <a:r>
                        <a:rPr sz="900" b="0">
                          <a:solidFill>
                            <a:srgbClr val="0B0B0B"/>
                          </a:solidFill>
                          <a:latin typeface="Segoe UI"/>
                        </a:rPr>
                        <a:t>ordinal band</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7F8FA"/>
                    </a:solidFill>
                  </a:tcPr>
                </a:tc>
                <a:extLst>
                  <a:ext uri="{0D108BD9-81ED-4DB2-BD59-A6C34878D82A}">
                    <a16:rowId xmlns:a16="http://schemas.microsoft.com/office/drawing/2014/main" val="10008"/>
                  </a:ext>
                </a:extLst>
              </a:tr>
              <a:tr h="224028">
                <a:tc>
                  <a:txBody>
                    <a:bodyPr/>
                    <a:lstStyle/>
                    <a:p>
                      <a:r>
                        <a:rPr sz="900" b="0">
                          <a:solidFill>
                            <a:srgbClr val="0B0B0B"/>
                          </a:solidFill>
                          <a:latin typeface="Segoe UI"/>
                        </a:rPr>
                        <a:t>weekly_study_time</a:t>
                      </a:r>
                    </a:p>
                  </a:txBody>
                  <a:tcPr marL="64008" marR="64008" marT="18288" marB="18288" anchor="ctr">
                    <a:solidFill>
                      <a:srgbClr val="FFFFFF"/>
                    </a:solidFill>
                  </a:tcPr>
                </a:tc>
                <a:tc>
                  <a:txBody>
                    <a:bodyPr/>
                    <a:lstStyle/>
                    <a:p>
                      <a:r>
                        <a:rPr sz="900" b="0">
                          <a:solidFill>
                            <a:srgbClr val="0B0B0B"/>
                          </a:solidFill>
                          <a:latin typeface="Segoe UI"/>
                        </a:rPr>
                        <a:t>Self-study per week</a:t>
                      </a:r>
                    </a:p>
                  </a:txBody>
                  <a:tcPr marL="64008" marR="64008" marT="18288" marB="18288" anchor="ctr">
                    <a:solidFill>
                      <a:srgbClr val="FFFFFF"/>
                    </a:solidFill>
                  </a:tcPr>
                </a:tc>
                <a:tc>
                  <a:txBody>
                    <a:bodyPr/>
                    <a:lstStyle/>
                    <a:p>
                      <a:r>
                        <a:rPr sz="900" b="0">
                          <a:solidFill>
                            <a:srgbClr val="0B0B0B"/>
                          </a:solidFill>
                          <a:latin typeface="Segoe UI"/>
                        </a:rPr>
                        <a:t>Study habits</a:t>
                      </a:r>
                    </a:p>
                  </a:txBody>
                  <a:tcPr marL="64008" marR="64008" marT="18288" marB="18288" anchor="ctr">
                    <a:solidFill>
                      <a:srgbClr val="FFFFFF"/>
                    </a:solidFill>
                  </a:tcPr>
                </a:tc>
                <a:tc>
                  <a:txBody>
                    <a:bodyPr/>
                    <a:lstStyle/>
                    <a:p>
                      <a:r>
                        <a:rPr sz="900" b="0">
                          <a:solidFill>
                            <a:srgbClr val="0B0B0B"/>
                          </a:solidFill>
                          <a:latin typeface="Segoe UI"/>
                        </a:rPr>
                        <a:t>ordinal band</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FFFFF"/>
                    </a:solidFill>
                  </a:tcPr>
                </a:tc>
                <a:extLst>
                  <a:ext uri="{0D108BD9-81ED-4DB2-BD59-A6C34878D82A}">
                    <a16:rowId xmlns:a16="http://schemas.microsoft.com/office/drawing/2014/main" val="10009"/>
                  </a:ext>
                </a:extLst>
              </a:tr>
              <a:tr h="224028">
                <a:tc>
                  <a:txBody>
                    <a:bodyPr/>
                    <a:lstStyle/>
                    <a:p>
                      <a:r>
                        <a:rPr sz="900" b="0">
                          <a:solidFill>
                            <a:srgbClr val="0B0B0B"/>
                          </a:solidFill>
                          <a:latin typeface="Segoe UI"/>
                        </a:rPr>
                        <a:t>study_style</a:t>
                      </a:r>
                    </a:p>
                  </a:txBody>
                  <a:tcPr marL="64008" marR="64008" marT="18288" marB="18288" anchor="ctr">
                    <a:solidFill>
                      <a:srgbClr val="F7F8FA"/>
                    </a:solidFill>
                  </a:tcPr>
                </a:tc>
                <a:tc>
                  <a:txBody>
                    <a:bodyPr/>
                    <a:lstStyle/>
                    <a:p>
                      <a:r>
                        <a:rPr sz="900" b="0">
                          <a:solidFill>
                            <a:srgbClr val="0B0B0B"/>
                          </a:solidFill>
                          <a:latin typeface="Segoe UI"/>
                        </a:rPr>
                        <a:t>Study style</a:t>
                      </a:r>
                    </a:p>
                  </a:txBody>
                  <a:tcPr marL="64008" marR="64008" marT="18288" marB="18288" anchor="ctr">
                    <a:solidFill>
                      <a:srgbClr val="F7F8FA"/>
                    </a:solidFill>
                  </a:tcPr>
                </a:tc>
                <a:tc>
                  <a:txBody>
                    <a:bodyPr/>
                    <a:lstStyle/>
                    <a:p>
                      <a:r>
                        <a:rPr sz="900" b="0">
                          <a:solidFill>
                            <a:srgbClr val="0B0B0B"/>
                          </a:solidFill>
                          <a:latin typeface="Segoe UI"/>
                        </a:rPr>
                        <a:t>Study habits</a:t>
                      </a:r>
                    </a:p>
                  </a:txBody>
                  <a:tcPr marL="64008" marR="64008" marT="18288" marB="18288" anchor="ctr">
                    <a:solidFill>
                      <a:srgbClr val="F7F8FA"/>
                    </a:solidFill>
                  </a:tcPr>
                </a:tc>
                <a:tc>
                  <a:txBody>
                    <a:bodyPr/>
                    <a:lstStyle/>
                    <a:p>
                      <a:r>
                        <a:rPr sz="900" b="0">
                          <a:solidFill>
                            <a:srgbClr val="0B0B0B"/>
                          </a:solidFill>
                          <a:latin typeface="Segoe UI"/>
                        </a:rPr>
                        <a:t>ordinal</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7F8FA"/>
                    </a:solidFill>
                  </a:tcPr>
                </a:tc>
                <a:extLst>
                  <a:ext uri="{0D108BD9-81ED-4DB2-BD59-A6C34878D82A}">
                    <a16:rowId xmlns:a16="http://schemas.microsoft.com/office/drawing/2014/main" val="10010"/>
                  </a:ext>
                </a:extLst>
              </a:tr>
              <a:tr h="224028">
                <a:tc>
                  <a:txBody>
                    <a:bodyPr/>
                    <a:lstStyle/>
                    <a:p>
                      <a:r>
                        <a:rPr sz="900" b="0">
                          <a:solidFill>
                            <a:srgbClr val="0B0B0B"/>
                          </a:solidFill>
                          <a:latin typeface="Segoe UI"/>
                        </a:rPr>
                        <a:t>topic_clarity</a:t>
                      </a:r>
                    </a:p>
                  </a:txBody>
                  <a:tcPr marL="64008" marR="64008" marT="18288" marB="18288" anchor="ctr">
                    <a:solidFill>
                      <a:srgbClr val="FFFFFF"/>
                    </a:solidFill>
                  </a:tcPr>
                </a:tc>
                <a:tc>
                  <a:txBody>
                    <a:bodyPr/>
                    <a:lstStyle/>
                    <a:p>
                      <a:r>
                        <a:rPr sz="900" b="0">
                          <a:solidFill>
                            <a:srgbClr val="0B0B0B"/>
                          </a:solidFill>
                          <a:latin typeface="Segoe UI"/>
                        </a:rPr>
                        <a:t>Topic clear after class</a:t>
                      </a:r>
                    </a:p>
                  </a:txBody>
                  <a:tcPr marL="64008" marR="64008" marT="18288" marB="18288" anchor="ctr">
                    <a:solidFill>
                      <a:srgbClr val="FFFFFF"/>
                    </a:solidFill>
                  </a:tcPr>
                </a:tc>
                <a:tc>
                  <a:txBody>
                    <a:bodyPr/>
                    <a:lstStyle/>
                    <a:p>
                      <a:r>
                        <a:rPr sz="900" b="0">
                          <a:solidFill>
                            <a:srgbClr val="0B0B0B"/>
                          </a:solidFill>
                          <a:latin typeface="Segoe UI"/>
                        </a:rPr>
                        <a:t>Study habits</a:t>
                      </a:r>
                    </a:p>
                  </a:txBody>
                  <a:tcPr marL="64008" marR="64008" marT="18288" marB="18288" anchor="ctr">
                    <a:solidFill>
                      <a:srgbClr val="FFFFFF"/>
                    </a:solidFill>
                  </a:tcPr>
                </a:tc>
                <a:tc>
                  <a:txBody>
                    <a:bodyPr/>
                    <a:lstStyle/>
                    <a:p>
                      <a:r>
                        <a:rPr sz="900" b="0">
                          <a:solidFill>
                            <a:srgbClr val="0B0B0B"/>
                          </a:solidFill>
                          <a:latin typeface="Segoe UI"/>
                        </a:rPr>
                        <a:t>Likert</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FFFFF"/>
                    </a:solidFill>
                  </a:tcPr>
                </a:tc>
                <a:extLst>
                  <a:ext uri="{0D108BD9-81ED-4DB2-BD59-A6C34878D82A}">
                    <a16:rowId xmlns:a16="http://schemas.microsoft.com/office/drawing/2014/main" val="10011"/>
                  </a:ext>
                </a:extLst>
              </a:tr>
              <a:tr h="224028">
                <a:tc>
                  <a:txBody>
                    <a:bodyPr/>
                    <a:lstStyle/>
                    <a:p>
                      <a:r>
                        <a:rPr sz="900" b="0">
                          <a:solidFill>
                            <a:srgbClr val="0B0B0B"/>
                          </a:solidFill>
                          <a:latin typeface="Segoe UI"/>
                        </a:rPr>
                        <a:t>sleep_duration</a:t>
                      </a:r>
                    </a:p>
                  </a:txBody>
                  <a:tcPr marL="64008" marR="64008" marT="18288" marB="18288" anchor="ctr">
                    <a:solidFill>
                      <a:srgbClr val="F7F8FA"/>
                    </a:solidFill>
                  </a:tcPr>
                </a:tc>
                <a:tc>
                  <a:txBody>
                    <a:bodyPr/>
                    <a:lstStyle/>
                    <a:p>
                      <a:r>
                        <a:rPr sz="900" b="0">
                          <a:solidFill>
                            <a:srgbClr val="0B0B0B"/>
                          </a:solidFill>
                          <a:latin typeface="Segoe UI"/>
                        </a:rPr>
                        <a:t>Sleep per night</a:t>
                      </a:r>
                    </a:p>
                  </a:txBody>
                  <a:tcPr marL="64008" marR="64008" marT="18288" marB="18288" anchor="ctr">
                    <a:solidFill>
                      <a:srgbClr val="F7F8FA"/>
                    </a:solidFill>
                  </a:tcPr>
                </a:tc>
                <a:tc>
                  <a:txBody>
                    <a:bodyPr/>
                    <a:lstStyle/>
                    <a:p>
                      <a:r>
                        <a:rPr sz="900" b="0">
                          <a:solidFill>
                            <a:srgbClr val="0B0B0B"/>
                          </a:solidFill>
                          <a:latin typeface="Segoe UI"/>
                        </a:rPr>
                        <a:t>Lifestyle</a:t>
                      </a:r>
                    </a:p>
                  </a:txBody>
                  <a:tcPr marL="64008" marR="64008" marT="18288" marB="18288" anchor="ctr">
                    <a:solidFill>
                      <a:srgbClr val="F7F8FA"/>
                    </a:solidFill>
                  </a:tcPr>
                </a:tc>
                <a:tc>
                  <a:txBody>
                    <a:bodyPr/>
                    <a:lstStyle/>
                    <a:p>
                      <a:r>
                        <a:rPr sz="900" b="0">
                          <a:solidFill>
                            <a:srgbClr val="0B0B0B"/>
                          </a:solidFill>
                          <a:latin typeface="Segoe UI"/>
                        </a:rPr>
                        <a:t>ordinal band</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7F8FA"/>
                    </a:solidFill>
                  </a:tcPr>
                </a:tc>
                <a:extLst>
                  <a:ext uri="{0D108BD9-81ED-4DB2-BD59-A6C34878D82A}">
                    <a16:rowId xmlns:a16="http://schemas.microsoft.com/office/drawing/2014/main" val="10012"/>
                  </a:ext>
                </a:extLst>
              </a:tr>
              <a:tr h="224028">
                <a:tc>
                  <a:txBody>
                    <a:bodyPr/>
                    <a:lstStyle/>
                    <a:p>
                      <a:r>
                        <a:rPr sz="900" b="0">
                          <a:solidFill>
                            <a:srgbClr val="0B0B0B"/>
                          </a:solidFill>
                          <a:latin typeface="Segoe UI"/>
                        </a:rPr>
                        <a:t>stress_frequency</a:t>
                      </a:r>
                    </a:p>
                  </a:txBody>
                  <a:tcPr marL="64008" marR="64008" marT="18288" marB="18288" anchor="ctr">
                    <a:solidFill>
                      <a:srgbClr val="FFFFFF"/>
                    </a:solidFill>
                  </a:tcPr>
                </a:tc>
                <a:tc>
                  <a:txBody>
                    <a:bodyPr/>
                    <a:lstStyle/>
                    <a:p>
                      <a:r>
                        <a:rPr sz="900" b="0">
                          <a:solidFill>
                            <a:srgbClr val="0B0B0B"/>
                          </a:solidFill>
                          <a:latin typeface="Segoe UI"/>
                        </a:rPr>
                        <a:t>Stress blocked studying</a:t>
                      </a:r>
                    </a:p>
                  </a:txBody>
                  <a:tcPr marL="64008" marR="64008" marT="18288" marB="18288" anchor="ctr">
                    <a:solidFill>
                      <a:srgbClr val="FFFFFF"/>
                    </a:solidFill>
                  </a:tcPr>
                </a:tc>
                <a:tc>
                  <a:txBody>
                    <a:bodyPr/>
                    <a:lstStyle/>
                    <a:p>
                      <a:r>
                        <a:rPr sz="900" b="0">
                          <a:solidFill>
                            <a:srgbClr val="0B0B0B"/>
                          </a:solidFill>
                          <a:latin typeface="Segoe UI"/>
                        </a:rPr>
                        <a:t>Stress/pressure</a:t>
                      </a:r>
                    </a:p>
                  </a:txBody>
                  <a:tcPr marL="64008" marR="64008" marT="18288" marB="18288" anchor="ctr">
                    <a:solidFill>
                      <a:srgbClr val="FFFFFF"/>
                    </a:solidFill>
                  </a:tcPr>
                </a:tc>
                <a:tc>
                  <a:txBody>
                    <a:bodyPr/>
                    <a:lstStyle/>
                    <a:p>
                      <a:r>
                        <a:rPr sz="900" b="0">
                          <a:solidFill>
                            <a:srgbClr val="0B0B0B"/>
                          </a:solidFill>
                          <a:latin typeface="Segoe UI"/>
                        </a:rPr>
                        <a:t>Likert</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FFFFF"/>
                    </a:solidFill>
                  </a:tcPr>
                </a:tc>
                <a:extLst>
                  <a:ext uri="{0D108BD9-81ED-4DB2-BD59-A6C34878D82A}">
                    <a16:rowId xmlns:a16="http://schemas.microsoft.com/office/drawing/2014/main" val="10013"/>
                  </a:ext>
                </a:extLst>
              </a:tr>
              <a:tr h="224028">
                <a:tc>
                  <a:txBody>
                    <a:bodyPr/>
                    <a:lstStyle/>
                    <a:p>
                      <a:r>
                        <a:rPr sz="900" b="0">
                          <a:solidFill>
                            <a:srgbClr val="0B0B0B"/>
                          </a:solidFill>
                          <a:latin typeface="Segoe UI"/>
                        </a:rPr>
                        <a:t>weekly_responsibilities</a:t>
                      </a:r>
                    </a:p>
                  </a:txBody>
                  <a:tcPr marL="64008" marR="64008" marT="18288" marB="18288" anchor="ctr">
                    <a:solidFill>
                      <a:srgbClr val="F7F8FA"/>
                    </a:solidFill>
                  </a:tcPr>
                </a:tc>
                <a:tc>
                  <a:txBody>
                    <a:bodyPr/>
                    <a:lstStyle/>
                    <a:p>
                      <a:r>
                        <a:rPr sz="900" b="0">
                          <a:solidFill>
                            <a:srgbClr val="0B0B0B"/>
                          </a:solidFill>
                          <a:latin typeface="Segoe UI"/>
                        </a:rPr>
                        <a:t>Outside commitments (tuition/job/club)</a:t>
                      </a:r>
                    </a:p>
                  </a:txBody>
                  <a:tcPr marL="64008" marR="64008" marT="18288" marB="18288" anchor="ctr">
                    <a:solidFill>
                      <a:srgbClr val="F7F8FA"/>
                    </a:solidFill>
                  </a:tcPr>
                </a:tc>
                <a:tc>
                  <a:txBody>
                    <a:bodyPr/>
                    <a:lstStyle/>
                    <a:p>
                      <a:r>
                        <a:rPr sz="900" b="0">
                          <a:solidFill>
                            <a:srgbClr val="0B0B0B"/>
                          </a:solidFill>
                          <a:latin typeface="Segoe UI"/>
                        </a:rPr>
                        <a:t>Responsibility</a:t>
                      </a:r>
                    </a:p>
                  </a:txBody>
                  <a:tcPr marL="64008" marR="64008" marT="18288" marB="18288" anchor="ctr">
                    <a:solidFill>
                      <a:srgbClr val="F7F8FA"/>
                    </a:solidFill>
                  </a:tcPr>
                </a:tc>
                <a:tc>
                  <a:txBody>
                    <a:bodyPr/>
                    <a:lstStyle/>
                    <a:p>
                      <a:r>
                        <a:rPr sz="900" b="0">
                          <a:solidFill>
                            <a:srgbClr val="0B0B0B"/>
                          </a:solidFill>
                          <a:latin typeface="Segoe UI"/>
                        </a:rPr>
                        <a:t>ordinal band</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Blank -&gt; 'None'</a:t>
                      </a:r>
                    </a:p>
                  </a:txBody>
                  <a:tcPr marL="64008" marR="64008" marT="18288" marB="18288" anchor="ctr">
                    <a:solidFill>
                      <a:srgbClr val="F7F8FA"/>
                    </a:solidFill>
                  </a:tcPr>
                </a:tc>
                <a:extLst>
                  <a:ext uri="{0D108BD9-81ED-4DB2-BD59-A6C34878D82A}">
                    <a16:rowId xmlns:a16="http://schemas.microsoft.com/office/drawing/2014/main" val="10014"/>
                  </a:ext>
                </a:extLst>
              </a:tr>
              <a:tr h="224028">
                <a:tc>
                  <a:txBody>
                    <a:bodyPr/>
                    <a:lstStyle/>
                    <a:p>
                      <a:r>
                        <a:rPr sz="900" b="0">
                          <a:solidFill>
                            <a:srgbClr val="0B0B0B"/>
                          </a:solidFill>
                          <a:latin typeface="Segoe UI"/>
                        </a:rPr>
                        <a:t>desired_department_match</a:t>
                      </a:r>
                    </a:p>
                  </a:txBody>
                  <a:tcPr marL="64008" marR="64008" marT="18288" marB="18288" anchor="ctr">
                    <a:solidFill>
                      <a:srgbClr val="FFFFFF"/>
                    </a:solidFill>
                  </a:tcPr>
                </a:tc>
                <a:tc>
                  <a:txBody>
                    <a:bodyPr/>
                    <a:lstStyle/>
                    <a:p>
                      <a:r>
                        <a:rPr sz="900" b="0">
                          <a:solidFill>
                            <a:srgbClr val="0B0B0B"/>
                          </a:solidFill>
                          <a:latin typeface="Segoe UI"/>
                        </a:rPr>
                        <a:t>Got desired department</a:t>
                      </a:r>
                    </a:p>
                  </a:txBody>
                  <a:tcPr marL="64008" marR="64008" marT="18288" marB="18288" anchor="ctr">
                    <a:solidFill>
                      <a:srgbClr val="FFFFFF"/>
                    </a:solidFill>
                  </a:tcPr>
                </a:tc>
                <a:tc>
                  <a:txBody>
                    <a:bodyPr/>
                    <a:lstStyle/>
                    <a:p>
                      <a:r>
                        <a:rPr sz="900" b="0">
                          <a:solidFill>
                            <a:srgbClr val="0B0B0B"/>
                          </a:solidFill>
                          <a:latin typeface="Segoe UI"/>
                        </a:rPr>
                        <a:t>Motivation</a:t>
                      </a:r>
                    </a:p>
                  </a:txBody>
                  <a:tcPr marL="64008" marR="64008" marT="18288" marB="18288" anchor="ctr">
                    <a:solidFill>
                      <a:srgbClr val="FFFFFF"/>
                    </a:solidFill>
                  </a:tcPr>
                </a:tc>
                <a:tc>
                  <a:txBody>
                    <a:bodyPr/>
                    <a:lstStyle/>
                    <a:p>
                      <a:r>
                        <a:rPr sz="900" b="0">
                          <a:solidFill>
                            <a:srgbClr val="0B0B0B"/>
                          </a:solidFill>
                          <a:latin typeface="Segoe UI"/>
                        </a:rPr>
                        <a:t>Likert</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FFFFF"/>
                    </a:solidFill>
                  </a:tcPr>
                </a:tc>
                <a:extLst>
                  <a:ext uri="{0D108BD9-81ED-4DB2-BD59-A6C34878D82A}">
                    <a16:rowId xmlns:a16="http://schemas.microsoft.com/office/drawing/2014/main" val="10015"/>
                  </a:ext>
                </a:extLst>
              </a:tr>
              <a:tr h="224028">
                <a:tc>
                  <a:txBody>
                    <a:bodyPr/>
                    <a:lstStyle/>
                    <a:p>
                      <a:r>
                        <a:rPr sz="900" b="0">
                          <a:solidFill>
                            <a:srgbClr val="0B0B0B"/>
                          </a:solidFill>
                          <a:latin typeface="Segoe UI"/>
                        </a:rPr>
                        <a:t>distraction_frequency</a:t>
                      </a:r>
                    </a:p>
                  </a:txBody>
                  <a:tcPr marL="64008" marR="64008" marT="18288" marB="18288" anchor="ctr">
                    <a:solidFill>
                      <a:srgbClr val="F7F8FA"/>
                    </a:solidFill>
                  </a:tcPr>
                </a:tc>
                <a:tc>
                  <a:txBody>
                    <a:bodyPr/>
                    <a:lstStyle/>
                    <a:p>
                      <a:r>
                        <a:rPr sz="900" b="0">
                          <a:solidFill>
                            <a:srgbClr val="0B0B0B"/>
                          </a:solidFill>
                          <a:latin typeface="Segoe UI"/>
                        </a:rPr>
                        <a:t>Phone / social media took study time</a:t>
                      </a:r>
                    </a:p>
                  </a:txBody>
                  <a:tcPr marL="64008" marR="64008" marT="18288" marB="18288" anchor="ctr">
                    <a:solidFill>
                      <a:srgbClr val="F7F8FA"/>
                    </a:solidFill>
                  </a:tcPr>
                </a:tc>
                <a:tc>
                  <a:txBody>
                    <a:bodyPr/>
                    <a:lstStyle/>
                    <a:p>
                      <a:r>
                        <a:rPr sz="900" b="0">
                          <a:solidFill>
                            <a:srgbClr val="0B0B0B"/>
                          </a:solidFill>
                          <a:latin typeface="Segoe UI"/>
                        </a:rPr>
                        <a:t>Lifestyle</a:t>
                      </a:r>
                    </a:p>
                  </a:txBody>
                  <a:tcPr marL="64008" marR="64008" marT="18288" marB="18288" anchor="ctr">
                    <a:solidFill>
                      <a:srgbClr val="F7F8FA"/>
                    </a:solidFill>
                  </a:tcPr>
                </a:tc>
                <a:tc>
                  <a:txBody>
                    <a:bodyPr/>
                    <a:lstStyle/>
                    <a:p>
                      <a:r>
                        <a:rPr sz="900" b="0">
                          <a:solidFill>
                            <a:srgbClr val="0B0B0B"/>
                          </a:solidFill>
                          <a:latin typeface="Segoe UI"/>
                        </a:rPr>
                        <a:t>Likert</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7F8FA"/>
                    </a:solidFill>
                  </a:tcPr>
                </a:tc>
                <a:extLst>
                  <a:ext uri="{0D108BD9-81ED-4DB2-BD59-A6C34878D82A}">
                    <a16:rowId xmlns:a16="http://schemas.microsoft.com/office/drawing/2014/main" val="10016"/>
                  </a:ext>
                </a:extLst>
              </a:tr>
              <a:tr h="224028">
                <a:tc>
                  <a:txBody>
                    <a:bodyPr/>
                    <a:lstStyle/>
                    <a:p>
                      <a:r>
                        <a:rPr sz="900" b="0">
                          <a:solidFill>
                            <a:srgbClr val="0B0B0B"/>
                          </a:solidFill>
                          <a:latin typeface="Segoe UI"/>
                        </a:rPr>
                        <a:t>study_environment</a:t>
                      </a:r>
                    </a:p>
                  </a:txBody>
                  <a:tcPr marL="64008" marR="64008" marT="18288" marB="18288" anchor="ctr">
                    <a:solidFill>
                      <a:srgbClr val="FFFFFF"/>
                    </a:solidFill>
                  </a:tcPr>
                </a:tc>
                <a:tc>
                  <a:txBody>
                    <a:bodyPr/>
                    <a:lstStyle/>
                    <a:p>
                      <a:r>
                        <a:rPr sz="900" b="0">
                          <a:solidFill>
                            <a:srgbClr val="0B0B0B"/>
                          </a:solidFill>
                          <a:latin typeface="Segoe UI"/>
                        </a:rPr>
                        <a:t>Study-friendly living place</a:t>
                      </a:r>
                    </a:p>
                  </a:txBody>
                  <a:tcPr marL="64008" marR="64008" marT="18288" marB="18288" anchor="ctr">
                    <a:solidFill>
                      <a:srgbClr val="FFFFFF"/>
                    </a:solidFill>
                  </a:tcPr>
                </a:tc>
                <a:tc>
                  <a:txBody>
                    <a:bodyPr/>
                    <a:lstStyle/>
                    <a:p>
                      <a:r>
                        <a:rPr sz="900" b="0">
                          <a:solidFill>
                            <a:srgbClr val="0B0B0B"/>
                          </a:solidFill>
                          <a:latin typeface="Segoe UI"/>
                        </a:rPr>
                        <a:t>Environment</a:t>
                      </a:r>
                    </a:p>
                  </a:txBody>
                  <a:tcPr marL="64008" marR="64008" marT="18288" marB="18288" anchor="ctr">
                    <a:solidFill>
                      <a:srgbClr val="FFFFFF"/>
                    </a:solidFill>
                  </a:tcPr>
                </a:tc>
                <a:tc>
                  <a:txBody>
                    <a:bodyPr/>
                    <a:lstStyle/>
                    <a:p>
                      <a:r>
                        <a:rPr sz="900" b="0">
                          <a:solidFill>
                            <a:srgbClr val="0B0B0B"/>
                          </a:solidFill>
                          <a:latin typeface="Segoe UI"/>
                        </a:rPr>
                        <a:t>Likert</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FFFFF"/>
                    </a:solidFill>
                  </a:tcPr>
                </a:tc>
                <a:extLst>
                  <a:ext uri="{0D108BD9-81ED-4DB2-BD59-A6C34878D82A}">
                    <a16:rowId xmlns:a16="http://schemas.microsoft.com/office/drawing/2014/main" val="10017"/>
                  </a:ext>
                </a:extLst>
              </a:tr>
              <a:tr h="224028">
                <a:tc>
                  <a:txBody>
                    <a:bodyPr/>
                    <a:lstStyle/>
                    <a:p>
                      <a:r>
                        <a:rPr sz="900" b="0">
                          <a:solidFill>
                            <a:srgbClr val="0B0B0B"/>
                          </a:solidFill>
                          <a:latin typeface="Segoe UI"/>
                        </a:rPr>
                        <a:t>support_level</a:t>
                      </a:r>
                    </a:p>
                  </a:txBody>
                  <a:tcPr marL="64008" marR="64008" marT="18288" marB="18288" anchor="ctr">
                    <a:solidFill>
                      <a:srgbClr val="F7F8FA"/>
                    </a:solidFill>
                  </a:tcPr>
                </a:tc>
                <a:tc>
                  <a:txBody>
                    <a:bodyPr/>
                    <a:lstStyle/>
                    <a:p>
                      <a:r>
                        <a:rPr sz="900" b="0">
                          <a:solidFill>
                            <a:srgbClr val="0B0B0B"/>
                          </a:solidFill>
                          <a:latin typeface="Segoe UI"/>
                        </a:rPr>
                        <a:t>Family / friend support</a:t>
                      </a:r>
                    </a:p>
                  </a:txBody>
                  <a:tcPr marL="64008" marR="64008" marT="18288" marB="18288" anchor="ctr">
                    <a:solidFill>
                      <a:srgbClr val="F7F8FA"/>
                    </a:solidFill>
                  </a:tcPr>
                </a:tc>
                <a:tc>
                  <a:txBody>
                    <a:bodyPr/>
                    <a:lstStyle/>
                    <a:p>
                      <a:r>
                        <a:rPr sz="900" b="0">
                          <a:solidFill>
                            <a:srgbClr val="0B0B0B"/>
                          </a:solidFill>
                          <a:latin typeface="Segoe UI"/>
                        </a:rPr>
                        <a:t>Support</a:t>
                      </a:r>
                    </a:p>
                  </a:txBody>
                  <a:tcPr marL="64008" marR="64008" marT="18288" marB="18288" anchor="ctr">
                    <a:solidFill>
                      <a:srgbClr val="F7F8FA"/>
                    </a:solidFill>
                  </a:tcPr>
                </a:tc>
                <a:tc>
                  <a:txBody>
                    <a:bodyPr/>
                    <a:lstStyle/>
                    <a:p>
                      <a:r>
                        <a:rPr sz="900" b="0">
                          <a:solidFill>
                            <a:srgbClr val="0B0B0B"/>
                          </a:solidFill>
                          <a:latin typeface="Segoe UI"/>
                        </a:rPr>
                        <a:t>Likert</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7F8FA"/>
                    </a:solidFill>
                  </a:tcPr>
                </a:tc>
                <a:extLst>
                  <a:ext uri="{0D108BD9-81ED-4DB2-BD59-A6C34878D82A}">
                    <a16:rowId xmlns:a16="http://schemas.microsoft.com/office/drawing/2014/main" val="10018"/>
                  </a:ext>
                </a:extLst>
              </a:tr>
              <a:tr h="224028">
                <a:tc>
                  <a:txBody>
                    <a:bodyPr/>
                    <a:lstStyle/>
                    <a:p>
                      <a:r>
                        <a:rPr sz="900" b="0">
                          <a:solidFill>
                            <a:srgbClr val="0B0B0B"/>
                          </a:solidFill>
                          <a:latin typeface="Segoe UI"/>
                        </a:rPr>
                        <a:t>admission_satisfaction</a:t>
                      </a:r>
                    </a:p>
                  </a:txBody>
                  <a:tcPr marL="64008" marR="64008" marT="18288" marB="18288" anchor="ctr">
                    <a:solidFill>
                      <a:srgbClr val="FFFFFF"/>
                    </a:solidFill>
                  </a:tcPr>
                </a:tc>
                <a:tc>
                  <a:txBody>
                    <a:bodyPr/>
                    <a:lstStyle/>
                    <a:p>
                      <a:r>
                        <a:rPr sz="900" b="0">
                          <a:solidFill>
                            <a:srgbClr val="0B0B0B"/>
                          </a:solidFill>
                          <a:latin typeface="Segoe UI"/>
                        </a:rPr>
                        <a:t>Satisfied with admission</a:t>
                      </a:r>
                    </a:p>
                  </a:txBody>
                  <a:tcPr marL="64008" marR="64008" marT="18288" marB="18288" anchor="ctr">
                    <a:solidFill>
                      <a:srgbClr val="FFFFFF"/>
                    </a:solidFill>
                  </a:tcPr>
                </a:tc>
                <a:tc>
                  <a:txBody>
                    <a:bodyPr/>
                    <a:lstStyle/>
                    <a:p>
                      <a:r>
                        <a:rPr sz="900" b="0">
                          <a:solidFill>
                            <a:srgbClr val="0B0B0B"/>
                          </a:solidFill>
                          <a:latin typeface="Segoe UI"/>
                        </a:rPr>
                        <a:t>Motivation</a:t>
                      </a:r>
                    </a:p>
                  </a:txBody>
                  <a:tcPr marL="64008" marR="64008" marT="18288" marB="18288" anchor="ctr">
                    <a:solidFill>
                      <a:srgbClr val="FFFFFF"/>
                    </a:solidFill>
                  </a:tcPr>
                </a:tc>
                <a:tc>
                  <a:txBody>
                    <a:bodyPr/>
                    <a:lstStyle/>
                    <a:p>
                      <a:r>
                        <a:rPr sz="900" b="0">
                          <a:solidFill>
                            <a:srgbClr val="0B0B0B"/>
                          </a:solidFill>
                          <a:latin typeface="Segoe UI"/>
                        </a:rPr>
                        <a:t>Likert</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FFFFF"/>
                    </a:solidFill>
                  </a:tcPr>
                </a:tc>
                <a:extLst>
                  <a:ext uri="{0D108BD9-81ED-4DB2-BD59-A6C34878D82A}">
                    <a16:rowId xmlns:a16="http://schemas.microsoft.com/office/drawing/2014/main" val="10019"/>
                  </a:ext>
                </a:extLst>
              </a:tr>
              <a:tr h="224028">
                <a:tc>
                  <a:txBody>
                    <a:bodyPr/>
                    <a:lstStyle/>
                    <a:p>
                      <a:r>
                        <a:rPr sz="900" b="0">
                          <a:solidFill>
                            <a:srgbClr val="0B0B0B"/>
                          </a:solidFill>
                          <a:latin typeface="Segoe UI"/>
                        </a:rPr>
                        <a:t>career_expectation</a:t>
                      </a:r>
                    </a:p>
                  </a:txBody>
                  <a:tcPr marL="64008" marR="64008" marT="18288" marB="18288" anchor="ctr">
                    <a:solidFill>
                      <a:srgbClr val="F7F8FA"/>
                    </a:solidFill>
                  </a:tcPr>
                </a:tc>
                <a:tc>
                  <a:txBody>
                    <a:bodyPr/>
                    <a:lstStyle/>
                    <a:p>
                      <a:r>
                        <a:rPr sz="900" b="0">
                          <a:solidFill>
                            <a:srgbClr val="0B0B0B"/>
                          </a:solidFill>
                          <a:latin typeface="Segoe UI"/>
                        </a:rPr>
                        <a:t>Course leads to dream career</a:t>
                      </a:r>
                    </a:p>
                  </a:txBody>
                  <a:tcPr marL="64008" marR="64008" marT="18288" marB="18288" anchor="ctr">
                    <a:solidFill>
                      <a:srgbClr val="F7F8FA"/>
                    </a:solidFill>
                  </a:tcPr>
                </a:tc>
                <a:tc>
                  <a:txBody>
                    <a:bodyPr/>
                    <a:lstStyle/>
                    <a:p>
                      <a:r>
                        <a:rPr sz="900" b="0">
                          <a:solidFill>
                            <a:srgbClr val="0B0B0B"/>
                          </a:solidFill>
                          <a:latin typeface="Segoe UI"/>
                        </a:rPr>
                        <a:t>Motivation</a:t>
                      </a:r>
                    </a:p>
                  </a:txBody>
                  <a:tcPr marL="64008" marR="64008" marT="18288" marB="18288" anchor="ctr">
                    <a:solidFill>
                      <a:srgbClr val="F7F8FA"/>
                    </a:solidFill>
                  </a:tcPr>
                </a:tc>
                <a:tc>
                  <a:txBody>
                    <a:bodyPr/>
                    <a:lstStyle/>
                    <a:p>
                      <a:r>
                        <a:rPr sz="900" b="0">
                          <a:solidFill>
                            <a:srgbClr val="0B0B0B"/>
                          </a:solidFill>
                          <a:latin typeface="Segoe UI"/>
                        </a:rPr>
                        <a:t>Likert</a:t>
                      </a:r>
                    </a:p>
                  </a:txBody>
                  <a:tcPr marL="64008" marR="64008" marT="18288" marB="18288" anchor="ctr">
                    <a:solidFill>
                      <a:srgbClr val="F7F8FA"/>
                    </a:solidFill>
                  </a:tcPr>
                </a:tc>
                <a:tc>
                  <a:txBody>
                    <a:bodyPr/>
                    <a:lstStyle/>
                    <a:p>
                      <a:r>
                        <a:rPr sz="900" b="0">
                          <a:solidFill>
                            <a:srgbClr val="0B0B0B"/>
                          </a:solidFill>
                          <a:latin typeface="Segoe UI"/>
                        </a:rPr>
                        <a:t>No</a:t>
                      </a:r>
                    </a:p>
                  </a:txBody>
                  <a:tcPr marL="64008" marR="64008" marT="18288" marB="18288" anchor="ctr">
                    <a:solidFill>
                      <a:srgbClr val="F7F8FA"/>
                    </a:solidFill>
                  </a:tcPr>
                </a:tc>
                <a:tc>
                  <a:txBody>
                    <a:bodyPr/>
                    <a:lstStyle/>
                    <a:p>
                      <a:r>
                        <a:rPr sz="900" b="0">
                          <a:solidFill>
                            <a:srgbClr val="0B0B0B"/>
                          </a:solidFill>
                          <a:latin typeface="Segoe UI"/>
                        </a:rPr>
                        <a:t>No</a:t>
                      </a:r>
                    </a:p>
                  </a:txBody>
                  <a:tcPr marL="64008" marR="64008" marT="18288" marB="18288" anchor="ctr">
                    <a:solidFill>
                      <a:srgbClr val="F7F8FA"/>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7F8FA"/>
                    </a:solidFill>
                  </a:tcPr>
                </a:tc>
                <a:extLst>
                  <a:ext uri="{0D108BD9-81ED-4DB2-BD59-A6C34878D82A}">
                    <a16:rowId xmlns:a16="http://schemas.microsoft.com/office/drawing/2014/main" val="10020"/>
                  </a:ext>
                </a:extLst>
              </a:tr>
              <a:tr h="224028">
                <a:tc>
                  <a:txBody>
                    <a:bodyPr/>
                    <a:lstStyle/>
                    <a:p>
                      <a:r>
                        <a:rPr sz="900" b="0">
                          <a:solidFill>
                            <a:srgbClr val="0B0B0B"/>
                          </a:solidFill>
                          <a:latin typeface="Segoe UI"/>
                        </a:rPr>
                        <a:t>result_satisfaction</a:t>
                      </a:r>
                    </a:p>
                  </a:txBody>
                  <a:tcPr marL="64008" marR="64008" marT="18288" marB="18288" anchor="ctr">
                    <a:solidFill>
                      <a:srgbClr val="FFFFFF"/>
                    </a:solidFill>
                  </a:tcPr>
                </a:tc>
                <a:tc>
                  <a:txBody>
                    <a:bodyPr/>
                    <a:lstStyle/>
                    <a:p>
                      <a:r>
                        <a:rPr sz="900" b="0">
                          <a:solidFill>
                            <a:srgbClr val="0B0B0B"/>
                          </a:solidFill>
                          <a:latin typeface="Segoe UI"/>
                        </a:rPr>
                        <a:t>Satisfied with last result</a:t>
                      </a:r>
                    </a:p>
                  </a:txBody>
                  <a:tcPr marL="64008" marR="64008" marT="18288" marB="18288" anchor="ctr">
                    <a:solidFill>
                      <a:srgbClr val="FFFFFF"/>
                    </a:solidFill>
                  </a:tcPr>
                </a:tc>
                <a:tc>
                  <a:txBody>
                    <a:bodyPr/>
                    <a:lstStyle/>
                    <a:p>
                      <a:r>
                        <a:rPr sz="900" b="0">
                          <a:solidFill>
                            <a:srgbClr val="0B0B0B"/>
                          </a:solidFill>
                          <a:latin typeface="Segoe UI"/>
                        </a:rPr>
                        <a:t>Motivation</a:t>
                      </a:r>
                    </a:p>
                  </a:txBody>
                  <a:tcPr marL="64008" marR="64008" marT="18288" marB="18288" anchor="ctr">
                    <a:solidFill>
                      <a:srgbClr val="FFFFFF"/>
                    </a:solidFill>
                  </a:tcPr>
                </a:tc>
                <a:tc>
                  <a:txBody>
                    <a:bodyPr/>
                    <a:lstStyle/>
                    <a:p>
                      <a:r>
                        <a:rPr sz="900" b="0">
                          <a:solidFill>
                            <a:srgbClr val="0B0B0B"/>
                          </a:solidFill>
                          <a:latin typeface="Segoe UI"/>
                        </a:rPr>
                        <a:t>Likert</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Kept for description only</a:t>
                      </a:r>
                    </a:p>
                  </a:txBody>
                  <a:tcPr marL="64008" marR="64008" marT="18288" marB="18288" anchor="ctr">
                    <a:solidFill>
                      <a:srgbClr val="FFFFFF"/>
                    </a:solidFill>
                  </a:tcPr>
                </a:tc>
                <a:extLst>
                  <a:ext uri="{0D108BD9-81ED-4DB2-BD59-A6C34878D82A}">
                    <a16:rowId xmlns:a16="http://schemas.microsoft.com/office/drawing/2014/main" val="10021"/>
                  </a:ext>
                </a:extLst>
              </a:tr>
              <a:tr h="224028">
                <a:tc>
                  <a:txBody>
                    <a:bodyPr/>
                    <a:lstStyle/>
                    <a:p>
                      <a:r>
                        <a:rPr sz="900" b="0">
                          <a:solidFill>
                            <a:srgbClr val="0B0B0B"/>
                          </a:solidFill>
                          <a:latin typeface="Segoe UI"/>
                        </a:rPr>
                        <a:t>routine_manageability</a:t>
                      </a:r>
                    </a:p>
                  </a:txBody>
                  <a:tcPr marL="64008" marR="64008" marT="18288" marB="18288" anchor="ctr">
                    <a:solidFill>
                      <a:srgbClr val="F7F8FA"/>
                    </a:solidFill>
                  </a:tcPr>
                </a:tc>
                <a:tc>
                  <a:txBody>
                    <a:bodyPr/>
                    <a:lstStyle/>
                    <a:p>
                      <a:r>
                        <a:rPr sz="900" b="0">
                          <a:solidFill>
                            <a:srgbClr val="0B0B0B"/>
                          </a:solidFill>
                          <a:latin typeface="Segoe UI"/>
                        </a:rPr>
                        <a:t>Semester routine manageable</a:t>
                      </a:r>
                    </a:p>
                  </a:txBody>
                  <a:tcPr marL="64008" marR="64008" marT="18288" marB="18288" anchor="ctr">
                    <a:solidFill>
                      <a:srgbClr val="F7F8FA"/>
                    </a:solidFill>
                  </a:tcPr>
                </a:tc>
                <a:tc>
                  <a:txBody>
                    <a:bodyPr/>
                    <a:lstStyle/>
                    <a:p>
                      <a:r>
                        <a:rPr sz="900" b="0">
                          <a:solidFill>
                            <a:srgbClr val="0B0B0B"/>
                          </a:solidFill>
                          <a:latin typeface="Segoe UI"/>
                        </a:rPr>
                        <a:t>Lifestyle</a:t>
                      </a:r>
                    </a:p>
                  </a:txBody>
                  <a:tcPr marL="64008" marR="64008" marT="18288" marB="18288" anchor="ctr">
                    <a:solidFill>
                      <a:srgbClr val="F7F8FA"/>
                    </a:solidFill>
                  </a:tcPr>
                </a:tc>
                <a:tc>
                  <a:txBody>
                    <a:bodyPr/>
                    <a:lstStyle/>
                    <a:p>
                      <a:r>
                        <a:rPr sz="900" b="0">
                          <a:solidFill>
                            <a:srgbClr val="0B0B0B"/>
                          </a:solidFill>
                          <a:latin typeface="Segoe UI"/>
                        </a:rPr>
                        <a:t>Likert</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7F8FA"/>
                    </a:solidFill>
                  </a:tcPr>
                </a:tc>
                <a:extLst>
                  <a:ext uri="{0D108BD9-81ED-4DB2-BD59-A6C34878D82A}">
                    <a16:rowId xmlns:a16="http://schemas.microsoft.com/office/drawing/2014/main" val="10022"/>
                  </a:ext>
                </a:extLst>
              </a:tr>
              <a:tr h="224028">
                <a:tc>
                  <a:txBody>
                    <a:bodyPr/>
                    <a:lstStyle/>
                    <a:p>
                      <a:r>
                        <a:rPr sz="900" b="0">
                          <a:solidFill>
                            <a:srgbClr val="0B0B0B"/>
                          </a:solidFill>
                          <a:latin typeface="Segoe UI"/>
                        </a:rPr>
                        <a:t>email</a:t>
                      </a:r>
                    </a:p>
                  </a:txBody>
                  <a:tcPr marL="64008" marR="64008" marT="18288" marB="18288" anchor="ctr">
                    <a:solidFill>
                      <a:srgbClr val="FFFFFF"/>
                    </a:solidFill>
                  </a:tcPr>
                </a:tc>
                <a:tc>
                  <a:txBody>
                    <a:bodyPr/>
                    <a:lstStyle/>
                    <a:p>
                      <a:r>
                        <a:rPr sz="900" b="0">
                          <a:solidFill>
                            <a:srgbClr val="0B0B0B"/>
                          </a:solidFill>
                          <a:latin typeface="Segoe UI"/>
                        </a:rPr>
                        <a:t>Email</a:t>
                      </a:r>
                    </a:p>
                  </a:txBody>
                  <a:tcPr marL="64008" marR="64008" marT="18288" marB="18288" anchor="ctr">
                    <a:solidFill>
                      <a:srgbClr val="FFFFFF"/>
                    </a:solidFill>
                  </a:tcPr>
                </a:tc>
                <a:tc>
                  <a:txBody>
                    <a:bodyPr/>
                    <a:lstStyle/>
                    <a:p>
                      <a:r>
                        <a:rPr sz="900" b="0">
                          <a:solidFill>
                            <a:srgbClr val="0B0B0B"/>
                          </a:solidFill>
                          <a:latin typeface="Segoe UI"/>
                        </a:rPr>
                        <a:t>Admin</a:t>
                      </a:r>
                    </a:p>
                  </a:txBody>
                  <a:tcPr marL="64008" marR="64008" marT="18288" marB="18288" anchor="ctr">
                    <a:solidFill>
                      <a:srgbClr val="FFFFFF"/>
                    </a:solidFill>
                  </a:tcPr>
                </a:tc>
                <a:tc>
                  <a:txBody>
                    <a:bodyPr/>
                    <a:lstStyle/>
                    <a:p>
                      <a:r>
                        <a:rPr sz="900" b="0">
                          <a:solidFill>
                            <a:srgbClr val="0B0B0B"/>
                          </a:solidFill>
                          <a:latin typeface="Segoe UI"/>
                        </a:rPr>
                        <a:t>text</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Dropped</a:t>
                      </a:r>
                    </a:p>
                  </a:txBody>
                  <a:tcPr marL="64008" marR="64008" marT="18288" marB="18288" anchor="ctr">
                    <a:solidFill>
                      <a:srgbClr val="FFFFFF"/>
                    </a:solidFill>
                  </a:tcPr>
                </a:tc>
                <a:extLst>
                  <a:ext uri="{0D108BD9-81ED-4DB2-BD59-A6C34878D82A}">
                    <a16:rowId xmlns:a16="http://schemas.microsoft.com/office/drawing/2014/main" val="10023"/>
                  </a:ext>
                </a:extLst>
              </a:tr>
            </a:tbl>
          </a:graphicData>
        </a:graphic>
      </p:graphicFrame>
      <p:sp>
        <p:nvSpPr>
          <p:cNvPr id="8" name="SimpleLightSectionLabel">
            <a:extLst>
              <a:ext uri="{FF2B5EF4-FFF2-40B4-BE49-F238E27FC236}">
                <a16:creationId xmlns:a16="http://schemas.microsoft.com/office/drawing/2014/main" id="{ADAF6333-6E90-4FA2-8D44-DF41477550E6}"/>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TECHNICAL BACKUP</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BACKUP</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Exact Train / Test Counts and Tree Settings</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56</a:t>
            </a:r>
          </a:p>
        </p:txBody>
      </p:sp>
      <p:graphicFrame>
        <p:nvGraphicFramePr>
          <p:cNvPr id="7" name="Table 6"/>
          <p:cNvGraphicFramePr>
            <a:graphicFrameLocks noGrp="1"/>
          </p:cNvGraphicFramePr>
          <p:nvPr/>
        </p:nvGraphicFramePr>
        <p:xfrm>
          <a:off x="548640" y="1371600"/>
          <a:ext cx="11064240" cy="205740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tblGrid>
              <a:tr h="411480">
                <a:tc>
                  <a:txBody>
                    <a:bodyPr/>
                    <a:lstStyle/>
                    <a:p>
                      <a:r>
                        <a:rPr sz="1500" b="1">
                          <a:solidFill>
                            <a:srgbClr val="FFFFFF"/>
                          </a:solidFill>
                          <a:latin typeface="Segoe UI"/>
                        </a:rPr>
                        <a:t>Split</a:t>
                      </a:r>
                    </a:p>
                  </a:txBody>
                  <a:tcPr marL="64008" marR="64008" marT="18288" marB="18288" anchor="ctr">
                    <a:solidFill>
                      <a:srgbClr val="1F3B5C"/>
                    </a:solidFill>
                  </a:tcPr>
                </a:tc>
                <a:tc>
                  <a:txBody>
                    <a:bodyPr/>
                    <a:lstStyle/>
                    <a:p>
                      <a:r>
                        <a:rPr sz="1500" b="1">
                          <a:solidFill>
                            <a:srgbClr val="FFFFFF"/>
                          </a:solidFill>
                          <a:latin typeface="Segoe UI"/>
                        </a:rPr>
                        <a:t>C0</a:t>
                      </a:r>
                    </a:p>
                  </a:txBody>
                  <a:tcPr marL="64008" marR="64008" marT="18288" marB="18288" anchor="ctr">
                    <a:solidFill>
                      <a:srgbClr val="1F3B5C"/>
                    </a:solidFill>
                  </a:tcPr>
                </a:tc>
                <a:tc>
                  <a:txBody>
                    <a:bodyPr/>
                    <a:lstStyle/>
                    <a:p>
                      <a:r>
                        <a:rPr sz="1500" b="1">
                          <a:solidFill>
                            <a:srgbClr val="FFFFFF"/>
                          </a:solidFill>
                          <a:latin typeface="Segoe UI"/>
                        </a:rPr>
                        <a:t>C1</a:t>
                      </a:r>
                    </a:p>
                  </a:txBody>
                  <a:tcPr marL="64008" marR="64008" marT="18288" marB="18288" anchor="ctr">
                    <a:solidFill>
                      <a:srgbClr val="1F3B5C"/>
                    </a:solidFill>
                  </a:tcPr>
                </a:tc>
                <a:tc>
                  <a:txBody>
                    <a:bodyPr/>
                    <a:lstStyle/>
                    <a:p>
                      <a:r>
                        <a:rPr sz="1500" b="1">
                          <a:solidFill>
                            <a:srgbClr val="FFFFFF"/>
                          </a:solidFill>
                          <a:latin typeface="Segoe UI"/>
                        </a:rPr>
                        <a:t>C2</a:t>
                      </a:r>
                    </a:p>
                  </a:txBody>
                  <a:tcPr marL="64008" marR="64008" marT="18288" marB="18288" anchor="ctr">
                    <a:solidFill>
                      <a:srgbClr val="1F3B5C"/>
                    </a:solidFill>
                  </a:tcPr>
                </a:tc>
                <a:tc>
                  <a:txBody>
                    <a:bodyPr/>
                    <a:lstStyle/>
                    <a:p>
                      <a:r>
                        <a:rPr sz="1500" b="1">
                          <a:solidFill>
                            <a:srgbClr val="FFFFFF"/>
                          </a:solidFill>
                          <a:latin typeface="Segoe UI"/>
                        </a:rPr>
                        <a:t>C3</a:t>
                      </a:r>
                    </a:p>
                  </a:txBody>
                  <a:tcPr marL="64008" marR="64008" marT="18288" marB="18288" anchor="ctr">
                    <a:solidFill>
                      <a:srgbClr val="1F3B5C"/>
                    </a:solidFill>
                  </a:tcPr>
                </a:tc>
                <a:tc>
                  <a:txBody>
                    <a:bodyPr/>
                    <a:lstStyle/>
                    <a:p>
                      <a:r>
                        <a:rPr sz="1500" b="1">
                          <a:solidFill>
                            <a:srgbClr val="FFFFFF"/>
                          </a:solidFill>
                          <a:latin typeface="Segoe UI"/>
                        </a:rPr>
                        <a:t>Total</a:t>
                      </a:r>
                    </a:p>
                  </a:txBody>
                  <a:tcPr marL="64008" marR="64008" marT="18288" marB="18288" anchor="ctr">
                    <a:solidFill>
                      <a:srgbClr val="1F3B5C"/>
                    </a:solidFill>
                  </a:tcPr>
                </a:tc>
                <a:extLst>
                  <a:ext uri="{0D108BD9-81ED-4DB2-BD59-A6C34878D82A}">
                    <a16:rowId xmlns:a16="http://schemas.microsoft.com/office/drawing/2014/main" val="10000"/>
                  </a:ext>
                </a:extLst>
              </a:tr>
              <a:tr h="411480">
                <a:tc>
                  <a:txBody>
                    <a:bodyPr/>
                    <a:lstStyle/>
                    <a:p>
                      <a:r>
                        <a:rPr sz="1500" b="0">
                          <a:solidFill>
                            <a:srgbClr val="0B0B0B"/>
                          </a:solidFill>
                          <a:latin typeface="Segoe UI"/>
                        </a:rPr>
                        <a:t>CGPA split: train</a:t>
                      </a:r>
                    </a:p>
                  </a:txBody>
                  <a:tcPr marL="64008" marR="64008" marT="18288" marB="18288" anchor="ctr">
                    <a:solidFill>
                      <a:srgbClr val="FFFFFF"/>
                    </a:solidFill>
                  </a:tcPr>
                </a:tc>
                <a:tc>
                  <a:txBody>
                    <a:bodyPr/>
                    <a:lstStyle/>
                    <a:p>
                      <a:r>
                        <a:rPr sz="1500" b="0">
                          <a:solidFill>
                            <a:srgbClr val="0B0B0B"/>
                          </a:solidFill>
                          <a:latin typeface="Segoe UI"/>
                        </a:rPr>
                        <a:t>189</a:t>
                      </a:r>
                    </a:p>
                  </a:txBody>
                  <a:tcPr marL="64008" marR="64008" marT="18288" marB="18288" anchor="ctr">
                    <a:solidFill>
                      <a:srgbClr val="FFFFFF"/>
                    </a:solidFill>
                  </a:tcPr>
                </a:tc>
                <a:tc>
                  <a:txBody>
                    <a:bodyPr/>
                    <a:lstStyle/>
                    <a:p>
                      <a:r>
                        <a:rPr sz="1500" b="0">
                          <a:solidFill>
                            <a:srgbClr val="0B0B0B"/>
                          </a:solidFill>
                          <a:latin typeface="Segoe UI"/>
                        </a:rPr>
                        <a:t>256</a:t>
                      </a:r>
                    </a:p>
                  </a:txBody>
                  <a:tcPr marL="64008" marR="64008" marT="18288" marB="18288" anchor="ctr">
                    <a:solidFill>
                      <a:srgbClr val="FFFFFF"/>
                    </a:solidFill>
                  </a:tcPr>
                </a:tc>
                <a:tc>
                  <a:txBody>
                    <a:bodyPr/>
                    <a:lstStyle/>
                    <a:p>
                      <a:r>
                        <a:rPr sz="1500" b="0">
                          <a:solidFill>
                            <a:srgbClr val="0B0B0B"/>
                          </a:solidFill>
                          <a:latin typeface="Segoe UI"/>
                        </a:rPr>
                        <a:t>240</a:t>
                      </a:r>
                    </a:p>
                  </a:txBody>
                  <a:tcPr marL="64008" marR="64008" marT="18288" marB="18288" anchor="ctr">
                    <a:solidFill>
                      <a:srgbClr val="FFFFFF"/>
                    </a:solidFill>
                  </a:tcPr>
                </a:tc>
                <a:tc>
                  <a:txBody>
                    <a:bodyPr/>
                    <a:lstStyle/>
                    <a:p>
                      <a:r>
                        <a:rPr sz="1500" b="0">
                          <a:solidFill>
                            <a:srgbClr val="0B0B0B"/>
                          </a:solidFill>
                          <a:latin typeface="Segoe UI"/>
                        </a:rPr>
                        <a:t>196</a:t>
                      </a:r>
                    </a:p>
                  </a:txBody>
                  <a:tcPr marL="64008" marR="64008" marT="18288" marB="18288" anchor="ctr">
                    <a:solidFill>
                      <a:srgbClr val="FFFFFF"/>
                    </a:solidFill>
                  </a:tcPr>
                </a:tc>
                <a:tc>
                  <a:txBody>
                    <a:bodyPr/>
                    <a:lstStyle/>
                    <a:p>
                      <a:r>
                        <a:rPr sz="1500" b="0">
                          <a:solidFill>
                            <a:srgbClr val="0B0B0B"/>
                          </a:solidFill>
                          <a:latin typeface="Segoe UI"/>
                        </a:rPr>
                        <a:t>881</a:t>
                      </a:r>
                    </a:p>
                  </a:txBody>
                  <a:tcPr marL="64008" marR="64008" marT="18288" marB="18288" anchor="ctr">
                    <a:solidFill>
                      <a:srgbClr val="FFFFFF"/>
                    </a:solidFill>
                  </a:tcPr>
                </a:tc>
                <a:extLst>
                  <a:ext uri="{0D108BD9-81ED-4DB2-BD59-A6C34878D82A}">
                    <a16:rowId xmlns:a16="http://schemas.microsoft.com/office/drawing/2014/main" val="10001"/>
                  </a:ext>
                </a:extLst>
              </a:tr>
              <a:tr h="411480">
                <a:tc>
                  <a:txBody>
                    <a:bodyPr/>
                    <a:lstStyle/>
                    <a:p>
                      <a:r>
                        <a:rPr sz="1500" b="0">
                          <a:solidFill>
                            <a:srgbClr val="0B0B0B"/>
                          </a:solidFill>
                          <a:latin typeface="Segoe UI"/>
                        </a:rPr>
                        <a:t>CGPA split: test</a:t>
                      </a:r>
                    </a:p>
                  </a:txBody>
                  <a:tcPr marL="64008" marR="64008" marT="18288" marB="18288" anchor="ctr">
                    <a:solidFill>
                      <a:srgbClr val="F7F8FA"/>
                    </a:solidFill>
                  </a:tcPr>
                </a:tc>
                <a:tc>
                  <a:txBody>
                    <a:bodyPr/>
                    <a:lstStyle/>
                    <a:p>
                      <a:r>
                        <a:rPr sz="1500" b="0">
                          <a:solidFill>
                            <a:srgbClr val="0B0B0B"/>
                          </a:solidFill>
                          <a:latin typeface="Segoe UI"/>
                        </a:rPr>
                        <a:t>47</a:t>
                      </a:r>
                    </a:p>
                  </a:txBody>
                  <a:tcPr marL="64008" marR="64008" marT="18288" marB="18288" anchor="ctr">
                    <a:solidFill>
                      <a:srgbClr val="F7F8FA"/>
                    </a:solidFill>
                  </a:tcPr>
                </a:tc>
                <a:tc>
                  <a:txBody>
                    <a:bodyPr/>
                    <a:lstStyle/>
                    <a:p>
                      <a:r>
                        <a:rPr sz="1500" b="0">
                          <a:solidFill>
                            <a:srgbClr val="0B0B0B"/>
                          </a:solidFill>
                          <a:latin typeface="Segoe UI"/>
                        </a:rPr>
                        <a:t>64</a:t>
                      </a:r>
                    </a:p>
                  </a:txBody>
                  <a:tcPr marL="64008" marR="64008" marT="18288" marB="18288" anchor="ctr">
                    <a:solidFill>
                      <a:srgbClr val="F7F8FA"/>
                    </a:solidFill>
                  </a:tcPr>
                </a:tc>
                <a:tc>
                  <a:txBody>
                    <a:bodyPr/>
                    <a:lstStyle/>
                    <a:p>
                      <a:r>
                        <a:rPr sz="1500" b="0">
                          <a:solidFill>
                            <a:srgbClr val="0B0B0B"/>
                          </a:solidFill>
                          <a:latin typeface="Segoe UI"/>
                        </a:rPr>
                        <a:t>60</a:t>
                      </a:r>
                    </a:p>
                  </a:txBody>
                  <a:tcPr marL="64008" marR="64008" marT="18288" marB="18288" anchor="ctr">
                    <a:solidFill>
                      <a:srgbClr val="F7F8FA"/>
                    </a:solidFill>
                  </a:tcPr>
                </a:tc>
                <a:tc>
                  <a:txBody>
                    <a:bodyPr/>
                    <a:lstStyle/>
                    <a:p>
                      <a:r>
                        <a:rPr sz="1500" b="0">
                          <a:solidFill>
                            <a:srgbClr val="0B0B0B"/>
                          </a:solidFill>
                          <a:latin typeface="Segoe UI"/>
                        </a:rPr>
                        <a:t>50</a:t>
                      </a:r>
                    </a:p>
                  </a:txBody>
                  <a:tcPr marL="64008" marR="64008" marT="18288" marB="18288" anchor="ctr">
                    <a:solidFill>
                      <a:srgbClr val="F7F8FA"/>
                    </a:solidFill>
                  </a:tcPr>
                </a:tc>
                <a:tc>
                  <a:txBody>
                    <a:bodyPr/>
                    <a:lstStyle/>
                    <a:p>
                      <a:r>
                        <a:rPr sz="1500" b="0">
                          <a:solidFill>
                            <a:srgbClr val="0B0B0B"/>
                          </a:solidFill>
                          <a:latin typeface="Segoe UI"/>
                        </a:rPr>
                        <a:t>221</a:t>
                      </a:r>
                    </a:p>
                  </a:txBody>
                  <a:tcPr marL="64008" marR="64008" marT="18288" marB="18288" anchor="ctr">
                    <a:solidFill>
                      <a:srgbClr val="F7F8FA"/>
                    </a:solidFill>
                  </a:tcPr>
                </a:tc>
                <a:extLst>
                  <a:ext uri="{0D108BD9-81ED-4DB2-BD59-A6C34878D82A}">
                    <a16:rowId xmlns:a16="http://schemas.microsoft.com/office/drawing/2014/main" val="10002"/>
                  </a:ext>
                </a:extLst>
              </a:tr>
              <a:tr h="411480">
                <a:tc>
                  <a:txBody>
                    <a:bodyPr/>
                    <a:lstStyle/>
                    <a:p>
                      <a:r>
                        <a:rPr sz="1500" b="0">
                          <a:solidFill>
                            <a:srgbClr val="0B0B0B"/>
                          </a:solidFill>
                          <a:latin typeface="Segoe UI"/>
                        </a:rPr>
                        <a:t>SGPA split: train</a:t>
                      </a:r>
                    </a:p>
                  </a:txBody>
                  <a:tcPr marL="64008" marR="64008" marT="18288" marB="18288" anchor="ctr">
                    <a:solidFill>
                      <a:srgbClr val="FFFFFF"/>
                    </a:solidFill>
                  </a:tcPr>
                </a:tc>
                <a:tc>
                  <a:txBody>
                    <a:bodyPr/>
                    <a:lstStyle/>
                    <a:p>
                      <a:r>
                        <a:rPr sz="1500" b="0">
                          <a:solidFill>
                            <a:srgbClr val="0B0B0B"/>
                          </a:solidFill>
                          <a:latin typeface="Segoe UI"/>
                        </a:rPr>
                        <a:t>189</a:t>
                      </a:r>
                    </a:p>
                  </a:txBody>
                  <a:tcPr marL="64008" marR="64008" marT="18288" marB="18288" anchor="ctr">
                    <a:solidFill>
                      <a:srgbClr val="FFFFFF"/>
                    </a:solidFill>
                  </a:tcPr>
                </a:tc>
                <a:tc>
                  <a:txBody>
                    <a:bodyPr/>
                    <a:lstStyle/>
                    <a:p>
                      <a:r>
                        <a:rPr sz="1500" b="0">
                          <a:solidFill>
                            <a:srgbClr val="0B0B0B"/>
                          </a:solidFill>
                          <a:latin typeface="Segoe UI"/>
                        </a:rPr>
                        <a:t>237</a:t>
                      </a:r>
                    </a:p>
                  </a:txBody>
                  <a:tcPr marL="64008" marR="64008" marT="18288" marB="18288" anchor="ctr">
                    <a:solidFill>
                      <a:srgbClr val="FFFFFF"/>
                    </a:solidFill>
                  </a:tcPr>
                </a:tc>
                <a:tc>
                  <a:txBody>
                    <a:bodyPr/>
                    <a:lstStyle/>
                    <a:p>
                      <a:r>
                        <a:rPr sz="1500" b="0">
                          <a:solidFill>
                            <a:srgbClr val="0B0B0B"/>
                          </a:solidFill>
                          <a:latin typeface="Segoe UI"/>
                        </a:rPr>
                        <a:t>226</a:t>
                      </a:r>
                    </a:p>
                  </a:txBody>
                  <a:tcPr marL="64008" marR="64008" marT="18288" marB="18288" anchor="ctr">
                    <a:solidFill>
                      <a:srgbClr val="FFFFFF"/>
                    </a:solidFill>
                  </a:tcPr>
                </a:tc>
                <a:tc>
                  <a:txBody>
                    <a:bodyPr/>
                    <a:lstStyle/>
                    <a:p>
                      <a:r>
                        <a:rPr sz="1500" b="0">
                          <a:solidFill>
                            <a:srgbClr val="0B0B0B"/>
                          </a:solidFill>
                          <a:latin typeface="Segoe UI"/>
                        </a:rPr>
                        <a:t>229</a:t>
                      </a:r>
                    </a:p>
                  </a:txBody>
                  <a:tcPr marL="64008" marR="64008" marT="18288" marB="18288" anchor="ctr">
                    <a:solidFill>
                      <a:srgbClr val="FFFFFF"/>
                    </a:solidFill>
                  </a:tcPr>
                </a:tc>
                <a:tc>
                  <a:txBody>
                    <a:bodyPr/>
                    <a:lstStyle/>
                    <a:p>
                      <a:r>
                        <a:rPr sz="1500" b="0">
                          <a:solidFill>
                            <a:srgbClr val="0B0B0B"/>
                          </a:solidFill>
                          <a:latin typeface="Segoe UI"/>
                        </a:rPr>
                        <a:t>881</a:t>
                      </a:r>
                    </a:p>
                  </a:txBody>
                  <a:tcPr marL="64008" marR="64008" marT="18288" marB="18288" anchor="ctr">
                    <a:solidFill>
                      <a:srgbClr val="FFFFFF"/>
                    </a:solidFill>
                  </a:tcPr>
                </a:tc>
                <a:extLst>
                  <a:ext uri="{0D108BD9-81ED-4DB2-BD59-A6C34878D82A}">
                    <a16:rowId xmlns:a16="http://schemas.microsoft.com/office/drawing/2014/main" val="10003"/>
                  </a:ext>
                </a:extLst>
              </a:tr>
              <a:tr h="411480">
                <a:tc>
                  <a:txBody>
                    <a:bodyPr/>
                    <a:lstStyle/>
                    <a:p>
                      <a:r>
                        <a:rPr sz="1500" b="0">
                          <a:solidFill>
                            <a:srgbClr val="0B0B0B"/>
                          </a:solidFill>
                          <a:latin typeface="Segoe UI"/>
                        </a:rPr>
                        <a:t>SGPA split: test</a:t>
                      </a:r>
                    </a:p>
                  </a:txBody>
                  <a:tcPr marL="64008" marR="64008" marT="18288" marB="18288" anchor="ctr">
                    <a:solidFill>
                      <a:srgbClr val="F7F8FA"/>
                    </a:solidFill>
                  </a:tcPr>
                </a:tc>
                <a:tc>
                  <a:txBody>
                    <a:bodyPr/>
                    <a:lstStyle/>
                    <a:p>
                      <a:r>
                        <a:rPr sz="1500" b="0">
                          <a:solidFill>
                            <a:srgbClr val="0B0B0B"/>
                          </a:solidFill>
                          <a:latin typeface="Segoe UI"/>
                        </a:rPr>
                        <a:t>47</a:t>
                      </a:r>
                    </a:p>
                  </a:txBody>
                  <a:tcPr marL="64008" marR="64008" marT="18288" marB="18288" anchor="ctr">
                    <a:solidFill>
                      <a:srgbClr val="F7F8FA"/>
                    </a:solidFill>
                  </a:tcPr>
                </a:tc>
                <a:tc>
                  <a:txBody>
                    <a:bodyPr/>
                    <a:lstStyle/>
                    <a:p>
                      <a:r>
                        <a:rPr sz="1500" b="0">
                          <a:solidFill>
                            <a:srgbClr val="0B0B0B"/>
                          </a:solidFill>
                          <a:latin typeface="Segoe UI"/>
                        </a:rPr>
                        <a:t>59</a:t>
                      </a:r>
                    </a:p>
                  </a:txBody>
                  <a:tcPr marL="64008" marR="64008" marT="18288" marB="18288" anchor="ctr">
                    <a:solidFill>
                      <a:srgbClr val="F7F8FA"/>
                    </a:solidFill>
                  </a:tcPr>
                </a:tc>
                <a:tc>
                  <a:txBody>
                    <a:bodyPr/>
                    <a:lstStyle/>
                    <a:p>
                      <a:r>
                        <a:rPr sz="1500" b="0">
                          <a:solidFill>
                            <a:srgbClr val="0B0B0B"/>
                          </a:solidFill>
                          <a:latin typeface="Segoe UI"/>
                        </a:rPr>
                        <a:t>57</a:t>
                      </a:r>
                    </a:p>
                  </a:txBody>
                  <a:tcPr marL="64008" marR="64008" marT="18288" marB="18288" anchor="ctr">
                    <a:solidFill>
                      <a:srgbClr val="F7F8FA"/>
                    </a:solidFill>
                  </a:tcPr>
                </a:tc>
                <a:tc>
                  <a:txBody>
                    <a:bodyPr/>
                    <a:lstStyle/>
                    <a:p>
                      <a:r>
                        <a:rPr sz="1500" b="0">
                          <a:solidFill>
                            <a:srgbClr val="0B0B0B"/>
                          </a:solidFill>
                          <a:latin typeface="Segoe UI"/>
                        </a:rPr>
                        <a:t>58</a:t>
                      </a:r>
                    </a:p>
                  </a:txBody>
                  <a:tcPr marL="64008" marR="64008" marT="18288" marB="18288" anchor="ctr">
                    <a:solidFill>
                      <a:srgbClr val="F7F8FA"/>
                    </a:solidFill>
                  </a:tcPr>
                </a:tc>
                <a:tc>
                  <a:txBody>
                    <a:bodyPr/>
                    <a:lstStyle/>
                    <a:p>
                      <a:r>
                        <a:rPr sz="1500" b="0">
                          <a:solidFill>
                            <a:srgbClr val="0B0B0B"/>
                          </a:solidFill>
                          <a:latin typeface="Segoe UI"/>
                        </a:rPr>
                        <a:t>221</a:t>
                      </a:r>
                    </a:p>
                  </a:txBody>
                  <a:tcPr marL="64008" marR="64008" marT="18288" marB="18288" anchor="ctr">
                    <a:solidFill>
                      <a:srgbClr val="F7F8FA"/>
                    </a:solidFill>
                  </a:tcPr>
                </a:tc>
                <a:extLst>
                  <a:ext uri="{0D108BD9-81ED-4DB2-BD59-A6C34878D82A}">
                    <a16:rowId xmlns:a16="http://schemas.microsoft.com/office/drawing/2014/main" val="10004"/>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626059127"/>
              </p:ext>
            </p:extLst>
          </p:nvPr>
        </p:nvGraphicFramePr>
        <p:xfrm>
          <a:off x="548640" y="3703320"/>
          <a:ext cx="11064240" cy="1645920"/>
        </p:xfrm>
        <a:graphic>
          <a:graphicData uri="http://schemas.openxmlformats.org/drawingml/2006/table">
            <a:tbl>
              <a:tblPr firstRow="1" bandRow="1">
                <a:tableStyleId>{5C22544A-7EE6-4342-B048-85BDC9FD1C3A}</a:tableStyleId>
              </a:tblPr>
              <a:tblGrid>
                <a:gridCol w="32918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411480">
                <a:tc>
                  <a:txBody>
                    <a:bodyPr/>
                    <a:lstStyle/>
                    <a:p>
                      <a:r>
                        <a:rPr sz="1400" b="1">
                          <a:solidFill>
                            <a:srgbClr val="FFFFFF"/>
                          </a:solidFill>
                          <a:latin typeface="Segoe UI"/>
                        </a:rPr>
                        <a:t>Experiment</a:t>
                      </a:r>
                    </a:p>
                  </a:txBody>
                  <a:tcPr marL="64008" marR="64008" marT="18288" marB="18288" anchor="ctr">
                    <a:solidFill>
                      <a:srgbClr val="1F3B5C"/>
                    </a:solidFill>
                  </a:tcPr>
                </a:tc>
                <a:tc>
                  <a:txBody>
                    <a:bodyPr/>
                    <a:lstStyle/>
                    <a:p>
                      <a:r>
                        <a:rPr sz="1400" b="1">
                          <a:solidFill>
                            <a:srgbClr val="FFFFFF"/>
                          </a:solidFill>
                          <a:latin typeface="Segoe UI"/>
                        </a:rPr>
                        <a:t>Depth</a:t>
                      </a:r>
                    </a:p>
                  </a:txBody>
                  <a:tcPr marL="64008" marR="64008" marT="18288" marB="18288" anchor="ctr">
                    <a:solidFill>
                      <a:srgbClr val="1F3B5C"/>
                    </a:solidFill>
                  </a:tcPr>
                </a:tc>
                <a:tc>
                  <a:txBody>
                    <a:bodyPr/>
                    <a:lstStyle/>
                    <a:p>
                      <a:r>
                        <a:rPr sz="1400" b="1">
                          <a:solidFill>
                            <a:srgbClr val="FFFFFF"/>
                          </a:solidFill>
                          <a:latin typeface="Segoe UI"/>
                        </a:rPr>
                        <a:t>Min students per box</a:t>
                      </a:r>
                    </a:p>
                  </a:txBody>
                  <a:tcPr marL="64008" marR="64008" marT="18288" marB="18288" anchor="ctr">
                    <a:solidFill>
                      <a:srgbClr val="1F3B5C"/>
                    </a:solidFill>
                  </a:tcPr>
                </a:tc>
                <a:tc>
                  <a:txBody>
                    <a:bodyPr/>
                    <a:lstStyle/>
                    <a:p>
                      <a:r>
                        <a:rPr sz="1400" b="1">
                          <a:solidFill>
                            <a:srgbClr val="FFFFFF"/>
                          </a:solidFill>
                          <a:latin typeface="Segoe UI"/>
                        </a:rPr>
                        <a:t>Final boxes</a:t>
                      </a:r>
                    </a:p>
                  </a:txBody>
                  <a:tcPr marL="64008" marR="64008" marT="18288" marB="18288" anchor="ctr">
                    <a:solidFill>
                      <a:srgbClr val="1F3B5C"/>
                    </a:solidFill>
                  </a:tcPr>
                </a:tc>
                <a:tc>
                  <a:txBody>
                    <a:bodyPr/>
                    <a:lstStyle/>
                    <a:p>
                      <a:r>
                        <a:rPr sz="1400" b="1">
                          <a:solidFill>
                            <a:srgbClr val="FFFFFF"/>
                          </a:solidFill>
                          <a:latin typeface="Segoe UI"/>
                        </a:rPr>
                        <a:t>CV accuracy (train only)</a:t>
                      </a:r>
                    </a:p>
                  </a:txBody>
                  <a:tcPr marL="64008" marR="64008" marT="18288" marB="18288" anchor="ctr">
                    <a:solidFill>
                      <a:srgbClr val="1F3B5C"/>
                    </a:solidFill>
                  </a:tcPr>
                </a:tc>
                <a:tc>
                  <a:txBody>
                    <a:bodyPr/>
                    <a:lstStyle/>
                    <a:p>
                      <a:r>
                        <a:rPr sz="1400" b="1">
                          <a:solidFill>
                            <a:srgbClr val="FFFFFF"/>
                          </a:solidFill>
                          <a:latin typeface="Segoe UI"/>
                        </a:rPr>
                        <a:t>Test accuracy</a:t>
                      </a:r>
                    </a:p>
                  </a:txBody>
                  <a:tcPr marL="64008" marR="64008" marT="18288" marB="18288" anchor="ctr">
                    <a:solidFill>
                      <a:srgbClr val="1F3B5C"/>
                    </a:solidFill>
                  </a:tcPr>
                </a:tc>
                <a:extLst>
                  <a:ext uri="{0D108BD9-81ED-4DB2-BD59-A6C34878D82A}">
                    <a16:rowId xmlns:a16="http://schemas.microsoft.com/office/drawing/2014/main" val="10000"/>
                  </a:ext>
                </a:extLst>
              </a:tr>
              <a:tr h="411480">
                <a:tc>
                  <a:txBody>
                    <a:bodyPr/>
                    <a:lstStyle/>
                    <a:p>
                      <a:r>
                        <a:rPr lang="en-US" sz="1400" b="0">
                          <a:solidFill>
                            <a:srgbClr val="0B0B0B"/>
                          </a:solidFill>
                          <a:latin typeface="Segoe UI"/>
                        </a:rPr>
                        <a:t>SGPA prediction</a:t>
                      </a:r>
                      <a:endParaRPr sz="1400" b="0">
                        <a:solidFill>
                          <a:srgbClr val="0B0B0B"/>
                        </a:solidFill>
                        <a:latin typeface="Segoe UI"/>
                      </a:endParaRPr>
                    </a:p>
                  </a:txBody>
                  <a:tcPr marL="64008" marR="64008" marT="18288" marB="18288" anchor="ctr">
                    <a:solidFill>
                      <a:srgbClr val="FFFFFF"/>
                    </a:solidFill>
                  </a:tcPr>
                </a:tc>
                <a:tc>
                  <a:txBody>
                    <a:bodyPr/>
                    <a:lstStyle/>
                    <a:p>
                      <a:r>
                        <a:rPr sz="1400" b="0">
                          <a:solidFill>
                            <a:srgbClr val="0B0B0B"/>
                          </a:solidFill>
                          <a:latin typeface="Segoe UI"/>
                        </a:rPr>
                        <a:t>3</a:t>
                      </a:r>
                    </a:p>
                  </a:txBody>
                  <a:tcPr marL="64008" marR="64008" marT="18288" marB="18288" anchor="ctr">
                    <a:solidFill>
                      <a:srgbClr val="FFFFFF"/>
                    </a:solidFill>
                  </a:tcPr>
                </a:tc>
                <a:tc>
                  <a:txBody>
                    <a:bodyPr/>
                    <a:lstStyle/>
                    <a:p>
                      <a:r>
                        <a:rPr sz="1400" b="0">
                          <a:solidFill>
                            <a:srgbClr val="0B0B0B"/>
                          </a:solidFill>
                          <a:latin typeface="Segoe UI"/>
                        </a:rPr>
                        <a:t>40</a:t>
                      </a:r>
                    </a:p>
                  </a:txBody>
                  <a:tcPr marL="64008" marR="64008" marT="18288" marB="18288" anchor="ctr">
                    <a:solidFill>
                      <a:srgbClr val="FFFFFF"/>
                    </a:solidFill>
                  </a:tcPr>
                </a:tc>
                <a:tc>
                  <a:txBody>
                    <a:bodyPr/>
                    <a:lstStyle/>
                    <a:p>
                      <a:r>
                        <a:rPr sz="1400" b="0">
                          <a:solidFill>
                            <a:srgbClr val="0B0B0B"/>
                          </a:solidFill>
                          <a:latin typeface="Segoe UI"/>
                        </a:rPr>
                        <a:t>6</a:t>
                      </a:r>
                    </a:p>
                  </a:txBody>
                  <a:tcPr marL="64008" marR="64008" marT="18288" marB="18288" anchor="ctr">
                    <a:solidFill>
                      <a:srgbClr val="FFFFFF"/>
                    </a:solidFill>
                  </a:tcPr>
                </a:tc>
                <a:tc>
                  <a:txBody>
                    <a:bodyPr/>
                    <a:lstStyle/>
                    <a:p>
                      <a:r>
                        <a:rPr sz="1400" b="0">
                          <a:solidFill>
                            <a:srgbClr val="0B0B0B"/>
                          </a:solidFill>
                          <a:latin typeface="Segoe UI"/>
                        </a:rPr>
                        <a:t>28.6%</a:t>
                      </a:r>
                    </a:p>
                  </a:txBody>
                  <a:tcPr marL="64008" marR="64008" marT="18288" marB="18288" anchor="ctr">
                    <a:solidFill>
                      <a:srgbClr val="FFFFFF"/>
                    </a:solidFill>
                  </a:tcPr>
                </a:tc>
                <a:tc>
                  <a:txBody>
                    <a:bodyPr/>
                    <a:lstStyle/>
                    <a:p>
                      <a:r>
                        <a:rPr sz="1400" b="0">
                          <a:solidFill>
                            <a:srgbClr val="0B0B0B"/>
                          </a:solidFill>
                          <a:latin typeface="Segoe UI"/>
                        </a:rPr>
                        <a:t>29.4%</a:t>
                      </a:r>
                    </a:p>
                  </a:txBody>
                  <a:tcPr marL="64008" marR="64008" marT="18288" marB="18288" anchor="ctr">
                    <a:solidFill>
                      <a:srgbClr val="FFFFFF"/>
                    </a:solidFill>
                  </a:tcPr>
                </a:tc>
                <a:extLst>
                  <a:ext uri="{0D108BD9-81ED-4DB2-BD59-A6C34878D82A}">
                    <a16:rowId xmlns:a16="http://schemas.microsoft.com/office/drawing/2014/main" val="10001"/>
                  </a:ext>
                </a:extLst>
              </a:tr>
              <a:tr h="411480">
                <a:tc>
                  <a:txBody>
                    <a:bodyPr/>
                    <a:lstStyle/>
                    <a:p>
                      <a:r>
                        <a:rPr lang="en-US" sz="1400" b="0">
                          <a:solidFill>
                            <a:srgbClr val="0B0B0B"/>
                          </a:solidFill>
                          <a:latin typeface="Segoe UI"/>
                        </a:rPr>
                        <a:t>CGPA questionnaire diagnostic</a:t>
                      </a:r>
                      <a:endParaRPr sz="1400" b="0">
                        <a:solidFill>
                          <a:srgbClr val="0B0B0B"/>
                        </a:solidFill>
                        <a:latin typeface="Segoe UI"/>
                      </a:endParaRPr>
                    </a:p>
                  </a:txBody>
                  <a:tcPr marL="64008" marR="64008" marT="18288" marB="18288" anchor="ctr">
                    <a:solidFill>
                      <a:srgbClr val="F7F8FA"/>
                    </a:solidFill>
                  </a:tcPr>
                </a:tc>
                <a:tc>
                  <a:txBody>
                    <a:bodyPr/>
                    <a:lstStyle/>
                    <a:p>
                      <a:r>
                        <a:rPr sz="1400" b="0">
                          <a:solidFill>
                            <a:srgbClr val="0B0B0B"/>
                          </a:solidFill>
                          <a:latin typeface="Segoe UI"/>
                        </a:rPr>
                        <a:t>3</a:t>
                      </a:r>
                    </a:p>
                  </a:txBody>
                  <a:tcPr marL="64008" marR="64008" marT="18288" marB="18288" anchor="ctr">
                    <a:solidFill>
                      <a:srgbClr val="F7F8FA"/>
                    </a:solidFill>
                  </a:tcPr>
                </a:tc>
                <a:tc>
                  <a:txBody>
                    <a:bodyPr/>
                    <a:lstStyle/>
                    <a:p>
                      <a:r>
                        <a:rPr sz="1400" b="0">
                          <a:solidFill>
                            <a:srgbClr val="0B0B0B"/>
                          </a:solidFill>
                          <a:latin typeface="Segoe UI"/>
                        </a:rPr>
                        <a:t>40</a:t>
                      </a:r>
                    </a:p>
                  </a:txBody>
                  <a:tcPr marL="64008" marR="64008" marT="18288" marB="18288" anchor="ctr">
                    <a:solidFill>
                      <a:srgbClr val="F7F8FA"/>
                    </a:solidFill>
                  </a:tcPr>
                </a:tc>
                <a:tc>
                  <a:txBody>
                    <a:bodyPr/>
                    <a:lstStyle/>
                    <a:p>
                      <a:r>
                        <a:rPr sz="1400" b="0">
                          <a:solidFill>
                            <a:srgbClr val="0B0B0B"/>
                          </a:solidFill>
                          <a:latin typeface="Segoe UI"/>
                        </a:rPr>
                        <a:t>6</a:t>
                      </a:r>
                    </a:p>
                  </a:txBody>
                  <a:tcPr marL="64008" marR="64008" marT="18288" marB="18288" anchor="ctr">
                    <a:solidFill>
                      <a:srgbClr val="F7F8FA"/>
                    </a:solidFill>
                  </a:tcPr>
                </a:tc>
                <a:tc>
                  <a:txBody>
                    <a:bodyPr/>
                    <a:lstStyle/>
                    <a:p>
                      <a:r>
                        <a:rPr sz="1400" b="0">
                          <a:solidFill>
                            <a:srgbClr val="0B0B0B"/>
                          </a:solidFill>
                          <a:latin typeface="Segoe UI"/>
                        </a:rPr>
                        <a:t>28.0%</a:t>
                      </a:r>
                    </a:p>
                  </a:txBody>
                  <a:tcPr marL="64008" marR="64008" marT="18288" marB="18288" anchor="ctr">
                    <a:solidFill>
                      <a:srgbClr val="F7F8FA"/>
                    </a:solidFill>
                  </a:tcPr>
                </a:tc>
                <a:tc>
                  <a:txBody>
                    <a:bodyPr/>
                    <a:lstStyle/>
                    <a:p>
                      <a:r>
                        <a:rPr sz="1400" b="0">
                          <a:solidFill>
                            <a:srgbClr val="0B0B0B"/>
                          </a:solidFill>
                          <a:latin typeface="Segoe UI"/>
                        </a:rPr>
                        <a:t>27.1%</a:t>
                      </a:r>
                    </a:p>
                  </a:txBody>
                  <a:tcPr marL="64008" marR="64008" marT="18288" marB="18288" anchor="ctr">
                    <a:solidFill>
                      <a:srgbClr val="F7F8FA"/>
                    </a:solidFill>
                  </a:tcPr>
                </a:tc>
                <a:extLst>
                  <a:ext uri="{0D108BD9-81ED-4DB2-BD59-A6C34878D82A}">
                    <a16:rowId xmlns:a16="http://schemas.microsoft.com/office/drawing/2014/main" val="10002"/>
                  </a:ext>
                </a:extLst>
              </a:tr>
              <a:tr h="411480">
                <a:tc>
                  <a:txBody>
                    <a:bodyPr/>
                    <a:lstStyle/>
                    <a:p>
                      <a:r>
                        <a:rPr lang="en-US" sz="1400" b="0">
                          <a:solidFill>
                            <a:srgbClr val="0B0B0B"/>
                          </a:solidFill>
                          <a:latin typeface="Segoe UI"/>
                        </a:rPr>
                        <a:t>Main CGPA prediction</a:t>
                      </a:r>
                      <a:endParaRPr sz="1400" b="0">
                        <a:solidFill>
                          <a:srgbClr val="0B0B0B"/>
                        </a:solidFill>
                        <a:latin typeface="Segoe UI"/>
                      </a:endParaRPr>
                    </a:p>
                  </a:txBody>
                  <a:tcPr marL="64008" marR="64008" marT="18288" marB="18288" anchor="ctr">
                    <a:solidFill>
                      <a:srgbClr val="FFFFFF"/>
                    </a:solidFill>
                  </a:tcPr>
                </a:tc>
                <a:tc>
                  <a:txBody>
                    <a:bodyPr/>
                    <a:lstStyle/>
                    <a:p>
                      <a:r>
                        <a:rPr sz="1400" b="0">
                          <a:solidFill>
                            <a:srgbClr val="0B0B0B"/>
                          </a:solidFill>
                          <a:latin typeface="Segoe UI"/>
                        </a:rPr>
                        <a:t>3</a:t>
                      </a:r>
                    </a:p>
                  </a:txBody>
                  <a:tcPr marL="64008" marR="64008" marT="18288" marB="18288" anchor="ctr">
                    <a:solidFill>
                      <a:srgbClr val="FFFFFF"/>
                    </a:solidFill>
                  </a:tcPr>
                </a:tc>
                <a:tc>
                  <a:txBody>
                    <a:bodyPr/>
                    <a:lstStyle/>
                    <a:p>
                      <a:r>
                        <a:rPr sz="1400" b="0">
                          <a:solidFill>
                            <a:srgbClr val="0B0B0B"/>
                          </a:solidFill>
                          <a:latin typeface="Segoe UI"/>
                        </a:rPr>
                        <a:t>20</a:t>
                      </a:r>
                    </a:p>
                  </a:txBody>
                  <a:tcPr marL="64008" marR="64008" marT="18288" marB="18288" anchor="ctr">
                    <a:solidFill>
                      <a:srgbClr val="FFFFFF"/>
                    </a:solidFill>
                  </a:tcPr>
                </a:tc>
                <a:tc>
                  <a:txBody>
                    <a:bodyPr/>
                    <a:lstStyle/>
                    <a:p>
                      <a:r>
                        <a:rPr sz="1400" b="0">
                          <a:solidFill>
                            <a:srgbClr val="0B0B0B"/>
                          </a:solidFill>
                          <a:latin typeface="Segoe UI"/>
                        </a:rPr>
                        <a:t>8</a:t>
                      </a:r>
                    </a:p>
                  </a:txBody>
                  <a:tcPr marL="64008" marR="64008" marT="18288" marB="18288" anchor="ctr">
                    <a:solidFill>
                      <a:srgbClr val="FFFFFF"/>
                    </a:solidFill>
                  </a:tcPr>
                </a:tc>
                <a:tc>
                  <a:txBody>
                    <a:bodyPr/>
                    <a:lstStyle/>
                    <a:p>
                      <a:r>
                        <a:rPr sz="1400" b="0">
                          <a:solidFill>
                            <a:srgbClr val="0B0B0B"/>
                          </a:solidFill>
                          <a:latin typeface="Segoe UI"/>
                        </a:rPr>
                        <a:t>42.1%</a:t>
                      </a:r>
                    </a:p>
                  </a:txBody>
                  <a:tcPr marL="64008" marR="64008" marT="18288" marB="18288" anchor="ctr">
                    <a:solidFill>
                      <a:srgbClr val="FFFFFF"/>
                    </a:solidFill>
                  </a:tcPr>
                </a:tc>
                <a:tc>
                  <a:txBody>
                    <a:bodyPr/>
                    <a:lstStyle/>
                    <a:p>
                      <a:r>
                        <a:rPr sz="1400" b="0">
                          <a:solidFill>
                            <a:srgbClr val="0B0B0B"/>
                          </a:solidFill>
                          <a:latin typeface="Segoe UI"/>
                        </a:rPr>
                        <a:t>45.7%</a:t>
                      </a:r>
                    </a:p>
                  </a:txBody>
                  <a:tcPr marL="64008" marR="64008"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548640" y="5486400"/>
            <a:ext cx="11064240" cy="731520"/>
          </a:xfrm>
          <a:prstGeom prst="rect">
            <a:avLst/>
          </a:prstGeom>
          <a:noFill/>
        </p:spPr>
        <p:txBody>
          <a:bodyPr wrap="square" lIns="27432" tIns="27432" rIns="27432" bIns="27432" anchor="t">
            <a:noAutofit/>
          </a:bodyPr>
          <a:lstStyle/>
          <a:p>
            <a:pPr algn="l">
              <a:lnSpc>
                <a:spcPct val="105000"/>
              </a:lnSpc>
            </a:pPr>
            <a:r>
              <a:rPr sz="1400" b="0">
                <a:solidFill>
                  <a:srgbClr val="52514E"/>
                </a:solidFill>
                <a:latin typeface="Helvetica Neue"/>
              </a:rPr>
              <a:t>Tree size chosen by 5-fold CV inside the training set: depth 3 vs 4 × at least 20/30/40 students per box; depth 4 only if ≥ 1 point better. Seed 42. Test set used once.</a:t>
            </a:r>
          </a:p>
        </p:txBody>
      </p:sp>
      <p:sp>
        <p:nvSpPr>
          <p:cNvPr id="10" name="SimpleLightSectionLabel">
            <a:extLst>
              <a:ext uri="{FF2B5EF4-FFF2-40B4-BE49-F238E27FC236}">
                <a16:creationId xmlns:a16="http://schemas.microsoft.com/office/drawing/2014/main" id="{71429EDE-BD26-4C80-AF8D-BB6D91FE412F}"/>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TECHNICAL BACKUP</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BACKUP</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Why the Full WEKA J48 Tree Is Not Shown</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57</a:t>
            </a:r>
          </a:p>
        </p:txBody>
      </p:sp>
      <p:sp>
        <p:nvSpPr>
          <p:cNvPr id="7" name="Rounded Rectangle 6"/>
          <p:cNvSpPr/>
          <p:nvPr/>
        </p:nvSpPr>
        <p:spPr>
          <a:xfrm>
            <a:off x="548640" y="1371600"/>
            <a:ext cx="3566160" cy="146304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481328"/>
            <a:ext cx="3291840" cy="804672"/>
          </a:xfrm>
          <a:prstGeom prst="rect">
            <a:avLst/>
          </a:prstGeom>
          <a:noFill/>
        </p:spPr>
        <p:txBody>
          <a:bodyPr wrap="square" lIns="27432" tIns="27432" rIns="27432" bIns="27432" anchor="ctr">
            <a:noAutofit/>
          </a:bodyPr>
          <a:lstStyle/>
          <a:p>
            <a:pPr algn="l">
              <a:lnSpc>
                <a:spcPct val="105000"/>
              </a:lnSpc>
            </a:pPr>
            <a:r>
              <a:rPr sz="4400" b="1">
                <a:solidFill>
                  <a:srgbClr val="2A78D6"/>
                </a:solidFill>
                <a:latin typeface="Helvetica Neue"/>
              </a:rPr>
              <a:t>315</a:t>
            </a:r>
          </a:p>
        </p:txBody>
      </p:sp>
      <p:sp>
        <p:nvSpPr>
          <p:cNvPr id="9" name="TextBox 8"/>
          <p:cNvSpPr txBox="1"/>
          <p:nvPr/>
        </p:nvSpPr>
        <p:spPr>
          <a:xfrm>
            <a:off x="685800" y="2220163"/>
            <a:ext cx="3291840" cy="585216"/>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leaves: WEKA J48, CGPA diagnostic</a:t>
            </a:r>
          </a:p>
        </p:txBody>
      </p:sp>
      <p:sp>
        <p:nvSpPr>
          <p:cNvPr id="10" name="Rounded Rectangle 9"/>
          <p:cNvSpPr/>
          <p:nvPr/>
        </p:nvSpPr>
        <p:spPr>
          <a:xfrm>
            <a:off x="4297680" y="1371600"/>
            <a:ext cx="3566160" cy="146304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34840" y="1481328"/>
            <a:ext cx="3291840" cy="804672"/>
          </a:xfrm>
          <a:prstGeom prst="rect">
            <a:avLst/>
          </a:prstGeom>
          <a:noFill/>
        </p:spPr>
        <p:txBody>
          <a:bodyPr wrap="square" lIns="27432" tIns="27432" rIns="27432" bIns="27432" anchor="ctr">
            <a:noAutofit/>
          </a:bodyPr>
          <a:lstStyle/>
          <a:p>
            <a:pPr algn="l">
              <a:lnSpc>
                <a:spcPct val="105000"/>
              </a:lnSpc>
            </a:pPr>
            <a:r>
              <a:rPr sz="4400" b="1">
                <a:solidFill>
                  <a:srgbClr val="2A78D6"/>
                </a:solidFill>
                <a:latin typeface="Helvetica Neue"/>
              </a:rPr>
              <a:t>268</a:t>
            </a:r>
          </a:p>
        </p:txBody>
      </p:sp>
      <p:sp>
        <p:nvSpPr>
          <p:cNvPr id="12" name="TextBox 11"/>
          <p:cNvSpPr txBox="1"/>
          <p:nvPr/>
        </p:nvSpPr>
        <p:spPr>
          <a:xfrm>
            <a:off x="4434840" y="2220163"/>
            <a:ext cx="3291840" cy="585216"/>
          </a:xfrm>
          <a:prstGeom prst="rect">
            <a:avLst/>
          </a:prstGeom>
          <a:noFill/>
        </p:spPr>
        <p:txBody>
          <a:bodyPr wrap="square" lIns="27432" tIns="27432" rIns="27432" bIns="27432" anchor="t">
            <a:noAutofit/>
          </a:bodyPr>
          <a:lstStyle/>
          <a:p>
            <a:pPr algn="l">
              <a:lnSpc>
                <a:spcPct val="105000"/>
              </a:lnSpc>
            </a:pPr>
            <a:r>
              <a:rPr lang="en-US" sz="1500" b="0">
                <a:solidFill>
                  <a:srgbClr val="52514E"/>
                </a:solidFill>
                <a:latin typeface="Helvetica Neue"/>
              </a:rPr>
              <a:t>leaves: WEKA J48, main CGPA task</a:t>
            </a:r>
            <a:endParaRPr sz="1500" b="0">
              <a:solidFill>
                <a:srgbClr val="52514E"/>
              </a:solidFill>
              <a:latin typeface="Helvetica Neue"/>
            </a:endParaRPr>
          </a:p>
        </p:txBody>
      </p:sp>
      <p:sp>
        <p:nvSpPr>
          <p:cNvPr id="13" name="Rounded Rectangle 12"/>
          <p:cNvSpPr/>
          <p:nvPr/>
        </p:nvSpPr>
        <p:spPr>
          <a:xfrm>
            <a:off x="8046720" y="1371600"/>
            <a:ext cx="3566160" cy="146304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83880" y="1481328"/>
            <a:ext cx="3291840" cy="804672"/>
          </a:xfrm>
          <a:prstGeom prst="rect">
            <a:avLst/>
          </a:prstGeom>
          <a:noFill/>
        </p:spPr>
        <p:txBody>
          <a:bodyPr wrap="square" lIns="27432" tIns="27432" rIns="27432" bIns="27432" anchor="ctr">
            <a:noAutofit/>
          </a:bodyPr>
          <a:lstStyle/>
          <a:p>
            <a:pPr algn="l">
              <a:lnSpc>
                <a:spcPct val="105000"/>
              </a:lnSpc>
            </a:pPr>
            <a:r>
              <a:rPr sz="4400" b="1">
                <a:solidFill>
                  <a:srgbClr val="0B6B0B"/>
                </a:solidFill>
                <a:latin typeface="Helvetica Neue"/>
              </a:rPr>
              <a:t>6–8</a:t>
            </a:r>
          </a:p>
        </p:txBody>
      </p:sp>
      <p:sp>
        <p:nvSpPr>
          <p:cNvPr id="15" name="TextBox 14"/>
          <p:cNvSpPr txBox="1"/>
          <p:nvPr/>
        </p:nvSpPr>
        <p:spPr>
          <a:xfrm>
            <a:off x="8183880" y="2220163"/>
            <a:ext cx="3291840" cy="585216"/>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final boxes in our shallow trees</a:t>
            </a:r>
          </a:p>
        </p:txBody>
      </p:sp>
      <p:sp>
        <p:nvSpPr>
          <p:cNvPr id="16" name="TextBox 15"/>
          <p:cNvSpPr txBox="1"/>
          <p:nvPr/>
        </p:nvSpPr>
        <p:spPr>
          <a:xfrm>
            <a:off x="548640" y="3017520"/>
            <a:ext cx="4297680" cy="365760"/>
          </a:xfrm>
          <a:prstGeom prst="rect">
            <a:avLst/>
          </a:prstGeom>
          <a:noFill/>
        </p:spPr>
        <p:txBody>
          <a:bodyPr wrap="square" lIns="27432" tIns="27432" rIns="27432" bIns="27432" anchor="t">
            <a:noAutofit/>
          </a:bodyPr>
          <a:lstStyle/>
          <a:p>
            <a:pPr algn="l">
              <a:lnSpc>
                <a:spcPct val="105000"/>
              </a:lnSpc>
            </a:pPr>
            <a:r>
              <a:rPr lang="en-US" sz="1400" b="1">
                <a:solidFill>
                  <a:srgbClr val="0B0B0B"/>
                </a:solidFill>
                <a:latin typeface="Helvetica Neue"/>
              </a:rPr>
              <a:t>Real WEKA J48 tree viewer (main CGPA task)</a:t>
            </a:r>
            <a:endParaRPr sz="1400" b="1">
              <a:solidFill>
                <a:srgbClr val="0B0B0B"/>
              </a:solidFill>
              <a:latin typeface="Helvetica Neue"/>
            </a:endParaRPr>
          </a:p>
        </p:txBody>
      </p:sp>
      <p:pic>
        <p:nvPicPr>
          <p:cNvPr id="17" name="Picture 16" descr="weka_j48_tree_view.png"/>
          <p:cNvPicPr>
            <a:picLocks noChangeAspect="1"/>
          </p:cNvPicPr>
          <p:nvPr/>
        </p:nvPicPr>
        <p:blipFill>
          <a:blip r:embed="rId3"/>
          <a:stretch>
            <a:fillRect/>
          </a:stretch>
        </p:blipFill>
        <p:spPr>
          <a:xfrm>
            <a:off x="607422" y="3383280"/>
            <a:ext cx="4180114" cy="2926080"/>
          </a:xfrm>
          <a:prstGeom prst="rect">
            <a:avLst/>
          </a:prstGeom>
          <a:ln w="12700">
            <a:solidFill>
              <a:srgbClr val="DADCE0"/>
            </a:solidFill>
          </a:ln>
        </p:spPr>
      </p:pic>
      <p:sp>
        <p:nvSpPr>
          <p:cNvPr id="18" name="TextBox 17"/>
          <p:cNvSpPr txBox="1"/>
          <p:nvPr/>
        </p:nvSpPr>
        <p:spPr>
          <a:xfrm>
            <a:off x="5074920" y="3017520"/>
            <a:ext cx="3200400" cy="365760"/>
          </a:xfrm>
          <a:prstGeom prst="rect">
            <a:avLst/>
          </a:prstGeom>
          <a:noFill/>
        </p:spPr>
        <p:txBody>
          <a:bodyPr wrap="square" lIns="27432" tIns="27432" rIns="27432" bIns="27432" anchor="t">
            <a:noAutofit/>
          </a:bodyPr>
          <a:lstStyle/>
          <a:p>
            <a:pPr algn="l">
              <a:lnSpc>
                <a:spcPct val="105000"/>
              </a:lnSpc>
            </a:pPr>
            <a:r>
              <a:rPr sz="1300" b="1">
                <a:solidFill>
                  <a:srgbClr val="0B0B0B"/>
                </a:solidFill>
                <a:latin typeface="Helvetica Neue"/>
              </a:rPr>
              <a:t>Exp A: behaviour → SGPA (test)</a:t>
            </a:r>
          </a:p>
        </p:txBody>
      </p:sp>
      <p:pic>
        <p:nvPicPr>
          <p:cNvPr id="19" name="Picture 18" descr="sgpa_test_confusion_matrix.png"/>
          <p:cNvPicPr>
            <a:picLocks noChangeAspect="1"/>
          </p:cNvPicPr>
          <p:nvPr/>
        </p:nvPicPr>
        <p:blipFill>
          <a:blip r:embed="rId4"/>
          <a:stretch>
            <a:fillRect/>
          </a:stretch>
        </p:blipFill>
        <p:spPr>
          <a:xfrm>
            <a:off x="5088890" y="3383280"/>
            <a:ext cx="3172460" cy="2926080"/>
          </a:xfrm>
          <a:prstGeom prst="rect">
            <a:avLst/>
          </a:prstGeom>
        </p:spPr>
      </p:pic>
      <p:sp>
        <p:nvSpPr>
          <p:cNvPr id="20" name="TextBox 19"/>
          <p:cNvSpPr txBox="1"/>
          <p:nvPr/>
        </p:nvSpPr>
        <p:spPr>
          <a:xfrm>
            <a:off x="8412480" y="3017520"/>
            <a:ext cx="3200400" cy="365760"/>
          </a:xfrm>
          <a:prstGeom prst="rect">
            <a:avLst/>
          </a:prstGeom>
          <a:noFill/>
        </p:spPr>
        <p:txBody>
          <a:bodyPr wrap="square" lIns="27432" tIns="27432" rIns="27432" bIns="27432" anchor="t">
            <a:noAutofit/>
          </a:bodyPr>
          <a:lstStyle/>
          <a:p>
            <a:pPr algn="l">
              <a:lnSpc>
                <a:spcPct val="105000"/>
              </a:lnSpc>
            </a:pPr>
            <a:r>
              <a:rPr sz="1300" b="1">
                <a:solidFill>
                  <a:srgbClr val="0B0B0B"/>
                </a:solidFill>
                <a:latin typeface="Helvetica Neue"/>
              </a:rPr>
              <a:t>Exp B: behaviour → CGPA (test)</a:t>
            </a:r>
          </a:p>
        </p:txBody>
      </p:sp>
      <p:pic>
        <p:nvPicPr>
          <p:cNvPr id="21" name="Picture 20" descr="cgpa_behavior_test_confusion_matrix.png"/>
          <p:cNvPicPr>
            <a:picLocks noChangeAspect="1"/>
          </p:cNvPicPr>
          <p:nvPr/>
        </p:nvPicPr>
        <p:blipFill>
          <a:blip r:embed="rId5"/>
          <a:stretch>
            <a:fillRect/>
          </a:stretch>
        </p:blipFill>
        <p:spPr>
          <a:xfrm>
            <a:off x="8426450" y="3383280"/>
            <a:ext cx="3172460" cy="2926080"/>
          </a:xfrm>
          <a:prstGeom prst="rect">
            <a:avLst/>
          </a:prstGeom>
        </p:spPr>
      </p:pic>
      <p:sp>
        <p:nvSpPr>
          <p:cNvPr id="22" name="SimpleLightSectionLabel">
            <a:extLst>
              <a:ext uri="{FF2B5EF4-FFF2-40B4-BE49-F238E27FC236}">
                <a16:creationId xmlns:a16="http://schemas.microsoft.com/office/drawing/2014/main" id="{CB75F380-312D-4474-8BE2-D31331E985B2}"/>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TECHNICAL BACKUP</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BACKUP</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Full WEKA Results (10-fold cross-validation)</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58</a:t>
            </a:r>
          </a:p>
        </p:txBody>
      </p:sp>
      <p:graphicFrame>
        <p:nvGraphicFramePr>
          <p:cNvPr id="7" name="Table 6"/>
          <p:cNvGraphicFramePr>
            <a:graphicFrameLocks noGrp="1"/>
          </p:cNvGraphicFramePr>
          <p:nvPr>
            <p:extLst>
              <p:ext uri="{D42A27DB-BD31-4B8C-83A1-F6EECF244321}">
                <p14:modId xmlns:p14="http://schemas.microsoft.com/office/powerpoint/2010/main" val="4231880879"/>
              </p:ext>
            </p:extLst>
          </p:nvPr>
        </p:nvGraphicFramePr>
        <p:xfrm>
          <a:off x="548640" y="1463040"/>
          <a:ext cx="11064240" cy="352044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gridCol w="1463040">
                  <a:extLst>
                    <a:ext uri="{9D8B030D-6E8A-4147-A177-3AD203B41FA5}">
                      <a16:colId xmlns:a16="http://schemas.microsoft.com/office/drawing/2014/main" val="20006"/>
                    </a:ext>
                  </a:extLst>
                </a:gridCol>
              </a:tblGrid>
              <a:tr h="502920">
                <a:tc>
                  <a:txBody>
                    <a:bodyPr/>
                    <a:lstStyle/>
                    <a:p>
                      <a:r>
                        <a:rPr sz="1600" b="1">
                          <a:solidFill>
                            <a:srgbClr val="FFFFFF"/>
                          </a:solidFill>
                          <a:latin typeface="Segoe UI"/>
                        </a:rPr>
                        <a:t>Model</a:t>
                      </a:r>
                    </a:p>
                  </a:txBody>
                  <a:tcPr marL="64008" marR="64008" marT="18288" marB="18288" anchor="ctr">
                    <a:solidFill>
                      <a:srgbClr val="1F3B5C"/>
                    </a:solidFill>
                  </a:tcPr>
                </a:tc>
                <a:tc>
                  <a:txBody>
                    <a:bodyPr/>
                    <a:lstStyle/>
                    <a:p>
                      <a:r>
                        <a:rPr lang="en-US" sz="1600" b="1">
                          <a:solidFill>
                            <a:srgbClr val="FFFFFF"/>
                          </a:solidFill>
                          <a:latin typeface="Segoe UI"/>
                        </a:rPr>
                        <a:t>Main CGPA acc.</a:t>
                      </a:r>
                      <a:endParaRPr sz="1600" b="1">
                        <a:solidFill>
                          <a:srgbClr val="FFFFFF"/>
                        </a:solidFill>
                        <a:latin typeface="Segoe UI"/>
                      </a:endParaRPr>
                    </a:p>
                  </a:txBody>
                  <a:tcPr marL="64008" marR="64008" marT="18288" marB="18288" anchor="ctr">
                    <a:solidFill>
                      <a:srgbClr val="1F3B5C"/>
                    </a:solidFill>
                  </a:tcPr>
                </a:tc>
                <a:tc>
                  <a:txBody>
                    <a:bodyPr/>
                    <a:lstStyle/>
                    <a:p>
                      <a:r>
                        <a:rPr sz="1600" b="1">
                          <a:solidFill>
                            <a:srgbClr val="FFFFFF"/>
                          </a:solidFill>
                          <a:latin typeface="Segoe UI"/>
                        </a:rPr>
                        <a:t>W-F1</a:t>
                      </a:r>
                    </a:p>
                  </a:txBody>
                  <a:tcPr marL="64008" marR="64008" marT="18288" marB="18288" anchor="ctr">
                    <a:solidFill>
                      <a:srgbClr val="1F3B5C"/>
                    </a:solidFill>
                  </a:tcPr>
                </a:tc>
                <a:tc>
                  <a:txBody>
                    <a:bodyPr/>
                    <a:lstStyle/>
                    <a:p>
                      <a:r>
                        <a:rPr sz="1600" b="1">
                          <a:solidFill>
                            <a:srgbClr val="FFFFFF"/>
                          </a:solidFill>
                          <a:latin typeface="Segoe UI"/>
                        </a:rPr>
                        <a:t>Kappa</a:t>
                      </a:r>
                    </a:p>
                  </a:txBody>
                  <a:tcPr marL="64008" marR="64008" marT="18288" marB="18288" anchor="ctr">
                    <a:solidFill>
                      <a:srgbClr val="1F3B5C"/>
                    </a:solidFill>
                  </a:tcPr>
                </a:tc>
                <a:tc>
                  <a:txBody>
                    <a:bodyPr/>
                    <a:lstStyle/>
                    <a:p>
                      <a:r>
                        <a:rPr lang="en-US" sz="1600" b="1">
                          <a:solidFill>
                            <a:srgbClr val="FFFFFF"/>
                          </a:solidFill>
                          <a:latin typeface="Segoe UI"/>
                        </a:rPr>
                        <a:t>CGPA diagnostic acc.</a:t>
                      </a:r>
                      <a:endParaRPr sz="1600" b="1">
                        <a:solidFill>
                          <a:srgbClr val="FFFFFF"/>
                        </a:solidFill>
                        <a:latin typeface="Segoe UI"/>
                      </a:endParaRPr>
                    </a:p>
                  </a:txBody>
                  <a:tcPr marL="64008" marR="64008" marT="18288" marB="18288" anchor="ctr">
                    <a:solidFill>
                      <a:srgbClr val="1F3B5C"/>
                    </a:solidFill>
                  </a:tcPr>
                </a:tc>
                <a:tc>
                  <a:txBody>
                    <a:bodyPr/>
                    <a:lstStyle/>
                    <a:p>
                      <a:r>
                        <a:rPr sz="1600" b="1">
                          <a:solidFill>
                            <a:srgbClr val="FFFFFF"/>
                          </a:solidFill>
                          <a:latin typeface="Segoe UI"/>
                        </a:rPr>
                        <a:t>W-F1</a:t>
                      </a:r>
                    </a:p>
                  </a:txBody>
                  <a:tcPr marL="64008" marR="64008" marT="18288" marB="18288" anchor="ctr">
                    <a:solidFill>
                      <a:srgbClr val="1F3B5C"/>
                    </a:solidFill>
                  </a:tcPr>
                </a:tc>
                <a:tc>
                  <a:txBody>
                    <a:bodyPr/>
                    <a:lstStyle/>
                    <a:p>
                      <a:r>
                        <a:rPr sz="1600" b="1">
                          <a:solidFill>
                            <a:srgbClr val="FFFFFF"/>
                          </a:solidFill>
                          <a:latin typeface="Segoe UI"/>
                        </a:rPr>
                        <a:t>Kappa</a:t>
                      </a:r>
                    </a:p>
                  </a:txBody>
                  <a:tcPr marL="64008" marR="64008" marT="18288" marB="18288" anchor="ctr">
                    <a:solidFill>
                      <a:srgbClr val="1F3B5C"/>
                    </a:solidFill>
                  </a:tcPr>
                </a:tc>
                <a:extLst>
                  <a:ext uri="{0D108BD9-81ED-4DB2-BD59-A6C34878D82A}">
                    <a16:rowId xmlns:a16="http://schemas.microsoft.com/office/drawing/2014/main" val="10000"/>
                  </a:ext>
                </a:extLst>
              </a:tr>
              <a:tr h="502920">
                <a:tc>
                  <a:txBody>
                    <a:bodyPr/>
                    <a:lstStyle/>
                    <a:p>
                      <a:r>
                        <a:rPr sz="1600" b="0">
                          <a:solidFill>
                            <a:srgbClr val="0B0B0B"/>
                          </a:solidFill>
                          <a:latin typeface="Segoe UI"/>
                        </a:rPr>
                        <a:t>ZeroR</a:t>
                      </a:r>
                    </a:p>
                  </a:txBody>
                  <a:tcPr marL="64008" marR="64008" marT="18288" marB="18288" anchor="ctr">
                    <a:solidFill>
                      <a:srgbClr val="FFFFFF"/>
                    </a:solidFill>
                  </a:tcPr>
                </a:tc>
                <a:tc>
                  <a:txBody>
                    <a:bodyPr/>
                    <a:lstStyle/>
                    <a:p>
                      <a:r>
                        <a:rPr sz="1600" b="0">
                          <a:solidFill>
                            <a:srgbClr val="0B0B0B"/>
                          </a:solidFill>
                          <a:latin typeface="Segoe UI"/>
                        </a:rPr>
                        <a:t>29.0%</a:t>
                      </a:r>
                    </a:p>
                  </a:txBody>
                  <a:tcPr marL="64008" marR="64008" marT="18288" marB="18288" anchor="ctr">
                    <a:solidFill>
                      <a:srgbClr val="FFFFFF"/>
                    </a:solidFill>
                  </a:tcPr>
                </a:tc>
                <a:tc>
                  <a:txBody>
                    <a:bodyPr/>
                    <a:lstStyle/>
                    <a:p>
                      <a:r>
                        <a:rPr sz="1600" b="0">
                          <a:solidFill>
                            <a:srgbClr val="0B0B0B"/>
                          </a:solidFill>
                          <a:latin typeface="Segoe UI"/>
                        </a:rPr>
                        <a:t>—</a:t>
                      </a:r>
                    </a:p>
                  </a:txBody>
                  <a:tcPr marL="64008" marR="64008" marT="18288" marB="18288" anchor="ctr">
                    <a:solidFill>
                      <a:srgbClr val="FFFFFF"/>
                    </a:solidFill>
                  </a:tcPr>
                </a:tc>
                <a:tc>
                  <a:txBody>
                    <a:bodyPr/>
                    <a:lstStyle/>
                    <a:p>
                      <a:r>
                        <a:rPr sz="1600" b="0">
                          <a:solidFill>
                            <a:srgbClr val="0B0B0B"/>
                          </a:solidFill>
                          <a:latin typeface="Segoe UI"/>
                        </a:rPr>
                        <a:t>0.000</a:t>
                      </a:r>
                    </a:p>
                  </a:txBody>
                  <a:tcPr marL="64008" marR="64008" marT="18288" marB="18288" anchor="ctr">
                    <a:solidFill>
                      <a:srgbClr val="FFFFFF"/>
                    </a:solidFill>
                  </a:tcPr>
                </a:tc>
                <a:tc>
                  <a:txBody>
                    <a:bodyPr/>
                    <a:lstStyle/>
                    <a:p>
                      <a:r>
                        <a:rPr sz="1600" b="0">
                          <a:solidFill>
                            <a:srgbClr val="0B0B0B"/>
                          </a:solidFill>
                          <a:latin typeface="Segoe UI"/>
                        </a:rPr>
                        <a:t>29.0%</a:t>
                      </a:r>
                    </a:p>
                  </a:txBody>
                  <a:tcPr marL="64008" marR="64008" marT="18288" marB="18288" anchor="ctr">
                    <a:solidFill>
                      <a:srgbClr val="FFFFFF"/>
                    </a:solidFill>
                  </a:tcPr>
                </a:tc>
                <a:tc>
                  <a:txBody>
                    <a:bodyPr/>
                    <a:lstStyle/>
                    <a:p>
                      <a:r>
                        <a:rPr sz="1600" b="0">
                          <a:solidFill>
                            <a:srgbClr val="0B0B0B"/>
                          </a:solidFill>
                          <a:latin typeface="Segoe UI"/>
                        </a:rPr>
                        <a:t>—</a:t>
                      </a:r>
                    </a:p>
                  </a:txBody>
                  <a:tcPr marL="64008" marR="64008" marT="18288" marB="18288" anchor="ctr">
                    <a:solidFill>
                      <a:srgbClr val="FFFFFF"/>
                    </a:solidFill>
                  </a:tcPr>
                </a:tc>
                <a:tc>
                  <a:txBody>
                    <a:bodyPr/>
                    <a:lstStyle/>
                    <a:p>
                      <a:r>
                        <a:rPr sz="1600" b="0">
                          <a:solidFill>
                            <a:srgbClr val="0B0B0B"/>
                          </a:solidFill>
                          <a:latin typeface="Segoe UI"/>
                        </a:rPr>
                        <a:t>0.000</a:t>
                      </a:r>
                    </a:p>
                  </a:txBody>
                  <a:tcPr marL="64008" marR="64008" marT="18288" marB="18288" anchor="ctr">
                    <a:solidFill>
                      <a:srgbClr val="FFFFFF"/>
                    </a:solidFill>
                  </a:tcPr>
                </a:tc>
                <a:extLst>
                  <a:ext uri="{0D108BD9-81ED-4DB2-BD59-A6C34878D82A}">
                    <a16:rowId xmlns:a16="http://schemas.microsoft.com/office/drawing/2014/main" val="10001"/>
                  </a:ext>
                </a:extLst>
              </a:tr>
              <a:tr h="502920">
                <a:tc>
                  <a:txBody>
                    <a:bodyPr/>
                    <a:lstStyle/>
                    <a:p>
                      <a:r>
                        <a:rPr sz="1600" b="0">
                          <a:solidFill>
                            <a:srgbClr val="0B0B0B"/>
                          </a:solidFill>
                          <a:latin typeface="Segoe UI"/>
                        </a:rPr>
                        <a:t>Logistic</a:t>
                      </a:r>
                    </a:p>
                  </a:txBody>
                  <a:tcPr marL="64008" marR="64008" marT="18288" marB="18288" anchor="ctr">
                    <a:solidFill>
                      <a:srgbClr val="F7F8FA"/>
                    </a:solidFill>
                  </a:tcPr>
                </a:tc>
                <a:tc>
                  <a:txBody>
                    <a:bodyPr/>
                    <a:lstStyle/>
                    <a:p>
                      <a:r>
                        <a:rPr sz="1600" b="0">
                          <a:solidFill>
                            <a:srgbClr val="0B0B0B"/>
                          </a:solidFill>
                          <a:latin typeface="Segoe UI"/>
                        </a:rPr>
                        <a:t>45.1%</a:t>
                      </a:r>
                    </a:p>
                  </a:txBody>
                  <a:tcPr marL="64008" marR="64008" marT="18288" marB="18288" anchor="ctr">
                    <a:solidFill>
                      <a:srgbClr val="F7F8FA"/>
                    </a:solidFill>
                  </a:tcPr>
                </a:tc>
                <a:tc>
                  <a:txBody>
                    <a:bodyPr/>
                    <a:lstStyle/>
                    <a:p>
                      <a:r>
                        <a:rPr sz="1600" b="0">
                          <a:solidFill>
                            <a:srgbClr val="0B0B0B"/>
                          </a:solidFill>
                          <a:latin typeface="Segoe UI"/>
                        </a:rPr>
                        <a:t>0.451</a:t>
                      </a:r>
                    </a:p>
                  </a:txBody>
                  <a:tcPr marL="64008" marR="64008" marT="18288" marB="18288" anchor="ctr">
                    <a:solidFill>
                      <a:srgbClr val="F7F8FA"/>
                    </a:solidFill>
                  </a:tcPr>
                </a:tc>
                <a:tc>
                  <a:txBody>
                    <a:bodyPr/>
                    <a:lstStyle/>
                    <a:p>
                      <a:r>
                        <a:rPr sz="1600" b="0">
                          <a:solidFill>
                            <a:srgbClr val="0B0B0B"/>
                          </a:solidFill>
                          <a:latin typeface="Segoe UI"/>
                        </a:rPr>
                        <a:t>0.263</a:t>
                      </a:r>
                    </a:p>
                  </a:txBody>
                  <a:tcPr marL="64008" marR="64008" marT="18288" marB="18288" anchor="ctr">
                    <a:solidFill>
                      <a:srgbClr val="F7F8FA"/>
                    </a:solidFill>
                  </a:tcPr>
                </a:tc>
                <a:tc>
                  <a:txBody>
                    <a:bodyPr/>
                    <a:lstStyle/>
                    <a:p>
                      <a:r>
                        <a:rPr sz="1600" b="0">
                          <a:solidFill>
                            <a:srgbClr val="0B0B0B"/>
                          </a:solidFill>
                          <a:latin typeface="Segoe UI"/>
                        </a:rPr>
                        <a:t>29.8%</a:t>
                      </a:r>
                    </a:p>
                  </a:txBody>
                  <a:tcPr marL="64008" marR="64008" marT="18288" marB="18288" anchor="ctr">
                    <a:solidFill>
                      <a:srgbClr val="F7F8FA"/>
                    </a:solidFill>
                  </a:tcPr>
                </a:tc>
                <a:tc>
                  <a:txBody>
                    <a:bodyPr/>
                    <a:lstStyle/>
                    <a:p>
                      <a:r>
                        <a:rPr sz="1600" b="0">
                          <a:solidFill>
                            <a:srgbClr val="0B0B0B"/>
                          </a:solidFill>
                          <a:latin typeface="Segoe UI"/>
                        </a:rPr>
                        <a:t>0.293</a:t>
                      </a:r>
                    </a:p>
                  </a:txBody>
                  <a:tcPr marL="64008" marR="64008" marT="18288" marB="18288" anchor="ctr">
                    <a:solidFill>
                      <a:srgbClr val="F7F8FA"/>
                    </a:solidFill>
                  </a:tcPr>
                </a:tc>
                <a:tc>
                  <a:txBody>
                    <a:bodyPr/>
                    <a:lstStyle/>
                    <a:p>
                      <a:r>
                        <a:rPr sz="1600" b="0">
                          <a:solidFill>
                            <a:srgbClr val="0B0B0B"/>
                          </a:solidFill>
                          <a:latin typeface="Segoe UI"/>
                        </a:rPr>
                        <a:t>0.050</a:t>
                      </a:r>
                    </a:p>
                  </a:txBody>
                  <a:tcPr marL="64008" marR="64008" marT="18288" marB="18288" anchor="ctr">
                    <a:solidFill>
                      <a:srgbClr val="F7F8FA"/>
                    </a:solidFill>
                  </a:tcPr>
                </a:tc>
                <a:extLst>
                  <a:ext uri="{0D108BD9-81ED-4DB2-BD59-A6C34878D82A}">
                    <a16:rowId xmlns:a16="http://schemas.microsoft.com/office/drawing/2014/main" val="10002"/>
                  </a:ext>
                </a:extLst>
              </a:tr>
              <a:tr h="502920">
                <a:tc>
                  <a:txBody>
                    <a:bodyPr/>
                    <a:lstStyle/>
                    <a:p>
                      <a:r>
                        <a:rPr sz="1600" b="0">
                          <a:solidFill>
                            <a:srgbClr val="0B0B0B"/>
                          </a:solidFill>
                          <a:latin typeface="Segoe UI"/>
                        </a:rPr>
                        <a:t>J48</a:t>
                      </a:r>
                    </a:p>
                  </a:txBody>
                  <a:tcPr marL="64008" marR="64008" marT="18288" marB="18288" anchor="ctr">
                    <a:solidFill>
                      <a:srgbClr val="FFFFFF"/>
                    </a:solidFill>
                  </a:tcPr>
                </a:tc>
                <a:tc>
                  <a:txBody>
                    <a:bodyPr/>
                    <a:lstStyle/>
                    <a:p>
                      <a:r>
                        <a:rPr sz="1600" b="0">
                          <a:solidFill>
                            <a:srgbClr val="0B0B0B"/>
                          </a:solidFill>
                          <a:latin typeface="Segoe UI"/>
                        </a:rPr>
                        <a:t>39.8%</a:t>
                      </a:r>
                    </a:p>
                  </a:txBody>
                  <a:tcPr marL="64008" marR="64008" marT="18288" marB="18288" anchor="ctr">
                    <a:solidFill>
                      <a:srgbClr val="FFFFFF"/>
                    </a:solidFill>
                  </a:tcPr>
                </a:tc>
                <a:tc>
                  <a:txBody>
                    <a:bodyPr/>
                    <a:lstStyle/>
                    <a:p>
                      <a:r>
                        <a:rPr sz="1600" b="0">
                          <a:solidFill>
                            <a:srgbClr val="0B0B0B"/>
                          </a:solidFill>
                          <a:latin typeface="Segoe UI"/>
                        </a:rPr>
                        <a:t>0.399</a:t>
                      </a:r>
                    </a:p>
                  </a:txBody>
                  <a:tcPr marL="64008" marR="64008" marT="18288" marB="18288" anchor="ctr">
                    <a:solidFill>
                      <a:srgbClr val="FFFFFF"/>
                    </a:solidFill>
                  </a:tcPr>
                </a:tc>
                <a:tc>
                  <a:txBody>
                    <a:bodyPr/>
                    <a:lstStyle/>
                    <a:p>
                      <a:r>
                        <a:rPr sz="1600" b="0">
                          <a:solidFill>
                            <a:srgbClr val="0B0B0B"/>
                          </a:solidFill>
                          <a:latin typeface="Segoe UI"/>
                        </a:rPr>
                        <a:t>0.195</a:t>
                      </a:r>
                    </a:p>
                  </a:txBody>
                  <a:tcPr marL="64008" marR="64008" marT="18288" marB="18288" anchor="ctr">
                    <a:solidFill>
                      <a:srgbClr val="FFFFFF"/>
                    </a:solidFill>
                  </a:tcPr>
                </a:tc>
                <a:tc>
                  <a:txBody>
                    <a:bodyPr/>
                    <a:lstStyle/>
                    <a:p>
                      <a:r>
                        <a:rPr sz="1600" b="0">
                          <a:solidFill>
                            <a:srgbClr val="0B0B0B"/>
                          </a:solidFill>
                          <a:latin typeface="Segoe UI"/>
                        </a:rPr>
                        <a:t>29.3%</a:t>
                      </a:r>
                    </a:p>
                  </a:txBody>
                  <a:tcPr marL="64008" marR="64008" marT="18288" marB="18288" anchor="ctr">
                    <a:solidFill>
                      <a:srgbClr val="FFFFFF"/>
                    </a:solidFill>
                  </a:tcPr>
                </a:tc>
                <a:tc>
                  <a:txBody>
                    <a:bodyPr/>
                    <a:lstStyle/>
                    <a:p>
                      <a:r>
                        <a:rPr sz="1600" b="0">
                          <a:solidFill>
                            <a:srgbClr val="0B0B0B"/>
                          </a:solidFill>
                          <a:latin typeface="Segoe UI"/>
                        </a:rPr>
                        <a:t>0.294</a:t>
                      </a:r>
                    </a:p>
                  </a:txBody>
                  <a:tcPr marL="64008" marR="64008" marT="18288" marB="18288" anchor="ctr">
                    <a:solidFill>
                      <a:srgbClr val="FFFFFF"/>
                    </a:solidFill>
                  </a:tcPr>
                </a:tc>
                <a:tc>
                  <a:txBody>
                    <a:bodyPr/>
                    <a:lstStyle/>
                    <a:p>
                      <a:r>
                        <a:rPr sz="1600" b="0">
                          <a:solidFill>
                            <a:srgbClr val="0B0B0B"/>
                          </a:solidFill>
                          <a:latin typeface="Segoe UI"/>
                        </a:rPr>
                        <a:t>0.053</a:t>
                      </a:r>
                    </a:p>
                  </a:txBody>
                  <a:tcPr marL="64008" marR="64008" marT="18288" marB="18288" anchor="ctr">
                    <a:solidFill>
                      <a:srgbClr val="FFFFFF"/>
                    </a:solidFill>
                  </a:tcPr>
                </a:tc>
                <a:extLst>
                  <a:ext uri="{0D108BD9-81ED-4DB2-BD59-A6C34878D82A}">
                    <a16:rowId xmlns:a16="http://schemas.microsoft.com/office/drawing/2014/main" val="10003"/>
                  </a:ext>
                </a:extLst>
              </a:tr>
              <a:tr h="502920">
                <a:tc>
                  <a:txBody>
                    <a:bodyPr/>
                    <a:lstStyle/>
                    <a:p>
                      <a:r>
                        <a:rPr sz="1600" b="0">
                          <a:solidFill>
                            <a:srgbClr val="0B0B0B"/>
                          </a:solidFill>
                          <a:latin typeface="Segoe UI"/>
                        </a:rPr>
                        <a:t>RandomForest</a:t>
                      </a:r>
                    </a:p>
                  </a:txBody>
                  <a:tcPr marL="64008" marR="64008" marT="18288" marB="18288" anchor="ctr">
                    <a:solidFill>
                      <a:srgbClr val="F7F8FA"/>
                    </a:solidFill>
                  </a:tcPr>
                </a:tc>
                <a:tc>
                  <a:txBody>
                    <a:bodyPr/>
                    <a:lstStyle/>
                    <a:p>
                      <a:r>
                        <a:rPr sz="1600" b="0">
                          <a:solidFill>
                            <a:srgbClr val="0B0B0B"/>
                          </a:solidFill>
                          <a:latin typeface="Segoe UI"/>
                        </a:rPr>
                        <a:t>46.3%</a:t>
                      </a:r>
                    </a:p>
                  </a:txBody>
                  <a:tcPr marL="64008" marR="64008" marT="18288" marB="18288" anchor="ctr">
                    <a:solidFill>
                      <a:srgbClr val="F7F8FA"/>
                    </a:solidFill>
                  </a:tcPr>
                </a:tc>
                <a:tc>
                  <a:txBody>
                    <a:bodyPr/>
                    <a:lstStyle/>
                    <a:p>
                      <a:r>
                        <a:rPr sz="1600" b="0">
                          <a:solidFill>
                            <a:srgbClr val="0B0B0B"/>
                          </a:solidFill>
                          <a:latin typeface="Segoe UI"/>
                        </a:rPr>
                        <a:t>0.463</a:t>
                      </a:r>
                    </a:p>
                  </a:txBody>
                  <a:tcPr marL="64008" marR="64008" marT="18288" marB="18288" anchor="ctr">
                    <a:solidFill>
                      <a:srgbClr val="F7F8FA"/>
                    </a:solidFill>
                  </a:tcPr>
                </a:tc>
                <a:tc>
                  <a:txBody>
                    <a:bodyPr/>
                    <a:lstStyle/>
                    <a:p>
                      <a:r>
                        <a:rPr sz="1600" b="0">
                          <a:solidFill>
                            <a:srgbClr val="0B0B0B"/>
                          </a:solidFill>
                          <a:latin typeface="Segoe UI"/>
                        </a:rPr>
                        <a:t>0.277</a:t>
                      </a:r>
                    </a:p>
                  </a:txBody>
                  <a:tcPr marL="64008" marR="64008" marT="18288" marB="18288" anchor="ctr">
                    <a:solidFill>
                      <a:srgbClr val="F7F8FA"/>
                    </a:solidFill>
                  </a:tcPr>
                </a:tc>
                <a:tc>
                  <a:txBody>
                    <a:bodyPr/>
                    <a:lstStyle/>
                    <a:p>
                      <a:r>
                        <a:rPr sz="1600" b="0">
                          <a:solidFill>
                            <a:srgbClr val="0B0B0B"/>
                          </a:solidFill>
                          <a:latin typeface="Segoe UI"/>
                        </a:rPr>
                        <a:t>33.6%</a:t>
                      </a:r>
                    </a:p>
                  </a:txBody>
                  <a:tcPr marL="64008" marR="64008" marT="18288" marB="18288" anchor="ctr">
                    <a:solidFill>
                      <a:srgbClr val="F7F8FA"/>
                    </a:solidFill>
                  </a:tcPr>
                </a:tc>
                <a:tc>
                  <a:txBody>
                    <a:bodyPr/>
                    <a:lstStyle/>
                    <a:p>
                      <a:r>
                        <a:rPr sz="1600" b="0">
                          <a:solidFill>
                            <a:srgbClr val="0B0B0B"/>
                          </a:solidFill>
                          <a:latin typeface="Segoe UI"/>
                        </a:rPr>
                        <a:t>0.327</a:t>
                      </a:r>
                    </a:p>
                  </a:txBody>
                  <a:tcPr marL="64008" marR="64008" marT="18288" marB="18288" anchor="ctr">
                    <a:solidFill>
                      <a:srgbClr val="F7F8FA"/>
                    </a:solidFill>
                  </a:tcPr>
                </a:tc>
                <a:tc>
                  <a:txBody>
                    <a:bodyPr/>
                    <a:lstStyle/>
                    <a:p>
                      <a:r>
                        <a:rPr sz="1600" b="0">
                          <a:solidFill>
                            <a:srgbClr val="0B0B0B"/>
                          </a:solidFill>
                          <a:latin typeface="Segoe UI"/>
                        </a:rPr>
                        <a:t>0.100</a:t>
                      </a:r>
                    </a:p>
                  </a:txBody>
                  <a:tcPr marL="64008" marR="64008" marT="18288" marB="18288" anchor="ctr">
                    <a:solidFill>
                      <a:srgbClr val="F7F8FA"/>
                    </a:solidFill>
                  </a:tcPr>
                </a:tc>
                <a:extLst>
                  <a:ext uri="{0D108BD9-81ED-4DB2-BD59-A6C34878D82A}">
                    <a16:rowId xmlns:a16="http://schemas.microsoft.com/office/drawing/2014/main" val="10004"/>
                  </a:ext>
                </a:extLst>
              </a:tr>
              <a:tr h="502920">
                <a:tc>
                  <a:txBody>
                    <a:bodyPr/>
                    <a:lstStyle/>
                    <a:p>
                      <a:r>
                        <a:rPr sz="1600" b="0">
                          <a:solidFill>
                            <a:srgbClr val="0B0B0B"/>
                          </a:solidFill>
                          <a:latin typeface="Segoe UI"/>
                        </a:rPr>
                        <a:t>SMO</a:t>
                      </a:r>
                    </a:p>
                  </a:txBody>
                  <a:tcPr marL="64008" marR="64008" marT="18288" marB="18288" anchor="ctr">
                    <a:solidFill>
                      <a:srgbClr val="FFFFFF"/>
                    </a:solidFill>
                  </a:tcPr>
                </a:tc>
                <a:tc>
                  <a:txBody>
                    <a:bodyPr/>
                    <a:lstStyle/>
                    <a:p>
                      <a:r>
                        <a:rPr sz="1600" b="0">
                          <a:solidFill>
                            <a:srgbClr val="0B0B0B"/>
                          </a:solidFill>
                          <a:latin typeface="Segoe UI"/>
                        </a:rPr>
                        <a:t>46.5%</a:t>
                      </a:r>
                    </a:p>
                  </a:txBody>
                  <a:tcPr marL="64008" marR="64008" marT="18288" marB="18288" anchor="ctr">
                    <a:solidFill>
                      <a:srgbClr val="FFFFFF"/>
                    </a:solidFill>
                  </a:tcPr>
                </a:tc>
                <a:tc>
                  <a:txBody>
                    <a:bodyPr/>
                    <a:lstStyle/>
                    <a:p>
                      <a:r>
                        <a:rPr sz="1600" b="0">
                          <a:solidFill>
                            <a:srgbClr val="0B0B0B"/>
                          </a:solidFill>
                          <a:latin typeface="Segoe UI"/>
                        </a:rPr>
                        <a:t>0.465</a:t>
                      </a:r>
                    </a:p>
                  </a:txBody>
                  <a:tcPr marL="64008" marR="64008" marT="18288" marB="18288" anchor="ctr">
                    <a:solidFill>
                      <a:srgbClr val="FFFFFF"/>
                    </a:solidFill>
                  </a:tcPr>
                </a:tc>
                <a:tc>
                  <a:txBody>
                    <a:bodyPr/>
                    <a:lstStyle/>
                    <a:p>
                      <a:r>
                        <a:rPr sz="1600" b="0">
                          <a:solidFill>
                            <a:srgbClr val="0B0B0B"/>
                          </a:solidFill>
                          <a:latin typeface="Segoe UI"/>
                        </a:rPr>
                        <a:t>0.284</a:t>
                      </a:r>
                    </a:p>
                  </a:txBody>
                  <a:tcPr marL="64008" marR="64008" marT="18288" marB="18288" anchor="ctr">
                    <a:solidFill>
                      <a:srgbClr val="FFFFFF"/>
                    </a:solidFill>
                  </a:tcPr>
                </a:tc>
                <a:tc>
                  <a:txBody>
                    <a:bodyPr/>
                    <a:lstStyle/>
                    <a:p>
                      <a:r>
                        <a:rPr sz="1600" b="0">
                          <a:solidFill>
                            <a:srgbClr val="0B0B0B"/>
                          </a:solidFill>
                          <a:latin typeface="Segoe UI"/>
                        </a:rPr>
                        <a:t>31.6%</a:t>
                      </a:r>
                    </a:p>
                  </a:txBody>
                  <a:tcPr marL="64008" marR="64008" marT="18288" marB="18288" anchor="ctr">
                    <a:solidFill>
                      <a:srgbClr val="FFFFFF"/>
                    </a:solidFill>
                  </a:tcPr>
                </a:tc>
                <a:tc>
                  <a:txBody>
                    <a:bodyPr/>
                    <a:lstStyle/>
                    <a:p>
                      <a:r>
                        <a:rPr sz="1600" b="0">
                          <a:solidFill>
                            <a:srgbClr val="0B0B0B"/>
                          </a:solidFill>
                          <a:latin typeface="Segoe UI"/>
                        </a:rPr>
                        <a:t>0.304</a:t>
                      </a:r>
                    </a:p>
                  </a:txBody>
                  <a:tcPr marL="64008" marR="64008" marT="18288" marB="18288" anchor="ctr">
                    <a:solidFill>
                      <a:srgbClr val="FFFFFF"/>
                    </a:solidFill>
                  </a:tcPr>
                </a:tc>
                <a:tc>
                  <a:txBody>
                    <a:bodyPr/>
                    <a:lstStyle/>
                    <a:p>
                      <a:r>
                        <a:rPr sz="1600" b="0">
                          <a:solidFill>
                            <a:srgbClr val="0B0B0B"/>
                          </a:solidFill>
                          <a:latin typeface="Segoe UI"/>
                        </a:rPr>
                        <a:t>0.069</a:t>
                      </a:r>
                    </a:p>
                  </a:txBody>
                  <a:tcPr marL="64008" marR="64008" marT="18288" marB="18288" anchor="ctr">
                    <a:solidFill>
                      <a:srgbClr val="FFFFFF"/>
                    </a:solidFill>
                  </a:tcPr>
                </a:tc>
                <a:extLst>
                  <a:ext uri="{0D108BD9-81ED-4DB2-BD59-A6C34878D82A}">
                    <a16:rowId xmlns:a16="http://schemas.microsoft.com/office/drawing/2014/main" val="10005"/>
                  </a:ext>
                </a:extLst>
              </a:tr>
              <a:tr h="502920">
                <a:tc>
                  <a:txBody>
                    <a:bodyPr/>
                    <a:lstStyle/>
                    <a:p>
                      <a:r>
                        <a:rPr sz="1600" b="0">
                          <a:solidFill>
                            <a:srgbClr val="0B0B0B"/>
                          </a:solidFill>
                          <a:latin typeface="Segoe UI"/>
                        </a:rPr>
                        <a:t>NaiveBayes</a:t>
                      </a:r>
                    </a:p>
                  </a:txBody>
                  <a:tcPr marL="64008" marR="64008" marT="18288" marB="18288" anchor="ctr">
                    <a:solidFill>
                      <a:srgbClr val="F7F8FA"/>
                    </a:solidFill>
                  </a:tcPr>
                </a:tc>
                <a:tc>
                  <a:txBody>
                    <a:bodyPr/>
                    <a:lstStyle/>
                    <a:p>
                      <a:r>
                        <a:rPr sz="1600" b="0">
                          <a:solidFill>
                            <a:srgbClr val="0B0B0B"/>
                          </a:solidFill>
                          <a:latin typeface="Segoe UI"/>
                        </a:rPr>
                        <a:t>39.7%</a:t>
                      </a:r>
                    </a:p>
                  </a:txBody>
                  <a:tcPr marL="64008" marR="64008" marT="18288" marB="18288" anchor="ctr">
                    <a:solidFill>
                      <a:srgbClr val="F7F8FA"/>
                    </a:solidFill>
                  </a:tcPr>
                </a:tc>
                <a:tc>
                  <a:txBody>
                    <a:bodyPr/>
                    <a:lstStyle/>
                    <a:p>
                      <a:r>
                        <a:rPr sz="1600" b="0">
                          <a:solidFill>
                            <a:srgbClr val="0B0B0B"/>
                          </a:solidFill>
                          <a:latin typeface="Segoe UI"/>
                        </a:rPr>
                        <a:t>0.397</a:t>
                      </a:r>
                    </a:p>
                  </a:txBody>
                  <a:tcPr marL="64008" marR="64008" marT="18288" marB="18288" anchor="ctr">
                    <a:solidFill>
                      <a:srgbClr val="F7F8FA"/>
                    </a:solidFill>
                  </a:tcPr>
                </a:tc>
                <a:tc>
                  <a:txBody>
                    <a:bodyPr/>
                    <a:lstStyle/>
                    <a:p>
                      <a:r>
                        <a:rPr sz="1600" b="0">
                          <a:solidFill>
                            <a:srgbClr val="0B0B0B"/>
                          </a:solidFill>
                          <a:latin typeface="Segoe UI"/>
                        </a:rPr>
                        <a:t>0.192</a:t>
                      </a:r>
                    </a:p>
                  </a:txBody>
                  <a:tcPr marL="64008" marR="64008" marT="18288" marB="18288" anchor="ctr">
                    <a:solidFill>
                      <a:srgbClr val="F7F8FA"/>
                    </a:solidFill>
                  </a:tcPr>
                </a:tc>
                <a:tc>
                  <a:txBody>
                    <a:bodyPr/>
                    <a:lstStyle/>
                    <a:p>
                      <a:r>
                        <a:rPr sz="1600" b="0">
                          <a:solidFill>
                            <a:srgbClr val="0B0B0B"/>
                          </a:solidFill>
                          <a:latin typeface="Segoe UI"/>
                        </a:rPr>
                        <a:t>31.3%</a:t>
                      </a:r>
                    </a:p>
                  </a:txBody>
                  <a:tcPr marL="64008" marR="64008" marT="18288" marB="18288" anchor="ctr">
                    <a:solidFill>
                      <a:srgbClr val="F7F8FA"/>
                    </a:solidFill>
                  </a:tcPr>
                </a:tc>
                <a:tc>
                  <a:txBody>
                    <a:bodyPr/>
                    <a:lstStyle/>
                    <a:p>
                      <a:r>
                        <a:rPr sz="1600" b="0">
                          <a:solidFill>
                            <a:srgbClr val="0B0B0B"/>
                          </a:solidFill>
                          <a:latin typeface="Segoe UI"/>
                        </a:rPr>
                        <a:t>0.312</a:t>
                      </a:r>
                    </a:p>
                  </a:txBody>
                  <a:tcPr marL="64008" marR="64008" marT="18288" marB="18288" anchor="ctr">
                    <a:solidFill>
                      <a:srgbClr val="F7F8FA"/>
                    </a:solidFill>
                  </a:tcPr>
                </a:tc>
                <a:tc>
                  <a:txBody>
                    <a:bodyPr/>
                    <a:lstStyle/>
                    <a:p>
                      <a:r>
                        <a:rPr sz="1600" b="0">
                          <a:solidFill>
                            <a:srgbClr val="0B0B0B"/>
                          </a:solidFill>
                          <a:latin typeface="Segoe UI"/>
                        </a:rPr>
                        <a:t>0.077</a:t>
                      </a:r>
                    </a:p>
                  </a:txBody>
                  <a:tcPr marL="64008" marR="64008" marT="18288" marB="18288" anchor="ctr">
                    <a:solidFill>
                      <a:srgbClr val="F7F8FA"/>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548640" y="5212080"/>
            <a:ext cx="11064240" cy="731520"/>
          </a:xfrm>
          <a:prstGeom prst="rect">
            <a:avLst/>
          </a:prstGeom>
          <a:noFill/>
        </p:spPr>
        <p:txBody>
          <a:bodyPr wrap="square" lIns="27432" tIns="27432" rIns="27432" bIns="27432" anchor="t">
            <a:noAutofit/>
          </a:bodyPr>
          <a:lstStyle/>
          <a:p>
            <a:pPr algn="l">
              <a:lnSpc>
                <a:spcPct val="105000"/>
              </a:lnSpc>
            </a:pPr>
            <a:r>
              <a:rPr sz="1400" b="0">
                <a:solidFill>
                  <a:srgbClr val="52514E"/>
                </a:solidFill>
                <a:latin typeface="Helvetica Neue"/>
              </a:rPr>
              <a:t>Source: raw WEKA output logs (Weka Result.zip). W-F1 = weighted F1. Kappa = agreement beyond chance.</a:t>
            </a:r>
          </a:p>
        </p:txBody>
      </p:sp>
      <p:sp>
        <p:nvSpPr>
          <p:cNvPr id="9" name="SimpleLightSectionLabel">
            <a:extLst>
              <a:ext uri="{FF2B5EF4-FFF2-40B4-BE49-F238E27FC236}">
                <a16:creationId xmlns:a16="http://schemas.microsoft.com/office/drawing/2014/main" id="{02D20523-C1B0-4EA9-A010-6F7BE7A2283A}"/>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TECHNICAL BACKUP</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BACKUP</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Full Python Results (repeated stratified 10-fold CV)</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59</a:t>
            </a:r>
          </a:p>
        </p:txBody>
      </p:sp>
      <p:graphicFrame>
        <p:nvGraphicFramePr>
          <p:cNvPr id="7" name="Table 6"/>
          <p:cNvGraphicFramePr>
            <a:graphicFrameLocks noGrp="1"/>
          </p:cNvGraphicFramePr>
          <p:nvPr>
            <p:extLst>
              <p:ext uri="{D42A27DB-BD31-4B8C-83A1-F6EECF244321}">
                <p14:modId xmlns:p14="http://schemas.microsoft.com/office/powerpoint/2010/main" val="3326926183"/>
              </p:ext>
            </p:extLst>
          </p:nvPr>
        </p:nvGraphicFramePr>
        <p:xfrm>
          <a:off x="548640" y="1371600"/>
          <a:ext cx="11064240" cy="42062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gridCol w="1600200">
                  <a:extLst>
                    <a:ext uri="{9D8B030D-6E8A-4147-A177-3AD203B41FA5}">
                      <a16:colId xmlns:a16="http://schemas.microsoft.com/office/drawing/2014/main" val="20006"/>
                    </a:ext>
                  </a:extLst>
                </a:gridCol>
              </a:tblGrid>
              <a:tr h="420624">
                <a:tc>
                  <a:txBody>
                    <a:bodyPr/>
                    <a:lstStyle/>
                    <a:p>
                      <a:r>
                        <a:rPr sz="1400" b="1">
                          <a:solidFill>
                            <a:srgbClr val="FFFFFF"/>
                          </a:solidFill>
                          <a:latin typeface="Segoe UI"/>
                        </a:rPr>
                        <a:t>Model</a:t>
                      </a:r>
                    </a:p>
                  </a:txBody>
                  <a:tcPr marL="64008" marR="64008" marT="18288" marB="18288" anchor="ctr">
                    <a:solidFill>
                      <a:srgbClr val="1F3B5C"/>
                    </a:solidFill>
                  </a:tcPr>
                </a:tc>
                <a:tc>
                  <a:txBody>
                    <a:bodyPr/>
                    <a:lstStyle/>
                    <a:p>
                      <a:r>
                        <a:rPr lang="en-US" sz="1400" b="1">
                          <a:solidFill>
                            <a:srgbClr val="FFFFFF"/>
                          </a:solidFill>
                          <a:latin typeface="Segoe UI"/>
                        </a:rPr>
                        <a:t>Main CGPA acc.</a:t>
                      </a:r>
                      <a:endParaRPr sz="1400" b="1">
                        <a:solidFill>
                          <a:srgbClr val="FFFFFF"/>
                        </a:solidFill>
                        <a:latin typeface="Segoe UI"/>
                      </a:endParaRPr>
                    </a:p>
                  </a:txBody>
                  <a:tcPr marL="64008" marR="64008" marT="18288" marB="18288" anchor="ctr">
                    <a:solidFill>
                      <a:srgbClr val="1F3B5C"/>
                    </a:solidFill>
                  </a:tcPr>
                </a:tc>
                <a:tc>
                  <a:txBody>
                    <a:bodyPr/>
                    <a:lstStyle/>
                    <a:p>
                      <a:r>
                        <a:rPr sz="1400" b="1">
                          <a:solidFill>
                            <a:srgbClr val="FFFFFF"/>
                          </a:solidFill>
                          <a:latin typeface="Segoe UI"/>
                        </a:rPr>
                        <a:t>Macro-F1</a:t>
                      </a:r>
                    </a:p>
                  </a:txBody>
                  <a:tcPr marL="64008" marR="64008" marT="18288" marB="18288" anchor="ctr">
                    <a:solidFill>
                      <a:srgbClr val="1F3B5C"/>
                    </a:solidFill>
                  </a:tcPr>
                </a:tc>
                <a:tc>
                  <a:txBody>
                    <a:bodyPr/>
                    <a:lstStyle/>
                    <a:p>
                      <a:r>
                        <a:rPr sz="1400" b="1">
                          <a:solidFill>
                            <a:srgbClr val="FFFFFF"/>
                          </a:solidFill>
                          <a:latin typeface="Segoe UI"/>
                        </a:rPr>
                        <a:t>Kappa</a:t>
                      </a:r>
                    </a:p>
                  </a:txBody>
                  <a:tcPr marL="64008" marR="64008" marT="18288" marB="18288" anchor="ctr">
                    <a:solidFill>
                      <a:srgbClr val="1F3B5C"/>
                    </a:solidFill>
                  </a:tcPr>
                </a:tc>
                <a:tc>
                  <a:txBody>
                    <a:bodyPr/>
                    <a:lstStyle/>
                    <a:p>
                      <a:r>
                        <a:rPr lang="en-US" sz="1400" b="1">
                          <a:solidFill>
                            <a:srgbClr val="FFFFFF"/>
                          </a:solidFill>
                          <a:latin typeface="Segoe UI"/>
                        </a:rPr>
                        <a:t>CGPA diagnostic acc.</a:t>
                      </a:r>
                      <a:endParaRPr sz="1400" b="1">
                        <a:solidFill>
                          <a:srgbClr val="FFFFFF"/>
                        </a:solidFill>
                        <a:latin typeface="Segoe UI"/>
                      </a:endParaRPr>
                    </a:p>
                  </a:txBody>
                  <a:tcPr marL="64008" marR="64008" marT="18288" marB="18288" anchor="ctr">
                    <a:solidFill>
                      <a:srgbClr val="1F3B5C"/>
                    </a:solidFill>
                  </a:tcPr>
                </a:tc>
                <a:tc>
                  <a:txBody>
                    <a:bodyPr/>
                    <a:lstStyle/>
                    <a:p>
                      <a:r>
                        <a:rPr sz="1400" b="1">
                          <a:solidFill>
                            <a:srgbClr val="FFFFFF"/>
                          </a:solidFill>
                          <a:latin typeface="Segoe UI"/>
                        </a:rPr>
                        <a:t>Macro-F1</a:t>
                      </a:r>
                    </a:p>
                  </a:txBody>
                  <a:tcPr marL="64008" marR="64008" marT="18288" marB="18288" anchor="ctr">
                    <a:solidFill>
                      <a:srgbClr val="1F3B5C"/>
                    </a:solidFill>
                  </a:tcPr>
                </a:tc>
                <a:tc>
                  <a:txBody>
                    <a:bodyPr/>
                    <a:lstStyle/>
                    <a:p>
                      <a:r>
                        <a:rPr sz="1400" b="1">
                          <a:solidFill>
                            <a:srgbClr val="FFFFFF"/>
                          </a:solidFill>
                          <a:latin typeface="Segoe UI"/>
                        </a:rPr>
                        <a:t>Kappa</a:t>
                      </a:r>
                    </a:p>
                  </a:txBody>
                  <a:tcPr marL="64008" marR="64008" marT="18288" marB="18288" anchor="ctr">
                    <a:solidFill>
                      <a:srgbClr val="1F3B5C"/>
                    </a:solidFill>
                  </a:tcPr>
                </a:tc>
                <a:extLst>
                  <a:ext uri="{0D108BD9-81ED-4DB2-BD59-A6C34878D82A}">
                    <a16:rowId xmlns:a16="http://schemas.microsoft.com/office/drawing/2014/main" val="10000"/>
                  </a:ext>
                </a:extLst>
              </a:tr>
              <a:tr h="420624">
                <a:tc>
                  <a:txBody>
                    <a:bodyPr/>
                    <a:lstStyle/>
                    <a:p>
                      <a:r>
                        <a:rPr sz="1400" b="0">
                          <a:solidFill>
                            <a:srgbClr val="0B0B0B"/>
                          </a:solidFill>
                          <a:latin typeface="Segoe UI"/>
                        </a:rPr>
                        <a:t>ZeroR (baseline)</a:t>
                      </a:r>
                    </a:p>
                  </a:txBody>
                  <a:tcPr marL="64008" marR="64008" marT="18288" marB="18288" anchor="ctr">
                    <a:solidFill>
                      <a:srgbClr val="FFFFFF"/>
                    </a:solidFill>
                  </a:tcPr>
                </a:tc>
                <a:tc>
                  <a:txBody>
                    <a:bodyPr/>
                    <a:lstStyle/>
                    <a:p>
                      <a:r>
                        <a:rPr sz="1400" b="0">
                          <a:solidFill>
                            <a:srgbClr val="0B0B0B"/>
                          </a:solidFill>
                          <a:latin typeface="Segoe UI"/>
                        </a:rPr>
                        <a:t>29.0%</a:t>
                      </a:r>
                    </a:p>
                  </a:txBody>
                  <a:tcPr marL="64008" marR="64008" marT="18288" marB="18288" anchor="ctr">
                    <a:solidFill>
                      <a:srgbClr val="FFFFFF"/>
                    </a:solidFill>
                  </a:tcPr>
                </a:tc>
                <a:tc>
                  <a:txBody>
                    <a:bodyPr/>
                    <a:lstStyle/>
                    <a:p>
                      <a:r>
                        <a:rPr sz="1400" b="0">
                          <a:solidFill>
                            <a:srgbClr val="0B0B0B"/>
                          </a:solidFill>
                          <a:latin typeface="Segoe UI"/>
                        </a:rPr>
                        <a:t>0.112</a:t>
                      </a:r>
                    </a:p>
                  </a:txBody>
                  <a:tcPr marL="64008" marR="64008" marT="18288" marB="18288" anchor="ctr">
                    <a:solidFill>
                      <a:srgbClr val="FFFFFF"/>
                    </a:solidFill>
                  </a:tcPr>
                </a:tc>
                <a:tc>
                  <a:txBody>
                    <a:bodyPr/>
                    <a:lstStyle/>
                    <a:p>
                      <a:r>
                        <a:rPr sz="1400" b="0">
                          <a:solidFill>
                            <a:srgbClr val="0B0B0B"/>
                          </a:solidFill>
                          <a:latin typeface="Segoe UI"/>
                        </a:rPr>
                        <a:t>0.000</a:t>
                      </a:r>
                    </a:p>
                  </a:txBody>
                  <a:tcPr marL="64008" marR="64008" marT="18288" marB="18288" anchor="ctr">
                    <a:solidFill>
                      <a:srgbClr val="FFFFFF"/>
                    </a:solidFill>
                  </a:tcPr>
                </a:tc>
                <a:tc>
                  <a:txBody>
                    <a:bodyPr/>
                    <a:lstStyle/>
                    <a:p>
                      <a:r>
                        <a:rPr sz="1400" b="0">
                          <a:solidFill>
                            <a:srgbClr val="0B0B0B"/>
                          </a:solidFill>
                          <a:latin typeface="Segoe UI"/>
                        </a:rPr>
                        <a:t>29.0%</a:t>
                      </a:r>
                    </a:p>
                  </a:txBody>
                  <a:tcPr marL="64008" marR="64008" marT="18288" marB="18288" anchor="ctr">
                    <a:solidFill>
                      <a:srgbClr val="FFFFFF"/>
                    </a:solidFill>
                  </a:tcPr>
                </a:tc>
                <a:tc>
                  <a:txBody>
                    <a:bodyPr/>
                    <a:lstStyle/>
                    <a:p>
                      <a:r>
                        <a:rPr sz="1400" b="0">
                          <a:solidFill>
                            <a:srgbClr val="0B0B0B"/>
                          </a:solidFill>
                          <a:latin typeface="Segoe UI"/>
                        </a:rPr>
                        <a:t>0.112</a:t>
                      </a:r>
                    </a:p>
                  </a:txBody>
                  <a:tcPr marL="64008" marR="64008" marT="18288" marB="18288" anchor="ctr">
                    <a:solidFill>
                      <a:srgbClr val="FFFFFF"/>
                    </a:solidFill>
                  </a:tcPr>
                </a:tc>
                <a:tc>
                  <a:txBody>
                    <a:bodyPr/>
                    <a:lstStyle/>
                    <a:p>
                      <a:r>
                        <a:rPr sz="1400" b="0">
                          <a:solidFill>
                            <a:srgbClr val="0B0B0B"/>
                          </a:solidFill>
                          <a:latin typeface="Segoe UI"/>
                        </a:rPr>
                        <a:t>0.000</a:t>
                      </a:r>
                    </a:p>
                  </a:txBody>
                  <a:tcPr marL="64008" marR="64008" marT="18288" marB="18288" anchor="ctr">
                    <a:solidFill>
                      <a:srgbClr val="FFFFFF"/>
                    </a:solidFill>
                  </a:tcPr>
                </a:tc>
                <a:extLst>
                  <a:ext uri="{0D108BD9-81ED-4DB2-BD59-A6C34878D82A}">
                    <a16:rowId xmlns:a16="http://schemas.microsoft.com/office/drawing/2014/main" val="10001"/>
                  </a:ext>
                </a:extLst>
              </a:tr>
              <a:tr h="420624">
                <a:tc>
                  <a:txBody>
                    <a:bodyPr/>
                    <a:lstStyle/>
                    <a:p>
                      <a:r>
                        <a:rPr sz="1400" b="0">
                          <a:solidFill>
                            <a:srgbClr val="0B0B0B"/>
                          </a:solidFill>
                          <a:latin typeface="Segoe UI"/>
                        </a:rPr>
                        <a:t>OneR-like (depth-1 tree)</a:t>
                      </a:r>
                    </a:p>
                  </a:txBody>
                  <a:tcPr marL="64008" marR="64008" marT="18288" marB="18288" anchor="ctr">
                    <a:solidFill>
                      <a:srgbClr val="F7F8FA"/>
                    </a:solidFill>
                  </a:tcPr>
                </a:tc>
                <a:tc>
                  <a:txBody>
                    <a:bodyPr/>
                    <a:lstStyle/>
                    <a:p>
                      <a:r>
                        <a:rPr sz="1400" b="0">
                          <a:solidFill>
                            <a:srgbClr val="0B0B0B"/>
                          </a:solidFill>
                          <a:latin typeface="Segoe UI"/>
                        </a:rPr>
                        <a:t>34.5%</a:t>
                      </a:r>
                    </a:p>
                  </a:txBody>
                  <a:tcPr marL="64008" marR="64008" marT="18288" marB="18288" anchor="ctr">
                    <a:solidFill>
                      <a:srgbClr val="F7F8FA"/>
                    </a:solidFill>
                  </a:tcPr>
                </a:tc>
                <a:tc>
                  <a:txBody>
                    <a:bodyPr/>
                    <a:lstStyle/>
                    <a:p>
                      <a:r>
                        <a:rPr sz="1400" b="0">
                          <a:solidFill>
                            <a:srgbClr val="0B0B0B"/>
                          </a:solidFill>
                          <a:latin typeface="Segoe UI"/>
                        </a:rPr>
                        <a:t>0.263</a:t>
                      </a:r>
                    </a:p>
                  </a:txBody>
                  <a:tcPr marL="64008" marR="64008" marT="18288" marB="18288" anchor="ctr">
                    <a:solidFill>
                      <a:srgbClr val="F7F8FA"/>
                    </a:solidFill>
                  </a:tcPr>
                </a:tc>
                <a:tc>
                  <a:txBody>
                    <a:bodyPr/>
                    <a:lstStyle/>
                    <a:p>
                      <a:r>
                        <a:rPr sz="1400" b="0">
                          <a:solidFill>
                            <a:srgbClr val="0B0B0B"/>
                          </a:solidFill>
                          <a:latin typeface="Segoe UI"/>
                        </a:rPr>
                        <a:t>0.083</a:t>
                      </a:r>
                    </a:p>
                  </a:txBody>
                  <a:tcPr marL="64008" marR="64008" marT="18288" marB="18288" anchor="ctr">
                    <a:solidFill>
                      <a:srgbClr val="F7F8FA"/>
                    </a:solidFill>
                  </a:tcPr>
                </a:tc>
                <a:tc>
                  <a:txBody>
                    <a:bodyPr/>
                    <a:lstStyle/>
                    <a:p>
                      <a:r>
                        <a:rPr sz="1400" b="0">
                          <a:solidFill>
                            <a:srgbClr val="0B0B0B"/>
                          </a:solidFill>
                          <a:latin typeface="Segoe UI"/>
                        </a:rPr>
                        <a:t>28.2%</a:t>
                      </a:r>
                    </a:p>
                  </a:txBody>
                  <a:tcPr marL="64008" marR="64008" marT="18288" marB="18288" anchor="ctr">
                    <a:solidFill>
                      <a:srgbClr val="F7F8FA"/>
                    </a:solidFill>
                  </a:tcPr>
                </a:tc>
                <a:tc>
                  <a:txBody>
                    <a:bodyPr/>
                    <a:lstStyle/>
                    <a:p>
                      <a:r>
                        <a:rPr sz="1400" b="0">
                          <a:solidFill>
                            <a:srgbClr val="0B0B0B"/>
                          </a:solidFill>
                          <a:latin typeface="Segoe UI"/>
                        </a:rPr>
                        <a:t>0.180</a:t>
                      </a:r>
                    </a:p>
                  </a:txBody>
                  <a:tcPr marL="64008" marR="64008" marT="18288" marB="18288" anchor="ctr">
                    <a:solidFill>
                      <a:srgbClr val="F7F8FA"/>
                    </a:solidFill>
                  </a:tcPr>
                </a:tc>
                <a:tc>
                  <a:txBody>
                    <a:bodyPr/>
                    <a:lstStyle/>
                    <a:p>
                      <a:r>
                        <a:rPr sz="1400" b="0">
                          <a:solidFill>
                            <a:srgbClr val="0B0B0B"/>
                          </a:solidFill>
                          <a:latin typeface="Segoe UI"/>
                        </a:rPr>
                        <a:t>0.027</a:t>
                      </a:r>
                    </a:p>
                  </a:txBody>
                  <a:tcPr marL="64008" marR="64008" marT="18288" marB="18288" anchor="ctr">
                    <a:solidFill>
                      <a:srgbClr val="F7F8FA"/>
                    </a:solidFill>
                  </a:tcPr>
                </a:tc>
                <a:extLst>
                  <a:ext uri="{0D108BD9-81ED-4DB2-BD59-A6C34878D82A}">
                    <a16:rowId xmlns:a16="http://schemas.microsoft.com/office/drawing/2014/main" val="10002"/>
                  </a:ext>
                </a:extLst>
              </a:tr>
              <a:tr h="420624">
                <a:tc>
                  <a:txBody>
                    <a:bodyPr/>
                    <a:lstStyle/>
                    <a:p>
                      <a:r>
                        <a:rPr sz="1400" b="0">
                          <a:solidFill>
                            <a:srgbClr val="0B0B0B"/>
                          </a:solidFill>
                          <a:latin typeface="Segoe UI"/>
                        </a:rPr>
                        <a:t>Naive Bayes</a:t>
                      </a:r>
                    </a:p>
                  </a:txBody>
                  <a:tcPr marL="64008" marR="64008" marT="18288" marB="18288" anchor="ctr">
                    <a:solidFill>
                      <a:srgbClr val="FFFFFF"/>
                    </a:solidFill>
                  </a:tcPr>
                </a:tc>
                <a:tc>
                  <a:txBody>
                    <a:bodyPr/>
                    <a:lstStyle/>
                    <a:p>
                      <a:r>
                        <a:rPr sz="1400" b="0">
                          <a:solidFill>
                            <a:srgbClr val="0B0B0B"/>
                          </a:solidFill>
                          <a:latin typeface="Segoe UI"/>
                        </a:rPr>
                        <a:t>24.5%</a:t>
                      </a:r>
                    </a:p>
                  </a:txBody>
                  <a:tcPr marL="64008" marR="64008" marT="18288" marB="18288" anchor="ctr">
                    <a:solidFill>
                      <a:srgbClr val="FFFFFF"/>
                    </a:solidFill>
                  </a:tcPr>
                </a:tc>
                <a:tc>
                  <a:txBody>
                    <a:bodyPr/>
                    <a:lstStyle/>
                    <a:p>
                      <a:r>
                        <a:rPr sz="1400" b="0">
                          <a:solidFill>
                            <a:srgbClr val="0B0B0B"/>
                          </a:solidFill>
                          <a:latin typeface="Segoe UI"/>
                        </a:rPr>
                        <a:t>0.215</a:t>
                      </a:r>
                    </a:p>
                  </a:txBody>
                  <a:tcPr marL="64008" marR="64008" marT="18288" marB="18288" anchor="ctr">
                    <a:solidFill>
                      <a:srgbClr val="FFFFFF"/>
                    </a:solidFill>
                  </a:tcPr>
                </a:tc>
                <a:tc>
                  <a:txBody>
                    <a:bodyPr/>
                    <a:lstStyle/>
                    <a:p>
                      <a:r>
                        <a:rPr sz="1400" b="0">
                          <a:solidFill>
                            <a:srgbClr val="0B0B0B"/>
                          </a:solidFill>
                          <a:latin typeface="Segoe UI"/>
                        </a:rPr>
                        <a:t>0.049</a:t>
                      </a:r>
                    </a:p>
                  </a:txBody>
                  <a:tcPr marL="64008" marR="64008" marT="18288" marB="18288" anchor="ctr">
                    <a:solidFill>
                      <a:srgbClr val="FFFFFF"/>
                    </a:solidFill>
                  </a:tcPr>
                </a:tc>
                <a:tc>
                  <a:txBody>
                    <a:bodyPr/>
                    <a:lstStyle/>
                    <a:p>
                      <a:r>
                        <a:rPr sz="1400" b="0">
                          <a:solidFill>
                            <a:srgbClr val="0B0B0B"/>
                          </a:solidFill>
                          <a:latin typeface="Segoe UI"/>
                        </a:rPr>
                        <a:t>23.8%</a:t>
                      </a:r>
                    </a:p>
                  </a:txBody>
                  <a:tcPr marL="64008" marR="64008" marT="18288" marB="18288" anchor="ctr">
                    <a:solidFill>
                      <a:srgbClr val="FFFFFF"/>
                    </a:solidFill>
                  </a:tcPr>
                </a:tc>
                <a:tc>
                  <a:txBody>
                    <a:bodyPr/>
                    <a:lstStyle/>
                    <a:p>
                      <a:r>
                        <a:rPr sz="1400" b="0">
                          <a:solidFill>
                            <a:srgbClr val="0B0B0B"/>
                          </a:solidFill>
                          <a:latin typeface="Segoe UI"/>
                        </a:rPr>
                        <a:t>0.201</a:t>
                      </a:r>
                    </a:p>
                  </a:txBody>
                  <a:tcPr marL="64008" marR="64008" marT="18288" marB="18288" anchor="ctr">
                    <a:solidFill>
                      <a:srgbClr val="FFFFFF"/>
                    </a:solidFill>
                  </a:tcPr>
                </a:tc>
                <a:tc>
                  <a:txBody>
                    <a:bodyPr/>
                    <a:lstStyle/>
                    <a:p>
                      <a:r>
                        <a:rPr sz="1400" b="0">
                          <a:solidFill>
                            <a:srgbClr val="0B0B0B"/>
                          </a:solidFill>
                          <a:latin typeface="Segoe UI"/>
                        </a:rPr>
                        <a:t>0.033</a:t>
                      </a:r>
                    </a:p>
                  </a:txBody>
                  <a:tcPr marL="64008" marR="64008" marT="18288" marB="18288" anchor="ctr">
                    <a:solidFill>
                      <a:srgbClr val="FFFFFF"/>
                    </a:solidFill>
                  </a:tcPr>
                </a:tc>
                <a:extLst>
                  <a:ext uri="{0D108BD9-81ED-4DB2-BD59-A6C34878D82A}">
                    <a16:rowId xmlns:a16="http://schemas.microsoft.com/office/drawing/2014/main" val="10003"/>
                  </a:ext>
                </a:extLst>
              </a:tr>
              <a:tr h="420624">
                <a:tc>
                  <a:txBody>
                    <a:bodyPr/>
                    <a:lstStyle/>
                    <a:p>
                      <a:r>
                        <a:rPr sz="1400" b="0">
                          <a:solidFill>
                            <a:srgbClr val="0B0B0B"/>
                          </a:solidFill>
                          <a:latin typeface="Segoe UI"/>
                        </a:rPr>
                        <a:t>Logistic Regression</a:t>
                      </a:r>
                    </a:p>
                  </a:txBody>
                  <a:tcPr marL="64008" marR="64008" marT="18288" marB="18288" anchor="ctr">
                    <a:solidFill>
                      <a:srgbClr val="F7F8FA"/>
                    </a:solidFill>
                  </a:tcPr>
                </a:tc>
                <a:tc>
                  <a:txBody>
                    <a:bodyPr/>
                    <a:lstStyle/>
                    <a:p>
                      <a:r>
                        <a:rPr sz="1400" b="0">
                          <a:solidFill>
                            <a:srgbClr val="0B0B0B"/>
                          </a:solidFill>
                          <a:latin typeface="Segoe UI"/>
                        </a:rPr>
                        <a:t>35.8%</a:t>
                      </a:r>
                    </a:p>
                  </a:txBody>
                  <a:tcPr marL="64008" marR="64008" marT="18288" marB="18288" anchor="ctr">
                    <a:solidFill>
                      <a:srgbClr val="F7F8FA"/>
                    </a:solidFill>
                  </a:tcPr>
                </a:tc>
                <a:tc>
                  <a:txBody>
                    <a:bodyPr/>
                    <a:lstStyle/>
                    <a:p>
                      <a:r>
                        <a:rPr sz="1400" b="0">
                          <a:solidFill>
                            <a:srgbClr val="0B0B0B"/>
                          </a:solidFill>
                          <a:latin typeface="Segoe UI"/>
                        </a:rPr>
                        <a:t>0.349</a:t>
                      </a:r>
                    </a:p>
                  </a:txBody>
                  <a:tcPr marL="64008" marR="64008" marT="18288" marB="18288" anchor="ctr">
                    <a:solidFill>
                      <a:srgbClr val="F7F8FA"/>
                    </a:solidFill>
                  </a:tcPr>
                </a:tc>
                <a:tc>
                  <a:txBody>
                    <a:bodyPr/>
                    <a:lstStyle/>
                    <a:p>
                      <a:r>
                        <a:rPr sz="1400" b="0">
                          <a:solidFill>
                            <a:srgbClr val="0B0B0B"/>
                          </a:solidFill>
                          <a:latin typeface="Segoe UI"/>
                        </a:rPr>
                        <a:t>0.128</a:t>
                      </a:r>
                    </a:p>
                  </a:txBody>
                  <a:tcPr marL="64008" marR="64008" marT="18288" marB="18288" anchor="ctr">
                    <a:solidFill>
                      <a:srgbClr val="F7F8FA"/>
                    </a:solidFill>
                  </a:tcPr>
                </a:tc>
                <a:tc>
                  <a:txBody>
                    <a:bodyPr/>
                    <a:lstStyle/>
                    <a:p>
                      <a:r>
                        <a:rPr sz="1400" b="0">
                          <a:solidFill>
                            <a:srgbClr val="0B0B0B"/>
                          </a:solidFill>
                          <a:latin typeface="Segoe UI"/>
                        </a:rPr>
                        <a:t>29.1%</a:t>
                      </a:r>
                    </a:p>
                  </a:txBody>
                  <a:tcPr marL="64008" marR="64008" marT="18288" marB="18288" anchor="ctr">
                    <a:solidFill>
                      <a:srgbClr val="F7F8FA"/>
                    </a:solidFill>
                  </a:tcPr>
                </a:tc>
                <a:tc>
                  <a:txBody>
                    <a:bodyPr/>
                    <a:lstStyle/>
                    <a:p>
                      <a:r>
                        <a:rPr sz="1400" b="0">
                          <a:solidFill>
                            <a:srgbClr val="0B0B0B"/>
                          </a:solidFill>
                          <a:latin typeface="Segoe UI"/>
                        </a:rPr>
                        <a:t>0.272</a:t>
                      </a:r>
                    </a:p>
                  </a:txBody>
                  <a:tcPr marL="64008" marR="64008" marT="18288" marB="18288" anchor="ctr">
                    <a:solidFill>
                      <a:srgbClr val="F7F8FA"/>
                    </a:solidFill>
                  </a:tcPr>
                </a:tc>
                <a:tc>
                  <a:txBody>
                    <a:bodyPr/>
                    <a:lstStyle/>
                    <a:p>
                      <a:r>
                        <a:rPr sz="1400" b="0">
                          <a:solidFill>
                            <a:srgbClr val="0B0B0B"/>
                          </a:solidFill>
                          <a:latin typeface="Segoe UI"/>
                        </a:rPr>
                        <a:t>0.025</a:t>
                      </a:r>
                    </a:p>
                  </a:txBody>
                  <a:tcPr marL="64008" marR="64008" marT="18288" marB="18288" anchor="ctr">
                    <a:solidFill>
                      <a:srgbClr val="F7F8FA"/>
                    </a:solidFill>
                  </a:tcPr>
                </a:tc>
                <a:extLst>
                  <a:ext uri="{0D108BD9-81ED-4DB2-BD59-A6C34878D82A}">
                    <a16:rowId xmlns:a16="http://schemas.microsoft.com/office/drawing/2014/main" val="10004"/>
                  </a:ext>
                </a:extLst>
              </a:tr>
              <a:tr h="420624">
                <a:tc>
                  <a:txBody>
                    <a:bodyPr/>
                    <a:lstStyle/>
                    <a:p>
                      <a:r>
                        <a:rPr sz="1400" b="0">
                          <a:solidFill>
                            <a:srgbClr val="0B0B0B"/>
                          </a:solidFill>
                          <a:latin typeface="Segoe UI"/>
                        </a:rPr>
                        <a:t>k-NN (k=25)</a:t>
                      </a:r>
                    </a:p>
                  </a:txBody>
                  <a:tcPr marL="64008" marR="64008" marT="18288" marB="18288" anchor="ctr">
                    <a:solidFill>
                      <a:srgbClr val="FFFFFF"/>
                    </a:solidFill>
                  </a:tcPr>
                </a:tc>
                <a:tc>
                  <a:txBody>
                    <a:bodyPr/>
                    <a:lstStyle/>
                    <a:p>
                      <a:r>
                        <a:rPr sz="1400" b="0">
                          <a:solidFill>
                            <a:srgbClr val="0B0B0B"/>
                          </a:solidFill>
                          <a:latin typeface="Segoe UI"/>
                        </a:rPr>
                        <a:t>35.8%</a:t>
                      </a:r>
                    </a:p>
                  </a:txBody>
                  <a:tcPr marL="64008" marR="64008" marT="18288" marB="18288" anchor="ctr">
                    <a:solidFill>
                      <a:srgbClr val="FFFFFF"/>
                    </a:solidFill>
                  </a:tcPr>
                </a:tc>
                <a:tc>
                  <a:txBody>
                    <a:bodyPr/>
                    <a:lstStyle/>
                    <a:p>
                      <a:r>
                        <a:rPr sz="1400" b="0">
                          <a:solidFill>
                            <a:srgbClr val="0B0B0B"/>
                          </a:solidFill>
                          <a:latin typeface="Segoe UI"/>
                        </a:rPr>
                        <a:t>0.302</a:t>
                      </a:r>
                    </a:p>
                  </a:txBody>
                  <a:tcPr marL="64008" marR="64008" marT="18288" marB="18288" anchor="ctr">
                    <a:solidFill>
                      <a:srgbClr val="FFFFFF"/>
                    </a:solidFill>
                  </a:tcPr>
                </a:tc>
                <a:tc>
                  <a:txBody>
                    <a:bodyPr/>
                    <a:lstStyle/>
                    <a:p>
                      <a:r>
                        <a:rPr sz="1400" b="0">
                          <a:solidFill>
                            <a:srgbClr val="0B0B0B"/>
                          </a:solidFill>
                          <a:latin typeface="Segoe UI"/>
                        </a:rPr>
                        <a:t>0.109</a:t>
                      </a:r>
                    </a:p>
                  </a:txBody>
                  <a:tcPr marL="64008" marR="64008" marT="18288" marB="18288" anchor="ctr">
                    <a:solidFill>
                      <a:srgbClr val="FFFFFF"/>
                    </a:solidFill>
                  </a:tcPr>
                </a:tc>
                <a:tc>
                  <a:txBody>
                    <a:bodyPr/>
                    <a:lstStyle/>
                    <a:p>
                      <a:r>
                        <a:rPr sz="1400" b="0">
                          <a:solidFill>
                            <a:srgbClr val="0B0B0B"/>
                          </a:solidFill>
                          <a:latin typeface="Segoe UI"/>
                        </a:rPr>
                        <a:t>29.9%</a:t>
                      </a:r>
                    </a:p>
                  </a:txBody>
                  <a:tcPr marL="64008" marR="64008" marT="18288" marB="18288" anchor="ctr">
                    <a:solidFill>
                      <a:srgbClr val="FFFFFF"/>
                    </a:solidFill>
                  </a:tcPr>
                </a:tc>
                <a:tc>
                  <a:txBody>
                    <a:bodyPr/>
                    <a:lstStyle/>
                    <a:p>
                      <a:r>
                        <a:rPr sz="1400" b="0">
                          <a:solidFill>
                            <a:srgbClr val="0B0B0B"/>
                          </a:solidFill>
                          <a:latin typeface="Segoe UI"/>
                        </a:rPr>
                        <a:t>0.242</a:t>
                      </a:r>
                    </a:p>
                  </a:txBody>
                  <a:tcPr marL="64008" marR="64008" marT="18288" marB="18288" anchor="ctr">
                    <a:solidFill>
                      <a:srgbClr val="FFFFFF"/>
                    </a:solidFill>
                  </a:tcPr>
                </a:tc>
                <a:tc>
                  <a:txBody>
                    <a:bodyPr/>
                    <a:lstStyle/>
                    <a:p>
                      <a:r>
                        <a:rPr sz="1400" b="0">
                          <a:solidFill>
                            <a:srgbClr val="0B0B0B"/>
                          </a:solidFill>
                          <a:latin typeface="Segoe UI"/>
                        </a:rPr>
                        <a:t>0.035</a:t>
                      </a:r>
                    </a:p>
                  </a:txBody>
                  <a:tcPr marL="64008" marR="64008" marT="18288" marB="18288" anchor="ctr">
                    <a:solidFill>
                      <a:srgbClr val="FFFFFF"/>
                    </a:solidFill>
                  </a:tcPr>
                </a:tc>
                <a:extLst>
                  <a:ext uri="{0D108BD9-81ED-4DB2-BD59-A6C34878D82A}">
                    <a16:rowId xmlns:a16="http://schemas.microsoft.com/office/drawing/2014/main" val="10005"/>
                  </a:ext>
                </a:extLst>
              </a:tr>
              <a:tr h="420624">
                <a:tc>
                  <a:txBody>
                    <a:bodyPr/>
                    <a:lstStyle/>
                    <a:p>
                      <a:r>
                        <a:rPr sz="1400" b="0">
                          <a:solidFill>
                            <a:srgbClr val="0B0B0B"/>
                          </a:solidFill>
                          <a:latin typeface="Segoe UI"/>
                        </a:rPr>
                        <a:t>Decision Tree (J48-like)</a:t>
                      </a:r>
                    </a:p>
                  </a:txBody>
                  <a:tcPr marL="64008" marR="64008" marT="18288" marB="18288" anchor="ctr">
                    <a:solidFill>
                      <a:srgbClr val="F7F8FA"/>
                    </a:solidFill>
                  </a:tcPr>
                </a:tc>
                <a:tc>
                  <a:txBody>
                    <a:bodyPr/>
                    <a:lstStyle/>
                    <a:p>
                      <a:r>
                        <a:rPr sz="1400" b="0">
                          <a:solidFill>
                            <a:srgbClr val="0B0B0B"/>
                          </a:solidFill>
                          <a:latin typeface="Segoe UI"/>
                        </a:rPr>
                        <a:t>43.3%</a:t>
                      </a:r>
                    </a:p>
                  </a:txBody>
                  <a:tcPr marL="64008" marR="64008" marT="18288" marB="18288" anchor="ctr">
                    <a:solidFill>
                      <a:srgbClr val="F7F8FA"/>
                    </a:solidFill>
                  </a:tcPr>
                </a:tc>
                <a:tc>
                  <a:txBody>
                    <a:bodyPr/>
                    <a:lstStyle/>
                    <a:p>
                      <a:r>
                        <a:rPr sz="1400" b="0">
                          <a:solidFill>
                            <a:srgbClr val="0B0B0B"/>
                          </a:solidFill>
                          <a:latin typeface="Segoe UI"/>
                        </a:rPr>
                        <a:t>0.427</a:t>
                      </a:r>
                    </a:p>
                  </a:txBody>
                  <a:tcPr marL="64008" marR="64008" marT="18288" marB="18288" anchor="ctr">
                    <a:solidFill>
                      <a:srgbClr val="F7F8FA"/>
                    </a:solidFill>
                  </a:tcPr>
                </a:tc>
                <a:tc>
                  <a:txBody>
                    <a:bodyPr/>
                    <a:lstStyle/>
                    <a:p>
                      <a:r>
                        <a:rPr sz="1400" b="0">
                          <a:solidFill>
                            <a:srgbClr val="0B0B0B"/>
                          </a:solidFill>
                          <a:latin typeface="Segoe UI"/>
                        </a:rPr>
                        <a:t>0.234</a:t>
                      </a:r>
                    </a:p>
                  </a:txBody>
                  <a:tcPr marL="64008" marR="64008" marT="18288" marB="18288" anchor="ctr">
                    <a:solidFill>
                      <a:srgbClr val="F7F8FA"/>
                    </a:solidFill>
                  </a:tcPr>
                </a:tc>
                <a:tc>
                  <a:txBody>
                    <a:bodyPr/>
                    <a:lstStyle/>
                    <a:p>
                      <a:r>
                        <a:rPr sz="1400" b="0">
                          <a:solidFill>
                            <a:srgbClr val="0B0B0B"/>
                          </a:solidFill>
                          <a:latin typeface="Segoe UI"/>
                        </a:rPr>
                        <a:t>26.6%</a:t>
                      </a:r>
                    </a:p>
                  </a:txBody>
                  <a:tcPr marL="64008" marR="64008" marT="18288" marB="18288" anchor="ctr">
                    <a:solidFill>
                      <a:srgbClr val="F7F8FA"/>
                    </a:solidFill>
                  </a:tcPr>
                </a:tc>
                <a:tc>
                  <a:txBody>
                    <a:bodyPr/>
                    <a:lstStyle/>
                    <a:p>
                      <a:r>
                        <a:rPr sz="1400" b="0">
                          <a:solidFill>
                            <a:srgbClr val="0B0B0B"/>
                          </a:solidFill>
                          <a:latin typeface="Segoe UI"/>
                        </a:rPr>
                        <a:t>0.264</a:t>
                      </a:r>
                    </a:p>
                  </a:txBody>
                  <a:tcPr marL="64008" marR="64008" marT="18288" marB="18288" anchor="ctr">
                    <a:solidFill>
                      <a:srgbClr val="F7F8FA"/>
                    </a:solidFill>
                  </a:tcPr>
                </a:tc>
                <a:tc>
                  <a:txBody>
                    <a:bodyPr/>
                    <a:lstStyle/>
                    <a:p>
                      <a:r>
                        <a:rPr sz="1400" b="0">
                          <a:solidFill>
                            <a:srgbClr val="0B0B0B"/>
                          </a:solidFill>
                          <a:latin typeface="Segoe UI"/>
                        </a:rPr>
                        <a:t>0.026</a:t>
                      </a:r>
                    </a:p>
                  </a:txBody>
                  <a:tcPr marL="64008" marR="64008" marT="18288" marB="18288" anchor="ctr">
                    <a:solidFill>
                      <a:srgbClr val="F7F8FA"/>
                    </a:solidFill>
                  </a:tcPr>
                </a:tc>
                <a:extLst>
                  <a:ext uri="{0D108BD9-81ED-4DB2-BD59-A6C34878D82A}">
                    <a16:rowId xmlns:a16="http://schemas.microsoft.com/office/drawing/2014/main" val="10006"/>
                  </a:ext>
                </a:extLst>
              </a:tr>
              <a:tr h="420624">
                <a:tc>
                  <a:txBody>
                    <a:bodyPr/>
                    <a:lstStyle/>
                    <a:p>
                      <a:r>
                        <a:rPr sz="1400" b="0">
                          <a:solidFill>
                            <a:srgbClr val="0B0B0B"/>
                          </a:solidFill>
                          <a:latin typeface="Segoe UI"/>
                        </a:rPr>
                        <a:t>Random Forest</a:t>
                      </a:r>
                    </a:p>
                  </a:txBody>
                  <a:tcPr marL="64008" marR="64008" marT="18288" marB="18288" anchor="ctr">
                    <a:solidFill>
                      <a:srgbClr val="FFFFFF"/>
                    </a:solidFill>
                  </a:tcPr>
                </a:tc>
                <a:tc>
                  <a:txBody>
                    <a:bodyPr/>
                    <a:lstStyle/>
                    <a:p>
                      <a:r>
                        <a:rPr sz="1400" b="0">
                          <a:solidFill>
                            <a:srgbClr val="0B0B0B"/>
                          </a:solidFill>
                          <a:latin typeface="Segoe UI"/>
                        </a:rPr>
                        <a:t>43.6%</a:t>
                      </a:r>
                    </a:p>
                  </a:txBody>
                  <a:tcPr marL="64008" marR="64008" marT="18288" marB="18288" anchor="ctr">
                    <a:solidFill>
                      <a:srgbClr val="FFFFFF"/>
                    </a:solidFill>
                  </a:tcPr>
                </a:tc>
                <a:tc>
                  <a:txBody>
                    <a:bodyPr/>
                    <a:lstStyle/>
                    <a:p>
                      <a:r>
                        <a:rPr sz="1400" b="0">
                          <a:solidFill>
                            <a:srgbClr val="0B0B0B"/>
                          </a:solidFill>
                          <a:latin typeface="Segoe UI"/>
                        </a:rPr>
                        <a:t>0.426</a:t>
                      </a:r>
                    </a:p>
                  </a:txBody>
                  <a:tcPr marL="64008" marR="64008" marT="18288" marB="18288" anchor="ctr">
                    <a:solidFill>
                      <a:srgbClr val="FFFFFF"/>
                    </a:solidFill>
                  </a:tcPr>
                </a:tc>
                <a:tc>
                  <a:txBody>
                    <a:bodyPr/>
                    <a:lstStyle/>
                    <a:p>
                      <a:r>
                        <a:rPr sz="1400" b="0">
                          <a:solidFill>
                            <a:srgbClr val="0B0B0B"/>
                          </a:solidFill>
                          <a:latin typeface="Segoe UI"/>
                        </a:rPr>
                        <a:t>0.230</a:t>
                      </a:r>
                    </a:p>
                  </a:txBody>
                  <a:tcPr marL="64008" marR="64008" marT="18288" marB="18288" anchor="ctr">
                    <a:solidFill>
                      <a:srgbClr val="FFFFFF"/>
                    </a:solidFill>
                  </a:tcPr>
                </a:tc>
                <a:tc>
                  <a:txBody>
                    <a:bodyPr/>
                    <a:lstStyle/>
                    <a:p>
                      <a:r>
                        <a:rPr sz="1400" b="0">
                          <a:solidFill>
                            <a:srgbClr val="0B0B0B"/>
                          </a:solidFill>
                          <a:latin typeface="Segoe UI"/>
                        </a:rPr>
                        <a:t>31.0%</a:t>
                      </a:r>
                    </a:p>
                  </a:txBody>
                  <a:tcPr marL="64008" marR="64008" marT="18288" marB="18288" anchor="ctr">
                    <a:solidFill>
                      <a:srgbClr val="FFFFFF"/>
                    </a:solidFill>
                  </a:tcPr>
                </a:tc>
                <a:tc>
                  <a:txBody>
                    <a:bodyPr/>
                    <a:lstStyle/>
                    <a:p>
                      <a:r>
                        <a:rPr sz="1400" b="0">
                          <a:solidFill>
                            <a:srgbClr val="0B0B0B"/>
                          </a:solidFill>
                          <a:latin typeface="Segoe UI"/>
                        </a:rPr>
                        <a:t>0.279</a:t>
                      </a:r>
                    </a:p>
                  </a:txBody>
                  <a:tcPr marL="64008" marR="64008" marT="18288" marB="18288" anchor="ctr">
                    <a:solidFill>
                      <a:srgbClr val="FFFFFF"/>
                    </a:solidFill>
                  </a:tcPr>
                </a:tc>
                <a:tc>
                  <a:txBody>
                    <a:bodyPr/>
                    <a:lstStyle/>
                    <a:p>
                      <a:r>
                        <a:rPr sz="1400" b="0">
                          <a:solidFill>
                            <a:srgbClr val="0B0B0B"/>
                          </a:solidFill>
                          <a:latin typeface="Segoe UI"/>
                        </a:rPr>
                        <a:t>0.050</a:t>
                      </a:r>
                    </a:p>
                  </a:txBody>
                  <a:tcPr marL="64008" marR="64008" marT="18288" marB="18288" anchor="ctr">
                    <a:solidFill>
                      <a:srgbClr val="FFFFFF"/>
                    </a:solidFill>
                  </a:tcPr>
                </a:tc>
                <a:extLst>
                  <a:ext uri="{0D108BD9-81ED-4DB2-BD59-A6C34878D82A}">
                    <a16:rowId xmlns:a16="http://schemas.microsoft.com/office/drawing/2014/main" val="10007"/>
                  </a:ext>
                </a:extLst>
              </a:tr>
              <a:tr h="420624">
                <a:tc>
                  <a:txBody>
                    <a:bodyPr/>
                    <a:lstStyle/>
                    <a:p>
                      <a:r>
                        <a:rPr sz="1400" b="0">
                          <a:solidFill>
                            <a:srgbClr val="0B0B0B"/>
                          </a:solidFill>
                          <a:latin typeface="Segoe UI"/>
                        </a:rPr>
                        <a:t>Gradient Boosting</a:t>
                      </a:r>
                    </a:p>
                  </a:txBody>
                  <a:tcPr marL="64008" marR="64008" marT="18288" marB="18288" anchor="ctr">
                    <a:solidFill>
                      <a:srgbClr val="F7F8FA"/>
                    </a:solidFill>
                  </a:tcPr>
                </a:tc>
                <a:tc>
                  <a:txBody>
                    <a:bodyPr/>
                    <a:lstStyle/>
                    <a:p>
                      <a:r>
                        <a:rPr sz="1400" b="0">
                          <a:solidFill>
                            <a:srgbClr val="0B0B0B"/>
                          </a:solidFill>
                          <a:latin typeface="Segoe UI"/>
                        </a:rPr>
                        <a:t>43.4%</a:t>
                      </a:r>
                    </a:p>
                  </a:txBody>
                  <a:tcPr marL="64008" marR="64008" marT="18288" marB="18288" anchor="ctr">
                    <a:solidFill>
                      <a:srgbClr val="F7F8FA"/>
                    </a:solidFill>
                  </a:tcPr>
                </a:tc>
                <a:tc>
                  <a:txBody>
                    <a:bodyPr/>
                    <a:lstStyle/>
                    <a:p>
                      <a:r>
                        <a:rPr sz="1400" b="0">
                          <a:solidFill>
                            <a:srgbClr val="0B0B0B"/>
                          </a:solidFill>
                          <a:latin typeface="Segoe UI"/>
                        </a:rPr>
                        <a:t>0.432</a:t>
                      </a:r>
                    </a:p>
                  </a:txBody>
                  <a:tcPr marL="64008" marR="64008" marT="18288" marB="18288" anchor="ctr">
                    <a:solidFill>
                      <a:srgbClr val="F7F8FA"/>
                    </a:solidFill>
                  </a:tcPr>
                </a:tc>
                <a:tc>
                  <a:txBody>
                    <a:bodyPr/>
                    <a:lstStyle/>
                    <a:p>
                      <a:r>
                        <a:rPr sz="1400" b="0">
                          <a:solidFill>
                            <a:srgbClr val="0B0B0B"/>
                          </a:solidFill>
                          <a:latin typeface="Segoe UI"/>
                        </a:rPr>
                        <a:t>0.237</a:t>
                      </a:r>
                    </a:p>
                  </a:txBody>
                  <a:tcPr marL="64008" marR="64008" marT="18288" marB="18288" anchor="ctr">
                    <a:solidFill>
                      <a:srgbClr val="F7F8FA"/>
                    </a:solidFill>
                  </a:tcPr>
                </a:tc>
                <a:tc>
                  <a:txBody>
                    <a:bodyPr/>
                    <a:lstStyle/>
                    <a:p>
                      <a:r>
                        <a:rPr sz="1400" b="0">
                          <a:solidFill>
                            <a:srgbClr val="0B0B0B"/>
                          </a:solidFill>
                          <a:latin typeface="Segoe UI"/>
                        </a:rPr>
                        <a:t>28.0%</a:t>
                      </a:r>
                    </a:p>
                  </a:txBody>
                  <a:tcPr marL="64008" marR="64008" marT="18288" marB="18288" anchor="ctr">
                    <a:solidFill>
                      <a:srgbClr val="F7F8FA"/>
                    </a:solidFill>
                  </a:tcPr>
                </a:tc>
                <a:tc>
                  <a:txBody>
                    <a:bodyPr/>
                    <a:lstStyle/>
                    <a:p>
                      <a:r>
                        <a:rPr sz="1400" b="0">
                          <a:solidFill>
                            <a:srgbClr val="0B0B0B"/>
                          </a:solidFill>
                          <a:latin typeface="Segoe UI"/>
                        </a:rPr>
                        <a:t>0.258</a:t>
                      </a:r>
                    </a:p>
                  </a:txBody>
                  <a:tcPr marL="64008" marR="64008" marT="18288" marB="18288" anchor="ctr">
                    <a:solidFill>
                      <a:srgbClr val="F7F8FA"/>
                    </a:solidFill>
                  </a:tcPr>
                </a:tc>
                <a:tc>
                  <a:txBody>
                    <a:bodyPr/>
                    <a:lstStyle/>
                    <a:p>
                      <a:r>
                        <a:rPr sz="1400" b="0">
                          <a:solidFill>
                            <a:srgbClr val="0B0B0B"/>
                          </a:solidFill>
                          <a:latin typeface="Segoe UI"/>
                        </a:rPr>
                        <a:t>0.012</a:t>
                      </a:r>
                    </a:p>
                  </a:txBody>
                  <a:tcPr marL="64008" marR="64008" marT="18288" marB="18288" anchor="ctr">
                    <a:solidFill>
                      <a:srgbClr val="F7F8FA"/>
                    </a:solidFill>
                  </a:tcPr>
                </a:tc>
                <a:extLst>
                  <a:ext uri="{0D108BD9-81ED-4DB2-BD59-A6C34878D82A}">
                    <a16:rowId xmlns:a16="http://schemas.microsoft.com/office/drawing/2014/main" val="10008"/>
                  </a:ext>
                </a:extLst>
              </a:tr>
              <a:tr h="420624">
                <a:tc>
                  <a:txBody>
                    <a:bodyPr/>
                    <a:lstStyle/>
                    <a:p>
                      <a:r>
                        <a:rPr sz="1400" b="0">
                          <a:solidFill>
                            <a:srgbClr val="0B0B0B"/>
                          </a:solidFill>
                          <a:latin typeface="Segoe UI"/>
                        </a:rPr>
                        <a:t>SVM (RBF)</a:t>
                      </a:r>
                    </a:p>
                  </a:txBody>
                  <a:tcPr marL="64008" marR="64008" marT="18288" marB="18288" anchor="ctr">
                    <a:solidFill>
                      <a:srgbClr val="FFFFFF"/>
                    </a:solidFill>
                  </a:tcPr>
                </a:tc>
                <a:tc>
                  <a:txBody>
                    <a:bodyPr/>
                    <a:lstStyle/>
                    <a:p>
                      <a:r>
                        <a:rPr sz="1400" b="0">
                          <a:solidFill>
                            <a:srgbClr val="0B0B0B"/>
                          </a:solidFill>
                          <a:latin typeface="Segoe UI"/>
                        </a:rPr>
                        <a:t>41.2%</a:t>
                      </a:r>
                    </a:p>
                  </a:txBody>
                  <a:tcPr marL="64008" marR="64008" marT="18288" marB="18288" anchor="ctr">
                    <a:solidFill>
                      <a:srgbClr val="FFFFFF"/>
                    </a:solidFill>
                  </a:tcPr>
                </a:tc>
                <a:tc>
                  <a:txBody>
                    <a:bodyPr/>
                    <a:lstStyle/>
                    <a:p>
                      <a:r>
                        <a:rPr sz="1400" b="0">
                          <a:solidFill>
                            <a:srgbClr val="0B0B0B"/>
                          </a:solidFill>
                          <a:latin typeface="Segoe UI"/>
                        </a:rPr>
                        <a:t>0.392</a:t>
                      </a:r>
                    </a:p>
                  </a:txBody>
                  <a:tcPr marL="64008" marR="64008" marT="18288" marB="18288" anchor="ctr">
                    <a:solidFill>
                      <a:srgbClr val="FFFFFF"/>
                    </a:solidFill>
                  </a:tcPr>
                </a:tc>
                <a:tc>
                  <a:txBody>
                    <a:bodyPr/>
                    <a:lstStyle/>
                    <a:p>
                      <a:r>
                        <a:rPr sz="1400" b="0">
                          <a:solidFill>
                            <a:srgbClr val="0B0B0B"/>
                          </a:solidFill>
                          <a:latin typeface="Segoe UI"/>
                        </a:rPr>
                        <a:t>0.192</a:t>
                      </a:r>
                    </a:p>
                  </a:txBody>
                  <a:tcPr marL="64008" marR="64008" marT="18288" marB="18288" anchor="ctr">
                    <a:solidFill>
                      <a:srgbClr val="FFFFFF"/>
                    </a:solidFill>
                  </a:tcPr>
                </a:tc>
                <a:tc>
                  <a:txBody>
                    <a:bodyPr/>
                    <a:lstStyle/>
                    <a:p>
                      <a:r>
                        <a:rPr sz="1400" b="0">
                          <a:solidFill>
                            <a:srgbClr val="0B0B0B"/>
                          </a:solidFill>
                          <a:latin typeface="Segoe UI"/>
                        </a:rPr>
                        <a:t>31.2%</a:t>
                      </a:r>
                    </a:p>
                  </a:txBody>
                  <a:tcPr marL="64008" marR="64008" marT="18288" marB="18288" anchor="ctr">
                    <a:solidFill>
                      <a:srgbClr val="FFFFFF"/>
                    </a:solidFill>
                  </a:tcPr>
                </a:tc>
                <a:tc>
                  <a:txBody>
                    <a:bodyPr/>
                    <a:lstStyle/>
                    <a:p>
                      <a:r>
                        <a:rPr sz="1400" b="0">
                          <a:solidFill>
                            <a:srgbClr val="0B0B0B"/>
                          </a:solidFill>
                          <a:latin typeface="Segoe UI"/>
                        </a:rPr>
                        <a:t>0.284</a:t>
                      </a:r>
                    </a:p>
                  </a:txBody>
                  <a:tcPr marL="64008" marR="64008" marT="18288" marB="18288" anchor="ctr">
                    <a:solidFill>
                      <a:srgbClr val="FFFFFF"/>
                    </a:solidFill>
                  </a:tcPr>
                </a:tc>
                <a:tc>
                  <a:txBody>
                    <a:bodyPr/>
                    <a:lstStyle/>
                    <a:p>
                      <a:r>
                        <a:rPr sz="1400" b="0">
                          <a:solidFill>
                            <a:srgbClr val="0B0B0B"/>
                          </a:solidFill>
                          <a:latin typeface="Segoe UI"/>
                        </a:rPr>
                        <a:t>0.054</a:t>
                      </a:r>
                    </a:p>
                  </a:txBody>
                  <a:tcPr marL="64008" marR="64008" marT="18288" marB="18288" anchor="ctr">
                    <a:solidFill>
                      <a:srgbClr val="FFFFFF"/>
                    </a:solidFill>
                  </a:tcPr>
                </a:tc>
                <a:extLst>
                  <a:ext uri="{0D108BD9-81ED-4DB2-BD59-A6C34878D82A}">
                    <a16:rowId xmlns:a16="http://schemas.microsoft.com/office/drawing/2014/main" val="10009"/>
                  </a:ext>
                </a:extLst>
              </a:tr>
            </a:tbl>
          </a:graphicData>
        </a:graphic>
      </p:graphicFrame>
      <p:sp>
        <p:nvSpPr>
          <p:cNvPr id="8" name="SimpleLightSectionLabel">
            <a:extLst>
              <a:ext uri="{FF2B5EF4-FFF2-40B4-BE49-F238E27FC236}">
                <a16:creationId xmlns:a16="http://schemas.microsoft.com/office/drawing/2014/main" id="{385E5837-2A63-458D-A08B-06530A66DB92}"/>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TECHNICAL BACKUP</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BACKUP</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Cross-Validation vs Hold-Out</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60</a:t>
            </a:r>
          </a:p>
        </p:txBody>
      </p:sp>
      <p:sp>
        <p:nvSpPr>
          <p:cNvPr id="7" name="Rounded Rectangle 6"/>
          <p:cNvSpPr/>
          <p:nvPr/>
        </p:nvSpPr>
        <p:spPr>
          <a:xfrm>
            <a:off x="548640" y="1463040"/>
            <a:ext cx="5440680" cy="4023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463040"/>
            <a:ext cx="544068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737360"/>
            <a:ext cx="4846320" cy="548640"/>
          </a:xfrm>
          <a:prstGeom prst="rect">
            <a:avLst/>
          </a:prstGeom>
          <a:noFill/>
        </p:spPr>
        <p:txBody>
          <a:bodyPr wrap="square" lIns="27432" tIns="27432" rIns="27432" bIns="27432" anchor="t">
            <a:noAutofit/>
          </a:bodyPr>
          <a:lstStyle/>
          <a:p>
            <a:pPr algn="l">
              <a:lnSpc>
                <a:spcPct val="105000"/>
              </a:lnSpc>
            </a:pPr>
            <a:r>
              <a:rPr sz="2400" b="1">
                <a:solidFill>
                  <a:srgbClr val="2A78D6"/>
                </a:solidFill>
                <a:latin typeface="Helvetica Neue"/>
              </a:rPr>
              <a:t>Hold-out (teacher-facing)</a:t>
            </a:r>
          </a:p>
        </p:txBody>
      </p:sp>
      <p:sp>
        <p:nvSpPr>
          <p:cNvPr id="10" name="TextBox 9"/>
          <p:cNvSpPr txBox="1"/>
          <p:nvPr/>
        </p:nvSpPr>
        <p:spPr>
          <a:xfrm>
            <a:off x="868680" y="2468880"/>
            <a:ext cx="4846320" cy="2926080"/>
          </a:xfrm>
          <a:prstGeom prst="rect">
            <a:avLst/>
          </a:prstGeom>
          <a:noFill/>
        </p:spPr>
        <p:txBody>
          <a:bodyPr wrap="square" lIns="27432" tIns="27432" rIns="27432" bIns="27432" anchor="t">
            <a:noAutofit/>
          </a:bodyPr>
          <a:lstStyle/>
          <a:p>
            <a:pPr algn="l">
              <a:lnSpc>
                <a:spcPct val="105000"/>
              </a:lnSpc>
              <a:spcAft>
                <a:spcPts val="800"/>
              </a:spcAft>
            </a:pPr>
            <a:r>
              <a:rPr lang="en-US" sz="1900" b="0">
                <a:solidFill>
                  <a:srgbClr val="0B0B0B"/>
                </a:solidFill>
                <a:latin typeface="Helvetica Neue"/>
              </a:rPr>
              <a:t>• One fixed 80/20 split</a:t>
            </a:r>
          </a:p>
          <a:p>
            <a:pPr algn="l">
              <a:lnSpc>
                <a:spcPct val="105000"/>
              </a:lnSpc>
              <a:spcAft>
                <a:spcPts val="800"/>
              </a:spcAft>
            </a:pPr>
            <a:r>
              <a:rPr lang="en-US" sz="1900" b="0">
                <a:solidFill>
                  <a:srgbClr val="0B0B0B"/>
                </a:solidFill>
                <a:latin typeface="Helvetica Neue"/>
              </a:rPr>
              <a:t>• 881 train · 221 test students</a:t>
            </a:r>
          </a:p>
          <a:p>
            <a:pPr algn="l">
              <a:lnSpc>
                <a:spcPct val="105000"/>
              </a:lnSpc>
              <a:spcAft>
                <a:spcPts val="800"/>
              </a:spcAft>
            </a:pPr>
            <a:r>
              <a:rPr lang="en-US" sz="1900" b="0">
                <a:solidFill>
                  <a:srgbClr val="0B0B0B"/>
                </a:solidFill>
                <a:latin typeface="Helvetica Neue"/>
              </a:rPr>
              <a:t>• Main CGPA shallow tree: 45.7% on test</a:t>
            </a:r>
          </a:p>
          <a:p>
            <a:pPr algn="l">
              <a:lnSpc>
                <a:spcPct val="105000"/>
              </a:lnSpc>
              <a:spcAft>
                <a:spcPts val="800"/>
              </a:spcAft>
            </a:pPr>
            <a:r>
              <a:rPr lang="en-US" sz="1900" b="0">
                <a:solidFill>
                  <a:srgbClr val="0B0B0B"/>
                </a:solidFill>
                <a:latin typeface="Helvetica Neue"/>
              </a:rPr>
              <a:t>• Easy to explain: rules → unseen students</a:t>
            </a:r>
            <a:endParaRPr sz="1900" b="0">
              <a:solidFill>
                <a:srgbClr val="0B0B0B"/>
              </a:solidFill>
              <a:latin typeface="Helvetica Neue"/>
            </a:endParaRPr>
          </a:p>
        </p:txBody>
      </p:sp>
      <p:sp>
        <p:nvSpPr>
          <p:cNvPr id="11" name="Rounded Rectangle 10"/>
          <p:cNvSpPr/>
          <p:nvPr/>
        </p:nvSpPr>
        <p:spPr>
          <a:xfrm>
            <a:off x="6172200" y="1463040"/>
            <a:ext cx="5440680" cy="4023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1463040"/>
            <a:ext cx="5440680" cy="109728"/>
          </a:xfrm>
          <a:prstGeom prst="rect">
            <a:avLst/>
          </a:prstGeom>
          <a:solidFill>
            <a:srgbClr val="1F3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1737360"/>
            <a:ext cx="4846320" cy="548640"/>
          </a:xfrm>
          <a:prstGeom prst="rect">
            <a:avLst/>
          </a:prstGeom>
          <a:noFill/>
        </p:spPr>
        <p:txBody>
          <a:bodyPr wrap="square" lIns="27432" tIns="27432" rIns="27432" bIns="27432" anchor="t">
            <a:noAutofit/>
          </a:bodyPr>
          <a:lstStyle/>
          <a:p>
            <a:pPr algn="l">
              <a:lnSpc>
                <a:spcPct val="105000"/>
              </a:lnSpc>
            </a:pPr>
            <a:r>
              <a:rPr sz="2400" b="1">
                <a:solidFill>
                  <a:srgbClr val="1F3B5C"/>
                </a:solidFill>
                <a:latin typeface="Helvetica Neue"/>
              </a:rPr>
              <a:t>Cross-validation (robustness)</a:t>
            </a:r>
          </a:p>
        </p:txBody>
      </p:sp>
      <p:sp>
        <p:nvSpPr>
          <p:cNvPr id="14" name="TextBox 13"/>
          <p:cNvSpPr txBox="1"/>
          <p:nvPr/>
        </p:nvSpPr>
        <p:spPr>
          <a:xfrm>
            <a:off x="6492240" y="2468880"/>
            <a:ext cx="4846320" cy="2926080"/>
          </a:xfrm>
          <a:prstGeom prst="rect">
            <a:avLst/>
          </a:prstGeom>
          <a:noFill/>
        </p:spPr>
        <p:txBody>
          <a:bodyPr wrap="square" lIns="27432" tIns="27432" rIns="27432" bIns="27432" anchor="t">
            <a:noAutofit/>
          </a:bodyPr>
          <a:lstStyle/>
          <a:p>
            <a:pPr algn="l">
              <a:lnSpc>
                <a:spcPct val="105000"/>
              </a:lnSpc>
              <a:spcAft>
                <a:spcPts val="800"/>
              </a:spcAft>
            </a:pPr>
            <a:r>
              <a:rPr lang="en-US" sz="1900" b="0">
                <a:solidFill>
                  <a:srgbClr val="0B0B0B"/>
                </a:solidFill>
                <a:latin typeface="Helvetica Neue"/>
              </a:rPr>
              <a:t>• Every student is tested once per round</a:t>
            </a:r>
          </a:p>
          <a:p>
            <a:pPr algn="l">
              <a:lnSpc>
                <a:spcPct val="105000"/>
              </a:lnSpc>
              <a:spcAft>
                <a:spcPts val="800"/>
              </a:spcAft>
            </a:pPr>
            <a:r>
              <a:rPr lang="en-US" sz="1900" b="0">
                <a:solidFill>
                  <a:srgbClr val="0B0B0B"/>
                </a:solidFill>
                <a:latin typeface="Helvetica Neue"/>
              </a:rPr>
              <a:t>• 10 folds × 3 repeats = 30 fits</a:t>
            </a:r>
          </a:p>
          <a:p>
            <a:pPr algn="l">
              <a:lnSpc>
                <a:spcPct val="105000"/>
              </a:lnSpc>
              <a:spcAft>
                <a:spcPts val="800"/>
              </a:spcAft>
            </a:pPr>
            <a:r>
              <a:rPr lang="en-US" sz="1900" b="0">
                <a:solidFill>
                  <a:srgbClr val="0B0B0B"/>
                </a:solidFill>
                <a:latin typeface="Helvetica Neue"/>
              </a:rPr>
              <a:t>• Main CGPA depth-6 tree: 43.3% average</a:t>
            </a:r>
          </a:p>
          <a:p>
            <a:pPr algn="l">
              <a:lnSpc>
                <a:spcPct val="105000"/>
              </a:lnSpc>
              <a:spcAft>
                <a:spcPts val="800"/>
              </a:spcAft>
            </a:pPr>
            <a:r>
              <a:rPr lang="en-US" sz="1900" b="0">
                <a:solidFill>
                  <a:srgbClr val="0B0B0B"/>
                </a:solidFill>
                <a:latin typeface="Helvetica Neue"/>
              </a:rPr>
              <a:t>• Stable ranking, less luck from one split</a:t>
            </a:r>
            <a:endParaRPr sz="1900" b="0">
              <a:solidFill>
                <a:srgbClr val="0B0B0B"/>
              </a:solidFill>
              <a:latin typeface="Helvetica Neue"/>
            </a:endParaRPr>
          </a:p>
        </p:txBody>
      </p:sp>
      <p:sp>
        <p:nvSpPr>
          <p:cNvPr id="15" name="Rounded Rectangle 14"/>
          <p:cNvSpPr/>
          <p:nvPr/>
        </p:nvSpPr>
        <p:spPr>
          <a:xfrm>
            <a:off x="548640" y="5669280"/>
            <a:ext cx="11064240" cy="54864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600" b="1">
                <a:solidFill>
                  <a:srgbClr val="1F3B5C"/>
                </a:solidFill>
                <a:latin typeface="Helvetica Neue"/>
              </a:rPr>
              <a:t>Both checks show that recent academic performance carries the strongest CGPA signal.</a:t>
            </a:r>
          </a:p>
        </p:txBody>
      </p:sp>
      <p:sp>
        <p:nvSpPr>
          <p:cNvPr id="16" name="SimpleLightSectionLabel">
            <a:extLst>
              <a:ext uri="{FF2B5EF4-FFF2-40B4-BE49-F238E27FC236}">
                <a16:creationId xmlns:a16="http://schemas.microsoft.com/office/drawing/2014/main" id="{537FEEF8-B5B9-415B-9692-65F36147D1CE}"/>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TECHNICAL BACKUP</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BACKUP</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Team Contribution</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61</a:t>
            </a:r>
          </a:p>
        </p:txBody>
      </p:sp>
      <p:graphicFrame>
        <p:nvGraphicFramePr>
          <p:cNvPr id="7" name="Table 6"/>
          <p:cNvGraphicFramePr>
            <a:graphicFrameLocks noGrp="1"/>
          </p:cNvGraphicFramePr>
          <p:nvPr/>
        </p:nvGraphicFramePr>
        <p:xfrm>
          <a:off x="548640" y="1463040"/>
          <a:ext cx="11064240" cy="3968496"/>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6309360">
                  <a:extLst>
                    <a:ext uri="{9D8B030D-6E8A-4147-A177-3AD203B41FA5}">
                      <a16:colId xmlns:a16="http://schemas.microsoft.com/office/drawing/2014/main" val="20002"/>
                    </a:ext>
                  </a:extLst>
                </a:gridCol>
              </a:tblGrid>
              <a:tr h="566928">
                <a:tc>
                  <a:txBody>
                    <a:bodyPr/>
                    <a:lstStyle/>
                    <a:p>
                      <a:r>
                        <a:rPr sz="1700" b="1">
                          <a:solidFill>
                            <a:srgbClr val="FFFFFF"/>
                          </a:solidFill>
                          <a:latin typeface="Segoe UI"/>
                        </a:rPr>
                        <a:t>Roll</a:t>
                      </a:r>
                    </a:p>
                  </a:txBody>
                  <a:tcPr marL="64008" marR="64008" marT="18288" marB="18288" anchor="ctr">
                    <a:solidFill>
                      <a:srgbClr val="1F3B5C"/>
                    </a:solidFill>
                  </a:tcPr>
                </a:tc>
                <a:tc>
                  <a:txBody>
                    <a:bodyPr/>
                    <a:lstStyle/>
                    <a:p>
                      <a:r>
                        <a:rPr sz="1700" b="1">
                          <a:solidFill>
                            <a:srgbClr val="FFFFFF"/>
                          </a:solidFill>
                          <a:latin typeface="Segoe UI"/>
                        </a:rPr>
                        <a:t>Team member</a:t>
                      </a:r>
                    </a:p>
                  </a:txBody>
                  <a:tcPr marL="64008" marR="64008" marT="18288" marB="18288" anchor="ctr">
                    <a:solidFill>
                      <a:srgbClr val="1F3B5C"/>
                    </a:solidFill>
                  </a:tcPr>
                </a:tc>
                <a:tc>
                  <a:txBody>
                    <a:bodyPr/>
                    <a:lstStyle/>
                    <a:p>
                      <a:r>
                        <a:rPr sz="1700" b="1">
                          <a:solidFill>
                            <a:srgbClr val="FFFFFF"/>
                          </a:solidFill>
                          <a:latin typeface="Segoe UI"/>
                        </a:rPr>
                        <a:t>Contribution</a:t>
                      </a:r>
                    </a:p>
                  </a:txBody>
                  <a:tcPr marL="64008" marR="64008" marT="18288" marB="18288" anchor="ctr">
                    <a:solidFill>
                      <a:srgbClr val="1F3B5C"/>
                    </a:solidFill>
                  </a:tcPr>
                </a:tc>
                <a:extLst>
                  <a:ext uri="{0D108BD9-81ED-4DB2-BD59-A6C34878D82A}">
                    <a16:rowId xmlns:a16="http://schemas.microsoft.com/office/drawing/2014/main" val="10000"/>
                  </a:ext>
                </a:extLst>
              </a:tr>
              <a:tr h="566928">
                <a:tc>
                  <a:txBody>
                    <a:bodyPr/>
                    <a:lstStyle/>
                    <a:p>
                      <a:r>
                        <a:rPr sz="1700" b="0">
                          <a:solidFill>
                            <a:srgbClr val="0B0B0B"/>
                          </a:solidFill>
                          <a:latin typeface="Segoe UI"/>
                        </a:rPr>
                        <a:t>2107020</a:t>
                      </a:r>
                    </a:p>
                  </a:txBody>
                  <a:tcPr marL="64008" marR="64008" marT="18288" marB="18288" anchor="ctr">
                    <a:solidFill>
                      <a:srgbClr val="FFFFFF"/>
                    </a:solidFill>
                  </a:tcPr>
                </a:tc>
                <a:tc>
                  <a:txBody>
                    <a:bodyPr/>
                    <a:lstStyle/>
                    <a:p>
                      <a:r>
                        <a:rPr sz="1700" b="0">
                          <a:solidFill>
                            <a:srgbClr val="0B0B0B"/>
                          </a:solidFill>
                          <a:latin typeface="Segoe UI"/>
                        </a:rPr>
                        <a:t>Sheikh Md. Galib Mahim</a:t>
                      </a:r>
                    </a:p>
                  </a:txBody>
                  <a:tcPr marL="64008" marR="64008" marT="18288" marB="18288" anchor="ctr">
                    <a:solidFill>
                      <a:srgbClr val="FFFFFF"/>
                    </a:solidFill>
                  </a:tcPr>
                </a:tc>
                <a:tc>
                  <a:txBody>
                    <a:bodyPr/>
                    <a:lstStyle/>
                    <a:p>
                      <a:r>
                        <a:rPr sz="1700" b="0">
                          <a:solidFill>
                            <a:srgbClr val="0B0B0B"/>
                          </a:solidFill>
                          <a:latin typeface="Segoe UI"/>
                        </a:rPr>
                        <a:t>Merge and cleaning pipeline, EDA, modelling notebook, documentation</a:t>
                      </a:r>
                    </a:p>
                  </a:txBody>
                  <a:tcPr marL="64008" marR="64008" marT="18288" marB="18288" anchor="ctr">
                    <a:solidFill>
                      <a:srgbClr val="FFFFFF"/>
                    </a:solidFill>
                  </a:tcPr>
                </a:tc>
                <a:extLst>
                  <a:ext uri="{0D108BD9-81ED-4DB2-BD59-A6C34878D82A}">
                    <a16:rowId xmlns:a16="http://schemas.microsoft.com/office/drawing/2014/main" val="10001"/>
                  </a:ext>
                </a:extLst>
              </a:tr>
              <a:tr h="566928">
                <a:tc>
                  <a:txBody>
                    <a:bodyPr/>
                    <a:lstStyle/>
                    <a:p>
                      <a:r>
                        <a:rPr sz="1700" b="0">
                          <a:solidFill>
                            <a:srgbClr val="0B0B0B"/>
                          </a:solidFill>
                          <a:latin typeface="Segoe UI"/>
                        </a:rPr>
                        <a:t>2107030</a:t>
                      </a:r>
                    </a:p>
                  </a:txBody>
                  <a:tcPr marL="64008" marR="64008" marT="18288" marB="18288" anchor="ctr">
                    <a:solidFill>
                      <a:srgbClr val="F7F8FA"/>
                    </a:solidFill>
                  </a:tcPr>
                </a:tc>
                <a:tc>
                  <a:txBody>
                    <a:bodyPr/>
                    <a:lstStyle/>
                    <a:p>
                      <a:r>
                        <a:rPr sz="1700" b="0">
                          <a:solidFill>
                            <a:srgbClr val="0B0B0B"/>
                          </a:solidFill>
                          <a:latin typeface="Segoe UI"/>
                        </a:rPr>
                        <a:t>Md. Eftakar Jaman Arfan</a:t>
                      </a:r>
                    </a:p>
                  </a:txBody>
                  <a:tcPr marL="64008" marR="64008" marT="18288" marB="18288" anchor="ctr">
                    <a:solidFill>
                      <a:srgbClr val="F7F8FA"/>
                    </a:solidFill>
                  </a:tcPr>
                </a:tc>
                <a:tc>
                  <a:txBody>
                    <a:bodyPr/>
                    <a:lstStyle/>
                    <a:p>
                      <a:r>
                        <a:rPr sz="1700" b="0">
                          <a:solidFill>
                            <a:srgbClr val="0B0B0B"/>
                          </a:solidFill>
                          <a:latin typeface="Segoe UI"/>
                        </a:rPr>
                        <a:t>WEKA experiments and result tables</a:t>
                      </a:r>
                    </a:p>
                  </a:txBody>
                  <a:tcPr marL="64008" marR="64008" marT="18288" marB="18288" anchor="ctr">
                    <a:solidFill>
                      <a:srgbClr val="F7F8FA"/>
                    </a:solidFill>
                  </a:tcPr>
                </a:tc>
                <a:extLst>
                  <a:ext uri="{0D108BD9-81ED-4DB2-BD59-A6C34878D82A}">
                    <a16:rowId xmlns:a16="http://schemas.microsoft.com/office/drawing/2014/main" val="10002"/>
                  </a:ext>
                </a:extLst>
              </a:tr>
              <a:tr h="566928">
                <a:tc>
                  <a:txBody>
                    <a:bodyPr/>
                    <a:lstStyle/>
                    <a:p>
                      <a:r>
                        <a:rPr sz="1700" b="0">
                          <a:solidFill>
                            <a:srgbClr val="0B0B0B"/>
                          </a:solidFill>
                          <a:latin typeface="Segoe UI"/>
                        </a:rPr>
                        <a:t>2107007</a:t>
                      </a:r>
                    </a:p>
                  </a:txBody>
                  <a:tcPr marL="64008" marR="64008" marT="18288" marB="18288" anchor="ctr">
                    <a:solidFill>
                      <a:srgbClr val="FFFFFF"/>
                    </a:solidFill>
                  </a:tcPr>
                </a:tc>
                <a:tc>
                  <a:txBody>
                    <a:bodyPr/>
                    <a:lstStyle/>
                    <a:p>
                      <a:r>
                        <a:rPr sz="1700" b="0">
                          <a:solidFill>
                            <a:srgbClr val="0B0B0B"/>
                          </a:solidFill>
                          <a:latin typeface="Segoe UI"/>
                        </a:rPr>
                        <a:t>Asif Jawad</a:t>
                      </a:r>
                    </a:p>
                  </a:txBody>
                  <a:tcPr marL="64008" marR="64008" marT="18288" marB="18288" anchor="ctr">
                    <a:solidFill>
                      <a:srgbClr val="FFFFFF"/>
                    </a:solidFill>
                  </a:tcPr>
                </a:tc>
                <a:tc>
                  <a:txBody>
                    <a:bodyPr/>
                    <a:lstStyle/>
                    <a:p>
                      <a:r>
                        <a:rPr sz="1700" b="0">
                          <a:solidFill>
                            <a:srgbClr val="0B0B0B"/>
                          </a:solidFill>
                          <a:latin typeface="Segoe UI"/>
                        </a:rPr>
                        <a:t>Form design and data collection</a:t>
                      </a:r>
                    </a:p>
                  </a:txBody>
                  <a:tcPr marL="64008" marR="64008" marT="18288" marB="18288" anchor="ctr">
                    <a:solidFill>
                      <a:srgbClr val="FFFFFF"/>
                    </a:solidFill>
                  </a:tcPr>
                </a:tc>
                <a:extLst>
                  <a:ext uri="{0D108BD9-81ED-4DB2-BD59-A6C34878D82A}">
                    <a16:rowId xmlns:a16="http://schemas.microsoft.com/office/drawing/2014/main" val="10003"/>
                  </a:ext>
                </a:extLst>
              </a:tr>
              <a:tr h="566928">
                <a:tc>
                  <a:txBody>
                    <a:bodyPr/>
                    <a:lstStyle/>
                    <a:p>
                      <a:r>
                        <a:rPr sz="1700" b="0">
                          <a:solidFill>
                            <a:srgbClr val="0B0B0B"/>
                          </a:solidFill>
                          <a:latin typeface="Segoe UI"/>
                        </a:rPr>
                        <a:t>2107008</a:t>
                      </a:r>
                    </a:p>
                  </a:txBody>
                  <a:tcPr marL="64008" marR="64008" marT="18288" marB="18288" anchor="ctr">
                    <a:solidFill>
                      <a:srgbClr val="F7F8FA"/>
                    </a:solidFill>
                  </a:tcPr>
                </a:tc>
                <a:tc>
                  <a:txBody>
                    <a:bodyPr/>
                    <a:lstStyle/>
                    <a:p>
                      <a:r>
                        <a:rPr sz="1700" b="0">
                          <a:solidFill>
                            <a:srgbClr val="0B0B0B"/>
                          </a:solidFill>
                          <a:latin typeface="Segoe UI"/>
                        </a:rPr>
                        <a:t>Rakibul Islam</a:t>
                      </a:r>
                    </a:p>
                  </a:txBody>
                  <a:tcPr marL="64008" marR="64008" marT="18288" marB="18288" anchor="ctr">
                    <a:solidFill>
                      <a:srgbClr val="F7F8FA"/>
                    </a:solidFill>
                  </a:tcPr>
                </a:tc>
                <a:tc>
                  <a:txBody>
                    <a:bodyPr/>
                    <a:lstStyle/>
                    <a:p>
                      <a:r>
                        <a:rPr sz="1700" b="0">
                          <a:solidFill>
                            <a:srgbClr val="0B0B0B"/>
                          </a:solidFill>
                          <a:latin typeface="Segoe UI"/>
                        </a:rPr>
                        <a:t>Report writing and related work</a:t>
                      </a:r>
                    </a:p>
                  </a:txBody>
                  <a:tcPr marL="64008" marR="64008" marT="18288" marB="18288" anchor="ctr">
                    <a:solidFill>
                      <a:srgbClr val="F7F8FA"/>
                    </a:solidFill>
                  </a:tcPr>
                </a:tc>
                <a:extLst>
                  <a:ext uri="{0D108BD9-81ED-4DB2-BD59-A6C34878D82A}">
                    <a16:rowId xmlns:a16="http://schemas.microsoft.com/office/drawing/2014/main" val="10004"/>
                  </a:ext>
                </a:extLst>
              </a:tr>
              <a:tr h="566928">
                <a:tc>
                  <a:txBody>
                    <a:bodyPr/>
                    <a:lstStyle/>
                    <a:p>
                      <a:r>
                        <a:rPr sz="1700" b="0">
                          <a:solidFill>
                            <a:srgbClr val="0B0B0B"/>
                          </a:solidFill>
                          <a:latin typeface="Segoe UI"/>
                        </a:rPr>
                        <a:t>2107012</a:t>
                      </a:r>
                    </a:p>
                  </a:txBody>
                  <a:tcPr marL="64008" marR="64008" marT="18288" marB="18288" anchor="ctr">
                    <a:solidFill>
                      <a:srgbClr val="FFFFFF"/>
                    </a:solidFill>
                  </a:tcPr>
                </a:tc>
                <a:tc>
                  <a:txBody>
                    <a:bodyPr/>
                    <a:lstStyle/>
                    <a:p>
                      <a:r>
                        <a:rPr sz="1700" b="0">
                          <a:solidFill>
                            <a:srgbClr val="0B0B0B"/>
                          </a:solidFill>
                          <a:latin typeface="Segoe UI"/>
                        </a:rPr>
                        <a:t>Md Enam E Elahi</a:t>
                      </a:r>
                    </a:p>
                  </a:txBody>
                  <a:tcPr marL="64008" marR="64008" marT="18288" marB="18288" anchor="ctr">
                    <a:solidFill>
                      <a:srgbClr val="FFFFFF"/>
                    </a:solidFill>
                  </a:tcPr>
                </a:tc>
                <a:tc>
                  <a:txBody>
                    <a:bodyPr/>
                    <a:lstStyle/>
                    <a:p>
                      <a:r>
                        <a:rPr sz="1700" b="0">
                          <a:solidFill>
                            <a:srgbClr val="0B0B0B"/>
                          </a:solidFill>
                          <a:latin typeface="Segoe UI"/>
                        </a:rPr>
                        <a:t>Report writing and related work</a:t>
                      </a:r>
                    </a:p>
                  </a:txBody>
                  <a:tcPr marL="64008" marR="64008" marT="18288" marB="18288" anchor="ctr">
                    <a:solidFill>
                      <a:srgbClr val="FFFFFF"/>
                    </a:solidFill>
                  </a:tcPr>
                </a:tc>
                <a:extLst>
                  <a:ext uri="{0D108BD9-81ED-4DB2-BD59-A6C34878D82A}">
                    <a16:rowId xmlns:a16="http://schemas.microsoft.com/office/drawing/2014/main" val="10005"/>
                  </a:ext>
                </a:extLst>
              </a:tr>
              <a:tr h="566928">
                <a:tc>
                  <a:txBody>
                    <a:bodyPr/>
                    <a:lstStyle/>
                    <a:p>
                      <a:r>
                        <a:rPr sz="1700" b="0">
                          <a:solidFill>
                            <a:srgbClr val="0B0B0B"/>
                          </a:solidFill>
                          <a:latin typeface="Segoe UI"/>
                        </a:rPr>
                        <a:t>2107014</a:t>
                      </a:r>
                    </a:p>
                  </a:txBody>
                  <a:tcPr marL="64008" marR="64008" marT="18288" marB="18288" anchor="ctr">
                    <a:solidFill>
                      <a:srgbClr val="F7F8FA"/>
                    </a:solidFill>
                  </a:tcPr>
                </a:tc>
                <a:tc>
                  <a:txBody>
                    <a:bodyPr/>
                    <a:lstStyle/>
                    <a:p>
                      <a:r>
                        <a:rPr sz="1700" b="0">
                          <a:solidFill>
                            <a:srgbClr val="0B0B0B"/>
                          </a:solidFill>
                          <a:latin typeface="Segoe UI"/>
                        </a:rPr>
                        <a:t>Al Mubtasim Preom</a:t>
                      </a:r>
                    </a:p>
                  </a:txBody>
                  <a:tcPr marL="64008" marR="64008" marT="18288" marB="18288" anchor="ctr">
                    <a:solidFill>
                      <a:srgbClr val="F7F8FA"/>
                    </a:solidFill>
                  </a:tcPr>
                </a:tc>
                <a:tc>
                  <a:txBody>
                    <a:bodyPr/>
                    <a:lstStyle/>
                    <a:p>
                      <a:r>
                        <a:rPr sz="1700" b="0">
                          <a:solidFill>
                            <a:srgbClr val="0B0B0B"/>
                          </a:solidFill>
                          <a:latin typeface="Segoe UI"/>
                        </a:rPr>
                        <a:t>KUET scheme cleaning</a:t>
                      </a:r>
                    </a:p>
                  </a:txBody>
                  <a:tcPr marL="64008" marR="64008" marT="18288" marB="18288" anchor="ctr">
                    <a:solidFill>
                      <a:srgbClr val="F7F8FA"/>
                    </a:solidFill>
                  </a:tcPr>
                </a:tc>
                <a:extLst>
                  <a:ext uri="{0D108BD9-81ED-4DB2-BD59-A6C34878D82A}">
                    <a16:rowId xmlns:a16="http://schemas.microsoft.com/office/drawing/2014/main" val="10006"/>
                  </a:ext>
                </a:extLst>
              </a:tr>
            </a:tbl>
          </a:graphicData>
        </a:graphic>
      </p:graphicFrame>
      <p:sp>
        <p:nvSpPr>
          <p:cNvPr id="8" name="Rounded Rectangle 7"/>
          <p:cNvSpPr/>
          <p:nvPr/>
        </p:nvSpPr>
        <p:spPr>
          <a:xfrm>
            <a:off x="548640" y="5669280"/>
            <a:ext cx="11064240" cy="502920"/>
          </a:xfrm>
          <a:prstGeom prst="roundRect">
            <a:avLst>
              <a:gd name="adj" fmla="val 8000"/>
            </a:avLst>
          </a:prstGeom>
          <a:solidFill>
            <a:srgbClr val="FFF1D6"/>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400" b="1">
                <a:solidFill>
                  <a:srgbClr val="8A5A00"/>
                </a:solidFill>
                <a:latin typeface="Helvetica Neue"/>
              </a:rPr>
              <a:t>Draft copied from the previous deck — confirm names and roles with the team before presenting.</a:t>
            </a:r>
          </a:p>
        </p:txBody>
      </p:sp>
      <p:sp>
        <p:nvSpPr>
          <p:cNvPr id="9" name="SimpleLightSectionLabel">
            <a:extLst>
              <a:ext uri="{FF2B5EF4-FFF2-40B4-BE49-F238E27FC236}">
                <a16:creationId xmlns:a16="http://schemas.microsoft.com/office/drawing/2014/main" id="{9B42F77A-56F0-4068-B4E6-C9A1CF0A335D}"/>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TECHNICAL BACKUP</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BACKUP</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SGPA Decision Tree (Full View)</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63</a:t>
            </a:r>
          </a:p>
        </p:txBody>
      </p:sp>
      <p:pic>
        <p:nvPicPr>
          <p:cNvPr id="7" name="Picture 6" descr="sgpa_decision_tree_readable.png"/>
          <p:cNvPicPr>
            <a:picLocks noChangeAspect="1"/>
          </p:cNvPicPr>
          <p:nvPr/>
        </p:nvPicPr>
        <p:blipFill>
          <a:blip r:embed="rId3"/>
          <a:stretch>
            <a:fillRect/>
          </a:stretch>
        </p:blipFill>
        <p:spPr>
          <a:xfrm>
            <a:off x="2819068" y="1280160"/>
            <a:ext cx="6523382" cy="5029200"/>
          </a:xfrm>
          <a:prstGeom prst="rect">
            <a:avLst/>
          </a:prstGeom>
        </p:spPr>
      </p:pic>
      <p:sp>
        <p:nvSpPr>
          <p:cNvPr id="8" name="SimpleLightSectionLabel">
            <a:extLst>
              <a:ext uri="{FF2B5EF4-FFF2-40B4-BE49-F238E27FC236}">
                <a16:creationId xmlns:a16="http://schemas.microsoft.com/office/drawing/2014/main" id="{81EC4FDA-C1EC-4D89-A73B-045A02896621}"/>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TECHNICAL BACKUP</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BACKUP</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WEKA Screenshots: Random Forest Runs</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64</a:t>
            </a:r>
          </a:p>
        </p:txBody>
      </p:sp>
      <p:sp>
        <p:nvSpPr>
          <p:cNvPr id="7" name="TextBox 6"/>
          <p:cNvSpPr txBox="1"/>
          <p:nvPr/>
        </p:nvSpPr>
        <p:spPr>
          <a:xfrm>
            <a:off x="548640" y="1280160"/>
            <a:ext cx="5440680" cy="411480"/>
          </a:xfrm>
          <a:prstGeom prst="rect">
            <a:avLst/>
          </a:prstGeom>
          <a:noFill/>
        </p:spPr>
        <p:txBody>
          <a:bodyPr wrap="square" lIns="27432" tIns="27432" rIns="27432" bIns="27432" anchor="t">
            <a:noAutofit/>
          </a:bodyPr>
          <a:lstStyle/>
          <a:p>
            <a:pPr algn="l">
              <a:lnSpc>
                <a:spcPct val="105000"/>
              </a:lnSpc>
            </a:pPr>
            <a:r>
              <a:rPr sz="1600" b="1">
                <a:solidFill>
                  <a:srgbClr val="0B0B0B"/>
                </a:solidFill>
                <a:latin typeface="Helvetica Neue"/>
              </a:rPr>
              <a:t>Main CGPA task: Random Forest 46.3% (10-fold CV)</a:t>
            </a:r>
          </a:p>
        </p:txBody>
      </p:sp>
      <p:pic>
        <p:nvPicPr>
          <p:cNvPr id="8" name="Picture 7" descr="weka_primary_screenshot_108.png"/>
          <p:cNvPicPr>
            <a:picLocks noChangeAspect="1"/>
          </p:cNvPicPr>
          <p:nvPr/>
        </p:nvPicPr>
        <p:blipFill>
          <a:blip r:embed="rId3"/>
          <a:stretch>
            <a:fillRect/>
          </a:stretch>
        </p:blipFill>
        <p:spPr>
          <a:xfrm>
            <a:off x="590827" y="1737360"/>
            <a:ext cx="5356305" cy="4480560"/>
          </a:xfrm>
          <a:prstGeom prst="rect">
            <a:avLst/>
          </a:prstGeom>
          <a:ln w="12700">
            <a:solidFill>
              <a:srgbClr val="DADCE0"/>
            </a:solidFill>
          </a:ln>
        </p:spPr>
      </p:pic>
      <p:sp>
        <p:nvSpPr>
          <p:cNvPr id="9" name="TextBox 8"/>
          <p:cNvSpPr txBox="1"/>
          <p:nvPr/>
        </p:nvSpPr>
        <p:spPr>
          <a:xfrm>
            <a:off x="6172200" y="1280160"/>
            <a:ext cx="5440680" cy="411480"/>
          </a:xfrm>
          <a:prstGeom prst="rect">
            <a:avLst/>
          </a:prstGeom>
          <a:noFill/>
        </p:spPr>
        <p:txBody>
          <a:bodyPr wrap="square" lIns="27432" tIns="27432" rIns="27432" bIns="27432" anchor="t">
            <a:noAutofit/>
          </a:bodyPr>
          <a:lstStyle/>
          <a:p>
            <a:pPr algn="l">
              <a:lnSpc>
                <a:spcPct val="105000"/>
              </a:lnSpc>
            </a:pPr>
            <a:r>
              <a:rPr sz="1600" b="1">
                <a:solidFill>
                  <a:srgbClr val="0B0B0B"/>
                </a:solidFill>
                <a:latin typeface="Helvetica Neue"/>
              </a:rPr>
              <a:t>CGPA questionnaire diagnostic: Random Forest 33.6% (10-fold CV)</a:t>
            </a:r>
          </a:p>
        </p:txBody>
      </p:sp>
      <p:pic>
        <p:nvPicPr>
          <p:cNvPr id="10" name="Picture 9" descr="weka_behaviour_screenshot_114.png"/>
          <p:cNvPicPr>
            <a:picLocks noChangeAspect="1"/>
          </p:cNvPicPr>
          <p:nvPr/>
        </p:nvPicPr>
        <p:blipFill>
          <a:blip r:embed="rId4"/>
          <a:stretch>
            <a:fillRect/>
          </a:stretch>
        </p:blipFill>
        <p:spPr>
          <a:xfrm>
            <a:off x="6214387" y="1737360"/>
            <a:ext cx="5356305" cy="4480560"/>
          </a:xfrm>
          <a:prstGeom prst="rect">
            <a:avLst/>
          </a:prstGeom>
          <a:ln w="12700">
            <a:solidFill>
              <a:srgbClr val="DADCE0"/>
            </a:solidFill>
          </a:ln>
        </p:spPr>
      </p:pic>
      <p:sp>
        <p:nvSpPr>
          <p:cNvPr id="11" name="SimpleLightSectionLabel">
            <a:extLst>
              <a:ext uri="{FF2B5EF4-FFF2-40B4-BE49-F238E27FC236}">
                <a16:creationId xmlns:a16="http://schemas.microsoft.com/office/drawing/2014/main" id="{45AA3AA6-D6D5-46DC-9772-86CA1C810ACC}"/>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TECHNICAL BACKUP</a:t>
            </a:r>
          </a:p>
        </p:txBody>
      </p:sp>
    </p:spTree>
  </p:cSld>
  <p:clrMapOvr>
    <a:masterClrMapping/>
  </p:clrMapOvr>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1863</TotalTime>
  <Words>8286</Words>
  <Application>Microsoft Office PowerPoint</Application>
  <PresentationFormat>Widescreen</PresentationFormat>
  <Paragraphs>1768</Paragraphs>
  <Slides>68</Slides>
  <Notes>67</Notes>
  <HiddenSlides>18</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68</vt:i4>
      </vt:variant>
    </vt:vector>
  </HeadingPairs>
  <TitlesOfParts>
    <vt:vector size="75" baseType="lpstr">
      <vt:lpstr>Helvetica Neue</vt:lpstr>
      <vt:lpstr>Arial</vt:lpstr>
      <vt:lpstr>OpenAI Sans</vt:lpstr>
      <vt:lpstr>Aptos</vt:lpstr>
      <vt:lpstr>Segoe UI</vt:lpstr>
      <vt:lpstr>Times New Roman</vt:lpstr>
      <vt:lpstr>Default Codex Theme</vt:lpstr>
      <vt:lpstr>What Shapes Student CGPA? An Engineering Student Academic Performance Dataset and Machine Learning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Attendance and CGPA</vt:lpstr>
      <vt:lpstr>Weekly study time and CGPA</vt:lpstr>
      <vt:lpstr>Study style and CGPA</vt:lpstr>
      <vt:lpstr>Topic clarity and CGPA</vt:lpstr>
      <vt:lpstr>Sleep and CGPA</vt:lpstr>
      <vt:lpstr>Stress and CGPA</vt:lpstr>
      <vt:lpstr>Phone distraction and CGPA</vt:lpstr>
      <vt:lpstr>Outside commitments and CGPA</vt:lpstr>
      <vt:lpstr>Desired department and CGPA</vt:lpstr>
      <vt:lpstr>Support and CGPA</vt:lpstr>
      <vt:lpstr>Study environment and CGPA</vt:lpstr>
      <vt:lpstr>Routine manageability and CGPA</vt:lpstr>
      <vt:lpstr>PowerPoint Presentation</vt:lpstr>
      <vt:lpstr>WEKA target-specific model results</vt:lpstr>
      <vt:lpstr>WEKA J48: Recent SGPA</vt:lpstr>
      <vt:lpstr>WEKA J48: SGPA rules</vt:lpstr>
      <vt:lpstr>WEKA J48: CGPA from questionnaire variables</vt:lpstr>
      <vt:lpstr>Questionnaire J48 rules</vt:lpstr>
      <vt:lpstr>WEKA J48: Main CGPA prediction</vt:lpstr>
      <vt:lpstr>Main CGPA J48 rules</vt:lpstr>
      <vt:lpstr>WEKA J48 training and test accuracy</vt:lpstr>
      <vt:lpstr>WEKA J48: main CGPA test confusion matrix</vt:lpstr>
      <vt:lpstr>WEKA Random Forest and SMO matrices</vt:lpstr>
      <vt:lpstr>WEKA Logistic and Naive Bayes matrices</vt:lpstr>
      <vt:lpstr>WEKA ZeroR baseline matrix</vt:lpstr>
      <vt:lpstr>WEKA main CGPA accuracy: 10-fold CV</vt:lpstr>
      <vt:lpstr>Previous studies and models</vt:lpstr>
      <vt:lpstr>Previous work and our WEKA models</vt:lpstr>
      <vt:lpstr>What did we learn?</vt:lpstr>
      <vt:lpstr>Limitations</vt:lpstr>
      <vt:lpstr>Conclusion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Shapes Student CGPA? An Engineering Student Academic Performance Dataset and Machine Learning Analysis</dc:title>
  <cp:lastModifiedBy>Galib mahim</cp:lastModifiedBy>
  <cp:revision>7</cp:revision>
  <dcterms:modified xsi:type="dcterms:W3CDTF">2026-09-14T06:17:44Z</dcterms:modified>
</cp:coreProperties>
</file>